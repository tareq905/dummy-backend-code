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35"/>
  </p:notesMasterIdLst>
  <p:handoutMasterIdLst>
    <p:handoutMasterId r:id="rId36"/>
  </p:handoutMasterIdLst>
  <p:sldIdLst>
    <p:sldId id="259" r:id="rId6"/>
    <p:sldId id="289" r:id="rId7"/>
    <p:sldId id="290" r:id="rId8"/>
    <p:sldId id="335" r:id="rId9"/>
    <p:sldId id="336" r:id="rId10"/>
    <p:sldId id="329" r:id="rId11"/>
    <p:sldId id="330" r:id="rId12"/>
    <p:sldId id="337" r:id="rId13"/>
    <p:sldId id="338" r:id="rId14"/>
    <p:sldId id="323" r:id="rId15"/>
    <p:sldId id="325" r:id="rId16"/>
    <p:sldId id="327" r:id="rId17"/>
    <p:sldId id="339" r:id="rId18"/>
    <p:sldId id="288" r:id="rId19"/>
    <p:sldId id="322" r:id="rId20"/>
    <p:sldId id="332" r:id="rId21"/>
    <p:sldId id="333" r:id="rId22"/>
    <p:sldId id="334" r:id="rId23"/>
    <p:sldId id="291" r:id="rId24"/>
    <p:sldId id="315" r:id="rId25"/>
    <p:sldId id="316" r:id="rId26"/>
    <p:sldId id="312" r:id="rId27"/>
    <p:sldId id="321" r:id="rId28"/>
    <p:sldId id="313" r:id="rId29"/>
    <p:sldId id="331" r:id="rId30"/>
    <p:sldId id="320" r:id="rId31"/>
    <p:sldId id="292" r:id="rId32"/>
    <p:sldId id="302" r:id="rId33"/>
    <p:sldId id="303" r:id="rId34"/>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200"/>
    <a:srgbClr val="FAE600"/>
    <a:srgbClr val="000000"/>
    <a:srgbClr val="F1F1F1"/>
    <a:srgbClr val="B4B4B4"/>
    <a:srgbClr val="646464"/>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88" autoAdjust="0"/>
    <p:restoredTop sz="81593" autoAdjust="0"/>
  </p:normalViewPr>
  <p:slideViewPr>
    <p:cSldViewPr>
      <p:cViewPr varScale="1">
        <p:scale>
          <a:sx n="76" d="100"/>
          <a:sy n="76" d="100"/>
        </p:scale>
        <p:origin x="-965" y="-86"/>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8" name="Rectangle 6"/>
          <p:cNvSpPr>
            <a:spLocks noChangeArrowheads="1"/>
          </p:cNvSpPr>
          <p:nvPr/>
        </p:nvSpPr>
        <p:spPr bwMode="auto">
          <a:xfrm>
            <a:off x="153629" y="9025099"/>
            <a:ext cx="1247468" cy="142707"/>
          </a:xfrm>
          <a:prstGeom prst="rect">
            <a:avLst/>
          </a:prstGeom>
          <a:noFill/>
          <a:ln w="9525">
            <a:noFill/>
            <a:miter lim="800000"/>
            <a:headEnd/>
            <a:tailEnd/>
          </a:ln>
          <a:effectLst/>
        </p:spPr>
        <p:txBody>
          <a:bodyPr lIns="0" tIns="0" rIns="0" bIns="0"/>
          <a:lstStyle/>
          <a:p>
            <a:r>
              <a:rPr lang="en-US" sz="1100" dirty="0">
                <a:cs typeface="Arial" charset="0"/>
              </a:rPr>
              <a:t>May 22, 2008</a:t>
            </a:r>
          </a:p>
        </p:txBody>
      </p:sp>
      <p:sp>
        <p:nvSpPr>
          <p:cNvPr id="69639" name="Rectangle 7"/>
          <p:cNvSpPr>
            <a:spLocks noChangeArrowheads="1"/>
          </p:cNvSpPr>
          <p:nvPr/>
        </p:nvSpPr>
        <p:spPr bwMode="auto">
          <a:xfrm>
            <a:off x="2401222" y="9025099"/>
            <a:ext cx="1991032" cy="194459"/>
          </a:xfrm>
          <a:prstGeom prst="rect">
            <a:avLst/>
          </a:prstGeom>
          <a:noFill/>
          <a:ln w="9525">
            <a:noFill/>
            <a:miter lim="800000"/>
            <a:headEnd/>
            <a:tailEnd/>
          </a:ln>
          <a:effectLst/>
        </p:spPr>
        <p:txBody>
          <a:bodyPr lIns="0" tIns="0" rIns="0" bIns="0"/>
          <a:lstStyle/>
          <a:p>
            <a:r>
              <a:rPr lang="en-US" sz="1100" dirty="0">
                <a:cs typeface="Arial" charset="0"/>
              </a:rPr>
              <a:t>Presentation title</a:t>
            </a:r>
          </a:p>
        </p:txBody>
      </p:sp>
      <p:sp>
        <p:nvSpPr>
          <p:cNvPr id="69640" name="Rectangle 8"/>
          <p:cNvSpPr>
            <a:spLocks noChangeArrowheads="1"/>
          </p:cNvSpPr>
          <p:nvPr/>
        </p:nvSpPr>
        <p:spPr bwMode="auto">
          <a:xfrm>
            <a:off x="1582380" y="9025099"/>
            <a:ext cx="642169" cy="194459"/>
          </a:xfrm>
          <a:prstGeom prst="rect">
            <a:avLst/>
          </a:prstGeom>
          <a:noFill/>
          <a:ln w="9525">
            <a:noFill/>
            <a:miter lim="800000"/>
            <a:headEnd/>
            <a:tailEnd/>
          </a:ln>
          <a:effectLst/>
        </p:spPr>
        <p:txBody>
          <a:bodyPr lIns="0" tIns="0" rIns="0" bIns="0"/>
          <a:lstStyle/>
          <a:p>
            <a:r>
              <a:rPr lang="en-US" sz="1100" dirty="0">
                <a:cs typeface="Arial" charset="0"/>
              </a:rPr>
              <a:t>Page </a:t>
            </a:r>
            <a:fld id="{74984DEF-64B7-4B0D-9CAD-88AC71C7ACA2}" type="slidenum">
              <a:rPr lang="en-US" sz="1100">
                <a:cs typeface="Arial" charset="0"/>
              </a:rPr>
              <a:pPr/>
              <a:t>‹#›</a:t>
            </a:fld>
            <a:endParaRPr lang="en-US" sz="1100" dirty="0">
              <a:cs typeface="Arial" charset="0"/>
            </a:endParaRPr>
          </a:p>
        </p:txBody>
      </p:sp>
      <p:pic>
        <p:nvPicPr>
          <p:cNvPr id="69641" name="Picture 9" descr="logo_tagblack"/>
          <p:cNvPicPr>
            <a:picLocks noChangeAspect="1" noChangeArrowheads="1"/>
          </p:cNvPicPr>
          <p:nvPr/>
        </p:nvPicPr>
        <p:blipFill>
          <a:blip r:embed="rId2" cstate="print"/>
          <a:srcRect/>
          <a:stretch>
            <a:fillRect/>
          </a:stretch>
        </p:blipFill>
        <p:spPr bwMode="auto">
          <a:xfrm>
            <a:off x="5286375" y="8844753"/>
            <a:ext cx="1437968" cy="329326"/>
          </a:xfrm>
          <a:prstGeom prst="rect">
            <a:avLst/>
          </a:prstGeom>
          <a:noFill/>
        </p:spPr>
      </p:pic>
    </p:spTree>
    <p:extLst>
      <p:ext uri="{BB962C8B-B14F-4D97-AF65-F5344CB8AC3E}">
        <p14:creationId xmlns:p14="http://schemas.microsoft.com/office/powerpoint/2010/main" val="2432759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6" name="Rectangle 4"/>
          <p:cNvSpPr>
            <a:spLocks noGrp="1" noRot="1" noChangeAspect="1" noChangeArrowheads="1" noTextEdit="1"/>
          </p:cNvSpPr>
          <p:nvPr>
            <p:ph type="sldImg" idx="2"/>
          </p:nvPr>
        </p:nvSpPr>
        <p:spPr bwMode="auto">
          <a:xfrm>
            <a:off x="1104900" y="698500"/>
            <a:ext cx="4648200" cy="3486150"/>
          </a:xfrm>
          <a:prstGeom prst="rect">
            <a:avLst/>
          </a:prstGeom>
          <a:noFill/>
          <a:ln w="9525">
            <a:solidFill>
              <a:srgbClr val="000000"/>
            </a:solidFill>
            <a:miter lim="800000"/>
            <a:headEnd/>
            <a:tailEnd/>
          </a:ln>
          <a:effectLst/>
        </p:spPr>
      </p:sp>
      <p:sp>
        <p:nvSpPr>
          <p:cNvPr id="8197" name="Rectangle 5"/>
          <p:cNvSpPr>
            <a:spLocks noGrp="1" noChangeArrowheads="1"/>
          </p:cNvSpPr>
          <p:nvPr>
            <p:ph type="body" sz="quarter" idx="3"/>
          </p:nvPr>
        </p:nvSpPr>
        <p:spPr bwMode="auto">
          <a:xfrm>
            <a:off x="685186" y="4416104"/>
            <a:ext cx="5487629" cy="4182440"/>
          </a:xfrm>
          <a:prstGeom prst="rect">
            <a:avLst/>
          </a:prstGeom>
          <a:noFill/>
          <a:ln w="9525">
            <a:noFill/>
            <a:miter lim="800000"/>
            <a:headEnd/>
            <a:tailEnd/>
          </a:ln>
          <a:effectLst/>
        </p:spPr>
        <p:txBody>
          <a:bodyPr vert="horz" wrap="square" lIns="92304" tIns="46153" rIns="92304" bIns="4615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200" name="Rectangle 8"/>
          <p:cNvSpPr>
            <a:spLocks noChangeArrowheads="1"/>
          </p:cNvSpPr>
          <p:nvPr/>
        </p:nvSpPr>
        <p:spPr bwMode="auto">
          <a:xfrm>
            <a:off x="153629" y="9025099"/>
            <a:ext cx="1247468" cy="142707"/>
          </a:xfrm>
          <a:prstGeom prst="rect">
            <a:avLst/>
          </a:prstGeom>
          <a:noFill/>
          <a:ln w="9525">
            <a:noFill/>
            <a:miter lim="800000"/>
            <a:headEnd/>
            <a:tailEnd/>
          </a:ln>
          <a:effectLst/>
        </p:spPr>
        <p:txBody>
          <a:bodyPr lIns="0" tIns="0" rIns="0" bIns="0"/>
          <a:lstStyle/>
          <a:p>
            <a:r>
              <a:rPr lang="en-US" sz="1100" dirty="0">
                <a:cs typeface="Arial" charset="0"/>
              </a:rPr>
              <a:t>May 22, 2008</a:t>
            </a:r>
          </a:p>
        </p:txBody>
      </p:sp>
      <p:sp>
        <p:nvSpPr>
          <p:cNvPr id="8201" name="Rectangle 9"/>
          <p:cNvSpPr>
            <a:spLocks noChangeArrowheads="1"/>
          </p:cNvSpPr>
          <p:nvPr/>
        </p:nvSpPr>
        <p:spPr bwMode="auto">
          <a:xfrm>
            <a:off x="2401222" y="9025099"/>
            <a:ext cx="1991032" cy="194459"/>
          </a:xfrm>
          <a:prstGeom prst="rect">
            <a:avLst/>
          </a:prstGeom>
          <a:noFill/>
          <a:ln w="9525">
            <a:noFill/>
            <a:miter lim="800000"/>
            <a:headEnd/>
            <a:tailEnd/>
          </a:ln>
          <a:effectLst/>
        </p:spPr>
        <p:txBody>
          <a:bodyPr lIns="0" tIns="0" rIns="0" bIns="0"/>
          <a:lstStyle/>
          <a:p>
            <a:r>
              <a:rPr lang="en-US" sz="1100" dirty="0">
                <a:cs typeface="Arial" charset="0"/>
              </a:rPr>
              <a:t>Presentation title</a:t>
            </a:r>
          </a:p>
        </p:txBody>
      </p:sp>
      <p:sp>
        <p:nvSpPr>
          <p:cNvPr id="8202" name="Rectangle 10"/>
          <p:cNvSpPr>
            <a:spLocks noChangeArrowheads="1"/>
          </p:cNvSpPr>
          <p:nvPr/>
        </p:nvSpPr>
        <p:spPr bwMode="auto">
          <a:xfrm>
            <a:off x="1582380" y="9025099"/>
            <a:ext cx="642169" cy="194459"/>
          </a:xfrm>
          <a:prstGeom prst="rect">
            <a:avLst/>
          </a:prstGeom>
          <a:noFill/>
          <a:ln w="9525">
            <a:noFill/>
            <a:miter lim="800000"/>
            <a:headEnd/>
            <a:tailEnd/>
          </a:ln>
          <a:effectLst/>
        </p:spPr>
        <p:txBody>
          <a:bodyPr lIns="0" tIns="0" rIns="0" bIns="0"/>
          <a:lstStyle/>
          <a:p>
            <a:r>
              <a:rPr lang="en-US" sz="1100" dirty="0">
                <a:cs typeface="Arial" charset="0"/>
              </a:rPr>
              <a:t>Page </a:t>
            </a:r>
            <a:fld id="{FA5FCB97-0EDB-4471-BEA3-C3A3F240EE22}" type="slidenum">
              <a:rPr lang="en-US" sz="1100">
                <a:cs typeface="Arial" charset="0"/>
              </a:rPr>
              <a:pPr/>
              <a:t>‹#›</a:t>
            </a:fld>
            <a:endParaRPr lang="en-US" sz="1100" dirty="0">
              <a:cs typeface="Arial" charset="0"/>
            </a:endParaRPr>
          </a:p>
        </p:txBody>
      </p:sp>
      <p:pic>
        <p:nvPicPr>
          <p:cNvPr id="8203" name="Picture 11" descr="logo_tagblack"/>
          <p:cNvPicPr>
            <a:picLocks noChangeAspect="1" noChangeArrowheads="1"/>
          </p:cNvPicPr>
          <p:nvPr/>
        </p:nvPicPr>
        <p:blipFill>
          <a:blip r:embed="rId2"/>
          <a:srcRect/>
          <a:stretch>
            <a:fillRect/>
          </a:stretch>
        </p:blipFill>
        <p:spPr bwMode="auto">
          <a:xfrm>
            <a:off x="5286375" y="8844753"/>
            <a:ext cx="1437968" cy="329326"/>
          </a:xfrm>
          <a:prstGeom prst="rect">
            <a:avLst/>
          </a:prstGeom>
          <a:noFill/>
        </p:spPr>
      </p:pic>
    </p:spTree>
    <p:extLst>
      <p:ext uri="{BB962C8B-B14F-4D97-AF65-F5344CB8AC3E}">
        <p14:creationId xmlns:p14="http://schemas.microsoft.com/office/powerpoint/2010/main" val="42659892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buClr>
        <a:srgbClr val="FFD200"/>
      </a:buClr>
      <a:buSzPct val="75000"/>
      <a:buFont typeface="Arial" charset="0"/>
      <a:defRPr sz="1200" kern="1200">
        <a:solidFill>
          <a:schemeClr val="tx1"/>
        </a:solidFill>
        <a:latin typeface="Arial" charset="0"/>
        <a:ea typeface="+mn-ea"/>
        <a:cs typeface="+mn-cs"/>
      </a:defRPr>
    </a:lvl1pPr>
    <a:lvl2pPr marL="1588" indent="179388"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2pPr>
    <a:lvl3pPr marL="360363" indent="190500"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3pPr>
    <a:lvl4pPr marL="723900" indent="177800"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4pPr>
    <a:lvl5pPr marL="1081088" indent="176213"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Rot="1" noChangeAspect="1" noChangeArrowheads="1" noTextEdit="1"/>
          </p:cNvSpPr>
          <p:nvPr>
            <p:ph type="sldImg"/>
          </p:nvPr>
        </p:nvSpPr>
        <p:spPr>
          <a:ln/>
        </p:spPr>
      </p:sp>
      <p:sp>
        <p:nvSpPr>
          <p:cNvPr id="237571" name="Rectangle 3"/>
          <p:cNvSpPr>
            <a:spLocks noGrp="1" noChangeArrowheads="1"/>
          </p:cNvSpPr>
          <p:nvPr>
            <p:ph type="body" idx="1"/>
          </p:nvPr>
        </p:nvSpPr>
        <p:spPr/>
        <p:txBody>
          <a:bodyPr/>
          <a:lstStyle/>
          <a:p>
            <a:pPr>
              <a:lnSpc>
                <a:spcPct val="90000"/>
              </a:lnSpc>
            </a:pPr>
            <a:r>
              <a:rPr lang="en-GB" sz="1000" dirty="0"/>
              <a:t>For information on applying this template onto existing presentations, refer to the notes on slide 2 of this presentation.</a:t>
            </a:r>
          </a:p>
          <a:p>
            <a:pPr>
              <a:lnSpc>
                <a:spcPct val="90000"/>
              </a:lnSpc>
            </a:pPr>
            <a:r>
              <a:rPr lang="en-GB" sz="1000" dirty="0"/>
              <a:t>The Input area of the Beam can be customized to reflect the content of the</a:t>
            </a:r>
            <a:br>
              <a:rPr lang="en-GB" sz="1000" dirty="0"/>
            </a:br>
            <a:r>
              <a:rPr lang="en-GB" sz="1000" dirty="0"/>
              <a:t>presentation. The Input area is an AutoShape with a picture fill. To change this, ensure you have the image you wish to use (ideally a </a:t>
            </a:r>
            <a:r>
              <a:rPr lang="en-GB" sz="1000" b="1" dirty="0"/>
              <a:t>.jpg</a:t>
            </a:r>
            <a:r>
              <a:rPr lang="en-GB" sz="1000" dirty="0"/>
              <a:t> or a </a:t>
            </a:r>
            <a:r>
              <a:rPr lang="en-GB" sz="1000" b="1" dirty="0"/>
              <a:t>.</a:t>
            </a:r>
            <a:r>
              <a:rPr lang="en-GB" sz="1000" b="1" dirty="0" err="1"/>
              <a:t>png</a:t>
            </a:r>
            <a:r>
              <a:rPr lang="en-GB" sz="1000" dirty="0"/>
              <a:t> file) in an accessible folder. The image should have a ratio of 1:1 to ensure it does not appear distorted.</a:t>
            </a:r>
          </a:p>
          <a:p>
            <a:pPr>
              <a:lnSpc>
                <a:spcPct val="90000"/>
              </a:lnSpc>
            </a:pPr>
            <a:r>
              <a:rPr lang="en-GB" sz="1000" dirty="0"/>
              <a:t>Acceptable images for importing into the Input area of the Beam are the three approved graphics (lines), and black and white photography or illustrations which follow the principles laid out on </a:t>
            </a:r>
            <a:r>
              <a:rPr lang="en-GB" sz="1000" i="1" dirty="0"/>
              <a:t>The Branding Zone. </a:t>
            </a:r>
            <a:r>
              <a:rPr lang="en-GB" sz="1000" dirty="0" err="1"/>
              <a:t>Color</a:t>
            </a:r>
            <a:r>
              <a:rPr lang="en-GB" sz="1000" dirty="0"/>
              <a:t> images should never be imported into this area.</a:t>
            </a:r>
          </a:p>
          <a:p>
            <a:pPr>
              <a:lnSpc>
                <a:spcPct val="90000"/>
              </a:lnSpc>
            </a:pPr>
            <a:r>
              <a:rPr lang="en-GB" sz="1000" dirty="0"/>
              <a:t>To create a thank you slide with a picture in the Input area of the Beam, duplicate this master slide and create a new master slide. If using the graphic on the title slide the same should be used on the thank you slide. If using a picture in the Input area of the Beam in the title slide, the same or different but related picture can be used on the thank you slide. </a:t>
            </a:r>
          </a:p>
          <a:p>
            <a:pPr>
              <a:lnSpc>
                <a:spcPct val="90000"/>
              </a:lnSpc>
            </a:pPr>
            <a:r>
              <a:rPr lang="en-GB" sz="1000" dirty="0"/>
              <a:t>Customize the Input area of the Beam as described below. </a:t>
            </a:r>
          </a:p>
          <a:p>
            <a:pPr lvl="1">
              <a:lnSpc>
                <a:spcPct val="90000"/>
              </a:lnSpc>
            </a:pPr>
            <a:r>
              <a:rPr lang="en-GB" sz="1000" dirty="0"/>
              <a:t>Click on the </a:t>
            </a:r>
            <a:r>
              <a:rPr lang="en-GB" sz="1000" b="1" dirty="0"/>
              <a:t>View</a:t>
            </a:r>
            <a:r>
              <a:rPr lang="en-GB" sz="1000" dirty="0"/>
              <a:t> tab from the menu bar and select </a:t>
            </a:r>
            <a:r>
              <a:rPr lang="en-GB" sz="1000" b="1" dirty="0"/>
              <a:t>Master&gt;Slide Master</a:t>
            </a:r>
          </a:p>
          <a:p>
            <a:pPr lvl="1">
              <a:lnSpc>
                <a:spcPct val="90000"/>
              </a:lnSpc>
            </a:pPr>
            <a:r>
              <a:rPr lang="en-GB" sz="1000" dirty="0"/>
              <a:t>Right-click on the Input graphic and select </a:t>
            </a:r>
            <a:r>
              <a:rPr lang="en-GB" sz="1000" b="1" dirty="0"/>
              <a:t>Format AutoShape</a:t>
            </a:r>
          </a:p>
          <a:p>
            <a:pPr lvl="1">
              <a:lnSpc>
                <a:spcPct val="90000"/>
              </a:lnSpc>
            </a:pPr>
            <a:r>
              <a:rPr lang="en-GB" sz="1000" dirty="0"/>
              <a:t>From the </a:t>
            </a:r>
            <a:r>
              <a:rPr lang="en-GB" sz="1000" b="1" dirty="0"/>
              <a:t>Fill</a:t>
            </a:r>
            <a:r>
              <a:rPr lang="en-GB" sz="1000" dirty="0"/>
              <a:t> menu, under the </a:t>
            </a:r>
            <a:r>
              <a:rPr lang="en-GB" sz="1000" b="1" dirty="0" err="1"/>
              <a:t>Color</a:t>
            </a:r>
            <a:r>
              <a:rPr lang="en-GB" sz="1000" b="1" dirty="0"/>
              <a:t> and Lines</a:t>
            </a:r>
            <a:r>
              <a:rPr lang="en-GB" sz="1000" dirty="0"/>
              <a:t> tab, click on the drop-down arrow next to </a:t>
            </a:r>
            <a:r>
              <a:rPr lang="en-GB" sz="1000" b="1" dirty="0" err="1"/>
              <a:t>Color</a:t>
            </a:r>
            <a:r>
              <a:rPr lang="en-GB" sz="1000" dirty="0"/>
              <a:t> and select the </a:t>
            </a:r>
            <a:r>
              <a:rPr lang="en-GB" sz="1000" b="1" dirty="0"/>
              <a:t>Fill Effects</a:t>
            </a:r>
            <a:r>
              <a:rPr lang="en-GB" sz="1000" dirty="0"/>
              <a:t> menu</a:t>
            </a:r>
          </a:p>
          <a:p>
            <a:pPr lvl="1">
              <a:lnSpc>
                <a:spcPct val="90000"/>
              </a:lnSpc>
            </a:pPr>
            <a:r>
              <a:rPr lang="en-GB" sz="1000" dirty="0"/>
              <a:t>From the </a:t>
            </a:r>
            <a:r>
              <a:rPr lang="en-GB" sz="1000" b="1" dirty="0"/>
              <a:t>Picture</a:t>
            </a:r>
            <a:r>
              <a:rPr lang="en-GB" sz="1000" dirty="0"/>
              <a:t> tab, click on </a:t>
            </a:r>
            <a:r>
              <a:rPr lang="en-GB" sz="1000" b="1" dirty="0"/>
              <a:t>Select Picture</a:t>
            </a:r>
            <a:r>
              <a:rPr lang="en-GB" sz="1000" dirty="0"/>
              <a:t>. Navigate to the folder containing the image you wish to insert in the Input area. Highlight the image and tick the </a:t>
            </a:r>
            <a:r>
              <a:rPr lang="en-GB" sz="1000" b="1" dirty="0"/>
              <a:t>Lock picture aspect ratio</a:t>
            </a:r>
            <a:r>
              <a:rPr lang="en-GB" sz="1000" dirty="0"/>
              <a:t> box. Click on </a:t>
            </a:r>
            <a:r>
              <a:rPr lang="en-GB" sz="1000" b="1" dirty="0"/>
              <a:t>OK</a:t>
            </a:r>
            <a:r>
              <a:rPr lang="en-GB" sz="1000" dirty="0"/>
              <a:t>.</a:t>
            </a:r>
          </a:p>
          <a:p>
            <a:pPr lvl="1">
              <a:lnSpc>
                <a:spcPct val="90000"/>
              </a:lnSpc>
            </a:pPr>
            <a:r>
              <a:rPr lang="en-GB" sz="1000" dirty="0"/>
              <a:t>You can now preview the image before continuing. If you are happy with how it looks, click </a:t>
            </a:r>
            <a:r>
              <a:rPr lang="en-GB" sz="1000" b="1" dirty="0"/>
              <a:t>Ok</a:t>
            </a:r>
            <a:r>
              <a:rPr lang="en-GB" sz="1000" dirty="0"/>
              <a:t> to continue. Otherwise, repeat the process until you are happy with your selected image</a:t>
            </a:r>
          </a:p>
          <a:p>
            <a:pPr lvl="1">
              <a:lnSpc>
                <a:spcPct val="90000"/>
              </a:lnSpc>
            </a:pPr>
            <a:r>
              <a:rPr lang="en-GB" sz="1000" dirty="0"/>
              <a:t>To exit from </a:t>
            </a:r>
            <a:r>
              <a:rPr lang="en-GB" sz="1000" b="1" dirty="0"/>
              <a:t>Master View</a:t>
            </a:r>
            <a:r>
              <a:rPr lang="en-GB" sz="1000" dirty="0"/>
              <a:t>, click on </a:t>
            </a:r>
            <a:r>
              <a:rPr lang="en-GB" sz="1000" b="1" dirty="0"/>
              <a:t>View&gt;Normal</a:t>
            </a:r>
            <a:r>
              <a:rPr lang="en-GB" sz="1000" dirty="0"/>
              <a:t>. The change you made to the Input graphic should now be visible on the title slide</a:t>
            </a:r>
            <a:endParaRPr lang="en-US" sz="10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3092" name="Freeform 20"/>
          <p:cNvSpPr>
            <a:spLocks/>
          </p:cNvSpPr>
          <p:nvPr/>
        </p:nvSpPr>
        <p:spPr bwMode="auto">
          <a:xfrm>
            <a:off x="3079750" y="552450"/>
            <a:ext cx="6057900" cy="2590800"/>
          </a:xfrm>
          <a:custGeom>
            <a:avLst/>
            <a:gdLst/>
            <a:ahLst/>
            <a:cxnLst>
              <a:cxn ang="0">
                <a:pos x="0" y="1632"/>
              </a:cxn>
              <a:cxn ang="0">
                <a:pos x="3816" y="0"/>
              </a:cxn>
              <a:cxn ang="0">
                <a:pos x="3816" y="496"/>
              </a:cxn>
              <a:cxn ang="0">
                <a:pos x="0" y="1632"/>
              </a:cxn>
            </a:cxnLst>
            <a:rect l="0" t="0" r="r" b="b"/>
            <a:pathLst>
              <a:path w="3816" h="1632">
                <a:moveTo>
                  <a:pt x="0" y="1632"/>
                </a:moveTo>
                <a:lnTo>
                  <a:pt x="3816" y="0"/>
                </a:lnTo>
                <a:lnTo>
                  <a:pt x="3816" y="496"/>
                </a:lnTo>
                <a:lnTo>
                  <a:pt x="0" y="1632"/>
                </a:lnTo>
                <a:close/>
              </a:path>
            </a:pathLst>
          </a:custGeom>
          <a:solidFill>
            <a:schemeClr val="accent2"/>
          </a:solidFill>
          <a:ln w="9525">
            <a:noFill/>
            <a:round/>
            <a:headEnd/>
            <a:tailEnd/>
          </a:ln>
          <a:effectLst/>
        </p:spPr>
        <p:txBody>
          <a:bodyPr/>
          <a:lstStyle/>
          <a:p>
            <a:endParaRPr lang="en-US"/>
          </a:p>
        </p:txBody>
      </p:sp>
      <p:sp>
        <p:nvSpPr>
          <p:cNvPr id="3074" name="Rectangle 2"/>
          <p:cNvSpPr>
            <a:spLocks noGrp="1" noChangeArrowheads="1"/>
          </p:cNvSpPr>
          <p:nvPr>
            <p:ph type="ctrTitle"/>
          </p:nvPr>
        </p:nvSpPr>
        <p:spPr>
          <a:xfrm>
            <a:off x="3059113" y="3457575"/>
            <a:ext cx="5541962" cy="908050"/>
          </a:xfrm>
        </p:spPr>
        <p:txBody>
          <a:bodyPr tIns="0"/>
          <a:lstStyle>
            <a:lvl1pPr>
              <a:defRPr/>
            </a:lvl1pPr>
          </a:lstStyle>
          <a:p>
            <a:r>
              <a:rPr lang="en-US" smtClean="0"/>
              <a:t>Click to edit Master title style</a:t>
            </a:r>
            <a:endParaRPr lang="en-US"/>
          </a:p>
        </p:txBody>
      </p:sp>
      <p:sp>
        <p:nvSpPr>
          <p:cNvPr id="3075" name="Rectangle 3"/>
          <p:cNvSpPr>
            <a:spLocks noGrp="1" noChangeArrowheads="1"/>
          </p:cNvSpPr>
          <p:nvPr>
            <p:ph type="subTitle" idx="1"/>
          </p:nvPr>
        </p:nvSpPr>
        <p:spPr>
          <a:xfrm>
            <a:off x="3062288" y="4354513"/>
            <a:ext cx="5541962" cy="1019175"/>
          </a:xfrm>
        </p:spPr>
        <p:txBody>
          <a:bodyPr/>
          <a:lstStyle>
            <a:lvl1pPr marL="0" indent="0">
              <a:lnSpc>
                <a:spcPct val="85000"/>
              </a:lnSpc>
              <a:buFont typeface="Arial" charset="0"/>
              <a:buNone/>
              <a:defRPr sz="2000"/>
            </a:lvl1pPr>
          </a:lstStyle>
          <a:p>
            <a:r>
              <a:rPr lang="en-US" smtClean="0"/>
              <a:t>Click to edit Master subtitle style</a:t>
            </a:r>
            <a:endParaRPr lang="en-US"/>
          </a:p>
        </p:txBody>
      </p:sp>
      <p:pic>
        <p:nvPicPr>
          <p:cNvPr id="3085" name="Picture 13" descr="logo_tagblack"/>
          <p:cNvPicPr>
            <a:picLocks noChangeAspect="1" noChangeArrowheads="1"/>
          </p:cNvPicPr>
          <p:nvPr/>
        </p:nvPicPr>
        <p:blipFill>
          <a:blip r:embed="rId2" cstate="print"/>
          <a:srcRect/>
          <a:stretch>
            <a:fillRect/>
          </a:stretch>
        </p:blipFill>
        <p:spPr bwMode="auto">
          <a:xfrm>
            <a:off x="3073400" y="6030913"/>
            <a:ext cx="1908175" cy="428625"/>
          </a:xfrm>
          <a:prstGeom prst="rect">
            <a:avLst/>
          </a:prstGeom>
          <a:noFill/>
        </p:spPr>
      </p:pic>
      <p:sp>
        <p:nvSpPr>
          <p:cNvPr id="3091" name="AutoShape 19"/>
          <p:cNvSpPr>
            <a:spLocks noChangeArrowheads="1"/>
          </p:cNvSpPr>
          <p:nvPr/>
        </p:nvSpPr>
        <p:spPr bwMode="auto">
          <a:xfrm rot="5400000">
            <a:off x="-120649" y="1274762"/>
            <a:ext cx="3313112" cy="3071813"/>
          </a:xfrm>
          <a:prstGeom prst="triangle">
            <a:avLst>
              <a:gd name="adj" fmla="val 60227"/>
            </a:avLst>
          </a:prstGeom>
          <a:blipFill dpi="0" rotWithShape="0">
            <a:blip r:embed="rId3" cstate="print"/>
            <a:srcRect/>
            <a:stretch>
              <a:fillRect r="-11536"/>
            </a:stretch>
          </a:blipFill>
          <a:ln w="9525">
            <a:noFill/>
            <a:miter lim="800000"/>
            <a:headEnd/>
            <a:tailEnd/>
          </a:ln>
          <a:effectLst/>
        </p:spPr>
        <p:txBody>
          <a:bodyPr wrap="none" anchor="ctr"/>
          <a:lstStyle/>
          <a:p>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5613" y="1412875"/>
            <a:ext cx="40401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12875"/>
            <a:ext cx="40417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2575" y="200025"/>
            <a:ext cx="2057400" cy="57324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5613" y="200025"/>
            <a:ext cx="6024562" cy="5732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 y="230189"/>
            <a:ext cx="7829550" cy="930275"/>
          </a:xfrm>
        </p:spPr>
        <p:txBody>
          <a:bodyPr/>
          <a:lstStyle/>
          <a:p>
            <a:r>
              <a:rPr lang="en-US" smtClean="0"/>
              <a:t>Click to edit Master title style</a:t>
            </a:r>
            <a:endParaRPr lang="en-GB"/>
          </a:p>
        </p:txBody>
      </p:sp>
      <p:sp>
        <p:nvSpPr>
          <p:cNvPr id="3" name="Table Placeholder 2"/>
          <p:cNvSpPr>
            <a:spLocks noGrp="1"/>
          </p:cNvSpPr>
          <p:nvPr>
            <p:ph type="tbl" idx="1"/>
          </p:nvPr>
        </p:nvSpPr>
        <p:spPr>
          <a:xfrm>
            <a:off x="543658" y="1736725"/>
            <a:ext cx="7284426" cy="4749800"/>
          </a:xfrm>
        </p:spPr>
        <p:txBody>
          <a:bodyPr/>
          <a:lstStyle/>
          <a:p>
            <a:endParaRPr lang="en-GB"/>
          </a:p>
        </p:txBody>
      </p:sp>
      <p:sp>
        <p:nvSpPr>
          <p:cNvPr id="4" name="Date Placeholder 3"/>
          <p:cNvSpPr>
            <a:spLocks noGrp="1"/>
          </p:cNvSpPr>
          <p:nvPr>
            <p:ph type="dt" sz="half" idx="10"/>
          </p:nvPr>
        </p:nvSpPr>
        <p:spPr>
          <a:xfrm>
            <a:off x="7807570" y="6626225"/>
            <a:ext cx="1018443" cy="476250"/>
          </a:xfrm>
          <a:prstGeom prst="rect">
            <a:avLst/>
          </a:prstGeom>
        </p:spPr>
        <p:txBody>
          <a:bodyPr/>
          <a:lstStyle>
            <a:lvl1pPr>
              <a:defRPr/>
            </a:lvl1pPr>
          </a:lstStyle>
          <a:p>
            <a:endParaRPr lang="en-GB"/>
          </a:p>
        </p:txBody>
      </p:sp>
      <p:sp>
        <p:nvSpPr>
          <p:cNvPr id="5" name="Footer Placeholder 4"/>
          <p:cNvSpPr>
            <a:spLocks noGrp="1"/>
          </p:cNvSpPr>
          <p:nvPr>
            <p:ph type="ftr" sz="quarter" idx="11"/>
          </p:nvPr>
        </p:nvSpPr>
        <p:spPr>
          <a:xfrm>
            <a:off x="4909039" y="6626225"/>
            <a:ext cx="2894135" cy="476250"/>
          </a:xfrm>
          <a:prstGeom prst="rect">
            <a:avLst/>
          </a:prstGeom>
        </p:spPr>
        <p:txBody>
          <a:bodyPr/>
          <a:lstStyle>
            <a:lvl1pPr>
              <a:defRPr/>
            </a:lvl1p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0025"/>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5613" y="1412875"/>
            <a:ext cx="8234362" cy="4519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33" name="Rectangle 9"/>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r>
              <a:rPr lang="en-US" sz="1100">
                <a:solidFill>
                  <a:srgbClr val="000000"/>
                </a:solidFill>
                <a:cs typeface="Arial" charset="0"/>
              </a:rPr>
              <a:t>Page </a:t>
            </a:r>
            <a:fld id="{92377386-EE50-4FE3-9EAA-3F82571A0486}" type="slidenum">
              <a:rPr lang="en-US" sz="1100">
                <a:solidFill>
                  <a:srgbClr val="000000"/>
                </a:solidFill>
                <a:cs typeface="Arial" charset="0"/>
              </a:rPr>
              <a:pPr/>
              <a:t>‹#›</a:t>
            </a:fld>
            <a:endParaRPr lang="en-US" sz="1100">
              <a:solidFill>
                <a:srgbClr val="000000"/>
              </a:solidFill>
              <a:cs typeface="Arial" charset="0"/>
            </a:endParaRPr>
          </a:p>
        </p:txBody>
      </p:sp>
      <p:sp>
        <p:nvSpPr>
          <p:cNvPr id="1034" name="Line 10"/>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endParaRPr lang="en-US"/>
          </a:p>
        </p:txBody>
      </p:sp>
      <p:sp>
        <p:nvSpPr>
          <p:cNvPr id="1035" name="Line 11"/>
          <p:cNvSpPr>
            <a:spLocks noChangeShapeType="1"/>
          </p:cNvSpPr>
          <p:nvPr/>
        </p:nvSpPr>
        <p:spPr bwMode="auto">
          <a:xfrm>
            <a:off x="381000" y="6248400"/>
            <a:ext cx="8229600" cy="0"/>
          </a:xfrm>
          <a:prstGeom prst="line">
            <a:avLst/>
          </a:prstGeom>
          <a:noFill/>
          <a:ln w="3175">
            <a:solidFill>
              <a:srgbClr val="646464"/>
            </a:solidFill>
            <a:round/>
            <a:headEnd/>
            <a:tailEnd/>
          </a:ln>
          <a:effectLst/>
        </p:spPr>
        <p:txBody>
          <a:bodyPr wrap="none" anchor="ctr"/>
          <a:lstStyle/>
          <a:p>
            <a:endParaRPr lang="en-US"/>
          </a:p>
        </p:txBody>
      </p:sp>
      <p:sp>
        <p:nvSpPr>
          <p:cNvPr id="1036" name="Line 12"/>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endParaRPr lang="en-US"/>
          </a:p>
        </p:txBody>
      </p:sp>
      <p:pic>
        <p:nvPicPr>
          <p:cNvPr id="1037" name="Picture 13"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757" r:id="rId12"/>
  </p:sldLayoutIdLst>
  <p:timing>
    <p:tnLst>
      <p:par>
        <p:cTn id="1" dur="indefinite" restart="never" nodeType="tmRoot"/>
      </p:par>
    </p:tnLst>
  </p:timing>
  <p:hf hdr="0" ftr="0" dt="0"/>
  <p:txStyles>
    <p:titleStyle>
      <a:lvl1pPr algn="l" rtl="0" eaLnBrk="1" fontAlgn="base" hangingPunct="1">
        <a:lnSpc>
          <a:spcPct val="85000"/>
        </a:lnSpc>
        <a:spcBef>
          <a:spcPct val="0"/>
        </a:spcBef>
        <a:spcAft>
          <a:spcPct val="0"/>
        </a:spcAft>
        <a:defRPr sz="3000" b="1">
          <a:solidFill>
            <a:srgbClr val="646464"/>
          </a:solidFill>
          <a:latin typeface="+mj-lt"/>
          <a:ea typeface="+mj-ea"/>
          <a:cs typeface="+mj-cs"/>
        </a:defRPr>
      </a:lvl1pPr>
      <a:lvl2pPr algn="l" rtl="0" eaLnBrk="1" fontAlgn="base" hangingPunct="1">
        <a:lnSpc>
          <a:spcPct val="85000"/>
        </a:lnSpc>
        <a:spcBef>
          <a:spcPct val="0"/>
        </a:spcBef>
        <a:spcAft>
          <a:spcPct val="0"/>
        </a:spcAft>
        <a:defRPr sz="3000" b="1">
          <a:solidFill>
            <a:srgbClr val="646464"/>
          </a:solidFill>
          <a:latin typeface="Arial" charset="0"/>
        </a:defRPr>
      </a:lvl2pPr>
      <a:lvl3pPr algn="l" rtl="0" eaLnBrk="1" fontAlgn="base" hangingPunct="1">
        <a:lnSpc>
          <a:spcPct val="85000"/>
        </a:lnSpc>
        <a:spcBef>
          <a:spcPct val="0"/>
        </a:spcBef>
        <a:spcAft>
          <a:spcPct val="0"/>
        </a:spcAft>
        <a:defRPr sz="3000" b="1">
          <a:solidFill>
            <a:srgbClr val="646464"/>
          </a:solidFill>
          <a:latin typeface="Arial" charset="0"/>
        </a:defRPr>
      </a:lvl3pPr>
      <a:lvl4pPr algn="l" rtl="0" eaLnBrk="1" fontAlgn="base" hangingPunct="1">
        <a:lnSpc>
          <a:spcPct val="85000"/>
        </a:lnSpc>
        <a:spcBef>
          <a:spcPct val="0"/>
        </a:spcBef>
        <a:spcAft>
          <a:spcPct val="0"/>
        </a:spcAft>
        <a:defRPr sz="3000" b="1">
          <a:solidFill>
            <a:srgbClr val="646464"/>
          </a:solidFill>
          <a:latin typeface="Arial" charset="0"/>
        </a:defRPr>
      </a:lvl4pPr>
      <a:lvl5pPr algn="l" rtl="0" eaLnBrk="1" fontAlgn="base" hangingPunct="1">
        <a:lnSpc>
          <a:spcPct val="85000"/>
        </a:lnSpc>
        <a:spcBef>
          <a:spcPct val="0"/>
        </a:spcBef>
        <a:spcAft>
          <a:spcPct val="0"/>
        </a:spcAft>
        <a:defRPr sz="3000" b="1">
          <a:solidFill>
            <a:srgbClr val="646464"/>
          </a:solidFill>
          <a:latin typeface="Arial" charset="0"/>
        </a:defRPr>
      </a:lvl5pPr>
      <a:lvl6pPr marL="457200" algn="l" rtl="0" eaLnBrk="1" fontAlgn="base" hangingPunct="1">
        <a:lnSpc>
          <a:spcPct val="85000"/>
        </a:lnSpc>
        <a:spcBef>
          <a:spcPct val="0"/>
        </a:spcBef>
        <a:spcAft>
          <a:spcPct val="0"/>
        </a:spcAft>
        <a:defRPr sz="3000" b="1">
          <a:solidFill>
            <a:srgbClr val="646464"/>
          </a:solidFill>
          <a:latin typeface="Arial" charset="0"/>
        </a:defRPr>
      </a:lvl6pPr>
      <a:lvl7pPr marL="914400" algn="l" rtl="0" eaLnBrk="1" fontAlgn="base" hangingPunct="1">
        <a:lnSpc>
          <a:spcPct val="85000"/>
        </a:lnSpc>
        <a:spcBef>
          <a:spcPct val="0"/>
        </a:spcBef>
        <a:spcAft>
          <a:spcPct val="0"/>
        </a:spcAft>
        <a:defRPr sz="3000" b="1">
          <a:solidFill>
            <a:srgbClr val="646464"/>
          </a:solidFill>
          <a:latin typeface="Arial" charset="0"/>
        </a:defRPr>
      </a:lvl7pPr>
      <a:lvl8pPr marL="1371600" algn="l" rtl="0" eaLnBrk="1" fontAlgn="base" hangingPunct="1">
        <a:lnSpc>
          <a:spcPct val="85000"/>
        </a:lnSpc>
        <a:spcBef>
          <a:spcPct val="0"/>
        </a:spcBef>
        <a:spcAft>
          <a:spcPct val="0"/>
        </a:spcAft>
        <a:defRPr sz="3000" b="1">
          <a:solidFill>
            <a:srgbClr val="646464"/>
          </a:solidFill>
          <a:latin typeface="Arial" charset="0"/>
        </a:defRPr>
      </a:lvl8pPr>
      <a:lvl9pPr marL="1828800" algn="l" rtl="0" eaLnBrk="1" fontAlgn="base" hangingPunct="1">
        <a:lnSpc>
          <a:spcPct val="85000"/>
        </a:lnSpc>
        <a:spcBef>
          <a:spcPct val="0"/>
        </a:spcBef>
        <a:spcAft>
          <a:spcPct val="0"/>
        </a:spcAft>
        <a:defRPr sz="3000" b="1">
          <a:solidFill>
            <a:srgbClr val="646464"/>
          </a:solidFill>
          <a:latin typeface="Arial" charset="0"/>
        </a:defRPr>
      </a:lvl9pPr>
    </p:titleStyle>
    <p:bodyStyle>
      <a:lvl1pPr marL="360363" indent="-360363" algn="l" rtl="0" eaLnBrk="1" fontAlgn="base" hangingPunct="1">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1" fontAlgn="base" hangingPunct="1">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1" fontAlgn="base" hangingPunct="1">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hyperlink" Target="https://share.ey.net/SitePages/Home.aspx" TargetMode="Externa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hyperlink" Target="http://sp.ey.net/msibm/Collaboration/07.%20Deploy/Beta%20pilot%20deployment/CVS/Collaboration%20CVS%20test%20plan%20v1.2_with%20results%20and%20actions.xlsx" TargetMode="Externa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hyperlink" Target="http://sp.ey.net/msibm/Collaboration/07.%20Deploy/Beta%20pilot%20deployment/CVS/Collaboration%20CVS%20test%20plan%20v1.2_with%20results%20and%20actions.xlsx" TargetMode="External"/><Relationship Id="rId13" Type="http://schemas.openxmlformats.org/officeDocument/2006/relationships/hyperlink" Target="http://sp.ey.net/msibm/MC%20Program/Forms/AllItems.aspx?RootFolder=/msibm/MC%20Program/SharePoint/05%20-%20Application%20Architect" TargetMode="External"/><Relationship Id="rId3" Type="http://schemas.openxmlformats.org/officeDocument/2006/relationships/hyperlink" Target="http://sp.ey.net/msibm/Collaboration/06.%20Test/System%20Testing/Beta%20Pilot%20System%20Test%20Completion%20Summary.pptx" TargetMode="External"/><Relationship Id="rId7" Type="http://schemas.openxmlformats.org/officeDocument/2006/relationships/hyperlink" Target="http://sp.ey.net/msibm/Collaboration/07.%20Deploy/Beta%20pilot%20deployment/Collaboration%20beta%20pilot%20deployment%20plan%20L3%20v2.7%20DRAFT.mpp" TargetMode="External"/><Relationship Id="rId12" Type="http://schemas.openxmlformats.org/officeDocument/2006/relationships/hyperlink" Target="http://sp.ey.net/msibm/Collaboration/Forms/AllItems.aspx?RootFolder=/msibm/Collaboration/03.%20Requirements/EAX" TargetMode="External"/><Relationship Id="rId2" Type="http://schemas.openxmlformats.org/officeDocument/2006/relationships/hyperlink" Target="http://sp.ey.net/msibm/Collaboration/06.%20Test/UAT/Beta%20Pilot%20Test%20Reports/Beta%20Pilot%20UAT%20Completion%20Summary.pptx" TargetMode="External"/><Relationship Id="rId1" Type="http://schemas.openxmlformats.org/officeDocument/2006/relationships/slideLayout" Target="../slideLayouts/slideLayout12.xml"/><Relationship Id="rId6" Type="http://schemas.openxmlformats.org/officeDocument/2006/relationships/hyperlink" Target="http://sp.ey.net/msibm/Transition%20Management/07.%20Deploy/02.%20Transition/Collaboration/Documentation/Acceptance_Criteria_Collaboration_v4.5.xlsx" TargetMode="External"/><Relationship Id="rId11" Type="http://schemas.openxmlformats.org/officeDocument/2006/relationships/hyperlink" Target="http://sp.ey.net/msibm/_layouts/listform.aspx?PageType=4&amp;amp;ListId=%7bC9E76EC9-8BE0-48F2-B50D-A338D659F2E6%7d&amp;amp;ID=240&amp;amp;ContentTypeID=0x010034EC1C5C86713D42807E6F1F4CA142E3" TargetMode="External"/><Relationship Id="rId5" Type="http://schemas.openxmlformats.org/officeDocument/2006/relationships/hyperlink" Target="https://share.ey.net/SitePages/Home.aspx" TargetMode="External"/><Relationship Id="rId10" Type="http://schemas.openxmlformats.org/officeDocument/2006/relationships/hyperlink" Target="http://sp.ey.net/msibm/Lists/RAID%20%20Risks%20TEST/DispForm.aspx?ID=369" TargetMode="External"/><Relationship Id="rId4" Type="http://schemas.openxmlformats.org/officeDocument/2006/relationships/hyperlink" Target="http://sp.ey.net/msibm/Collaboration/Forms/AllItems.aspx?RootFolder=/msibm/Collaboration/06.%20Test/Performance%20Testing/Approval&amp;InitialTabId=Ribbon.Document&amp;VisibilityContext=WSSTabPersistence" TargetMode="External"/><Relationship Id="rId9" Type="http://schemas.openxmlformats.org/officeDocument/2006/relationships/hyperlink" Target="http://sp.ey.net/msibm/Transition%20Management/07.%20Deploy/02.%20Transition/Collaboration/Support%20Model/SupportModelBetaPilot.jpg" TargetMode="External"/><Relationship Id="rId14" Type="http://schemas.openxmlformats.org/officeDocument/2006/relationships/hyperlink" Target="http://sp.ey.net/msibm/Collaboration/Forms/AllItems.aspx?RootFolder=/msibm/Collaboration/06.%20Test/Security%20Test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p.ey.net/msibm/Collaboration/06.%20Test/UAT/Beta%20Pilot%20Test%20Reports/Beta%20Pilot%20UAT%20Completion%20Summary.pptx" TargetMode="External"/><Relationship Id="rId2" Type="http://schemas.openxmlformats.org/officeDocument/2006/relationships/hyperlink" Target="http://sp.ey.net/msibm/Collaboration/06.%20Test/Beta%20Pilot%20UAT%20Users%20Documentation/Issue%20Management/UAT%20Issue%20Log%20-%20v2.xlsx"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hyperlink" Target="http://sp.ey.net/msibm/Collaboration/06.%20Test/System%20Testing/Beta%20Pilot%20System%20Test%20Completion%20Summary.pptx" TargetMode="Externa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hyperlink" Target="http://sp.ey.net/msibm/Collaboration/Forms/AllItems.aspx?RootFolder=/msibm/Collaboration/06.%20Test/Performance%20Testing/Approval" TargetMode="Externa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5"/>
          <p:cNvSpPr>
            <a:spLocks noGrp="1" noChangeArrowheads="1"/>
          </p:cNvSpPr>
          <p:nvPr>
            <p:ph type="ctrTitle"/>
          </p:nvPr>
        </p:nvSpPr>
        <p:spPr/>
        <p:txBody>
          <a:bodyPr/>
          <a:lstStyle/>
          <a:p>
            <a:r>
              <a:rPr lang="en-US" dirty="0" smtClean="0"/>
              <a:t>Collaboration Beta Pilot Go / No Go (GNG)</a:t>
            </a:r>
            <a:endParaRPr lang="en-US" dirty="0"/>
          </a:p>
        </p:txBody>
      </p:sp>
      <p:sp>
        <p:nvSpPr>
          <p:cNvPr id="15366" name="Rectangle 6"/>
          <p:cNvSpPr>
            <a:spLocks noGrp="1" noChangeArrowheads="1"/>
          </p:cNvSpPr>
          <p:nvPr>
            <p:ph type="subTitle" idx="1"/>
          </p:nvPr>
        </p:nvSpPr>
        <p:spPr/>
        <p:txBody>
          <a:bodyPr/>
          <a:lstStyle/>
          <a:p>
            <a:endParaRPr lang="en-GB" dirty="0"/>
          </a:p>
          <a:p>
            <a:r>
              <a:rPr lang="en-GB" sz="1600" dirty="0" smtClean="0"/>
              <a:t>07 January 2013</a:t>
            </a:r>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000" dirty="0" smtClean="0"/>
              <a:t>Timeline : Beta Pilot GNG Gate Process</a:t>
            </a:r>
            <a:r>
              <a:rPr lang="en-GB" sz="2000" b="0" dirty="0" smtClean="0"/>
              <a:t/>
            </a:r>
            <a:br>
              <a:rPr lang="en-GB" sz="2000" b="0" dirty="0" smtClean="0"/>
            </a:br>
            <a:r>
              <a:rPr lang="en-GB" sz="2000" b="0" dirty="0" smtClean="0"/>
              <a:t>When does the material with supporting sign-offs need to be ready for review by governance bodies?</a:t>
            </a:r>
            <a:endParaRPr lang="en-GB" sz="2000" b="0" dirty="0"/>
          </a:p>
        </p:txBody>
      </p:sp>
      <p:pic>
        <p:nvPicPr>
          <p:cNvPr id="2051" name="Picture 3"/>
          <p:cNvPicPr>
            <a:picLocks noChangeAspect="1" noChangeArrowheads="1"/>
          </p:cNvPicPr>
          <p:nvPr/>
        </p:nvPicPr>
        <p:blipFill>
          <a:blip r:embed="rId3" cstate="print"/>
          <a:srcRect/>
          <a:stretch>
            <a:fillRect/>
          </a:stretch>
        </p:blipFill>
        <p:spPr bwMode="auto">
          <a:xfrm>
            <a:off x="176213" y="1038224"/>
            <a:ext cx="8791575" cy="5038725"/>
          </a:xfrm>
          <a:prstGeom prst="rect">
            <a:avLst/>
          </a:prstGeom>
          <a:noFill/>
          <a:ln w="9525">
            <a:noFill/>
            <a:miter lim="800000"/>
            <a:headEnd/>
            <a:tailEnd/>
          </a:ln>
          <a:effectLst/>
        </p:spPr>
      </p:pic>
      <p:sp>
        <p:nvSpPr>
          <p:cNvPr id="7" name="Rectangle 4"/>
          <p:cNvSpPr>
            <a:spLocks noChangeArrowheads="1"/>
          </p:cNvSpPr>
          <p:nvPr/>
        </p:nvSpPr>
        <p:spPr bwMode="auto">
          <a:xfrm>
            <a:off x="177839" y="1017589"/>
            <a:ext cx="8842336" cy="5173662"/>
          </a:xfrm>
          <a:prstGeom prst="rect">
            <a:avLst/>
          </a:prstGeom>
          <a:solidFill>
            <a:schemeClr val="bg2">
              <a:alpha val="52000"/>
            </a:schemeClr>
          </a:solidFill>
          <a:ln w="9525" algn="ctr">
            <a:solidFill>
              <a:schemeClr val="bg2"/>
            </a:solidFill>
            <a:miter lim="800000"/>
            <a:headEnd/>
            <a:tailEnd/>
          </a:ln>
          <a:effectLst/>
        </p:spPr>
        <p:txBody>
          <a:bodyPr wrap="none" lIns="90000" tIns="46800" rIns="90000" bIns="46800" anchor="ctr"/>
          <a:lstStyle/>
          <a:p>
            <a:endParaRPr lang="en-GB"/>
          </a:p>
        </p:txBody>
      </p:sp>
      <p:sp>
        <p:nvSpPr>
          <p:cNvPr id="9" name="Rounded Rectangular Callout 8"/>
          <p:cNvSpPr/>
          <p:nvPr/>
        </p:nvSpPr>
        <p:spPr bwMode="auto">
          <a:xfrm>
            <a:off x="914398" y="3009901"/>
            <a:ext cx="1828801" cy="1562099"/>
          </a:xfrm>
          <a:prstGeom prst="wedgeRoundRectCallout">
            <a:avLst>
              <a:gd name="adj1" fmla="val 91890"/>
              <a:gd name="adj2" fmla="val -115191"/>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1.1 UAT Readiness</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1.2 Solution Quality reports </a:t>
            </a:r>
          </a:p>
          <a:p>
            <a:pPr marL="0" marR="0" indent="0" algn="l" defTabSz="646113" rtl="0" eaLnBrk="1" fontAlgn="base" latinLnBrk="0" hangingPunct="1">
              <a:lnSpc>
                <a:spcPct val="100000"/>
              </a:lnSpc>
              <a:spcBef>
                <a:spcPct val="0"/>
              </a:spcBef>
              <a:spcAft>
                <a:spcPct val="0"/>
              </a:spcAft>
              <a:buClrTx/>
              <a:buSzTx/>
              <a:buFontTx/>
              <a:buNone/>
              <a:tabLst/>
            </a:pPr>
            <a:r>
              <a:rPr kumimoji="0" lang="en-GB" sz="1000" i="0" u="none" strike="noStrike" cap="none" normalizeH="0" baseline="0" dirty="0" smtClean="0">
                <a:ln>
                  <a:noFill/>
                </a:ln>
                <a:solidFill>
                  <a:schemeClr val="tx1"/>
                </a:solidFill>
                <a:effectLst/>
                <a:latin typeface="Times New Roman" pitchFamily="18" charset="0"/>
                <a:cs typeface="Times New Roman" pitchFamily="18" charset="0"/>
              </a:rPr>
              <a:t>1.3 Performance Testing dispensation</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3.1 Deployment Readiness</a:t>
            </a:r>
          </a:p>
          <a:p>
            <a:pPr marL="0" marR="0" indent="0" algn="l" defTabSz="646113" rtl="0" eaLnBrk="1" fontAlgn="base" latinLnBrk="0" hangingPunct="1">
              <a:lnSpc>
                <a:spcPct val="100000"/>
              </a:lnSpc>
              <a:spcBef>
                <a:spcPct val="0"/>
              </a:spcBef>
              <a:spcAft>
                <a:spcPct val="0"/>
              </a:spcAft>
              <a:buClrTx/>
              <a:buSzTx/>
              <a:buFontTx/>
              <a:buNone/>
              <a:tabLst/>
            </a:pPr>
            <a:r>
              <a:rPr lang="en-GB" sz="1000" baseline="0" dirty="0" smtClean="0">
                <a:latin typeface="Times New Roman" pitchFamily="18" charset="0"/>
                <a:cs typeface="Times New Roman" pitchFamily="18" charset="0"/>
              </a:rPr>
              <a:t>6.1 Q&amp;RM Solution</a:t>
            </a:r>
            <a:r>
              <a:rPr lang="en-GB" sz="1000" dirty="0" smtClean="0">
                <a:latin typeface="Times New Roman" pitchFamily="18" charset="0"/>
                <a:cs typeface="Times New Roman" pitchFamily="18" charset="0"/>
              </a:rPr>
              <a:t> Validation</a:t>
            </a:r>
          </a:p>
          <a:p>
            <a:pPr marL="0" marR="0" indent="0" algn="l" defTabSz="646113" rtl="0" eaLnBrk="1" fontAlgn="base" latinLnBrk="0" hangingPunct="1">
              <a:lnSpc>
                <a:spcPct val="100000"/>
              </a:lnSpc>
              <a:spcBef>
                <a:spcPct val="0"/>
              </a:spcBef>
              <a:spcAft>
                <a:spcPct val="0"/>
              </a:spcAft>
              <a:buClrTx/>
              <a:buSzTx/>
              <a:buFontTx/>
              <a:buNone/>
              <a:tabLst/>
            </a:pPr>
            <a:r>
              <a:rPr kumimoji="0" lang="en-GB" sz="1000" i="0" u="none" strike="noStrike" cap="none" normalizeH="0" baseline="0" dirty="0" smtClean="0">
                <a:ln>
                  <a:noFill/>
                </a:ln>
                <a:solidFill>
                  <a:schemeClr val="tx1"/>
                </a:solidFill>
                <a:effectLst/>
                <a:latin typeface="Times New Roman" pitchFamily="18" charset="0"/>
                <a:cs typeface="Times New Roman" pitchFamily="18" charset="0"/>
              </a:rPr>
              <a:t>6.2</a:t>
            </a:r>
            <a:r>
              <a:rPr kumimoji="0" lang="en-GB" sz="1000" i="0" u="none" strike="noStrike" cap="none" normalizeH="0" dirty="0" smtClean="0">
                <a:ln>
                  <a:noFill/>
                </a:ln>
                <a:solidFill>
                  <a:schemeClr val="tx1"/>
                </a:solidFill>
                <a:effectLst/>
                <a:latin typeface="Times New Roman" pitchFamily="18" charset="0"/>
                <a:cs typeface="Times New Roman" pitchFamily="18" charset="0"/>
              </a:rPr>
              <a:t> Info Sec Solution </a:t>
            </a:r>
            <a:r>
              <a:rPr kumimoji="0" lang="en-GB" sz="1000" i="0" u="none" strike="noStrike" cap="none" normalizeH="0" dirty="0" smtClean="0">
                <a:ln>
                  <a:noFill/>
                </a:ln>
                <a:solidFill>
                  <a:schemeClr val="tx1"/>
                </a:solidFill>
                <a:effectLst/>
                <a:latin typeface="Times New Roman" pitchFamily="18" charset="0"/>
              </a:rPr>
              <a:t>Validation</a:t>
            </a:r>
            <a:endParaRPr kumimoji="0" lang="en-GB" sz="1000" i="0" u="none" strike="noStrike" cap="none" normalizeH="0" baseline="0" dirty="0" smtClean="0">
              <a:ln>
                <a:noFill/>
              </a:ln>
              <a:solidFill>
                <a:schemeClr val="tx1"/>
              </a:solidFill>
              <a:effectLst/>
              <a:latin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p:txBody>
      </p:sp>
      <p:sp>
        <p:nvSpPr>
          <p:cNvPr id="10" name="Rounded Rectangular Callout 9"/>
          <p:cNvSpPr/>
          <p:nvPr/>
        </p:nvSpPr>
        <p:spPr bwMode="auto">
          <a:xfrm>
            <a:off x="6134099" y="3343272"/>
            <a:ext cx="2428876" cy="1914527"/>
          </a:xfrm>
          <a:prstGeom prst="wedgeRoundRectCallout">
            <a:avLst>
              <a:gd name="adj1" fmla="val -115731"/>
              <a:gd name="adj2" fmla="val -127629"/>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1.1 UAT Completion Report/Sign Off</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1.2 Solution Quality reports </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2.1 Business Readiness assessment</a:t>
            </a:r>
          </a:p>
          <a:p>
            <a:pPr marL="0" marR="0" indent="0" algn="l" defTabSz="646113" rtl="0" eaLnBrk="1" fontAlgn="base" latinLnBrk="0" hangingPunct="1">
              <a:lnSpc>
                <a:spcPct val="100000"/>
              </a:lnSpc>
              <a:spcBef>
                <a:spcPct val="0"/>
              </a:spcBef>
              <a:spcAft>
                <a:spcPct val="0"/>
              </a:spcAft>
              <a:buClrTx/>
              <a:buSzTx/>
              <a:buFontTx/>
              <a:buNone/>
              <a:tabLst/>
            </a:pPr>
            <a:r>
              <a:rPr kumimoji="0" lang="en-GB" sz="1000" i="0" u="none" strike="noStrike" cap="none" normalizeH="0" baseline="0" dirty="0" smtClean="0">
                <a:ln>
                  <a:noFill/>
                </a:ln>
                <a:solidFill>
                  <a:schemeClr val="tx1"/>
                </a:solidFill>
                <a:effectLst/>
                <a:latin typeface="Times New Roman" pitchFamily="18" charset="0"/>
                <a:cs typeface="Times New Roman" pitchFamily="18" charset="0"/>
              </a:rPr>
              <a:t>2.2 ITS Support Org</a:t>
            </a:r>
            <a:r>
              <a:rPr kumimoji="0" lang="en-GB" sz="1000" i="0" u="none" strike="noStrike" cap="none" normalizeH="0" dirty="0" smtClean="0">
                <a:ln>
                  <a:noFill/>
                </a:ln>
                <a:solidFill>
                  <a:schemeClr val="tx1"/>
                </a:solidFill>
                <a:effectLst/>
                <a:latin typeface="Times New Roman" pitchFamily="18" charset="0"/>
                <a:cs typeface="Times New Roman" pitchFamily="18" charset="0"/>
              </a:rPr>
              <a:t> Readiness</a:t>
            </a:r>
            <a:endParaRPr kumimoji="0" lang="en-GB" sz="10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3.1 Deployment Readiness</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4.1 ELS Process/Tools Readiness</a:t>
            </a:r>
          </a:p>
          <a:p>
            <a:pPr algn="l" defTabSz="646113"/>
            <a:r>
              <a:rPr lang="en-GB" sz="1000" dirty="0" smtClean="0">
                <a:latin typeface="Times New Roman" pitchFamily="18" charset="0"/>
                <a:cs typeface="Times New Roman" pitchFamily="18" charset="0"/>
              </a:rPr>
              <a:t>4.2  Technical </a:t>
            </a:r>
            <a:r>
              <a:rPr lang="en-GB" sz="1000" dirty="0" err="1" smtClean="0">
                <a:latin typeface="Times New Roman" pitchFamily="18" charset="0"/>
                <a:cs typeface="Times New Roman" pitchFamily="18" charset="0"/>
              </a:rPr>
              <a:t>Env</a:t>
            </a:r>
            <a:r>
              <a:rPr lang="en-GB" sz="1000" dirty="0" smtClean="0">
                <a:latin typeface="Times New Roman" pitchFamily="18" charset="0"/>
                <a:cs typeface="Times New Roman" pitchFamily="18" charset="0"/>
              </a:rPr>
              <a:t> Prod-readiness</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5.1 Residual Program Risks</a:t>
            </a:r>
          </a:p>
          <a:p>
            <a:pPr marL="0" marR="0" indent="0" algn="l" defTabSz="646113" rtl="0" eaLnBrk="1" fontAlgn="base" latinLnBrk="0" hangingPunct="1">
              <a:lnSpc>
                <a:spcPct val="100000"/>
              </a:lnSpc>
              <a:spcBef>
                <a:spcPct val="0"/>
              </a:spcBef>
              <a:spcAft>
                <a:spcPct val="0"/>
              </a:spcAft>
              <a:buClrTx/>
              <a:buSzTx/>
              <a:buFontTx/>
              <a:buNone/>
              <a:tabLst/>
            </a:pPr>
            <a:r>
              <a:rPr lang="en-GB" sz="1000" baseline="0" dirty="0" smtClean="0">
                <a:latin typeface="Times New Roman" pitchFamily="18" charset="0"/>
                <a:cs typeface="Times New Roman" pitchFamily="18" charset="0"/>
              </a:rPr>
              <a:t>6.1 Q&amp;RM Solution</a:t>
            </a:r>
            <a:r>
              <a:rPr lang="en-GB" sz="1000" dirty="0" smtClean="0">
                <a:latin typeface="Times New Roman" pitchFamily="18" charset="0"/>
                <a:cs typeface="Times New Roman" pitchFamily="18" charset="0"/>
              </a:rPr>
              <a:t> Validation</a:t>
            </a:r>
          </a:p>
          <a:p>
            <a:pPr marL="0" marR="0" indent="0" algn="l" defTabSz="646113" rtl="0" eaLnBrk="1" fontAlgn="base" latinLnBrk="0" hangingPunct="1">
              <a:lnSpc>
                <a:spcPct val="100000"/>
              </a:lnSpc>
              <a:spcBef>
                <a:spcPct val="0"/>
              </a:spcBef>
              <a:spcAft>
                <a:spcPct val="0"/>
              </a:spcAft>
              <a:buClrTx/>
              <a:buSzTx/>
              <a:buFontTx/>
              <a:buNone/>
              <a:tabLst/>
            </a:pPr>
            <a:r>
              <a:rPr kumimoji="0" lang="en-GB" sz="1000" i="0" u="none" strike="noStrike" cap="none" normalizeH="0" baseline="0" dirty="0" smtClean="0">
                <a:ln>
                  <a:noFill/>
                </a:ln>
                <a:solidFill>
                  <a:schemeClr val="tx1"/>
                </a:solidFill>
                <a:effectLst/>
                <a:latin typeface="Times New Roman" pitchFamily="18" charset="0"/>
                <a:cs typeface="Times New Roman" pitchFamily="18" charset="0"/>
              </a:rPr>
              <a:t>6.2</a:t>
            </a:r>
            <a:r>
              <a:rPr kumimoji="0" lang="en-GB" sz="1000" i="0" u="none" strike="noStrike" cap="none" normalizeH="0" dirty="0" smtClean="0">
                <a:ln>
                  <a:noFill/>
                </a:ln>
                <a:solidFill>
                  <a:schemeClr val="tx1"/>
                </a:solidFill>
                <a:effectLst/>
                <a:latin typeface="Times New Roman" pitchFamily="18" charset="0"/>
                <a:cs typeface="Times New Roman" pitchFamily="18" charset="0"/>
              </a:rPr>
              <a:t> Info Sec Solution Validation</a:t>
            </a:r>
            <a:endParaRPr kumimoji="0" lang="en-GB" sz="10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p:txBody>
      </p:sp>
      <p:sp>
        <p:nvSpPr>
          <p:cNvPr id="11" name="Rounded Rectangular Callout 10"/>
          <p:cNvSpPr/>
          <p:nvPr/>
        </p:nvSpPr>
        <p:spPr bwMode="auto">
          <a:xfrm>
            <a:off x="6029324" y="2266948"/>
            <a:ext cx="2238376" cy="447678"/>
          </a:xfrm>
          <a:prstGeom prst="wedgeRoundRectCallout">
            <a:avLst>
              <a:gd name="adj1" fmla="val -60170"/>
              <a:gd name="adj2" fmla="val -140722"/>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-Full GNG checklist review</a:t>
            </a:r>
          </a:p>
          <a:p>
            <a:pPr marL="0" marR="0" indent="0" algn="l" defTabSz="646113" rtl="0" eaLnBrk="1" fontAlgn="base" latinLnBrk="0" hangingPunct="1">
              <a:lnSpc>
                <a:spcPct val="100000"/>
              </a:lnSpc>
              <a:spcBef>
                <a:spcPct val="0"/>
              </a:spcBef>
              <a:spcAft>
                <a:spcPct val="0"/>
              </a:spcAft>
              <a:buClrTx/>
              <a:buSzTx/>
              <a:buFontTx/>
              <a:buNone/>
              <a:tabLst/>
            </a:pPr>
            <a:r>
              <a:rPr kumimoji="0" lang="en-GB" sz="1000" i="0" u="none" strike="noStrike" cap="none" normalizeH="0" baseline="0" dirty="0" smtClean="0">
                <a:ln>
                  <a:noFill/>
                </a:ln>
                <a:solidFill>
                  <a:schemeClr val="tx1"/>
                </a:solidFill>
                <a:effectLst/>
                <a:latin typeface="Times New Roman" pitchFamily="18" charset="0"/>
                <a:cs typeface="Times New Roman" pitchFamily="18" charset="0"/>
              </a:rPr>
              <a:t>-Outcome of Dep</a:t>
            </a:r>
            <a:r>
              <a:rPr lang="en-GB" sz="1000" dirty="0" smtClean="0">
                <a:latin typeface="Times New Roman" pitchFamily="18" charset="0"/>
                <a:cs typeface="Times New Roman" pitchFamily="18" charset="0"/>
              </a:rPr>
              <a:t>loyment Execution</a:t>
            </a:r>
            <a:endParaRPr kumimoji="0" lang="en-GB" sz="10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0626" name="Rectangle 50"/>
          <p:cNvSpPr>
            <a:spLocks noGrp="1" noChangeArrowheads="1"/>
          </p:cNvSpPr>
          <p:nvPr>
            <p:ph type="title"/>
          </p:nvPr>
        </p:nvSpPr>
        <p:spPr/>
        <p:txBody>
          <a:bodyPr/>
          <a:lstStyle/>
          <a:p>
            <a:r>
              <a:rPr lang="en-GB" sz="1900" dirty="0" smtClean="0"/>
              <a:t>Beta Pilot</a:t>
            </a:r>
            <a:r>
              <a:rPr lang="en-GB" sz="1900" b="1" dirty="0" smtClean="0"/>
              <a:t> </a:t>
            </a:r>
            <a:r>
              <a:rPr lang="en-GB" sz="1900" b="1" dirty="0"/>
              <a:t>Go / No Go </a:t>
            </a:r>
            <a:r>
              <a:rPr lang="en-GB" sz="1900" b="1" dirty="0" smtClean="0"/>
              <a:t>Governance Timeline </a:t>
            </a:r>
            <a:r>
              <a:rPr lang="en-GB" sz="1900" b="1" dirty="0"/>
              <a:t>: </a:t>
            </a:r>
            <a:r>
              <a:rPr lang="en-GB" sz="1900" b="1" dirty="0" smtClean="0"/>
              <a:t/>
            </a:r>
            <a:br>
              <a:rPr lang="en-GB" sz="1900" b="1" dirty="0" smtClean="0"/>
            </a:br>
            <a:r>
              <a:rPr lang="en-GB" sz="1900" b="0" dirty="0" smtClean="0"/>
              <a:t>We </a:t>
            </a:r>
            <a:r>
              <a:rPr lang="en-GB" sz="1900" b="0" dirty="0"/>
              <a:t>should be ready to take the </a:t>
            </a:r>
            <a:r>
              <a:rPr lang="en-GB" sz="1900" b="0" dirty="0" smtClean="0"/>
              <a:t>completed material with recommendation to the Executive Sponsors Group scheduled Dec 4</a:t>
            </a:r>
            <a:r>
              <a:rPr lang="en-GB" sz="1900" b="0" baseline="30000" dirty="0" smtClean="0"/>
              <a:t>th</a:t>
            </a:r>
            <a:r>
              <a:rPr lang="en-GB" sz="1900" b="0" dirty="0" smtClean="0"/>
              <a:t> </a:t>
            </a:r>
            <a:endParaRPr lang="en-GB" sz="1900" b="0" dirty="0"/>
          </a:p>
        </p:txBody>
      </p:sp>
      <p:sp>
        <p:nvSpPr>
          <p:cNvPr id="1560585" name="Rectangle 9"/>
          <p:cNvSpPr>
            <a:spLocks noChangeArrowheads="1"/>
          </p:cNvSpPr>
          <p:nvPr/>
        </p:nvSpPr>
        <p:spPr bwMode="auto">
          <a:xfrm>
            <a:off x="1421423" y="1160463"/>
            <a:ext cx="7035312" cy="5002212"/>
          </a:xfrm>
          <a:prstGeom prst="rect">
            <a:avLst/>
          </a:prstGeom>
          <a:noFill/>
          <a:ln w="9525" algn="ctr">
            <a:solidFill>
              <a:schemeClr val="tx1"/>
            </a:solidFill>
            <a:miter lim="800000"/>
            <a:headEnd/>
            <a:tailEnd/>
          </a:ln>
          <a:effectLst/>
        </p:spPr>
        <p:txBody>
          <a:bodyPr wrap="none" lIns="90000" tIns="46800" rIns="90000" bIns="46800" anchor="ctr"/>
          <a:lstStyle/>
          <a:p>
            <a:endParaRPr lang="en-GB"/>
          </a:p>
        </p:txBody>
      </p:sp>
      <p:sp>
        <p:nvSpPr>
          <p:cNvPr id="1560586" name="Rectangle 10"/>
          <p:cNvSpPr>
            <a:spLocks noChangeArrowheads="1"/>
          </p:cNvSpPr>
          <p:nvPr/>
        </p:nvSpPr>
        <p:spPr bwMode="auto">
          <a:xfrm>
            <a:off x="1421423" y="1160463"/>
            <a:ext cx="7035312" cy="241300"/>
          </a:xfrm>
          <a:prstGeom prst="rect">
            <a:avLst/>
          </a:prstGeom>
          <a:noFill/>
          <a:ln w="9525" algn="ctr">
            <a:solidFill>
              <a:schemeClr val="tx1"/>
            </a:solidFill>
            <a:miter lim="800000"/>
            <a:headEnd/>
            <a:tailEnd/>
          </a:ln>
          <a:effectLst/>
        </p:spPr>
        <p:txBody>
          <a:bodyPr wrap="none" lIns="90000" tIns="46800" rIns="90000" bIns="46800" anchor="ctr"/>
          <a:lstStyle/>
          <a:p>
            <a:endParaRPr lang="en-GB"/>
          </a:p>
        </p:txBody>
      </p:sp>
      <p:sp>
        <p:nvSpPr>
          <p:cNvPr id="1560588" name="Text Box 12"/>
          <p:cNvSpPr txBox="1">
            <a:spLocks noChangeArrowheads="1"/>
          </p:cNvSpPr>
          <p:nvPr/>
        </p:nvSpPr>
        <p:spPr bwMode="auto">
          <a:xfrm>
            <a:off x="2598859" y="1112839"/>
            <a:ext cx="1758462" cy="327025"/>
          </a:xfrm>
          <a:prstGeom prst="rect">
            <a:avLst/>
          </a:prstGeom>
          <a:noFill/>
          <a:ln w="9525" algn="ctr">
            <a:noFill/>
            <a:miter lim="800000"/>
            <a:headEnd/>
            <a:tailEnd/>
          </a:ln>
          <a:effectLst/>
        </p:spPr>
        <p:txBody>
          <a:bodyPr lIns="94273" tIns="49022" rIns="94273" bIns="49022">
            <a:spAutoFit/>
          </a:bodyPr>
          <a:lstStyle/>
          <a:p>
            <a:pPr defTabSz="957263"/>
            <a:r>
              <a:rPr lang="en-GB" sz="1500" b="1" dirty="0" smtClean="0">
                <a:solidFill>
                  <a:schemeClr val="tx1"/>
                </a:solidFill>
                <a:latin typeface="Times New Roman" pitchFamily="18" charset="0"/>
                <a:cs typeface="Times New Roman" pitchFamily="18" charset="0"/>
              </a:rPr>
              <a:t>November</a:t>
            </a:r>
            <a:endParaRPr lang="en-GB" sz="1500" b="1" dirty="0">
              <a:solidFill>
                <a:schemeClr val="tx1"/>
              </a:solidFill>
              <a:latin typeface="Times New Roman" pitchFamily="18" charset="0"/>
              <a:cs typeface="Times New Roman" pitchFamily="18" charset="0"/>
            </a:endParaRPr>
          </a:p>
        </p:txBody>
      </p:sp>
      <p:sp>
        <p:nvSpPr>
          <p:cNvPr id="1560589" name="Text Box 13"/>
          <p:cNvSpPr txBox="1">
            <a:spLocks noChangeArrowheads="1"/>
          </p:cNvSpPr>
          <p:nvPr/>
        </p:nvSpPr>
        <p:spPr bwMode="auto">
          <a:xfrm>
            <a:off x="5119321" y="1109664"/>
            <a:ext cx="1759927" cy="327025"/>
          </a:xfrm>
          <a:prstGeom prst="rect">
            <a:avLst/>
          </a:prstGeom>
          <a:noFill/>
          <a:ln w="9525" algn="ctr">
            <a:noFill/>
            <a:miter lim="800000"/>
            <a:headEnd/>
            <a:tailEnd/>
          </a:ln>
          <a:effectLst/>
        </p:spPr>
        <p:txBody>
          <a:bodyPr lIns="94273" tIns="49022" rIns="94273" bIns="49022">
            <a:spAutoFit/>
          </a:bodyPr>
          <a:lstStyle/>
          <a:p>
            <a:pPr defTabSz="957263"/>
            <a:r>
              <a:rPr lang="en-GB" sz="1500" b="1" dirty="0" smtClean="0">
                <a:solidFill>
                  <a:schemeClr val="tx1"/>
                </a:solidFill>
                <a:latin typeface="Times New Roman" pitchFamily="18" charset="0"/>
                <a:cs typeface="Times New Roman" pitchFamily="18" charset="0"/>
              </a:rPr>
              <a:t>December</a:t>
            </a:r>
            <a:endParaRPr lang="en-GB" sz="1500" b="1" dirty="0">
              <a:solidFill>
                <a:schemeClr val="tx1"/>
              </a:solidFill>
              <a:latin typeface="Times New Roman" pitchFamily="18" charset="0"/>
              <a:cs typeface="Times New Roman" pitchFamily="18" charset="0"/>
            </a:endParaRPr>
          </a:p>
        </p:txBody>
      </p:sp>
      <p:sp>
        <p:nvSpPr>
          <p:cNvPr id="1560592" name="AutoShape 16"/>
          <p:cNvSpPr>
            <a:spLocks noChangeArrowheads="1"/>
          </p:cNvSpPr>
          <p:nvPr/>
        </p:nvSpPr>
        <p:spPr bwMode="auto">
          <a:xfrm>
            <a:off x="3034813" y="1449389"/>
            <a:ext cx="290146" cy="198437"/>
          </a:xfrm>
          <a:prstGeom prst="triangle">
            <a:avLst>
              <a:gd name="adj" fmla="val 50000"/>
            </a:avLst>
          </a:prstGeom>
          <a:solidFill>
            <a:srgbClr val="00FF00"/>
          </a:solidFill>
          <a:ln w="9525" algn="ctr">
            <a:solidFill>
              <a:schemeClr val="tx1"/>
            </a:solidFill>
            <a:miter lim="800000"/>
            <a:headEnd/>
            <a:tailEnd/>
          </a:ln>
          <a:effectLst/>
        </p:spPr>
        <p:txBody>
          <a:bodyPr wrap="none" lIns="90000" tIns="46800" rIns="90000" bIns="46800" anchor="ctr"/>
          <a:lstStyle/>
          <a:p>
            <a:endParaRPr lang="en-GB" sz="1200"/>
          </a:p>
        </p:txBody>
      </p:sp>
      <p:sp>
        <p:nvSpPr>
          <p:cNvPr id="1560593" name="Text Box 17"/>
          <p:cNvSpPr txBox="1">
            <a:spLocks noChangeArrowheads="1"/>
          </p:cNvSpPr>
          <p:nvPr/>
        </p:nvSpPr>
        <p:spPr bwMode="auto">
          <a:xfrm>
            <a:off x="127489" y="1393826"/>
            <a:ext cx="1329836"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b="1" dirty="0" smtClean="0">
                <a:latin typeface="Times New Roman" pitchFamily="18" charset="0"/>
                <a:cs typeface="Times New Roman" pitchFamily="18" charset="0"/>
              </a:rPr>
              <a:t>M&amp;C GNG Forum</a:t>
            </a:r>
            <a:endParaRPr lang="en-GB" sz="1000" b="1" dirty="0">
              <a:solidFill>
                <a:schemeClr val="tx1"/>
              </a:solidFill>
              <a:latin typeface="Times New Roman" pitchFamily="18" charset="0"/>
              <a:cs typeface="Times New Roman" pitchFamily="18" charset="0"/>
            </a:endParaRPr>
          </a:p>
        </p:txBody>
      </p:sp>
      <p:sp>
        <p:nvSpPr>
          <p:cNvPr id="1560594" name="Text Box 18"/>
          <p:cNvSpPr txBox="1">
            <a:spLocks noChangeArrowheads="1"/>
          </p:cNvSpPr>
          <p:nvPr/>
        </p:nvSpPr>
        <p:spPr bwMode="auto">
          <a:xfrm>
            <a:off x="2637479" y="1390651"/>
            <a:ext cx="435647"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solidFill>
                  <a:schemeClr val="tx1"/>
                </a:solidFill>
                <a:latin typeface="Times New Roman" pitchFamily="18" charset="0"/>
                <a:cs typeface="Times New Roman" pitchFamily="18" charset="0"/>
              </a:rPr>
              <a:t>14</a:t>
            </a:r>
            <a:r>
              <a:rPr lang="en-GB" sz="1200" b="1" baseline="30000" dirty="0" smtClean="0">
                <a:solidFill>
                  <a:schemeClr val="tx1"/>
                </a:solidFill>
                <a:latin typeface="Times New Roman" pitchFamily="18" charset="0"/>
                <a:cs typeface="Times New Roman" pitchFamily="18" charset="0"/>
              </a:rPr>
              <a:t>th</a:t>
            </a:r>
            <a:endParaRPr lang="en-GB" sz="1200" b="1" dirty="0">
              <a:solidFill>
                <a:schemeClr val="tx1"/>
              </a:solidFill>
              <a:latin typeface="Times New Roman" pitchFamily="18" charset="0"/>
              <a:cs typeface="Times New Roman" pitchFamily="18" charset="0"/>
            </a:endParaRPr>
          </a:p>
        </p:txBody>
      </p:sp>
      <p:sp>
        <p:nvSpPr>
          <p:cNvPr id="1560596" name="Text Box 20"/>
          <p:cNvSpPr txBox="1">
            <a:spLocks noChangeArrowheads="1"/>
          </p:cNvSpPr>
          <p:nvPr/>
        </p:nvSpPr>
        <p:spPr bwMode="auto">
          <a:xfrm>
            <a:off x="140677" y="1701800"/>
            <a:ext cx="1400908"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smtClean="0">
                <a:solidFill>
                  <a:schemeClr val="tx1"/>
                </a:solidFill>
                <a:latin typeface="Times New Roman" pitchFamily="18" charset="0"/>
                <a:cs typeface="Times New Roman" pitchFamily="18" charset="0"/>
              </a:rPr>
              <a:t>FSG</a:t>
            </a:r>
            <a:endParaRPr lang="en-GB" sz="1000" b="1" dirty="0">
              <a:solidFill>
                <a:schemeClr val="tx1"/>
              </a:solidFill>
              <a:latin typeface="Times New Roman" pitchFamily="18" charset="0"/>
              <a:cs typeface="Times New Roman" pitchFamily="18" charset="0"/>
            </a:endParaRPr>
          </a:p>
        </p:txBody>
      </p:sp>
      <p:sp>
        <p:nvSpPr>
          <p:cNvPr id="1560598" name="AutoShape 22"/>
          <p:cNvSpPr>
            <a:spLocks noChangeArrowheads="1"/>
          </p:cNvSpPr>
          <p:nvPr/>
        </p:nvSpPr>
        <p:spPr bwMode="auto">
          <a:xfrm>
            <a:off x="2793757" y="2443164"/>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560601" name="Text Box 25"/>
          <p:cNvSpPr txBox="1">
            <a:spLocks noChangeArrowheads="1"/>
          </p:cNvSpPr>
          <p:nvPr/>
        </p:nvSpPr>
        <p:spPr bwMode="auto">
          <a:xfrm>
            <a:off x="1367205" y="2297114"/>
            <a:ext cx="1461720" cy="1176219"/>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solidFill>
                  <a:schemeClr val="tx1"/>
                </a:solidFill>
                <a:latin typeface="Times New Roman" pitchFamily="18" charset="0"/>
                <a:cs typeface="Times New Roman" pitchFamily="18" charset="0"/>
              </a:rPr>
              <a:t>1.1.1 UAT Readiness</a:t>
            </a:r>
          </a:p>
          <a:p>
            <a:pPr algn="l" defTabSz="957263"/>
            <a:r>
              <a:rPr lang="en-GB" sz="1000" b="1" dirty="0" smtClean="0">
                <a:solidFill>
                  <a:schemeClr val="tx1"/>
                </a:solidFill>
                <a:latin typeface="Times New Roman" pitchFamily="18" charset="0"/>
                <a:cs typeface="Times New Roman" pitchFamily="18" charset="0"/>
              </a:rPr>
              <a:t>1.2.1 Defect Reports</a:t>
            </a:r>
          </a:p>
          <a:p>
            <a:pPr algn="l" defTabSz="957263"/>
            <a:r>
              <a:rPr lang="en-GB" sz="1000" b="1" dirty="0" smtClean="0">
                <a:latin typeface="Times New Roman" pitchFamily="18" charset="0"/>
                <a:cs typeface="Times New Roman" pitchFamily="18" charset="0"/>
              </a:rPr>
              <a:t>1.2.2 Test Reports</a:t>
            </a:r>
          </a:p>
          <a:p>
            <a:pPr algn="l" defTabSz="957263"/>
            <a:r>
              <a:rPr lang="en-GB" sz="1000" dirty="0" smtClean="0">
                <a:solidFill>
                  <a:schemeClr val="tx1"/>
                </a:solidFill>
                <a:latin typeface="Times New Roman" pitchFamily="18" charset="0"/>
                <a:cs typeface="Times New Roman" pitchFamily="18" charset="0"/>
              </a:rPr>
              <a:t>1.2.3 Workaround Log</a:t>
            </a:r>
          </a:p>
          <a:p>
            <a:pPr algn="l" defTabSz="957263"/>
            <a:r>
              <a:rPr lang="en-GB" sz="1000" b="1" dirty="0" smtClean="0">
                <a:latin typeface="Times New Roman" pitchFamily="18" charset="0"/>
                <a:cs typeface="Times New Roman" pitchFamily="18" charset="0"/>
              </a:rPr>
              <a:t>1.3.1 Performance Test</a:t>
            </a:r>
          </a:p>
          <a:p>
            <a:pPr algn="l" defTabSz="957263"/>
            <a:r>
              <a:rPr lang="en-GB" sz="1000" b="1" dirty="0" smtClean="0">
                <a:latin typeface="Times New Roman" pitchFamily="18" charset="0"/>
                <a:cs typeface="Times New Roman" pitchFamily="18" charset="0"/>
              </a:rPr>
              <a:t>         </a:t>
            </a:r>
            <a:r>
              <a:rPr lang="en-GB" sz="1000" b="1" dirty="0" smtClean="0">
                <a:solidFill>
                  <a:schemeClr val="tx1"/>
                </a:solidFill>
                <a:latin typeface="Times New Roman" pitchFamily="18" charset="0"/>
                <a:cs typeface="Times New Roman" pitchFamily="18" charset="0"/>
              </a:rPr>
              <a:t>Exception</a:t>
            </a:r>
          </a:p>
          <a:p>
            <a:pPr algn="l" defTabSz="957263"/>
            <a:r>
              <a:rPr lang="en-GB" sz="1000" dirty="0" smtClean="0">
                <a:solidFill>
                  <a:schemeClr val="tx1"/>
                </a:solidFill>
              </a:rPr>
              <a:t> </a:t>
            </a:r>
            <a:endParaRPr lang="en-GB" sz="1000" dirty="0">
              <a:solidFill>
                <a:schemeClr val="tx1"/>
              </a:solidFill>
            </a:endParaRPr>
          </a:p>
        </p:txBody>
      </p:sp>
      <p:sp>
        <p:nvSpPr>
          <p:cNvPr id="1560617" name="Text Box 41"/>
          <p:cNvSpPr txBox="1">
            <a:spLocks noChangeArrowheads="1"/>
          </p:cNvSpPr>
          <p:nvPr/>
        </p:nvSpPr>
        <p:spPr bwMode="auto">
          <a:xfrm>
            <a:off x="114300" y="2568575"/>
            <a:ext cx="1400908"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a:solidFill>
                  <a:schemeClr val="tx1"/>
                </a:solidFill>
                <a:latin typeface="Times New Roman" pitchFamily="18" charset="0"/>
                <a:cs typeface="Times New Roman" pitchFamily="18" charset="0"/>
              </a:rPr>
              <a:t>Solution is Ready</a:t>
            </a:r>
          </a:p>
        </p:txBody>
      </p:sp>
      <p:sp>
        <p:nvSpPr>
          <p:cNvPr id="1560620" name="Text Box 44"/>
          <p:cNvSpPr txBox="1">
            <a:spLocks noChangeArrowheads="1"/>
          </p:cNvSpPr>
          <p:nvPr/>
        </p:nvSpPr>
        <p:spPr bwMode="auto">
          <a:xfrm>
            <a:off x="114300" y="3506788"/>
            <a:ext cx="1400908"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a:solidFill>
                  <a:schemeClr val="tx1"/>
                </a:solidFill>
                <a:latin typeface="Times New Roman" pitchFamily="18" charset="0"/>
                <a:cs typeface="Times New Roman" pitchFamily="18" charset="0"/>
              </a:rPr>
              <a:t>Organisation is Ready</a:t>
            </a:r>
          </a:p>
        </p:txBody>
      </p:sp>
      <p:sp>
        <p:nvSpPr>
          <p:cNvPr id="1560622" name="Text Box 46"/>
          <p:cNvSpPr txBox="1">
            <a:spLocks noChangeArrowheads="1"/>
          </p:cNvSpPr>
          <p:nvPr/>
        </p:nvSpPr>
        <p:spPr bwMode="auto">
          <a:xfrm>
            <a:off x="114300" y="4333875"/>
            <a:ext cx="1400908"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a:solidFill>
                  <a:schemeClr val="tx1"/>
                </a:solidFill>
                <a:latin typeface="Times New Roman" pitchFamily="18" charset="0"/>
                <a:cs typeface="Times New Roman" pitchFamily="18" charset="0"/>
              </a:rPr>
              <a:t>Ready to </a:t>
            </a:r>
            <a:r>
              <a:rPr lang="en-GB" sz="1000" b="1" dirty="0" smtClean="0">
                <a:solidFill>
                  <a:schemeClr val="tx1"/>
                </a:solidFill>
                <a:latin typeface="Times New Roman" pitchFamily="18" charset="0"/>
                <a:cs typeface="Times New Roman" pitchFamily="18" charset="0"/>
              </a:rPr>
              <a:t>Deploy</a:t>
            </a:r>
            <a:endParaRPr lang="en-GB" sz="1000" b="1" dirty="0">
              <a:solidFill>
                <a:schemeClr val="tx1"/>
              </a:solidFill>
              <a:latin typeface="Times New Roman" pitchFamily="18" charset="0"/>
              <a:cs typeface="Times New Roman" pitchFamily="18" charset="0"/>
            </a:endParaRPr>
          </a:p>
        </p:txBody>
      </p:sp>
      <p:sp>
        <p:nvSpPr>
          <p:cNvPr id="1560623" name="Line 47"/>
          <p:cNvSpPr>
            <a:spLocks noChangeShapeType="1"/>
          </p:cNvSpPr>
          <p:nvPr/>
        </p:nvSpPr>
        <p:spPr bwMode="auto">
          <a:xfrm>
            <a:off x="4741985" y="1193800"/>
            <a:ext cx="10990" cy="4959350"/>
          </a:xfrm>
          <a:prstGeom prst="line">
            <a:avLst/>
          </a:prstGeom>
          <a:noFill/>
          <a:ln w="15875">
            <a:solidFill>
              <a:schemeClr val="tx1"/>
            </a:solidFill>
            <a:prstDash val="dashDot"/>
            <a:round/>
            <a:headEnd/>
            <a:tailEnd/>
          </a:ln>
          <a:effectLst/>
        </p:spPr>
        <p:txBody>
          <a:bodyPr wrap="none" lIns="90000" tIns="46800" rIns="90000" bIns="46800" anchor="ctr"/>
          <a:lstStyle/>
          <a:p>
            <a:endParaRPr lang="en-GB"/>
          </a:p>
        </p:txBody>
      </p:sp>
      <p:sp>
        <p:nvSpPr>
          <p:cNvPr id="1560629" name="Text Box 53"/>
          <p:cNvSpPr txBox="1">
            <a:spLocks noChangeArrowheads="1"/>
          </p:cNvSpPr>
          <p:nvPr/>
        </p:nvSpPr>
        <p:spPr bwMode="auto">
          <a:xfrm>
            <a:off x="114300" y="5022850"/>
            <a:ext cx="1263162"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a:solidFill>
                  <a:schemeClr val="tx1"/>
                </a:solidFill>
                <a:latin typeface="Times New Roman" pitchFamily="18" charset="0"/>
                <a:cs typeface="Times New Roman" pitchFamily="18" charset="0"/>
              </a:rPr>
              <a:t>Ready to Support</a:t>
            </a:r>
          </a:p>
        </p:txBody>
      </p:sp>
      <p:sp>
        <p:nvSpPr>
          <p:cNvPr id="1560632" name="Line 56"/>
          <p:cNvSpPr>
            <a:spLocks noChangeShapeType="1"/>
          </p:cNvSpPr>
          <p:nvPr/>
        </p:nvSpPr>
        <p:spPr bwMode="auto">
          <a:xfrm>
            <a:off x="1421423" y="2244725"/>
            <a:ext cx="7035312" cy="0"/>
          </a:xfrm>
          <a:prstGeom prst="line">
            <a:avLst/>
          </a:prstGeom>
          <a:noFill/>
          <a:ln w="9525">
            <a:solidFill>
              <a:schemeClr val="tx1"/>
            </a:solidFill>
            <a:round/>
            <a:headEnd/>
            <a:tailEnd/>
          </a:ln>
          <a:effectLst/>
        </p:spPr>
        <p:txBody>
          <a:bodyPr wrap="none" lIns="90000" tIns="46800" rIns="90000" bIns="46800" anchor="ctr"/>
          <a:lstStyle/>
          <a:p>
            <a:endParaRPr lang="en-GB"/>
          </a:p>
        </p:txBody>
      </p:sp>
      <p:sp>
        <p:nvSpPr>
          <p:cNvPr id="1560633" name="Line 57"/>
          <p:cNvSpPr>
            <a:spLocks noChangeShapeType="1"/>
          </p:cNvSpPr>
          <p:nvPr/>
        </p:nvSpPr>
        <p:spPr bwMode="auto">
          <a:xfrm>
            <a:off x="1444869" y="3249613"/>
            <a:ext cx="7035312" cy="0"/>
          </a:xfrm>
          <a:prstGeom prst="line">
            <a:avLst/>
          </a:prstGeom>
          <a:noFill/>
          <a:ln w="9525">
            <a:solidFill>
              <a:schemeClr val="tx1"/>
            </a:solidFill>
            <a:round/>
            <a:headEnd/>
            <a:tailEnd/>
          </a:ln>
          <a:effectLst/>
        </p:spPr>
        <p:txBody>
          <a:bodyPr wrap="none" lIns="90000" tIns="46800" rIns="90000" bIns="46800" anchor="ctr"/>
          <a:lstStyle/>
          <a:p>
            <a:endParaRPr lang="en-GB"/>
          </a:p>
        </p:txBody>
      </p:sp>
      <p:sp>
        <p:nvSpPr>
          <p:cNvPr id="1560634" name="Line 58"/>
          <p:cNvSpPr>
            <a:spLocks noChangeShapeType="1"/>
          </p:cNvSpPr>
          <p:nvPr/>
        </p:nvSpPr>
        <p:spPr bwMode="auto">
          <a:xfrm>
            <a:off x="1425820" y="3933825"/>
            <a:ext cx="7035311" cy="0"/>
          </a:xfrm>
          <a:prstGeom prst="line">
            <a:avLst/>
          </a:prstGeom>
          <a:noFill/>
          <a:ln w="9525">
            <a:solidFill>
              <a:schemeClr val="tx1"/>
            </a:solidFill>
            <a:round/>
            <a:headEnd/>
            <a:tailEnd/>
          </a:ln>
          <a:effectLst/>
        </p:spPr>
        <p:txBody>
          <a:bodyPr wrap="none" lIns="90000" tIns="46800" rIns="90000" bIns="46800" anchor="ctr"/>
          <a:lstStyle/>
          <a:p>
            <a:endParaRPr lang="en-GB"/>
          </a:p>
        </p:txBody>
      </p:sp>
      <p:sp>
        <p:nvSpPr>
          <p:cNvPr id="1560637" name="Line 61"/>
          <p:cNvSpPr>
            <a:spLocks noChangeShapeType="1"/>
          </p:cNvSpPr>
          <p:nvPr/>
        </p:nvSpPr>
        <p:spPr bwMode="auto">
          <a:xfrm>
            <a:off x="1433147" y="4840288"/>
            <a:ext cx="7036777" cy="0"/>
          </a:xfrm>
          <a:prstGeom prst="line">
            <a:avLst/>
          </a:prstGeom>
          <a:noFill/>
          <a:ln w="9525">
            <a:solidFill>
              <a:schemeClr val="tx1"/>
            </a:solidFill>
            <a:round/>
            <a:headEnd/>
            <a:tailEnd/>
          </a:ln>
          <a:effectLst/>
        </p:spPr>
        <p:txBody>
          <a:bodyPr wrap="none" lIns="90000" tIns="46800" rIns="90000" bIns="46800" anchor="ctr"/>
          <a:lstStyle/>
          <a:p>
            <a:endParaRPr lang="en-GB"/>
          </a:p>
        </p:txBody>
      </p:sp>
      <p:sp>
        <p:nvSpPr>
          <p:cNvPr id="1560638" name="Line 62"/>
          <p:cNvSpPr>
            <a:spLocks noChangeShapeType="1"/>
          </p:cNvSpPr>
          <p:nvPr/>
        </p:nvSpPr>
        <p:spPr bwMode="auto">
          <a:xfrm>
            <a:off x="1436077" y="5360988"/>
            <a:ext cx="7033846" cy="0"/>
          </a:xfrm>
          <a:prstGeom prst="line">
            <a:avLst/>
          </a:prstGeom>
          <a:noFill/>
          <a:ln w="9525">
            <a:solidFill>
              <a:schemeClr val="tx1"/>
            </a:solidFill>
            <a:round/>
            <a:headEnd/>
            <a:tailEnd/>
          </a:ln>
          <a:effectLst/>
        </p:spPr>
        <p:txBody>
          <a:bodyPr wrap="none" lIns="90000" tIns="46800" rIns="90000" bIns="46800" anchor="ctr"/>
          <a:lstStyle/>
          <a:p>
            <a:endParaRPr lang="en-GB"/>
          </a:p>
        </p:txBody>
      </p:sp>
      <p:sp>
        <p:nvSpPr>
          <p:cNvPr id="1560639" name="Text Box 63"/>
          <p:cNvSpPr txBox="1">
            <a:spLocks noChangeArrowheads="1"/>
          </p:cNvSpPr>
          <p:nvPr/>
        </p:nvSpPr>
        <p:spPr bwMode="auto">
          <a:xfrm>
            <a:off x="114300" y="5659438"/>
            <a:ext cx="1377462" cy="406778"/>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smtClean="0">
                <a:solidFill>
                  <a:schemeClr val="tx1"/>
                </a:solidFill>
                <a:latin typeface="Times New Roman" pitchFamily="18" charset="0"/>
                <a:cs typeface="Times New Roman" pitchFamily="18" charset="0"/>
              </a:rPr>
              <a:t>Operational </a:t>
            </a:r>
            <a:r>
              <a:rPr lang="en-GB" sz="1000" b="1" dirty="0">
                <a:solidFill>
                  <a:schemeClr val="tx1"/>
                </a:solidFill>
                <a:latin typeface="Times New Roman" pitchFamily="18" charset="0"/>
                <a:cs typeface="Times New Roman" pitchFamily="18" charset="0"/>
              </a:rPr>
              <a:t>Risk and Compliance</a:t>
            </a:r>
          </a:p>
        </p:txBody>
      </p:sp>
      <p:sp>
        <p:nvSpPr>
          <p:cNvPr id="1560645" name="Text Box 69"/>
          <p:cNvSpPr txBox="1">
            <a:spLocks noChangeArrowheads="1"/>
          </p:cNvSpPr>
          <p:nvPr/>
        </p:nvSpPr>
        <p:spPr bwMode="auto">
          <a:xfrm>
            <a:off x="127489" y="1981200"/>
            <a:ext cx="1400908"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smtClean="0">
                <a:latin typeface="Times New Roman" pitchFamily="18" charset="0"/>
                <a:cs typeface="Times New Roman" pitchFamily="18" charset="0"/>
              </a:rPr>
              <a:t>Exec Sponsors Group</a:t>
            </a:r>
            <a:endParaRPr lang="en-GB" sz="1000" b="1" dirty="0">
              <a:solidFill>
                <a:schemeClr val="tx1"/>
              </a:solidFill>
              <a:latin typeface="Times New Roman" pitchFamily="18" charset="0"/>
              <a:cs typeface="Times New Roman" pitchFamily="18" charset="0"/>
            </a:endParaRPr>
          </a:p>
        </p:txBody>
      </p:sp>
      <p:sp>
        <p:nvSpPr>
          <p:cNvPr id="1560719" name="AutoShape 143"/>
          <p:cNvSpPr>
            <a:spLocks noChangeArrowheads="1"/>
          </p:cNvSpPr>
          <p:nvPr/>
        </p:nvSpPr>
        <p:spPr bwMode="auto">
          <a:xfrm>
            <a:off x="46892" y="6202363"/>
            <a:ext cx="287215"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sz="1100"/>
          </a:p>
        </p:txBody>
      </p:sp>
      <p:sp>
        <p:nvSpPr>
          <p:cNvPr id="1560720" name="Text Box 144"/>
          <p:cNvSpPr txBox="1">
            <a:spLocks noChangeArrowheads="1"/>
          </p:cNvSpPr>
          <p:nvPr/>
        </p:nvSpPr>
        <p:spPr bwMode="auto">
          <a:xfrm>
            <a:off x="434969" y="6172200"/>
            <a:ext cx="1870334" cy="268279"/>
          </a:xfrm>
          <a:prstGeom prst="rect">
            <a:avLst/>
          </a:prstGeom>
          <a:noFill/>
          <a:ln w="9525" algn="ctr">
            <a:noFill/>
            <a:miter lim="800000"/>
            <a:headEnd/>
            <a:tailEnd/>
          </a:ln>
          <a:effectLst/>
        </p:spPr>
        <p:txBody>
          <a:bodyPr wrap="none" lIns="94273" tIns="49022" rIns="94273" bIns="49022">
            <a:spAutoFit/>
          </a:bodyPr>
          <a:lstStyle/>
          <a:p>
            <a:pPr defTabSz="957263"/>
            <a:r>
              <a:rPr lang="en-GB" sz="1100" dirty="0">
                <a:solidFill>
                  <a:schemeClr val="tx1"/>
                </a:solidFill>
              </a:rPr>
              <a:t>Go / No Go Key Deliverables</a:t>
            </a:r>
          </a:p>
        </p:txBody>
      </p:sp>
      <p:sp>
        <p:nvSpPr>
          <p:cNvPr id="1560727" name="AutoShape 151"/>
          <p:cNvSpPr>
            <a:spLocks noChangeArrowheads="1"/>
          </p:cNvSpPr>
          <p:nvPr/>
        </p:nvSpPr>
        <p:spPr bwMode="auto">
          <a:xfrm>
            <a:off x="2677259" y="6248400"/>
            <a:ext cx="288680" cy="198437"/>
          </a:xfrm>
          <a:prstGeom prst="triangle">
            <a:avLst>
              <a:gd name="adj" fmla="val 50000"/>
            </a:avLst>
          </a:prstGeom>
          <a:solidFill>
            <a:srgbClr val="FF0000"/>
          </a:solidFill>
          <a:ln w="9525" algn="ctr">
            <a:solidFill>
              <a:schemeClr val="tx1"/>
            </a:solidFill>
            <a:miter lim="800000"/>
            <a:headEnd/>
            <a:tailEnd/>
          </a:ln>
          <a:effectLst/>
        </p:spPr>
        <p:txBody>
          <a:bodyPr wrap="none" lIns="90000" tIns="46800" rIns="90000" bIns="46800" anchor="ctr"/>
          <a:lstStyle/>
          <a:p>
            <a:endParaRPr lang="en-GB" sz="1100"/>
          </a:p>
        </p:txBody>
      </p:sp>
      <p:sp>
        <p:nvSpPr>
          <p:cNvPr id="1560728" name="Text Box 152"/>
          <p:cNvSpPr txBox="1">
            <a:spLocks noChangeArrowheads="1"/>
          </p:cNvSpPr>
          <p:nvPr/>
        </p:nvSpPr>
        <p:spPr bwMode="auto">
          <a:xfrm>
            <a:off x="3221524" y="6172200"/>
            <a:ext cx="2311160" cy="268279"/>
          </a:xfrm>
          <a:prstGeom prst="rect">
            <a:avLst/>
          </a:prstGeom>
          <a:noFill/>
          <a:ln w="9525" algn="ctr">
            <a:noFill/>
            <a:miter lim="800000"/>
            <a:headEnd/>
            <a:tailEnd/>
          </a:ln>
          <a:effectLst/>
        </p:spPr>
        <p:txBody>
          <a:bodyPr wrap="none" lIns="94273" tIns="49022" rIns="94273" bIns="49022">
            <a:spAutoFit/>
          </a:bodyPr>
          <a:lstStyle/>
          <a:p>
            <a:pPr defTabSz="957263"/>
            <a:r>
              <a:rPr lang="en-GB" sz="1100" dirty="0">
                <a:solidFill>
                  <a:schemeClr val="tx1"/>
                </a:solidFill>
              </a:rPr>
              <a:t>Steering Group ‘Go/No Go’ Decision</a:t>
            </a:r>
          </a:p>
        </p:txBody>
      </p:sp>
      <p:sp>
        <p:nvSpPr>
          <p:cNvPr id="127" name="Text Box 25"/>
          <p:cNvSpPr txBox="1">
            <a:spLocks noChangeArrowheads="1"/>
          </p:cNvSpPr>
          <p:nvPr/>
        </p:nvSpPr>
        <p:spPr bwMode="auto">
          <a:xfrm>
            <a:off x="2643554" y="2182814"/>
            <a:ext cx="671145"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b="1" dirty="0" smtClean="0">
                <a:solidFill>
                  <a:schemeClr val="tx1"/>
                </a:solidFill>
                <a:latin typeface="Times New Roman" pitchFamily="18" charset="0"/>
                <a:cs typeface="Times New Roman" pitchFamily="18" charset="0"/>
              </a:rPr>
              <a:t>Nov 12</a:t>
            </a:r>
            <a:r>
              <a:rPr lang="en-GB" sz="1000" b="1" baseline="30000" dirty="0" smtClean="0">
                <a:solidFill>
                  <a:schemeClr val="tx1"/>
                </a:solidFill>
                <a:latin typeface="Times New Roman" pitchFamily="18" charset="0"/>
                <a:cs typeface="Times New Roman" pitchFamily="18" charset="0"/>
              </a:rPr>
              <a:t>th</a:t>
            </a:r>
            <a:r>
              <a:rPr lang="en-GB" sz="1000" b="1" dirty="0" smtClean="0">
                <a:solidFill>
                  <a:schemeClr val="tx1"/>
                </a:solidFill>
                <a:latin typeface="Times New Roman" pitchFamily="18" charset="0"/>
                <a:cs typeface="Times New Roman" pitchFamily="18" charset="0"/>
              </a:rPr>
              <a:t> </a:t>
            </a:r>
            <a:endParaRPr lang="en-GB" sz="1000" b="1" dirty="0">
              <a:solidFill>
                <a:schemeClr val="tx1"/>
              </a:solidFill>
              <a:latin typeface="Times New Roman" pitchFamily="18" charset="0"/>
              <a:cs typeface="Times New Roman" pitchFamily="18" charset="0"/>
            </a:endParaRPr>
          </a:p>
        </p:txBody>
      </p:sp>
      <p:sp>
        <p:nvSpPr>
          <p:cNvPr id="128" name="AutoShape 22"/>
          <p:cNvSpPr>
            <a:spLocks noChangeArrowheads="1"/>
          </p:cNvSpPr>
          <p:nvPr/>
        </p:nvSpPr>
        <p:spPr bwMode="auto">
          <a:xfrm>
            <a:off x="2803282" y="435768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30" name="AutoShape 22"/>
          <p:cNvSpPr>
            <a:spLocks noChangeArrowheads="1"/>
          </p:cNvSpPr>
          <p:nvPr/>
        </p:nvSpPr>
        <p:spPr bwMode="auto">
          <a:xfrm>
            <a:off x="2793757" y="569118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32" name="Text Box 25"/>
          <p:cNvSpPr txBox="1">
            <a:spLocks noChangeArrowheads="1"/>
          </p:cNvSpPr>
          <p:nvPr/>
        </p:nvSpPr>
        <p:spPr bwMode="auto">
          <a:xfrm>
            <a:off x="1371600" y="5562600"/>
            <a:ext cx="1899871" cy="714555"/>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b="1" dirty="0" smtClean="0">
                <a:latin typeface="Times New Roman" pitchFamily="18" charset="0"/>
                <a:cs typeface="Times New Roman" pitchFamily="18" charset="0"/>
              </a:rPr>
              <a:t>6.1 .1/6.2.1 </a:t>
            </a:r>
            <a:r>
              <a:rPr lang="en-GB" sz="1000" b="1" dirty="0" err="1" smtClean="0">
                <a:latin typeface="Times New Roman" pitchFamily="18" charset="0"/>
                <a:cs typeface="Times New Roman" pitchFamily="18" charset="0"/>
              </a:rPr>
              <a:t>Req</a:t>
            </a:r>
            <a:r>
              <a:rPr lang="en-GB" sz="1000" b="1" dirty="0" smtClean="0">
                <a:latin typeface="Times New Roman" pitchFamily="18" charset="0"/>
                <a:cs typeface="Times New Roman" pitchFamily="18" charset="0"/>
              </a:rPr>
              <a:t> Docs</a:t>
            </a:r>
          </a:p>
          <a:p>
            <a:pPr algn="l" defTabSz="957263"/>
            <a:r>
              <a:rPr lang="en-GB" sz="1000" b="1" dirty="0" smtClean="0">
                <a:solidFill>
                  <a:schemeClr val="tx1"/>
                </a:solidFill>
                <a:latin typeface="Times New Roman" pitchFamily="18" charset="0"/>
                <a:cs typeface="Times New Roman" pitchFamily="18" charset="0"/>
              </a:rPr>
              <a:t>6.2.2 DA Approval</a:t>
            </a:r>
          </a:p>
          <a:p>
            <a:pPr algn="l" defTabSz="957263"/>
            <a:r>
              <a:rPr lang="en-GB" sz="1000" b="1" dirty="0" smtClean="0">
                <a:latin typeface="Times New Roman" pitchFamily="18" charset="0"/>
                <a:cs typeface="Times New Roman" pitchFamily="18" charset="0"/>
              </a:rPr>
              <a:t>6.2.3 Security Cert. Testing</a:t>
            </a:r>
            <a:endParaRPr lang="en-GB" sz="1000" b="1" dirty="0" smtClean="0">
              <a:solidFill>
                <a:schemeClr val="tx1"/>
              </a:solidFill>
              <a:latin typeface="Times New Roman" pitchFamily="18" charset="0"/>
              <a:cs typeface="Times New Roman" pitchFamily="18" charset="0"/>
            </a:endParaRPr>
          </a:p>
          <a:p>
            <a:pPr algn="l" defTabSz="957263"/>
            <a:r>
              <a:rPr lang="en-GB" sz="1000" dirty="0" smtClean="0">
                <a:solidFill>
                  <a:schemeClr val="tx1"/>
                </a:solidFill>
                <a:latin typeface="Times New Roman" pitchFamily="18" charset="0"/>
                <a:cs typeface="Times New Roman" pitchFamily="18" charset="0"/>
              </a:rPr>
              <a:t> </a:t>
            </a:r>
            <a:endParaRPr lang="en-GB" sz="1000" dirty="0">
              <a:solidFill>
                <a:schemeClr val="tx1"/>
              </a:solidFill>
              <a:latin typeface="Times New Roman" pitchFamily="18" charset="0"/>
              <a:cs typeface="Times New Roman" pitchFamily="18" charset="0"/>
            </a:endParaRPr>
          </a:p>
        </p:txBody>
      </p:sp>
      <p:sp>
        <p:nvSpPr>
          <p:cNvPr id="133" name="Text Box 25"/>
          <p:cNvSpPr txBox="1">
            <a:spLocks noChangeArrowheads="1"/>
          </p:cNvSpPr>
          <p:nvPr/>
        </p:nvSpPr>
        <p:spPr bwMode="auto">
          <a:xfrm>
            <a:off x="1348154" y="3906839"/>
            <a:ext cx="1595071" cy="1022331"/>
          </a:xfrm>
          <a:prstGeom prst="rect">
            <a:avLst/>
          </a:prstGeom>
          <a:noFill/>
          <a:ln w="9525" algn="ctr">
            <a:noFill/>
            <a:miter lim="800000"/>
            <a:headEnd/>
            <a:tailEnd/>
          </a:ln>
          <a:effectLst/>
        </p:spPr>
        <p:txBody>
          <a:bodyPr wrap="square" lIns="94273" tIns="49022" rIns="94273" bIns="49022">
            <a:spAutoFit/>
          </a:bodyPr>
          <a:lstStyle/>
          <a:p>
            <a:pPr algn="l" defTabSz="646113"/>
            <a:r>
              <a:rPr lang="en-GB" sz="1000" dirty="0" smtClean="0">
                <a:latin typeface="Times New Roman" pitchFamily="18" charset="0"/>
                <a:cs typeface="Times New Roman" pitchFamily="18" charset="0"/>
              </a:rPr>
              <a:t>3.1.1 Deployment Plans</a:t>
            </a:r>
          </a:p>
          <a:p>
            <a:pPr algn="l" defTabSz="646113"/>
            <a:r>
              <a:rPr lang="en-GB" sz="1000" dirty="0" smtClean="0">
                <a:latin typeface="Times New Roman" pitchFamily="18" charset="0"/>
                <a:cs typeface="Times New Roman" pitchFamily="18" charset="0"/>
              </a:rPr>
              <a:t>3.1.2 Resources Ready</a:t>
            </a:r>
          </a:p>
          <a:p>
            <a:pPr algn="l" defTabSz="646113"/>
            <a:r>
              <a:rPr lang="en-GB" sz="1000" dirty="0" smtClean="0">
                <a:solidFill>
                  <a:schemeClr val="tx1"/>
                </a:solidFill>
                <a:latin typeface="Times New Roman" pitchFamily="18" charset="0"/>
                <a:cs typeface="Times New Roman" pitchFamily="18" charset="0"/>
              </a:rPr>
              <a:t>3.1.3 Hand-over to Service</a:t>
            </a:r>
          </a:p>
          <a:p>
            <a:pPr algn="l" defTabSz="646113"/>
            <a:r>
              <a:rPr lang="en-GB" sz="1000" dirty="0" smtClean="0">
                <a:latin typeface="Times New Roman" pitchFamily="18" charset="0"/>
                <a:cs typeface="Times New Roman" pitchFamily="18" charset="0"/>
              </a:rPr>
              <a:t>         Criteria</a:t>
            </a:r>
          </a:p>
          <a:p>
            <a:pPr algn="l" defTabSz="646113"/>
            <a:r>
              <a:rPr lang="en-GB" sz="1000" dirty="0" smtClean="0">
                <a:latin typeface="Times New Roman" pitchFamily="18" charset="0"/>
                <a:cs typeface="Times New Roman" pitchFamily="18" charset="0"/>
              </a:rPr>
              <a:t>3.1.4 CVS Completion</a:t>
            </a:r>
          </a:p>
          <a:p>
            <a:pPr algn="l" defTabSz="646113"/>
            <a:endParaRPr lang="en-GB" sz="1000" dirty="0">
              <a:solidFill>
                <a:schemeClr val="tx1"/>
              </a:solidFill>
              <a:latin typeface="Times New Roman" pitchFamily="18" charset="0"/>
              <a:cs typeface="Times New Roman" pitchFamily="18" charset="0"/>
            </a:endParaRPr>
          </a:p>
        </p:txBody>
      </p:sp>
      <p:sp>
        <p:nvSpPr>
          <p:cNvPr id="134" name="Rectangle 130"/>
          <p:cNvSpPr>
            <a:spLocks noChangeArrowheads="1"/>
          </p:cNvSpPr>
          <p:nvPr/>
        </p:nvSpPr>
        <p:spPr bwMode="auto">
          <a:xfrm>
            <a:off x="2760663" y="2428875"/>
            <a:ext cx="363537" cy="3533774"/>
          </a:xfrm>
          <a:prstGeom prst="rect">
            <a:avLst/>
          </a:prstGeom>
          <a:noFill/>
          <a:ln w="25400" algn="ctr">
            <a:solidFill>
              <a:schemeClr val="tx1"/>
            </a:solidFill>
            <a:prstDash val="dash"/>
            <a:miter lim="800000"/>
            <a:headEnd/>
            <a:tailEnd/>
          </a:ln>
        </p:spPr>
        <p:txBody>
          <a:bodyPr wrap="none" lIns="90000" tIns="46800" rIns="90000" bIns="46800" anchor="ctr"/>
          <a:lstStyle/>
          <a:p>
            <a:endParaRPr lang="en-US"/>
          </a:p>
        </p:txBody>
      </p:sp>
      <p:sp>
        <p:nvSpPr>
          <p:cNvPr id="135" name="AutoShape 16"/>
          <p:cNvSpPr>
            <a:spLocks noChangeArrowheads="1"/>
          </p:cNvSpPr>
          <p:nvPr/>
        </p:nvSpPr>
        <p:spPr bwMode="auto">
          <a:xfrm>
            <a:off x="4177813" y="1430339"/>
            <a:ext cx="290146" cy="198437"/>
          </a:xfrm>
          <a:prstGeom prst="triangle">
            <a:avLst>
              <a:gd name="adj" fmla="val 50000"/>
            </a:avLst>
          </a:prstGeom>
          <a:solidFill>
            <a:srgbClr val="00FF00"/>
          </a:solidFill>
          <a:ln w="9525" algn="ctr">
            <a:solidFill>
              <a:schemeClr val="tx1"/>
            </a:solidFill>
            <a:miter lim="800000"/>
            <a:headEnd/>
            <a:tailEnd/>
          </a:ln>
          <a:effectLst/>
        </p:spPr>
        <p:txBody>
          <a:bodyPr wrap="none" lIns="90000" tIns="46800" rIns="90000" bIns="46800" anchor="ctr"/>
          <a:lstStyle/>
          <a:p>
            <a:endParaRPr lang="en-GB" sz="1200"/>
          </a:p>
        </p:txBody>
      </p:sp>
      <p:sp>
        <p:nvSpPr>
          <p:cNvPr id="136" name="Text Box 18"/>
          <p:cNvSpPr txBox="1">
            <a:spLocks noChangeArrowheads="1"/>
          </p:cNvSpPr>
          <p:nvPr/>
        </p:nvSpPr>
        <p:spPr bwMode="auto">
          <a:xfrm>
            <a:off x="3809054" y="1381126"/>
            <a:ext cx="435647"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latin typeface="Times New Roman" pitchFamily="18" charset="0"/>
                <a:cs typeface="Times New Roman" pitchFamily="18" charset="0"/>
              </a:rPr>
              <a:t>28</a:t>
            </a:r>
            <a:r>
              <a:rPr lang="en-GB" sz="1200" b="1" baseline="30000" dirty="0" smtClean="0">
                <a:solidFill>
                  <a:schemeClr val="tx1"/>
                </a:solidFill>
                <a:latin typeface="Times New Roman" pitchFamily="18" charset="0"/>
                <a:cs typeface="Times New Roman" pitchFamily="18" charset="0"/>
              </a:rPr>
              <a:t>th</a:t>
            </a:r>
            <a:endParaRPr lang="en-GB" sz="1200" b="1" dirty="0">
              <a:solidFill>
                <a:schemeClr val="tx1"/>
              </a:solidFill>
              <a:latin typeface="Times New Roman" pitchFamily="18" charset="0"/>
              <a:cs typeface="Times New Roman" pitchFamily="18" charset="0"/>
            </a:endParaRPr>
          </a:p>
        </p:txBody>
      </p:sp>
      <p:sp>
        <p:nvSpPr>
          <p:cNvPr id="137" name="AutoShape 22"/>
          <p:cNvSpPr>
            <a:spLocks noChangeArrowheads="1"/>
          </p:cNvSpPr>
          <p:nvPr/>
        </p:nvSpPr>
        <p:spPr bwMode="auto">
          <a:xfrm>
            <a:off x="3860557" y="245268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38" name="Text Box 25"/>
          <p:cNvSpPr txBox="1">
            <a:spLocks noChangeArrowheads="1"/>
          </p:cNvSpPr>
          <p:nvPr/>
        </p:nvSpPr>
        <p:spPr bwMode="auto">
          <a:xfrm>
            <a:off x="3710354" y="2201864"/>
            <a:ext cx="671145"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b="1" dirty="0" smtClean="0">
                <a:solidFill>
                  <a:schemeClr val="tx1"/>
                </a:solidFill>
                <a:latin typeface="Times New Roman" pitchFamily="18" charset="0"/>
                <a:cs typeface="Times New Roman" pitchFamily="18" charset="0"/>
              </a:rPr>
              <a:t>Nov 26</a:t>
            </a:r>
            <a:r>
              <a:rPr lang="en-GB" sz="1000" b="1" baseline="30000" dirty="0" smtClean="0">
                <a:solidFill>
                  <a:schemeClr val="tx1"/>
                </a:solidFill>
                <a:latin typeface="Times New Roman" pitchFamily="18" charset="0"/>
                <a:cs typeface="Times New Roman" pitchFamily="18" charset="0"/>
              </a:rPr>
              <a:t>th</a:t>
            </a:r>
            <a:r>
              <a:rPr lang="en-GB" sz="1000" b="1" dirty="0" smtClean="0">
                <a:solidFill>
                  <a:schemeClr val="tx1"/>
                </a:solidFill>
                <a:latin typeface="Times New Roman" pitchFamily="18" charset="0"/>
                <a:cs typeface="Times New Roman" pitchFamily="18" charset="0"/>
              </a:rPr>
              <a:t> </a:t>
            </a:r>
            <a:endParaRPr lang="en-GB" sz="1000" b="1" dirty="0">
              <a:solidFill>
                <a:schemeClr val="tx1"/>
              </a:solidFill>
              <a:latin typeface="Times New Roman" pitchFamily="18" charset="0"/>
              <a:cs typeface="Times New Roman" pitchFamily="18" charset="0"/>
            </a:endParaRPr>
          </a:p>
        </p:txBody>
      </p:sp>
      <p:sp>
        <p:nvSpPr>
          <p:cNvPr id="139" name="AutoShape 22"/>
          <p:cNvSpPr>
            <a:spLocks noChangeArrowheads="1"/>
          </p:cNvSpPr>
          <p:nvPr/>
        </p:nvSpPr>
        <p:spPr bwMode="auto">
          <a:xfrm>
            <a:off x="3860557" y="435768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40" name="AutoShape 22"/>
          <p:cNvSpPr>
            <a:spLocks noChangeArrowheads="1"/>
          </p:cNvSpPr>
          <p:nvPr/>
        </p:nvSpPr>
        <p:spPr bwMode="auto">
          <a:xfrm>
            <a:off x="3860557" y="5700714"/>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41" name="Rectangle 130"/>
          <p:cNvSpPr>
            <a:spLocks noChangeArrowheads="1"/>
          </p:cNvSpPr>
          <p:nvPr/>
        </p:nvSpPr>
        <p:spPr bwMode="auto">
          <a:xfrm>
            <a:off x="3808413" y="2409825"/>
            <a:ext cx="363537" cy="3562349"/>
          </a:xfrm>
          <a:prstGeom prst="rect">
            <a:avLst/>
          </a:prstGeom>
          <a:noFill/>
          <a:ln w="25400" algn="ctr">
            <a:solidFill>
              <a:schemeClr val="tx1"/>
            </a:solidFill>
            <a:prstDash val="dash"/>
            <a:miter lim="800000"/>
            <a:headEnd/>
            <a:tailEnd/>
          </a:ln>
        </p:spPr>
        <p:txBody>
          <a:bodyPr wrap="none" lIns="90000" tIns="46800" rIns="90000" bIns="46800" anchor="ctr"/>
          <a:lstStyle/>
          <a:p>
            <a:endParaRPr lang="en-US"/>
          </a:p>
        </p:txBody>
      </p:sp>
      <p:sp>
        <p:nvSpPr>
          <p:cNvPr id="142" name="AutoShape 16"/>
          <p:cNvSpPr>
            <a:spLocks noChangeArrowheads="1"/>
          </p:cNvSpPr>
          <p:nvPr/>
        </p:nvSpPr>
        <p:spPr bwMode="auto">
          <a:xfrm>
            <a:off x="5711338" y="1430339"/>
            <a:ext cx="290146" cy="198437"/>
          </a:xfrm>
          <a:prstGeom prst="triangle">
            <a:avLst>
              <a:gd name="adj" fmla="val 50000"/>
            </a:avLst>
          </a:prstGeom>
          <a:solidFill>
            <a:srgbClr val="00FF00"/>
          </a:solidFill>
          <a:ln w="9525" algn="ctr">
            <a:solidFill>
              <a:schemeClr val="tx1"/>
            </a:solidFill>
            <a:miter lim="800000"/>
            <a:headEnd/>
            <a:tailEnd/>
          </a:ln>
          <a:effectLst/>
        </p:spPr>
        <p:txBody>
          <a:bodyPr wrap="none" lIns="90000" tIns="46800" rIns="90000" bIns="46800" anchor="ctr"/>
          <a:lstStyle/>
          <a:p>
            <a:endParaRPr lang="en-GB" sz="1200"/>
          </a:p>
        </p:txBody>
      </p:sp>
      <p:sp>
        <p:nvSpPr>
          <p:cNvPr id="143" name="Text Box 18"/>
          <p:cNvSpPr txBox="1">
            <a:spLocks noChangeArrowheads="1"/>
          </p:cNvSpPr>
          <p:nvPr/>
        </p:nvSpPr>
        <p:spPr bwMode="auto">
          <a:xfrm>
            <a:off x="5342579" y="1381126"/>
            <a:ext cx="435646"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latin typeface="Times New Roman" pitchFamily="18" charset="0"/>
                <a:cs typeface="Times New Roman" pitchFamily="18" charset="0"/>
              </a:rPr>
              <a:t>18</a:t>
            </a:r>
            <a:r>
              <a:rPr lang="en-GB" sz="1200" b="1" baseline="30000" dirty="0" smtClean="0">
                <a:solidFill>
                  <a:schemeClr val="tx1"/>
                </a:solidFill>
                <a:latin typeface="Times New Roman" pitchFamily="18" charset="0"/>
                <a:cs typeface="Times New Roman" pitchFamily="18" charset="0"/>
              </a:rPr>
              <a:t>th</a:t>
            </a:r>
            <a:endParaRPr lang="en-GB" sz="1200" b="1" dirty="0">
              <a:solidFill>
                <a:schemeClr val="tx1"/>
              </a:solidFill>
              <a:latin typeface="Times New Roman" pitchFamily="18" charset="0"/>
              <a:cs typeface="Times New Roman" pitchFamily="18" charset="0"/>
            </a:endParaRPr>
          </a:p>
        </p:txBody>
      </p:sp>
      <p:sp>
        <p:nvSpPr>
          <p:cNvPr id="144" name="AutoShape 22"/>
          <p:cNvSpPr>
            <a:spLocks noChangeArrowheads="1"/>
          </p:cNvSpPr>
          <p:nvPr/>
        </p:nvSpPr>
        <p:spPr bwMode="auto">
          <a:xfrm>
            <a:off x="3851032" y="3490914"/>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45" name="AutoShape 22"/>
          <p:cNvSpPr>
            <a:spLocks noChangeArrowheads="1"/>
          </p:cNvSpPr>
          <p:nvPr/>
        </p:nvSpPr>
        <p:spPr bwMode="auto">
          <a:xfrm>
            <a:off x="3841507" y="496728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cxnSp>
        <p:nvCxnSpPr>
          <p:cNvPr id="147" name="Straight Arrow Connector 146"/>
          <p:cNvCxnSpPr>
            <a:stCxn id="127" idx="0"/>
          </p:cNvCxnSpPr>
          <p:nvPr/>
        </p:nvCxnSpPr>
        <p:spPr bwMode="auto">
          <a:xfrm flipV="1">
            <a:off x="2979127" y="1695450"/>
            <a:ext cx="145073" cy="487364"/>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49" name="Straight Arrow Connector 148"/>
          <p:cNvCxnSpPr>
            <a:stCxn id="138" idx="0"/>
          </p:cNvCxnSpPr>
          <p:nvPr/>
        </p:nvCxnSpPr>
        <p:spPr bwMode="auto">
          <a:xfrm flipV="1">
            <a:off x="4045927" y="1714500"/>
            <a:ext cx="221273" cy="487364"/>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2" name="Text Box 25"/>
          <p:cNvSpPr txBox="1">
            <a:spLocks noChangeArrowheads="1"/>
          </p:cNvSpPr>
          <p:nvPr/>
        </p:nvSpPr>
        <p:spPr bwMode="auto">
          <a:xfrm>
            <a:off x="5262929" y="3021014"/>
            <a:ext cx="671145"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b="1" dirty="0" smtClean="0">
                <a:solidFill>
                  <a:schemeClr val="tx1"/>
                </a:solidFill>
                <a:latin typeface="Times New Roman" pitchFamily="18" charset="0"/>
                <a:cs typeface="Times New Roman" pitchFamily="18" charset="0"/>
              </a:rPr>
              <a:t>Dec 17</a:t>
            </a:r>
            <a:r>
              <a:rPr lang="en-GB" sz="1000" b="1" baseline="30000" dirty="0" smtClean="0">
                <a:solidFill>
                  <a:schemeClr val="tx1"/>
                </a:solidFill>
                <a:latin typeface="Times New Roman" pitchFamily="18" charset="0"/>
                <a:cs typeface="Times New Roman" pitchFamily="18" charset="0"/>
              </a:rPr>
              <a:t>th</a:t>
            </a:r>
            <a:r>
              <a:rPr lang="en-GB" sz="1000" b="1" dirty="0" smtClean="0">
                <a:solidFill>
                  <a:schemeClr val="tx1"/>
                </a:solidFill>
                <a:latin typeface="Times New Roman" pitchFamily="18" charset="0"/>
                <a:cs typeface="Times New Roman" pitchFamily="18" charset="0"/>
              </a:rPr>
              <a:t> </a:t>
            </a:r>
            <a:endParaRPr lang="en-GB" sz="1000" b="1" dirty="0">
              <a:solidFill>
                <a:schemeClr val="tx1"/>
              </a:solidFill>
              <a:latin typeface="Times New Roman" pitchFamily="18" charset="0"/>
              <a:cs typeface="Times New Roman" pitchFamily="18" charset="0"/>
            </a:endParaRPr>
          </a:p>
        </p:txBody>
      </p:sp>
      <p:sp>
        <p:nvSpPr>
          <p:cNvPr id="153" name="AutoShape 22"/>
          <p:cNvSpPr>
            <a:spLocks noChangeArrowheads="1"/>
          </p:cNvSpPr>
          <p:nvPr/>
        </p:nvSpPr>
        <p:spPr bwMode="auto">
          <a:xfrm>
            <a:off x="5413132" y="4367214"/>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54" name="AutoShape 22"/>
          <p:cNvSpPr>
            <a:spLocks noChangeArrowheads="1"/>
          </p:cNvSpPr>
          <p:nvPr/>
        </p:nvSpPr>
        <p:spPr bwMode="auto">
          <a:xfrm>
            <a:off x="5413132" y="571023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55" name="Rectangle 130"/>
          <p:cNvSpPr>
            <a:spLocks noChangeArrowheads="1"/>
          </p:cNvSpPr>
          <p:nvPr/>
        </p:nvSpPr>
        <p:spPr bwMode="auto">
          <a:xfrm>
            <a:off x="5360988" y="3257550"/>
            <a:ext cx="363537" cy="2724149"/>
          </a:xfrm>
          <a:prstGeom prst="rect">
            <a:avLst/>
          </a:prstGeom>
          <a:noFill/>
          <a:ln w="25400" algn="ctr">
            <a:solidFill>
              <a:schemeClr val="tx1"/>
            </a:solidFill>
            <a:prstDash val="dash"/>
            <a:miter lim="800000"/>
            <a:headEnd/>
            <a:tailEnd/>
          </a:ln>
        </p:spPr>
        <p:txBody>
          <a:bodyPr wrap="none" lIns="90000" tIns="46800" rIns="90000" bIns="46800" anchor="ctr"/>
          <a:lstStyle/>
          <a:p>
            <a:endParaRPr lang="en-US"/>
          </a:p>
        </p:txBody>
      </p:sp>
      <p:sp>
        <p:nvSpPr>
          <p:cNvPr id="156" name="AutoShape 22"/>
          <p:cNvSpPr>
            <a:spLocks noChangeArrowheads="1"/>
          </p:cNvSpPr>
          <p:nvPr/>
        </p:nvSpPr>
        <p:spPr bwMode="auto">
          <a:xfrm>
            <a:off x="5403607" y="350043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57" name="AutoShape 22"/>
          <p:cNvSpPr>
            <a:spLocks noChangeArrowheads="1"/>
          </p:cNvSpPr>
          <p:nvPr/>
        </p:nvSpPr>
        <p:spPr bwMode="auto">
          <a:xfrm>
            <a:off x="5394082" y="4976814"/>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cxnSp>
        <p:nvCxnSpPr>
          <p:cNvPr id="158" name="Straight Arrow Connector 157"/>
          <p:cNvCxnSpPr>
            <a:stCxn id="152" idx="0"/>
          </p:cNvCxnSpPr>
          <p:nvPr/>
        </p:nvCxnSpPr>
        <p:spPr bwMode="auto">
          <a:xfrm flipV="1">
            <a:off x="5598502" y="1724026"/>
            <a:ext cx="106973" cy="12969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9" name="Text Box 25"/>
          <p:cNvSpPr txBox="1">
            <a:spLocks noChangeArrowheads="1"/>
          </p:cNvSpPr>
          <p:nvPr/>
        </p:nvSpPr>
        <p:spPr bwMode="auto">
          <a:xfrm>
            <a:off x="3319830" y="2344739"/>
            <a:ext cx="671145" cy="714555"/>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solidFill>
                  <a:schemeClr val="tx1"/>
                </a:solidFill>
                <a:latin typeface="Times New Roman" pitchFamily="18" charset="0"/>
                <a:cs typeface="Times New Roman" pitchFamily="18" charset="0"/>
              </a:rPr>
              <a:t>1.1.1</a:t>
            </a:r>
          </a:p>
          <a:p>
            <a:pPr algn="l" defTabSz="957263"/>
            <a:r>
              <a:rPr lang="en-GB" sz="1000" dirty="0" smtClean="0">
                <a:solidFill>
                  <a:schemeClr val="tx1"/>
                </a:solidFill>
                <a:latin typeface="Times New Roman" pitchFamily="18" charset="0"/>
                <a:cs typeface="Times New Roman" pitchFamily="18" charset="0"/>
              </a:rPr>
              <a:t>1.2.1</a:t>
            </a:r>
          </a:p>
          <a:p>
            <a:pPr algn="l" defTabSz="957263"/>
            <a:r>
              <a:rPr lang="en-GB" sz="1000" dirty="0" smtClean="0">
                <a:latin typeface="Times New Roman" pitchFamily="18" charset="0"/>
                <a:cs typeface="Times New Roman" pitchFamily="18" charset="0"/>
              </a:rPr>
              <a:t>1.2.2</a:t>
            </a:r>
          </a:p>
          <a:p>
            <a:pPr algn="l" defTabSz="957263"/>
            <a:r>
              <a:rPr lang="en-GB" sz="1000" dirty="0" smtClean="0">
                <a:solidFill>
                  <a:schemeClr val="tx1"/>
                </a:solidFill>
                <a:latin typeface="Times New Roman" pitchFamily="18" charset="0"/>
                <a:cs typeface="Times New Roman" pitchFamily="18" charset="0"/>
              </a:rPr>
              <a:t>1.2.3</a:t>
            </a:r>
            <a:endParaRPr lang="en-GB" sz="1000" dirty="0">
              <a:solidFill>
                <a:schemeClr val="tx1"/>
              </a:solidFill>
              <a:latin typeface="Times New Roman" pitchFamily="18" charset="0"/>
              <a:cs typeface="Times New Roman" pitchFamily="18" charset="0"/>
            </a:endParaRPr>
          </a:p>
        </p:txBody>
      </p:sp>
      <p:sp>
        <p:nvSpPr>
          <p:cNvPr id="160" name="Text Box 25"/>
          <p:cNvSpPr txBox="1">
            <a:spLocks noChangeArrowheads="1"/>
          </p:cNvSpPr>
          <p:nvPr/>
        </p:nvSpPr>
        <p:spPr bwMode="auto">
          <a:xfrm>
            <a:off x="3319830" y="3240089"/>
            <a:ext cx="671145" cy="714555"/>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2.1.1</a:t>
            </a:r>
          </a:p>
          <a:p>
            <a:pPr algn="l" defTabSz="957263"/>
            <a:r>
              <a:rPr lang="en-GB" sz="1000" dirty="0" smtClean="0">
                <a:solidFill>
                  <a:schemeClr val="tx1"/>
                </a:solidFill>
                <a:latin typeface="Times New Roman" pitchFamily="18" charset="0"/>
                <a:cs typeface="Times New Roman" pitchFamily="18" charset="0"/>
              </a:rPr>
              <a:t>2.1.2</a:t>
            </a:r>
          </a:p>
          <a:p>
            <a:pPr algn="l" defTabSz="957263"/>
            <a:r>
              <a:rPr lang="en-GB" sz="1000" dirty="0" smtClean="0">
                <a:latin typeface="Times New Roman" pitchFamily="18" charset="0"/>
                <a:cs typeface="Times New Roman" pitchFamily="18" charset="0"/>
              </a:rPr>
              <a:t>2.2.1</a:t>
            </a:r>
          </a:p>
          <a:p>
            <a:pPr algn="l" defTabSz="957263"/>
            <a:r>
              <a:rPr lang="en-GB" sz="1000" dirty="0" smtClean="0">
                <a:solidFill>
                  <a:schemeClr val="tx1"/>
                </a:solidFill>
                <a:latin typeface="Times New Roman" pitchFamily="18" charset="0"/>
                <a:cs typeface="Times New Roman" pitchFamily="18" charset="0"/>
              </a:rPr>
              <a:t>2.2.2</a:t>
            </a:r>
            <a:endParaRPr lang="en-GB" sz="1000" dirty="0">
              <a:solidFill>
                <a:schemeClr val="tx1"/>
              </a:solidFill>
              <a:latin typeface="Times New Roman" pitchFamily="18" charset="0"/>
              <a:cs typeface="Times New Roman" pitchFamily="18" charset="0"/>
            </a:endParaRPr>
          </a:p>
        </p:txBody>
      </p:sp>
      <p:sp>
        <p:nvSpPr>
          <p:cNvPr id="161" name="Text Box 25"/>
          <p:cNvSpPr txBox="1">
            <a:spLocks noChangeArrowheads="1"/>
          </p:cNvSpPr>
          <p:nvPr/>
        </p:nvSpPr>
        <p:spPr bwMode="auto">
          <a:xfrm>
            <a:off x="3352800" y="3962400"/>
            <a:ext cx="671145" cy="868443"/>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3.1.1</a:t>
            </a:r>
          </a:p>
          <a:p>
            <a:pPr algn="l" defTabSz="957263"/>
            <a:r>
              <a:rPr lang="en-GB" sz="1000" dirty="0" smtClean="0">
                <a:latin typeface="Times New Roman" pitchFamily="18" charset="0"/>
                <a:cs typeface="Times New Roman" pitchFamily="18" charset="0"/>
              </a:rPr>
              <a:t>3.1.2</a:t>
            </a:r>
          </a:p>
          <a:p>
            <a:pPr algn="l" defTabSz="957263"/>
            <a:r>
              <a:rPr lang="en-GB" sz="1000" dirty="0" smtClean="0">
                <a:latin typeface="Times New Roman" pitchFamily="18" charset="0"/>
                <a:cs typeface="Times New Roman" pitchFamily="18" charset="0"/>
              </a:rPr>
              <a:t>3.1.3</a:t>
            </a:r>
          </a:p>
          <a:p>
            <a:pPr algn="l" defTabSz="957263"/>
            <a:r>
              <a:rPr lang="en-GB" sz="1000" dirty="0" smtClean="0">
                <a:latin typeface="Times New Roman" pitchFamily="18" charset="0"/>
                <a:cs typeface="Times New Roman" pitchFamily="18" charset="0"/>
              </a:rPr>
              <a:t>3.1.4</a:t>
            </a:r>
          </a:p>
          <a:p>
            <a:pPr algn="l" defTabSz="957263"/>
            <a:endParaRPr lang="en-GB" sz="1000" dirty="0" smtClean="0">
              <a:latin typeface="Times New Roman" pitchFamily="18" charset="0"/>
              <a:cs typeface="Times New Roman" pitchFamily="18" charset="0"/>
            </a:endParaRPr>
          </a:p>
        </p:txBody>
      </p:sp>
      <p:sp>
        <p:nvSpPr>
          <p:cNvPr id="162" name="Text Box 25"/>
          <p:cNvSpPr txBox="1">
            <a:spLocks noChangeArrowheads="1"/>
          </p:cNvSpPr>
          <p:nvPr/>
        </p:nvSpPr>
        <p:spPr bwMode="auto">
          <a:xfrm>
            <a:off x="3319830" y="4859339"/>
            <a:ext cx="671145" cy="406778"/>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4.1.1</a:t>
            </a:r>
          </a:p>
          <a:p>
            <a:pPr algn="l" defTabSz="957263"/>
            <a:r>
              <a:rPr lang="en-GB" sz="1000" dirty="0" smtClean="0">
                <a:latin typeface="Times New Roman" pitchFamily="18" charset="0"/>
                <a:cs typeface="Times New Roman" pitchFamily="18" charset="0"/>
              </a:rPr>
              <a:t>4.2.1</a:t>
            </a:r>
          </a:p>
        </p:txBody>
      </p:sp>
      <p:sp>
        <p:nvSpPr>
          <p:cNvPr id="163" name="Text Box 25"/>
          <p:cNvSpPr txBox="1">
            <a:spLocks noChangeArrowheads="1"/>
          </p:cNvSpPr>
          <p:nvPr/>
        </p:nvSpPr>
        <p:spPr bwMode="auto">
          <a:xfrm>
            <a:off x="3348405" y="5688014"/>
            <a:ext cx="671145"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5.1.1</a:t>
            </a:r>
          </a:p>
        </p:txBody>
      </p:sp>
      <p:sp>
        <p:nvSpPr>
          <p:cNvPr id="164" name="Text Box 25"/>
          <p:cNvSpPr txBox="1">
            <a:spLocks noChangeArrowheads="1"/>
          </p:cNvSpPr>
          <p:nvPr/>
        </p:nvSpPr>
        <p:spPr bwMode="auto">
          <a:xfrm>
            <a:off x="4862880" y="5688014"/>
            <a:ext cx="671145"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5.1.1</a:t>
            </a:r>
          </a:p>
        </p:txBody>
      </p:sp>
      <p:sp>
        <p:nvSpPr>
          <p:cNvPr id="165" name="Text Box 25"/>
          <p:cNvSpPr txBox="1">
            <a:spLocks noChangeArrowheads="1"/>
          </p:cNvSpPr>
          <p:nvPr/>
        </p:nvSpPr>
        <p:spPr bwMode="auto">
          <a:xfrm>
            <a:off x="4872405" y="3963989"/>
            <a:ext cx="671145" cy="714555"/>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3.1.1</a:t>
            </a:r>
          </a:p>
          <a:p>
            <a:pPr algn="l" defTabSz="957263"/>
            <a:r>
              <a:rPr lang="en-GB" sz="1000" dirty="0" smtClean="0">
                <a:latin typeface="Times New Roman" pitchFamily="18" charset="0"/>
                <a:cs typeface="Times New Roman" pitchFamily="18" charset="0"/>
              </a:rPr>
              <a:t>3.1.2</a:t>
            </a:r>
          </a:p>
          <a:p>
            <a:pPr algn="l" defTabSz="957263"/>
            <a:r>
              <a:rPr lang="en-GB" sz="1000" dirty="0" smtClean="0">
                <a:latin typeface="Times New Roman" pitchFamily="18" charset="0"/>
                <a:cs typeface="Times New Roman" pitchFamily="18" charset="0"/>
              </a:rPr>
              <a:t>3.1.3</a:t>
            </a:r>
          </a:p>
          <a:p>
            <a:pPr algn="l" defTabSz="957263"/>
            <a:r>
              <a:rPr lang="en-GB" sz="1000" dirty="0" smtClean="0">
                <a:latin typeface="Times New Roman" pitchFamily="18" charset="0"/>
                <a:cs typeface="Times New Roman" pitchFamily="18" charset="0"/>
              </a:rPr>
              <a:t>3.1.4</a:t>
            </a:r>
          </a:p>
        </p:txBody>
      </p:sp>
      <p:sp>
        <p:nvSpPr>
          <p:cNvPr id="166" name="Text Box 25"/>
          <p:cNvSpPr txBox="1">
            <a:spLocks noChangeArrowheads="1"/>
          </p:cNvSpPr>
          <p:nvPr/>
        </p:nvSpPr>
        <p:spPr bwMode="auto">
          <a:xfrm>
            <a:off x="4872405" y="4859339"/>
            <a:ext cx="671145" cy="406778"/>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4.1.1</a:t>
            </a:r>
          </a:p>
          <a:p>
            <a:pPr algn="l" defTabSz="957263"/>
            <a:r>
              <a:rPr lang="en-GB" sz="1000" dirty="0" smtClean="0">
                <a:latin typeface="Times New Roman" pitchFamily="18" charset="0"/>
                <a:cs typeface="Times New Roman" pitchFamily="18" charset="0"/>
              </a:rPr>
              <a:t>4.2.1</a:t>
            </a:r>
          </a:p>
        </p:txBody>
      </p:sp>
      <p:sp>
        <p:nvSpPr>
          <p:cNvPr id="167" name="Text Box 25"/>
          <p:cNvSpPr txBox="1">
            <a:spLocks noChangeArrowheads="1"/>
          </p:cNvSpPr>
          <p:nvPr/>
        </p:nvSpPr>
        <p:spPr bwMode="auto">
          <a:xfrm>
            <a:off x="4891455" y="3240089"/>
            <a:ext cx="671145" cy="714555"/>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2.1.1</a:t>
            </a:r>
          </a:p>
          <a:p>
            <a:pPr algn="l" defTabSz="957263"/>
            <a:r>
              <a:rPr lang="en-GB" sz="1000" dirty="0" smtClean="0">
                <a:solidFill>
                  <a:schemeClr val="tx1"/>
                </a:solidFill>
                <a:latin typeface="Times New Roman" pitchFamily="18" charset="0"/>
                <a:cs typeface="Times New Roman" pitchFamily="18" charset="0"/>
              </a:rPr>
              <a:t>2.1.2</a:t>
            </a:r>
          </a:p>
          <a:p>
            <a:pPr algn="l" defTabSz="957263"/>
            <a:r>
              <a:rPr lang="en-GB" sz="1000" dirty="0" smtClean="0">
                <a:latin typeface="Times New Roman" pitchFamily="18" charset="0"/>
                <a:cs typeface="Times New Roman" pitchFamily="18" charset="0"/>
              </a:rPr>
              <a:t>2.2.1</a:t>
            </a:r>
          </a:p>
          <a:p>
            <a:pPr algn="l" defTabSz="957263"/>
            <a:r>
              <a:rPr lang="en-GB" sz="1000" dirty="0" smtClean="0">
                <a:solidFill>
                  <a:schemeClr val="tx1"/>
                </a:solidFill>
                <a:latin typeface="Times New Roman" pitchFamily="18" charset="0"/>
                <a:cs typeface="Times New Roman" pitchFamily="18" charset="0"/>
              </a:rPr>
              <a:t>2.2.2</a:t>
            </a:r>
            <a:endParaRPr lang="en-GB" sz="1000" dirty="0">
              <a:solidFill>
                <a:schemeClr val="tx1"/>
              </a:solidFill>
              <a:latin typeface="Times New Roman" pitchFamily="18" charset="0"/>
              <a:cs typeface="Times New Roman" pitchFamily="18" charset="0"/>
            </a:endParaRPr>
          </a:p>
        </p:txBody>
      </p:sp>
      <p:sp>
        <p:nvSpPr>
          <p:cNvPr id="168" name="Rounded Rectangular Callout 167"/>
          <p:cNvSpPr/>
          <p:nvPr/>
        </p:nvSpPr>
        <p:spPr bwMode="auto">
          <a:xfrm>
            <a:off x="6229350" y="4057650"/>
            <a:ext cx="1562100" cy="612648"/>
          </a:xfrm>
          <a:prstGeom prst="wedgeRoundRectCallout">
            <a:avLst>
              <a:gd name="adj1" fmla="val -85290"/>
              <a:gd name="adj2" fmla="val 20522"/>
              <a:gd name="adj3" fmla="val 16667"/>
            </a:avLst>
          </a:prstGeom>
          <a:solidFill>
            <a:srgbClr val="F2F2F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Will also include outcome of deployment execution </a:t>
            </a:r>
            <a:endParaRPr kumimoji="0" lang="en-GB" sz="1000" b="0" i="0" u="none" strike="noStrike" cap="none" normalizeH="0" baseline="0" dirty="0" smtClean="0">
              <a:ln>
                <a:noFill/>
              </a:ln>
              <a:effectLst/>
              <a:latin typeface="Times New Roman" pitchFamily="18" charset="0"/>
              <a:cs typeface="Times New Roman" pitchFamily="18" charset="0"/>
            </a:endParaRPr>
          </a:p>
        </p:txBody>
      </p:sp>
      <p:sp>
        <p:nvSpPr>
          <p:cNvPr id="170" name="AutoShape 151"/>
          <p:cNvSpPr>
            <a:spLocks noChangeArrowheads="1"/>
          </p:cNvSpPr>
          <p:nvPr/>
        </p:nvSpPr>
        <p:spPr bwMode="auto">
          <a:xfrm>
            <a:off x="2362934" y="1992314"/>
            <a:ext cx="288680" cy="198437"/>
          </a:xfrm>
          <a:prstGeom prst="triangle">
            <a:avLst>
              <a:gd name="adj" fmla="val 50000"/>
            </a:avLst>
          </a:prstGeom>
          <a:solidFill>
            <a:srgbClr val="FF0000"/>
          </a:solidFill>
          <a:ln w="9525" algn="ctr">
            <a:solidFill>
              <a:schemeClr val="tx1"/>
            </a:solidFill>
            <a:miter lim="800000"/>
            <a:headEnd/>
            <a:tailEnd/>
          </a:ln>
          <a:effectLst/>
        </p:spPr>
        <p:txBody>
          <a:bodyPr wrap="none" lIns="90000" tIns="46800" rIns="90000" bIns="46800" anchor="ctr"/>
          <a:lstStyle/>
          <a:p>
            <a:endParaRPr lang="en-GB" sz="1100"/>
          </a:p>
        </p:txBody>
      </p:sp>
      <p:sp>
        <p:nvSpPr>
          <p:cNvPr id="171" name="AutoShape 151"/>
          <p:cNvSpPr>
            <a:spLocks noChangeArrowheads="1"/>
          </p:cNvSpPr>
          <p:nvPr/>
        </p:nvSpPr>
        <p:spPr bwMode="auto">
          <a:xfrm>
            <a:off x="4810859" y="1982789"/>
            <a:ext cx="288680" cy="198437"/>
          </a:xfrm>
          <a:prstGeom prst="triangle">
            <a:avLst>
              <a:gd name="adj" fmla="val 50000"/>
            </a:avLst>
          </a:prstGeom>
          <a:solidFill>
            <a:srgbClr val="FF0000"/>
          </a:solidFill>
          <a:ln w="9525" algn="ctr">
            <a:solidFill>
              <a:schemeClr val="tx1"/>
            </a:solidFill>
            <a:miter lim="800000"/>
            <a:headEnd/>
            <a:tailEnd/>
          </a:ln>
          <a:effectLst/>
        </p:spPr>
        <p:txBody>
          <a:bodyPr wrap="none" lIns="90000" tIns="46800" rIns="90000" bIns="46800" anchor="ctr"/>
          <a:lstStyle/>
          <a:p>
            <a:endParaRPr lang="en-GB" sz="1100"/>
          </a:p>
        </p:txBody>
      </p:sp>
      <p:sp>
        <p:nvSpPr>
          <p:cNvPr id="174" name="AutoShape 16"/>
          <p:cNvSpPr>
            <a:spLocks noChangeArrowheads="1"/>
          </p:cNvSpPr>
          <p:nvPr/>
        </p:nvSpPr>
        <p:spPr bwMode="auto">
          <a:xfrm>
            <a:off x="4425463" y="1744664"/>
            <a:ext cx="290146" cy="198437"/>
          </a:xfrm>
          <a:prstGeom prst="triangle">
            <a:avLst>
              <a:gd name="adj" fmla="val 50000"/>
            </a:avLst>
          </a:prstGeom>
          <a:solidFill>
            <a:srgbClr val="00B0F0"/>
          </a:solidFill>
          <a:ln w="9525" algn="ctr">
            <a:solidFill>
              <a:schemeClr val="tx1"/>
            </a:solidFill>
            <a:miter lim="800000"/>
            <a:headEnd/>
            <a:tailEnd/>
          </a:ln>
          <a:effectLst/>
        </p:spPr>
        <p:txBody>
          <a:bodyPr wrap="none" lIns="90000" tIns="46800" rIns="90000" bIns="46800" anchor="ctr"/>
          <a:lstStyle/>
          <a:p>
            <a:endParaRPr lang="en-GB" sz="1200"/>
          </a:p>
        </p:txBody>
      </p:sp>
      <p:sp>
        <p:nvSpPr>
          <p:cNvPr id="175" name="Text Box 18"/>
          <p:cNvSpPr txBox="1">
            <a:spLocks noChangeArrowheads="1"/>
          </p:cNvSpPr>
          <p:nvPr/>
        </p:nvSpPr>
        <p:spPr bwMode="auto">
          <a:xfrm>
            <a:off x="4294643" y="1895476"/>
            <a:ext cx="478928"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latin typeface="Times New Roman" pitchFamily="18" charset="0"/>
                <a:cs typeface="Times New Roman" pitchFamily="18" charset="0"/>
              </a:rPr>
              <a:t>29</a:t>
            </a:r>
            <a:r>
              <a:rPr lang="en-GB" sz="1200" b="1" baseline="30000" dirty="0" smtClean="0">
                <a:latin typeface="Times New Roman" pitchFamily="18" charset="0"/>
                <a:cs typeface="Times New Roman" pitchFamily="18" charset="0"/>
              </a:rPr>
              <a:t>th</a:t>
            </a:r>
            <a:r>
              <a:rPr lang="en-GB" sz="1200" b="1" dirty="0" smtClean="0"/>
              <a:t> </a:t>
            </a:r>
            <a:endParaRPr lang="en-GB" sz="1200" b="1" dirty="0">
              <a:solidFill>
                <a:schemeClr val="tx1"/>
              </a:solidFill>
            </a:endParaRPr>
          </a:p>
        </p:txBody>
      </p:sp>
      <p:cxnSp>
        <p:nvCxnSpPr>
          <p:cNvPr id="176" name="Straight Arrow Connector 175"/>
          <p:cNvCxnSpPr>
            <a:stCxn id="135" idx="3"/>
            <a:endCxn id="174" idx="1"/>
          </p:cNvCxnSpPr>
          <p:nvPr/>
        </p:nvCxnSpPr>
        <p:spPr bwMode="auto">
          <a:xfrm>
            <a:off x="4322886" y="1628776"/>
            <a:ext cx="175114" cy="215107"/>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80" name="Straight Arrow Connector 179"/>
          <p:cNvCxnSpPr>
            <a:stCxn id="135" idx="5"/>
            <a:endCxn id="171" idx="0"/>
          </p:cNvCxnSpPr>
          <p:nvPr/>
        </p:nvCxnSpPr>
        <p:spPr bwMode="auto">
          <a:xfrm>
            <a:off x="4395423" y="1529558"/>
            <a:ext cx="559776" cy="45323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83" name="Text Box 18"/>
          <p:cNvSpPr txBox="1">
            <a:spLocks noChangeArrowheads="1"/>
          </p:cNvSpPr>
          <p:nvPr/>
        </p:nvSpPr>
        <p:spPr bwMode="auto">
          <a:xfrm>
            <a:off x="5009390" y="1943101"/>
            <a:ext cx="401984"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latin typeface="Times New Roman" pitchFamily="18" charset="0"/>
                <a:cs typeface="Times New Roman" pitchFamily="18" charset="0"/>
              </a:rPr>
              <a:t>4</a:t>
            </a:r>
            <a:r>
              <a:rPr lang="en-GB" sz="1200" b="1" baseline="30000" dirty="0" smtClean="0">
                <a:latin typeface="Times New Roman" pitchFamily="18" charset="0"/>
                <a:cs typeface="Times New Roman" pitchFamily="18" charset="0"/>
              </a:rPr>
              <a:t>th</a:t>
            </a:r>
            <a:r>
              <a:rPr lang="en-GB" sz="1200" b="1" dirty="0" smtClean="0"/>
              <a:t> </a:t>
            </a:r>
            <a:endParaRPr lang="en-GB" sz="1200" b="1" dirty="0">
              <a:solidFill>
                <a:schemeClr val="tx1"/>
              </a:solidFill>
            </a:endParaRPr>
          </a:p>
        </p:txBody>
      </p:sp>
      <p:sp>
        <p:nvSpPr>
          <p:cNvPr id="184" name="Text Box 18"/>
          <p:cNvSpPr txBox="1">
            <a:spLocks noChangeArrowheads="1"/>
          </p:cNvSpPr>
          <p:nvPr/>
        </p:nvSpPr>
        <p:spPr bwMode="auto">
          <a:xfrm>
            <a:off x="2094740" y="1952626"/>
            <a:ext cx="401984"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latin typeface="Times New Roman" pitchFamily="18" charset="0"/>
                <a:cs typeface="Times New Roman" pitchFamily="18" charset="0"/>
              </a:rPr>
              <a:t>6</a:t>
            </a:r>
            <a:r>
              <a:rPr lang="en-GB" sz="1200" b="1" baseline="30000" dirty="0" smtClean="0">
                <a:latin typeface="Times New Roman" pitchFamily="18" charset="0"/>
                <a:cs typeface="Times New Roman" pitchFamily="18" charset="0"/>
              </a:rPr>
              <a:t>th</a:t>
            </a:r>
            <a:r>
              <a:rPr lang="en-GB" sz="1200" b="1" dirty="0" smtClean="0"/>
              <a:t> </a:t>
            </a:r>
            <a:endParaRPr lang="en-GB" sz="1200" b="1" dirty="0">
              <a:solidFill>
                <a:schemeClr val="tx1"/>
              </a:solidFill>
            </a:endParaRPr>
          </a:p>
        </p:txBody>
      </p:sp>
      <p:sp>
        <p:nvSpPr>
          <p:cNvPr id="73" name="Rounded Rectangular Callout 72"/>
          <p:cNvSpPr/>
          <p:nvPr/>
        </p:nvSpPr>
        <p:spPr bwMode="auto">
          <a:xfrm>
            <a:off x="6400800" y="1781175"/>
            <a:ext cx="1228725" cy="504825"/>
          </a:xfrm>
          <a:prstGeom prst="wedgeRoundRectCallout">
            <a:avLst>
              <a:gd name="adj1" fmla="val -81736"/>
              <a:gd name="adj2" fmla="val -77531"/>
              <a:gd name="adj3" fmla="val 16667"/>
            </a:avLst>
          </a:prstGeom>
          <a:solidFill>
            <a:srgbClr val="F2F2F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Alan G and Bob R make ‘GNG’ decision</a:t>
            </a:r>
            <a:endParaRPr kumimoji="0" lang="en-GB" sz="1000" b="0" i="0" u="none" strike="noStrike" cap="none" normalizeH="0" baseline="0" dirty="0" smtClean="0">
              <a:ln>
                <a:noFill/>
              </a:ln>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US" sz="2000" b="0" dirty="0" smtClean="0"/>
              <a:t>2. The </a:t>
            </a:r>
            <a:r>
              <a:rPr lang="en-US" sz="2000" b="0" dirty="0" err="1" smtClean="0"/>
              <a:t>Organisation</a:t>
            </a:r>
            <a:r>
              <a:rPr lang="en-US" sz="2000" b="0" dirty="0" smtClean="0"/>
              <a:t> (Business and ITS) is ready</a:t>
            </a:r>
            <a:br>
              <a:rPr lang="en-US" sz="2000" b="0" dirty="0" smtClean="0"/>
            </a:br>
            <a:endParaRPr lang="en-GB" sz="2200" dirty="0"/>
          </a:p>
        </p:txBody>
      </p:sp>
      <p:graphicFrame>
        <p:nvGraphicFramePr>
          <p:cNvPr id="1573940" name="Group 52"/>
          <p:cNvGraphicFramePr>
            <a:graphicFrameLocks noGrp="1"/>
          </p:cNvGraphicFramePr>
          <p:nvPr>
            <p:ph idx="1"/>
          </p:nvPr>
        </p:nvGraphicFramePr>
        <p:xfrm>
          <a:off x="149469" y="1098550"/>
          <a:ext cx="8692664" cy="1545845"/>
        </p:xfrm>
        <a:graphic>
          <a:graphicData uri="http://schemas.openxmlformats.org/drawingml/2006/table">
            <a:tbl>
              <a:tblPr/>
              <a:tblGrid>
                <a:gridCol w="688731"/>
                <a:gridCol w="1371600"/>
                <a:gridCol w="1905000"/>
                <a:gridCol w="2362200"/>
                <a:gridCol w="762000"/>
                <a:gridCol w="1603133"/>
              </a:tblGrid>
              <a:tr h="406400">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949325">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2.</a:t>
                      </a:r>
                      <a:r>
                        <a:rPr kumimoji="0" lang="en-GB" sz="1100" b="0" i="0" u="none" strike="noStrike" cap="none" normalizeH="0" baseline="0" dirty="0" smtClean="0">
                          <a:ln>
                            <a:noFill/>
                          </a:ln>
                          <a:solidFill>
                            <a:schemeClr val="tx1"/>
                          </a:solidFill>
                          <a:effectLst/>
                          <a:latin typeface="Univers 45 Light" pitchFamily="2" charset="0"/>
                          <a:cs typeface="Arial" charset="0"/>
                        </a:rPr>
                        <a:t> The Organisation (Business and ITS) is ready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2.1</a:t>
                      </a:r>
                      <a:r>
                        <a:rPr kumimoji="0" lang="en-GB" sz="1100" b="0" i="0" u="none" strike="noStrike" cap="none" normalizeH="0" baseline="0" dirty="0" smtClean="0">
                          <a:ln>
                            <a:noFill/>
                          </a:ln>
                          <a:solidFill>
                            <a:schemeClr val="tx1"/>
                          </a:solidFill>
                          <a:effectLst/>
                          <a:latin typeface="Univers 45 Light" pitchFamily="2" charset="0"/>
                          <a:cs typeface="Arial" charset="0"/>
                        </a:rPr>
                        <a:t> Is the business ready to operate the solution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Business readiness assessment completed (Martin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r>
                        <a:rPr kumimoji="0" lang="en-GB" sz="1100" b="0" i="0" u="none" strike="noStrike" cap="none" normalizeH="0" baseline="0" dirty="0" smtClean="0">
                          <a:ln>
                            <a:noFill/>
                          </a:ln>
                          <a:solidFill>
                            <a:schemeClr val="tx1"/>
                          </a:solidFill>
                          <a:effectLst/>
                          <a:latin typeface="Univers 45 Light" pitchFamily="2" charset="0"/>
                          <a:cs typeface="Arial" charset="0"/>
                        </a:rPr>
                        <a:t>)</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Validated learning content and channels (Martin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r>
                        <a:rPr kumimoji="0" lang="en-GB" sz="1100" b="0" i="0" u="none" strike="noStrike" cap="none" normalizeH="0" baseline="0" dirty="0" smtClean="0">
                          <a:ln>
                            <a:noFill/>
                          </a:ln>
                          <a:solidFill>
                            <a:schemeClr val="tx1"/>
                          </a:solidFill>
                          <a:effectLst/>
                          <a:latin typeface="Univers 45 Light" pitchFamily="2" charset="0"/>
                          <a:cs typeface="Arial" charset="0"/>
                        </a:rPr>
                        <a: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2.1.1 Business readiness assessment outcome (or rationale for exclusion)</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2.1.2 Learning content complete and eLearning portal operational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Complete</a:t>
                      </a:r>
                      <a:endParaRPr kumimoji="0" lang="en-GB" sz="1100" b="0" i="0" u="none" strike="noStrike" cap="none" normalizeH="0" baseline="0" dirty="0" smtClean="0">
                        <a:ln>
                          <a:noFill/>
                        </a:ln>
                        <a:solidFill>
                          <a:schemeClr val="bg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2.1 Is the business ready to operate the solution</a:t>
            </a: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defRPr/>
            </a:pPr>
            <a:r>
              <a:rPr lang="en-US" sz="1600" b="1" kern="0" dirty="0" smtClean="0">
                <a:solidFill>
                  <a:srgbClr val="646464"/>
                </a:solidFill>
                <a:latin typeface="+mn-lt"/>
              </a:rPr>
              <a:t>2.1.1 Business readiness assessment outcome</a:t>
            </a:r>
          </a:p>
          <a:p>
            <a:pPr marL="360363"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Rationale for exclusion</a:t>
            </a:r>
          </a:p>
          <a:p>
            <a:pPr marL="817563" lvl="1"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The learning enablers and the support readiness is considered the main part of declaring the business is ready. Furthermore each team site will be provisioned alongside an interview/preparation process that will ensure that each individual team is ready to adopt the new capabilities. This process will run in waves throughout January and early February and is independent of the overall GNG check for the Beta Pilot deployment. </a:t>
            </a:r>
          </a:p>
          <a:p>
            <a:pPr marL="817563" lvl="1"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defRPr/>
            </a:pPr>
            <a:r>
              <a:rPr lang="en-US" sz="1600" b="1" kern="0" dirty="0" smtClean="0">
                <a:solidFill>
                  <a:srgbClr val="646464"/>
                </a:solidFill>
                <a:latin typeface="+mn-lt"/>
              </a:rPr>
              <a:t>2.1.2 Learning content complete and eLearning portal operational  </a:t>
            </a:r>
            <a:endParaRPr lang="en-US" sz="1600" b="1" kern="0" dirty="0" smtClean="0">
              <a:solidFill>
                <a:srgbClr val="FFC000"/>
              </a:solidFill>
              <a:latin typeface="+mn-lt"/>
            </a:endParaRPr>
          </a:p>
          <a:p>
            <a:pPr marL="817563" lvl="1"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The learning enablers focused on the sites owners has been reviewed and are ready for the site owners introduction sessions w/c Jan 1st</a:t>
            </a:r>
          </a:p>
          <a:p>
            <a:pPr marL="817563" lvl="1"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Learning enablers for site users are available on the </a:t>
            </a:r>
            <a:r>
              <a:rPr lang="en-US" sz="1600" kern="0" dirty="0" smtClean="0">
                <a:solidFill>
                  <a:srgbClr val="646464"/>
                </a:solidFill>
                <a:latin typeface="+mn-lt"/>
                <a:hlinkClick r:id="rId2"/>
              </a:rPr>
              <a:t>SP Landing Page</a:t>
            </a:r>
            <a:r>
              <a:rPr lang="en-US" sz="1600" kern="0" dirty="0" smtClean="0">
                <a:solidFill>
                  <a:srgbClr val="646464"/>
                </a:solidFill>
                <a:latin typeface="+mn-lt"/>
              </a:rPr>
              <a:t> and will be made available on the EYK Community Homepage w/c Jan 8th</a:t>
            </a: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US" sz="2000" b="0" dirty="0" smtClean="0"/>
              <a:t>2. The </a:t>
            </a:r>
            <a:r>
              <a:rPr lang="en-US" sz="2000" b="0" dirty="0" err="1" smtClean="0"/>
              <a:t>Organisation</a:t>
            </a:r>
            <a:r>
              <a:rPr lang="en-US" sz="2000" b="0" dirty="0" smtClean="0"/>
              <a:t> (Business and ITS) is ready</a:t>
            </a:r>
          </a:p>
        </p:txBody>
      </p:sp>
      <p:graphicFrame>
        <p:nvGraphicFramePr>
          <p:cNvPr id="1573940" name="Group 52"/>
          <p:cNvGraphicFramePr>
            <a:graphicFrameLocks noGrp="1"/>
          </p:cNvGraphicFramePr>
          <p:nvPr>
            <p:ph idx="1"/>
          </p:nvPr>
        </p:nvGraphicFramePr>
        <p:xfrm>
          <a:off x="149469" y="1098550"/>
          <a:ext cx="8692664" cy="3968880"/>
        </p:xfrm>
        <a:graphic>
          <a:graphicData uri="http://schemas.openxmlformats.org/drawingml/2006/table">
            <a:tbl>
              <a:tblPr/>
              <a:tblGrid>
                <a:gridCol w="688731"/>
                <a:gridCol w="1371600"/>
                <a:gridCol w="1905000"/>
                <a:gridCol w="2362200"/>
                <a:gridCol w="762000"/>
                <a:gridCol w="1603133"/>
              </a:tblGrid>
              <a:tr h="406400">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949325">
                <a:tc rowSpan="2">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2.</a:t>
                      </a:r>
                      <a:r>
                        <a:rPr kumimoji="0" lang="en-GB" sz="1100" b="0" i="0" u="none" strike="noStrike" cap="none" normalizeH="0" baseline="0" dirty="0" smtClean="0">
                          <a:ln>
                            <a:noFill/>
                          </a:ln>
                          <a:solidFill>
                            <a:schemeClr val="tx1"/>
                          </a:solidFill>
                          <a:effectLst/>
                          <a:latin typeface="Univers 45 Light" pitchFamily="2" charset="0"/>
                          <a:cs typeface="Arial" charset="0"/>
                        </a:rPr>
                        <a:t> The Organisation (Business and ITS) is ready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2.2 </a:t>
                      </a:r>
                      <a:r>
                        <a:rPr kumimoji="0" lang="en-GB" sz="1100" b="0" i="0" u="none" strike="noStrike" cap="none" normalizeH="0" baseline="0" dirty="0" smtClean="0">
                          <a:ln>
                            <a:noFill/>
                          </a:ln>
                          <a:solidFill>
                            <a:schemeClr val="tx1"/>
                          </a:solidFill>
                          <a:effectLst/>
                          <a:latin typeface="Univers 45 Light" pitchFamily="2" charset="0"/>
                          <a:cs typeface="Arial" charset="0"/>
                        </a:rPr>
                        <a:t>ITS Support staff are ready to operationally accept the solution and to provide appropriate operational support for the new system</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Validated training completion records (Nick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2.2.1 Training Records to demonstrate trained Support user base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 Complete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Training completed for  Service Desk team to enable incidents to be routed to Microsoft. No further SharePoint specific training needed for Beta Pilot as support will be via the program team with EAM as applicable (existing SharePoint team)</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49325">
                <a:tc vMerge="1">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Operation Acceptance Test (OAT) completed (Nick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100" b="0" i="0" u="none" strike="noStrike" cap="none" normalizeH="0" baseline="0" dirty="0" smtClean="0">
                          <a:ln>
                            <a:noFill/>
                          </a:ln>
                          <a:solidFill>
                            <a:schemeClr val="tx1"/>
                          </a:solidFill>
                          <a:effectLst/>
                          <a:latin typeface="Univers 45 Light" pitchFamily="2" charset="0"/>
                          <a:cs typeface="Arial" charset="0"/>
                        </a:rPr>
                        <a:t>2.2.2 OAT Support Readiness checklist results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 Green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Some OAT activities still need to be completed. Weekly review of the remaining OAT activities established from w/c 7</a:t>
                      </a:r>
                      <a:r>
                        <a:rPr kumimoji="0" lang="en-GB" sz="1100" b="0" i="0" u="none" strike="noStrike" kern="1200" cap="none" normalizeH="0" baseline="30000" dirty="0" smtClean="0">
                          <a:ln>
                            <a:noFill/>
                          </a:ln>
                          <a:solidFill>
                            <a:schemeClr val="tx1"/>
                          </a:solidFill>
                          <a:effectLst/>
                          <a:latin typeface="Univers 45 Light" pitchFamily="2" charset="0"/>
                          <a:ea typeface="+mn-ea"/>
                          <a:cs typeface="Arial" charset="0"/>
                        </a:rPr>
                        <a:t>th</a:t>
                      </a: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 Jan with Scott Strange. Feedback to Ops Manual being channelled via </a:t>
                      </a:r>
                      <a:r>
                        <a:rPr kumimoji="0" lang="en-GB" sz="1100" b="0" i="0" u="none" strike="noStrike" kern="1200" cap="none" normalizeH="0" baseline="0" dirty="0" err="1" smtClean="0">
                          <a:ln>
                            <a:noFill/>
                          </a:ln>
                          <a:solidFill>
                            <a:schemeClr val="tx1"/>
                          </a:solidFill>
                          <a:effectLst/>
                          <a:latin typeface="Univers 45 Light" pitchFamily="2" charset="0"/>
                          <a:ea typeface="+mn-ea"/>
                          <a:cs typeface="Arial" charset="0"/>
                        </a:rPr>
                        <a:t>Imraan</a:t>
                      </a: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 </a:t>
                      </a:r>
                      <a:r>
                        <a:rPr kumimoji="0" lang="en-GB" sz="1100" b="0" i="0" u="none" strike="noStrike" kern="1200" cap="none" normalizeH="0" baseline="0" dirty="0" err="1" smtClean="0">
                          <a:ln>
                            <a:noFill/>
                          </a:ln>
                          <a:solidFill>
                            <a:schemeClr val="tx1"/>
                          </a:solidFill>
                          <a:effectLst/>
                          <a:latin typeface="Univers 45 Light" pitchFamily="2" charset="0"/>
                          <a:ea typeface="+mn-ea"/>
                          <a:cs typeface="Arial" charset="0"/>
                        </a:rPr>
                        <a:t>Hassim</a:t>
                      </a: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 which will also help close out OAT activities. Model office sessions established with Digital Enablement to test the support model design.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US" sz="2000" b="0" dirty="0" smtClean="0"/>
              <a:t>2.2 ITS Support staff are ready to operationally accept the solution and to provide appropriate operational support for the new system</a:t>
            </a:r>
          </a:p>
        </p:txBody>
      </p:sp>
      <p:sp>
        <p:nvSpPr>
          <p:cNvPr id="5" name="Content Placeholder 2"/>
          <p:cNvSpPr txBox="1">
            <a:spLocks/>
          </p:cNvSpPr>
          <p:nvPr/>
        </p:nvSpPr>
        <p:spPr bwMode="auto">
          <a:xfrm>
            <a:off x="228600" y="1169988"/>
            <a:ext cx="8686800" cy="51546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Training of the various functions in I/O is not required for Beta Pilot as the program will be providing L4 support in conjunction with the L3 support provided  by EAM and Digital Enablement providing the primary L1 support to the user community</a:t>
            </a: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Support stakeholders briefing sessions completed on support model for beta pilot in November and December and </a:t>
            </a:r>
            <a:r>
              <a:rPr lang="en-US" sz="1600" kern="0" dirty="0" smtClean="0">
                <a:solidFill>
                  <a:srgbClr val="646464"/>
                </a:solidFill>
              </a:rPr>
              <a:t>CAB approval for technical go-live received on 13</a:t>
            </a:r>
            <a:r>
              <a:rPr lang="en-US" sz="1600" kern="0" baseline="30000" dirty="0" smtClean="0">
                <a:solidFill>
                  <a:srgbClr val="646464"/>
                </a:solidFill>
              </a:rPr>
              <a:t>th</a:t>
            </a:r>
            <a:r>
              <a:rPr lang="en-US" sz="1600" kern="0" dirty="0" smtClean="0">
                <a:solidFill>
                  <a:srgbClr val="646464"/>
                </a:solidFill>
              </a:rPr>
              <a:t> December.</a:t>
            </a:r>
            <a:r>
              <a:rPr lang="en-US" sz="1600" kern="0" dirty="0" smtClean="0">
                <a:solidFill>
                  <a:srgbClr val="646464"/>
                </a:solidFill>
                <a:latin typeface="+mn-lt"/>
              </a:rPr>
              <a:t/>
            </a:r>
            <a:br>
              <a:rPr lang="en-US" sz="1600" kern="0" dirty="0" smtClean="0">
                <a:solidFill>
                  <a:srgbClr val="646464"/>
                </a:solidFill>
                <a:latin typeface="+mn-lt"/>
              </a:rPr>
            </a:b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Weekly 1 to 1 established with Scott Strange to track &amp; execute outstanding Operational Acceptance activities, these begin w/c 7</a:t>
            </a:r>
            <a:r>
              <a:rPr lang="en-US" sz="1600" kern="0" baseline="30000" dirty="0" smtClean="0">
                <a:solidFill>
                  <a:srgbClr val="646464"/>
                </a:solidFill>
                <a:latin typeface="+mn-lt"/>
              </a:rPr>
              <a:t>th</a:t>
            </a:r>
            <a:r>
              <a:rPr lang="en-US" sz="1600" kern="0" dirty="0" smtClean="0">
                <a:solidFill>
                  <a:srgbClr val="646464"/>
                </a:solidFill>
                <a:latin typeface="+mn-lt"/>
              </a:rPr>
              <a:t> January.</a:t>
            </a:r>
            <a:br>
              <a:rPr lang="en-US" sz="1600" kern="0" dirty="0" smtClean="0">
                <a:solidFill>
                  <a:srgbClr val="646464"/>
                </a:solidFill>
                <a:latin typeface="+mn-lt"/>
              </a:rPr>
            </a:b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Architecture and Application walk through requirements for L1 to L3 support teams have been established and the sessions will </a:t>
            </a:r>
            <a:r>
              <a:rPr lang="en-US" sz="1600" kern="0" smtClean="0">
                <a:solidFill>
                  <a:srgbClr val="646464"/>
                </a:solidFill>
                <a:latin typeface="+mn-lt"/>
              </a:rPr>
              <a:t>take place w/c 14</a:t>
            </a:r>
            <a:r>
              <a:rPr lang="en-US" sz="1600" kern="0" baseline="30000" smtClean="0">
                <a:solidFill>
                  <a:srgbClr val="646464"/>
                </a:solidFill>
                <a:latin typeface="+mn-lt"/>
              </a:rPr>
              <a:t>th</a:t>
            </a:r>
            <a:r>
              <a:rPr lang="en-US" sz="1600" kern="0" smtClean="0">
                <a:solidFill>
                  <a:srgbClr val="646464"/>
                </a:solidFill>
                <a:latin typeface="+mn-lt"/>
              </a:rPr>
              <a:t> or 21</a:t>
            </a:r>
            <a:r>
              <a:rPr lang="en-US" sz="1600" kern="0" baseline="30000" smtClean="0">
                <a:solidFill>
                  <a:srgbClr val="646464"/>
                </a:solidFill>
                <a:latin typeface="+mn-lt"/>
              </a:rPr>
              <a:t>st</a:t>
            </a:r>
            <a:r>
              <a:rPr lang="en-US" sz="1600" kern="0" smtClean="0">
                <a:solidFill>
                  <a:srgbClr val="646464"/>
                </a:solidFill>
                <a:latin typeface="+mn-lt"/>
              </a:rPr>
              <a:t> Jan. </a:t>
            </a:r>
            <a:r>
              <a:rPr lang="en-US" sz="1600" kern="0" dirty="0" smtClean="0">
                <a:solidFill>
                  <a:srgbClr val="646464"/>
                </a:solidFill>
                <a:latin typeface="+mn-lt"/>
              </a:rPr>
              <a:t/>
            </a:r>
            <a:br>
              <a:rPr lang="en-US" sz="1600" kern="0" dirty="0" smtClean="0">
                <a:solidFill>
                  <a:srgbClr val="646464"/>
                </a:solidFill>
                <a:latin typeface="+mn-lt"/>
              </a:rPr>
            </a:b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Peer group is established and working to further create and improve operational support knowledge. First session completed 20</a:t>
            </a:r>
            <a:r>
              <a:rPr lang="en-US" sz="1600" kern="0" baseline="30000" dirty="0" smtClean="0">
                <a:solidFill>
                  <a:srgbClr val="646464"/>
                </a:solidFill>
                <a:latin typeface="+mn-lt"/>
              </a:rPr>
              <a:t>th</a:t>
            </a:r>
            <a:r>
              <a:rPr lang="en-US" sz="1600" kern="0" dirty="0" smtClean="0">
                <a:solidFill>
                  <a:srgbClr val="646464"/>
                </a:solidFill>
                <a:latin typeface="+mn-lt"/>
              </a:rPr>
              <a:t> December.</a:t>
            </a:r>
          </a:p>
          <a:p>
            <a:pPr marL="817563" lvl="1"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Current gap identified in </a:t>
            </a:r>
            <a:r>
              <a:rPr kumimoji="0" lang="en-US" sz="1600" b="0" i="0" u="none" strike="noStrike" kern="0" cap="none" spc="0" normalizeH="0" noProof="0" dirty="0" smtClean="0">
                <a:ln>
                  <a:noFill/>
                </a:ln>
                <a:solidFill>
                  <a:srgbClr val="646464"/>
                </a:solidFill>
                <a:effectLst/>
                <a:uLnTx/>
                <a:uFillTx/>
                <a:latin typeface="+mn-lt"/>
                <a:ea typeface="+mn-ea"/>
                <a:cs typeface="+mn-cs"/>
              </a:rPr>
              <a:t>Infra L2 knowledge for co-located CI’s. Alberto Cardozo has supplied information to help close this out, it will be processed as part of knowledge peer review.</a:t>
            </a: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4914" name="Rectangle 2"/>
          <p:cNvSpPr>
            <a:spLocks noGrp="1" noChangeArrowheads="1"/>
          </p:cNvSpPr>
          <p:nvPr>
            <p:ph type="title"/>
          </p:nvPr>
        </p:nvSpPr>
        <p:spPr>
          <a:xfrm>
            <a:off x="371476" y="230189"/>
            <a:ext cx="7829550" cy="930275"/>
          </a:xfrm>
        </p:spPr>
        <p:txBody>
          <a:bodyPr/>
          <a:lstStyle/>
          <a:p>
            <a:r>
              <a:rPr lang="en-GB" sz="2000" dirty="0" smtClean="0"/>
              <a:t>GNG Criteria: </a:t>
            </a:r>
            <a:r>
              <a:rPr lang="en-US" sz="2000" b="0" dirty="0" smtClean="0"/>
              <a:t>3. We are ready to Deploy the solution (and revert if necessary)</a:t>
            </a:r>
            <a:br>
              <a:rPr lang="en-US" sz="2000" b="0" dirty="0" smtClean="0"/>
            </a:br>
            <a:endParaRPr lang="en-GB" sz="2000" dirty="0"/>
          </a:p>
        </p:txBody>
      </p:sp>
      <p:graphicFrame>
        <p:nvGraphicFramePr>
          <p:cNvPr id="5" name="Group 51"/>
          <p:cNvGraphicFramePr>
            <a:graphicFrameLocks/>
          </p:cNvGraphicFramePr>
          <p:nvPr/>
        </p:nvGraphicFramePr>
        <p:xfrm>
          <a:off x="222739" y="1143000"/>
          <a:ext cx="8692661" cy="3456180"/>
        </p:xfrm>
        <a:graphic>
          <a:graphicData uri="http://schemas.openxmlformats.org/drawingml/2006/table">
            <a:tbl>
              <a:tblPr/>
              <a:tblGrid>
                <a:gridCol w="779585"/>
                <a:gridCol w="1207432"/>
                <a:gridCol w="1840568"/>
                <a:gridCol w="2286000"/>
                <a:gridCol w="765401"/>
                <a:gridCol w="1813675"/>
              </a:tblGrid>
              <a:tr h="406400">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624013">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3</a:t>
                      </a:r>
                      <a:r>
                        <a:rPr kumimoji="0" lang="en-GB" sz="1100" b="0" i="0" u="none" strike="noStrike" cap="none" normalizeH="0" baseline="0" dirty="0" smtClean="0">
                          <a:ln>
                            <a:noFill/>
                          </a:ln>
                          <a:solidFill>
                            <a:schemeClr val="tx1"/>
                          </a:solidFill>
                          <a:effectLst/>
                          <a:latin typeface="Univers 45 Light" pitchFamily="2" charset="0"/>
                          <a:cs typeface="Arial" charset="0"/>
                        </a:rPr>
                        <a:t>. We are ready to Deploy the solution (and revert if necessary)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3.1</a:t>
                      </a:r>
                      <a:r>
                        <a:rPr kumimoji="0" lang="en-GB" sz="1100" b="0" i="0" u="none" strike="noStrike" cap="none" normalizeH="0" baseline="0" dirty="0" smtClean="0">
                          <a:ln>
                            <a:noFill/>
                          </a:ln>
                          <a:solidFill>
                            <a:schemeClr val="tx1"/>
                          </a:solidFill>
                          <a:effectLst/>
                          <a:latin typeface="Univers 45 Light" pitchFamily="2" charset="0"/>
                          <a:cs typeface="Arial" charset="0"/>
                        </a:rPr>
                        <a:t>. Deployment plan is in place, has been adequately rehearsed, communicated and tested; all parties are aware of their roles and responsibilities through the deployment process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Deployment Entry Criteria met</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Deployment plans in place (Cynthia </a:t>
                      </a:r>
                      <a:r>
                        <a:rPr kumimoji="0" lang="en-GB" sz="1100" b="0" i="0" u="none" strike="noStrike" cap="none" normalizeH="0" baseline="0" dirty="0" err="1" smtClean="0">
                          <a:ln>
                            <a:noFill/>
                          </a:ln>
                          <a:solidFill>
                            <a:schemeClr val="tx1"/>
                          </a:solidFill>
                          <a:effectLst/>
                          <a:latin typeface="Univers 45 Light" pitchFamily="2" charset="0"/>
                          <a:cs typeface="Arial" charset="0"/>
                        </a:rPr>
                        <a:t>Markland</a:t>
                      </a:r>
                      <a:r>
                        <a:rPr kumimoji="0" lang="en-GB" sz="1100" b="0" i="0" u="none" strike="noStrike" cap="none" normalizeH="0" baseline="0" dirty="0" smtClean="0">
                          <a:ln>
                            <a:noFill/>
                          </a:ln>
                          <a:solidFill>
                            <a:schemeClr val="tx1"/>
                          </a:solidFill>
                          <a:effectLst/>
                          <a:latin typeface="Univers 45 Light" pitchFamily="2" charset="0"/>
                          <a:cs typeface="Arial" charset="0"/>
                        </a:rPr>
                        <a:t>)</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Resources secured (Cynthia </a:t>
                      </a:r>
                      <a:r>
                        <a:rPr kumimoji="0" lang="en-GB" sz="1100" b="0" i="0" u="none" strike="noStrike" cap="none" normalizeH="0" baseline="0" dirty="0" err="1" smtClean="0">
                          <a:ln>
                            <a:noFill/>
                          </a:ln>
                          <a:solidFill>
                            <a:schemeClr val="tx1"/>
                          </a:solidFill>
                          <a:effectLst/>
                          <a:latin typeface="Univers 45 Light" pitchFamily="2" charset="0"/>
                          <a:cs typeface="Arial" charset="0"/>
                        </a:rPr>
                        <a:t>Markland</a:t>
                      </a:r>
                      <a:r>
                        <a:rPr kumimoji="0" lang="en-GB" sz="1100" b="0" i="0" u="none" strike="noStrike" cap="none" normalizeH="0" baseline="0" dirty="0" smtClean="0">
                          <a:ln>
                            <a:noFill/>
                          </a:ln>
                          <a:solidFill>
                            <a:schemeClr val="tx1"/>
                          </a:solidFill>
                          <a:effectLst/>
                          <a:latin typeface="Univers 45 Light" pitchFamily="2" charset="0"/>
                          <a:cs typeface="Arial" charset="0"/>
                        </a:rPr>
                        <a:t>)</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‘Hand-over to Service’ Criteria agreed (Cynthia </a:t>
                      </a:r>
                      <a:r>
                        <a:rPr kumimoji="0" lang="en-GB" sz="1100" b="0" i="0" u="none" strike="noStrike" cap="none" normalizeH="0" baseline="0" dirty="0" err="1" smtClean="0">
                          <a:ln>
                            <a:noFill/>
                          </a:ln>
                          <a:solidFill>
                            <a:schemeClr val="tx1"/>
                          </a:solidFill>
                          <a:effectLst/>
                          <a:latin typeface="Univers 45 Light" pitchFamily="2" charset="0"/>
                          <a:cs typeface="Arial" charset="0"/>
                        </a:rPr>
                        <a:t>Markland</a:t>
                      </a:r>
                      <a:r>
                        <a:rPr kumimoji="0" lang="en-GB" sz="1100" b="0" i="0" u="none" strike="noStrike" cap="none" normalizeH="0" baseline="0" dirty="0" smtClean="0">
                          <a:ln>
                            <a:noFill/>
                          </a:ln>
                          <a:solidFill>
                            <a:schemeClr val="tx1"/>
                          </a:solidFill>
                          <a:effectLst/>
                          <a:latin typeface="Univers 45 Light" pitchFamily="2" charset="0"/>
                          <a:cs typeface="Arial" charset="0"/>
                        </a:rPr>
                        <a:t> and Nick Coburn)</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100" b="0" i="0" u="none" strike="noStrike" cap="none" normalizeH="0" baseline="0" dirty="0" smtClean="0">
                          <a:ln>
                            <a:noFill/>
                          </a:ln>
                          <a:solidFill>
                            <a:schemeClr val="tx1"/>
                          </a:solidFill>
                          <a:effectLst/>
                          <a:latin typeface="Univers 45 Light" pitchFamily="2" charset="0"/>
                          <a:cs typeface="Arial" charset="0"/>
                        </a:rPr>
                        <a:t>Service Ready declared by O365 Cloud team (Ann Roberts)</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CVS Completed (Cynthia </a:t>
                      </a:r>
                      <a:r>
                        <a:rPr kumimoji="0" lang="en-GB" sz="1100" b="0" i="0" u="none" strike="noStrike" cap="none" normalizeH="0" baseline="0" dirty="0" err="1" smtClean="0">
                          <a:ln>
                            <a:noFill/>
                          </a:ln>
                          <a:solidFill>
                            <a:schemeClr val="tx1"/>
                          </a:solidFill>
                          <a:effectLst/>
                          <a:latin typeface="Univers 45 Light" pitchFamily="2" charset="0"/>
                          <a:cs typeface="Arial" charset="0"/>
                        </a:rPr>
                        <a:t>Markland</a:t>
                      </a:r>
                      <a:r>
                        <a:rPr kumimoji="0" lang="en-GB" sz="1100" b="0" i="0" u="none" strike="noStrike" cap="none" normalizeH="0" baseline="0" dirty="0" smtClean="0">
                          <a:ln>
                            <a:noFill/>
                          </a:ln>
                          <a:solidFill>
                            <a:schemeClr val="tx1"/>
                          </a:solidFill>
                          <a:effectLst/>
                          <a:latin typeface="Univers 45 Light" pitchFamily="2" charset="0"/>
                          <a:cs typeface="Arial" charset="0"/>
                        </a:rPr>
                        <a: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3.1.1 Documented and participant-reviewed deployment plans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3.1.2 Deployment resources confirmed for participation in deployment process by team leads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3.1.3 Documented ‘Hand-over to Service’ criteria</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100" b="0" i="0" u="none" strike="noStrike" cap="none" normalizeH="0" baseline="0" dirty="0" smtClean="0">
                          <a:ln>
                            <a:noFill/>
                          </a:ln>
                          <a:solidFill>
                            <a:schemeClr val="tx1"/>
                          </a:solidFill>
                          <a:effectLst/>
                          <a:latin typeface="Univers 45 Light" pitchFamily="2" charset="0"/>
                          <a:cs typeface="Arial" charset="0"/>
                        </a:rPr>
                        <a:t>3.1.4 Completion reports from CVS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 Amber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20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Details next slide</a:t>
                      </a:r>
                    </a:p>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US" sz="2000" b="0" dirty="0" smtClean="0"/>
              <a:t>3.1. Deployment plan is in place, has been adequately rehearsed, communicated and tested; all parties are aware of their roles and responsibilities through the deployment process</a:t>
            </a:r>
            <a:br>
              <a:rPr lang="en-US" sz="2000" b="0" dirty="0" smtClean="0"/>
            </a:br>
            <a:endParaRPr lang="en-US" sz="2000" b="0" dirty="0" smtClean="0"/>
          </a:p>
        </p:txBody>
      </p:sp>
      <p:graphicFrame>
        <p:nvGraphicFramePr>
          <p:cNvPr id="4" name="Group 51"/>
          <p:cNvGraphicFramePr>
            <a:graphicFrameLocks/>
          </p:cNvGraphicFramePr>
          <p:nvPr/>
        </p:nvGraphicFramePr>
        <p:xfrm>
          <a:off x="381000" y="1086480"/>
          <a:ext cx="8305799" cy="5105399"/>
        </p:xfrm>
        <a:graphic>
          <a:graphicData uri="http://schemas.openxmlformats.org/drawingml/2006/table">
            <a:tbl>
              <a:tblPr/>
              <a:tblGrid>
                <a:gridCol w="1905000"/>
                <a:gridCol w="2895600"/>
                <a:gridCol w="838200"/>
                <a:gridCol w="2666999"/>
              </a:tblGrid>
              <a:tr h="251434">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1</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Status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653159">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3.1.1 Documented and participant-reviewed deployment plans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L3 deployment plan completed and activity tracking to plan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 Completed</a:t>
                      </a:r>
                    </a:p>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60599">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100" b="0" i="0" u="none" strike="noStrike" cap="none" normalizeH="0" baseline="0" dirty="0" smtClean="0">
                          <a:ln>
                            <a:noFill/>
                          </a:ln>
                          <a:solidFill>
                            <a:schemeClr val="tx1"/>
                          </a:solidFill>
                          <a:effectLst/>
                          <a:latin typeface="Univers 45 Light" pitchFamily="2" charset="0"/>
                          <a:cs typeface="Arial" charset="0"/>
                        </a:rPr>
                        <a:t>3.1.2 Deployment resources confirmed for participation in deployment process by team leads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O365 beta pilot deployment checklist has been reviewed and confirmed with all participating parties.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Deployment resources are confirmed.</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Business involvement with PPE validation is currently being finalized.</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 Amber</a:t>
                      </a:r>
                    </a:p>
                    <a:p>
                      <a:pPr marL="92075" marR="0" lvl="0" indent="-92075" algn="ctr" defTabSz="957263" rtl="0" eaLnBrk="1" fontAlgn="base" latinLnBrk="0" hangingPunct="1">
                        <a:lnSpc>
                          <a:spcPct val="100000"/>
                        </a:lnSpc>
                        <a:spcBef>
                          <a:spcPct val="50000"/>
                        </a:spcBef>
                        <a:spcAft>
                          <a:spcPct val="0"/>
                        </a:spcAft>
                        <a:buClr>
                          <a:srgbClr val="99CC00"/>
                        </a:buClr>
                        <a:buSzTx/>
                        <a:buFontTx/>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20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Business involvement with PPE validation for Batch 2 is still to be confirmed</a:t>
                      </a:r>
                    </a:p>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3099">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3.1.3 Documented ‘Hand-over to Service’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See section 2 for details</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 Completed</a:t>
                      </a:r>
                    </a:p>
                    <a:p>
                      <a:pPr marL="92075" marR="0" lvl="0" indent="-92075" algn="l" defTabSz="957263" rtl="0" eaLnBrk="1" fontAlgn="base" latinLnBrk="0" hangingPunct="1">
                        <a:lnSpc>
                          <a:spcPct val="100000"/>
                        </a:lnSpc>
                        <a:spcBef>
                          <a:spcPct val="50000"/>
                        </a:spcBef>
                        <a:spcAft>
                          <a:spcPct val="0"/>
                        </a:spcAft>
                        <a:buClr>
                          <a:srgbClr val="99CC00"/>
                        </a:buClr>
                        <a:buSzTx/>
                        <a:buFontTx/>
                        <a:buNone/>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None/>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00219">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100" b="0" i="0" u="none" strike="noStrike" cap="none" normalizeH="0" baseline="0" dirty="0" smtClean="0">
                          <a:ln>
                            <a:noFill/>
                          </a:ln>
                          <a:solidFill>
                            <a:schemeClr val="tx1"/>
                          </a:solidFill>
                          <a:effectLst/>
                          <a:latin typeface="Univers 45 Light" pitchFamily="2" charset="0"/>
                          <a:cs typeface="Arial" charset="0"/>
                        </a:rPr>
                        <a:t>3.1.4 Completion reports from CVS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hlinkClick r:id="rId2"/>
                        </a:rPr>
                        <a:t>Collaboration CVS final documentation</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 Completed</a:t>
                      </a:r>
                    </a:p>
                    <a:p>
                      <a:pPr marL="92075" marR="0" lvl="0" indent="-92075" algn="ctr" defTabSz="957263" rtl="0" eaLnBrk="1" fontAlgn="base" latinLnBrk="0" hangingPunct="1">
                        <a:lnSpc>
                          <a:spcPct val="100000"/>
                        </a:lnSpc>
                        <a:spcBef>
                          <a:spcPct val="50000"/>
                        </a:spcBef>
                        <a:spcAft>
                          <a:spcPct val="0"/>
                        </a:spcAft>
                        <a:buClr>
                          <a:srgbClr val="99CC00"/>
                        </a:buClr>
                        <a:buSzTx/>
                        <a:buFontTx/>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None/>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 </a:t>
            </a:r>
            <a:r>
              <a:rPr lang="en-US" sz="2000" b="0" dirty="0" smtClean="0"/>
              <a:t>4. We are ready to Support the solution in Early Life </a:t>
            </a:r>
            <a:r>
              <a:rPr lang="en-US" sz="2400" b="0" dirty="0" smtClean="0"/>
              <a:t/>
            </a:r>
            <a:br>
              <a:rPr lang="en-US" sz="2400" b="0" dirty="0" smtClean="0"/>
            </a:br>
            <a:endParaRPr lang="en-GB" sz="2200" dirty="0"/>
          </a:p>
        </p:txBody>
      </p:sp>
      <p:graphicFrame>
        <p:nvGraphicFramePr>
          <p:cNvPr id="1576024" name="Group 88"/>
          <p:cNvGraphicFramePr>
            <a:graphicFrameLocks noGrp="1"/>
          </p:cNvGraphicFramePr>
          <p:nvPr>
            <p:ph idx="1"/>
          </p:nvPr>
        </p:nvGraphicFramePr>
        <p:xfrm>
          <a:off x="152400" y="1143000"/>
          <a:ext cx="8770329" cy="2617980"/>
        </p:xfrm>
        <a:graphic>
          <a:graphicData uri="http://schemas.openxmlformats.org/drawingml/2006/table">
            <a:tbl>
              <a:tblPr/>
              <a:tblGrid>
                <a:gridCol w="855784"/>
                <a:gridCol w="1676400"/>
                <a:gridCol w="1828800"/>
                <a:gridCol w="1905000"/>
                <a:gridCol w="719003"/>
                <a:gridCol w="1785342"/>
              </a:tblGrid>
              <a:tr h="556512">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US"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729488">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4. We are ready to Support the solution in Early Life </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4.1</a:t>
                      </a:r>
                      <a:r>
                        <a:rPr kumimoji="0" lang="en-GB" sz="1100" b="0" i="0" u="none" strike="noStrike" cap="none" normalizeH="0" baseline="0" dirty="0" smtClean="0">
                          <a:ln>
                            <a:noFill/>
                          </a:ln>
                          <a:solidFill>
                            <a:schemeClr val="tx1"/>
                          </a:solidFill>
                          <a:effectLst/>
                          <a:latin typeface="Univers 45 Light" pitchFamily="2" charset="0"/>
                          <a:cs typeface="Arial" charset="0"/>
                        </a:rPr>
                        <a:t>. ELS People, Processes and Tools in Place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Beta Pilot Support model &amp; ELS approach signed off by I&amp;O teams (Nick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4.1.1 Documented Beta Pilot Support Model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-Amber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20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Security Incident Model is to be defined agreed where the incident recognition comes from Microsoft and they engage with EY support.</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Daily production issue reviews have been established with Digital Enablement and  EAM, this will help ensure the support model is adopted, effective and efficient.</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Content Placeholder 2"/>
          <p:cNvSpPr txBox="1">
            <a:spLocks/>
          </p:cNvSpPr>
          <p:nvPr/>
        </p:nvSpPr>
        <p:spPr bwMode="auto">
          <a:xfrm>
            <a:off x="152400" y="3886200"/>
            <a:ext cx="8686800" cy="4316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lvl="0" indent="-360363">
              <a:spcBef>
                <a:spcPts val="0"/>
              </a:spcBef>
              <a:buClr>
                <a:srgbClr val="FFD200"/>
              </a:buClr>
              <a:buSzPct val="75000"/>
              <a:buFont typeface="Arial" pitchFamily="34" charset="0"/>
              <a:buChar char="►"/>
              <a:defRPr/>
            </a:pPr>
            <a:r>
              <a:rPr lang="en-GB" sz="1600" kern="0" dirty="0" smtClean="0">
                <a:solidFill>
                  <a:srgbClr val="646464"/>
                </a:solidFill>
                <a:latin typeface="+mn-lt"/>
              </a:rPr>
              <a:t>Standard Incident Support model defined and agreed. Security Incident model requirements actively under review with </a:t>
            </a:r>
            <a:r>
              <a:rPr lang="en-GB" sz="1600" kern="0" dirty="0" err="1" smtClean="0">
                <a:solidFill>
                  <a:srgbClr val="646464"/>
                </a:solidFill>
                <a:latin typeface="+mn-lt"/>
              </a:rPr>
              <a:t>InfoSec</a:t>
            </a:r>
            <a:r>
              <a:rPr lang="en-GB" sz="1600" kern="0" dirty="0" smtClean="0">
                <a:solidFill>
                  <a:srgbClr val="646464"/>
                </a:solidFill>
                <a:latin typeface="+mn-lt"/>
              </a:rPr>
              <a:t>.</a:t>
            </a:r>
          </a:p>
          <a:p>
            <a:pPr marL="360363" lvl="0" indent="-360363">
              <a:spcBef>
                <a:spcPts val="0"/>
              </a:spcBef>
              <a:buClr>
                <a:srgbClr val="FFD200"/>
              </a:buClr>
              <a:buSzPct val="75000"/>
              <a:buFont typeface="Arial" pitchFamily="34" charset="0"/>
              <a:buChar char="►"/>
              <a:defRPr/>
            </a:pPr>
            <a:endParaRPr lang="en-GB" sz="1600" kern="0" dirty="0" smtClean="0">
              <a:solidFill>
                <a:srgbClr val="646464"/>
              </a:solidFill>
              <a:latin typeface="+mn-lt"/>
            </a:endParaRPr>
          </a:p>
          <a:p>
            <a:pPr marL="360363" lvl="0" indent="-360363">
              <a:spcBef>
                <a:spcPts val="0"/>
              </a:spcBef>
              <a:buClr>
                <a:srgbClr val="FFD200"/>
              </a:buClr>
              <a:buSzPct val="75000"/>
              <a:buFont typeface="Arial" pitchFamily="34" charset="0"/>
              <a:buChar char="►"/>
              <a:defRPr/>
            </a:pPr>
            <a:r>
              <a:rPr lang="en-GB" sz="1600" kern="0" dirty="0" smtClean="0">
                <a:solidFill>
                  <a:srgbClr val="646464"/>
                </a:solidFill>
                <a:latin typeface="+mn-lt"/>
              </a:rPr>
              <a:t>Defect management model designed and distributed. Change management for production hot fixes to be co-ordinated by the Deployment Manager. Model still to be discussed and signed off with Deployment Manager due to vacation leave, scheduled w/c 7</a:t>
            </a:r>
            <a:r>
              <a:rPr lang="en-GB" sz="1600" kern="0" baseline="30000" dirty="0" smtClean="0">
                <a:solidFill>
                  <a:srgbClr val="646464"/>
                </a:solidFill>
                <a:latin typeface="+mn-lt"/>
              </a:rPr>
              <a:t>th</a:t>
            </a:r>
            <a:r>
              <a:rPr lang="en-GB" sz="1600" kern="0" dirty="0" smtClean="0">
                <a:solidFill>
                  <a:srgbClr val="646464"/>
                </a:solidFill>
                <a:latin typeface="+mn-lt"/>
              </a:rPr>
              <a:t> Jan.</a:t>
            </a:r>
            <a:br>
              <a:rPr lang="en-GB" sz="1600" kern="0" dirty="0" smtClean="0">
                <a:solidFill>
                  <a:srgbClr val="646464"/>
                </a:solidFill>
                <a:latin typeface="+mn-lt"/>
              </a:rPr>
            </a:br>
            <a:endParaRPr lang="en-GB" sz="1600" kern="0" dirty="0" smtClean="0">
              <a:solidFill>
                <a:srgbClr val="646464"/>
              </a:solidFill>
              <a:latin typeface="+mn-lt"/>
            </a:endParaRPr>
          </a:p>
          <a:p>
            <a:pPr marL="360363" lvl="0" indent="-360363">
              <a:spcBef>
                <a:spcPts val="0"/>
              </a:spcBef>
              <a:buClr>
                <a:srgbClr val="FFD200"/>
              </a:buClr>
              <a:buSzPct val="75000"/>
              <a:buFont typeface="Arial" pitchFamily="34" charset="0"/>
              <a:buChar char="►"/>
              <a:defRPr/>
            </a:pPr>
            <a:r>
              <a:rPr lang="en-GB" sz="1600" kern="0" dirty="0" smtClean="0">
                <a:solidFill>
                  <a:srgbClr val="646464"/>
                </a:solidFill>
                <a:latin typeface="+mn-lt"/>
              </a:rPr>
              <a:t>IT Services CAB approval received on 13</a:t>
            </a:r>
            <a:r>
              <a:rPr lang="en-GB" sz="1600" kern="0" baseline="30000" dirty="0" smtClean="0">
                <a:solidFill>
                  <a:srgbClr val="646464"/>
                </a:solidFill>
                <a:latin typeface="+mn-lt"/>
              </a:rPr>
              <a:t>th</a:t>
            </a:r>
            <a:r>
              <a:rPr lang="en-GB" sz="1600" kern="0" dirty="0" smtClean="0">
                <a:solidFill>
                  <a:srgbClr val="646464"/>
                </a:solidFill>
                <a:latin typeface="+mn-lt"/>
              </a:rPr>
              <a:t> December for technical go-live is a strong indicator of ELS readiness.</a:t>
            </a:r>
          </a:p>
          <a:p>
            <a:pPr marL="360363" lvl="0" indent="-360363">
              <a:spcBef>
                <a:spcPts val="0"/>
              </a:spcBef>
              <a:buClr>
                <a:srgbClr val="FFD200"/>
              </a:buClr>
              <a:buSzPct val="75000"/>
              <a:buFont typeface="Arial" pitchFamily="34" charset="0"/>
              <a:buChar char="►"/>
              <a:defRPr/>
            </a:pPr>
            <a:endParaRPr lang="en-GB" sz="1600" kern="0" dirty="0" smtClean="0">
              <a:solidFill>
                <a:srgbClr val="646464"/>
              </a:solidFill>
              <a:latin typeface="+mn-lt"/>
            </a:endParaRPr>
          </a:p>
          <a:p>
            <a:pPr marL="360363" lvl="0" indent="-360363">
              <a:spcBef>
                <a:spcPts val="0"/>
              </a:spcBef>
              <a:buClr>
                <a:srgbClr val="FFD200"/>
              </a:buClr>
              <a:buSzPct val="75000"/>
              <a:buFont typeface="Arial" pitchFamily="34" charset="0"/>
              <a:buChar char="►"/>
              <a:defRPr/>
            </a:pPr>
            <a:endParaRPr lang="en-GB" sz="1600" kern="0" dirty="0" smtClean="0">
              <a:solidFill>
                <a:srgbClr val="646464"/>
              </a:solidFill>
              <a:latin typeface="+mn-lt"/>
            </a:endParaRPr>
          </a:p>
          <a:p>
            <a:pPr marL="360363" lvl="0" indent="-360363">
              <a:spcBef>
                <a:spcPts val="0"/>
              </a:spcBef>
              <a:buClr>
                <a:srgbClr val="FFD200"/>
              </a:buClr>
              <a:buSzPct val="75000"/>
              <a:buFont typeface="Arial" pitchFamily="34" charset="0"/>
              <a:buChar char="►"/>
              <a:defRPr/>
            </a:pPr>
            <a:endParaRPr lang="en-GB" sz="1600" kern="0" dirty="0" smtClean="0">
              <a:solidFill>
                <a:srgbClr val="646464"/>
              </a:solidFill>
              <a:latin typeface="+mn-lt"/>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 </a:t>
            </a:r>
            <a:r>
              <a:rPr lang="en-US" sz="2000" b="0" dirty="0" smtClean="0"/>
              <a:t>4. We are ready to Support the solution in Early Life </a:t>
            </a:r>
            <a:r>
              <a:rPr lang="en-US" sz="2400" b="0" dirty="0" smtClean="0"/>
              <a:t/>
            </a:r>
            <a:br>
              <a:rPr lang="en-US" sz="2400" b="0" dirty="0" smtClean="0"/>
            </a:br>
            <a:endParaRPr lang="en-GB" sz="2200" dirty="0"/>
          </a:p>
        </p:txBody>
      </p:sp>
      <p:graphicFrame>
        <p:nvGraphicFramePr>
          <p:cNvPr id="5" name="Group 88"/>
          <p:cNvGraphicFramePr>
            <a:graphicFrameLocks/>
          </p:cNvGraphicFramePr>
          <p:nvPr/>
        </p:nvGraphicFramePr>
        <p:xfrm>
          <a:off x="152400" y="1138680"/>
          <a:ext cx="8770329" cy="1947420"/>
        </p:xfrm>
        <a:graphic>
          <a:graphicData uri="http://schemas.openxmlformats.org/drawingml/2006/table">
            <a:tbl>
              <a:tblPr/>
              <a:tblGrid>
                <a:gridCol w="855784"/>
                <a:gridCol w="1676400"/>
                <a:gridCol w="1828800"/>
                <a:gridCol w="1905000"/>
                <a:gridCol w="719003"/>
                <a:gridCol w="1785342"/>
              </a:tblGrid>
              <a:tr h="582257">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US"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582257">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4. We are ready to Support the solution in Early Life </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4.2</a:t>
                      </a:r>
                      <a:r>
                        <a:rPr kumimoji="0" lang="en-GB" sz="1100" b="0" i="0" u="none" strike="noStrike" cap="none" normalizeH="0" baseline="0" dirty="0" smtClean="0">
                          <a:ln>
                            <a:noFill/>
                          </a:ln>
                          <a:solidFill>
                            <a:schemeClr val="tx1"/>
                          </a:solidFill>
                          <a:effectLst/>
                          <a:latin typeface="Univers 45 Light" pitchFamily="2" charset="0"/>
                          <a:cs typeface="Arial" charset="0"/>
                        </a:rPr>
                        <a:t>. Technical Environments are Production-Ready</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Beta Pilot pre-production environments accepted as ‘fit for purpose’.</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SP2010 environments will not </a:t>
                      </a:r>
                      <a:r>
                        <a:rPr kumimoji="0" lang="en-GB" sz="1100" b="0" i="0" u="none" strike="noStrike" cap="none" normalizeH="0" baseline="0" smtClean="0">
                          <a:ln>
                            <a:noFill/>
                          </a:ln>
                          <a:solidFill>
                            <a:schemeClr val="tx1"/>
                          </a:solidFill>
                          <a:effectLst/>
                          <a:latin typeface="Univers 45 Light" pitchFamily="2" charset="0"/>
                          <a:cs typeface="Arial" charset="0"/>
                        </a:rPr>
                        <a:t>formally transition from ISD </a:t>
                      </a:r>
                      <a:r>
                        <a:rPr kumimoji="0" lang="en-GB" sz="1100" b="0" i="0" u="none" strike="noStrike" cap="none" normalizeH="0" baseline="0" dirty="0" smtClean="0">
                          <a:ln>
                            <a:noFill/>
                          </a:ln>
                          <a:solidFill>
                            <a:schemeClr val="tx1"/>
                          </a:solidFill>
                          <a:effectLst/>
                          <a:latin typeface="Univers 45 Light" pitchFamily="2" charset="0"/>
                          <a:cs typeface="Arial" charset="0"/>
                        </a:rPr>
                        <a:t>to I&amp;O EAM Application Platforms team.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4.2.1 Confirmation from Falgun that Build deployment was successful during smoke testing.</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4.2.2 Confirmation from Nigel that for UAT is fit for UAT testing.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-Green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Final configuration sync of QA1 and UA1 is scheduled but has not yet been completed</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 </a:t>
            </a:r>
            <a:r>
              <a:rPr lang="en-US" sz="2000" b="0" dirty="0" smtClean="0"/>
              <a:t>5. Operational Risks are understood and mitigating actions taken</a:t>
            </a:r>
            <a:r>
              <a:rPr lang="en-US" sz="2400" b="0" dirty="0" smtClean="0"/>
              <a:t/>
            </a:r>
            <a:br>
              <a:rPr lang="en-US" sz="2400" b="0" dirty="0" smtClean="0"/>
            </a:br>
            <a:endParaRPr lang="en-GB" sz="2200" dirty="0"/>
          </a:p>
        </p:txBody>
      </p:sp>
      <p:graphicFrame>
        <p:nvGraphicFramePr>
          <p:cNvPr id="1576024" name="Group 88"/>
          <p:cNvGraphicFramePr>
            <a:graphicFrameLocks noGrp="1"/>
          </p:cNvGraphicFramePr>
          <p:nvPr>
            <p:ph idx="1"/>
          </p:nvPr>
        </p:nvGraphicFramePr>
        <p:xfrm>
          <a:off x="145071" y="1146276"/>
          <a:ext cx="8770329" cy="2130324"/>
        </p:xfrm>
        <a:graphic>
          <a:graphicData uri="http://schemas.openxmlformats.org/drawingml/2006/table">
            <a:tbl>
              <a:tblPr/>
              <a:tblGrid>
                <a:gridCol w="855784"/>
                <a:gridCol w="1676400"/>
                <a:gridCol w="1828800"/>
                <a:gridCol w="1905000"/>
                <a:gridCol w="719003"/>
                <a:gridCol w="1785342"/>
              </a:tblGrid>
              <a:tr h="582257">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US"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533804">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5. Operational Risks are understood and mitigating actions taken</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5.1</a:t>
                      </a:r>
                      <a:r>
                        <a:rPr kumimoji="0" lang="en-GB" sz="1100" b="0" i="0" u="none" strike="noStrike" cap="none" normalizeH="0" baseline="0" dirty="0" smtClean="0">
                          <a:ln>
                            <a:noFill/>
                          </a:ln>
                          <a:solidFill>
                            <a:schemeClr val="tx1"/>
                          </a:solidFill>
                          <a:effectLst/>
                          <a:latin typeface="Univers 45 Light" pitchFamily="2" charset="0"/>
                          <a:cs typeface="Arial" charset="0"/>
                        </a:rPr>
                        <a:t> Residual Risks Understood and Accepted by business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Open risks reviewed have mitigating actions in place and approved by business (Bob Reiner/Sherry Martin)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5.1.1 Key risks from programme risk log not closed prior to Beta Pilot deployment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-Amber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20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 See </a:t>
                      </a:r>
                      <a:r>
                        <a:rPr kumimoji="0" lang="en-GB" sz="1100" b="0" i="0" u="none" strike="noStrike" kern="1200" cap="none" normalizeH="0" baseline="0" smtClean="0">
                          <a:ln>
                            <a:noFill/>
                          </a:ln>
                          <a:solidFill>
                            <a:schemeClr val="tx1"/>
                          </a:solidFill>
                          <a:effectLst/>
                          <a:latin typeface="Univers 45 Light" pitchFamily="2" charset="0"/>
                          <a:ea typeface="+mn-ea"/>
                          <a:cs typeface="Arial" charset="0"/>
                        </a:rPr>
                        <a:t>next slide</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5.1</a:t>
            </a:r>
            <a:r>
              <a:rPr lang="en-GB" sz="2000" dirty="0" smtClean="0"/>
              <a:t> </a:t>
            </a:r>
            <a:r>
              <a:rPr lang="en-US" sz="2000" b="0" dirty="0" smtClean="0"/>
              <a:t>Residual Program Risks and Issues</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graphicFrame>
        <p:nvGraphicFramePr>
          <p:cNvPr id="6" name="Table 5"/>
          <p:cNvGraphicFramePr>
            <a:graphicFrameLocks noGrp="1"/>
          </p:cNvGraphicFramePr>
          <p:nvPr/>
        </p:nvGraphicFramePr>
        <p:xfrm>
          <a:off x="304801" y="1066800"/>
          <a:ext cx="8610600" cy="5195360"/>
        </p:xfrm>
        <a:graphic>
          <a:graphicData uri="http://schemas.openxmlformats.org/drawingml/2006/table">
            <a:tbl>
              <a:tblPr firstRow="1" bandRow="1">
                <a:tableStyleId>{5C22544A-7EE6-4342-B048-85BDC9FD1C3A}</a:tableStyleId>
              </a:tblPr>
              <a:tblGrid>
                <a:gridCol w="745148"/>
                <a:gridCol w="3808535"/>
                <a:gridCol w="4056917"/>
              </a:tblGrid>
              <a:tr h="438738">
                <a:tc>
                  <a:txBody>
                    <a:bodyPr/>
                    <a:lstStyle/>
                    <a:p>
                      <a:r>
                        <a:rPr lang="en-GB" sz="1200" dirty="0" smtClean="0"/>
                        <a:t>RAID ID</a:t>
                      </a:r>
                      <a:endParaRPr lang="en-GB" sz="1200" dirty="0"/>
                    </a:p>
                  </a:txBody>
                  <a:tcPr/>
                </a:tc>
                <a:tc>
                  <a:txBody>
                    <a:bodyPr/>
                    <a:lstStyle/>
                    <a:p>
                      <a:r>
                        <a:rPr lang="en-GB" sz="1200" dirty="0" smtClean="0"/>
                        <a:t>Description</a:t>
                      </a:r>
                      <a:endParaRPr lang="en-GB" sz="1200" dirty="0"/>
                    </a:p>
                  </a:txBody>
                  <a:tcPr/>
                </a:tc>
                <a:tc>
                  <a:txBody>
                    <a:bodyPr/>
                    <a:lstStyle/>
                    <a:p>
                      <a:r>
                        <a:rPr lang="en-GB" sz="1200" dirty="0" smtClean="0"/>
                        <a:t>Mitigation</a:t>
                      </a:r>
                      <a:endParaRPr lang="en-GB" sz="1200" dirty="0"/>
                    </a:p>
                  </a:txBody>
                  <a:tcPr/>
                </a:tc>
              </a:tr>
              <a:tr h="1667203">
                <a:tc>
                  <a:txBody>
                    <a:bodyPr/>
                    <a:lstStyle/>
                    <a:p>
                      <a:r>
                        <a:rPr lang="en-GB" sz="1200" dirty="0" smtClean="0"/>
                        <a:t>R369</a:t>
                      </a:r>
                      <a:endParaRPr lang="en-GB" sz="1200" dirty="0"/>
                    </a:p>
                  </a:txBody>
                  <a:tcPr/>
                </a:tc>
                <a:tc>
                  <a:txBody>
                    <a:bodyPr/>
                    <a:lstStyle/>
                    <a:p>
                      <a:pPr rtl="0"/>
                      <a:r>
                        <a:rPr lang="en-GB" sz="1200" kern="1200" baseline="0" dirty="0" smtClean="0">
                          <a:solidFill>
                            <a:schemeClr val="dk1"/>
                          </a:solidFill>
                          <a:latin typeface="+mn-lt"/>
                          <a:ea typeface="+mn-ea"/>
                          <a:cs typeface="+mn-cs"/>
                        </a:rPr>
                        <a:t>Temporary VPN cutover to permanent network link planned over a 4 week period following Batch 1 deployment (planned completion mid-Jan). This may cause an interruption to service, impacting Batch 2 deployment and/or the user experience of Beta Pilot</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Dublin &amp; Amsterdam cutover will occur on 9</a:t>
                      </a:r>
                      <a:r>
                        <a:rPr lang="en-GB" sz="1200" baseline="30000" dirty="0" smtClean="0"/>
                        <a:t>th</a:t>
                      </a:r>
                      <a:r>
                        <a:rPr lang="en-GB" sz="1200" baseline="0" dirty="0" smtClean="0"/>
                        <a:t>-10</a:t>
                      </a:r>
                      <a:r>
                        <a:rPr lang="en-GB" sz="1200" baseline="30000" dirty="0" smtClean="0"/>
                        <a:t>th</a:t>
                      </a:r>
                      <a:r>
                        <a:rPr lang="en-GB" sz="1200" baseline="0" dirty="0" smtClean="0"/>
                        <a:t> January. O365 SharePoint Beta Pilot access will be intermittently impacted during the network cutover starting at 9am GMT on 9</a:t>
                      </a:r>
                      <a:r>
                        <a:rPr lang="en-GB" sz="1200" baseline="30000" dirty="0" smtClean="0"/>
                        <a:t>th</a:t>
                      </a:r>
                      <a:r>
                        <a:rPr lang="en-GB" sz="1200" baseline="0" dirty="0" smtClean="0"/>
                        <a:t> January.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Chicago primary and secondary links went live 12-Dec 2012.</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San Antonio primary link went live on 12-Dec 2012.</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San Antonio secondary link cutover due end of Feb 2013.</a:t>
                      </a:r>
                    </a:p>
                  </a:txBody>
                  <a:tcPr/>
                </a:tc>
              </a:tr>
              <a:tr h="1842698">
                <a:tc>
                  <a:txBody>
                    <a:bodyPr/>
                    <a:lstStyle/>
                    <a:p>
                      <a:r>
                        <a:rPr lang="en-GB" sz="1200" dirty="0" smtClean="0"/>
                        <a:t>I240</a:t>
                      </a:r>
                      <a:endParaRPr lang="en-GB" sz="1200" dirty="0"/>
                    </a:p>
                  </a:txBody>
                  <a:tcPr/>
                </a:tc>
                <a:tc>
                  <a:txBody>
                    <a:bodyPr/>
                    <a:lstStyle/>
                    <a:p>
                      <a:pPr rtl="0"/>
                      <a:r>
                        <a:rPr lang="en-US" sz="1200" kern="1200" baseline="0" dirty="0" smtClean="0">
                          <a:solidFill>
                            <a:schemeClr val="dk1"/>
                          </a:solidFill>
                          <a:latin typeface="+mn-lt"/>
                          <a:ea typeface="+mn-ea"/>
                          <a:cs typeface="+mn-cs"/>
                        </a:rPr>
                        <a:t>For BP Batch 1 the test team were heavily involved in the PPE and Prod verification testing.</a:t>
                      </a:r>
                    </a:p>
                    <a:p>
                      <a:pPr rtl="0"/>
                      <a:endParaRPr lang="en-US" sz="1200" kern="1200" baseline="0" dirty="0" smtClean="0">
                        <a:solidFill>
                          <a:schemeClr val="dk1"/>
                        </a:solidFill>
                        <a:latin typeface="+mn-lt"/>
                        <a:ea typeface="+mn-ea"/>
                        <a:cs typeface="+mn-cs"/>
                      </a:endParaRPr>
                    </a:p>
                    <a:p>
                      <a:pPr rtl="0"/>
                      <a:r>
                        <a:rPr lang="en-US" sz="1200" kern="1200" baseline="0" dirty="0" smtClean="0">
                          <a:solidFill>
                            <a:schemeClr val="dk1"/>
                          </a:solidFill>
                          <a:latin typeface="+mn-lt"/>
                          <a:ea typeface="+mn-ea"/>
                          <a:cs typeface="+mn-cs"/>
                        </a:rPr>
                        <a:t>For BP Batch 2 verifications the test team will be in the middle of the R1 system test and very little, if any, test team resource will be available to assist with the verification activities. </a:t>
                      </a:r>
                    </a:p>
                    <a:p>
                      <a:pPr rtl="0"/>
                      <a:endParaRPr lang="en-US" sz="1200" kern="1200" baseline="0" dirty="0" smtClean="0">
                        <a:solidFill>
                          <a:schemeClr val="dk1"/>
                        </a:solidFill>
                        <a:latin typeface="+mn-lt"/>
                        <a:ea typeface="+mn-ea"/>
                        <a:cs typeface="+mn-cs"/>
                      </a:endParaRPr>
                    </a:p>
                    <a:p>
                      <a:pPr rtl="0"/>
                      <a:r>
                        <a:rPr lang="en-US" sz="1200" kern="1200" baseline="0" dirty="0" smtClean="0">
                          <a:solidFill>
                            <a:schemeClr val="dk1"/>
                          </a:solidFill>
                          <a:latin typeface="+mn-lt"/>
                          <a:ea typeface="+mn-ea"/>
                          <a:cs typeface="+mn-cs"/>
                        </a:rPr>
                        <a:t>As such we need to identify other resources who can help with this.</a:t>
                      </a:r>
                      <a:endParaRPr lang="en-GB" sz="1200" kern="1200" baseline="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aseline="0" dirty="0" smtClean="0"/>
                        <a:t>Agreement to be sought from the business team, for their support during PPE validation</a:t>
                      </a:r>
                      <a:endParaRPr lang="en-GB" sz="1200" baseline="0" dirty="0" smtClean="0"/>
                    </a:p>
                  </a:txBody>
                  <a:tcPr/>
                </a:tc>
              </a:tr>
              <a:tr h="1080560">
                <a:tc>
                  <a:txBody>
                    <a:bodyPr/>
                    <a:lstStyle/>
                    <a:p>
                      <a:r>
                        <a:rPr lang="en-GB" sz="1200" dirty="0" smtClean="0"/>
                        <a:t>I245</a:t>
                      </a:r>
                      <a:endParaRPr lang="en-GB" sz="1200" dirty="0"/>
                    </a:p>
                  </a:txBody>
                  <a:tcPr/>
                </a:tc>
                <a:tc>
                  <a:txBody>
                    <a:bodyPr/>
                    <a:lstStyle/>
                    <a:p>
                      <a:pPr rtl="0"/>
                      <a:r>
                        <a:rPr lang="en-GB" sz="1200" kern="1200" baseline="0" dirty="0" smtClean="0">
                          <a:solidFill>
                            <a:schemeClr val="dk1"/>
                          </a:solidFill>
                          <a:latin typeface="+mn-lt"/>
                          <a:ea typeface="+mn-ea"/>
                          <a:cs typeface="+mn-cs"/>
                        </a:rPr>
                        <a:t>No defined, agreed and signed off Security Incident process model for SharePoint Beta Pilot. </a:t>
                      </a:r>
                      <a:r>
                        <a:rPr lang="en-GB" sz="1200" baseline="0" dirty="0" smtClean="0"/>
                        <a:t>The gap is specific to how Microsoft will inform and manage security incidents they are aware of through to EY.</a:t>
                      </a:r>
                      <a:endParaRPr lang="en-GB" sz="1200" kern="1200" baseline="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Scott Strange, Richard Brown, Matt Calloway are working to close out this issue. It will not prevent early life support readiness from the EY operational teams.</a:t>
                      </a:r>
                    </a:p>
                  </a:txBody>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 </a:t>
            </a:r>
            <a:r>
              <a:rPr lang="en-GB" sz="2400" b="0" dirty="0" smtClean="0"/>
              <a:t>Deliverable Owners on Program</a:t>
            </a:r>
            <a:endParaRPr lang="en-GB" sz="2200" dirty="0"/>
          </a:p>
        </p:txBody>
      </p:sp>
      <p:graphicFrame>
        <p:nvGraphicFramePr>
          <p:cNvPr id="1576024" name="Group 88"/>
          <p:cNvGraphicFramePr>
            <a:graphicFrameLocks noGrp="1"/>
          </p:cNvGraphicFramePr>
          <p:nvPr>
            <p:ph idx="1"/>
          </p:nvPr>
        </p:nvGraphicFramePr>
        <p:xfrm>
          <a:off x="238124" y="685800"/>
          <a:ext cx="8448675" cy="5507880"/>
        </p:xfrm>
        <a:graphic>
          <a:graphicData uri="http://schemas.openxmlformats.org/drawingml/2006/table">
            <a:tbl>
              <a:tblPr/>
              <a:tblGrid>
                <a:gridCol w="1109966"/>
                <a:gridCol w="4747910"/>
                <a:gridCol w="1219200"/>
                <a:gridCol w="1371599"/>
              </a:tblGrid>
              <a:tr h="266700">
                <a:tc>
                  <a:txBody>
                    <a:bodyPr/>
                    <a:lstStyle/>
                    <a:p>
                      <a:pPr marL="0" marR="0" lvl="0" indent="0"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400" b="0" i="0" u="none" strike="noStrike" cap="none" normalizeH="0" baseline="0" dirty="0" smtClean="0">
                          <a:ln>
                            <a:noFill/>
                          </a:ln>
                          <a:solidFill>
                            <a:schemeClr val="bg1"/>
                          </a:solidFill>
                          <a:effectLst/>
                          <a:latin typeface="Univers 45 Light" pitchFamily="2" charset="0"/>
                          <a:cs typeface="Arial" charset="0"/>
                        </a:rPr>
                        <a:t>GNG Criteria (Level 1)</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400" b="0" i="0" u="none" strike="noStrike" cap="none" normalizeH="0" baseline="0" dirty="0" smtClean="0">
                          <a:ln>
                            <a:noFill/>
                          </a:ln>
                          <a:solidFill>
                            <a:schemeClr val="bg1"/>
                          </a:solidFill>
                          <a:effectLst/>
                          <a:latin typeface="Univers 45 Light" pitchFamily="2" charset="0"/>
                          <a:cs typeface="Arial" charset="0"/>
                        </a:rPr>
                        <a:t>Decision Support Material (Deliverables)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Owner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400" b="0" i="0" u="none" strike="noStrike" cap="none" normalizeH="0" baseline="0" dirty="0" smtClean="0">
                          <a:ln>
                            <a:noFill/>
                          </a:ln>
                          <a:solidFill>
                            <a:schemeClr val="bg1"/>
                          </a:solidFill>
                          <a:effectLst/>
                          <a:latin typeface="Univers 45 Light" pitchFamily="2" charset="0"/>
                          <a:cs typeface="Arial" charset="0"/>
                        </a:rPr>
                        <a:t>Deliverable Link</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242397">
                <a:tc rowSpan="5">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rPr>
                        <a:t>Solution is Ready</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1.1.1 UAT Completion Report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Martin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2"/>
                        </a:rPr>
                        <a:t>Closure report</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667">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1.2.1 Final Defect Report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Nigel Rawson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000" b="0" i="0" u="none" strike="noStrike" cap="none" normalizeH="0" baseline="0" smtClean="0">
                          <a:ln>
                            <a:noFill/>
                          </a:ln>
                          <a:solidFill>
                            <a:schemeClr val="tx1"/>
                          </a:solidFill>
                          <a:effectLst/>
                          <a:latin typeface="Univers 45 Light" pitchFamily="2" charset="0"/>
                          <a:cs typeface="Arial" charset="0"/>
                          <a:hlinkClick r:id="rId3"/>
                        </a:rPr>
                        <a:t>Test Report</a:t>
                      </a:r>
                      <a:endParaRPr kumimoji="0" lang="en-GB" sz="1000" b="0" i="0" u="none" strike="noStrike" cap="none" normalizeH="0" baseline="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837">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1.2.2 Test Reports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Nigel Rawson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3"/>
                        </a:rPr>
                        <a:t>Test Report</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1632">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1.2.3 Agreed Workaround log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Martin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2"/>
                        </a:rPr>
                        <a:t>Closure report</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60427">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1.3.1 Approved Performance Testing dispensation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Nigel Rawson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4"/>
                        </a:rPr>
                        <a:t>Request and Approval</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1122">
                <a:tc rowSpan="4">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Organisation is Ready</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2.1.1 Business readiness assessment outcome/exception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Martin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rPr>
                        <a:t>N/A – see slide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0392">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2.1.2 Learning content complete and eLearning portal operational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err="1" smtClean="0">
                          <a:ln>
                            <a:noFill/>
                          </a:ln>
                          <a:solidFill>
                            <a:schemeClr val="tx1"/>
                          </a:solidFill>
                          <a:effectLst/>
                          <a:latin typeface="Univers 45 Light" pitchFamily="2" charset="0"/>
                          <a:cs typeface="Arial" charset="0"/>
                        </a:rPr>
                        <a:t>Maritn</a:t>
                      </a:r>
                      <a:r>
                        <a:rPr kumimoji="0" lang="en-GB" sz="1100" b="0" i="0" u="none" strike="noStrike" cap="none" normalizeH="0" baseline="0" dirty="0" smtClean="0">
                          <a:ln>
                            <a:noFill/>
                          </a:ln>
                          <a:solidFill>
                            <a:schemeClr val="tx1"/>
                          </a:solidFill>
                          <a:effectLst/>
                          <a:latin typeface="Univers 45 Light" pitchFamily="2" charset="0"/>
                          <a:cs typeface="Arial" charset="0"/>
                        </a:rPr>
                        <a:t>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5"/>
                        </a:rPr>
                        <a:t>Landing page</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9662">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2.2.1 Training Records to demonstrate trained Support user base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rPr>
                        <a:t>N/A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9662">
                <a:tc vMerge="1">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2.2.2 OAT Support Readiness checklist results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lang="en-GB" sz="1000" kern="1200" baseline="0" dirty="0" smtClean="0">
                          <a:solidFill>
                            <a:schemeClr val="tx1"/>
                          </a:solidFill>
                          <a:latin typeface="Univers 45 Light"/>
                          <a:ea typeface="+mn-ea"/>
                          <a:cs typeface="+mn-cs"/>
                          <a:hlinkClick r:id="rId6"/>
                        </a:rPr>
                        <a:t>Operational Acceptance Criteria</a:t>
                      </a:r>
                      <a:endParaRPr kumimoji="0" lang="en-GB" sz="1000" b="0" i="0" u="none" strike="noStrike" cap="none" normalizeH="0" baseline="0" dirty="0" smtClean="0">
                        <a:ln>
                          <a:noFill/>
                        </a:ln>
                        <a:solidFill>
                          <a:schemeClr val="tx1"/>
                        </a:solidFill>
                        <a:effectLst/>
                        <a:latin typeface="Univers 45 Light"/>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16607">
                <a:tc>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rPr>
                        <a:t>Ready to Deploy</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3.1.1 Documented and participant-reviewed deployment plans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3.1.2 Deployment resources confirmed for participation in deployment process by team leads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3.1.3 Documented ‘Hand-over to Service’ criteria</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3.1.4  Completion reports from CVS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Cynthia </a:t>
                      </a:r>
                      <a:r>
                        <a:rPr kumimoji="0" lang="en-GB" sz="1100" b="0" i="0" u="none" strike="noStrike" cap="none" normalizeH="0" baseline="0" dirty="0" err="1" smtClean="0">
                          <a:ln>
                            <a:noFill/>
                          </a:ln>
                          <a:solidFill>
                            <a:schemeClr val="tx1"/>
                          </a:solidFill>
                          <a:effectLst/>
                          <a:latin typeface="Univers 45 Light" pitchFamily="2" charset="0"/>
                          <a:cs typeface="Arial" charset="0"/>
                        </a:rPr>
                        <a:t>Markland</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lang="en-GB" sz="1000" kern="1200" baseline="0" dirty="0" smtClean="0">
                          <a:solidFill>
                            <a:schemeClr val="tx1"/>
                          </a:solidFill>
                          <a:latin typeface="Univers 45 Light"/>
                          <a:ea typeface="+mn-ea"/>
                          <a:cs typeface="+mn-cs"/>
                          <a:hlinkClick r:id="rId7"/>
                        </a:rPr>
                        <a:t>Deployment L3 Plan</a:t>
                      </a:r>
                      <a:endParaRPr lang="en-GB" sz="1000" kern="1200" baseline="0" dirty="0" smtClean="0">
                        <a:solidFill>
                          <a:schemeClr val="tx1"/>
                        </a:solidFill>
                        <a:latin typeface="Univers 45 Light"/>
                        <a:ea typeface="+mn-ea"/>
                        <a:cs typeface="+mn-cs"/>
                      </a:endParaRP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US" sz="1000" b="0" i="0" u="none" strike="noStrike" kern="1200" cap="none" normalizeH="0" baseline="0" dirty="0" smtClean="0">
                          <a:ln>
                            <a:noFill/>
                          </a:ln>
                          <a:solidFill>
                            <a:schemeClr val="tx1"/>
                          </a:solidFill>
                          <a:effectLst/>
                          <a:latin typeface="Univers 45 Light" pitchFamily="2" charset="0"/>
                          <a:ea typeface="+mn-ea"/>
                          <a:cs typeface="Arial" charset="0"/>
                          <a:hlinkClick r:id="rId8"/>
                        </a:rPr>
                        <a:t>Collaboration CVS final documentation</a:t>
                      </a:r>
                      <a:endParaRPr kumimoji="0" lang="en-GB" sz="1000" b="0" i="0" u="none" strike="noStrike" kern="1200" cap="none" normalizeH="0" baseline="0" dirty="0" smtClean="0">
                        <a:ln>
                          <a:noFill/>
                        </a:ln>
                        <a:solidFill>
                          <a:schemeClr val="tx1"/>
                        </a:solidFill>
                        <a:effectLst/>
                        <a:latin typeface="Univers 45 Light" pitchFamily="2" charset="0"/>
                        <a:ea typeface="+mn-ea"/>
                        <a:cs typeface="Arial" charset="0"/>
                      </a:endParaRP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rowSpan="2">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Ready to Support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4.1.1 Documented Beta Pilot Support Model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lang="en-GB" sz="1000" kern="1200" baseline="0" dirty="0" smtClean="0">
                          <a:solidFill>
                            <a:schemeClr val="tx1"/>
                          </a:solidFill>
                          <a:latin typeface="Univers 45 Light"/>
                          <a:ea typeface="+mn-ea"/>
                          <a:cs typeface="+mn-cs"/>
                          <a:hlinkClick r:id="rId9"/>
                        </a:rPr>
                        <a:t>Support Model</a:t>
                      </a:r>
                      <a:endParaRPr lang="en-GB" sz="1000" kern="1200" baseline="0" dirty="0" smtClean="0">
                        <a:solidFill>
                          <a:schemeClr val="tx1"/>
                        </a:solidFill>
                        <a:latin typeface="Univers 45 Light"/>
                        <a:ea typeface="+mn-ea"/>
                        <a:cs typeface="+mn-cs"/>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vMerge="1">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4.2.1 Confirmation from I&amp;O production support environments handed over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Joshua Jackson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Operational Risks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5.1.1 Key risks from programme risk log not closed prior to Beta Pilot deployment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Andy </a:t>
                      </a:r>
                      <a:r>
                        <a:rPr kumimoji="0" lang="en-GB" sz="1100" b="0" i="0" u="none" strike="noStrike" cap="none" normalizeH="0" baseline="0" dirty="0" err="1" smtClean="0">
                          <a:ln>
                            <a:noFill/>
                          </a:ln>
                          <a:solidFill>
                            <a:schemeClr val="tx1"/>
                          </a:solidFill>
                          <a:effectLst/>
                          <a:latin typeface="Univers 45 Light" pitchFamily="2" charset="0"/>
                          <a:cs typeface="Arial" charset="0"/>
                        </a:rPr>
                        <a:t>Ioannou</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10"/>
                        </a:rPr>
                        <a:t>Risk 369</a:t>
                      </a:r>
                      <a:r>
                        <a:rPr kumimoji="0" lang="en-GB" sz="1000" b="0" i="0" u="none" strike="noStrike" cap="none" normalizeH="0" baseline="0" dirty="0" smtClean="0">
                          <a:ln>
                            <a:noFill/>
                          </a:ln>
                          <a:solidFill>
                            <a:schemeClr val="tx1"/>
                          </a:solidFill>
                          <a:effectLst/>
                          <a:latin typeface="Univers 45 Light" pitchFamily="2" charset="0"/>
                          <a:cs typeface="Arial" charset="0"/>
                        </a:rPr>
                        <a:t>,, </a:t>
                      </a:r>
                      <a:r>
                        <a:rPr kumimoji="0" lang="en-GB" sz="1000" b="0" i="0" u="none" strike="noStrike" cap="none" normalizeH="0" baseline="0" dirty="0" smtClean="0">
                          <a:ln>
                            <a:noFill/>
                          </a:ln>
                          <a:solidFill>
                            <a:schemeClr val="tx1"/>
                          </a:solidFill>
                          <a:effectLst/>
                          <a:latin typeface="Univers 45 Light" pitchFamily="2" charset="0"/>
                          <a:cs typeface="Arial" charset="0"/>
                          <a:hlinkClick r:id="rId11"/>
                        </a:rPr>
                        <a:t>Issue 240</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rowSpan="3">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rPr>
                        <a:t>Compliance Requirements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6.1.1/6.2.1 Requirements documentation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Nicola Cooper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12"/>
                        </a:rPr>
                        <a:t>Requirements</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6.2.2 DA Approval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Nicola Cooper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13"/>
                        </a:rPr>
                        <a:t>Design</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vMerge="1">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6.2.3 Security Certification Testing Exception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Nicola Cooper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14"/>
                        </a:rPr>
                        <a:t>Security Testing</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2895600"/>
            <a:ext cx="7772400" cy="2873375"/>
          </a:xfrm>
        </p:spPr>
        <p:txBody>
          <a:bodyPr/>
          <a:lstStyle/>
          <a:p>
            <a:pPr algn="ctr"/>
            <a:r>
              <a:rPr lang="en-GB" smtClean="0"/>
              <a:t>Questions</a:t>
            </a:r>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746" name="Rectangle 2"/>
          <p:cNvSpPr>
            <a:spLocks noGrp="1" noChangeArrowheads="1"/>
          </p:cNvSpPr>
          <p:nvPr>
            <p:ph type="title"/>
          </p:nvPr>
        </p:nvSpPr>
        <p:spPr>
          <a:xfrm>
            <a:off x="323851" y="230189"/>
            <a:ext cx="7829550" cy="930275"/>
          </a:xfrm>
        </p:spPr>
        <p:txBody>
          <a:bodyPr/>
          <a:lstStyle/>
          <a:p>
            <a:r>
              <a:rPr lang="en-GB" sz="2000" b="1" dirty="0" smtClean="0"/>
              <a:t>GNG Criteria</a:t>
            </a:r>
            <a:r>
              <a:rPr lang="en-GB" sz="2000" dirty="0" smtClean="0"/>
              <a:t>: </a:t>
            </a:r>
            <a:r>
              <a:rPr lang="en-GB" sz="2000" b="0" dirty="0" smtClean="0"/>
              <a:t>1. The solution (system, process and data) is ready</a:t>
            </a:r>
            <a:endParaRPr lang="en-GB" sz="2000" b="0" dirty="0"/>
          </a:p>
        </p:txBody>
      </p:sp>
      <p:graphicFrame>
        <p:nvGraphicFramePr>
          <p:cNvPr id="1567849" name="Group 105"/>
          <p:cNvGraphicFramePr>
            <a:graphicFrameLocks noGrp="1"/>
          </p:cNvGraphicFramePr>
          <p:nvPr>
            <p:ph idx="1"/>
          </p:nvPr>
        </p:nvGraphicFramePr>
        <p:xfrm>
          <a:off x="120161" y="746567"/>
          <a:ext cx="8692660" cy="2366520"/>
        </p:xfrm>
        <a:graphic>
          <a:graphicData uri="http://schemas.openxmlformats.org/drawingml/2006/table">
            <a:tbl>
              <a:tblPr/>
              <a:tblGrid>
                <a:gridCol w="511234"/>
                <a:gridCol w="968805"/>
                <a:gridCol w="2133600"/>
                <a:gridCol w="2590800"/>
                <a:gridCol w="838200"/>
                <a:gridCol w="1650021"/>
              </a:tblGrid>
              <a:tr h="582783">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M&amp;C GNG Program Forum and FSG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 (supplied by program leads)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565460">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a:t>
                      </a:r>
                      <a:r>
                        <a:rPr kumimoji="0" lang="en-GB" sz="1100" b="0" i="0" u="none" strike="noStrike" cap="none" normalizeH="0" baseline="0" dirty="0" smtClean="0">
                          <a:ln>
                            <a:noFill/>
                          </a:ln>
                          <a:solidFill>
                            <a:schemeClr val="tx1"/>
                          </a:solidFill>
                          <a:effectLst/>
                          <a:latin typeface="Univers 45 Light" pitchFamily="2" charset="0"/>
                          <a:cs typeface="Arial" charset="0"/>
                        </a:rPr>
                        <a:t>. The Solution (system, process and data) is ready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1.1</a:t>
                      </a:r>
                      <a:r>
                        <a:rPr kumimoji="0" lang="en-GB" sz="1100" b="0" i="0" u="none" strike="noStrike" cap="none" normalizeH="0" baseline="0" dirty="0" smtClean="0">
                          <a:ln>
                            <a:noFill/>
                          </a:ln>
                          <a:solidFill>
                            <a:schemeClr val="tx1"/>
                          </a:solidFill>
                          <a:effectLst/>
                          <a:latin typeface="Univers 45 Light" pitchFamily="2" charset="0"/>
                          <a:cs typeface="Arial" charset="0"/>
                        </a:rPr>
                        <a:t> The users have proven that the solution (system &amp; data) meets the business requirements for Beta Pilot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Sign off of UAT to confirm business requirements have been met (Sherry Martin)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1.1.1 UAT Completion Report, including execution and defect metrics, showing:</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Execution rates</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Number of defects found, fixed, open by criticality, root cause and </a:t>
                      </a:r>
                      <a:r>
                        <a:rPr kumimoji="0" lang="en-GB" sz="1100" b="0" i="0" u="none" strike="noStrike" cap="none" normalizeH="0" baseline="0" dirty="0" err="1" smtClean="0">
                          <a:ln>
                            <a:noFill/>
                          </a:ln>
                          <a:solidFill>
                            <a:schemeClr val="tx1"/>
                          </a:solidFill>
                          <a:effectLst/>
                          <a:latin typeface="Univers 45 Light" pitchFamily="2" charset="0"/>
                          <a:cs typeface="Arial" charset="0"/>
                        </a:rPr>
                        <a:t>workstream</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Complete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 UAT Testing successfully conducted. Please see exit criteria and business recommendation of the next slides. </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457200" y="1667244"/>
          <a:ext cx="8220074" cy="3027680"/>
        </p:xfrm>
        <a:graphic>
          <a:graphicData uri="http://schemas.openxmlformats.org/drawingml/2006/table">
            <a:tbl>
              <a:tblPr firstRow="1" bandRow="1">
                <a:tableStyleId>{F2DE63D5-997A-4646-A377-4702673A728D}</a:tableStyleId>
              </a:tblPr>
              <a:tblGrid>
                <a:gridCol w="6748818"/>
                <a:gridCol w="1471256"/>
              </a:tblGrid>
              <a:tr h="370840">
                <a:tc>
                  <a:txBody>
                    <a:bodyPr/>
                    <a:lstStyle/>
                    <a:p>
                      <a:r>
                        <a:rPr lang="en-US" sz="1800" noProof="0" dirty="0" smtClean="0">
                          <a:solidFill>
                            <a:schemeClr val="bg1"/>
                          </a:solidFill>
                        </a:rPr>
                        <a:t>Exit Criteria:</a:t>
                      </a:r>
                      <a:endParaRPr lang="en-US" sz="1800" b="1" noProof="0" dirty="0" smtClean="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1800" noProof="0" dirty="0" smtClean="0">
                          <a:solidFill>
                            <a:schemeClr val="bg1"/>
                          </a:solidFill>
                        </a:rPr>
                        <a:t>Status</a:t>
                      </a:r>
                      <a:endParaRPr lang="en-US" sz="1800" b="1" noProof="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GB" sz="1400" dirty="0" smtClean="0"/>
                        <a:t>All UAT test cases successfully executed unless agreed by relevant stakeholders as not required</a:t>
                      </a:r>
                      <a:endParaRPr lang="en-GB" sz="1400" dirty="0" smtClean="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smtClean="0"/>
                        <a:t>GREEN</a:t>
                      </a:r>
                      <a:endParaRPr lang="en-US" sz="14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GB" sz="1400" dirty="0" smtClean="0"/>
                        <a:t>No Critical  (Severity 1) or High (Severity 2) severity defects</a:t>
                      </a:r>
                      <a:r>
                        <a:rPr lang="en-GB" sz="1400" baseline="0" dirty="0" smtClean="0"/>
                        <a:t> or a significant concentration of medium issues </a:t>
                      </a:r>
                      <a:r>
                        <a:rPr lang="en-GB" sz="1400" dirty="0" smtClean="0"/>
                        <a:t>outstanding unless agreed with relevant stakeholders</a:t>
                      </a:r>
                      <a:endParaRPr lang="en-GB" sz="1400" dirty="0" smtClean="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smtClean="0"/>
                        <a:t>GREEN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GB" sz="1400" dirty="0" smtClean="0"/>
                        <a:t>Resolution/workaround of any outstanding defects agreed with all relevant parties along with clear plan of action and ownership</a:t>
                      </a:r>
                      <a:endParaRPr lang="en-GB" sz="1400" dirty="0" smtClean="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smtClean="0"/>
                        <a:t>AMBER*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GB" sz="1400" dirty="0" smtClean="0"/>
                        <a:t>UAT test cases &amp; test results uploaded to the ALM tool for future reference</a:t>
                      </a:r>
                      <a:endParaRPr lang="en-GB" sz="1400" dirty="0" smtClean="0">
                        <a:solidFill>
                          <a:srgbClr val="FF0000"/>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smtClean="0"/>
                        <a:t>GREEN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GB" sz="1400" dirty="0" smtClean="0"/>
                        <a:t>The approved UAT Test Summary Report is in place.</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GB" sz="1400" dirty="0" smtClean="0">
                        <a:solidFill>
                          <a:srgbClr val="FF0000"/>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smtClean="0"/>
                        <a:t>GREEN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bl>
          </a:graphicData>
        </a:graphic>
      </p:graphicFrame>
      <p:sp>
        <p:nvSpPr>
          <p:cNvPr id="4" name="Content Placeholder 2"/>
          <p:cNvSpPr>
            <a:spLocks noGrp="1"/>
          </p:cNvSpPr>
          <p:nvPr>
            <p:ph idx="1"/>
          </p:nvPr>
        </p:nvSpPr>
        <p:spPr>
          <a:xfrm>
            <a:off x="457200" y="4773237"/>
            <a:ext cx="8220075" cy="1932363"/>
          </a:xfrm>
        </p:spPr>
        <p:txBody>
          <a:bodyPr/>
          <a:lstStyle/>
          <a:p>
            <a:pPr>
              <a:buNone/>
              <a:defRPr/>
            </a:pPr>
            <a:r>
              <a:rPr lang="en-US" sz="1800" dirty="0" smtClean="0">
                <a:solidFill>
                  <a:schemeClr val="tx1">
                    <a:lumMod val="75000"/>
                  </a:schemeClr>
                </a:solidFill>
              </a:rPr>
              <a:t>*Details on Amber status: </a:t>
            </a:r>
            <a:endParaRPr lang="en-US" sz="2600" dirty="0" smtClean="0">
              <a:solidFill>
                <a:schemeClr val="tx1">
                  <a:lumMod val="75000"/>
                </a:schemeClr>
              </a:solidFill>
            </a:endParaRPr>
          </a:p>
          <a:p>
            <a:pPr lvl="1">
              <a:defRPr/>
            </a:pPr>
            <a:r>
              <a:rPr lang="en-US" sz="1800" b="0" dirty="0" smtClean="0">
                <a:solidFill>
                  <a:schemeClr val="tx1">
                    <a:lumMod val="75000"/>
                  </a:schemeClr>
                </a:solidFill>
              </a:rPr>
              <a:t>There is not yet an action plan in place or agreed for remediation of the defects raised during EAX UAT, therefore the status remains amber until this has been resolved. </a:t>
            </a:r>
            <a:endParaRPr lang="en-US" sz="2000" dirty="0" smtClean="0">
              <a:solidFill>
                <a:schemeClr val="tx1">
                  <a:lumMod val="75000"/>
                </a:schemeClr>
              </a:solidFill>
            </a:endParaRPr>
          </a:p>
          <a:p>
            <a:pPr lvl="2">
              <a:buNone/>
              <a:defRPr/>
            </a:pPr>
            <a:endParaRPr lang="en-US" sz="2000" dirty="0" smtClean="0">
              <a:solidFill>
                <a:schemeClr val="tx1">
                  <a:lumMod val="75000"/>
                </a:schemeClr>
              </a:solidFill>
            </a:endParaRPr>
          </a:p>
        </p:txBody>
      </p:sp>
      <p:sp>
        <p:nvSpPr>
          <p:cNvPr id="5" name="Content Placeholder 2"/>
          <p:cNvSpPr txBox="1">
            <a:spLocks/>
          </p:cNvSpPr>
          <p:nvPr/>
        </p:nvSpPr>
        <p:spPr bwMode="auto">
          <a:xfrm>
            <a:off x="457200" y="1143000"/>
            <a:ext cx="8305800" cy="4572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charset="0"/>
              <a:buNone/>
              <a:tabLst/>
              <a:defRPr/>
            </a:pPr>
            <a:r>
              <a:rPr kumimoji="0" lang="en-US" sz="1800" b="1" i="0" u="none" strike="noStrike" kern="0" cap="none" spc="0" normalizeH="0" baseline="0" noProof="0" dirty="0" smtClean="0">
                <a:ln>
                  <a:noFill/>
                </a:ln>
                <a:solidFill>
                  <a:schemeClr val="tx1">
                    <a:lumMod val="75000"/>
                  </a:schemeClr>
                </a:solidFill>
                <a:effectLst/>
                <a:uLnTx/>
                <a:uFillTx/>
                <a:latin typeface="+mn-lt"/>
                <a:ea typeface="+mn-ea"/>
                <a:cs typeface="+mn-cs"/>
              </a:rPr>
              <a:t>UAT Exit status</a:t>
            </a:r>
            <a:endParaRPr kumimoji="0" lang="en-US" sz="2000" b="1" i="0" u="none" strike="noStrike" kern="0" cap="none" spc="0" normalizeH="0" baseline="0" noProof="0" dirty="0" smtClean="0">
              <a:ln>
                <a:noFill/>
              </a:ln>
              <a:solidFill>
                <a:schemeClr val="tx1">
                  <a:lumMod val="75000"/>
                </a:schemeClr>
              </a:solidFill>
              <a:effectLst/>
              <a:uLnTx/>
              <a:uFillTx/>
              <a:latin typeface="+mn-lt"/>
            </a:endParaRPr>
          </a:p>
        </p:txBody>
      </p:sp>
      <p:sp>
        <p:nvSpPr>
          <p:cNvPr id="10" name="Rectangle 2"/>
          <p:cNvSpPr>
            <a:spLocks noGrp="1" noChangeArrowheads="1"/>
          </p:cNvSpPr>
          <p:nvPr>
            <p:ph type="title"/>
          </p:nvPr>
        </p:nvSpPr>
        <p:spPr>
          <a:xfrm>
            <a:off x="476250" y="230189"/>
            <a:ext cx="7829550" cy="930275"/>
          </a:xfrm>
        </p:spPr>
        <p:txBody>
          <a:bodyPr/>
          <a:lstStyle/>
          <a:p>
            <a:r>
              <a:rPr lang="en-GB" sz="2000" dirty="0" smtClean="0"/>
              <a:t>GNG Criteria: </a:t>
            </a:r>
            <a:r>
              <a:rPr lang="en-US" sz="2000" b="0" dirty="0" smtClean="0"/>
              <a:t>1.1 The users have proven that the solution (system &amp; data) meets the business requirements for Beta Pilot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UAT closure </a:t>
            </a:r>
            <a:br>
              <a:rPr lang="en-US" dirty="0" smtClean="0"/>
            </a:br>
            <a:r>
              <a:rPr lang="en-US" dirty="0" smtClean="0"/>
              <a:t>Business recommendation</a:t>
            </a:r>
            <a:endParaRPr lang="en-GB" dirty="0"/>
          </a:p>
        </p:txBody>
      </p:sp>
      <p:sp>
        <p:nvSpPr>
          <p:cNvPr id="3" name="Content Placeholder 2"/>
          <p:cNvSpPr>
            <a:spLocks noGrp="1"/>
          </p:cNvSpPr>
          <p:nvPr>
            <p:ph idx="1"/>
          </p:nvPr>
        </p:nvSpPr>
        <p:spPr/>
        <p:txBody>
          <a:bodyPr/>
          <a:lstStyle/>
          <a:p>
            <a:pPr>
              <a:buFont typeface="Wingdings" pitchFamily="2" charset="2"/>
              <a:buChar char="Ø"/>
              <a:defRPr/>
            </a:pPr>
            <a:r>
              <a:rPr lang="en-US" sz="1800" dirty="0" smtClean="0">
                <a:solidFill>
                  <a:schemeClr val="tx1">
                    <a:lumMod val="75000"/>
                  </a:schemeClr>
                </a:solidFill>
              </a:rPr>
              <a:t>Based on the fact that 676 test cases have been completed with a pass rate of 95% it is recommended that we sign off UAT as successful. </a:t>
            </a:r>
          </a:p>
          <a:p>
            <a:pPr>
              <a:buFont typeface="Wingdings" pitchFamily="2" charset="2"/>
              <a:buChar char="Ø"/>
              <a:defRPr/>
            </a:pPr>
            <a:r>
              <a:rPr lang="en-US" sz="1800" dirty="0" smtClean="0">
                <a:solidFill>
                  <a:schemeClr val="tx1">
                    <a:lumMod val="75000"/>
                  </a:schemeClr>
                </a:solidFill>
              </a:rPr>
              <a:t>The business has agreed to defer all open defects or has agreed to accept identified workarounds for the beta pilot. However, the expectation is that many of these will be resolved or may need to be reassessed as part of the R1 work. </a:t>
            </a:r>
          </a:p>
          <a:p>
            <a:pPr>
              <a:buFont typeface="Wingdings" pitchFamily="2" charset="2"/>
              <a:buChar char="Ø"/>
              <a:defRPr/>
            </a:pPr>
            <a:r>
              <a:rPr lang="en-US" sz="1800" dirty="0" smtClean="0">
                <a:solidFill>
                  <a:schemeClr val="tx1">
                    <a:lumMod val="75000"/>
                  </a:schemeClr>
                </a:solidFill>
              </a:rPr>
              <a:t>The Beta Pilot teams will be informed about all open defects to ensure expectations are properly set as a part of their Beta Pilot orientation.</a:t>
            </a:r>
          </a:p>
          <a:p>
            <a:pPr>
              <a:buFont typeface="Wingdings" pitchFamily="2" charset="2"/>
              <a:buChar char="Ø"/>
              <a:defRPr/>
            </a:pPr>
            <a:endParaRPr lang="en-US" sz="1800" dirty="0" smtClean="0">
              <a:solidFill>
                <a:schemeClr val="tx1">
                  <a:lumMod val="75000"/>
                </a:schemeClr>
              </a:solidFill>
            </a:endParaRPr>
          </a:p>
          <a:p>
            <a:pPr>
              <a:buFont typeface="Wingdings" pitchFamily="2" charset="2"/>
              <a:buChar char="Ø"/>
              <a:defRPr/>
            </a:pPr>
            <a:endParaRPr lang="en-US" sz="1800" dirty="0" smtClean="0">
              <a:solidFill>
                <a:schemeClr val="tx1">
                  <a:lumMod val="75000"/>
                </a:schemeClr>
              </a:solidFill>
            </a:endParaRPr>
          </a:p>
          <a:p>
            <a:pPr>
              <a:buFont typeface="Wingdings" pitchFamily="2" charset="2"/>
              <a:buChar char="Ø"/>
              <a:defRPr/>
            </a:pPr>
            <a:r>
              <a:rPr lang="en-US" sz="1800" dirty="0" smtClean="0">
                <a:solidFill>
                  <a:schemeClr val="tx1">
                    <a:lumMod val="75000"/>
                  </a:schemeClr>
                </a:solidFill>
                <a:hlinkClick r:id="rId2"/>
              </a:rPr>
              <a:t>Link to closure issue log</a:t>
            </a:r>
            <a:endParaRPr lang="en-US" sz="2400" dirty="0" smtClean="0">
              <a:solidFill>
                <a:schemeClr val="tx1">
                  <a:lumMod val="75000"/>
                </a:schemeClr>
              </a:solidFill>
            </a:endParaRPr>
          </a:p>
          <a:p>
            <a:r>
              <a:rPr lang="en-GB" sz="1800" dirty="0" smtClean="0">
                <a:solidFill>
                  <a:schemeClr val="tx1">
                    <a:lumMod val="75000"/>
                  </a:schemeClr>
                </a:solidFill>
                <a:hlinkClick r:id="rId3"/>
              </a:rPr>
              <a:t>Link to UAT closure report</a:t>
            </a:r>
            <a:endParaRPr lang="en-GB" sz="1800" dirty="0">
              <a:solidFill>
                <a:schemeClr val="tx1">
                  <a:lumMod val="75000"/>
                </a:schemeClr>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746" name="Rectangle 2"/>
          <p:cNvSpPr>
            <a:spLocks noGrp="1" noChangeArrowheads="1"/>
          </p:cNvSpPr>
          <p:nvPr>
            <p:ph type="title"/>
          </p:nvPr>
        </p:nvSpPr>
        <p:spPr>
          <a:xfrm>
            <a:off x="323851" y="230189"/>
            <a:ext cx="7829550" cy="930275"/>
          </a:xfrm>
        </p:spPr>
        <p:txBody>
          <a:bodyPr/>
          <a:lstStyle/>
          <a:p>
            <a:r>
              <a:rPr lang="en-GB" sz="2000" b="1" dirty="0" smtClean="0"/>
              <a:t>GNG Criteria</a:t>
            </a:r>
            <a:r>
              <a:rPr lang="en-GB" sz="2000" dirty="0" smtClean="0"/>
              <a:t>: </a:t>
            </a:r>
            <a:r>
              <a:rPr lang="en-GB" sz="2000" b="0" dirty="0" smtClean="0"/>
              <a:t>1.</a:t>
            </a:r>
            <a:r>
              <a:rPr lang="en-GB" sz="2000" dirty="0" smtClean="0"/>
              <a:t> </a:t>
            </a:r>
            <a:r>
              <a:rPr lang="en-GB" sz="2000" b="0" dirty="0" smtClean="0"/>
              <a:t>The Solution (system, process and data) is ready</a:t>
            </a:r>
            <a:endParaRPr lang="en-GB" sz="2000" b="0" dirty="0"/>
          </a:p>
        </p:txBody>
      </p:sp>
      <p:graphicFrame>
        <p:nvGraphicFramePr>
          <p:cNvPr id="1567849" name="Group 105"/>
          <p:cNvGraphicFramePr>
            <a:graphicFrameLocks noGrp="1"/>
          </p:cNvGraphicFramePr>
          <p:nvPr>
            <p:ph idx="1"/>
          </p:nvPr>
        </p:nvGraphicFramePr>
        <p:xfrm>
          <a:off x="120161" y="746567"/>
          <a:ext cx="8692660" cy="2636009"/>
        </p:xfrm>
        <a:graphic>
          <a:graphicData uri="http://schemas.openxmlformats.org/drawingml/2006/table">
            <a:tbl>
              <a:tblPr/>
              <a:tblGrid>
                <a:gridCol w="511234"/>
                <a:gridCol w="968805"/>
                <a:gridCol w="2133600"/>
                <a:gridCol w="2590800"/>
                <a:gridCol w="838200"/>
                <a:gridCol w="1650021"/>
              </a:tblGrid>
              <a:tr h="582783">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M&amp;C GNG Program Forum and FSG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 (supplied by program leads)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2039489">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a:t>
                      </a:r>
                      <a:r>
                        <a:rPr kumimoji="0" lang="en-GB" sz="1100" b="0" i="0" u="none" strike="noStrike" cap="none" normalizeH="0" baseline="0" dirty="0" smtClean="0">
                          <a:ln>
                            <a:noFill/>
                          </a:ln>
                          <a:solidFill>
                            <a:schemeClr val="tx1"/>
                          </a:solidFill>
                          <a:effectLst/>
                          <a:latin typeface="Univers 45 Light" pitchFamily="2" charset="0"/>
                          <a:cs typeface="Arial" charset="0"/>
                        </a:rPr>
                        <a:t>. The Solution (system, process and data) is ready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1.2</a:t>
                      </a:r>
                      <a:r>
                        <a:rPr kumimoji="0" lang="en-GB" sz="1100" b="0" i="0" u="none" strike="noStrike" cap="none" normalizeH="0" baseline="0" dirty="0" smtClean="0">
                          <a:ln>
                            <a:noFill/>
                          </a:ln>
                          <a:solidFill>
                            <a:schemeClr val="tx1"/>
                          </a:solidFill>
                          <a:effectLst/>
                          <a:latin typeface="Univers 45 Light" pitchFamily="2" charset="0"/>
                          <a:cs typeface="Arial" charset="0"/>
                        </a:rPr>
                        <a:t>.The solution quality level is agreed to be fit for purpose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Sign off of open defects and agreed  business/operational workarounds (Sherry Martin/Shaun Bradley)</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Test coverage and test completion approval by Project Test Lead (Nigel Rawson) and Lead Application Architect (</a:t>
                      </a:r>
                      <a:r>
                        <a:rPr kumimoji="0" lang="en-GB" sz="1100" b="0" i="0" u="none" strike="noStrike" cap="none" normalizeH="0" baseline="0" dirty="0" err="1" smtClean="0">
                          <a:ln>
                            <a:noFill/>
                          </a:ln>
                          <a:solidFill>
                            <a:schemeClr val="tx1"/>
                          </a:solidFill>
                          <a:effectLst/>
                          <a:latin typeface="Univers 45 Light" pitchFamily="2" charset="0"/>
                          <a:cs typeface="Arial" charset="0"/>
                        </a:rPr>
                        <a:t>Oleksiy</a:t>
                      </a:r>
                      <a:r>
                        <a:rPr kumimoji="0" lang="en-GB" sz="1100" b="0" i="0" u="none" strike="noStrike" cap="none" normalizeH="0" baseline="0" dirty="0" smtClean="0">
                          <a:ln>
                            <a:noFill/>
                          </a:ln>
                          <a:solidFill>
                            <a:schemeClr val="tx1"/>
                          </a:solidFill>
                          <a:effectLst/>
                          <a:latin typeface="Univers 45 Light" pitchFamily="2" charset="0"/>
                          <a:cs typeface="Arial" charset="0"/>
                        </a:rPr>
                        <a:t> </a:t>
                      </a:r>
                      <a:r>
                        <a:rPr kumimoji="0" lang="en-GB" sz="1100" b="0" i="0" u="none" strike="noStrike" cap="none" normalizeH="0" baseline="0" dirty="0" err="1" smtClean="0">
                          <a:ln>
                            <a:noFill/>
                          </a:ln>
                          <a:solidFill>
                            <a:schemeClr val="tx1"/>
                          </a:solidFill>
                          <a:effectLst/>
                          <a:latin typeface="Univers 45 Light" pitchFamily="2" charset="0"/>
                          <a:cs typeface="Arial" charset="0"/>
                        </a:rPr>
                        <a:t>Volkov</a:t>
                      </a:r>
                      <a:r>
                        <a:rPr kumimoji="0" lang="en-GB" sz="1100" b="0" i="0" u="none" strike="noStrike" cap="none" normalizeH="0" baseline="0" dirty="0" smtClean="0">
                          <a:ln>
                            <a:noFill/>
                          </a:ln>
                          <a:solidFill>
                            <a:schemeClr val="tx1"/>
                          </a:solidFill>
                          <a:effectLst/>
                          <a:latin typeface="Univers 45 Light" pitchFamily="2" charset="0"/>
                          <a:cs typeface="Arial" charset="0"/>
                        </a:rPr>
                        <a: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1.2.1 Final Defect Report from All testing activities – number of defects found, resolved, open by criticality, root cause and </a:t>
                      </a:r>
                      <a:r>
                        <a:rPr kumimoji="0" lang="en-GB" sz="1100" b="0" i="0" u="none" strike="noStrike" cap="none" normalizeH="0" baseline="0" dirty="0" err="1" smtClean="0">
                          <a:ln>
                            <a:noFill/>
                          </a:ln>
                          <a:solidFill>
                            <a:schemeClr val="tx1"/>
                          </a:solidFill>
                          <a:effectLst/>
                          <a:latin typeface="Univers 45 Light" pitchFamily="2" charset="0"/>
                          <a:cs typeface="Arial" charset="0"/>
                        </a:rPr>
                        <a:t>workstream</a:t>
                      </a:r>
                      <a:r>
                        <a:rPr kumimoji="0" lang="en-GB" sz="1100" b="0" i="0" u="none" strike="noStrike" cap="none" normalizeH="0" baseline="0" dirty="0" smtClean="0">
                          <a:ln>
                            <a:noFill/>
                          </a:ln>
                          <a:solidFill>
                            <a:schemeClr val="tx1"/>
                          </a:solidFill>
                          <a:effectLst/>
                          <a:latin typeface="Univers 45 Light" pitchFamily="2" charset="0"/>
                          <a:cs typeface="Arial" charset="0"/>
                        </a:rPr>
                        <a:t>.</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1.2.2 Test Reports: Evidence of test coverage achieved (traceability to requirements) and test completion</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1.2.3 Agreed Workaround log showing impact on business and support process of residual system and process issues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Complete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1.2.1: Final Defect Report: All defects (excluding rejected (20)) by Severity &amp; </a:t>
            </a:r>
            <a:r>
              <a:rPr lang="en-US" sz="1600" kern="0" dirty="0" err="1" smtClean="0">
                <a:solidFill>
                  <a:srgbClr val="646464"/>
                </a:solidFill>
              </a:rPr>
              <a:t>Workstream</a:t>
            </a: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graphicFrame>
        <p:nvGraphicFramePr>
          <p:cNvPr id="7" name="Object 6"/>
          <p:cNvGraphicFramePr>
            <a:graphicFrameLocks noChangeAspect="1"/>
          </p:cNvGraphicFramePr>
          <p:nvPr/>
        </p:nvGraphicFramePr>
        <p:xfrm>
          <a:off x="1371600" y="1524000"/>
          <a:ext cx="6172200" cy="4629150"/>
        </p:xfrm>
        <a:graphic>
          <a:graphicData uri="http://schemas.openxmlformats.org/presentationml/2006/ole">
            <mc:AlternateContent xmlns:mc="http://schemas.openxmlformats.org/markup-compatibility/2006">
              <mc:Choice xmlns:v="urn:schemas-microsoft-com:vml" Requires="v">
                <p:oleObj spid="_x0000_s2053" name="Bitmap Image" r:id="rId3" imgW="5485714" imgH="4114286" progId="PBrush">
                  <p:embed/>
                </p:oleObj>
              </mc:Choice>
              <mc:Fallback>
                <p:oleObj name="Bitmap Image" r:id="rId3" imgW="5485714" imgH="4114286" progId="PBrush">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524000"/>
                        <a:ext cx="6172200" cy="462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1.2.1: Final Defect Report: All defects (excluding rejected) by Root Cause.</a:t>
            </a:r>
          </a:p>
          <a:p>
            <a:pPr marL="360363" indent="-360363">
              <a:spcBef>
                <a:spcPts val="0"/>
              </a:spcBef>
              <a:buClr>
                <a:srgbClr val="FFD200"/>
              </a:buClr>
              <a:buSzPct val="75000"/>
              <a:buFont typeface="Arial" pitchFamily="34" charset="0"/>
              <a:buChar char="►"/>
              <a:defRPr/>
            </a:pP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sp>
        <p:nvSpPr>
          <p:cNvPr id="7" name="TextBox 6"/>
          <p:cNvSpPr txBox="1"/>
          <p:nvPr/>
        </p:nvSpPr>
        <p:spPr>
          <a:xfrm>
            <a:off x="6477000" y="2286000"/>
            <a:ext cx="685800" cy="369332"/>
          </a:xfrm>
          <a:prstGeom prst="rect">
            <a:avLst/>
          </a:prstGeom>
          <a:solidFill>
            <a:schemeClr val="bg1"/>
          </a:solidFill>
        </p:spPr>
        <p:txBody>
          <a:bodyPr wrap="square" rtlCol="0">
            <a:spAutoFit/>
          </a:bodyPr>
          <a:lstStyle/>
          <a:p>
            <a:endParaRPr lang="en-GB" dirty="0"/>
          </a:p>
        </p:txBody>
      </p:sp>
      <p:graphicFrame>
        <p:nvGraphicFramePr>
          <p:cNvPr id="8" name="Object 7"/>
          <p:cNvGraphicFramePr>
            <a:graphicFrameLocks noChangeAspect="1"/>
          </p:cNvGraphicFramePr>
          <p:nvPr/>
        </p:nvGraphicFramePr>
        <p:xfrm>
          <a:off x="1371600" y="1524000"/>
          <a:ext cx="6096000" cy="4572000"/>
        </p:xfrm>
        <a:graphic>
          <a:graphicData uri="http://schemas.openxmlformats.org/presentationml/2006/ole">
            <mc:AlternateContent xmlns:mc="http://schemas.openxmlformats.org/markup-compatibility/2006">
              <mc:Choice xmlns:v="urn:schemas-microsoft-com:vml" Requires="v">
                <p:oleObj spid="_x0000_s3078" name="Bitmap Image" r:id="rId3" imgW="5485714" imgH="4114286" progId="PBrush">
                  <p:embed/>
                </p:oleObj>
              </mc:Choice>
              <mc:Fallback>
                <p:oleObj name="Bitmap Image" r:id="rId3" imgW="5485714" imgH="4114286" progId="PBrush">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524000"/>
                        <a:ext cx="6096000" cy="457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6553200" y="2133600"/>
            <a:ext cx="685800" cy="369332"/>
          </a:xfrm>
          <a:prstGeom prst="rect">
            <a:avLst/>
          </a:prstGeom>
          <a:solidFill>
            <a:schemeClr val="bg1"/>
          </a:solidFill>
        </p:spPr>
        <p:txBody>
          <a:bodyPr wrap="square" rtlCol="0">
            <a:spAutoFit/>
          </a:bodyPr>
          <a:lstStyle/>
          <a:p>
            <a:endParaRPr lang="en-GB"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1.2.1: Final Defect Report: Total No. of defects found across System Test &amp; UAT = 159</a:t>
            </a:r>
          </a:p>
          <a:p>
            <a:pPr marL="360363" indent="-360363">
              <a:spcBef>
                <a:spcPts val="0"/>
              </a:spcBef>
              <a:buClr>
                <a:srgbClr val="FFD200"/>
              </a:buClr>
              <a:buSzPct val="75000"/>
              <a:buFont typeface="Arial" pitchFamily="34" charset="0"/>
              <a:buChar char="►"/>
              <a:defRPr/>
            </a:pP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sp>
        <p:nvSpPr>
          <p:cNvPr id="6" name="TextBox 5"/>
          <p:cNvSpPr txBox="1"/>
          <p:nvPr/>
        </p:nvSpPr>
        <p:spPr>
          <a:xfrm>
            <a:off x="6705600" y="2133600"/>
            <a:ext cx="609600" cy="369332"/>
          </a:xfrm>
          <a:prstGeom prst="rect">
            <a:avLst/>
          </a:prstGeom>
          <a:solidFill>
            <a:schemeClr val="bg1"/>
          </a:solidFill>
        </p:spPr>
        <p:txBody>
          <a:bodyPr wrap="square" rtlCol="0">
            <a:spAutoFit/>
          </a:bodyPr>
          <a:lstStyle/>
          <a:p>
            <a:endParaRPr lang="en-GB"/>
          </a:p>
        </p:txBody>
      </p:sp>
      <p:graphicFrame>
        <p:nvGraphicFramePr>
          <p:cNvPr id="8" name="Object 7"/>
          <p:cNvGraphicFramePr>
            <a:graphicFrameLocks noChangeAspect="1"/>
          </p:cNvGraphicFramePr>
          <p:nvPr/>
        </p:nvGraphicFramePr>
        <p:xfrm>
          <a:off x="1447800" y="1524000"/>
          <a:ext cx="6172200" cy="4629150"/>
        </p:xfrm>
        <a:graphic>
          <a:graphicData uri="http://schemas.openxmlformats.org/presentationml/2006/ole">
            <mc:AlternateContent xmlns:mc="http://schemas.openxmlformats.org/markup-compatibility/2006">
              <mc:Choice xmlns:v="urn:schemas-microsoft-com:vml" Requires="v">
                <p:oleObj spid="_x0000_s1029" name="Bitmap Image" r:id="rId3" imgW="5485714" imgH="4114286" progId="PBrush">
                  <p:embed/>
                </p:oleObj>
              </mc:Choice>
              <mc:Fallback>
                <p:oleObj name="Bitmap Image" r:id="rId3" imgW="5485714" imgH="4114286" progId="PBrush">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524000"/>
                        <a:ext cx="6172200" cy="462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6705600" y="2133600"/>
            <a:ext cx="762000" cy="369332"/>
          </a:xfrm>
          <a:prstGeom prst="rect">
            <a:avLst/>
          </a:prstGeom>
          <a:solidFill>
            <a:schemeClr val="bg1"/>
          </a:solidFill>
        </p:spPr>
        <p:txBody>
          <a:bodyPr wrap="square" rtlCol="0">
            <a:spAutoFit/>
          </a:bodyPr>
          <a:lstStyle/>
          <a:p>
            <a:endParaRPr lang="en-GB"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400" kern="0" dirty="0" smtClean="0">
                <a:solidFill>
                  <a:srgbClr val="646464"/>
                </a:solidFill>
              </a:rPr>
              <a:t>1.2.2: Test Report: </a:t>
            </a:r>
            <a:r>
              <a:rPr lang="en-US" sz="1400" kern="0" dirty="0" smtClean="0">
                <a:solidFill>
                  <a:srgbClr val="646464"/>
                </a:solidFill>
                <a:hlinkClick r:id="rId2"/>
              </a:rPr>
              <a:t>Beta Pilot System Test Completion Summary</a:t>
            </a:r>
            <a:endParaRPr lang="en-US" sz="14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400" kern="0" dirty="0" smtClean="0">
              <a:solidFill>
                <a:srgbClr val="646464"/>
              </a:solidFill>
            </a:endParaRPr>
          </a:p>
          <a:p>
            <a:pPr marL="360363" indent="-360363">
              <a:spcBef>
                <a:spcPts val="0"/>
              </a:spcBef>
              <a:buClr>
                <a:srgbClr val="FFD200"/>
              </a:buClr>
              <a:buSzPct val="75000"/>
              <a:defRPr/>
            </a:pPr>
            <a:r>
              <a:rPr lang="en-US" sz="1400" kern="0" dirty="0" smtClean="0">
                <a:solidFill>
                  <a:srgbClr val="646464"/>
                </a:solidFill>
              </a:rPr>
              <a:t>The following system test pass rates were achieved during system test execution:</a:t>
            </a: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r>
              <a:rPr lang="en-US" sz="1400" b="1" kern="0" dirty="0" smtClean="0">
                <a:solidFill>
                  <a:srgbClr val="646464"/>
                </a:solidFill>
              </a:rPr>
              <a:t>Test Cycle 1: </a:t>
            </a:r>
            <a:r>
              <a:rPr lang="en-US" sz="1400" kern="0" dirty="0" smtClean="0">
                <a:solidFill>
                  <a:srgbClr val="646464"/>
                </a:solidFill>
              </a:rPr>
              <a:t>Full Test Execution.</a:t>
            </a: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r>
              <a:rPr lang="en-US" sz="1400" b="1" kern="0" dirty="0" smtClean="0">
                <a:solidFill>
                  <a:srgbClr val="646464"/>
                </a:solidFill>
              </a:rPr>
              <a:t>Test Cycle 2: </a:t>
            </a:r>
            <a:r>
              <a:rPr lang="en-US" sz="1400" kern="0" dirty="0" smtClean="0">
                <a:solidFill>
                  <a:srgbClr val="646464"/>
                </a:solidFill>
              </a:rPr>
              <a:t>Defect retest and high risk functionality tested.</a:t>
            </a:r>
          </a:p>
          <a:p>
            <a:pPr marL="360363" indent="-360363">
              <a:spcBef>
                <a:spcPts val="0"/>
              </a:spcBef>
              <a:buClr>
                <a:srgbClr val="FFD200"/>
              </a:buClr>
              <a:buSzPct val="75000"/>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graphicFrame>
        <p:nvGraphicFramePr>
          <p:cNvPr id="6" name="Table 5"/>
          <p:cNvGraphicFramePr>
            <a:graphicFrameLocks noGrp="1"/>
          </p:cNvGraphicFramePr>
          <p:nvPr/>
        </p:nvGraphicFramePr>
        <p:xfrm>
          <a:off x="1143000" y="2362200"/>
          <a:ext cx="5867400" cy="1219200"/>
        </p:xfrm>
        <a:graphic>
          <a:graphicData uri="http://schemas.openxmlformats.org/drawingml/2006/table">
            <a:tbl>
              <a:tblPr firstRow="1" bandRow="1">
                <a:tableStyleId>{5C22544A-7EE6-4342-B048-85BDC9FD1C3A}</a:tableStyleId>
              </a:tblPr>
              <a:tblGrid>
                <a:gridCol w="1905000"/>
                <a:gridCol w="1981200"/>
                <a:gridCol w="1981200"/>
              </a:tblGrid>
              <a:tr h="125730">
                <a:tc>
                  <a:txBody>
                    <a:bodyPr/>
                    <a:lstStyle/>
                    <a:p>
                      <a:r>
                        <a:rPr lang="en-GB" sz="1400" dirty="0" smtClean="0"/>
                        <a:t>Item</a:t>
                      </a:r>
                      <a:endParaRPr lang="en-GB" sz="1400" dirty="0"/>
                    </a:p>
                  </a:txBody>
                  <a:tcPr/>
                </a:tc>
                <a:tc>
                  <a:txBody>
                    <a:bodyPr/>
                    <a:lstStyle/>
                    <a:p>
                      <a:r>
                        <a:rPr lang="en-GB" sz="1400" dirty="0" smtClean="0"/>
                        <a:t>By Number</a:t>
                      </a:r>
                      <a:endParaRPr lang="en-GB" sz="1400" dirty="0"/>
                    </a:p>
                  </a:txBody>
                  <a:tcPr/>
                </a:tc>
                <a:tc>
                  <a:txBody>
                    <a:bodyPr/>
                    <a:lstStyle/>
                    <a:p>
                      <a:r>
                        <a:rPr lang="en-GB" sz="1400" dirty="0" smtClean="0"/>
                        <a:t>By Percentage</a:t>
                      </a:r>
                      <a:endParaRPr lang="en-GB" sz="1400" dirty="0"/>
                    </a:p>
                  </a:txBody>
                  <a:tcPr/>
                </a:tc>
              </a:tr>
              <a:tr h="125730">
                <a:tc>
                  <a:txBody>
                    <a:bodyPr/>
                    <a:lstStyle/>
                    <a:p>
                      <a:r>
                        <a:rPr lang="en-GB" sz="1400" dirty="0" smtClean="0"/>
                        <a:t>Total Tests Run</a:t>
                      </a:r>
                      <a:endParaRPr lang="en-GB" sz="1400" dirty="0"/>
                    </a:p>
                  </a:txBody>
                  <a:tcPr/>
                </a:tc>
                <a:tc>
                  <a:txBody>
                    <a:bodyPr/>
                    <a:lstStyle/>
                    <a:p>
                      <a:r>
                        <a:rPr lang="en-GB" sz="1400" dirty="0" smtClean="0"/>
                        <a:t>394</a:t>
                      </a:r>
                      <a:endParaRPr lang="en-GB" sz="1400" dirty="0"/>
                    </a:p>
                  </a:txBody>
                  <a:tcPr/>
                </a:tc>
                <a:tc>
                  <a:txBody>
                    <a:bodyPr/>
                    <a:lstStyle/>
                    <a:p>
                      <a:r>
                        <a:rPr lang="en-GB" sz="1400" dirty="0" smtClean="0"/>
                        <a:t>100%</a:t>
                      </a:r>
                      <a:endParaRPr lang="en-GB" sz="1400" dirty="0"/>
                    </a:p>
                  </a:txBody>
                  <a:tcPr/>
                </a:tc>
              </a:tr>
              <a:tr h="125730">
                <a:tc>
                  <a:txBody>
                    <a:bodyPr/>
                    <a:lstStyle/>
                    <a:p>
                      <a:r>
                        <a:rPr lang="en-GB" sz="1400" dirty="0" smtClean="0"/>
                        <a:t>Tests Passed</a:t>
                      </a:r>
                      <a:endParaRPr lang="en-GB" sz="1400" dirty="0"/>
                    </a:p>
                  </a:txBody>
                  <a:tcPr/>
                </a:tc>
                <a:tc>
                  <a:txBody>
                    <a:bodyPr/>
                    <a:lstStyle/>
                    <a:p>
                      <a:r>
                        <a:rPr lang="en-GB" sz="1400" dirty="0" smtClean="0"/>
                        <a:t>298</a:t>
                      </a:r>
                      <a:endParaRPr lang="en-GB" sz="1400" dirty="0"/>
                    </a:p>
                  </a:txBody>
                  <a:tcPr/>
                </a:tc>
                <a:tc>
                  <a:txBody>
                    <a:bodyPr/>
                    <a:lstStyle/>
                    <a:p>
                      <a:r>
                        <a:rPr lang="en-GB" sz="1400" dirty="0" smtClean="0"/>
                        <a:t>76%</a:t>
                      </a:r>
                      <a:endParaRPr lang="en-GB" sz="1400" dirty="0"/>
                    </a:p>
                  </a:txBody>
                  <a:tcPr/>
                </a:tc>
              </a:tr>
              <a:tr h="125730">
                <a:tc>
                  <a:txBody>
                    <a:bodyPr/>
                    <a:lstStyle/>
                    <a:p>
                      <a:r>
                        <a:rPr lang="en-GB" sz="1400" dirty="0" smtClean="0"/>
                        <a:t>Tests</a:t>
                      </a:r>
                      <a:r>
                        <a:rPr lang="en-GB" sz="1400" baseline="0" dirty="0" smtClean="0"/>
                        <a:t> Failed</a:t>
                      </a:r>
                      <a:endParaRPr lang="en-GB" sz="1400" dirty="0"/>
                    </a:p>
                  </a:txBody>
                  <a:tcPr/>
                </a:tc>
                <a:tc>
                  <a:txBody>
                    <a:bodyPr/>
                    <a:lstStyle/>
                    <a:p>
                      <a:r>
                        <a:rPr lang="en-GB" sz="1400" dirty="0" smtClean="0"/>
                        <a:t>95</a:t>
                      </a:r>
                      <a:endParaRPr lang="en-GB" sz="1400" dirty="0"/>
                    </a:p>
                  </a:txBody>
                  <a:tcPr/>
                </a:tc>
                <a:tc>
                  <a:txBody>
                    <a:bodyPr/>
                    <a:lstStyle/>
                    <a:p>
                      <a:r>
                        <a:rPr lang="en-GB" sz="1400" dirty="0" smtClean="0"/>
                        <a:t>24%</a:t>
                      </a:r>
                      <a:endParaRPr lang="en-GB" sz="1400" dirty="0"/>
                    </a:p>
                  </a:txBody>
                  <a:tcPr/>
                </a:tc>
              </a:tr>
            </a:tbl>
          </a:graphicData>
        </a:graphic>
      </p:graphicFrame>
      <p:graphicFrame>
        <p:nvGraphicFramePr>
          <p:cNvPr id="7" name="Table 6"/>
          <p:cNvGraphicFramePr>
            <a:graphicFrameLocks noGrp="1"/>
          </p:cNvGraphicFramePr>
          <p:nvPr/>
        </p:nvGraphicFramePr>
        <p:xfrm>
          <a:off x="1143000" y="4114800"/>
          <a:ext cx="5867400" cy="1219200"/>
        </p:xfrm>
        <a:graphic>
          <a:graphicData uri="http://schemas.openxmlformats.org/drawingml/2006/table">
            <a:tbl>
              <a:tblPr firstRow="1" bandRow="1">
                <a:tableStyleId>{5C22544A-7EE6-4342-B048-85BDC9FD1C3A}</a:tableStyleId>
              </a:tblPr>
              <a:tblGrid>
                <a:gridCol w="1955800"/>
                <a:gridCol w="1955800"/>
                <a:gridCol w="1955800"/>
              </a:tblGrid>
              <a:tr h="240030">
                <a:tc>
                  <a:txBody>
                    <a:bodyPr/>
                    <a:lstStyle/>
                    <a:p>
                      <a:r>
                        <a:rPr lang="en-GB" sz="1400" dirty="0" smtClean="0"/>
                        <a:t>Item</a:t>
                      </a:r>
                      <a:endParaRPr lang="en-GB" sz="1400" dirty="0"/>
                    </a:p>
                  </a:txBody>
                  <a:tcPr/>
                </a:tc>
                <a:tc>
                  <a:txBody>
                    <a:bodyPr/>
                    <a:lstStyle/>
                    <a:p>
                      <a:r>
                        <a:rPr lang="en-GB" sz="1400" dirty="0" smtClean="0"/>
                        <a:t>By Number</a:t>
                      </a:r>
                      <a:endParaRPr lang="en-GB" sz="1400" dirty="0"/>
                    </a:p>
                  </a:txBody>
                  <a:tcPr/>
                </a:tc>
                <a:tc>
                  <a:txBody>
                    <a:bodyPr/>
                    <a:lstStyle/>
                    <a:p>
                      <a:r>
                        <a:rPr lang="en-GB" sz="1400" dirty="0" smtClean="0"/>
                        <a:t>By Percentage</a:t>
                      </a:r>
                      <a:endParaRPr lang="en-GB" sz="1400" dirty="0"/>
                    </a:p>
                  </a:txBody>
                  <a:tcPr/>
                </a:tc>
              </a:tr>
              <a:tr h="240030">
                <a:tc>
                  <a:txBody>
                    <a:bodyPr/>
                    <a:lstStyle/>
                    <a:p>
                      <a:r>
                        <a:rPr lang="en-GB" sz="1400" dirty="0" smtClean="0"/>
                        <a:t>Total Tests Run</a:t>
                      </a:r>
                      <a:endParaRPr lang="en-GB" sz="1400" dirty="0"/>
                    </a:p>
                  </a:txBody>
                  <a:tcPr/>
                </a:tc>
                <a:tc>
                  <a:txBody>
                    <a:bodyPr/>
                    <a:lstStyle/>
                    <a:p>
                      <a:r>
                        <a:rPr lang="en-GB" sz="1400" dirty="0" smtClean="0"/>
                        <a:t>253</a:t>
                      </a:r>
                      <a:endParaRPr lang="en-GB" sz="1400" dirty="0"/>
                    </a:p>
                  </a:txBody>
                  <a:tcPr/>
                </a:tc>
                <a:tc>
                  <a:txBody>
                    <a:bodyPr/>
                    <a:lstStyle/>
                    <a:p>
                      <a:r>
                        <a:rPr lang="en-GB" sz="1400" dirty="0" smtClean="0"/>
                        <a:t>100%</a:t>
                      </a:r>
                      <a:endParaRPr lang="en-GB" sz="1400" dirty="0"/>
                    </a:p>
                  </a:txBody>
                  <a:tcPr/>
                </a:tc>
              </a:tr>
              <a:tr h="240030">
                <a:tc>
                  <a:txBody>
                    <a:bodyPr/>
                    <a:lstStyle/>
                    <a:p>
                      <a:r>
                        <a:rPr lang="en-GB" sz="1400" dirty="0" smtClean="0"/>
                        <a:t>Tests Passed</a:t>
                      </a:r>
                      <a:endParaRPr lang="en-GB" sz="1400" dirty="0"/>
                    </a:p>
                  </a:txBody>
                  <a:tcPr/>
                </a:tc>
                <a:tc>
                  <a:txBody>
                    <a:bodyPr/>
                    <a:lstStyle/>
                    <a:p>
                      <a:r>
                        <a:rPr lang="en-GB" sz="1400" dirty="0" smtClean="0"/>
                        <a:t>240</a:t>
                      </a:r>
                      <a:endParaRPr lang="en-GB" sz="1400" dirty="0"/>
                    </a:p>
                  </a:txBody>
                  <a:tcPr/>
                </a:tc>
                <a:tc>
                  <a:txBody>
                    <a:bodyPr/>
                    <a:lstStyle/>
                    <a:p>
                      <a:r>
                        <a:rPr lang="en-GB" sz="1400" dirty="0" smtClean="0"/>
                        <a:t>95%</a:t>
                      </a:r>
                      <a:endParaRPr lang="en-GB" sz="1400" dirty="0"/>
                    </a:p>
                  </a:txBody>
                  <a:tcPr/>
                </a:tc>
              </a:tr>
              <a:tr h="240030">
                <a:tc>
                  <a:txBody>
                    <a:bodyPr/>
                    <a:lstStyle/>
                    <a:p>
                      <a:r>
                        <a:rPr lang="en-GB" sz="1400" dirty="0" smtClean="0"/>
                        <a:t>Tests</a:t>
                      </a:r>
                      <a:r>
                        <a:rPr lang="en-GB" sz="1400" baseline="0" dirty="0" smtClean="0"/>
                        <a:t> Failed</a:t>
                      </a:r>
                      <a:endParaRPr lang="en-GB" sz="1400" dirty="0"/>
                    </a:p>
                  </a:txBody>
                  <a:tcPr/>
                </a:tc>
                <a:tc>
                  <a:txBody>
                    <a:bodyPr/>
                    <a:lstStyle/>
                    <a:p>
                      <a:r>
                        <a:rPr lang="en-GB" sz="1400" dirty="0" smtClean="0"/>
                        <a:t>13</a:t>
                      </a:r>
                      <a:endParaRPr lang="en-GB" sz="1400" dirty="0"/>
                    </a:p>
                  </a:txBody>
                  <a:tcPr/>
                </a:tc>
                <a:tc>
                  <a:txBody>
                    <a:bodyPr/>
                    <a:lstStyle/>
                    <a:p>
                      <a:r>
                        <a:rPr lang="en-GB" sz="1400" dirty="0" smtClean="0"/>
                        <a:t>5%</a:t>
                      </a:r>
                      <a:endParaRPr lang="en-GB" sz="1400" dirty="0"/>
                    </a:p>
                  </a:txBody>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1.2.3: Open Issue List: 29 Defects</a:t>
            </a: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graphicFrame>
        <p:nvGraphicFramePr>
          <p:cNvPr id="8" name="Table 7"/>
          <p:cNvGraphicFramePr>
            <a:graphicFrameLocks noGrp="1"/>
          </p:cNvGraphicFramePr>
          <p:nvPr/>
        </p:nvGraphicFramePr>
        <p:xfrm>
          <a:off x="457200" y="1641663"/>
          <a:ext cx="8229600" cy="1970217"/>
        </p:xfrm>
        <a:graphic>
          <a:graphicData uri="http://schemas.openxmlformats.org/drawingml/2006/table">
            <a:tbl>
              <a:tblPr firstRow="1" bandRow="1">
                <a:tableStyleId>{5C22544A-7EE6-4342-B048-85BDC9FD1C3A}</a:tableStyleId>
              </a:tblPr>
              <a:tblGrid>
                <a:gridCol w="3048000"/>
                <a:gridCol w="3733800"/>
                <a:gridCol w="1447800"/>
              </a:tblGrid>
              <a:tr h="463943">
                <a:tc>
                  <a:txBody>
                    <a:bodyPr/>
                    <a:lstStyle/>
                    <a:p>
                      <a:r>
                        <a:rPr lang="en-GB" sz="1400" dirty="0" smtClean="0"/>
                        <a:t>Status</a:t>
                      </a:r>
                      <a:endParaRPr lang="en-GB" sz="1400" dirty="0"/>
                    </a:p>
                  </a:txBody>
                  <a:tcPr/>
                </a:tc>
                <a:tc>
                  <a:txBody>
                    <a:bodyPr/>
                    <a:lstStyle/>
                    <a:p>
                      <a:r>
                        <a:rPr lang="en-GB" sz="1400" dirty="0" smtClean="0"/>
                        <a:t>Defect Id’s</a:t>
                      </a:r>
                      <a:endParaRPr lang="en-GB" sz="1400" dirty="0"/>
                    </a:p>
                  </a:txBody>
                  <a:tcPr/>
                </a:tc>
                <a:tc>
                  <a:txBody>
                    <a:bodyPr/>
                    <a:lstStyle/>
                    <a:p>
                      <a:r>
                        <a:rPr lang="en-GB" sz="1400" dirty="0" smtClean="0"/>
                        <a:t>No. of Defects</a:t>
                      </a:r>
                    </a:p>
                  </a:txBody>
                  <a:tcPr/>
                </a:tc>
              </a:tr>
              <a:tr h="450456">
                <a:tc>
                  <a:txBody>
                    <a:bodyPr/>
                    <a:lstStyle/>
                    <a:p>
                      <a:r>
                        <a:rPr lang="en-GB" sz="1200" kern="1200" baseline="0" dirty="0" smtClean="0">
                          <a:solidFill>
                            <a:schemeClr val="dk1"/>
                          </a:solidFill>
                          <a:latin typeface="+mn-lt"/>
                          <a:ea typeface="+mn-ea"/>
                          <a:cs typeface="+mn-cs"/>
                        </a:rPr>
                        <a:t>Deferral approved by business</a:t>
                      </a:r>
                      <a:endParaRPr lang="en-GB" sz="1200" kern="1200" baseline="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smtClean="0">
                          <a:solidFill>
                            <a:schemeClr val="dk1"/>
                          </a:solidFill>
                          <a:latin typeface="+mn-lt"/>
                          <a:ea typeface="+mn-ea"/>
                          <a:cs typeface="+mn-cs"/>
                        </a:rPr>
                        <a:t>327, 356, 415, 416, 426, 432, 436, 443,  447, 448, 453, 452, 456, 463, 464, 467, 458, 469, 475, 478, 480, 481, 477, 471</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24</a:t>
                      </a:r>
                      <a:endParaRPr lang="en-GB" sz="1200" kern="1200" baseline="0" dirty="0">
                        <a:solidFill>
                          <a:schemeClr val="dk1"/>
                        </a:solidFill>
                        <a:latin typeface="+mn-lt"/>
                        <a:ea typeface="+mn-ea"/>
                        <a:cs typeface="+mn-cs"/>
                      </a:endParaRPr>
                    </a:p>
                  </a:txBody>
                  <a:tcPr/>
                </a:tc>
              </a:tr>
              <a:tr h="298056">
                <a:tc>
                  <a:txBody>
                    <a:bodyPr/>
                    <a:lstStyle/>
                    <a:p>
                      <a:r>
                        <a:rPr lang="en-GB" sz="1200" kern="1200" baseline="0" dirty="0" smtClean="0">
                          <a:solidFill>
                            <a:schemeClr val="dk1"/>
                          </a:solidFill>
                          <a:latin typeface="+mn-lt"/>
                          <a:ea typeface="+mn-ea"/>
                          <a:cs typeface="+mn-cs"/>
                        </a:rPr>
                        <a:t>Requirement change agreed by business</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449</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1</a:t>
                      </a:r>
                      <a:endParaRPr lang="en-GB" sz="1200" kern="1200" baseline="0" dirty="0">
                        <a:solidFill>
                          <a:schemeClr val="dk1"/>
                        </a:solidFill>
                        <a:latin typeface="+mn-lt"/>
                        <a:ea typeface="+mn-ea"/>
                        <a:cs typeface="+mn-cs"/>
                      </a:endParaRPr>
                    </a:p>
                  </a:txBody>
                  <a:tcPr/>
                </a:tc>
              </a:tr>
              <a:tr h="293818">
                <a:tc>
                  <a:txBody>
                    <a:bodyPr/>
                    <a:lstStyle/>
                    <a:p>
                      <a:r>
                        <a:rPr lang="en-GB" sz="1200" kern="1200" baseline="0" dirty="0" smtClean="0">
                          <a:solidFill>
                            <a:schemeClr val="dk1"/>
                          </a:solidFill>
                          <a:latin typeface="+mn-lt"/>
                          <a:ea typeface="+mn-ea"/>
                          <a:cs typeface="+mn-cs"/>
                        </a:rPr>
                        <a:t>Not in Scope for BP</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347</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1</a:t>
                      </a:r>
                      <a:endParaRPr lang="en-GB" sz="1200" kern="1200" baseline="0" dirty="0">
                        <a:solidFill>
                          <a:schemeClr val="dk1"/>
                        </a:solidFill>
                        <a:latin typeface="+mn-lt"/>
                        <a:ea typeface="+mn-ea"/>
                        <a:cs typeface="+mn-cs"/>
                      </a:endParaRPr>
                    </a:p>
                  </a:txBody>
                  <a:tcPr/>
                </a:tc>
              </a:tr>
              <a:tr h="241220">
                <a:tc>
                  <a:txBody>
                    <a:bodyPr/>
                    <a:lstStyle/>
                    <a:p>
                      <a:r>
                        <a:rPr lang="en-GB" sz="1200" kern="1200" baseline="0" dirty="0" smtClean="0">
                          <a:solidFill>
                            <a:schemeClr val="dk1"/>
                          </a:solidFill>
                          <a:latin typeface="+mn-lt"/>
                          <a:ea typeface="+mn-ea"/>
                          <a:cs typeface="+mn-cs"/>
                        </a:rPr>
                        <a:t>With IT</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454, 476, 479</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3</a:t>
                      </a:r>
                      <a:endParaRPr lang="en-GB" sz="1200" kern="1200" baseline="0" dirty="0">
                        <a:solidFill>
                          <a:schemeClr val="dk1"/>
                        </a:solidFill>
                        <a:latin typeface="+mn-lt"/>
                        <a:ea typeface="+mn-ea"/>
                        <a:cs typeface="+mn-cs"/>
                      </a:endParaRPr>
                    </a:p>
                  </a:txBody>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1.2.3: Open Issue List: 29 Defects</a:t>
            </a: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graphicFrame>
        <p:nvGraphicFramePr>
          <p:cNvPr id="6" name="Table 5"/>
          <p:cNvGraphicFramePr>
            <a:graphicFrameLocks noGrp="1"/>
          </p:cNvGraphicFramePr>
          <p:nvPr/>
        </p:nvGraphicFramePr>
        <p:xfrm>
          <a:off x="457200" y="1600200"/>
          <a:ext cx="8229601" cy="4425387"/>
        </p:xfrm>
        <a:graphic>
          <a:graphicData uri="http://schemas.openxmlformats.org/drawingml/2006/table">
            <a:tbl>
              <a:tblPr firstRow="1" bandRow="1">
                <a:tableStyleId>{5C22544A-7EE6-4342-B048-85BDC9FD1C3A}</a:tableStyleId>
              </a:tblPr>
              <a:tblGrid>
                <a:gridCol w="712177"/>
                <a:gridCol w="3640016"/>
                <a:gridCol w="3877408"/>
              </a:tblGrid>
              <a:tr h="481044">
                <a:tc>
                  <a:txBody>
                    <a:bodyPr/>
                    <a:lstStyle/>
                    <a:p>
                      <a:r>
                        <a:rPr lang="en-GB" sz="1200" dirty="0" smtClean="0"/>
                        <a:t>Defect Id</a:t>
                      </a:r>
                      <a:endParaRPr lang="en-GB" sz="1200" dirty="0"/>
                    </a:p>
                  </a:txBody>
                  <a:tcPr/>
                </a:tc>
                <a:tc>
                  <a:txBody>
                    <a:bodyPr/>
                    <a:lstStyle/>
                    <a:p>
                      <a:r>
                        <a:rPr lang="en-GB" sz="1200" dirty="0" smtClean="0"/>
                        <a:t>Summary</a:t>
                      </a:r>
                      <a:endParaRPr lang="en-GB" sz="1200" dirty="0"/>
                    </a:p>
                  </a:txBody>
                  <a:tcPr/>
                </a:tc>
                <a:tc>
                  <a:txBody>
                    <a:bodyPr/>
                    <a:lstStyle/>
                    <a:p>
                      <a:r>
                        <a:rPr lang="en-GB" sz="1200" baseline="0" dirty="0" smtClean="0"/>
                        <a:t>Workaround </a:t>
                      </a:r>
                      <a:endParaRPr lang="en-GB" sz="1200" dirty="0"/>
                    </a:p>
                  </a:txBody>
                  <a:tcPr/>
                </a:tc>
              </a:tr>
              <a:tr h="561063">
                <a:tc>
                  <a:txBody>
                    <a:bodyPr/>
                    <a:lstStyle/>
                    <a:p>
                      <a:r>
                        <a:rPr lang="en-GB" sz="1200" dirty="0" smtClean="0"/>
                        <a:t>415</a:t>
                      </a:r>
                      <a:endParaRPr lang="en-GB" sz="1200" dirty="0"/>
                    </a:p>
                  </a:txBody>
                  <a:tcPr/>
                </a:tc>
                <a:tc>
                  <a:txBody>
                    <a:bodyPr/>
                    <a:lstStyle/>
                    <a:p>
                      <a:pPr rtl="0"/>
                      <a:r>
                        <a:rPr lang="en-GB" sz="1200" kern="1200" baseline="0" dirty="0" smtClean="0">
                          <a:solidFill>
                            <a:schemeClr val="dk1"/>
                          </a:solidFill>
                          <a:latin typeface="+mn-lt"/>
                          <a:ea typeface="+mn-ea"/>
                          <a:cs typeface="+mn-cs"/>
                        </a:rPr>
                        <a:t>Search: Content </a:t>
                      </a:r>
                      <a:r>
                        <a:rPr lang="en-GB" sz="1200" kern="1200" baseline="0" dirty="0" err="1" smtClean="0">
                          <a:solidFill>
                            <a:schemeClr val="dk1"/>
                          </a:solidFill>
                          <a:latin typeface="+mn-lt"/>
                          <a:ea typeface="+mn-ea"/>
                          <a:cs typeface="+mn-cs"/>
                        </a:rPr>
                        <a:t>Search_Field</a:t>
                      </a:r>
                      <a:r>
                        <a:rPr lang="en-GB" sz="1200" kern="1200" baseline="0" dirty="0" smtClean="0">
                          <a:solidFill>
                            <a:schemeClr val="dk1"/>
                          </a:solidFill>
                          <a:latin typeface="+mn-lt"/>
                          <a:ea typeface="+mn-ea"/>
                          <a:cs typeface="+mn-cs"/>
                        </a:rPr>
                        <a:t> Search is not working on the some of the content properties </a:t>
                      </a:r>
                    </a:p>
                    <a:p>
                      <a:pPr rtl="0"/>
                      <a:r>
                        <a:rPr lang="en-GB" sz="1200" kern="1200" baseline="0" dirty="0" smtClean="0">
                          <a:solidFill>
                            <a:schemeClr val="dk1"/>
                          </a:solidFill>
                          <a:latin typeface="+mn-lt"/>
                          <a:ea typeface="+mn-ea"/>
                          <a:cs typeface="+mn-cs"/>
                        </a:rPr>
                        <a:t>1. Created By</a:t>
                      </a:r>
                    </a:p>
                  </a:txBody>
                  <a:tcPr/>
                </a:tc>
                <a:tc>
                  <a:txBody>
                    <a:bodyPr/>
                    <a:lstStyle/>
                    <a:p>
                      <a:r>
                        <a:rPr lang="en-GB" sz="1200" dirty="0" smtClean="0"/>
                        <a:t>Rather than searching using</a:t>
                      </a:r>
                      <a:r>
                        <a:rPr lang="en-GB" sz="1200" baseline="0" dirty="0" smtClean="0"/>
                        <a:t> Created By use Author</a:t>
                      </a:r>
                      <a:endParaRPr lang="en-GB"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aseline="0" dirty="0" smtClean="0"/>
                    </a:p>
                  </a:txBody>
                  <a:tcPr/>
                </a:tc>
              </a:tr>
              <a:tr h="561063">
                <a:tc>
                  <a:txBody>
                    <a:bodyPr/>
                    <a:lstStyle/>
                    <a:p>
                      <a:r>
                        <a:rPr lang="en-GB" sz="1200" dirty="0" smtClean="0"/>
                        <a:t>426</a:t>
                      </a:r>
                      <a:endParaRPr lang="en-GB" sz="1200" dirty="0"/>
                    </a:p>
                  </a:txBody>
                  <a:tcPr/>
                </a:tc>
                <a:tc>
                  <a:txBody>
                    <a:bodyPr/>
                    <a:lstStyle/>
                    <a:p>
                      <a:pPr rtl="0"/>
                      <a:r>
                        <a:rPr lang="en-GB" sz="1200" kern="1200" baseline="0" dirty="0" smtClean="0">
                          <a:solidFill>
                            <a:schemeClr val="dk1"/>
                          </a:solidFill>
                          <a:latin typeface="+mn-lt"/>
                          <a:ea typeface="+mn-ea"/>
                          <a:cs typeface="+mn-cs"/>
                        </a:rPr>
                        <a:t>Search: People Search is not showing any result while deselecting the selected refiner (Subs-service Line).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smtClean="0">
                          <a:solidFill>
                            <a:schemeClr val="dk1"/>
                          </a:solidFill>
                          <a:latin typeface="+mn-lt"/>
                          <a:ea typeface="+mn-ea"/>
                          <a:cs typeface="+mn-cs"/>
                        </a:rPr>
                        <a:t>Execute the search again by clicking on the magnifying glass search button.</a:t>
                      </a:r>
                      <a:endParaRPr lang="en-GB" sz="1200" baseline="0" dirty="0" smtClean="0"/>
                    </a:p>
                  </a:txBody>
                  <a:tcPr/>
                </a:tc>
              </a:tr>
              <a:tr h="561063">
                <a:tc>
                  <a:txBody>
                    <a:bodyPr/>
                    <a:lstStyle/>
                    <a:p>
                      <a:r>
                        <a:rPr lang="en-GB" sz="1200" dirty="0" smtClean="0"/>
                        <a:t>452</a:t>
                      </a:r>
                      <a:endParaRPr lang="en-GB" sz="1200" dirty="0"/>
                    </a:p>
                  </a:txBody>
                  <a:tcPr/>
                </a:tc>
                <a:tc>
                  <a:txBody>
                    <a:bodyPr/>
                    <a:lstStyle/>
                    <a:p>
                      <a:pPr rtl="0"/>
                      <a:r>
                        <a:rPr lang="en-GB" sz="1200" kern="1200" baseline="0" dirty="0" smtClean="0">
                          <a:solidFill>
                            <a:schemeClr val="dk1"/>
                          </a:solidFill>
                          <a:latin typeface="+mn-lt"/>
                          <a:ea typeface="+mn-ea"/>
                          <a:cs typeface="+mn-cs"/>
                        </a:rPr>
                        <a:t>Search: Last Modified Date (for Field and Full text) search is not retuning any result.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smtClean="0">
                          <a:solidFill>
                            <a:schemeClr val="dk1"/>
                          </a:solidFill>
                          <a:latin typeface="+mn-lt"/>
                          <a:ea typeface="+mn-ea"/>
                          <a:cs typeface="+mn-cs"/>
                        </a:rPr>
                        <a:t>Use advanced search to search by date. </a:t>
                      </a:r>
                      <a:endParaRPr lang="en-GB" sz="1200" baseline="0" dirty="0" smtClean="0"/>
                    </a:p>
                  </a:txBody>
                  <a:tcPr/>
                </a:tc>
              </a:tr>
              <a:tr h="561063">
                <a:tc>
                  <a:txBody>
                    <a:bodyPr/>
                    <a:lstStyle/>
                    <a:p>
                      <a:r>
                        <a:rPr lang="en-GB" sz="1200" dirty="0" smtClean="0"/>
                        <a:t>464</a:t>
                      </a:r>
                      <a:endParaRPr lang="en-GB"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solidFill>
                            <a:schemeClr val="tx1">
                              <a:lumMod val="75000"/>
                            </a:schemeClr>
                          </a:solidFill>
                        </a:rPr>
                        <a:t>Team Sites: Uploading media files without filling all the mandatory fields does not leave the file in a checked out status.</a:t>
                      </a:r>
                    </a:p>
                    <a:p>
                      <a:pPr rtl="0"/>
                      <a:endParaRPr lang="en-GB" sz="1200" kern="1200" baseline="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solidFill>
                            <a:schemeClr val="tx1">
                              <a:lumMod val="75000"/>
                            </a:schemeClr>
                          </a:solidFill>
                        </a:rPr>
                        <a:t>Correct the configuration setting during manual site provisioning</a:t>
                      </a:r>
                      <a:r>
                        <a:rPr lang="en-GB" sz="1200" baseline="0" dirty="0" smtClean="0">
                          <a:solidFill>
                            <a:schemeClr val="tx1">
                              <a:lumMod val="75000"/>
                            </a:schemeClr>
                          </a:solidFill>
                        </a:rPr>
                        <a:t> process </a:t>
                      </a:r>
                      <a:r>
                        <a:rPr lang="en-GB" sz="1200" dirty="0" smtClean="0">
                          <a:solidFill>
                            <a:schemeClr val="tx1">
                              <a:lumMod val="75000"/>
                            </a:schemeClr>
                          </a:solidFill>
                        </a:rPr>
                        <a:t>to ensure files are checked out</a:t>
                      </a:r>
                      <a:r>
                        <a:rPr lang="en-GB" sz="1200" baseline="0" dirty="0" smtClean="0">
                          <a:solidFill>
                            <a:schemeClr val="tx1">
                              <a:lumMod val="75000"/>
                            </a:schemeClr>
                          </a:solidFill>
                        </a:rPr>
                        <a:t>.</a:t>
                      </a:r>
                    </a:p>
                  </a:txBody>
                  <a:tcPr/>
                </a:tc>
              </a:tr>
              <a:tr h="561063">
                <a:tc>
                  <a:txBody>
                    <a:bodyPr/>
                    <a:lstStyle/>
                    <a:p>
                      <a:r>
                        <a:rPr lang="en-GB" sz="1200" dirty="0" smtClean="0"/>
                        <a:t>463</a:t>
                      </a:r>
                      <a:endParaRPr lang="en-GB"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smtClean="0">
                          <a:solidFill>
                            <a:schemeClr val="tx1">
                              <a:lumMod val="75000"/>
                            </a:schemeClr>
                          </a:solidFill>
                        </a:rPr>
                        <a:t>Team Site: Clicking on 'Calendar' heading, errors out to 404 - Page not found.</a:t>
                      </a:r>
                      <a:endParaRPr lang="en-GB" sz="1200" kern="1200" baseline="0" dirty="0" smtClean="0">
                        <a:solidFill>
                          <a:schemeClr val="tx1">
                            <a:lumMod val="75000"/>
                          </a:schemeClr>
                        </a:solidFill>
                        <a:latin typeface="+mn-lt"/>
                        <a:ea typeface="+mn-ea"/>
                        <a:cs typeface="+mn-cs"/>
                      </a:endParaRPr>
                    </a:p>
                    <a:p>
                      <a:pPr rtl="0"/>
                      <a:endParaRPr lang="en-GB" sz="1200" kern="1200" baseline="0" dirty="0" smtClean="0">
                        <a:solidFill>
                          <a:schemeClr val="tx1">
                            <a:lumMod val="75000"/>
                          </a:schemeClr>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solidFill>
                            <a:schemeClr val="tx1">
                              <a:lumMod val="75000"/>
                            </a:schemeClr>
                          </a:solidFill>
                        </a:rPr>
                        <a:t>Specify the correct calendar URL during manual site provisioning</a:t>
                      </a:r>
                      <a:r>
                        <a:rPr lang="en-GB" sz="1200" baseline="0" dirty="0" smtClean="0">
                          <a:solidFill>
                            <a:schemeClr val="tx1">
                              <a:lumMod val="75000"/>
                            </a:schemeClr>
                          </a:solidFill>
                        </a:rPr>
                        <a:t> process.</a:t>
                      </a:r>
                      <a:endParaRPr lang="en-GB" sz="1200" b="0" i="0" u="none" strike="noStrike" dirty="0" smtClean="0">
                        <a:solidFill>
                          <a:schemeClr val="tx1">
                            <a:lumMod val="75000"/>
                          </a:schemeClr>
                        </a:solidFill>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aseline="0" dirty="0" smtClean="0">
                        <a:solidFill>
                          <a:schemeClr val="tx1">
                            <a:lumMod val="75000"/>
                          </a:schemeClr>
                        </a:solidFill>
                      </a:endParaRPr>
                    </a:p>
                  </a:txBody>
                  <a:tcPr/>
                </a:tc>
              </a:tr>
              <a:tr h="561063">
                <a:tc>
                  <a:txBody>
                    <a:bodyPr/>
                    <a:lstStyle/>
                    <a:p>
                      <a:r>
                        <a:rPr lang="en-GB" sz="1200" dirty="0" smtClean="0"/>
                        <a:t>471</a:t>
                      </a:r>
                      <a:endParaRPr lang="en-GB"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smtClean="0">
                          <a:solidFill>
                            <a:schemeClr val="tx1">
                              <a:lumMod val="75000"/>
                            </a:schemeClr>
                          </a:solidFill>
                          <a:latin typeface="+mn-lt"/>
                          <a:ea typeface="+mn-ea"/>
                          <a:cs typeface="+mn-cs"/>
                        </a:rPr>
                        <a:t>People: Skills, School, Assistant, Manager and Office are shown on the View and Edit Profile pages when they should not be.</a:t>
                      </a:r>
                      <a:endParaRPr lang="en-GB" sz="1200" dirty="0" smtClean="0">
                        <a:solidFill>
                          <a:schemeClr val="tx1">
                            <a:lumMod val="75000"/>
                          </a:schemeClr>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solidFill>
                            <a:schemeClr val="tx1">
                              <a:lumMod val="75000"/>
                            </a:schemeClr>
                          </a:solidFill>
                        </a:rPr>
                        <a:t>Implement post deployment steps to hide</a:t>
                      </a:r>
                      <a:r>
                        <a:rPr lang="en-GB" sz="1200" baseline="0" dirty="0" smtClean="0">
                          <a:solidFill>
                            <a:schemeClr val="tx1">
                              <a:lumMod val="75000"/>
                            </a:schemeClr>
                          </a:solidFill>
                        </a:rPr>
                        <a:t> the fields via the O365 Customer portal.</a:t>
                      </a:r>
                      <a:endParaRPr lang="en-GB" sz="1200" dirty="0" smtClean="0">
                        <a:solidFill>
                          <a:schemeClr val="tx1">
                            <a:lumMod val="75000"/>
                          </a:schemeClr>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aseline="0" dirty="0" smtClean="0">
                        <a:solidFill>
                          <a:schemeClr val="tx1">
                            <a:lumMod val="75000"/>
                          </a:schemeClr>
                        </a:solidFill>
                      </a:endParaRPr>
                    </a:p>
                  </a:txBody>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1.2.3: Open Issue List:</a:t>
            </a: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graphicFrame>
        <p:nvGraphicFramePr>
          <p:cNvPr id="6" name="Table 5"/>
          <p:cNvGraphicFramePr>
            <a:graphicFrameLocks noGrp="1"/>
          </p:cNvGraphicFramePr>
          <p:nvPr/>
        </p:nvGraphicFramePr>
        <p:xfrm>
          <a:off x="838200" y="1600200"/>
          <a:ext cx="7924800" cy="4008120"/>
        </p:xfrm>
        <a:graphic>
          <a:graphicData uri="http://schemas.openxmlformats.org/drawingml/2006/table">
            <a:tbl>
              <a:tblPr firstRow="1" bandRow="1">
                <a:tableStyleId>{5C22544A-7EE6-4342-B048-85BDC9FD1C3A}</a:tableStyleId>
              </a:tblPr>
              <a:tblGrid>
                <a:gridCol w="685800"/>
                <a:gridCol w="3505200"/>
                <a:gridCol w="3733800"/>
              </a:tblGrid>
              <a:tr h="693830">
                <a:tc>
                  <a:txBody>
                    <a:bodyPr/>
                    <a:lstStyle/>
                    <a:p>
                      <a:r>
                        <a:rPr lang="en-GB" sz="1200" dirty="0" smtClean="0"/>
                        <a:t>Defect Id</a:t>
                      </a:r>
                      <a:endParaRPr lang="en-GB" sz="1200" dirty="0"/>
                    </a:p>
                  </a:txBody>
                  <a:tcPr/>
                </a:tc>
                <a:tc>
                  <a:txBody>
                    <a:bodyPr/>
                    <a:lstStyle/>
                    <a:p>
                      <a:r>
                        <a:rPr lang="en-GB" sz="1200" dirty="0" smtClean="0"/>
                        <a:t>Summary</a:t>
                      </a:r>
                      <a:endParaRPr lang="en-GB" sz="1200" dirty="0"/>
                    </a:p>
                  </a:txBody>
                  <a:tcPr/>
                </a:tc>
                <a:tc>
                  <a:txBody>
                    <a:bodyPr/>
                    <a:lstStyle/>
                    <a:p>
                      <a:r>
                        <a:rPr lang="en-GB" sz="1200" dirty="0" smtClean="0"/>
                        <a:t>Business Exception or </a:t>
                      </a:r>
                      <a:r>
                        <a:rPr lang="en-GB" sz="1200" baseline="0" dirty="0" smtClean="0"/>
                        <a:t>Workaround (where available)</a:t>
                      </a:r>
                      <a:endParaRPr lang="en-GB" sz="1200" dirty="0"/>
                    </a:p>
                  </a:txBody>
                  <a:tcPr/>
                </a:tc>
              </a:tr>
              <a:tr h="525370">
                <a:tc>
                  <a:txBody>
                    <a:bodyPr/>
                    <a:lstStyle/>
                    <a:p>
                      <a:r>
                        <a:rPr lang="en-GB" sz="1200" dirty="0" smtClean="0"/>
                        <a:t>449</a:t>
                      </a:r>
                      <a:endParaRPr lang="en-GB" sz="1200" dirty="0"/>
                    </a:p>
                  </a:txBody>
                  <a:tcPr/>
                </a:tc>
                <a:tc>
                  <a:txBody>
                    <a:bodyPr/>
                    <a:lstStyle/>
                    <a:p>
                      <a:pPr rtl="0"/>
                      <a:r>
                        <a:rPr lang="en-GB" sz="1200" kern="1200" baseline="0" dirty="0" smtClean="0">
                          <a:solidFill>
                            <a:schemeClr val="dk1"/>
                          </a:solidFill>
                          <a:latin typeface="+mn-lt"/>
                          <a:ea typeface="+mn-ea"/>
                          <a:cs typeface="+mn-cs"/>
                        </a:rPr>
                        <a:t>People: Global Personnel Number (GPN)’ field is not present on Edit Profile page.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Conflicting requirements</a:t>
                      </a:r>
                      <a:r>
                        <a:rPr lang="en-GB" sz="1200" baseline="0" dirty="0" smtClean="0"/>
                        <a:t> were in place regarding the GPN field for People and Search. The following requirements which are in place for Beta Pilot have been agreed with the business (</a:t>
                      </a:r>
                      <a:r>
                        <a:rPr lang="en-GB" sz="1200" b="0" i="0" u="none" strike="noStrike" dirty="0" smtClean="0">
                          <a:solidFill>
                            <a:srgbClr val="000000"/>
                          </a:solidFill>
                          <a:latin typeface="+mn-lt"/>
                        </a:rPr>
                        <a:t>Greg Nemeth</a:t>
                      </a:r>
                      <a:r>
                        <a:rPr lang="en-GB" sz="1200" b="0" i="0" u="none" strike="noStrike" baseline="0" dirty="0" smtClean="0">
                          <a:solidFill>
                            <a:srgbClr val="000000"/>
                          </a:solidFill>
                          <a:latin typeface="+mn-lt"/>
                        </a:rPr>
                        <a:t> and Tammy Heck) :</a:t>
                      </a:r>
                    </a:p>
                    <a:p>
                      <a:pPr rtl="0"/>
                      <a:r>
                        <a:rPr lang="en-GB" sz="1200" kern="1200" baseline="0" dirty="0" smtClean="0">
                          <a:solidFill>
                            <a:schemeClr val="dk1"/>
                          </a:solidFill>
                          <a:latin typeface="+mn-lt"/>
                          <a:ea typeface="+mn-ea"/>
                          <a:cs typeface="+mn-cs"/>
                        </a:rPr>
                        <a:t>- People Profile View/Edit will not show the GPN</a:t>
                      </a:r>
                    </a:p>
                    <a:p>
                      <a:pPr rtl="0"/>
                      <a:r>
                        <a:rPr lang="en-GB" sz="1200" kern="1200" baseline="0" dirty="0" smtClean="0">
                          <a:solidFill>
                            <a:schemeClr val="dk1"/>
                          </a:solidFill>
                          <a:latin typeface="+mn-lt"/>
                          <a:ea typeface="+mn-ea"/>
                          <a:cs typeface="+mn-cs"/>
                        </a:rPr>
                        <a:t>- GPN will be set at access level ' Everyone'</a:t>
                      </a:r>
                    </a:p>
                    <a:p>
                      <a:pPr rtl="0"/>
                      <a:r>
                        <a:rPr lang="en-GB" sz="1200" kern="1200" baseline="0" dirty="0" smtClean="0">
                          <a:solidFill>
                            <a:schemeClr val="dk1"/>
                          </a:solidFill>
                          <a:latin typeface="+mn-lt"/>
                          <a:ea typeface="+mn-ea"/>
                          <a:cs typeface="+mn-cs"/>
                        </a:rPr>
                        <a:t>- GPN will be searchable.</a:t>
                      </a:r>
                      <a:endParaRPr lang="en-GB" sz="1200" b="0" i="0" u="none" strike="noStrike" dirty="0" smtClean="0">
                        <a:solidFill>
                          <a:srgbClr val="000000"/>
                        </a:solidFill>
                        <a:latin typeface="+mn-lt"/>
                      </a:endParaRPr>
                    </a:p>
                  </a:txBody>
                  <a:tcPr/>
                </a:tc>
              </a:tr>
              <a:tr h="571090">
                <a:tc>
                  <a:txBody>
                    <a:bodyPr/>
                    <a:lstStyle/>
                    <a:p>
                      <a:r>
                        <a:rPr lang="en-GB" sz="1200" dirty="0" smtClean="0"/>
                        <a:t>347</a:t>
                      </a:r>
                      <a:endParaRPr lang="en-GB" sz="1200" dirty="0"/>
                    </a:p>
                  </a:txBody>
                  <a:tcPr/>
                </a:tc>
                <a:tc>
                  <a:txBody>
                    <a:bodyPr/>
                    <a:lstStyle/>
                    <a:p>
                      <a:pPr rtl="0"/>
                      <a:r>
                        <a:rPr lang="en-GB" sz="1200" kern="1200" baseline="0" dirty="0" smtClean="0">
                          <a:solidFill>
                            <a:schemeClr val="dk1"/>
                          </a:solidFill>
                          <a:latin typeface="+mn-lt"/>
                          <a:ea typeface="+mn-ea"/>
                          <a:cs typeface="+mn-cs"/>
                        </a:rPr>
                        <a:t>People: Profile photo is not synching from SharePoint to AD.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Confirmed</a:t>
                      </a:r>
                      <a:r>
                        <a:rPr lang="en-GB" sz="1200" baseline="0" dirty="0" smtClean="0"/>
                        <a:t> by Delivery Lead (Nicola Cooper) that this functionality is not in scope for Beta Pilot.</a:t>
                      </a:r>
                    </a:p>
                  </a:txBody>
                  <a:tcPr/>
                </a:tc>
              </a:tr>
              <a:tr h="533400">
                <a:tc>
                  <a:txBody>
                    <a:bodyPr/>
                    <a:lstStyle/>
                    <a:p>
                      <a:r>
                        <a:rPr lang="en-GB" sz="1200" dirty="0" smtClean="0"/>
                        <a:t>454</a:t>
                      </a:r>
                      <a:endParaRPr lang="en-GB" sz="1200" dirty="0"/>
                    </a:p>
                  </a:txBody>
                  <a:tcPr/>
                </a:tc>
                <a:tc>
                  <a:txBody>
                    <a:bodyPr/>
                    <a:lstStyle/>
                    <a:p>
                      <a:pPr rtl="0"/>
                      <a:r>
                        <a:rPr lang="en-GB" sz="1200" kern="1200" baseline="0" dirty="0" smtClean="0">
                          <a:solidFill>
                            <a:schemeClr val="dk1"/>
                          </a:solidFill>
                          <a:latin typeface="+mn-lt"/>
                          <a:ea typeface="+mn-ea"/>
                          <a:cs typeface="+mn-cs"/>
                        </a:rPr>
                        <a:t>Search: PDF files shown incorrectly in search results and shows the webpage which contains the file instead of actual file.</a:t>
                      </a:r>
                      <a:br>
                        <a:rPr lang="en-GB" sz="1200" kern="1200" baseline="0" dirty="0" smtClean="0">
                          <a:solidFill>
                            <a:schemeClr val="dk1"/>
                          </a:solidFill>
                          <a:latin typeface="+mn-lt"/>
                          <a:ea typeface="+mn-ea"/>
                          <a:cs typeface="+mn-cs"/>
                        </a:rPr>
                      </a:br>
                      <a:r>
                        <a:rPr lang="en-GB" sz="1200" kern="1200" baseline="0" dirty="0" smtClean="0">
                          <a:solidFill>
                            <a:schemeClr val="dk1"/>
                          </a:solidFill>
                          <a:latin typeface="+mn-lt"/>
                          <a:ea typeface="+mn-ea"/>
                          <a:cs typeface="+mn-cs"/>
                        </a:rPr>
                        <a:t/>
                      </a:r>
                      <a:br>
                        <a:rPr lang="en-GB" sz="1200" kern="1200" baseline="0" dirty="0" smtClean="0">
                          <a:solidFill>
                            <a:schemeClr val="dk1"/>
                          </a:solidFill>
                          <a:latin typeface="+mn-lt"/>
                          <a:ea typeface="+mn-ea"/>
                          <a:cs typeface="+mn-cs"/>
                        </a:rPr>
                      </a:br>
                      <a:endParaRPr lang="en-GB" sz="1200" kern="1200" baseline="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This functionality whic</a:t>
                      </a:r>
                      <a:r>
                        <a:rPr lang="en-GB" sz="1200" baseline="0" dirty="0" smtClean="0"/>
                        <a:t>h was working correctly in the System Test environment is currently not working correctly. However it is working successfully in the UAT environment an as such will be investigated with a low priority to establish the issue in the System Test environment.</a:t>
                      </a:r>
                      <a:endParaRPr lang="en-GB" sz="1200" b="0" i="0" u="none" strike="noStrike" dirty="0" smtClean="0">
                        <a:solidFill>
                          <a:srgbClr val="000000"/>
                        </a:solidFill>
                        <a:latin typeface="+mn-lt"/>
                      </a:endParaRPr>
                    </a:p>
                  </a:txBody>
                  <a:tcPr/>
                </a:tc>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746" name="Rectangle 2"/>
          <p:cNvSpPr>
            <a:spLocks noGrp="1" noChangeArrowheads="1"/>
          </p:cNvSpPr>
          <p:nvPr>
            <p:ph type="title"/>
          </p:nvPr>
        </p:nvSpPr>
        <p:spPr>
          <a:xfrm>
            <a:off x="323851" y="230189"/>
            <a:ext cx="7829550" cy="930275"/>
          </a:xfrm>
        </p:spPr>
        <p:txBody>
          <a:bodyPr/>
          <a:lstStyle/>
          <a:p>
            <a:r>
              <a:rPr lang="en-GB" sz="2000" b="1" dirty="0" smtClean="0"/>
              <a:t>GNG Criteria</a:t>
            </a:r>
            <a:r>
              <a:rPr lang="en-GB" sz="2000" dirty="0" smtClean="0"/>
              <a:t>: </a:t>
            </a:r>
            <a:r>
              <a:rPr lang="en-GB" sz="2000" b="0" dirty="0" smtClean="0"/>
              <a:t>1.</a:t>
            </a:r>
            <a:r>
              <a:rPr lang="en-GB" sz="2000" dirty="0" smtClean="0"/>
              <a:t> </a:t>
            </a:r>
            <a:r>
              <a:rPr lang="en-GB" sz="2000" b="0" dirty="0" smtClean="0"/>
              <a:t>The Solution (system, process and data) is ready</a:t>
            </a:r>
            <a:endParaRPr lang="en-GB" sz="2000" b="0" dirty="0"/>
          </a:p>
        </p:txBody>
      </p:sp>
      <p:graphicFrame>
        <p:nvGraphicFramePr>
          <p:cNvPr id="1567849" name="Group 105"/>
          <p:cNvGraphicFramePr>
            <a:graphicFrameLocks noGrp="1"/>
          </p:cNvGraphicFramePr>
          <p:nvPr>
            <p:ph idx="1"/>
          </p:nvPr>
        </p:nvGraphicFramePr>
        <p:xfrm>
          <a:off x="120161" y="746567"/>
          <a:ext cx="8692660" cy="2366520"/>
        </p:xfrm>
        <a:graphic>
          <a:graphicData uri="http://schemas.openxmlformats.org/drawingml/2006/table">
            <a:tbl>
              <a:tblPr/>
              <a:tblGrid>
                <a:gridCol w="511234"/>
                <a:gridCol w="968805"/>
                <a:gridCol w="2133600"/>
                <a:gridCol w="2590800"/>
                <a:gridCol w="838200"/>
                <a:gridCol w="1650021"/>
              </a:tblGrid>
              <a:tr h="582783">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M&amp;C GNG Program Forum and FSG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 (supplied by program leads)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237901">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a:t>
                      </a:r>
                      <a:r>
                        <a:rPr kumimoji="0" lang="en-GB" sz="1100" b="0" i="0" u="none" strike="noStrike" cap="none" normalizeH="0" baseline="0" dirty="0" smtClean="0">
                          <a:ln>
                            <a:noFill/>
                          </a:ln>
                          <a:solidFill>
                            <a:schemeClr val="tx1"/>
                          </a:solidFill>
                          <a:effectLst/>
                          <a:latin typeface="Univers 45 Light" pitchFamily="2" charset="0"/>
                          <a:cs typeface="Arial" charset="0"/>
                        </a:rPr>
                        <a:t>. The Solution (system, process and data) is ready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1.3.</a:t>
                      </a:r>
                      <a:r>
                        <a:rPr kumimoji="0" lang="en-GB" sz="1100" b="0" i="0" u="none" strike="noStrike" cap="none" normalizeH="0" baseline="0" dirty="0" smtClean="0">
                          <a:ln>
                            <a:noFill/>
                          </a:ln>
                          <a:solidFill>
                            <a:schemeClr val="tx1"/>
                          </a:solidFill>
                          <a:effectLst/>
                          <a:latin typeface="Univers 45 Light" pitchFamily="2" charset="0"/>
                          <a:cs typeface="Arial" charset="0"/>
                        </a:rPr>
                        <a:t> System Performance and resilience is sufficient for Beta Pilot target user groups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NFRs approved by business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Enterprise Architecture sign off of technical test outputs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For Beta Pilot no Performance Testing planned</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1.3.1 </a:t>
                      </a:r>
                      <a:r>
                        <a:rPr kumimoji="0" lang="en-GB" sz="1100" b="0" i="0" u="none" strike="noStrike" cap="none" normalizeH="0" baseline="0" dirty="0" smtClean="0">
                          <a:ln>
                            <a:noFill/>
                          </a:ln>
                          <a:solidFill>
                            <a:schemeClr val="tx1"/>
                          </a:solidFill>
                          <a:effectLst/>
                          <a:latin typeface="Univers 45 Light" pitchFamily="2" charset="0"/>
                          <a:cs typeface="Arial" charset="0"/>
                          <a:hlinkClick r:id="rId2"/>
                        </a:rPr>
                        <a:t>Approved Performance Testing dispensation confirmed</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Complete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 </a:t>
            </a:r>
            <a:r>
              <a:rPr lang="en-US" sz="2000" b="0" dirty="0" smtClean="0"/>
              <a:t>6. We meet the necessary Info Sec and Q&amp;RM Compliance requirements</a:t>
            </a:r>
            <a:r>
              <a:rPr lang="en-US" sz="2400" b="0" dirty="0" smtClean="0"/>
              <a:t/>
            </a:r>
            <a:br>
              <a:rPr lang="en-US" sz="2400" b="0" dirty="0" smtClean="0"/>
            </a:br>
            <a:endParaRPr lang="en-GB" sz="2200" dirty="0"/>
          </a:p>
        </p:txBody>
      </p:sp>
      <p:graphicFrame>
        <p:nvGraphicFramePr>
          <p:cNvPr id="1576024" name="Group 88"/>
          <p:cNvGraphicFramePr>
            <a:graphicFrameLocks noGrp="1"/>
          </p:cNvGraphicFramePr>
          <p:nvPr>
            <p:ph idx="1"/>
          </p:nvPr>
        </p:nvGraphicFramePr>
        <p:xfrm>
          <a:off x="152400" y="1184400"/>
          <a:ext cx="8770329" cy="1863600"/>
        </p:xfrm>
        <a:graphic>
          <a:graphicData uri="http://schemas.openxmlformats.org/drawingml/2006/table">
            <a:tbl>
              <a:tblPr/>
              <a:tblGrid>
                <a:gridCol w="855784"/>
                <a:gridCol w="1676400"/>
                <a:gridCol w="1828800"/>
                <a:gridCol w="1905000"/>
                <a:gridCol w="719003"/>
                <a:gridCol w="1785342"/>
              </a:tblGrid>
              <a:tr h="582257">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US"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868700">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6. We meet the necessary Info Sec and Q&amp;RM Compliance requirements</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6.1</a:t>
                      </a:r>
                      <a:r>
                        <a:rPr kumimoji="0" lang="en-GB" sz="1100" b="0" i="0" u="none" strike="noStrike" cap="none" normalizeH="0" baseline="0" dirty="0" smtClean="0">
                          <a:ln>
                            <a:noFill/>
                          </a:ln>
                          <a:solidFill>
                            <a:schemeClr val="tx1"/>
                          </a:solidFill>
                          <a:effectLst/>
                          <a:latin typeface="Univers 45 Light" pitchFamily="2" charset="0"/>
                          <a:cs typeface="Arial" charset="0"/>
                        </a:rPr>
                        <a:t> Q&amp;RM policies and procedures have been adhered to in the solution design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Approval from Susan </a:t>
                      </a:r>
                      <a:r>
                        <a:rPr kumimoji="0" lang="en-GB" sz="1100" b="0" i="0" u="none" strike="noStrike" cap="none" normalizeH="0" baseline="0" dirty="0" err="1" smtClean="0">
                          <a:ln>
                            <a:noFill/>
                          </a:ln>
                          <a:solidFill>
                            <a:schemeClr val="tx1"/>
                          </a:solidFill>
                          <a:effectLst/>
                          <a:latin typeface="Univers 45 Light" pitchFamily="2" charset="0"/>
                          <a:cs typeface="Arial" charset="0"/>
                        </a:rPr>
                        <a:t>Chakerian</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6.1.1 Requirements documentation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Complete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 CR 106 Source Country retroactive application to BP TS content</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a:t>
            </a:r>
            <a:r>
              <a:rPr lang="en-GB" sz="2000" dirty="0" smtClean="0"/>
              <a:t>: </a:t>
            </a:r>
            <a:r>
              <a:rPr lang="en-US" sz="2000" b="0" dirty="0" smtClean="0"/>
              <a:t>6. We meet the necessary Info Sec and Q&amp;RM Compliance requirements</a:t>
            </a:r>
            <a:endParaRPr lang="en-US" sz="2400" b="0" dirty="0" smtClean="0"/>
          </a:p>
        </p:txBody>
      </p:sp>
      <p:graphicFrame>
        <p:nvGraphicFramePr>
          <p:cNvPr id="1576024" name="Group 88"/>
          <p:cNvGraphicFramePr>
            <a:graphicFrameLocks noGrp="1"/>
          </p:cNvGraphicFramePr>
          <p:nvPr>
            <p:ph idx="1"/>
          </p:nvPr>
        </p:nvGraphicFramePr>
        <p:xfrm>
          <a:off x="152400" y="1143000"/>
          <a:ext cx="8770329" cy="1863600"/>
        </p:xfrm>
        <a:graphic>
          <a:graphicData uri="http://schemas.openxmlformats.org/drawingml/2006/table">
            <a:tbl>
              <a:tblPr/>
              <a:tblGrid>
                <a:gridCol w="855784"/>
                <a:gridCol w="1676400"/>
                <a:gridCol w="1828800"/>
                <a:gridCol w="1905000"/>
                <a:gridCol w="719003"/>
                <a:gridCol w="1785342"/>
              </a:tblGrid>
              <a:tr h="582257">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US"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073152">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6. We meet the necessary Info Sec and Q&amp;RM Compliance requirements</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6.2. </a:t>
                      </a:r>
                      <a:r>
                        <a:rPr kumimoji="0" lang="en-GB" sz="1100" b="0" i="0" u="none" strike="noStrike" cap="none" normalizeH="0" baseline="0" dirty="0" smtClean="0">
                          <a:ln>
                            <a:noFill/>
                          </a:ln>
                          <a:solidFill>
                            <a:schemeClr val="tx1"/>
                          </a:solidFill>
                          <a:effectLst/>
                          <a:latin typeface="Univers 45 Light" pitchFamily="2" charset="0"/>
                          <a:cs typeface="Arial" charset="0"/>
                        </a:rPr>
                        <a:t>Information Security protocols have been adhered to in the solution design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Approval from </a:t>
                      </a:r>
                      <a:r>
                        <a:rPr kumimoji="0" lang="en-GB" sz="1100" b="0" i="0" u="none" strike="noStrike" cap="none" normalizeH="0" baseline="0" dirty="0" err="1" smtClean="0">
                          <a:ln>
                            <a:noFill/>
                          </a:ln>
                          <a:solidFill>
                            <a:schemeClr val="tx1"/>
                          </a:solidFill>
                          <a:effectLst/>
                          <a:latin typeface="Univers 45 Light" pitchFamily="2" charset="0"/>
                          <a:cs typeface="Arial" charset="0"/>
                        </a:rPr>
                        <a:t>Klara</a:t>
                      </a:r>
                      <a:r>
                        <a:rPr kumimoji="0" lang="en-GB" sz="1100" b="0" i="0" u="none" strike="noStrike" cap="none" normalizeH="0" baseline="0" dirty="0" smtClean="0">
                          <a:ln>
                            <a:noFill/>
                          </a:ln>
                          <a:solidFill>
                            <a:schemeClr val="tx1"/>
                          </a:solidFill>
                          <a:effectLst/>
                          <a:latin typeface="Univers 45 Light" pitchFamily="2" charset="0"/>
                          <a:cs typeface="Arial" charset="0"/>
                        </a:rPr>
                        <a:t> </a:t>
                      </a:r>
                      <a:r>
                        <a:rPr kumimoji="0" lang="en-GB" sz="1100" b="0" i="0" u="none" strike="noStrike" cap="none" normalizeH="0" baseline="0" dirty="0" err="1" smtClean="0">
                          <a:ln>
                            <a:noFill/>
                          </a:ln>
                          <a:solidFill>
                            <a:schemeClr val="tx1"/>
                          </a:solidFill>
                          <a:effectLst/>
                          <a:latin typeface="Univers 45 Light" pitchFamily="2" charset="0"/>
                          <a:cs typeface="Arial" charset="0"/>
                        </a:rPr>
                        <a:t>Neginsky</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6.2.1 Requirements documentation</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6.2.2 DA Approval</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6.2.3 Security Certification Test Exception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Complete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 Certification Test Exception confirmed, however minor security checks i.e. HTTPS Enabled</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0cbe1240-e4fe-486d-8edc-2712abb96eb4">MSIBM-79-7075</_dlc_DocId>
    <_dlc_DocIdUrl xmlns="0cbe1240-e4fe-486d-8edc-2712abb96eb4">
      <Url>http://sp.ey.net/msibm/_layouts/DocIdRedir.aspx?ID=MSIBM-79-7075</Url>
      <Description>MSIBM-79-7075</Description>
    </_dlc_DocIdUrl>
    <IconOverlay xmlns="http://schemas.microsoft.com/sharepoint/v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BB9BFA67D860E41801B1FFE1C772F47" ma:contentTypeVersion="1" ma:contentTypeDescription="Create a new document." ma:contentTypeScope="" ma:versionID="ae65165c16a91e01d6a28c5ab9f34286">
  <xsd:schema xmlns:xsd="http://www.w3.org/2001/XMLSchema" xmlns:xs="http://www.w3.org/2001/XMLSchema" xmlns:p="http://schemas.microsoft.com/office/2006/metadata/properties" xmlns:ns2="0cbe1240-e4fe-486d-8edc-2712abb96eb4" xmlns:ns3="http://schemas.microsoft.com/sharepoint/v4" targetNamespace="http://schemas.microsoft.com/office/2006/metadata/properties" ma:root="true" ma:fieldsID="11e48089c2e39b090a5f6bcc0cdab83b" ns2:_="" ns3:_="">
    <xsd:import namespace="0cbe1240-e4fe-486d-8edc-2712abb96eb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3: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1"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BF1F77EE-E44D-4974-953B-6BF2133921DA}">
  <ds:schemaRefs>
    <ds:schemaRef ds:uri="http://www.w3.org/XML/1998/namespace"/>
    <ds:schemaRef ds:uri="http://schemas.microsoft.com/office/2006/metadata/properties"/>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http://purl.org/dc/terms/"/>
    <ds:schemaRef ds:uri="http://schemas.microsoft.com/sharepoint/v4"/>
    <ds:schemaRef ds:uri="0cbe1240-e4fe-486d-8edc-2712abb96eb4"/>
    <ds:schemaRef ds:uri="http://purl.org/dc/elements/1.1/"/>
  </ds:schemaRefs>
</ds:datastoreItem>
</file>

<file path=customXml/itemProps2.xml><?xml version="1.0" encoding="utf-8"?>
<ds:datastoreItem xmlns:ds="http://schemas.openxmlformats.org/officeDocument/2006/customXml" ds:itemID="{9F82B0FF-3479-43F4-9B7A-CE22D65822FB}">
  <ds:schemaRefs>
    <ds:schemaRef ds:uri="http://schemas.microsoft.com/sharepoint/v3/contenttype/forms"/>
  </ds:schemaRefs>
</ds:datastoreItem>
</file>

<file path=customXml/itemProps3.xml><?xml version="1.0" encoding="utf-8"?>
<ds:datastoreItem xmlns:ds="http://schemas.openxmlformats.org/officeDocument/2006/customXml" ds:itemID="{266AAEC8-2238-49F1-9CF7-4895B0BAFD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be1240-e4fe-486d-8edc-2712abb96eb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61EF890A-819A-42ED-BE89-AC0EE6B74BD9}">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blank</Template>
  <TotalTime>8089</TotalTime>
  <Words>3643</Words>
  <Application>Microsoft Office PowerPoint</Application>
  <PresentationFormat>On-screen Show (4:3)</PresentationFormat>
  <Paragraphs>593</Paragraphs>
  <Slides>29</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5" baseType="lpstr">
      <vt:lpstr>Arial</vt:lpstr>
      <vt:lpstr>Wingdings</vt:lpstr>
      <vt:lpstr>Times New Roman</vt:lpstr>
      <vt:lpstr>Univers 45 Light</vt:lpstr>
      <vt:lpstr>Blank</vt:lpstr>
      <vt:lpstr>Bitmap Image</vt:lpstr>
      <vt:lpstr>Collaboration Beta Pilot Go / No Go (GNG)</vt:lpstr>
      <vt:lpstr>Timeline : Beta Pilot GNG Gate Process When does the material with supporting sign-offs need to be ready for review by governance bodies?</vt:lpstr>
      <vt:lpstr>Beta Pilot Go / No Go Governance Timeline :  We should be ready to take the completed material with recommendation to the Executive Sponsors Group scheduled Dec 4th </vt:lpstr>
      <vt:lpstr>GNG Criteria: 2. The Organisation (Business and ITS) is ready </vt:lpstr>
      <vt:lpstr>GNG Criteria: 2.1 Is the business ready to operate the solution</vt:lpstr>
      <vt:lpstr>GNG Criteria: 2. The Organisation (Business and ITS) is ready</vt:lpstr>
      <vt:lpstr>GNG Criteria: 2.2 ITS Support staff are ready to operationally accept the solution and to provide appropriate operational support for the new system</vt:lpstr>
      <vt:lpstr>GNG Criteria: 3. We are ready to Deploy the solution (and revert if necessary) </vt:lpstr>
      <vt:lpstr>GNG Criteria: 3.1. Deployment plan is in place, has been adequately rehearsed, communicated and tested; all parties are aware of their roles and responsibilities through the deployment process </vt:lpstr>
      <vt:lpstr>GNG Criteria: 4. We are ready to Support the solution in Early Life  </vt:lpstr>
      <vt:lpstr>GNG Criteria: 4. We are ready to Support the solution in Early Life  </vt:lpstr>
      <vt:lpstr>GNG Criteria: 5. Operational Risks are understood and mitigating actions taken </vt:lpstr>
      <vt:lpstr>GNG Criteria: 5.1 Residual Program Risks and Issues </vt:lpstr>
      <vt:lpstr>GNG Criteria: Deliverable Owners on Program</vt:lpstr>
      <vt:lpstr>Questions</vt:lpstr>
      <vt:lpstr>GNG Criteria: 1. The solution (system, process and data) is ready</vt:lpstr>
      <vt:lpstr>GNG Criteria: 1.1 The users have proven that the solution (system &amp; data) meets the business requirements for Beta Pilot</vt:lpstr>
      <vt:lpstr>UAT closure  Business recommendation</vt:lpstr>
      <vt:lpstr>GNG Criteria: 1. The Solution (system, process and data) is ready</vt:lpstr>
      <vt:lpstr>GNG Criteria: 1.2 The solution quality level is agreed to be fit for purpose </vt:lpstr>
      <vt:lpstr>GNG Criteria: 1.2 The solution quality level is agreed to be fit for purpose </vt:lpstr>
      <vt:lpstr>GNG Criteria: 1.2 The solution quality level is agreed to be fit for purpose </vt:lpstr>
      <vt:lpstr>GNG Criteria: 1.2 The solution quality level is agreed to be fit for purpose </vt:lpstr>
      <vt:lpstr>GNG Criteria: 1.2 The solution quality level is agreed to be fit for purpose </vt:lpstr>
      <vt:lpstr>GNG Criteria: 1.2 The solution quality level is agreed to be fit for purpose </vt:lpstr>
      <vt:lpstr>GNG Criteria: 1.2 The solution quality level is agreed to be fit for purpose </vt:lpstr>
      <vt:lpstr>GNG Criteria: 1. The Solution (system, process and data) is ready</vt:lpstr>
      <vt:lpstr>GNG Criteria: 6. We meet the necessary Info Sec and Q&amp;RM Compliance requirements </vt:lpstr>
      <vt:lpstr>GNG Criteria: 6. We meet the necessary Info Sec and Q&amp;RM Compliance requirements</vt:lpstr>
    </vt:vector>
  </TitlesOfParts>
  <Company>Ernst &amp; Young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 No Go Slide Deck 07 Jan 2013 USE THIS VERSION</dc:title>
  <dc:creator>Laura Murphy</dc:creator>
  <cp:lastModifiedBy>Wale Agbaje</cp:lastModifiedBy>
  <cp:revision>641</cp:revision>
  <dcterms:created xsi:type="dcterms:W3CDTF">2012-10-02T15:38:50Z</dcterms:created>
  <dcterms:modified xsi:type="dcterms:W3CDTF">2013-01-07T12:56:04Z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0x010100BBB9BFA67D860E41801B1FFE1C772F47</vt:lpwstr>
  </property>
  <property fmtid="{D5CDD505-2E9C-101B-9397-08002B2CF9AE}" pid="3" name="_dlc_DocIdItemGuid">
    <vt:lpwstr>75edea19-8cd9-4f1d-8a77-7e64af563de8</vt:lpwstr>
  </property>
</Properties>
</file>