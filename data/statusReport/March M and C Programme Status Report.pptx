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docProps/custom.xml" ContentType="application/vnd.openxmlformats-officedocument.custom-properties+xml"/>
  <Override PartName="/customXml/itemProps4.xml" ContentType="application/vnd.openxmlformats-officedocument.customXmlProperties+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7"/>
  </p:notesMasterIdLst>
  <p:sldIdLst>
    <p:sldId id="257" r:id="rId6"/>
  </p:sldIdLst>
  <p:sldSz cx="9144000" cy="6858000" type="screen4x3"/>
  <p:notesSz cx="6669088" cy="98202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993" autoAdjust="0"/>
  </p:normalViewPr>
  <p:slideViewPr>
    <p:cSldViewPr>
      <p:cViewPr>
        <p:scale>
          <a:sx n="190" d="100"/>
          <a:sy n="190" d="100"/>
        </p:scale>
        <p:origin x="-72" y="-13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250" cy="49053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778250" y="0"/>
            <a:ext cx="2889250" cy="490538"/>
          </a:xfrm>
          <a:prstGeom prst="rect">
            <a:avLst/>
          </a:prstGeom>
        </p:spPr>
        <p:txBody>
          <a:bodyPr vert="horz" lIns="91440" tIns="45720" rIns="91440" bIns="45720" rtlCol="0"/>
          <a:lstStyle>
            <a:lvl1pPr algn="r">
              <a:defRPr sz="1200"/>
            </a:lvl1pPr>
          </a:lstStyle>
          <a:p>
            <a:fld id="{2ED97580-D1D6-4B1E-96C3-C0473F1BE9D2}" type="datetimeFigureOut">
              <a:rPr lang="en-GB" smtClean="0"/>
              <a:pPr/>
              <a:t>26/03/2012</a:t>
            </a:fld>
            <a:endParaRPr lang="en-GB" dirty="0"/>
          </a:p>
        </p:txBody>
      </p:sp>
      <p:sp>
        <p:nvSpPr>
          <p:cNvPr id="4" name="Slide Image Placeholder 3"/>
          <p:cNvSpPr>
            <a:spLocks noGrp="1" noRot="1" noChangeAspect="1"/>
          </p:cNvSpPr>
          <p:nvPr>
            <p:ph type="sldImg" idx="2"/>
          </p:nvPr>
        </p:nvSpPr>
        <p:spPr>
          <a:xfrm>
            <a:off x="879475" y="736600"/>
            <a:ext cx="4910138" cy="3683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66750" y="4664075"/>
            <a:ext cx="5335588" cy="4419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9328150"/>
            <a:ext cx="2889250" cy="490538"/>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778250" y="9328150"/>
            <a:ext cx="2889250" cy="490538"/>
          </a:xfrm>
          <a:prstGeom prst="rect">
            <a:avLst/>
          </a:prstGeom>
        </p:spPr>
        <p:txBody>
          <a:bodyPr vert="horz" lIns="91440" tIns="45720" rIns="91440" bIns="45720" rtlCol="0" anchor="b"/>
          <a:lstStyle>
            <a:lvl1pPr algn="r">
              <a:defRPr sz="1200"/>
            </a:lvl1pPr>
          </a:lstStyle>
          <a:p>
            <a:fld id="{6785ADCA-8C1F-40CE-AD93-D4361F274F3C}" type="slidenum">
              <a:rPr lang="en-GB" smtClean="0"/>
              <a:pPr/>
              <a:t>‹#›</a:t>
            </a:fld>
            <a:endParaRPr lang="en-GB"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6785ADCA-8C1F-40CE-AD93-D4361F274F3C}" type="slidenum">
              <a:rPr lang="en-GB" smtClean="0"/>
              <a:pPr/>
              <a:t>1</a:t>
            </a:fld>
            <a:endParaRPr lang="en-GB"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cSld name="13_Title Only">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14_Title Only">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cSld name="Title Slide">
    <p:bg>
      <p:bgPr>
        <a:solidFill>
          <a:schemeClr val="bg1"/>
        </a:solidFill>
        <a:effectLst/>
      </p:bgPr>
    </p:bg>
    <p:spTree>
      <p:nvGrpSpPr>
        <p:cNvPr id="1" name=""/>
        <p:cNvGrpSpPr/>
        <p:nvPr/>
      </p:nvGrpSpPr>
      <p:grpSpPr>
        <a:xfrm>
          <a:off x="0" y="0"/>
          <a:ext cx="0" cy="0"/>
          <a:chOff x="0" y="0"/>
          <a:chExt cx="0" cy="0"/>
        </a:xfrm>
      </p:grpSpPr>
      <p:sp>
        <p:nvSpPr>
          <p:cNvPr id="3092" name="Freeform 20"/>
          <p:cNvSpPr>
            <a:spLocks/>
          </p:cNvSpPr>
          <p:nvPr/>
        </p:nvSpPr>
        <p:spPr bwMode="auto">
          <a:xfrm>
            <a:off x="3079932" y="552450"/>
            <a:ext cx="6057900" cy="2590800"/>
          </a:xfrm>
          <a:custGeom>
            <a:avLst/>
            <a:gdLst/>
            <a:ahLst/>
            <a:cxnLst>
              <a:cxn ang="0">
                <a:pos x="0" y="1632"/>
              </a:cxn>
              <a:cxn ang="0">
                <a:pos x="3816" y="0"/>
              </a:cxn>
              <a:cxn ang="0">
                <a:pos x="3816" y="496"/>
              </a:cxn>
              <a:cxn ang="0">
                <a:pos x="0" y="1632"/>
              </a:cxn>
            </a:cxnLst>
            <a:rect l="0" t="0" r="r" b="b"/>
            <a:pathLst>
              <a:path w="3816" h="1632">
                <a:moveTo>
                  <a:pt x="0" y="1632"/>
                </a:moveTo>
                <a:lnTo>
                  <a:pt x="3816" y="0"/>
                </a:lnTo>
                <a:lnTo>
                  <a:pt x="3816" y="496"/>
                </a:lnTo>
                <a:lnTo>
                  <a:pt x="0" y="1632"/>
                </a:lnTo>
                <a:close/>
              </a:path>
            </a:pathLst>
          </a:custGeom>
          <a:solidFill>
            <a:schemeClr val="accent2"/>
          </a:solidFill>
          <a:ln w="9525">
            <a:noFill/>
            <a:round/>
            <a:headEnd/>
            <a:tailEnd/>
          </a:ln>
          <a:effectLst/>
        </p:spPr>
        <p:txBody>
          <a:bodyPr lIns="91415" tIns="45707" rIns="91415" bIns="45707"/>
          <a:lstStyle/>
          <a:p>
            <a:pPr fontAlgn="base">
              <a:spcBef>
                <a:spcPct val="0"/>
              </a:spcBef>
              <a:spcAft>
                <a:spcPct val="0"/>
              </a:spcAft>
            </a:pPr>
            <a:endParaRPr lang="en-US" dirty="0">
              <a:solidFill>
                <a:srgbClr val="646464"/>
              </a:solidFill>
            </a:endParaRPr>
          </a:p>
        </p:txBody>
      </p:sp>
      <p:sp>
        <p:nvSpPr>
          <p:cNvPr id="3074" name="Rectangle 2"/>
          <p:cNvSpPr>
            <a:spLocks noGrp="1" noChangeArrowheads="1"/>
          </p:cNvSpPr>
          <p:nvPr>
            <p:ph type="ctrTitle"/>
          </p:nvPr>
        </p:nvSpPr>
        <p:spPr>
          <a:xfrm>
            <a:off x="3059113" y="3457575"/>
            <a:ext cx="5541962" cy="908050"/>
          </a:xfrm>
        </p:spPr>
        <p:txBody>
          <a:bodyPr tIns="0"/>
          <a:lstStyle>
            <a:lvl1pPr>
              <a:defRPr/>
            </a:lvl1pPr>
          </a:lstStyle>
          <a:p>
            <a:r>
              <a:rPr lang="en-US" smtClean="0"/>
              <a:t>Click to edit Master title style</a:t>
            </a:r>
            <a:endParaRPr lang="en-US"/>
          </a:p>
        </p:txBody>
      </p:sp>
      <p:sp>
        <p:nvSpPr>
          <p:cNvPr id="3075" name="Rectangle 3"/>
          <p:cNvSpPr>
            <a:spLocks noGrp="1" noChangeArrowheads="1"/>
          </p:cNvSpPr>
          <p:nvPr>
            <p:ph type="subTitle" idx="1"/>
          </p:nvPr>
        </p:nvSpPr>
        <p:spPr>
          <a:xfrm>
            <a:off x="3062290" y="4355815"/>
            <a:ext cx="5541962" cy="1019175"/>
          </a:xfrm>
        </p:spPr>
        <p:txBody>
          <a:bodyPr/>
          <a:lstStyle>
            <a:lvl1pPr marL="0" indent="0">
              <a:lnSpc>
                <a:spcPct val="85000"/>
              </a:lnSpc>
              <a:buFont typeface="Arial" charset="0"/>
              <a:buNone/>
              <a:defRPr sz="2000"/>
            </a:lvl1pPr>
          </a:lstStyle>
          <a:p>
            <a:r>
              <a:rPr lang="en-US" smtClean="0"/>
              <a:t>Click to edit Master subtitle style</a:t>
            </a:r>
            <a:endParaRPr lang="en-US"/>
          </a:p>
        </p:txBody>
      </p:sp>
      <p:pic>
        <p:nvPicPr>
          <p:cNvPr id="3085" name="Picture 13" descr="logo_tagblack"/>
          <p:cNvPicPr>
            <a:picLocks noChangeAspect="1" noChangeArrowheads="1"/>
          </p:cNvPicPr>
          <p:nvPr/>
        </p:nvPicPr>
        <p:blipFill>
          <a:blip r:embed="rId2" cstate="print"/>
          <a:srcRect/>
          <a:stretch>
            <a:fillRect/>
          </a:stretch>
        </p:blipFill>
        <p:spPr bwMode="auto">
          <a:xfrm>
            <a:off x="3073403" y="6032215"/>
            <a:ext cx="1908175" cy="428625"/>
          </a:xfrm>
          <a:prstGeom prst="rect">
            <a:avLst/>
          </a:prstGeom>
          <a:noFill/>
        </p:spPr>
      </p:pic>
      <p:sp>
        <p:nvSpPr>
          <p:cNvPr id="3091" name="AutoShape 19"/>
          <p:cNvSpPr>
            <a:spLocks noChangeArrowheads="1"/>
          </p:cNvSpPr>
          <p:nvPr/>
        </p:nvSpPr>
        <p:spPr bwMode="auto">
          <a:xfrm rot="5400000">
            <a:off x="-120649" y="1275636"/>
            <a:ext cx="3313112" cy="3071813"/>
          </a:xfrm>
          <a:prstGeom prst="triangle">
            <a:avLst>
              <a:gd name="adj" fmla="val 60227"/>
            </a:avLst>
          </a:prstGeom>
          <a:blipFill dpi="0" rotWithShape="0">
            <a:blip r:embed="rId3" cstate="print"/>
            <a:srcRect/>
            <a:stretch>
              <a:fillRect r="-11536"/>
            </a:stretch>
          </a:blipFill>
          <a:ln w="9525">
            <a:noFill/>
            <a:miter lim="800000"/>
            <a:headEnd/>
            <a:tailEnd/>
          </a:ln>
          <a:effectLst/>
        </p:spPr>
        <p:txBody>
          <a:bodyPr wrap="none" lIns="91415" tIns="45707" rIns="91415" bIns="45707" anchor="ctr"/>
          <a:lstStyle/>
          <a:p>
            <a:pPr fontAlgn="base">
              <a:spcBef>
                <a:spcPct val="0"/>
              </a:spcBef>
              <a:spcAft>
                <a:spcPct val="0"/>
              </a:spcAft>
            </a:pPr>
            <a:endParaRPr lang="en-US" dirty="0">
              <a:solidFill>
                <a:srgbClr val="646464"/>
              </a:solidFill>
            </a:endParaRPr>
          </a:p>
        </p:txBody>
      </p:sp>
    </p:spTree>
  </p:cSld>
  <p:clrMapOvr>
    <a:masterClrMapping/>
  </p:clrMapOvr>
  <p:transition>
    <p:wipe dir="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1_Title Only">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20_Title Only">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80" descr="EY_Q Logo"/>
          <p:cNvPicPr>
            <a:picLocks noChangeArrowheads="1"/>
          </p:cNvPicPr>
          <p:nvPr/>
        </p:nvPicPr>
        <p:blipFill>
          <a:blip r:embed="rId9" cstate="print"/>
          <a:srcRect r="4826" b="14285"/>
          <a:stretch>
            <a:fillRect/>
          </a:stretch>
        </p:blipFill>
        <p:spPr bwMode="auto">
          <a:xfrm>
            <a:off x="7838355" y="6396038"/>
            <a:ext cx="1197219" cy="317500"/>
          </a:xfrm>
          <a:prstGeom prst="rect">
            <a:avLst/>
          </a:prstGeom>
          <a:noFill/>
          <a:ln w="9525">
            <a:noFill/>
            <a:miter lim="800000"/>
            <a:headEnd/>
            <a:tailEnd/>
          </a:ln>
        </p:spPr>
      </p:pic>
      <p:sp>
        <p:nvSpPr>
          <p:cNvPr id="1027" name="Rectangle 82"/>
          <p:cNvSpPr>
            <a:spLocks noGrp="1" noChangeArrowheads="1"/>
          </p:cNvSpPr>
          <p:nvPr>
            <p:ph type="title"/>
          </p:nvPr>
        </p:nvSpPr>
        <p:spPr bwMode="auto">
          <a:xfrm>
            <a:off x="108439" y="139703"/>
            <a:ext cx="8927123" cy="684213"/>
          </a:xfrm>
          <a:prstGeom prst="rect">
            <a:avLst/>
          </a:prstGeom>
          <a:noFill/>
          <a:ln w="12700">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title style</a:t>
            </a:r>
          </a:p>
        </p:txBody>
      </p:sp>
      <p:sp>
        <p:nvSpPr>
          <p:cNvPr id="1028" name="Rectangle 83"/>
          <p:cNvSpPr>
            <a:spLocks noGrp="1" noChangeArrowheads="1"/>
          </p:cNvSpPr>
          <p:nvPr>
            <p:ph type="body" idx="1"/>
          </p:nvPr>
        </p:nvSpPr>
        <p:spPr bwMode="auto">
          <a:xfrm>
            <a:off x="108439" y="1325563"/>
            <a:ext cx="8927123" cy="4527550"/>
          </a:xfrm>
          <a:prstGeom prst="rect">
            <a:avLst/>
          </a:prstGeom>
          <a:noFill/>
          <a:ln w="9525">
            <a:noFill/>
            <a:miter lim="800000"/>
            <a:headEnd/>
            <a:tailEnd/>
          </a:ln>
        </p:spPr>
        <p:txBody>
          <a:bodyPr vert="horz" wrap="square" lIns="59364" tIns="29682" rIns="59364" bIns="29682"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149015" name="Line 87"/>
          <p:cNvSpPr>
            <a:spLocks noChangeShapeType="1"/>
          </p:cNvSpPr>
          <p:nvPr/>
        </p:nvSpPr>
        <p:spPr bwMode="auto">
          <a:xfrm>
            <a:off x="108439" y="6362700"/>
            <a:ext cx="8927123" cy="0"/>
          </a:xfrm>
          <a:prstGeom prst="line">
            <a:avLst/>
          </a:prstGeom>
          <a:noFill/>
          <a:ln w="9525">
            <a:solidFill>
              <a:schemeClr val="tx1"/>
            </a:solidFill>
            <a:round/>
            <a:headEnd/>
            <a:tailEnd/>
          </a:ln>
          <a:effectLst/>
        </p:spPr>
        <p:txBody>
          <a:bodyPr/>
          <a:lstStyle/>
          <a:p>
            <a:pPr algn="ctr">
              <a:defRPr/>
            </a:pPr>
            <a:endParaRPr lang="en-US" sz="2000" dirty="0">
              <a:solidFill>
                <a:srgbClr val="000000"/>
              </a:solidFill>
              <a:latin typeface="Times New Roman" pitchFamily="18" charset="0"/>
            </a:endParaRPr>
          </a:p>
        </p:txBody>
      </p:sp>
      <p:sp>
        <p:nvSpPr>
          <p:cNvPr id="1149017" name="Rectangle 89"/>
          <p:cNvSpPr>
            <a:spLocks noGrp="1" noChangeArrowheads="1"/>
          </p:cNvSpPr>
          <p:nvPr>
            <p:ph type="sldNum" sz="quarter" idx="4"/>
          </p:nvPr>
        </p:nvSpPr>
        <p:spPr bwMode="auto">
          <a:xfrm>
            <a:off x="3048000" y="6472238"/>
            <a:ext cx="2133600" cy="152400"/>
          </a:xfrm>
          <a:prstGeom prst="rect">
            <a:avLst/>
          </a:prstGeom>
          <a:noFill/>
          <a:ln w="9525" algn="ctr">
            <a:noFill/>
            <a:miter lim="800000"/>
            <a:headEnd/>
            <a:tailEnd/>
          </a:ln>
          <a:effectLst/>
        </p:spPr>
        <p:txBody>
          <a:bodyPr vert="horz" wrap="square" lIns="59364" tIns="29682" rIns="59364" bIns="29682" numCol="1" anchor="t" anchorCtr="0" compatLnSpc="1">
            <a:prstTxWarp prst="textNoShape">
              <a:avLst/>
            </a:prstTxWarp>
            <a:spAutoFit/>
          </a:bodyPr>
          <a:lstStyle>
            <a:lvl1pPr algn="l">
              <a:spcBef>
                <a:spcPct val="50000"/>
              </a:spcBef>
              <a:defRPr sz="600">
                <a:latin typeface="EYInterstate Light" pitchFamily="2" charset="0"/>
              </a:defRPr>
            </a:lvl1pPr>
          </a:lstStyle>
          <a:p>
            <a:pPr>
              <a:defRPr/>
            </a:pPr>
            <a:r>
              <a:rPr lang="en-US" dirty="0" smtClean="0">
                <a:solidFill>
                  <a:srgbClr val="000000"/>
                </a:solidFill>
              </a:rPr>
              <a:t>Page </a:t>
            </a:r>
            <a:fld id="{90B442F2-C673-489A-81D7-6433E3F20430}" type="slidenum">
              <a:rPr lang="en-US" smtClean="0">
                <a:solidFill>
                  <a:srgbClr val="000000"/>
                </a:solidFill>
              </a:rPr>
              <a:pPr>
                <a:defRPr/>
              </a:pPr>
              <a:t>‹#›</a:t>
            </a:fld>
            <a:endParaRPr lang="en-US" dirty="0">
              <a:solidFill>
                <a:srgbClr val="000000"/>
              </a:solidFill>
            </a:endParaRPr>
          </a:p>
        </p:txBody>
      </p:sp>
      <p:sp>
        <p:nvSpPr>
          <p:cNvPr id="1149043" name="Text Box 115"/>
          <p:cNvSpPr txBox="1">
            <a:spLocks noChangeArrowheads="1"/>
          </p:cNvSpPr>
          <p:nvPr/>
        </p:nvSpPr>
        <p:spPr bwMode="auto">
          <a:xfrm>
            <a:off x="108451" y="6499226"/>
            <a:ext cx="2993781" cy="107722"/>
          </a:xfrm>
          <a:prstGeom prst="rect">
            <a:avLst/>
          </a:prstGeom>
          <a:noFill/>
          <a:ln w="9525">
            <a:noFill/>
            <a:miter lim="800000"/>
            <a:headEnd/>
            <a:tailEnd/>
          </a:ln>
          <a:effectLst/>
        </p:spPr>
        <p:txBody>
          <a:bodyPr lIns="0" tIns="0" rIns="0" bIns="0">
            <a:spAutoFit/>
          </a:bodyPr>
          <a:lstStyle/>
          <a:p>
            <a:pPr defTabSz="593725">
              <a:defRPr/>
            </a:pPr>
            <a:r>
              <a:rPr lang="en-US" sz="700" dirty="0">
                <a:solidFill>
                  <a:srgbClr val="000000"/>
                </a:solidFill>
                <a:latin typeface="EYInterstate Light" pitchFamily="2" charset="0"/>
              </a:rPr>
              <a:t>PM07 Steering committee monthly status report template</a:t>
            </a:r>
          </a:p>
        </p:txBody>
      </p:sp>
      <p:sp>
        <p:nvSpPr>
          <p:cNvPr id="8" name="Rectangle 9"/>
          <p:cNvSpPr>
            <a:spLocks noChangeArrowheads="1"/>
          </p:cNvSpPr>
          <p:nvPr/>
        </p:nvSpPr>
        <p:spPr bwMode="auto">
          <a:xfrm>
            <a:off x="457212" y="6419850"/>
            <a:ext cx="663575" cy="196850"/>
          </a:xfrm>
          <a:prstGeom prst="rect">
            <a:avLst/>
          </a:prstGeom>
          <a:noFill/>
          <a:ln w="9525">
            <a:noFill/>
            <a:miter lim="800000"/>
            <a:headEnd/>
            <a:tailEnd/>
          </a:ln>
          <a:effectLst/>
        </p:spPr>
        <p:txBody>
          <a:bodyPr lIns="0" tIns="0" rIns="0" bIns="0"/>
          <a:lstStyle/>
          <a:p>
            <a:r>
              <a:rPr lang="en-GB" sz="1100" dirty="0">
                <a:solidFill>
                  <a:srgbClr val="000000"/>
                </a:solidFill>
                <a:cs typeface="Arial" pitchFamily="34" charset="0"/>
              </a:rPr>
              <a:t>Page </a:t>
            </a:r>
            <a:fld id="{2F5DA1AB-FD0F-410F-9FF0-8E935651E8B9}" type="slidenum">
              <a:rPr lang="en-GB" sz="1100">
                <a:solidFill>
                  <a:srgbClr val="000000"/>
                </a:solidFill>
                <a:cs typeface="Arial" pitchFamily="34" charset="0"/>
              </a:rPr>
              <a:pPr/>
              <a:t>‹#›</a:t>
            </a:fld>
            <a:endParaRPr lang="en-GB" sz="1100" dirty="0">
              <a:solidFill>
                <a:srgbClr val="000000"/>
              </a:solidFill>
              <a:cs typeface="Arial"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ransition>
    <p:wipe dir="r"/>
  </p:transition>
  <p:timing>
    <p:tnLst>
      <p:par>
        <p:cTn id="1" dur="indefinite" restart="never" nodeType="tmRoot"/>
      </p:par>
    </p:tnLst>
  </p:timing>
  <p:txStyles>
    <p:titleStyle>
      <a:lvl1pPr algn="l" defTabSz="955675" rtl="0" eaLnBrk="0" fontAlgn="base" hangingPunct="0">
        <a:spcBef>
          <a:spcPct val="0"/>
        </a:spcBef>
        <a:spcAft>
          <a:spcPct val="54000"/>
        </a:spcAft>
        <a:defRPr b="1">
          <a:solidFill>
            <a:srgbClr val="646464"/>
          </a:solidFill>
          <a:latin typeface="+mj-lt"/>
          <a:ea typeface="+mj-ea"/>
          <a:cs typeface="+mj-cs"/>
        </a:defRPr>
      </a:lvl1pPr>
      <a:lvl2pPr algn="l" defTabSz="955675" rtl="0" eaLnBrk="0" fontAlgn="base" hangingPunct="0">
        <a:spcBef>
          <a:spcPct val="0"/>
        </a:spcBef>
        <a:spcAft>
          <a:spcPct val="54000"/>
        </a:spcAft>
        <a:defRPr b="1">
          <a:solidFill>
            <a:srgbClr val="646464"/>
          </a:solidFill>
          <a:latin typeface="EYInterstate" pitchFamily="2" charset="0"/>
        </a:defRPr>
      </a:lvl2pPr>
      <a:lvl3pPr algn="l" defTabSz="955675" rtl="0" eaLnBrk="0" fontAlgn="base" hangingPunct="0">
        <a:spcBef>
          <a:spcPct val="0"/>
        </a:spcBef>
        <a:spcAft>
          <a:spcPct val="54000"/>
        </a:spcAft>
        <a:defRPr b="1">
          <a:solidFill>
            <a:srgbClr val="646464"/>
          </a:solidFill>
          <a:latin typeface="EYInterstate" pitchFamily="2" charset="0"/>
        </a:defRPr>
      </a:lvl3pPr>
      <a:lvl4pPr algn="l" defTabSz="955675" rtl="0" eaLnBrk="0" fontAlgn="base" hangingPunct="0">
        <a:spcBef>
          <a:spcPct val="0"/>
        </a:spcBef>
        <a:spcAft>
          <a:spcPct val="54000"/>
        </a:spcAft>
        <a:defRPr b="1">
          <a:solidFill>
            <a:srgbClr val="646464"/>
          </a:solidFill>
          <a:latin typeface="EYInterstate" pitchFamily="2" charset="0"/>
        </a:defRPr>
      </a:lvl4pPr>
      <a:lvl5pPr algn="l" defTabSz="955675" rtl="0" eaLnBrk="0" fontAlgn="base" hangingPunct="0">
        <a:spcBef>
          <a:spcPct val="0"/>
        </a:spcBef>
        <a:spcAft>
          <a:spcPct val="54000"/>
        </a:spcAft>
        <a:defRPr b="1">
          <a:solidFill>
            <a:srgbClr val="646464"/>
          </a:solidFill>
          <a:latin typeface="EYInterstate" pitchFamily="2" charset="0"/>
        </a:defRPr>
      </a:lvl5pPr>
      <a:lvl6pPr marL="457200" algn="l" defTabSz="955675" rtl="0" eaLnBrk="0" fontAlgn="base" hangingPunct="0">
        <a:spcBef>
          <a:spcPct val="0"/>
        </a:spcBef>
        <a:spcAft>
          <a:spcPct val="54000"/>
        </a:spcAft>
        <a:defRPr b="1">
          <a:solidFill>
            <a:srgbClr val="646464"/>
          </a:solidFill>
          <a:latin typeface="EYInterstate" pitchFamily="2" charset="0"/>
        </a:defRPr>
      </a:lvl6pPr>
      <a:lvl7pPr marL="914400" algn="l" defTabSz="955675" rtl="0" eaLnBrk="0" fontAlgn="base" hangingPunct="0">
        <a:spcBef>
          <a:spcPct val="0"/>
        </a:spcBef>
        <a:spcAft>
          <a:spcPct val="54000"/>
        </a:spcAft>
        <a:defRPr b="1">
          <a:solidFill>
            <a:srgbClr val="646464"/>
          </a:solidFill>
          <a:latin typeface="EYInterstate" pitchFamily="2" charset="0"/>
        </a:defRPr>
      </a:lvl7pPr>
      <a:lvl8pPr marL="1371600" algn="l" defTabSz="955675" rtl="0" eaLnBrk="0" fontAlgn="base" hangingPunct="0">
        <a:spcBef>
          <a:spcPct val="0"/>
        </a:spcBef>
        <a:spcAft>
          <a:spcPct val="54000"/>
        </a:spcAft>
        <a:defRPr b="1">
          <a:solidFill>
            <a:srgbClr val="646464"/>
          </a:solidFill>
          <a:latin typeface="EYInterstate" pitchFamily="2" charset="0"/>
        </a:defRPr>
      </a:lvl8pPr>
      <a:lvl9pPr marL="1828800" algn="l" defTabSz="955675" rtl="0" eaLnBrk="0" fontAlgn="base" hangingPunct="0">
        <a:spcBef>
          <a:spcPct val="0"/>
        </a:spcBef>
        <a:spcAft>
          <a:spcPct val="54000"/>
        </a:spcAft>
        <a:defRPr b="1">
          <a:solidFill>
            <a:srgbClr val="646464"/>
          </a:solidFill>
          <a:latin typeface="EYInterstate" pitchFamily="2" charset="0"/>
        </a:defRPr>
      </a:lvl9pPr>
    </p:titleStyle>
    <p:bodyStyle>
      <a:lvl1pPr marL="182563" indent="-182563" algn="l" defTabSz="947738" rtl="0" eaLnBrk="0" fontAlgn="base" hangingPunct="0">
        <a:lnSpc>
          <a:spcPct val="90000"/>
        </a:lnSpc>
        <a:spcBef>
          <a:spcPct val="50000"/>
        </a:spcBef>
        <a:spcAft>
          <a:spcPct val="0"/>
        </a:spcAft>
        <a:buClr>
          <a:srgbClr val="FDCC31"/>
        </a:buClr>
        <a:buFont typeface="EYInterstate" pitchFamily="2" charset="0"/>
        <a:buChar char="•"/>
        <a:defRPr sz="1500">
          <a:solidFill>
            <a:schemeClr val="tx1"/>
          </a:solidFill>
          <a:latin typeface="+mn-lt"/>
          <a:ea typeface="+mn-ea"/>
          <a:cs typeface="+mn-cs"/>
        </a:defRPr>
      </a:lvl1pPr>
      <a:lvl2pPr marL="474663" indent="-173038" algn="l" defTabSz="947738" rtl="0" eaLnBrk="0" fontAlgn="base" hangingPunct="0">
        <a:lnSpc>
          <a:spcPct val="90000"/>
        </a:lnSpc>
        <a:spcBef>
          <a:spcPct val="20000"/>
        </a:spcBef>
        <a:spcAft>
          <a:spcPct val="0"/>
        </a:spcAft>
        <a:buClr>
          <a:srgbClr val="FDCC31"/>
        </a:buClr>
        <a:buFont typeface="Arial Narrow" pitchFamily="34" charset="0"/>
        <a:buChar char="–"/>
        <a:defRPr sz="1500">
          <a:solidFill>
            <a:schemeClr val="tx1"/>
          </a:solidFill>
          <a:latin typeface="+mn-lt"/>
        </a:defRPr>
      </a:lvl2pPr>
      <a:lvl3pPr marL="1001713" indent="-230188" algn="l" defTabSz="947738" rtl="0" eaLnBrk="0" fontAlgn="base" hangingPunct="0">
        <a:lnSpc>
          <a:spcPct val="90000"/>
        </a:lnSpc>
        <a:spcBef>
          <a:spcPct val="20000"/>
        </a:spcBef>
        <a:spcAft>
          <a:spcPct val="0"/>
        </a:spcAft>
        <a:buClr>
          <a:srgbClr val="FDCC31"/>
        </a:buClr>
        <a:buFont typeface="EYInterstate" pitchFamily="2" charset="0"/>
        <a:buChar char="•"/>
        <a:defRPr sz="1000">
          <a:solidFill>
            <a:schemeClr val="tx1"/>
          </a:solidFill>
          <a:latin typeface="+mn-lt"/>
        </a:defRPr>
      </a:lvl3pPr>
      <a:lvl4pPr marL="1370013" indent="-246063" algn="l" defTabSz="947738" rtl="0" eaLnBrk="0" fontAlgn="base" hangingPunct="0">
        <a:lnSpc>
          <a:spcPct val="90000"/>
        </a:lnSpc>
        <a:spcBef>
          <a:spcPct val="20000"/>
        </a:spcBef>
        <a:spcAft>
          <a:spcPct val="0"/>
        </a:spcAft>
        <a:buClr>
          <a:srgbClr val="FDCC31"/>
        </a:buClr>
        <a:buFont typeface="Arial Narrow" pitchFamily="34" charset="0"/>
        <a:buChar char="–"/>
        <a:defRPr sz="900">
          <a:solidFill>
            <a:schemeClr val="tx1"/>
          </a:solidFill>
          <a:latin typeface="+mn-lt"/>
        </a:defRPr>
      </a:lvl4pPr>
      <a:lvl5pPr marL="1666875" indent="-174625" algn="l" defTabSz="947738" rtl="0" eaLnBrk="0" fontAlgn="base" hangingPunct="0">
        <a:lnSpc>
          <a:spcPct val="90000"/>
        </a:lnSpc>
        <a:spcBef>
          <a:spcPct val="20000"/>
        </a:spcBef>
        <a:spcAft>
          <a:spcPct val="0"/>
        </a:spcAft>
        <a:buClr>
          <a:srgbClr val="FDCC31"/>
        </a:buClr>
        <a:buFont typeface="EYInterstate" pitchFamily="2" charset="0"/>
        <a:buChar char="•"/>
        <a:defRPr sz="900">
          <a:solidFill>
            <a:schemeClr val="tx1"/>
          </a:solidFill>
          <a:latin typeface="+mn-lt"/>
        </a:defRPr>
      </a:lvl5pPr>
      <a:lvl6pPr marL="2124075" indent="-174625" algn="l" defTabSz="947738" rtl="0" fontAlgn="base">
        <a:lnSpc>
          <a:spcPct val="90000"/>
        </a:lnSpc>
        <a:spcBef>
          <a:spcPct val="20000"/>
        </a:spcBef>
        <a:spcAft>
          <a:spcPct val="0"/>
        </a:spcAft>
        <a:buClr>
          <a:srgbClr val="FDCC31"/>
        </a:buClr>
        <a:buFont typeface="EYInterstate" pitchFamily="2" charset="0"/>
        <a:buChar char="•"/>
        <a:defRPr sz="900">
          <a:solidFill>
            <a:schemeClr val="tx1"/>
          </a:solidFill>
          <a:latin typeface="+mn-lt"/>
        </a:defRPr>
      </a:lvl6pPr>
      <a:lvl7pPr marL="2581275" indent="-174625" algn="l" defTabSz="947738" rtl="0" fontAlgn="base">
        <a:lnSpc>
          <a:spcPct val="90000"/>
        </a:lnSpc>
        <a:spcBef>
          <a:spcPct val="20000"/>
        </a:spcBef>
        <a:spcAft>
          <a:spcPct val="0"/>
        </a:spcAft>
        <a:buClr>
          <a:srgbClr val="FDCC31"/>
        </a:buClr>
        <a:buFont typeface="EYInterstate" pitchFamily="2" charset="0"/>
        <a:buChar char="•"/>
        <a:defRPr sz="900">
          <a:solidFill>
            <a:schemeClr val="tx1"/>
          </a:solidFill>
          <a:latin typeface="+mn-lt"/>
        </a:defRPr>
      </a:lvl7pPr>
      <a:lvl8pPr marL="3038475" indent="-174625" algn="l" defTabSz="947738" rtl="0" fontAlgn="base">
        <a:lnSpc>
          <a:spcPct val="90000"/>
        </a:lnSpc>
        <a:spcBef>
          <a:spcPct val="20000"/>
        </a:spcBef>
        <a:spcAft>
          <a:spcPct val="0"/>
        </a:spcAft>
        <a:buClr>
          <a:srgbClr val="FDCC31"/>
        </a:buClr>
        <a:buFont typeface="EYInterstate" pitchFamily="2" charset="0"/>
        <a:buChar char="•"/>
        <a:defRPr sz="900">
          <a:solidFill>
            <a:schemeClr val="tx1"/>
          </a:solidFill>
          <a:latin typeface="+mn-lt"/>
        </a:defRPr>
      </a:lvl8pPr>
      <a:lvl9pPr marL="3495675" indent="-174625" algn="l" defTabSz="947738" rtl="0" fontAlgn="base">
        <a:lnSpc>
          <a:spcPct val="90000"/>
        </a:lnSpc>
        <a:spcBef>
          <a:spcPct val="20000"/>
        </a:spcBef>
        <a:spcAft>
          <a:spcPct val="0"/>
        </a:spcAft>
        <a:buClr>
          <a:srgbClr val="FDCC31"/>
        </a:buClr>
        <a:buFont typeface="EYInterstate" pitchFamily="2" charset="0"/>
        <a:buChar char="•"/>
        <a:defRPr sz="9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272"/>
          <p:cNvGraphicFramePr>
            <a:graphicFrameLocks noGrp="1"/>
          </p:cNvGraphicFramePr>
          <p:nvPr/>
        </p:nvGraphicFramePr>
        <p:xfrm>
          <a:off x="152398" y="3505200"/>
          <a:ext cx="4528122" cy="2890764"/>
        </p:xfrm>
        <a:graphic>
          <a:graphicData uri="http://schemas.openxmlformats.org/drawingml/2006/table">
            <a:tbl>
              <a:tblPr/>
              <a:tblGrid>
                <a:gridCol w="4528122"/>
              </a:tblGrid>
              <a:tr h="12367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a:ln>
                            <a:noFill/>
                          </a:ln>
                          <a:solidFill>
                            <a:schemeClr val="tx1"/>
                          </a:solidFill>
                          <a:effectLst/>
                          <a:latin typeface="EYInterstate" pitchFamily="2" charset="0"/>
                        </a:rPr>
                        <a:t>C.  ACTIVITIES BEHIND SCHEDULE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25904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Application &amp; Data:</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a:t>
                      </a:r>
                      <a:r>
                        <a:rPr kumimoji="0" lang="en-US" sz="650" b="0" i="0" u="none" strike="noStrike" kern="1200" cap="none" normalizeH="0" baseline="0" dirty="0" smtClean="0">
                          <a:ln>
                            <a:noFill/>
                          </a:ln>
                          <a:solidFill>
                            <a:schemeClr val="bg2">
                              <a:lumMod val="75000"/>
                            </a:schemeClr>
                          </a:solidFill>
                          <a:effectLst/>
                          <a:latin typeface="EYInterstate Light"/>
                          <a:ea typeface="+mn-ea"/>
                          <a:cs typeface="Arial" charset="0"/>
                        </a:rPr>
                        <a:t>Finalizing Phase 1 and Rediscovery re-planning activities given the need for dependant Programs (namely SharePoint and Tech Foundation) to complete their re-planning activities.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SharePoint</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Research tools – GAAIT and Credential replacements.  Subscribe and Deliver – Overall Vision and Scope.  DTU – BA and SA activity are behind.</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lumMod val="75000"/>
                            </a:schemeClr>
                          </a:solidFill>
                          <a:effectLst/>
                          <a:latin typeface="EYInterstate Light" pitchFamily="2" charset="0"/>
                        </a:rPr>
                        <a:t>Outlook/Exchange:</a:t>
                      </a:r>
                      <a:r>
                        <a:rPr kumimoji="0" lang="en-US" sz="650" b="0" i="0" u="none" strike="noStrike" cap="none" normalizeH="0" baseline="0" dirty="0" smtClean="0">
                          <a:ln>
                            <a:noFill/>
                          </a:ln>
                          <a:solidFill>
                            <a:schemeClr val="bg2">
                              <a:lumMod val="75000"/>
                            </a:schemeClr>
                          </a:solidFill>
                          <a:effectLst/>
                          <a:latin typeface="EYInterstate Light" pitchFamily="2" charset="0"/>
                        </a:rPr>
                        <a:t> </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Deployment plan contingent on Business Deployment Strategy, DCC schedule and bandwidth analysis. Completion of Outlook Mail Integrated Apps impact assessment/validation with the business. Publish Lync and Outlook governance model.</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lumMod val="75000"/>
                            </a:schemeClr>
                          </a:solidFill>
                          <a:effectLst/>
                          <a:latin typeface="EYInterstate Light" pitchFamily="2" charset="0"/>
                        </a:rPr>
                        <a:t>Lync - Technology Foundation: </a:t>
                      </a:r>
                      <a:r>
                        <a:rPr kumimoji="0" lang="en-GB"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Lync - </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Vendor  RFP down selection, interim SOW and Cloud Topology  decision remains outstanding and the work stream is still engaged with both vendors further refining the pricing and progressing the independence issue. Messaging - Approval of re scoping CR026 is not complete and impacting resource allocation.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Change Management:</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Progress visual design themes, revised comms strategy and plan. </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GB"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IT Transition Management:</a:t>
                      </a:r>
                      <a:r>
                        <a:rPr kumimoji="0" lang="en-GB"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Recruitment of TM resources.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367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D.  </a:t>
                      </a:r>
                      <a:r>
                        <a:rPr kumimoji="0" lang="en-US" sz="700" b="1" i="0" u="none" strike="noStrike" cap="none" normalizeH="0" baseline="0" dirty="0">
                          <a:ln>
                            <a:noFill/>
                          </a:ln>
                          <a:solidFill>
                            <a:schemeClr val="tx1"/>
                          </a:solidFill>
                          <a:effectLst/>
                          <a:latin typeface="EYInterstate" pitchFamily="2" charset="0"/>
                        </a:rPr>
                        <a:t>KEY ACTIVITIES PLANNED NEXT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16061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lumMod val="75000"/>
                            </a:schemeClr>
                          </a:solidFill>
                          <a:effectLst/>
                          <a:latin typeface="EYInterstate Light" pitchFamily="2" charset="0"/>
                        </a:rPr>
                        <a:t>Application Data Migration:</a:t>
                      </a:r>
                      <a:r>
                        <a:rPr kumimoji="0" lang="en-US" sz="650" b="0" i="0" u="none" strike="noStrike" cap="none" normalizeH="0" baseline="0" dirty="0" smtClean="0">
                          <a:ln>
                            <a:noFill/>
                          </a:ln>
                          <a:solidFill>
                            <a:schemeClr val="bg2">
                              <a:lumMod val="75000"/>
                            </a:schemeClr>
                          </a:solidFill>
                          <a:effectLst/>
                          <a:latin typeface="EYInterstate Light" pitchFamily="2" charset="0"/>
                        </a:rPr>
                        <a:t> </a:t>
                      </a:r>
                      <a:r>
                        <a:rPr kumimoji="0" lang="en-US" sz="650" b="0" i="0" u="none" strike="noStrike" kern="1200" cap="none" normalizeH="0" baseline="0" dirty="0" smtClean="0">
                          <a:ln>
                            <a:noFill/>
                          </a:ln>
                          <a:solidFill>
                            <a:schemeClr val="bg2">
                              <a:lumMod val="75000"/>
                            </a:schemeClr>
                          </a:solidFill>
                          <a:effectLst/>
                          <a:latin typeface="EYInterstate Light"/>
                          <a:ea typeface="+mn-ea"/>
                          <a:cs typeface="Arial" charset="0"/>
                        </a:rPr>
                        <a:t>Rebaseline both Phase 1 and Rediscovery project plans once delivery dates of key inbound dependencies have been defined, confirmed and communicated.</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50" b="0" i="0" u="sng" strike="noStrike" cap="none" normalizeH="0" baseline="0" dirty="0" smtClean="0">
                          <a:ln>
                            <a:noFill/>
                          </a:ln>
                          <a:solidFill>
                            <a:schemeClr val="bg2">
                              <a:lumMod val="75000"/>
                            </a:schemeClr>
                          </a:solidFill>
                          <a:effectLst/>
                          <a:latin typeface="EYInterstate Light" pitchFamily="2" charset="0"/>
                        </a:rPr>
                        <a:t>SharePoint</a:t>
                      </a:r>
                      <a:r>
                        <a:rPr kumimoji="0" lang="en-US"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Revising Release 1 plan. Ovitas </a:t>
                      </a:r>
                      <a:r>
                        <a:rPr kumimoji="0" lang="en-US" sz="650" b="0" i="0" u="none" strike="noStrike" cap="none" normalizeH="0" baseline="0" dirty="0" smtClean="0">
                          <a:ln>
                            <a:noFill/>
                          </a:ln>
                          <a:solidFill>
                            <a:schemeClr val="bg2">
                              <a:lumMod val="75000"/>
                            </a:schemeClr>
                          </a:solidFill>
                          <a:effectLst/>
                          <a:latin typeface="EYInterstate Light" pitchFamily="2" charset="0"/>
                        </a:rPr>
                        <a:t>Workshops will continue. </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Updating detailed project plan.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lumMod val="75000"/>
                            </a:schemeClr>
                          </a:solidFill>
                          <a:effectLst/>
                          <a:latin typeface="EYInterstate Light" pitchFamily="2" charset="0"/>
                        </a:rPr>
                        <a:t>Technology Foundation:</a:t>
                      </a:r>
                      <a:r>
                        <a:rPr kumimoji="0" lang="en-US" sz="650" b="0" i="0" u="none" strike="noStrike" cap="none" normalizeH="0" baseline="0" dirty="0" smtClean="0">
                          <a:ln>
                            <a:noFill/>
                          </a:ln>
                          <a:solidFill>
                            <a:schemeClr val="bg2">
                              <a:lumMod val="75000"/>
                            </a:schemeClr>
                          </a:solidFill>
                          <a:effectLst/>
                          <a:latin typeface="EYInterstate Light" pitchFamily="2" charset="0"/>
                        </a:rPr>
                        <a:t> </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Move to Scope Lock for both O365 SP and Messaging with MCS.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lumMod val="75000"/>
                            </a:schemeClr>
                          </a:solidFill>
                          <a:effectLst/>
                          <a:latin typeface="EYInterstate Light" pitchFamily="2" charset="0"/>
                        </a:rPr>
                        <a:t>Unified Communications</a:t>
                      </a:r>
                      <a:r>
                        <a:rPr kumimoji="0" lang="en-US" sz="650" b="0" i="0" u="none" strike="noStrike" cap="none" normalizeH="0" baseline="0" dirty="0" smtClean="0">
                          <a:ln>
                            <a:noFill/>
                          </a:ln>
                          <a:solidFill>
                            <a:schemeClr val="bg2">
                              <a:lumMod val="75000"/>
                            </a:schemeClr>
                          </a:solidFill>
                          <a:effectLst/>
                          <a:latin typeface="EYInterstate Light" pitchFamily="2" charset="0"/>
                        </a:rPr>
                        <a:t>: </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Re-alignment of programs from UC/TF structure to new end-to-end delivery model. Update plans for checkpoint on 29 March focusing on critical path items and potential options for bringing in deployment timelines.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Change Management:</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Walk through with Neil Sahdev current plans for A&amp;DM to update A&amp;DM Change plans. </a:t>
                      </a:r>
                      <a:r>
                        <a:rPr kumimoji="0" lang="en-GB"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Discuss potential SharePoint benefits with Kerri Keller, Further develop refreshed M&amp;C Business Case, Engage with SharePoint stakeholder around benefits.</a:t>
                      </a:r>
                      <a:endPar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IT </a:t>
                      </a:r>
                      <a:r>
                        <a:rPr kumimoji="0" lang="en-US" sz="650" b="0" i="0" u="sng" strike="noStrike" kern="1200" cap="none" normalizeH="0" baseline="0" dirty="0">
                          <a:ln>
                            <a:noFill/>
                          </a:ln>
                          <a:solidFill>
                            <a:schemeClr val="bg2">
                              <a:lumMod val="75000"/>
                            </a:schemeClr>
                          </a:solidFill>
                          <a:effectLst/>
                          <a:latin typeface="EYInterstate Light" pitchFamily="2" charset="0"/>
                          <a:ea typeface="+mn-ea"/>
                          <a:cs typeface="+mn-cs"/>
                        </a:rPr>
                        <a:t>Transition Management</a:t>
                      </a:r>
                      <a:r>
                        <a:rPr kumimoji="0" lang="en-US"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a:t>
                      </a:r>
                      <a:r>
                        <a:rPr kumimoji="0" lang="en-US" sz="600" b="1" i="0" u="none" strike="noStrike" kern="1200" cap="none" normalizeH="0" baseline="0" dirty="0" smtClean="0">
                          <a:ln>
                            <a:noFill/>
                          </a:ln>
                          <a:solidFill>
                            <a:schemeClr val="tx2"/>
                          </a:solidFill>
                          <a:effectLst/>
                          <a:latin typeface="EYInterstate Light" pitchFamily="2" charset="0"/>
                          <a:ea typeface="+mn-ea"/>
                          <a:cs typeface="+mn-cs"/>
                        </a:rPr>
                        <a:t>Attending Microsoft O365 workshop w/c 26 March.  Baseline service design plan. Baseline service transition plan.</a:t>
                      </a:r>
                      <a:endPar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 name="Group 852"/>
          <p:cNvGraphicFramePr>
            <a:graphicFrameLocks noGrp="1"/>
          </p:cNvGraphicFramePr>
          <p:nvPr/>
        </p:nvGraphicFramePr>
        <p:xfrm>
          <a:off x="4752531" y="3124200"/>
          <a:ext cx="4239069" cy="2362199"/>
        </p:xfrm>
        <a:graphic>
          <a:graphicData uri="http://schemas.openxmlformats.org/drawingml/2006/table">
            <a:tbl>
              <a:tblPr/>
              <a:tblGrid>
                <a:gridCol w="2135024"/>
                <a:gridCol w="2104045"/>
              </a:tblGrid>
              <a:tr h="141740">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G. MATTERS FOR IMMEDIATE ATTENTION – typically specific current issues or scope changes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r>
              <a:tr h="14174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Issues to be resolved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Recommended Action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39178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50" b="0" i="0" u="none" strike="noStrike" cap="none" normalizeH="0" baseline="0" dirty="0" smtClean="0">
                          <a:ln>
                            <a:noFill/>
                          </a:ln>
                          <a:solidFill>
                            <a:schemeClr val="bg2">
                              <a:lumMod val="75000"/>
                            </a:schemeClr>
                          </a:solidFill>
                          <a:effectLst/>
                          <a:latin typeface="EYInterstate Light" pitchFamily="2" charset="0"/>
                        </a:rPr>
                        <a:t>Need to recruit a significant number of additional resources into the program. Recruitment of skilled staff proving very difficult and will impact schedules</a:t>
                      </a:r>
                      <a:endParaRPr kumimoji="0" lang="en-US" sz="650" b="0" i="0" u="none" strike="noStrike" cap="none" normalizeH="0" baseline="0" dirty="0">
                        <a:ln>
                          <a:noFill/>
                        </a:ln>
                        <a:solidFill>
                          <a:schemeClr val="bg2">
                            <a:lumMod val="75000"/>
                          </a:schemeClr>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50" b="0" i="0" u="none" strike="noStrike" cap="none" normalizeH="0" baseline="0" dirty="0" smtClean="0">
                          <a:ln>
                            <a:noFill/>
                          </a:ln>
                          <a:solidFill>
                            <a:schemeClr val="bg2">
                              <a:lumMod val="75000"/>
                            </a:schemeClr>
                          </a:solidFill>
                          <a:effectLst/>
                          <a:latin typeface="EYInterstate Light" pitchFamily="2" charset="0"/>
                        </a:rPr>
                        <a:t>To be reviewed as part of 30 Day Plan exercise. </a:t>
                      </a:r>
                      <a:endParaRPr kumimoji="0" lang="en-US" sz="650" b="0" i="0" u="none" strike="noStrike" cap="none" normalizeH="0" baseline="0" dirty="0">
                        <a:ln>
                          <a:noFill/>
                        </a:ln>
                        <a:solidFill>
                          <a:schemeClr val="bg2">
                            <a:lumMod val="75000"/>
                          </a:schemeClr>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34317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rPr>
                        <a:t>Engagement with Areas has not moved at the pace required to establish a Change Network and start to develop Deployment </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plans.</a:t>
                      </a:r>
                      <a:endPar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Jackie Knight working with Sophie Boiron and Martin Kremmer on planning engagement to engage with areas from Feb (work in progress).</a:t>
                      </a:r>
                      <a:endPar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3842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Team is investigate the impact of the Office 365  contract and will replan accordingly.</a:t>
                      </a:r>
                      <a:endPar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Investigate timescale, resource and cost implications</a:t>
                      </a:r>
                      <a:endPar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3842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Lack of clarity on the SharePoint 15 adoption/features</a:t>
                      </a:r>
                      <a:endPar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Update on daily stand up call that a meeting is occurring later this week to resolve</a:t>
                      </a:r>
                      <a:endPar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86690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Agreement needs to be reached between Cross-Org and IT Service Delivery teams on the common operating model and resourcing strategy for the Portfolio Teams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Alan now progressing with Mo, Margaret and Chris to finalise the Operating Model (incl. reaching agreement on the resourcing strategy) – decision was expected during Interlock meeting held 24/02/12 however mixed messages on the outcome.  Neil to set-up meeting with Cross-Org, Strategy and Architecture and IT SD to reach agreement (in progress)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4" name="Group 270"/>
          <p:cNvGraphicFramePr>
            <a:graphicFrameLocks noGrp="1"/>
          </p:cNvGraphicFramePr>
          <p:nvPr/>
        </p:nvGraphicFramePr>
        <p:xfrm>
          <a:off x="7391400" y="36991"/>
          <a:ext cx="1628477" cy="535063"/>
        </p:xfrm>
        <a:graphic>
          <a:graphicData uri="http://schemas.openxmlformats.org/drawingml/2006/table">
            <a:tbl>
              <a:tblPr/>
              <a:tblGrid>
                <a:gridCol w="814238"/>
                <a:gridCol w="814239"/>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a:ln>
                            <a:noFill/>
                          </a:ln>
                          <a:solidFill>
                            <a:schemeClr val="tx1"/>
                          </a:solidFill>
                          <a:effectLst/>
                          <a:latin typeface="EYInterstate" pitchFamily="2" charset="0"/>
                          <a:ea typeface="+mn-ea"/>
                          <a:cs typeface="+mn-cs"/>
                        </a:rPr>
                        <a:t>OVERALL INITIATIVE STATUS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EYInterstate Light" pitchFamily="2" charset="0"/>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5" name="Table 4"/>
          <p:cNvGraphicFramePr>
            <a:graphicFrameLocks noGrp="1"/>
          </p:cNvGraphicFramePr>
          <p:nvPr/>
        </p:nvGraphicFramePr>
        <p:xfrm>
          <a:off x="4752531" y="2057400"/>
          <a:ext cx="4239069" cy="1066801"/>
        </p:xfrm>
        <a:graphic>
          <a:graphicData uri="http://schemas.openxmlformats.org/drawingml/2006/table">
            <a:tbl>
              <a:tblPr/>
              <a:tblGrid>
                <a:gridCol w="2135024"/>
                <a:gridCol w="2104045"/>
              </a:tblGrid>
              <a:tr h="257581">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F.  KEY RISKS – typically future challenges or external circumstances that may affect the initiative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r>
              <a:tr h="161837">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Risks to be addressed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Mitigating Action</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34726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Final </a:t>
                      </a:r>
                      <a:r>
                        <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rPr>
                        <a:t>selection arising from the hosting services RFP may become delayed by the selection of options and </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services.</a:t>
                      </a:r>
                      <a:endPar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noProof="0" dirty="0">
                          <a:ln>
                            <a:noFill/>
                          </a:ln>
                          <a:solidFill>
                            <a:schemeClr val="bg2">
                              <a:lumMod val="75000"/>
                            </a:schemeClr>
                          </a:solidFill>
                          <a:effectLst/>
                          <a:latin typeface="EYInterstate Light" pitchFamily="2" charset="0"/>
                          <a:ea typeface="+mn-ea"/>
                          <a:cs typeface="+mn-cs"/>
                        </a:rPr>
                        <a:t> </a:t>
                      </a:r>
                      <a:r>
                        <a:rPr kumimoji="0" lang="en-US"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Once the outcomes of the various RFP decisions are  known,  will  asses the impact upon the current plans.  </a:t>
                      </a:r>
                      <a:endParaRPr kumimoji="0" lang="en-US" sz="650" b="0" i="0" u="none" strike="noStrike" kern="1200" cap="none" normalizeH="0" baseline="0" noProof="0" dirty="0">
                        <a:ln>
                          <a:noFill/>
                        </a:ln>
                        <a:solidFill>
                          <a:schemeClr val="bg2">
                            <a:lumMod val="75000"/>
                          </a:schemeClr>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30011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50" b="0" i="0" u="none" strike="noStrike" cap="none" normalizeH="0" baseline="0" dirty="0">
                          <a:ln>
                            <a:noFill/>
                          </a:ln>
                          <a:solidFill>
                            <a:schemeClr val="bg2">
                              <a:lumMod val="75000"/>
                            </a:schemeClr>
                          </a:solidFill>
                          <a:effectLst/>
                          <a:latin typeface="EYInterstate Light" pitchFamily="2" charset="0"/>
                        </a:rPr>
                        <a:t>Project will require a significant amount of time from SMRs from both the business &amp; </a:t>
                      </a:r>
                      <a:r>
                        <a:rPr kumimoji="0" lang="en-US" sz="650" b="0" i="0" u="none" strike="noStrike" cap="none" normalizeH="0" baseline="0" dirty="0" smtClean="0">
                          <a:ln>
                            <a:noFill/>
                          </a:ln>
                          <a:solidFill>
                            <a:schemeClr val="bg2">
                              <a:lumMod val="75000"/>
                            </a:schemeClr>
                          </a:solidFill>
                          <a:effectLst/>
                          <a:latin typeface="EYInterstate Light" pitchFamily="2" charset="0"/>
                        </a:rPr>
                        <a:t>IT.</a:t>
                      </a:r>
                      <a:endParaRPr kumimoji="0" lang="en-US" sz="650" b="0" i="0" u="none" strike="noStrike" cap="none" normalizeH="0" baseline="0" dirty="0">
                        <a:ln>
                          <a:noFill/>
                        </a:ln>
                        <a:solidFill>
                          <a:schemeClr val="bg2">
                            <a:lumMod val="75000"/>
                          </a:schemeClr>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50" b="0" i="0" u="none" strike="noStrike" cap="none" normalizeH="0" baseline="0" dirty="0">
                          <a:ln>
                            <a:noFill/>
                          </a:ln>
                          <a:solidFill>
                            <a:schemeClr val="bg2">
                              <a:lumMod val="75000"/>
                            </a:schemeClr>
                          </a:solidFill>
                          <a:effectLst/>
                          <a:latin typeface="EYInterstate Light" pitchFamily="2" charset="0"/>
                        </a:rPr>
                        <a:t>Provide detailed plans so early visibility of the need for such expertise is identified as early as possible.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6" name="Group 270"/>
          <p:cNvGraphicFramePr>
            <a:graphicFrameLocks noGrp="1"/>
          </p:cNvGraphicFramePr>
          <p:nvPr/>
        </p:nvGraphicFramePr>
        <p:xfrm>
          <a:off x="1195546" y="6553106"/>
          <a:ext cx="381000" cy="88326"/>
        </p:xfrm>
        <a:graphic>
          <a:graphicData uri="http://schemas.openxmlformats.org/drawingml/2006/table">
            <a:tbl>
              <a:tblPr/>
              <a:tblGrid>
                <a:gridCol w="381000"/>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7" name="Group 270"/>
          <p:cNvGraphicFramePr>
            <a:graphicFrameLocks noGrp="1"/>
          </p:cNvGraphicFramePr>
          <p:nvPr/>
        </p:nvGraphicFramePr>
        <p:xfrm>
          <a:off x="3979855" y="6582966"/>
          <a:ext cx="523914" cy="88326"/>
        </p:xfrm>
        <a:graphic>
          <a:graphicData uri="http://schemas.openxmlformats.org/drawingml/2006/table">
            <a:tbl>
              <a:tblPr/>
              <a:tblGrid>
                <a:gridCol w="523914"/>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8" name="Group 270"/>
          <p:cNvGraphicFramePr>
            <a:graphicFrameLocks noGrp="1"/>
          </p:cNvGraphicFramePr>
          <p:nvPr/>
        </p:nvGraphicFramePr>
        <p:xfrm>
          <a:off x="6515865" y="6550835"/>
          <a:ext cx="381000" cy="90597"/>
        </p:xfrm>
        <a:graphic>
          <a:graphicData uri="http://schemas.openxmlformats.org/drawingml/2006/table">
            <a:tbl>
              <a:tblPr/>
              <a:tblGrid>
                <a:gridCol w="381000"/>
              </a:tblGrid>
              <a:tr h="90597">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pSp>
        <p:nvGrpSpPr>
          <p:cNvPr id="9" name="Group 27"/>
          <p:cNvGrpSpPr/>
          <p:nvPr/>
        </p:nvGrpSpPr>
        <p:grpSpPr>
          <a:xfrm>
            <a:off x="285595" y="6400800"/>
            <a:ext cx="8734282" cy="494922"/>
            <a:chOff x="307495" y="6550829"/>
            <a:chExt cx="9404036" cy="494922"/>
          </a:xfrm>
        </p:grpSpPr>
        <p:sp>
          <p:nvSpPr>
            <p:cNvPr id="11" name="TextBox 10"/>
            <p:cNvSpPr txBox="1"/>
            <p:nvPr/>
          </p:nvSpPr>
          <p:spPr bwMode="gray">
            <a:xfrm>
              <a:off x="1639689" y="6576570"/>
              <a:ext cx="2611234"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12" name="TextBox 11"/>
            <p:cNvSpPr txBox="1"/>
            <p:nvPr/>
          </p:nvSpPr>
          <p:spPr bwMode="gray">
            <a:xfrm>
              <a:off x="674554" y="6657945"/>
              <a:ext cx="612668" cy="169277"/>
            </a:xfrm>
            <a:prstGeom prst="rect">
              <a:avLst/>
            </a:prstGeom>
          </p:spPr>
          <p:txBody>
            <a:bodyPr wrap="none" rtlCol="0">
              <a:spAutoFit/>
            </a:bodyPr>
            <a:lstStyle/>
            <a:p>
              <a:pPr defTabSz="955675" eaLnBrk="0" fontAlgn="base" hangingPunct="0">
                <a:spcBef>
                  <a:spcPct val="0"/>
                </a:spcBef>
              </a:pPr>
              <a:r>
                <a:rPr lang="en-US" sz="500" b="1" dirty="0">
                  <a:solidFill>
                    <a:srgbClr val="646464"/>
                  </a:solidFill>
                  <a:latin typeface="EYInterstate Light" pitchFamily="2" charset="0"/>
                </a:rPr>
                <a:t>Fully achieved</a:t>
              </a:r>
              <a:endParaRPr lang="en-GB" sz="500" b="1" kern="0" dirty="0">
                <a:solidFill>
                  <a:srgbClr val="646464"/>
                </a:solidFill>
                <a:latin typeface="EYInterstate Light" pitchFamily="2" charset="0"/>
              </a:endParaRPr>
            </a:p>
          </p:txBody>
        </p:sp>
        <p:sp>
          <p:nvSpPr>
            <p:cNvPr id="13" name="TextBox 12"/>
            <p:cNvSpPr txBox="1"/>
            <p:nvPr/>
          </p:nvSpPr>
          <p:spPr bwMode="gray">
            <a:xfrm>
              <a:off x="307495" y="6550829"/>
              <a:ext cx="4541628" cy="169277"/>
            </a:xfrm>
            <a:prstGeom prst="rect">
              <a:avLst/>
            </a:prstGeom>
          </p:spPr>
          <p:txBody>
            <a:bodyPr wrap="none" rtlCol="0">
              <a:spAutoFit/>
            </a:bodyPr>
            <a:lstStyle/>
            <a:p>
              <a:pPr defTabSz="955675" eaLnBrk="0" fontAlgn="base" hangingPunct="0">
                <a:spcBef>
                  <a:spcPct val="0"/>
                </a:spcBef>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latin typeface="EYInterstate Light" pitchFamily="2" charset="0"/>
              </a:endParaRPr>
            </a:p>
          </p:txBody>
        </p:sp>
        <p:sp>
          <p:nvSpPr>
            <p:cNvPr id="14" name="TextBox 13"/>
            <p:cNvSpPr txBox="1"/>
            <p:nvPr/>
          </p:nvSpPr>
          <p:spPr bwMode="gray">
            <a:xfrm>
              <a:off x="7423210" y="6564722"/>
              <a:ext cx="2288321"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15" name="TextBox 14"/>
            <p:cNvSpPr txBox="1"/>
            <p:nvPr/>
          </p:nvSpPr>
          <p:spPr bwMode="gray">
            <a:xfrm>
              <a:off x="4849123" y="6568697"/>
              <a:ext cx="1976087" cy="477054"/>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16" name="Freeform 94"/>
          <p:cNvSpPr>
            <a:spLocks/>
          </p:cNvSpPr>
          <p:nvPr/>
        </p:nvSpPr>
        <p:spPr bwMode="gray">
          <a:xfrm>
            <a:off x="0" y="0"/>
            <a:ext cx="6706365"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700" dirty="0">
              <a:solidFill>
                <a:srgbClr val="000000"/>
              </a:solidFill>
              <a:latin typeface="EYInterstate Light" pitchFamily="2" charset="0"/>
            </a:endParaRPr>
          </a:p>
        </p:txBody>
      </p:sp>
      <p:sp>
        <p:nvSpPr>
          <p:cNvPr id="17" name="Rectangle 183"/>
          <p:cNvSpPr txBox="1">
            <a:spLocks noChangeArrowheads="1"/>
          </p:cNvSpPr>
          <p:nvPr/>
        </p:nvSpPr>
        <p:spPr bwMode="gray">
          <a:xfrm>
            <a:off x="1" y="-34669"/>
            <a:ext cx="7086599" cy="553998"/>
          </a:xfrm>
          <a:prstGeom prst="rect">
            <a:avLst/>
          </a:prstGeom>
        </p:spPr>
        <p:txBody>
          <a:bodyPr wrap="square">
            <a:spAutoFit/>
          </a:bodyPr>
          <a:lstStyle/>
          <a:p>
            <a:pPr defTabSz="955675" eaLnBrk="0" hangingPunct="0">
              <a:defRPr/>
            </a:pPr>
            <a:r>
              <a:rPr lang="en-US" sz="1600" b="1" kern="0" smtClean="0">
                <a:solidFill>
                  <a:srgbClr val="646464"/>
                </a:solidFill>
              </a:rPr>
              <a:t>Messaging </a:t>
            </a:r>
            <a:r>
              <a:rPr lang="en-US" sz="1600" b="1" kern="0" dirty="0">
                <a:solidFill>
                  <a:srgbClr val="646464"/>
                </a:solidFill>
              </a:rPr>
              <a:t>&amp; Collaboration </a:t>
            </a:r>
            <a:r>
              <a:rPr lang="en-US" sz="1600" b="1" kern="0" dirty="0" smtClean="0">
                <a:solidFill>
                  <a:srgbClr val="646464"/>
                </a:solidFill>
              </a:rPr>
              <a:t>– March </a:t>
            </a:r>
            <a:r>
              <a:rPr lang="en-US" sz="1600" b="1" kern="0" dirty="0">
                <a:solidFill>
                  <a:srgbClr val="646464"/>
                </a:solidFill>
              </a:rPr>
              <a:t>2012</a:t>
            </a:r>
          </a:p>
          <a:p>
            <a:pPr defTabSz="955675" eaLnBrk="0" hangingPunct="0">
              <a:defRPr/>
            </a:pPr>
            <a:r>
              <a:rPr lang="en-US" sz="1400" kern="0" dirty="0" smtClean="0">
                <a:solidFill>
                  <a:srgbClr val="646464"/>
                </a:solidFill>
              </a:rPr>
              <a:t>Alan Guthrie</a:t>
            </a:r>
            <a:endParaRPr lang="en-US" sz="1400" kern="0" dirty="0">
              <a:solidFill>
                <a:srgbClr val="646464"/>
              </a:solidFill>
            </a:endParaRPr>
          </a:p>
        </p:txBody>
      </p:sp>
      <p:graphicFrame>
        <p:nvGraphicFramePr>
          <p:cNvPr id="18" name="Table 17"/>
          <p:cNvGraphicFramePr>
            <a:graphicFrameLocks noGrp="1"/>
          </p:cNvGraphicFramePr>
          <p:nvPr/>
        </p:nvGraphicFramePr>
        <p:xfrm>
          <a:off x="4752532" y="5486400"/>
          <a:ext cx="4239068" cy="971509"/>
        </p:xfrm>
        <a:graphic>
          <a:graphicData uri="http://schemas.openxmlformats.org/drawingml/2006/table">
            <a:tbl>
              <a:tblPr/>
              <a:tblGrid>
                <a:gridCol w="4239068"/>
              </a:tblGrid>
              <a:tr h="143999">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H.  GENERAL COMMENTS – must include reasoning for an overall Red or Amber Status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82751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50" b="0" i="0" u="none" strike="noStrike" cap="none" normalizeH="0" baseline="0" dirty="0" smtClean="0">
                          <a:ln>
                            <a:noFill/>
                          </a:ln>
                          <a:solidFill>
                            <a:schemeClr val="bg2">
                              <a:lumMod val="75000"/>
                            </a:schemeClr>
                          </a:solidFill>
                          <a:effectLst/>
                          <a:latin typeface="EYInterstate Light" pitchFamily="2" charset="0"/>
                        </a:rPr>
                        <a:t>Overall </a:t>
                      </a:r>
                      <a:r>
                        <a:rPr kumimoji="0" lang="en-US" sz="650" b="0" i="0" u="none" strike="noStrike" cap="none" normalizeH="0" baseline="0" dirty="0">
                          <a:ln>
                            <a:noFill/>
                          </a:ln>
                          <a:solidFill>
                            <a:schemeClr val="bg2">
                              <a:lumMod val="75000"/>
                            </a:schemeClr>
                          </a:solidFill>
                          <a:effectLst/>
                          <a:latin typeface="EYInterstate Light" pitchFamily="2" charset="0"/>
                        </a:rPr>
                        <a:t>Program status </a:t>
                      </a:r>
                      <a:r>
                        <a:rPr kumimoji="0" lang="en-US" sz="650" b="0" i="0" u="none" strike="noStrike" cap="none" normalizeH="0" baseline="0" dirty="0" smtClean="0">
                          <a:ln>
                            <a:noFill/>
                          </a:ln>
                          <a:solidFill>
                            <a:schemeClr val="bg2">
                              <a:lumMod val="75000"/>
                            </a:schemeClr>
                          </a:solidFill>
                          <a:effectLst/>
                          <a:latin typeface="EYInterstate Light" pitchFamily="2" charset="0"/>
                        </a:rPr>
                        <a:t>is </a:t>
                      </a:r>
                      <a:r>
                        <a:rPr kumimoji="0" lang="en-US" sz="650" b="0" i="0" u="none" strike="noStrike" cap="none" normalizeH="0" baseline="0" dirty="0">
                          <a:ln>
                            <a:noFill/>
                          </a:ln>
                          <a:solidFill>
                            <a:schemeClr val="bg2">
                              <a:lumMod val="75000"/>
                            </a:schemeClr>
                          </a:solidFill>
                          <a:effectLst/>
                          <a:latin typeface="EYInterstate Light" pitchFamily="2" charset="0"/>
                        </a:rPr>
                        <a:t>Red due to </a:t>
                      </a:r>
                      <a:r>
                        <a:rPr kumimoji="0" lang="en-US" sz="650" b="0" i="0" u="none" strike="noStrike" cap="none" normalizeH="0" baseline="0" dirty="0" smtClean="0">
                          <a:ln>
                            <a:noFill/>
                          </a:ln>
                          <a:solidFill>
                            <a:schemeClr val="bg2">
                              <a:lumMod val="75000"/>
                            </a:schemeClr>
                          </a:solidFill>
                          <a:effectLst/>
                          <a:latin typeface="EYInterstate Light" pitchFamily="2" charset="0"/>
                        </a:rPr>
                        <a:t>re-planning which </a:t>
                      </a:r>
                      <a:r>
                        <a:rPr kumimoji="0" lang="en-US" sz="650" b="0" i="0" u="none" strike="noStrike" cap="none" normalizeH="0" baseline="0" dirty="0">
                          <a:ln>
                            <a:noFill/>
                          </a:ln>
                          <a:solidFill>
                            <a:schemeClr val="bg2">
                              <a:lumMod val="75000"/>
                            </a:schemeClr>
                          </a:solidFill>
                          <a:effectLst/>
                          <a:latin typeface="EYInterstate Light" pitchFamily="2" charset="0"/>
                        </a:rPr>
                        <a:t>is the </a:t>
                      </a:r>
                      <a:r>
                        <a:rPr kumimoji="0" lang="en-US" sz="650" b="0" i="0" u="none" strike="noStrike" cap="none" normalizeH="0" baseline="0" dirty="0" smtClean="0">
                          <a:ln>
                            <a:noFill/>
                          </a:ln>
                          <a:solidFill>
                            <a:schemeClr val="bg2">
                              <a:lumMod val="75000"/>
                            </a:schemeClr>
                          </a:solidFill>
                          <a:effectLst/>
                          <a:latin typeface="EYInterstate Light" pitchFamily="2" charset="0"/>
                        </a:rPr>
                        <a:t>key </a:t>
                      </a:r>
                      <a:r>
                        <a:rPr kumimoji="0" lang="en-US" sz="650" b="0" i="0" u="none" strike="noStrike" cap="none" normalizeH="0" baseline="0" dirty="0">
                          <a:ln>
                            <a:noFill/>
                          </a:ln>
                          <a:solidFill>
                            <a:schemeClr val="bg2">
                              <a:lumMod val="75000"/>
                            </a:schemeClr>
                          </a:solidFill>
                          <a:effectLst/>
                          <a:latin typeface="EYInterstate Light" pitchFamily="2" charset="0"/>
                        </a:rPr>
                        <a:t>current focus</a:t>
                      </a:r>
                      <a:r>
                        <a:rPr kumimoji="0" lang="en-US" sz="650" b="0" i="0" u="none" strike="noStrike" cap="none" normalizeH="0" baseline="0" dirty="0" smtClean="0">
                          <a:ln>
                            <a:noFill/>
                          </a:ln>
                          <a:solidFill>
                            <a:schemeClr val="bg2">
                              <a:lumMod val="75000"/>
                            </a:schemeClr>
                          </a:solidFill>
                          <a:effectLst/>
                          <a:latin typeface="EYInterstate Light" pitchFamily="2" charset="0"/>
                        </a:rPr>
                        <a:t>. Need to investigate Office 365 impact.  </a:t>
                      </a:r>
                      <a:endPar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endParaRPr>
                    </a:p>
                    <a:p>
                      <a:pPr marL="0" marR="0" lvl="0" indent="90488" algn="l"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a:ln>
                            <a:noFill/>
                          </a:ln>
                          <a:solidFill>
                            <a:schemeClr val="bg2">
                              <a:lumMod val="75000"/>
                            </a:schemeClr>
                          </a:solidFill>
                          <a:effectLst/>
                          <a:latin typeface="EYInterstate Light" pitchFamily="2" charset="0"/>
                          <a:ea typeface="+mn-ea"/>
                          <a:cs typeface="+mn-cs"/>
                        </a:rPr>
                        <a:t>FY12 Budget </a:t>
                      </a:r>
                      <a:r>
                        <a:rPr kumimoji="0" lang="en-US"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                                                        $36,700,000</a:t>
                      </a:r>
                      <a:endParaRPr kumimoji="0" lang="en-US" sz="650" b="0" i="0" u="none" strike="noStrike" kern="1200" cap="none" normalizeH="0" baseline="0" noProof="0" dirty="0">
                        <a:ln>
                          <a:noFill/>
                        </a:ln>
                        <a:solidFill>
                          <a:schemeClr val="bg2">
                            <a:lumMod val="75000"/>
                          </a:schemeClr>
                        </a:solidFill>
                        <a:effectLst/>
                        <a:latin typeface="EYInterstate Light" pitchFamily="2" charset="0"/>
                        <a:ea typeface="+mn-ea"/>
                        <a:cs typeface="+mn-cs"/>
                      </a:endParaRPr>
                    </a:p>
                    <a:p>
                      <a:pPr marL="0" marR="0" lvl="0" indent="90488" algn="l"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a:ln>
                            <a:noFill/>
                          </a:ln>
                          <a:solidFill>
                            <a:schemeClr val="bg2">
                              <a:lumMod val="75000"/>
                            </a:schemeClr>
                          </a:solidFill>
                          <a:effectLst/>
                          <a:latin typeface="EYInterstate Light" pitchFamily="2" charset="0"/>
                          <a:ea typeface="+mn-ea"/>
                          <a:cs typeface="+mn-cs"/>
                        </a:rPr>
                        <a:t>Current Budget (Baseline + Approved CRs)	TBD</a:t>
                      </a:r>
                    </a:p>
                    <a:p>
                      <a:pPr marL="0" marR="0" lvl="0" indent="90488" algn="l"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a:ln>
                            <a:noFill/>
                          </a:ln>
                          <a:solidFill>
                            <a:schemeClr val="bg2">
                              <a:lumMod val="75000"/>
                            </a:schemeClr>
                          </a:solidFill>
                          <a:effectLst/>
                          <a:latin typeface="EYInterstate Light" pitchFamily="2" charset="0"/>
                          <a:ea typeface="+mn-ea"/>
                          <a:cs typeface="+mn-cs"/>
                        </a:rPr>
                        <a:t>Spend to Date		$ </a:t>
                      </a:r>
                      <a:r>
                        <a:rPr kumimoji="0" lang="en-US"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23.5M</a:t>
                      </a:r>
                      <a:endParaRPr kumimoji="0" lang="en-US" sz="650" b="0" i="0" u="sng" strike="noStrike" kern="1200" cap="none" normalizeH="0" baseline="0" noProof="0" dirty="0">
                        <a:ln>
                          <a:noFill/>
                        </a:ln>
                        <a:solidFill>
                          <a:schemeClr val="bg2">
                            <a:lumMod val="75000"/>
                          </a:schemeClr>
                        </a:solidFill>
                        <a:effectLst/>
                        <a:latin typeface="EYInterstate Light" pitchFamily="2" charset="0"/>
                        <a:ea typeface="+mn-ea"/>
                        <a:cs typeface="+mn-cs"/>
                      </a:endParaRPr>
                    </a:p>
                    <a:p>
                      <a:pPr marL="0" marR="0" lvl="0" indent="90488" algn="l"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a:ln>
                            <a:noFill/>
                          </a:ln>
                          <a:solidFill>
                            <a:schemeClr val="bg2">
                              <a:lumMod val="75000"/>
                            </a:schemeClr>
                          </a:solidFill>
                          <a:effectLst/>
                          <a:latin typeface="EYInterstate Light" pitchFamily="2" charset="0"/>
                          <a:ea typeface="+mn-ea"/>
                          <a:cs typeface="+mn-cs"/>
                        </a:rPr>
                        <a:t>ETC		TBD</a:t>
                      </a:r>
                    </a:p>
                    <a:p>
                      <a:pPr marL="0" marR="0" lvl="0" indent="90488" algn="l" defTabSz="947738" rtl="0" eaLnBrk="0" fontAlgn="base" latinLnBrk="0" hangingPunct="0">
                        <a:lnSpc>
                          <a:spcPct val="100000"/>
                        </a:lnSpc>
                        <a:spcBef>
                          <a:spcPct val="0"/>
                        </a:spcBef>
                        <a:spcAft>
                          <a:spcPct val="10000"/>
                        </a:spcAft>
                        <a:buClrTx/>
                        <a:buSzTx/>
                        <a:buFontTx/>
                        <a:buNone/>
                        <a:tabLst/>
                      </a:pPr>
                      <a:r>
                        <a:rPr kumimoji="0" lang="en-US" sz="650" b="0" i="0" u="none" strike="noStrike" cap="none" normalizeH="0" baseline="0" dirty="0">
                          <a:ln>
                            <a:noFill/>
                          </a:ln>
                          <a:solidFill>
                            <a:schemeClr val="bg2">
                              <a:lumMod val="75000"/>
                            </a:schemeClr>
                          </a:solidFill>
                          <a:effectLst/>
                          <a:latin typeface="EYInterstate Light" pitchFamily="2" charset="0"/>
                        </a:rPr>
                        <a:t>Variances		TBD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9" name="Group 272"/>
          <p:cNvGraphicFramePr>
            <a:graphicFrameLocks noGrp="1"/>
          </p:cNvGraphicFramePr>
          <p:nvPr/>
        </p:nvGraphicFramePr>
        <p:xfrm>
          <a:off x="152400" y="609601"/>
          <a:ext cx="4528122" cy="2898384"/>
        </p:xfrm>
        <a:graphic>
          <a:graphicData uri="http://schemas.openxmlformats.org/drawingml/2006/table">
            <a:tbl>
              <a:tblPr/>
              <a:tblGrid>
                <a:gridCol w="4528122"/>
              </a:tblGrid>
              <a:tr h="116619">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j-lt"/>
                        </a:rPr>
                        <a:t>A.  </a:t>
                      </a:r>
                      <a:r>
                        <a:rPr kumimoji="0" lang="en-GB" sz="700" b="1" i="0" u="none" strike="noStrike" cap="none" normalizeH="0" baseline="0" dirty="0" smtClean="0">
                          <a:ln>
                            <a:noFill/>
                          </a:ln>
                          <a:solidFill>
                            <a:schemeClr val="tx1"/>
                          </a:solidFill>
                          <a:effectLst/>
                          <a:latin typeface="+mj-lt"/>
                        </a:rPr>
                        <a:t>EXECUTIVE SUMMARY – a summary of the progress for this period (not of the initiative)</a:t>
                      </a:r>
                      <a:endParaRPr kumimoji="0" lang="en-US" sz="700" b="1" i="0" u="none" strike="noStrike" cap="none" normalizeH="0" baseline="0" dirty="0">
                        <a:ln>
                          <a:noFill/>
                        </a:ln>
                        <a:solidFill>
                          <a:schemeClr val="tx1"/>
                        </a:solidFill>
                        <a:effectLst/>
                        <a:latin typeface="+mj-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24424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lumMod val="75000"/>
                            </a:schemeClr>
                          </a:solidFill>
                          <a:effectLst/>
                          <a:latin typeface="EYInterstate Light" pitchFamily="2" charset="0"/>
                        </a:rPr>
                        <a:t>Application &amp; Data Migration:</a:t>
                      </a:r>
                      <a:r>
                        <a:rPr kumimoji="0" lang="en-US" sz="650" b="0" i="0" u="none" strike="noStrike" cap="none" normalizeH="0" baseline="0" dirty="0" smtClean="0">
                          <a:ln>
                            <a:noFill/>
                          </a:ln>
                          <a:solidFill>
                            <a:schemeClr val="bg2">
                              <a:lumMod val="75000"/>
                            </a:schemeClr>
                          </a:solidFill>
                          <a:effectLst/>
                          <a:latin typeface="EYInterstate Light" pitchFamily="2" charset="0"/>
                        </a:rPr>
                        <a:t> </a:t>
                      </a:r>
                      <a:r>
                        <a:rPr kumimoji="0" lang="en-GB"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The A&amp;DM Operating Model is yet to be agreed and communicated to all IT Service Delivery Leads – session being planned with Margaret Walsh, Chris Hall, Bob Reiner, Alan Guthrie and John Costello to review the Operating Model.</a:t>
                      </a:r>
                      <a:endPar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lumMod val="75000"/>
                            </a:schemeClr>
                          </a:solidFill>
                          <a:effectLst/>
                          <a:latin typeface="EYInterstate Light" pitchFamily="2" charset="0"/>
                        </a:rPr>
                        <a:t>Outlook/Exchange</a:t>
                      </a:r>
                      <a:r>
                        <a:rPr kumimoji="0" lang="en-US" sz="650" b="0" i="0" u="none" strike="noStrike" cap="none" normalizeH="0" baseline="0" dirty="0" smtClean="0">
                          <a:ln>
                            <a:noFill/>
                          </a:ln>
                          <a:solidFill>
                            <a:schemeClr val="bg2">
                              <a:lumMod val="75000"/>
                            </a:schemeClr>
                          </a:solidFill>
                          <a:effectLst/>
                          <a:latin typeface="EYInterstate Light" pitchFamily="2" charset="0"/>
                        </a:rPr>
                        <a:t>: </a:t>
                      </a:r>
                      <a:r>
                        <a:rPr kumimoji="0" lang="en-GB"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The TF and UC programs have now been re-aligned as end-to-end program delivery teams for Outlook/Exchange and Lync. Work is now underway to transition to the new delivery model.</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Lync - Technology Foundation:</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O365 Messaging discovery documentation is being iterated by MCS engineering team. O365 SharePoint discovery documentation is submitted for MCS peer review.</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lumMod val="75000"/>
                            </a:schemeClr>
                          </a:solidFill>
                          <a:effectLst/>
                          <a:latin typeface="EYInterstate Light" pitchFamily="2" charset="0"/>
                        </a:rPr>
                        <a:t>SharePoint:</a:t>
                      </a:r>
                      <a:r>
                        <a:rPr kumimoji="0" lang="en-US" sz="650" b="0" i="0" u="none" strike="noStrike" cap="none" normalizeH="0" baseline="0" dirty="0" smtClean="0">
                          <a:ln>
                            <a:noFill/>
                          </a:ln>
                          <a:solidFill>
                            <a:schemeClr val="bg2">
                              <a:lumMod val="75000"/>
                            </a:schemeClr>
                          </a:solidFill>
                          <a:effectLst/>
                          <a:latin typeface="EYInterstate Light" pitchFamily="2" charset="0"/>
                        </a:rPr>
                        <a:t>  </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Project replanning continues. Focused on the “30 day Get to Green” plan.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Change Management:</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Continuing to work on the creation/implementation of the comms strategy. </a:t>
                      </a:r>
                      <a:r>
                        <a:rPr kumimoji="0" lang="en-GB"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Learning lead for Lync &amp; Outlook and SharePoint not recruited, so limited activity beyond initial preparation, planning and learning inventory creation.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IT Transition Management:</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Developing transition plans with each workstream based on Transition methodology. Deployment of the dormant Lync client has reached full saturation.  Deployment of Outlook client has started.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16619">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B.  KEY ACCOMPLISHMENTS THIS PERIOD</a:t>
                      </a:r>
                      <a:endParaRPr kumimoji="0" lang="en-CA"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11331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lumMod val="75000"/>
                            </a:schemeClr>
                          </a:solidFill>
                          <a:effectLst/>
                          <a:latin typeface="EYInterstate Light" pitchFamily="2" charset="0"/>
                        </a:rPr>
                        <a:t>Application &amp; Data Migration:</a:t>
                      </a:r>
                      <a:r>
                        <a:rPr kumimoji="0" lang="en-US" sz="650" b="0" i="0" u="none" strike="noStrike" cap="none" normalizeH="0" baseline="0" dirty="0" smtClean="0">
                          <a:ln>
                            <a:noFill/>
                          </a:ln>
                          <a:solidFill>
                            <a:schemeClr val="bg2">
                              <a:lumMod val="75000"/>
                            </a:schemeClr>
                          </a:solidFill>
                          <a:effectLst/>
                          <a:latin typeface="EYInterstate Light" pitchFamily="2" charset="0"/>
                        </a:rPr>
                        <a:t> </a:t>
                      </a:r>
                      <a:r>
                        <a:rPr kumimoji="0" lang="en-GB"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Completed Transition Planning.  Engaged Operations Leadership regarding formal engagement of I&amp;O resources.</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650" b="0" i="0" u="sng" strike="noStrike" cap="none" normalizeH="0" baseline="0" dirty="0" smtClean="0">
                          <a:ln>
                            <a:noFill/>
                          </a:ln>
                          <a:solidFill>
                            <a:schemeClr val="bg2">
                              <a:lumMod val="75000"/>
                            </a:schemeClr>
                          </a:solidFill>
                          <a:effectLst/>
                          <a:latin typeface="EYInterstate Light" pitchFamily="2" charset="0"/>
                        </a:rPr>
                        <a:t>Outlook/Exchange:</a:t>
                      </a:r>
                      <a:r>
                        <a:rPr kumimoji="0" lang="en-US" sz="650" b="0" i="0" u="none" strike="noStrike" cap="none" normalizeH="0" baseline="0" dirty="0" smtClean="0">
                          <a:ln>
                            <a:noFill/>
                          </a:ln>
                          <a:solidFill>
                            <a:schemeClr val="bg2">
                              <a:lumMod val="75000"/>
                            </a:schemeClr>
                          </a:solidFill>
                          <a:effectLst/>
                          <a:latin typeface="EYInterstate Light" pitchFamily="2" charset="0"/>
                        </a:rPr>
                        <a:t> </a:t>
                      </a:r>
                      <a:r>
                        <a:rPr kumimoji="0" lang="en-GB"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MMD: </a:t>
                      </a:r>
                      <a:r>
                        <a:rPr kumimoji="0" lang="en-US"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Migration RACI under development.  </a:t>
                      </a:r>
                      <a:r>
                        <a:rPr kumimoji="0" lang="en-GB"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Outlook configuration: Requirements submitted to DA for review, further requirements continue to be identified from business contacts.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lumMod val="75000"/>
                            </a:schemeClr>
                          </a:solidFill>
                          <a:effectLst/>
                          <a:latin typeface="EYInterstate Light" pitchFamily="2" charset="0"/>
                        </a:rPr>
                        <a:t>Lync - Technology Foundation: </a:t>
                      </a:r>
                      <a:r>
                        <a:rPr kumimoji="0" lang="en-US" sz="650" b="0" i="0" u="none" strike="noStrike" cap="none" normalizeH="0" baseline="0" dirty="0" smtClean="0">
                          <a:ln>
                            <a:noFill/>
                          </a:ln>
                          <a:solidFill>
                            <a:schemeClr val="bg2">
                              <a:lumMod val="75000"/>
                            </a:schemeClr>
                          </a:solidFill>
                          <a:effectLst/>
                          <a:latin typeface="EYInterstate Light" pitchFamily="2" charset="0"/>
                        </a:rPr>
                        <a:t> </a:t>
                      </a:r>
                      <a:r>
                        <a:rPr kumimoji="0" lang="en-GB"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Lync - Submitted CR to refine MCS SOW down scope and ongoing resource requirements. SharePoint - O365 Draft Discovery Documentation completed, uploaded and currently being reviewed by O365 Engineering team.</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SharePoint</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a:t>
                      </a:r>
                      <a:r>
                        <a:rPr kumimoji="0" lang="en-GB"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Development continues Search, People, Communities and DTU bug fixes.  Communities, DTU Requirements in progress.  Design begun on subscription management requirements (DTU)</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Change Management:</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a:t>
                      </a:r>
                      <a:r>
                        <a:rPr kumimoji="0" lang="en-GB"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Continued development of the refreshed M&amp;C Business Case,  Developed high level summary of potential Lync Benefits. First review of M&amp;C refreshed comms strategy, </a:t>
                      </a:r>
                      <a:endParaRPr kumimoji="0" lang="en-GB"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IT Transition Management:</a:t>
                      </a:r>
                      <a:r>
                        <a:rPr kumimoji="0" lang="en-GB"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Continuing to refocus and reprioritize Transition structure for M&amp;C.</a:t>
                      </a:r>
                      <a:endParaRPr kumimoji="0" lang="en-GB" sz="650" b="0" i="0" u="none" strike="noStrike" kern="1200" cap="none" normalizeH="0" baseline="0" noProof="0" dirty="0">
                        <a:ln>
                          <a:noFill/>
                        </a:ln>
                        <a:solidFill>
                          <a:schemeClr val="bg2">
                            <a:lumMod val="75000"/>
                          </a:schemeClr>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20" name="Table 19"/>
          <p:cNvGraphicFramePr>
            <a:graphicFrameLocks noGrp="1"/>
          </p:cNvGraphicFramePr>
          <p:nvPr/>
        </p:nvGraphicFramePr>
        <p:xfrm>
          <a:off x="4752532" y="604031"/>
          <a:ext cx="4239069" cy="1377168"/>
        </p:xfrm>
        <a:graphic>
          <a:graphicData uri="http://schemas.openxmlformats.org/drawingml/2006/table">
            <a:tbl>
              <a:tblPr/>
              <a:tblGrid>
                <a:gridCol w="1433575"/>
                <a:gridCol w="699784"/>
                <a:gridCol w="839144"/>
                <a:gridCol w="574047"/>
                <a:gridCol w="692519"/>
              </a:tblGrid>
              <a:tr h="189938">
                <a:tc gridSpan="5">
                  <a:txBody>
                    <a:bodyPr/>
                    <a:lstStyle/>
                    <a:p>
                      <a:pPr marL="228600" marR="0" lvl="0" indent="-228600" algn="l" defTabSz="947738" rtl="0" eaLnBrk="0" fontAlgn="base" latinLnBrk="0" hangingPunct="0">
                        <a:lnSpc>
                          <a:spcPct val="100000"/>
                        </a:lnSpc>
                        <a:spcBef>
                          <a:spcPct val="0"/>
                        </a:spcBef>
                        <a:spcAft>
                          <a:spcPct val="10000"/>
                        </a:spcAft>
                        <a:buClr>
                          <a:schemeClr val="hlink"/>
                        </a:buClr>
                        <a:buSzTx/>
                        <a:buFont typeface="EYInterstate" pitchFamily="2" charset="0"/>
                        <a:buAutoNum type="alphaUcPeriod" startAt="5"/>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MILESTONES</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R w="6350" cap="flat" cmpd="sng" algn="ctr">
                      <a:solidFill>
                        <a:schemeClr val="accent2"/>
                      </a:solidFill>
                      <a:prstDash val="solid"/>
                      <a:round/>
                      <a:headEnd type="none" w="med" len="med"/>
                      <a:tailEnd type="none" w="med" len="med"/>
                    </a:lnR>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89938">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Individual Milestone Name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Planned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Projected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7914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Migration Master DB Live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11 May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01 Jun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GREEN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AMBER</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17914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Outlook Deployment Start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27 May 2013</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27 May 2013</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AMBER</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AMBER</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45986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ADM - Rediscovery Wave 1 and Wave 2 Report complete</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cap="none" normalizeH="0" baseline="0" dirty="0" smtClean="0">
                          <a:ln>
                            <a:noFill/>
                          </a:ln>
                          <a:solidFill>
                            <a:schemeClr val="bg2">
                              <a:lumMod val="75000"/>
                            </a:schemeClr>
                          </a:solidFill>
                          <a:effectLst/>
                          <a:latin typeface="EYInterstate Light" pitchFamily="2" charset="0"/>
                        </a:rPr>
                        <a:t>3 Feb 2012</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cap="none" normalizeH="0" baseline="0" dirty="0" smtClean="0">
                          <a:ln>
                            <a:noFill/>
                          </a:ln>
                          <a:solidFill>
                            <a:schemeClr val="bg2">
                              <a:lumMod val="75000"/>
                            </a:schemeClr>
                          </a:solidFill>
                          <a:effectLst/>
                          <a:latin typeface="EYInterstate Light" pitchFamily="2" charset="0"/>
                        </a:rPr>
                        <a:t>2 Mar 2012 (awaiting input from IT SD)</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cap="none" normalizeH="0" baseline="0" dirty="0" smtClean="0">
                          <a:ln>
                            <a:noFill/>
                          </a:ln>
                          <a:solidFill>
                            <a:schemeClr val="bg2">
                              <a:lumMod val="75000"/>
                            </a:schemeClr>
                          </a:solidFill>
                          <a:effectLst/>
                          <a:latin typeface="EYInterstate Light" pitchFamily="2" charset="0"/>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79141">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650" b="0" i="0" u="none" strike="noStrike" cap="none" normalizeH="0" baseline="0" dirty="0" smtClean="0">
                          <a:ln>
                            <a:noFill/>
                          </a:ln>
                          <a:solidFill>
                            <a:schemeClr val="bg2">
                              <a:lumMod val="75000"/>
                            </a:schemeClr>
                          </a:solidFill>
                          <a:effectLst/>
                          <a:latin typeface="EYInterstate Light" pitchFamily="2" charset="0"/>
                        </a:rPr>
                        <a:t>SP - O365 Replan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cap="none" normalizeH="0" baseline="0" dirty="0" smtClean="0">
                          <a:ln>
                            <a:noFill/>
                          </a:ln>
                          <a:solidFill>
                            <a:schemeClr val="bg2">
                              <a:lumMod val="75000"/>
                            </a:schemeClr>
                          </a:solidFill>
                          <a:effectLst/>
                          <a:latin typeface="EYInterstate Light" pitchFamily="2" charset="0"/>
                        </a:rPr>
                        <a:t>20 Feb </a:t>
                      </a:r>
                      <a:r>
                        <a:rPr kumimoji="0" lang="en-US"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2012</a:t>
                      </a:r>
                      <a:endParaRPr kumimoji="0" lang="en-US" sz="650" b="0" i="0" u="none" strike="noStrike" cap="none" normalizeH="0" baseline="0" dirty="0" smtClean="0">
                        <a:ln>
                          <a:noFill/>
                        </a:ln>
                        <a:solidFill>
                          <a:schemeClr val="bg2">
                            <a:lumMod val="75000"/>
                          </a:schemeClr>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cap="none" normalizeH="0" baseline="0" dirty="0" smtClean="0">
                          <a:ln>
                            <a:noFill/>
                          </a:ln>
                          <a:solidFill>
                            <a:schemeClr val="bg2">
                              <a:lumMod val="75000"/>
                            </a:schemeClr>
                          </a:solidFill>
                          <a:effectLst/>
                          <a:latin typeface="EYInterstate Light" pitchFamily="2" charset="0"/>
                        </a:rPr>
                        <a:t>23 Mar </a:t>
                      </a:r>
                      <a:r>
                        <a:rPr kumimoji="0" lang="en-US"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2012</a:t>
                      </a:r>
                      <a:endParaRPr kumimoji="0" lang="en-US" sz="650" b="0" i="0" u="none" strike="noStrike" cap="none" normalizeH="0" baseline="0" dirty="0" smtClean="0">
                        <a:ln>
                          <a:noFill/>
                        </a:ln>
                        <a:solidFill>
                          <a:schemeClr val="bg2">
                            <a:lumMod val="75000"/>
                          </a:schemeClr>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650" b="0" i="0" u="none" strike="noStrike" cap="none" normalizeH="0" baseline="0" dirty="0" smtClean="0">
                          <a:ln>
                            <a:noFill/>
                          </a:ln>
                          <a:solidFill>
                            <a:schemeClr val="bg2">
                              <a:lumMod val="75000"/>
                            </a:schemeClr>
                          </a:solidFill>
                          <a:effectLst/>
                          <a:latin typeface="EYInterstate Light" pitchFamily="2" charset="0"/>
                        </a:rPr>
                        <a:t>AMBER</a:t>
                      </a:r>
                      <a:endParaRPr kumimoji="0" lang="en-US" sz="650" b="0" i="0" u="none" strike="noStrike" cap="none" normalizeH="0" baseline="0" dirty="0">
                        <a:ln>
                          <a:noFill/>
                        </a:ln>
                        <a:solidFill>
                          <a:schemeClr val="bg2">
                            <a:lumMod val="75000"/>
                          </a:schemeClr>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650" b="0" i="0" u="none" strike="noStrike" cap="none" normalizeH="0" baseline="0" dirty="0" smtClean="0">
                          <a:ln>
                            <a:noFill/>
                          </a:ln>
                          <a:solidFill>
                            <a:schemeClr val="bg2">
                              <a:lumMod val="75000"/>
                            </a:schemeClr>
                          </a:solidFill>
                          <a:effectLst/>
                          <a:latin typeface="EYInterstate Light" pitchFamily="2" charset="0"/>
                        </a:rPr>
                        <a:t>AMBER</a:t>
                      </a:r>
                      <a:endParaRPr kumimoji="0" lang="en-US" sz="650" b="0" i="0" u="none" strike="noStrike" cap="none" normalizeH="0" baseline="0" dirty="0">
                        <a:ln>
                          <a:noFill/>
                        </a:ln>
                        <a:solidFill>
                          <a:schemeClr val="bg2">
                            <a:lumMod val="75000"/>
                          </a:schemeClr>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30_EYCspecial">
  <a:themeElements>
    <a:clrScheme name="">
      <a:dk1>
        <a:srgbClr val="000000"/>
      </a:dk1>
      <a:lt1>
        <a:srgbClr val="FFFFFF"/>
      </a:lt1>
      <a:dk2>
        <a:srgbClr val="808080"/>
      </a:dk2>
      <a:lt2>
        <a:srgbClr val="646464"/>
      </a:lt2>
      <a:accent1>
        <a:srgbClr val="A6A6A6"/>
      </a:accent1>
      <a:accent2>
        <a:srgbClr val="CCCCCC"/>
      </a:accent2>
      <a:accent3>
        <a:srgbClr val="FFFFFF"/>
      </a:accent3>
      <a:accent4>
        <a:srgbClr val="000000"/>
      </a:accent4>
      <a:accent5>
        <a:srgbClr val="D0D0D0"/>
      </a:accent5>
      <a:accent6>
        <a:srgbClr val="B9B9B9"/>
      </a:accent6>
      <a:hlink>
        <a:srgbClr val="F2F2F2"/>
      </a:hlink>
      <a:folHlink>
        <a:srgbClr val="FFD200"/>
      </a:folHlink>
    </a:clrScheme>
    <a:fontScheme name="EYCspecial">
      <a:majorFont>
        <a:latin typeface="EYInterstate"/>
        <a:ea typeface=""/>
        <a:cs typeface=""/>
      </a:majorFont>
      <a:minorFont>
        <a:latin typeface="EYInterstat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593725"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593725"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Times New Roman" pitchFamily="18" charset="0"/>
          </a:defRPr>
        </a:defPPr>
      </a:lstStyle>
    </a:lnDef>
    <a:txDef>
      <a:spPr bwMode="gray"/>
      <a:bodyPr/>
      <a:lstStyle>
        <a:defPPr marL="0" marR="0" indent="0" algn="l" defTabSz="955675" rtl="0" eaLnBrk="0" fontAlgn="base" latinLnBrk="0" hangingPunct="0">
          <a:lnSpc>
            <a:spcPct val="100000"/>
          </a:lnSpc>
          <a:spcBef>
            <a:spcPct val="0"/>
          </a:spcBef>
          <a:spcAft>
            <a:spcPts val="0"/>
          </a:spcAft>
          <a:buClrTx/>
          <a:buSzTx/>
          <a:buFontTx/>
          <a:buNone/>
          <a:tabLst/>
          <a:defRPr kumimoji="0" sz="1600" b="1" i="0" u="none" strike="noStrike" kern="0" cap="none" spc="0" normalizeH="0" baseline="0" noProof="0" dirty="0" smtClean="0">
            <a:ln>
              <a:noFill/>
            </a:ln>
            <a:solidFill>
              <a:srgbClr val="646464"/>
            </a:solidFill>
            <a:effectLst/>
            <a:uLnTx/>
            <a:uFillTx/>
            <a:latin typeface="+mj-lt"/>
            <a:ea typeface="+mj-ea"/>
            <a:cs typeface="+mj-cs"/>
          </a:defRPr>
        </a:defPPr>
      </a:lstStyle>
    </a:txDef>
  </a:objectDefaults>
  <a:extraClrSchemeLst>
    <a:extraClrScheme>
      <a:clrScheme name="EYCspecial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EYCspecial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EYCspecial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EYCspecial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EYCspecial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EYCspecial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EYCspecial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ct:contentTypeSchema xmlns:ct="http://schemas.microsoft.com/office/2006/metadata/contentType" xmlns:ma="http://schemas.microsoft.com/office/2006/metadata/properties/metaAttributes" ct:_="" ma:_="" ma:contentTypeName="Document" ma:contentTypeID="0x010100D957C8AC9CBE1E41A2102A222EC3580A" ma:contentTypeVersion="3" ma:contentTypeDescription="Create a new document." ma:contentTypeScope="" ma:versionID="abc6be5a7620dcb7711b0f96b151bb65">
  <xsd:schema xmlns:xsd="http://www.w3.org/2001/XMLSchema" xmlns:xs="http://www.w3.org/2001/XMLSchema" xmlns:p="http://schemas.microsoft.com/office/2006/metadata/properties" xmlns:ns2="http://schemas.microsoft.com/sharepoint/v4" xmlns:ns3="0cbe1240-e4fe-486d-8edc-2712abb96eb4" targetNamespace="http://schemas.microsoft.com/office/2006/metadata/properties" ma:root="true" ma:fieldsID="6de1d13258d2b99d584b28ddcc0f79a5" ns2:_="" ns3:_="">
    <xsd:import namespace="http://schemas.microsoft.com/sharepoint/v4"/>
    <xsd:import namespace="0cbe1240-e4fe-486d-8edc-2712abb96eb4"/>
    <xsd:element name="properties">
      <xsd:complexType>
        <xsd:sequence>
          <xsd:element name="documentManagement">
            <xsd:complexType>
              <xsd:all>
                <xsd:element ref="ns2:IconOverlay"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8"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cbe1240-e4fe-486d-8edc-2712abb96eb4" elementFormDefault="qualified">
    <xsd:import namespace="http://schemas.microsoft.com/office/2006/documentManagement/types"/>
    <xsd:import namespace="http://schemas.microsoft.com/office/infopath/2007/PartnerControls"/>
    <xsd:element name="_dlc_DocId" ma:index="9" nillable="true" ma:displayName="Document ID Value" ma:description="The value of the document ID assigned to this item." ma:internalName="_dlc_DocId" ma:readOnly="true">
      <xsd:simpleType>
        <xsd:restriction base="dms:Text"/>
      </xsd:simpleType>
    </xsd:element>
    <xsd:element name="_dlc_DocIdUrl" ma:index="10"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1"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_dlc_DocId xmlns="0cbe1240-e4fe-486d-8edc-2712abb96eb4">MSIBM-2-7420</_dlc_DocId>
    <_dlc_DocIdUrl xmlns="0cbe1240-e4fe-486d-8edc-2712abb96eb4">
      <Url>http://sp.ey.net/msibm/_layouts/DocIdRedir.aspx?ID=MSIBM-2-7420</Url>
      <Description>MSIBM-2-7420</Description>
    </_dlc_DocIdUrl>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38369B0-ED0F-45E5-BF8C-5F5FAC001831}">
  <ds:schemaRefs>
    <ds:schemaRef ds:uri="http://schemas.microsoft.com/sharepoint/events"/>
  </ds:schemaRefs>
</ds:datastoreItem>
</file>

<file path=customXml/itemProps2.xml><?xml version="1.0" encoding="utf-8"?>
<ds:datastoreItem xmlns:ds="http://schemas.openxmlformats.org/officeDocument/2006/customXml" ds:itemID="{036B6CE3-6BA7-4621-9508-2E6CFA023C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4"/>
    <ds:schemaRef ds:uri="0cbe1240-e4fe-486d-8edc-2712abb96e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8A8ED6B-2F8F-4A56-97C8-D252EEEF3408}">
  <ds:schemaRefs>
    <ds:schemaRef ds:uri="http://schemas.microsoft.com/office/2006/metadata/properties"/>
    <ds:schemaRef ds:uri="http://schemas.microsoft.com/office/infopath/2007/PartnerControls"/>
    <ds:schemaRef ds:uri="http://schemas.microsoft.com/sharepoint/v4"/>
    <ds:schemaRef ds:uri="0cbe1240-e4fe-486d-8edc-2712abb96eb4"/>
  </ds:schemaRefs>
</ds:datastoreItem>
</file>

<file path=customXml/itemProps4.xml><?xml version="1.0" encoding="utf-8"?>
<ds:datastoreItem xmlns:ds="http://schemas.openxmlformats.org/officeDocument/2006/customXml" ds:itemID="{3694B8EC-3BAD-46E7-A69E-4F647FDB826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204</TotalTime>
  <Words>1296</Words>
  <Application>Microsoft Office PowerPoint</Application>
  <PresentationFormat>On-screen Show (4:3)</PresentationFormat>
  <Paragraphs>100</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30_EYCspecial</vt:lpstr>
      <vt:lpstr>Slide 1</vt:lpstr>
    </vt:vector>
  </TitlesOfParts>
  <Company>Ernst &amp; Young</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Gail M. Givens</dc:creator>
  <cp:lastModifiedBy>Wale Agbaje</cp:lastModifiedBy>
  <cp:revision>40</cp:revision>
  <dcterms:created xsi:type="dcterms:W3CDTF">2012-03-12T13:39:55Z</dcterms:created>
  <dcterms:modified xsi:type="dcterms:W3CDTF">2012-03-26T08:26:35Z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0x010100D957C8AC9CBE1E41A2102A222EC3580A</vt:lpwstr>
  </property>
  <property fmtid="{D5CDD505-2E9C-101B-9397-08002B2CF9AE}" pid="3" name="_dlc_DocIdItemGuid">
    <vt:lpwstr>9afb4605-aee7-4d5f-ad09-c5b7056e9b9f</vt:lpwstr>
  </property>
</Properties>
</file>