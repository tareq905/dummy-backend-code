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customXml/itemProps4.xml" ContentType="application/vnd.openxmlformats-officedocument.customXml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9" r:id="rId6"/>
    <p:sldId id="310" r:id="rId7"/>
    <p:sldId id="314" r:id="rId8"/>
    <p:sldId id="312" r:id="rId9"/>
  </p:sldIdLst>
  <p:sldSz cx="9144000" cy="6858000" type="screen4x3"/>
  <p:notesSz cx="7104063" cy="10234613"/>
  <p:embeddedFontLst>
    <p:embeddedFont>
      <p:font typeface="EYInterstate" pitchFamily="2" charset="0"/>
      <p:regular r:id="rId12"/>
      <p:bold r:id="rId13"/>
      <p:italic r:id="rId14"/>
      <p:boldItalic r:id="rId15"/>
    </p:embeddedFont>
    <p:embeddedFont>
      <p:font typeface="EYInterstate Light" pitchFamily="2" charset="0"/>
      <p:regular r:id="rId16"/>
      <p:bold r:id="rId17"/>
      <p:italic r:id="rId18"/>
      <p:boldItalic r:id="rId1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E600"/>
    <a:srgbClr val="F1F1F1"/>
    <a:srgbClr val="B4B4B4"/>
    <a:srgbClr val="FFD200"/>
    <a:srgbClr val="000000"/>
    <a:srgbClr val="646464"/>
    <a:srgbClr val="8080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5" autoAdjust="0"/>
    <p:restoredTop sz="93991" autoAdjust="0"/>
  </p:normalViewPr>
  <p:slideViewPr>
    <p:cSldViewPr>
      <p:cViewPr>
        <p:scale>
          <a:sx n="120" d="100"/>
          <a:sy n="120" d="100"/>
        </p:scale>
        <p:origin x="-72" y="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59141" y="9935931"/>
            <a:ext cx="1292227" cy="157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May 22, 2008</a:t>
            </a: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2487377" y="9935932"/>
            <a:ext cx="2062470" cy="21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Presentation title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639155" y="9935932"/>
            <a:ext cx="665210" cy="21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Page </a:t>
            </a:r>
            <a:fld id="{C5E23513-0C63-4A18-8E71-A42836A42B27}" type="slidenum">
              <a:rPr lang="en-GB" sz="1200">
                <a:cs typeface="Arial" charset="0"/>
              </a:rPr>
              <a:pPr/>
              <a:t>‹#›</a:t>
            </a:fld>
            <a:endParaRPr lang="en-GB" sz="1200" dirty="0">
              <a:cs typeface="Arial" charset="0"/>
            </a:endParaRPr>
          </a:p>
        </p:txBody>
      </p:sp>
      <p:pic>
        <p:nvPicPr>
          <p:cNvPr id="69641" name="Picture 9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76049" y="9737385"/>
            <a:ext cx="1489562" cy="3625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770" y="4861787"/>
            <a:ext cx="5684524" cy="460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73" tIns="49537" rIns="99073" bIns="495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159141" y="9935931"/>
            <a:ext cx="1292227" cy="157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May 22, 2008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487377" y="9935932"/>
            <a:ext cx="2062470" cy="21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Presentation title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639155" y="9935932"/>
            <a:ext cx="665210" cy="214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200" dirty="0">
                <a:cs typeface="Arial" charset="0"/>
              </a:rPr>
              <a:t>Page </a:t>
            </a:r>
            <a:fld id="{0B4EA124-4C64-418C-8226-9C98E7D12F7D}" type="slidenum">
              <a:rPr lang="en-GB" sz="1200">
                <a:cs typeface="Arial" charset="0"/>
              </a:rPr>
              <a:pPr/>
              <a:t>‹#›</a:t>
            </a:fld>
            <a:endParaRPr lang="en-GB" sz="1200" dirty="0">
              <a:cs typeface="Arial" charset="0"/>
            </a:endParaRPr>
          </a:p>
        </p:txBody>
      </p:sp>
      <p:pic>
        <p:nvPicPr>
          <p:cNvPr id="8203" name="Picture 11" descr="logo_tagbl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76049" y="9737385"/>
            <a:ext cx="1489562" cy="3625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588" indent="179388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360363" indent="1905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723900" indent="1778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081088" indent="176213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endParaRPr lang="en-GB" sz="11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Freeform 20"/>
          <p:cNvSpPr>
            <a:spLocks/>
          </p:cNvSpPr>
          <p:nvPr/>
        </p:nvSpPr>
        <p:spPr bwMode="auto">
          <a:xfrm>
            <a:off x="3079750" y="552450"/>
            <a:ext cx="6057900" cy="2590800"/>
          </a:xfrm>
          <a:custGeom>
            <a:avLst/>
            <a:gdLst/>
            <a:ahLst/>
            <a:cxnLst>
              <a:cxn ang="0">
                <a:pos x="0" y="1632"/>
              </a:cxn>
              <a:cxn ang="0">
                <a:pos x="3816" y="0"/>
              </a:cxn>
              <a:cxn ang="0">
                <a:pos x="3816" y="496"/>
              </a:cxn>
              <a:cxn ang="0">
                <a:pos x="0" y="1632"/>
              </a:cxn>
            </a:cxnLst>
            <a:rect l="0" t="0" r="r" b="b"/>
            <a:pathLst>
              <a:path w="3816" h="1632">
                <a:moveTo>
                  <a:pt x="0" y="1632"/>
                </a:moveTo>
                <a:lnTo>
                  <a:pt x="3816" y="0"/>
                </a:lnTo>
                <a:lnTo>
                  <a:pt x="3816" y="496"/>
                </a:lnTo>
                <a:lnTo>
                  <a:pt x="0" y="1632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en-GB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59113" y="3457575"/>
            <a:ext cx="5541962" cy="908050"/>
          </a:xfrm>
        </p:spPr>
        <p:txBody>
          <a:bodyPr tIns="0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62288" y="4354513"/>
            <a:ext cx="5541962" cy="1019175"/>
          </a:xfrm>
        </p:spPr>
        <p:txBody>
          <a:bodyPr/>
          <a:lstStyle>
            <a:lvl1pPr marL="0" indent="0">
              <a:lnSpc>
                <a:spcPct val="85000"/>
              </a:lnSpc>
              <a:buFont typeface="Arial" charset="0"/>
              <a:buNone/>
              <a:defRPr sz="2000"/>
            </a:lvl1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pic>
        <p:nvPicPr>
          <p:cNvPr id="3085" name="Picture 13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3400" y="6030913"/>
            <a:ext cx="1908175" cy="428625"/>
          </a:xfrm>
          <a:prstGeom prst="rect">
            <a:avLst/>
          </a:prstGeom>
          <a:noFill/>
        </p:spPr>
      </p:pic>
      <p:sp>
        <p:nvSpPr>
          <p:cNvPr id="3091" name="AutoShape 19"/>
          <p:cNvSpPr>
            <a:spLocks noChangeArrowheads="1"/>
          </p:cNvSpPr>
          <p:nvPr/>
        </p:nvSpPr>
        <p:spPr bwMode="auto">
          <a:xfrm rot="5400000">
            <a:off x="-120649" y="1274762"/>
            <a:ext cx="3313112" cy="3071813"/>
          </a:xfrm>
          <a:prstGeom prst="triangle">
            <a:avLst>
              <a:gd name="adj" fmla="val 60227"/>
            </a:avLst>
          </a:prstGeom>
          <a:blipFill dpi="0" rotWithShape="0">
            <a:blip r:embed="rId3" cstate="print"/>
            <a:srcRect/>
            <a:stretch>
              <a:fillRect r="-11421"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412875"/>
            <a:ext cx="4040187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41775" cy="4519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200025"/>
            <a:ext cx="2057400" cy="57324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00025"/>
            <a:ext cx="6024562" cy="57324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0025"/>
            <a:ext cx="823277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GB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12875"/>
            <a:ext cx="8234362" cy="451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cs typeface="Arial" charset="0"/>
              </a:rPr>
              <a:t>Presentation title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GB" sz="1100" dirty="0">
                <a:solidFill>
                  <a:srgbClr val="000000"/>
                </a:solidFill>
                <a:cs typeface="Arial" charset="0"/>
              </a:rPr>
              <a:t>Page </a:t>
            </a:r>
            <a:fld id="{B00AE22C-9E90-4BE5-9E39-7A3D41055CC0}" type="slidenum">
              <a:rPr lang="en-GB" sz="1100">
                <a:solidFill>
                  <a:srgbClr val="000000"/>
                </a:solidFill>
                <a:cs typeface="Arial" charset="0"/>
              </a:rPr>
              <a:pPr/>
              <a:t>‹#›</a:t>
            </a:fld>
            <a:endParaRPr lang="en-GB" sz="11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455613" y="1042988"/>
            <a:ext cx="8229600" cy="0"/>
          </a:xfrm>
          <a:prstGeom prst="line">
            <a:avLst/>
          </a:prstGeom>
          <a:noFill/>
          <a:ln w="19050">
            <a:solidFill>
              <a:srgbClr val="FFD2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035" name="Line 11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036" name="Line 12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pic>
        <p:nvPicPr>
          <p:cNvPr id="1037" name="Picture 13" descr="logo_tagblack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70" r:id="rId12"/>
    <p:sldLayoutId id="2147483671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000" b="1">
          <a:solidFill>
            <a:srgbClr val="646464"/>
          </a:solidFill>
          <a:latin typeface="Arial" charset="0"/>
        </a:defRPr>
      </a:lvl9pPr>
    </p:titleStyle>
    <p:bodyStyle>
      <a:lvl1pPr marL="360363" indent="-360363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400">
          <a:solidFill>
            <a:srgbClr val="646464"/>
          </a:solidFill>
          <a:latin typeface="+mn-lt"/>
          <a:ea typeface="+mn-ea"/>
          <a:cs typeface="+mn-cs"/>
        </a:defRPr>
      </a:lvl1pPr>
      <a:lvl2pPr marL="717550" indent="-35560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2000">
          <a:solidFill>
            <a:srgbClr val="646464"/>
          </a:solidFill>
          <a:latin typeface="+mn-lt"/>
        </a:defRPr>
      </a:lvl2pPr>
      <a:lvl3pPr marL="1081088" indent="-361950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>
          <a:solidFill>
            <a:srgbClr val="646464"/>
          </a:solidFill>
          <a:latin typeface="+mn-lt"/>
        </a:defRPr>
      </a:lvl3pPr>
      <a:lvl4pPr marL="1441450" indent="-358775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4pPr>
      <a:lvl5pPr marL="18002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5pPr>
      <a:lvl6pPr marL="22574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6pPr>
      <a:lvl7pPr marL="27146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7pPr>
      <a:lvl8pPr marL="31718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8pPr>
      <a:lvl9pPr marL="3629025" indent="-357188" algn="l" rtl="0" eaLnBrk="1" fontAlgn="base" hangingPunct="1">
        <a:spcBef>
          <a:spcPct val="20000"/>
        </a:spcBef>
        <a:spcAft>
          <a:spcPct val="0"/>
        </a:spcAft>
        <a:buClr>
          <a:srgbClr val="FFD200"/>
        </a:buClr>
        <a:buSzPct val="75000"/>
        <a:buFont typeface="Arial" charset="0"/>
        <a:buChar char="►"/>
        <a:defRPr sz="1600">
          <a:solidFill>
            <a:srgbClr val="646464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5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M&amp;C Weekly Reporting Template</a:t>
            </a:r>
            <a:endParaRPr lang="en-GB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mtClean="0"/>
              <a:t>May 2012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272"/>
          <p:cNvGraphicFramePr>
            <a:graphicFrameLocks noGrp="1"/>
          </p:cNvGraphicFramePr>
          <p:nvPr/>
        </p:nvGraphicFramePr>
        <p:xfrm>
          <a:off x="0" y="3528195"/>
          <a:ext cx="4680520" cy="2565101"/>
        </p:xfrm>
        <a:graphic>
          <a:graphicData uri="http://schemas.openxmlformats.org/drawingml/2006/table">
            <a:tbl>
              <a:tblPr/>
              <a:tblGrid>
                <a:gridCol w="4680520"/>
              </a:tblGrid>
              <a:tr h="12785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C.  ACTIVITIES BEHIND SCHEDULE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23586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Late activity 1 : corrective action 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– DD Mmm YY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Late activity 2 : corrective action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– DD Mmm YY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Activities/Tasks on the critical path which are delayed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Include corrective actions and target date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Link to challenges area.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7853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D.  </a:t>
                      </a: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KEY ACTIVITIES PLANNED NEXT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06114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activity 1 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– DD Mmm YY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activity 2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– DD Mmm YY</a:t>
                      </a: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Planned to complete Key Milestones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Focus on what the sponsor would benefit from knowing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Ensure that these are actual accomplishments and not ongoing activities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Group 852"/>
          <p:cNvGraphicFramePr>
            <a:graphicFrameLocks noGrp="1"/>
          </p:cNvGraphicFramePr>
          <p:nvPr/>
        </p:nvGraphicFramePr>
        <p:xfrm>
          <a:off x="4752531" y="3279292"/>
          <a:ext cx="4391470" cy="1589868"/>
        </p:xfrm>
        <a:graphic>
          <a:graphicData uri="http://schemas.openxmlformats.org/drawingml/2006/table">
            <a:tbl>
              <a:tblPr/>
              <a:tblGrid>
                <a:gridCol w="1348673"/>
                <a:gridCol w="1783164"/>
                <a:gridCol w="720080"/>
                <a:gridCol w="539553"/>
              </a:tblGrid>
              <a:tr h="224092">
                <a:tc gridSpan="2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G. MATTERS FOR IMMEDIATE ATTENTION – typically specific current issues or scope changes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224092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Issues to be resolved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Recommended Action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Completed By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240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Challenge / issue 1 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(I# from RAID log)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Recommendation 1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</a:rPr>
                        <a:t>Named person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56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Challenge / issue 2 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(I# from RAID log)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Recommendation 2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</a:rPr>
                        <a:t>Named person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409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Challenge / issue 3 </a:t>
                      </a: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(I# from RAID log)</a:t>
                      </a: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Recommendation 3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</a:rPr>
                        <a:t>Named person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11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119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270"/>
          <p:cNvGraphicFramePr>
            <a:graphicFrameLocks noGrp="1"/>
          </p:cNvGraphicFramePr>
          <p:nvPr/>
        </p:nvGraphicFramePr>
        <p:xfrm>
          <a:off x="7391400" y="36991"/>
          <a:ext cx="1628477" cy="535063"/>
        </p:xfrm>
        <a:graphic>
          <a:graphicData uri="http://schemas.openxmlformats.org/drawingml/2006/table">
            <a:tbl>
              <a:tblPr/>
              <a:tblGrid>
                <a:gridCol w="814238"/>
                <a:gridCol w="814239"/>
              </a:tblGrid>
              <a:tr h="152406">
                <a:tc gridSpan="2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OVERALL INITIATIVE STATUS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2530" y="2180728"/>
          <a:ext cx="4391469" cy="1176264"/>
        </p:xfrm>
        <a:graphic>
          <a:graphicData uri="http://schemas.openxmlformats.org/drawingml/2006/table">
            <a:tbl>
              <a:tblPr/>
              <a:tblGrid>
                <a:gridCol w="1109946"/>
                <a:gridCol w="2021892"/>
                <a:gridCol w="504056"/>
                <a:gridCol w="755575"/>
              </a:tblGrid>
              <a:tr h="127484">
                <a:tc gridSpan="2"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F.  KEY RISKS – typically future challenges or external circumstances that may affect the initiative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51247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Risks to be addressed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Mitigating Action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Target Date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Completed By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9525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Key Risk 1 (R# from RAID log)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Relating  Action 1</a:t>
                      </a:r>
                      <a:endParaRPr kumimoji="0" lang="en-US" sz="7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</a:rPr>
                        <a:t>Named person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476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Key Risk 2 (R# from RAID log)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Relating  Action 2</a:t>
                      </a:r>
                      <a:endParaRPr kumimoji="0" lang="en-US" sz="7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EYInterstate Light" pitchFamily="2" charset="0"/>
                        </a:rPr>
                        <a:t>Named person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270"/>
          <p:cNvGraphicFramePr>
            <a:graphicFrameLocks noGrp="1"/>
          </p:cNvGraphicFramePr>
          <p:nvPr/>
        </p:nvGraphicFramePr>
        <p:xfrm>
          <a:off x="1195546" y="6553106"/>
          <a:ext cx="381000" cy="88326"/>
        </p:xfrm>
        <a:graphic>
          <a:graphicData uri="http://schemas.openxmlformats.org/drawingml/2006/table">
            <a:tbl>
              <a:tblPr/>
              <a:tblGrid>
                <a:gridCol w="381000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270"/>
          <p:cNvGraphicFramePr>
            <a:graphicFrameLocks noGrp="1"/>
          </p:cNvGraphicFramePr>
          <p:nvPr/>
        </p:nvGraphicFramePr>
        <p:xfrm>
          <a:off x="3979855" y="6582966"/>
          <a:ext cx="523914" cy="88326"/>
        </p:xfrm>
        <a:graphic>
          <a:graphicData uri="http://schemas.openxmlformats.org/drawingml/2006/table">
            <a:tbl>
              <a:tblPr/>
              <a:tblGrid>
                <a:gridCol w="523914"/>
              </a:tblGrid>
              <a:tr h="0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Group 270"/>
          <p:cNvGraphicFramePr>
            <a:graphicFrameLocks noGrp="1"/>
          </p:cNvGraphicFramePr>
          <p:nvPr/>
        </p:nvGraphicFramePr>
        <p:xfrm>
          <a:off x="6515865" y="6550835"/>
          <a:ext cx="381000" cy="90597"/>
        </p:xfrm>
        <a:graphic>
          <a:graphicData uri="http://schemas.openxmlformats.org/drawingml/2006/table">
            <a:tbl>
              <a:tblPr/>
              <a:tblGrid>
                <a:gridCol w="381000"/>
              </a:tblGrid>
              <a:tr h="90597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27"/>
          <p:cNvGrpSpPr/>
          <p:nvPr/>
        </p:nvGrpSpPr>
        <p:grpSpPr>
          <a:xfrm>
            <a:off x="285595" y="6400800"/>
            <a:ext cx="8734282" cy="494922"/>
            <a:chOff x="307495" y="6550829"/>
            <a:chExt cx="9404036" cy="494922"/>
          </a:xfrm>
        </p:grpSpPr>
        <p:sp>
          <p:nvSpPr>
            <p:cNvPr id="10" name="TextBox 9"/>
            <p:cNvSpPr txBox="1"/>
            <p:nvPr/>
          </p:nvSpPr>
          <p:spPr bwMode="gray">
            <a:xfrm>
              <a:off x="1639689" y="6576570"/>
              <a:ext cx="2611234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not on track and has significant challenges and/or issues that materially impact the overall successful achievement of the expected outcomes. 	</a:t>
              </a:r>
            </a:p>
          </p:txBody>
        </p:sp>
        <p:sp>
          <p:nvSpPr>
            <p:cNvPr id="11" name="TextBox 10"/>
            <p:cNvSpPr txBox="1"/>
            <p:nvPr/>
          </p:nvSpPr>
          <p:spPr bwMode="gray">
            <a:xfrm>
              <a:off x="674554" y="6657945"/>
              <a:ext cx="612668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b="1" dirty="0">
                  <a:solidFill>
                    <a:srgbClr val="646464"/>
                  </a:solidFill>
                  <a:latin typeface="EYInterstate Light" pitchFamily="2" charset="0"/>
                </a:rPr>
                <a:t>Fully achieved</a:t>
              </a:r>
              <a:endParaRPr lang="en-GB" sz="500" b="1" kern="0" dirty="0">
                <a:solidFill>
                  <a:srgbClr val="646464"/>
                </a:solidFill>
                <a:latin typeface="EYInterstate Light" pitchFamily="2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 bwMode="gray">
            <a:xfrm>
              <a:off x="307495" y="6550829"/>
              <a:ext cx="4541628" cy="169277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r>
                <a:rPr lang="en-US" sz="500" dirty="0">
                  <a:solidFill>
                    <a:srgbClr val="646464"/>
                  </a:solidFill>
                  <a:latin typeface="EYInterstate Light" pitchFamily="2" charset="0"/>
                </a:rPr>
                <a:t>The overall initiative status is governed by the RAG Status Guidance, summarized below. This guidance also applies to the individual Milestones Stats. </a:t>
              </a:r>
              <a:endParaRPr lang="en-GB" sz="500" kern="0" dirty="0">
                <a:solidFill>
                  <a:srgbClr val="646464"/>
                </a:solidFill>
                <a:latin typeface="EYInterstate Light" pitchFamily="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 bwMode="gray">
            <a:xfrm>
              <a:off x="7423210" y="6564722"/>
              <a:ext cx="2288321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and has no significant challenges and/or issues that may materially impact the overall successful achievement of the expected outcomes, now or in the future. 	</a:t>
              </a:r>
            </a:p>
          </p:txBody>
        </p:sp>
        <p:sp>
          <p:nvSpPr>
            <p:cNvPr id="14" name="TextBox 13"/>
            <p:cNvSpPr txBox="1"/>
            <p:nvPr/>
          </p:nvSpPr>
          <p:spPr bwMode="gray">
            <a:xfrm>
              <a:off x="4849123" y="6568697"/>
              <a:ext cx="1976087" cy="47705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55675" eaLnBrk="0" fontAlgn="base" hangingPunct="0">
                <a:spcBef>
                  <a:spcPct val="0"/>
                </a:spcBef>
              </a:pPr>
              <a:endParaRPr lang="en-GB" sz="500" b="1" dirty="0">
                <a:solidFill>
                  <a:srgbClr val="646464"/>
                </a:solidFill>
                <a:latin typeface="EYInterstate Light" pitchFamily="2" charset="0"/>
              </a:endParaRPr>
            </a:p>
            <a:p>
              <a:pPr defTabSz="955675" eaLnBrk="0" fontAlgn="base" hangingPunct="0">
                <a:spcBef>
                  <a:spcPct val="0"/>
                </a:spcBef>
              </a:pPr>
              <a:r>
                <a:rPr lang="en-GB" sz="500" b="1" dirty="0">
                  <a:solidFill>
                    <a:srgbClr val="646464"/>
                  </a:solidFill>
                  <a:latin typeface="EYInterstate Light" pitchFamily="2" charset="0"/>
                </a:rPr>
                <a:t>Project is on track but has some significant challenges and/or issues that may materially impact the overall successful achievement of the expected outcomes. 	</a:t>
              </a:r>
            </a:p>
          </p:txBody>
        </p:sp>
      </p:grpSp>
      <p:sp>
        <p:nvSpPr>
          <p:cNvPr id="15" name="Freeform 94"/>
          <p:cNvSpPr>
            <a:spLocks/>
          </p:cNvSpPr>
          <p:nvPr/>
        </p:nvSpPr>
        <p:spPr bwMode="gray">
          <a:xfrm>
            <a:off x="0" y="0"/>
            <a:ext cx="6706365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700" dirty="0">
              <a:solidFill>
                <a:srgbClr val="000000"/>
              </a:solidFill>
              <a:latin typeface="EYInterstate Light" pitchFamily="2" charset="0"/>
            </a:endParaRPr>
          </a:p>
        </p:txBody>
      </p:sp>
      <p:sp>
        <p:nvSpPr>
          <p:cNvPr id="16" name="Rectangle 183"/>
          <p:cNvSpPr txBox="1">
            <a:spLocks noChangeArrowheads="1"/>
          </p:cNvSpPr>
          <p:nvPr/>
        </p:nvSpPr>
        <p:spPr bwMode="gray">
          <a:xfrm>
            <a:off x="1" y="-34669"/>
            <a:ext cx="70865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</a:rPr>
              <a:t>INITATIVE NAME – Weekly status report – DD MMM YYYY</a:t>
            </a:r>
          </a:p>
          <a:p>
            <a:pPr lvl="0" defTabSz="955675" eaLnBrk="0" hangingPunct="0">
              <a:spcAft>
                <a:spcPts val="0"/>
              </a:spcAft>
              <a:defRPr/>
            </a:pPr>
            <a:r>
              <a:rPr lang="en-US" sz="1400" kern="0" dirty="0" smtClean="0">
                <a:solidFill>
                  <a:srgbClr val="646464"/>
                </a:solidFill>
              </a:rPr>
              <a:t>Project Sponsor name / Project Manager name</a:t>
            </a:r>
            <a:endParaRPr lang="en-US" sz="1400" kern="0" dirty="0">
              <a:solidFill>
                <a:srgbClr val="646464"/>
              </a:solidFill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752531" y="4943646"/>
          <a:ext cx="4391469" cy="1149650"/>
        </p:xfrm>
        <a:graphic>
          <a:graphicData uri="http://schemas.openxmlformats.org/drawingml/2006/table">
            <a:tbl>
              <a:tblPr/>
              <a:tblGrid>
                <a:gridCol w="4391469"/>
              </a:tblGrid>
              <a:tr h="14426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H.  GENERAL COMMENTS – must include reasoning for an overall Red or Amber Status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005382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Workstream RAG status – plus comments is RED/AMBER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90488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FY12 Budget </a:t>
                      </a: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                                                     $</a:t>
                      </a:r>
                    </a:p>
                    <a:p>
                      <a:pPr marL="0" marR="0" lvl="0" indent="90488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Current </a:t>
                      </a:r>
                      <a:r>
                        <a:rPr kumimoji="0" lang="en-US" sz="7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Budget (Baseline + Approved CRs)	</a:t>
                      </a: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$</a:t>
                      </a:r>
                      <a:endParaRPr kumimoji="0" lang="en-US" sz="7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90488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Spend to Date		</a:t>
                      </a: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$</a:t>
                      </a:r>
                      <a:endParaRPr kumimoji="0" lang="en-US" sz="700" b="0" i="0" u="sng" strike="noStrike" kern="1200" cap="none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90488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ETC		</a:t>
                      </a:r>
                      <a:r>
                        <a:rPr kumimoji="0" lang="en-US" sz="700" b="0" i="0" u="none" strike="noStrike" kern="1200" cap="none" normalizeH="0" baseline="0" noProof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 $</a:t>
                      </a:r>
                      <a:endParaRPr kumimoji="0" lang="en-US" sz="7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  <a:p>
                      <a:pPr marL="0" marR="0" lvl="0" indent="90488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Variances		</a:t>
                      </a: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 $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Group 272"/>
          <p:cNvGraphicFramePr>
            <a:graphicFrameLocks noGrp="1"/>
          </p:cNvGraphicFramePr>
          <p:nvPr/>
        </p:nvGraphicFramePr>
        <p:xfrm>
          <a:off x="2" y="609600"/>
          <a:ext cx="4680520" cy="2766680"/>
        </p:xfrm>
        <a:graphic>
          <a:graphicData uri="http://schemas.openxmlformats.org/drawingml/2006/table">
            <a:tbl>
              <a:tblPr/>
              <a:tblGrid>
                <a:gridCol w="4680520"/>
              </a:tblGrid>
              <a:tr h="1223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A.  </a:t>
                      </a:r>
                      <a:r>
                        <a:rPr kumimoji="0" lang="en-GB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EXECUTIVE SUMMARY – a summary of the progress for this period (not of the initiative)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241678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Executive Summary</a:t>
                      </a:r>
                    </a:p>
                    <a:p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This is: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High level and concise summary 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Ability to cover key successes and challenges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High level Risks and Issues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What does the Exec/sponsor need to know?  What is of prime importance to them?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3-5 lines only, use bullet point to make reading easier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Don’t use acronyms/abbreviations (if specific to project)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Consistency with previous week – an issue raised in previous week must be commented on this week </a:t>
                      </a:r>
                    </a:p>
                    <a:p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This is not:</a:t>
                      </a:r>
                    </a:p>
                    <a:p>
                      <a:pPr lvl="1"/>
                      <a:r>
                        <a:rPr lang="en-GB" sz="700" i="1" kern="1200" dirty="0" smtClean="0">
                          <a:solidFill>
                            <a:schemeClr val="tx1"/>
                          </a:solidFill>
                          <a:latin typeface="EYInterstate Light" pitchFamily="2" charset="0"/>
                          <a:ea typeface="+mn-ea"/>
                          <a:cs typeface="+mn-cs"/>
                        </a:rPr>
                        <a:t>Summary of project/program scope</a:t>
                      </a: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3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</a:rPr>
                        <a:t>B.  KEY ACCOMPLISHMENTS THIS PERIOD</a:t>
                      </a:r>
                      <a:endParaRPr kumimoji="0" lang="en-CA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25691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Accomplishment 1 – DD Mmm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Accomplishment 2– DD Mmm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Accomplishment 3– DD Mmm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Accomplishment 4– DD Mmm YY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Completed Key Milestones.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Resolved Risks, Issues and challenges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Successes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Focus on what the sponsor would benefit from knowing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GB" sz="700" b="0" i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Ensure that these are actual accomplishments and not ongoing activities</a:t>
                      </a:r>
                    </a:p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7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52531" y="609600"/>
          <a:ext cx="4391468" cy="1499088"/>
        </p:xfrm>
        <a:graphic>
          <a:graphicData uri="http://schemas.openxmlformats.org/drawingml/2006/table">
            <a:tbl>
              <a:tblPr/>
              <a:tblGrid>
                <a:gridCol w="1239708"/>
                <a:gridCol w="605150"/>
                <a:gridCol w="725663"/>
                <a:gridCol w="725663"/>
                <a:gridCol w="496417"/>
                <a:gridCol w="598867"/>
              </a:tblGrid>
              <a:tr h="123744">
                <a:tc gridSpan="6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E.  </a:t>
                      </a:r>
                      <a:r>
                        <a:rPr kumimoji="0" lang="en-US" sz="7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MILESTONES 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163297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59857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Milestone 1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 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Estimate/Target/Committed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87678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Milestone 2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Estimate/Target/Committed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67914">
                <a:tc>
                  <a:txBody>
                    <a:bodyPr/>
                    <a:lstStyle/>
                    <a:p>
                      <a:pPr marL="88900" marR="0" lvl="0" indent="-8890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Milestone 3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 MMM 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DD-MMM-YY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Estimate/Target/Committed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50"/>
                    </a:solidFill>
                  </a:tcPr>
                </a:tc>
              </a:tr>
              <a:tr h="76530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64404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7059" marR="37059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7059" marR="37059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7059" marR="37059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7059" marR="37059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RED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</a:tr>
              <a:tr h="126315"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7059" marR="37059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7059" marR="37059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7059" marR="37059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7059" marR="37059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  <a:ea typeface="+mn-ea"/>
                          <a:cs typeface="+mn-cs"/>
                        </a:rPr>
                        <a:t>AMBER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EYInterstate"/>
              </a:rPr>
              <a:t>Confidence rating guidelines</a:t>
            </a:r>
            <a:endParaRPr lang="en-US" sz="1600" b="1" i="1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1560" y="764704"/>
          <a:ext cx="775811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577"/>
                <a:gridCol w="857800"/>
                <a:gridCol w="2989780"/>
                <a:gridCol w="1432505"/>
                <a:gridCol w="2163450"/>
              </a:tblGrid>
              <a:tr h="1390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100" dirty="0"/>
                        <a:t>Probability</a:t>
                      </a:r>
                      <a:r>
                        <a:rPr lang="en-US" sz="1100" baseline="0" dirty="0"/>
                        <a:t> of occurrence*</a:t>
                      </a:r>
                      <a:endParaRPr lang="en-US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Low confidence that milestone</a:t>
                      </a:r>
                      <a:r>
                        <a:rPr lang="en-US" sz="1100" baseline="0" dirty="0"/>
                        <a:t>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Less than 50%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</a:t>
                      </a:r>
                      <a:r>
                        <a:rPr lang="en-US" sz="1100" baseline="0" dirty="0"/>
                        <a:t> likely </a:t>
                      </a:r>
                      <a:r>
                        <a:rPr lang="en-US" sz="1100" b="1" i="1" baseline="0" dirty="0"/>
                        <a:t>not </a:t>
                      </a:r>
                      <a:r>
                        <a:rPr lang="en-US" sz="1100" baseline="0" dirty="0"/>
                        <a:t>to occur </a:t>
                      </a:r>
                      <a:endParaRPr lang="en-US" sz="11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Moderate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Somewhere</a:t>
                      </a:r>
                      <a:r>
                        <a:rPr lang="en-US" sz="1100" baseline="0" dirty="0"/>
                        <a:t> in the middle - b</a:t>
                      </a:r>
                      <a:r>
                        <a:rPr lang="en-US" sz="1100" dirty="0"/>
                        <a:t>etween 51% and</a:t>
                      </a:r>
                      <a:r>
                        <a:rPr lang="en-US" sz="1100" baseline="0" dirty="0"/>
                        <a:t> 79%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Good chance, but some doubt exists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High</a:t>
                      </a:r>
                      <a:r>
                        <a:rPr lang="en-US" sz="1100" baseline="0" dirty="0"/>
                        <a:t> confidence that milestone date will be met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80% or higher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Very likely to occur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94"/>
          <p:cNvSpPr>
            <a:spLocks/>
          </p:cNvSpPr>
          <p:nvPr/>
        </p:nvSpPr>
        <p:spPr bwMode="gray">
          <a:xfrm>
            <a:off x="-2459" y="-3265"/>
            <a:ext cx="7025054" cy="533400"/>
          </a:xfrm>
          <a:custGeom>
            <a:avLst/>
            <a:gdLst/>
            <a:ahLst/>
            <a:cxnLst>
              <a:cxn ang="0">
                <a:pos x="6000" y="0"/>
              </a:cxn>
              <a:cxn ang="0">
                <a:pos x="5854" y="752"/>
              </a:cxn>
              <a:cxn ang="0">
                <a:pos x="0" y="754"/>
              </a:cxn>
              <a:cxn ang="0">
                <a:pos x="0" y="3"/>
              </a:cxn>
              <a:cxn ang="0">
                <a:pos x="6000" y="0"/>
              </a:cxn>
            </a:cxnLst>
            <a:rect l="0" t="0" r="r" b="b"/>
            <a:pathLst>
              <a:path w="6000" h="754">
                <a:moveTo>
                  <a:pt x="6000" y="0"/>
                </a:moveTo>
                <a:lnTo>
                  <a:pt x="5854" y="752"/>
                </a:lnTo>
                <a:lnTo>
                  <a:pt x="0" y="754"/>
                </a:lnTo>
                <a:lnTo>
                  <a:pt x="0" y="3"/>
                </a:lnTo>
                <a:lnTo>
                  <a:pt x="6000" y="0"/>
                </a:lnTo>
                <a:close/>
              </a:path>
            </a:pathLst>
          </a:custGeom>
          <a:solidFill>
            <a:srgbClr val="FFD200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GB" sz="2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4" name="Rectangle 183"/>
          <p:cNvSpPr txBox="1">
            <a:spLocks noChangeArrowheads="1"/>
          </p:cNvSpPr>
          <p:nvPr/>
        </p:nvSpPr>
        <p:spPr bwMode="gray">
          <a:xfrm>
            <a:off x="2" y="0"/>
            <a:ext cx="7729904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55675" eaLnBrk="0" hangingPunct="0">
              <a:spcAft>
                <a:spcPts val="0"/>
              </a:spcAft>
              <a:defRPr/>
            </a:pPr>
            <a:r>
              <a:rPr lang="en-US" sz="1600" b="1" kern="0" dirty="0" smtClean="0">
                <a:solidFill>
                  <a:srgbClr val="646464"/>
                </a:solidFill>
                <a:latin typeface="EYInterstate"/>
              </a:rPr>
              <a:t>M&amp;C Milestones – </a:t>
            </a:r>
            <a:r>
              <a:rPr lang="en-US" sz="1600" b="1" i="1" kern="0" dirty="0" smtClean="0">
                <a:solidFill>
                  <a:srgbClr val="646464"/>
                </a:solidFill>
                <a:latin typeface="EYInterstate"/>
              </a:rPr>
              <a:t>Workstream Name </a:t>
            </a:r>
            <a:r>
              <a:rPr lang="en-US" sz="1600" b="1" kern="0" dirty="0" smtClean="0">
                <a:solidFill>
                  <a:srgbClr val="646464"/>
                </a:solidFill>
                <a:latin typeface="EYInterstate"/>
              </a:rPr>
              <a:t>– </a:t>
            </a:r>
            <a:r>
              <a:rPr lang="en-US" sz="1600" b="1" i="1" kern="0" dirty="0" smtClean="0">
                <a:solidFill>
                  <a:srgbClr val="646464"/>
                </a:solidFill>
                <a:latin typeface="EYInterstate"/>
              </a:rPr>
              <a:t>DD MMM YYYY</a:t>
            </a:r>
            <a:endParaRPr lang="en-US" sz="1600" b="1" i="1" kern="0" dirty="0">
              <a:solidFill>
                <a:srgbClr val="646464"/>
              </a:solidFill>
              <a:latin typeface="EYInterstate"/>
            </a:endParaRPr>
          </a:p>
          <a:p>
            <a:pPr defTabSz="955675" eaLnBrk="0" hangingPunct="0">
              <a:spcAft>
                <a:spcPts val="0"/>
              </a:spcAft>
              <a:defRPr/>
            </a:pPr>
            <a:r>
              <a:rPr lang="en-US" sz="1400" i="1" kern="0" dirty="0" smtClean="0">
                <a:solidFill>
                  <a:srgbClr val="646464"/>
                </a:solidFill>
                <a:latin typeface="EYInterstate"/>
              </a:rPr>
              <a:t>Project/Program Managers name</a:t>
            </a:r>
            <a:endParaRPr lang="en-US" sz="1400" i="1" kern="0" dirty="0">
              <a:solidFill>
                <a:srgbClr val="646464"/>
              </a:solidFill>
              <a:latin typeface="EYInterstate"/>
            </a:endParaRPr>
          </a:p>
        </p:txBody>
      </p:sp>
      <p:graphicFrame>
        <p:nvGraphicFramePr>
          <p:cNvPr id="24" name="Group 270"/>
          <p:cNvGraphicFramePr>
            <a:graphicFrameLocks noGrp="1"/>
          </p:cNvGraphicFramePr>
          <p:nvPr/>
        </p:nvGraphicFramePr>
        <p:xfrm>
          <a:off x="5004048" y="719730"/>
          <a:ext cx="3960440" cy="765054"/>
        </p:xfrm>
        <a:graphic>
          <a:graphicData uri="http://schemas.openxmlformats.org/drawingml/2006/table">
            <a:tbl>
              <a:tblPr/>
              <a:tblGrid>
                <a:gridCol w="528058"/>
                <a:gridCol w="3432382"/>
              </a:tblGrid>
              <a:tr h="152406"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 Cost RAG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193813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4C3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Estimate at Completion (EAC) exceeds +</a:t>
                      </a:r>
                      <a:r>
                        <a:rPr lang="en-GB" sz="600" b="0" i="0" u="none" strike="noStrike" baseline="0" dirty="0">
                          <a:solidFill>
                            <a:srgbClr val="000000"/>
                          </a:solidFill>
                          <a:latin typeface="EYInterstate Light"/>
                        </a:rPr>
                        <a:t> </a:t>
                      </a:r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10% or $100,000 of approved spend (budget + approved change requests) and/or pending spend or no project budget defined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8844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Estimate at Completion (EAC) = + 6 - 10% of approved spend (budget + approved change request) and/or pending spend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156"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600" b="0" i="0" u="none" strike="noStrike" dirty="0">
                          <a:solidFill>
                            <a:srgbClr val="000000"/>
                          </a:solidFill>
                          <a:latin typeface="EYInterstate Light"/>
                        </a:rPr>
                        <a:t>Estimate at Completion (EAC) = + 0 - 5% of approved spend (budget + approved change requests)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Group 270"/>
          <p:cNvGraphicFramePr>
            <a:graphicFrameLocks noGrp="1"/>
          </p:cNvGraphicFramePr>
          <p:nvPr/>
        </p:nvGraphicFramePr>
        <p:xfrm>
          <a:off x="107505" y="692696"/>
          <a:ext cx="4752527" cy="896041"/>
        </p:xfrm>
        <a:graphic>
          <a:graphicData uri="http://schemas.openxmlformats.org/drawingml/2006/table">
            <a:tbl>
              <a:tblPr/>
              <a:tblGrid>
                <a:gridCol w="592997"/>
                <a:gridCol w="597235"/>
                <a:gridCol w="597235"/>
                <a:gridCol w="593174"/>
                <a:gridCol w="592506"/>
                <a:gridCol w="588780"/>
                <a:gridCol w="588780"/>
                <a:gridCol w="601820"/>
              </a:tblGrid>
              <a:tr h="155275">
                <a:tc gridSpan="6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I.  BUDGET – ($)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46464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Business Case Budget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Project Charter Budget 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PMP Budget   (baseline)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Current Budget (Baseline + Approve CR’s) (1)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Spend to Date (2)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Estimate to Complete (ETC)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(3)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Estimate at Complete (EAC)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(2+3)</a:t>
                      </a: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Variance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 Light" pitchFamily="2" charset="0"/>
                        </a:rPr>
                        <a:t>(2+3) – (1)</a:t>
                      </a:r>
                    </a:p>
                  </a:txBody>
                  <a:tcPr marL="34208" marR="34208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lstStyle/>
                    <a:p>
                      <a:pPr marL="88900" marR="0" lvl="0" indent="-88900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4208" marR="34208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Group 270"/>
          <p:cNvGraphicFramePr>
            <a:graphicFrameLocks noGrp="1"/>
          </p:cNvGraphicFramePr>
          <p:nvPr/>
        </p:nvGraphicFramePr>
        <p:xfrm>
          <a:off x="107504" y="1705323"/>
          <a:ext cx="8856985" cy="4797465"/>
        </p:xfrm>
        <a:graphic>
          <a:graphicData uri="http://schemas.openxmlformats.org/drawingml/2006/table">
            <a:tbl>
              <a:tblPr/>
              <a:tblGrid>
                <a:gridCol w="396403"/>
                <a:gridCol w="1638792"/>
                <a:gridCol w="679880"/>
                <a:gridCol w="752708"/>
                <a:gridCol w="698436"/>
                <a:gridCol w="594604"/>
                <a:gridCol w="660671"/>
                <a:gridCol w="2104589"/>
                <a:gridCol w="1330902"/>
              </a:tblGrid>
              <a:tr h="177507">
                <a:tc gridSpan="4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EYInterstate" pitchFamily="2" charset="0"/>
                          <a:ea typeface="+mn-ea"/>
                          <a:cs typeface="+mn-cs"/>
                        </a:rPr>
                        <a:t>J.  IT SERVICES TRACKING MILESTONES</a:t>
                      </a: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EYInterstate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  <a:tr h="466050"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#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Individual Milestone Name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Planned Date 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Projected Date 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 typeface="EYInterstate" pitchFamily="2" charset="0"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Actual Date 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Last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This Period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Comments - must include reasoning for a Red or Amber indicator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Confidence rating </a:t>
                      </a: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(projected date)</a:t>
                      </a:r>
                      <a:endParaRPr kumimoji="0" lang="en-US" sz="7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  <a:p>
                      <a:pPr marL="0" marR="0" lvl="0" indent="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4874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M1a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launch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date (START)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GREEN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740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M1b 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launch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date (FINSH)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M2a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planning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RED</a:t>
                      </a: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M2b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planning (FINSH)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M3a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Requirements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  <a:ea typeface="+mn-ea"/>
                        <a:cs typeface="+mn-cs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M3b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Requirements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M4a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Architecture &amp; Design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M4b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Architecture &amp; Design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M5a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Build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M5b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Build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M6a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IT Testing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M6b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IT Testing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M7a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UAT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Testing (START)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172357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M7b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UAT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Testing (FINISH)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M8a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Deploy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to production (START)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M8b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Deploy</a:t>
                      </a:r>
                      <a:r>
                        <a:rPr lang="en-US" sz="700" b="0" baseline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 to production (FINISH)</a:t>
                      </a:r>
                      <a:endParaRPr lang="en-US" sz="700" b="0" dirty="0">
                        <a:solidFill>
                          <a:schemeClr val="bg2"/>
                        </a:solidFill>
                        <a:latin typeface="EYInterstate Light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M9a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Deploy to end-users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0227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M9b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Deploy to end-users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245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M10a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closure (START)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2459">
                <a:tc>
                  <a:txBody>
                    <a:bodyPr/>
                    <a:lstStyle/>
                    <a:p>
                      <a:pPr marL="88900" marR="0" lvl="0" indent="-88900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M10b</a:t>
                      </a: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0" dirty="0">
                          <a:solidFill>
                            <a:schemeClr val="bg2"/>
                          </a:solidFill>
                          <a:latin typeface="EYInterstate Light" pitchFamily="2" charset="0"/>
                        </a:rPr>
                        <a:t>Project closure (FINISH)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ctr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EYInterstate Light" pitchFamily="2" charset="0"/>
                        </a:rPr>
                        <a:t>AMBER</a:t>
                      </a:r>
                    </a:p>
                  </a:txBody>
                  <a:tcPr marL="31577" marR="31577" marT="13683" marB="13683" anchor="ctr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E60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47738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1000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EYInterstate Light" pitchFamily="2" charset="0"/>
                      </a:endParaRPr>
                    </a:p>
                  </a:txBody>
                  <a:tcPr marL="31577" marR="31577" marT="13683" marB="13683" horzOverflow="overflow"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gray">
          <a:xfrm>
            <a:off x="107504" y="6525344"/>
            <a:ext cx="8856984" cy="2462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defTabSz="955675" eaLnBrk="0" hangingPunct="0">
              <a:spcAft>
                <a:spcPts val="0"/>
              </a:spcAft>
            </a:pPr>
            <a:r>
              <a:rPr lang="en-US" sz="500" b="1" kern="0" dirty="0">
                <a:solidFill>
                  <a:srgbClr val="646464"/>
                </a:solidFill>
                <a:latin typeface="+mj-lt"/>
                <a:ea typeface="+mj-ea"/>
                <a:cs typeface="+mj-cs"/>
              </a:rPr>
              <a:t>Estimate = </a:t>
            </a:r>
            <a:r>
              <a:rPr lang="en-US" sz="500" dirty="0">
                <a:latin typeface="+mj-lt"/>
              </a:rPr>
              <a:t>Rough date target based on high level plan, vision &amp; scope document or charter. Assumed to only be accurate within a month</a:t>
            </a:r>
            <a:r>
              <a:rPr lang="en-US" sz="500" b="1" kern="0" dirty="0">
                <a:solidFill>
                  <a:srgbClr val="646464"/>
                </a:solidFill>
                <a:latin typeface="+mj-lt"/>
                <a:ea typeface="+mj-ea"/>
                <a:cs typeface="+mj-cs"/>
              </a:rPr>
              <a:t> , Planned = </a:t>
            </a:r>
            <a:r>
              <a:rPr lang="en-US" sz="500" dirty="0">
                <a:latin typeface="+mj-lt"/>
              </a:rPr>
              <a:t>Date target based on a detailed planning activity involving all IT Services stakeholders. </a:t>
            </a:r>
          </a:p>
          <a:p>
            <a:pPr defTabSz="955675" eaLnBrk="0" hangingPunct="0">
              <a:spcAft>
                <a:spcPts val="0"/>
              </a:spcAft>
            </a:pPr>
            <a:r>
              <a:rPr lang="en-US" sz="500" b="1" kern="0" dirty="0">
                <a:solidFill>
                  <a:srgbClr val="646464"/>
                </a:solidFill>
                <a:latin typeface="+mj-lt"/>
                <a:ea typeface="+mj-ea"/>
                <a:cs typeface="+mj-cs"/>
              </a:rPr>
              <a:t>Committed = </a:t>
            </a:r>
            <a:r>
              <a:rPr lang="en-US" sz="500" dirty="0">
                <a:latin typeface="+mj-lt"/>
              </a:rPr>
              <a:t>Date target based on the verification of resource allocation and/or availability. Additionally, this level should be used when the PM is confident enough to share committed target dates with the sponsor.</a:t>
            </a:r>
            <a:r>
              <a:rPr lang="en-US" sz="500" b="1" kern="0" dirty="0">
                <a:solidFill>
                  <a:srgbClr val="646464"/>
                </a:solidFill>
                <a:latin typeface="+mj-lt"/>
                <a:ea typeface="+mj-ea"/>
                <a:cs typeface="+mj-cs"/>
              </a:rPr>
              <a:t>, Actual = </a:t>
            </a:r>
            <a:r>
              <a:rPr lang="en-US" sz="500" dirty="0">
                <a:latin typeface="+mj-lt"/>
              </a:rPr>
              <a:t>Date the milestone has been met</a:t>
            </a:r>
            <a:endParaRPr kumimoji="0" lang="en-US" sz="500" b="1" i="0" u="none" strike="noStrike" kern="0" cap="none" spc="0" normalizeH="0" baseline="0" noProof="0" dirty="0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Y_Handout">
  <a:themeElements>
    <a:clrScheme name="EY_Handout 1">
      <a:dk1>
        <a:srgbClr val="646464"/>
      </a:dk1>
      <a:lt1>
        <a:srgbClr val="FFFFFF"/>
      </a:lt1>
      <a:dk2>
        <a:srgbClr val="646464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545454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EY_Hand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Y_Handout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_dlc_DocId xmlns="0cbe1240-e4fe-486d-8edc-2712abb96eb4">MSIBM-2-7985</_dlc_DocId>
    <_dlc_DocIdUrl xmlns="0cbe1240-e4fe-486d-8edc-2712abb96eb4">
      <Url>http://sp.ey.net/msibm/_layouts/DocIdRedir.aspx?ID=MSIBM-2-7985</Url>
      <Description>MSIBM-2-7985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57C8AC9CBE1E41A2102A222EC3580A" ma:contentTypeVersion="4" ma:contentTypeDescription="Create a new document." ma:contentTypeScope="" ma:versionID="da27568028ef3dd89981a1e295bea7f6">
  <xsd:schema xmlns:xsd="http://www.w3.org/2001/XMLSchema" xmlns:xs="http://www.w3.org/2001/XMLSchema" xmlns:p="http://schemas.microsoft.com/office/2006/metadata/properties" xmlns:ns2="http://schemas.microsoft.com/sharepoint/v4" xmlns:ns3="0cbe1240-e4fe-486d-8edc-2712abb96eb4" targetNamespace="http://schemas.microsoft.com/office/2006/metadata/properties" ma:root="true" ma:fieldsID="4ca9ef44ada71ae000a4be022f59c04d" ns2:_="" ns3:_="">
    <xsd:import namespace="http://schemas.microsoft.com/sharepoint/v4"/>
    <xsd:import namespace="0cbe1240-e4fe-486d-8edc-2712abb96eb4"/>
    <xsd:element name="properties">
      <xsd:complexType>
        <xsd:sequence>
          <xsd:element name="documentManagement">
            <xsd:complexType>
              <xsd:all>
                <xsd:element ref="ns2:IconOverlay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be1240-e4fe-486d-8edc-2712abb96eb4" elementFormDefault="qualified">
    <xsd:import namespace="http://schemas.microsoft.com/office/2006/documentManagement/types"/>
    <xsd:import namespace="http://schemas.microsoft.com/office/infopath/2007/PartnerControls"/>
    <xsd:element name="_dlc_DocId" ma:index="9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0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1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BB3E75-4662-4DFB-9DC7-2CC082E8A0BF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microsoft.com/sharepoint/v4"/>
    <ds:schemaRef ds:uri="0cbe1240-e4fe-486d-8edc-2712abb96eb4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248C2C9-F576-423D-BBFC-09EF0547F3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7D6ADB-D8A2-4691-B2ED-0BE73AF2ED9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165C1B4-D3D1-4CB7-AA02-8EC783A1B6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0cbe1240-e4fe-486d-8edc-2712abb96e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EY_Handout</Template>
  <TotalTime>3030</TotalTime>
  <Words>1122</Words>
  <Application>Microsoft Office PowerPoint</Application>
  <PresentationFormat>On-screen Show (4:3)</PresentationFormat>
  <Paragraphs>258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EYInterstate</vt:lpstr>
      <vt:lpstr>EYInterstate Light</vt:lpstr>
      <vt:lpstr>Times New Roman</vt:lpstr>
      <vt:lpstr>EY_Handout</vt:lpstr>
      <vt:lpstr>M&amp;C Weekly Reporting Template</vt:lpstr>
      <vt:lpstr>Slide 2</vt:lpstr>
      <vt:lpstr>Slide 3</vt:lpstr>
      <vt:lpstr>Slide 4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(Arial bold 30 point) second line title</dc:title>
  <dc:creator>Ernst &amp; Young</dc:creator>
  <cp:lastModifiedBy>Wale Agbaje</cp:lastModifiedBy>
  <cp:revision>207</cp:revision>
  <dcterms:created xsi:type="dcterms:W3CDTF">2010-08-02T15:09:53Z</dcterms:created>
  <dcterms:modified xsi:type="dcterms:W3CDTF">2012-06-15T11:48:35Z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0x010100D957C8AC9CBE1E41A2102A222EC3580A</vt:lpwstr>
  </property>
  <property fmtid="{D5CDD505-2E9C-101B-9397-08002B2CF9AE}" pid="3" name="_dlc_DocIdItemGuid">
    <vt:lpwstr>d2432060-2502-45f4-a68e-526c52d97c6c</vt:lpwstr>
  </property>
</Properties>
</file>