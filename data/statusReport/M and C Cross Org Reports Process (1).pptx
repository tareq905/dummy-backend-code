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68" r:id="rId6"/>
  </p:sldMasterIdLst>
  <p:notesMasterIdLst>
    <p:notesMasterId r:id="rId14"/>
  </p:notesMasterIdLst>
  <p:sldIdLst>
    <p:sldId id="265" r:id="rId7"/>
    <p:sldId id="259" r:id="rId8"/>
    <p:sldId id="260" r:id="rId9"/>
    <p:sldId id="267" r:id="rId10"/>
    <p:sldId id="268" r:id="rId11"/>
    <p:sldId id="269" r:id="rId12"/>
    <p:sldId id="270" r:id="rId13"/>
  </p:sldIdLst>
  <p:sldSz cx="9144000" cy="6858000" type="screen4x3"/>
  <p:notesSz cx="6669088" cy="9820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64" autoAdjust="0"/>
  </p:normalViewPr>
  <p:slideViewPr>
    <p:cSldViewPr>
      <p:cViewPr>
        <p:scale>
          <a:sx n="80" d="100"/>
          <a:sy n="80" d="100"/>
        </p:scale>
        <p:origin x="-226" y="-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97580-D1D6-4B1E-96C3-C0473F1BE9D2}" type="datetimeFigureOut">
              <a:rPr lang="en-GB" smtClean="0"/>
              <a:pPr/>
              <a:t>17/07/2013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79475" y="736600"/>
            <a:ext cx="4910138" cy="3683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664075"/>
            <a:ext cx="5335588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28150"/>
            <a:ext cx="2889250" cy="4905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328150"/>
            <a:ext cx="2889250" cy="4905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5ADCA-8C1F-40CE-AD93-D4361F274F3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624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lIns="91428" tIns="45714" rIns="91428" bIns="45714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80808"/>
              </a:solidFill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lIns="91428" tIns="45714" rIns="91428" bIns="45714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80808"/>
              </a:solidFill>
            </a:endParaRPr>
          </a:p>
        </p:txBody>
      </p:sp>
      <p:sp>
        <p:nvSpPr>
          <p:cNvPr id="115735" name="Rectangle 23"/>
          <p:cNvSpPr>
            <a:spLocks noGrp="1" noChangeArrowheads="1"/>
          </p:cNvSpPr>
          <p:nvPr>
            <p:ph type="ctrTitle" sz="quarter"/>
          </p:nvPr>
        </p:nvSpPr>
        <p:spPr>
          <a:xfrm>
            <a:off x="3071813" y="3678238"/>
            <a:ext cx="5386387" cy="827087"/>
          </a:xfrm>
        </p:spPr>
        <p:txBody>
          <a:bodyPr lIns="91428" tIns="45714" rIns="91428" bIns="45714"/>
          <a:lstStyle>
            <a:lvl1pPr>
              <a:defRPr smtClean="0"/>
            </a:lvl1pPr>
          </a:lstStyle>
          <a:p>
            <a:r>
              <a:rPr lang="en-US" dirty="0" smtClean="0"/>
              <a:t>Click to edit Master title style</a:t>
            </a:r>
          </a:p>
        </p:txBody>
      </p:sp>
      <p:sp>
        <p:nvSpPr>
          <p:cNvPr id="115736" name="Rectangle 2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71813" y="4552953"/>
            <a:ext cx="5386387" cy="619125"/>
          </a:xfrm>
        </p:spPr>
        <p:txBody>
          <a:bodyPr lIns="91428" tIns="45714" rIns="91428" bIns="45714"/>
          <a:lstStyle>
            <a:lvl1pPr marL="0" indent="0">
              <a:buFont typeface="Arial" charset="0"/>
              <a:buNone/>
              <a:defRPr sz="1600" smtClean="0"/>
            </a:lvl1pPr>
          </a:lstStyle>
          <a:p>
            <a:r>
              <a:rPr lang="en-US" dirty="0" smtClean="0"/>
              <a:t>Click to edit Master subtitle style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079750" y="364787"/>
            <a:ext cx="133032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080808"/>
                </a:solidFill>
              </a:rPr>
              <a:t>CONFIDENTIAL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963" y="241300"/>
            <a:ext cx="8232775" cy="8636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3" indent="0">
              <a:buNone/>
              <a:defRPr sz="1800"/>
            </a:lvl2pPr>
            <a:lvl3pPr marL="914286" indent="0">
              <a:buNone/>
              <a:defRPr sz="1600"/>
            </a:lvl3pPr>
            <a:lvl4pPr marL="1371429" indent="0">
              <a:buNone/>
              <a:defRPr sz="1400"/>
            </a:lvl4pPr>
            <a:lvl5pPr marL="1828572" indent="0">
              <a:buNone/>
              <a:defRPr sz="1400"/>
            </a:lvl5pPr>
            <a:lvl6pPr marL="2285715" indent="0">
              <a:buNone/>
              <a:defRPr sz="1400"/>
            </a:lvl6pPr>
            <a:lvl7pPr marL="2742858" indent="0">
              <a:buNone/>
              <a:defRPr sz="1400"/>
            </a:lvl7pPr>
            <a:lvl8pPr marL="3200001" indent="0">
              <a:buNone/>
              <a:defRPr sz="1400"/>
            </a:lvl8pPr>
            <a:lvl9pPr marL="365714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201738"/>
            <a:ext cx="4040187" cy="4908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738"/>
            <a:ext cx="4041775" cy="4908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800" b="1"/>
            </a:lvl3pPr>
            <a:lvl4pPr marL="1371429" indent="0">
              <a:buNone/>
              <a:defRPr sz="1600" b="1"/>
            </a:lvl4pPr>
            <a:lvl5pPr marL="1828572" indent="0">
              <a:buNone/>
              <a:defRPr sz="1600" b="1"/>
            </a:lvl5pPr>
            <a:lvl6pPr marL="2285715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1" indent="0">
              <a:buNone/>
              <a:defRPr sz="1600" b="1"/>
            </a:lvl8pPr>
            <a:lvl9pPr marL="365714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800" b="1"/>
            </a:lvl3pPr>
            <a:lvl4pPr marL="1371429" indent="0">
              <a:buNone/>
              <a:defRPr sz="1600" b="1"/>
            </a:lvl4pPr>
            <a:lvl5pPr marL="1828572" indent="0">
              <a:buNone/>
              <a:defRPr sz="1600" b="1"/>
            </a:lvl5pPr>
            <a:lvl6pPr marL="2285715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1" indent="0">
              <a:buNone/>
              <a:defRPr sz="1600" b="1"/>
            </a:lvl8pPr>
            <a:lvl9pPr marL="365714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3" indent="0">
              <a:buNone/>
              <a:defRPr sz="1200"/>
            </a:lvl2pPr>
            <a:lvl3pPr marL="914286" indent="0">
              <a:buNone/>
              <a:defRPr sz="1000"/>
            </a:lvl3pPr>
            <a:lvl4pPr marL="1371429" indent="0">
              <a:buNone/>
              <a:defRPr sz="900"/>
            </a:lvl4pPr>
            <a:lvl5pPr marL="1828572" indent="0">
              <a:buNone/>
              <a:defRPr sz="900"/>
            </a:lvl5pPr>
            <a:lvl6pPr marL="2285715" indent="0">
              <a:buNone/>
              <a:defRPr sz="900"/>
            </a:lvl6pPr>
            <a:lvl7pPr marL="2742858" indent="0">
              <a:buNone/>
              <a:defRPr sz="900"/>
            </a:lvl7pPr>
            <a:lvl8pPr marL="3200001" indent="0">
              <a:buNone/>
              <a:defRPr sz="900"/>
            </a:lvl8pPr>
            <a:lvl9pPr marL="3657144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3" indent="0">
              <a:buNone/>
              <a:defRPr sz="2800"/>
            </a:lvl2pPr>
            <a:lvl3pPr marL="914286" indent="0">
              <a:buNone/>
              <a:defRPr sz="2400"/>
            </a:lvl3pPr>
            <a:lvl4pPr marL="1371429" indent="0">
              <a:buNone/>
              <a:defRPr sz="2000"/>
            </a:lvl4pPr>
            <a:lvl5pPr marL="1828572" indent="0">
              <a:buNone/>
              <a:defRPr sz="2000"/>
            </a:lvl5pPr>
            <a:lvl6pPr marL="2285715" indent="0">
              <a:buNone/>
              <a:defRPr sz="2000"/>
            </a:lvl6pPr>
            <a:lvl7pPr marL="2742858" indent="0">
              <a:buNone/>
              <a:defRPr sz="2000"/>
            </a:lvl7pPr>
            <a:lvl8pPr marL="3200001" indent="0">
              <a:buNone/>
              <a:defRPr sz="2000"/>
            </a:lvl8pPr>
            <a:lvl9pPr marL="3657144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3" indent="0">
              <a:buNone/>
              <a:defRPr sz="1200"/>
            </a:lvl2pPr>
            <a:lvl3pPr marL="914286" indent="0">
              <a:buNone/>
              <a:defRPr sz="1000"/>
            </a:lvl3pPr>
            <a:lvl4pPr marL="1371429" indent="0">
              <a:buNone/>
              <a:defRPr sz="900"/>
            </a:lvl4pPr>
            <a:lvl5pPr marL="1828572" indent="0">
              <a:buNone/>
              <a:defRPr sz="900"/>
            </a:lvl5pPr>
            <a:lvl6pPr marL="2285715" indent="0">
              <a:buNone/>
              <a:defRPr sz="900"/>
            </a:lvl6pPr>
            <a:lvl7pPr marL="2742858" indent="0">
              <a:buNone/>
              <a:defRPr sz="900"/>
            </a:lvl7pPr>
            <a:lvl8pPr marL="3200001" indent="0">
              <a:buNone/>
              <a:defRPr sz="900"/>
            </a:lvl8pPr>
            <a:lvl9pPr marL="3657144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8"/>
            <a:ext cx="2057400" cy="59102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8"/>
            <a:ext cx="6024562" cy="59102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5613" y="1201738"/>
            <a:ext cx="8234362" cy="490855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BACKUP</a:t>
            </a:r>
            <a:endParaRPr lang="en-US" dirty="0"/>
          </a:p>
        </p:txBody>
      </p:sp>
      <p:pic>
        <p:nvPicPr>
          <p:cNvPr id="4" name="Picture 31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454025" y="1169989"/>
            <a:ext cx="8240713" cy="49689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9" cstate="print"/>
          <a:srcRect r="4826" b="14285"/>
          <a:stretch>
            <a:fillRect/>
          </a:stretch>
        </p:blipFill>
        <p:spPr bwMode="auto">
          <a:xfrm>
            <a:off x="7838355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51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12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82" r:id="rId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1963" y="203200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5983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1963" y="1166813"/>
            <a:ext cx="8234362" cy="495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457200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Page </a:t>
            </a:r>
            <a:fld id="{F71F971C-F117-4B4D-9FF7-BB088E3BCDBB}" type="slidenum">
              <a:rPr lang="en-US" sz="900" b="1">
                <a:solidFill>
                  <a:srgbClr val="000000"/>
                </a:solidFill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900" b="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455613" y="1042988"/>
            <a:ext cx="8229600" cy="0"/>
          </a:xfrm>
          <a:prstGeom prst="line">
            <a:avLst/>
          </a:prstGeom>
          <a:noFill/>
          <a:ln w="1905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lIns="91428" tIns="45714" rIns="91428" bIns="45714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80808"/>
              </a:solidFill>
            </a:endParaRPr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455613" y="6243638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lIns="91428" tIns="45714" rIns="91428" bIns="45714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80808"/>
              </a:solidFill>
            </a:endParaRP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lIns="91428" tIns="45714" rIns="91428" bIns="45714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80808"/>
              </a:solidFill>
            </a:endParaRPr>
          </a:p>
        </p:txBody>
      </p:sp>
      <p:pic>
        <p:nvPicPr>
          <p:cNvPr id="2056" name="Picture 9" descr="logo_tagblack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3686175" y="6419850"/>
            <a:ext cx="17716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1" dirty="0" smtClean="0">
                <a:solidFill>
                  <a:srgbClr val="000000"/>
                </a:solidFill>
                <a:cs typeface="Arial" pitchFamily="34" charset="0"/>
              </a:rPr>
              <a:t>Global Finance Transformation</a:t>
            </a:r>
            <a:endParaRPr lang="en-US" sz="900" b="1" dirty="0">
              <a:solidFill>
                <a:srgbClr val="000000"/>
              </a:solidFill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5pPr>
      <a:lvl6pPr marL="457143" algn="l" rtl="0" fontAlgn="base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6pPr>
      <a:lvl7pPr marL="914286" algn="l" rtl="0" fontAlgn="base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7pPr>
      <a:lvl8pPr marL="1371429" algn="l" rtl="0" fontAlgn="base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8pPr>
      <a:lvl9pPr marL="1828572" algn="l" rtl="0" fontAlgn="base">
        <a:lnSpc>
          <a:spcPct val="85000"/>
        </a:lnSpc>
        <a:spcBef>
          <a:spcPct val="0"/>
        </a:spcBef>
        <a:spcAft>
          <a:spcPct val="0"/>
        </a:spcAft>
        <a:defRPr sz="2000" b="1">
          <a:solidFill>
            <a:srgbClr val="646464"/>
          </a:solidFill>
          <a:latin typeface="Arial" pitchFamily="34" charset="0"/>
        </a:defRPr>
      </a:lvl9pPr>
    </p:titleStyle>
    <p:bodyStyle>
      <a:lvl1pPr marL="358775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5963" indent="-35401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79500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39863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798638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143" indent="-357143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1600">
          <a:solidFill>
            <a:srgbClr val="646464"/>
          </a:solidFill>
          <a:latin typeface="+mn-lt"/>
        </a:defRPr>
      </a:lvl6pPr>
      <a:lvl7pPr marL="2714287" indent="-357143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1600">
          <a:solidFill>
            <a:srgbClr val="646464"/>
          </a:solidFill>
          <a:latin typeface="+mn-lt"/>
        </a:defRPr>
      </a:lvl7pPr>
      <a:lvl8pPr marL="3171430" indent="-357143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1600">
          <a:solidFill>
            <a:srgbClr val="646464"/>
          </a:solidFill>
          <a:latin typeface="+mn-lt"/>
        </a:defRPr>
      </a:lvl8pPr>
      <a:lvl9pPr marL="3628573" indent="-357143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6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9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5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8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1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tags" Target="../tags/tag25.xml"/><Relationship Id="rId39" Type="http://schemas.openxmlformats.org/officeDocument/2006/relationships/image" Target="../media/image8.emf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34" Type="http://schemas.openxmlformats.org/officeDocument/2006/relationships/tags" Target="../tags/tag33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tags" Target="../tags/tag24.xml"/><Relationship Id="rId33" Type="http://schemas.openxmlformats.org/officeDocument/2006/relationships/tags" Target="../tags/tag32.xml"/><Relationship Id="rId38" Type="http://schemas.openxmlformats.org/officeDocument/2006/relationships/oleObject" Target="../embeddings/oleObject1.bin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0" Type="http://schemas.openxmlformats.org/officeDocument/2006/relationships/tags" Target="../tags/tag19.xml"/><Relationship Id="rId29" Type="http://schemas.openxmlformats.org/officeDocument/2006/relationships/tags" Target="../tags/tag28.xml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tags" Target="../tags/tag23.xml"/><Relationship Id="rId32" Type="http://schemas.openxmlformats.org/officeDocument/2006/relationships/tags" Target="../tags/tag31.xml"/><Relationship Id="rId37" Type="http://schemas.openxmlformats.org/officeDocument/2006/relationships/image" Target="../media/image9.png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tags" Target="../tags/tag22.xml"/><Relationship Id="rId28" Type="http://schemas.openxmlformats.org/officeDocument/2006/relationships/tags" Target="../tags/tag27.xml"/><Relationship Id="rId36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31" Type="http://schemas.openxmlformats.org/officeDocument/2006/relationships/tags" Target="../tags/tag30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tags" Target="../tags/tag21.xml"/><Relationship Id="rId27" Type="http://schemas.openxmlformats.org/officeDocument/2006/relationships/tags" Target="../tags/tag26.xml"/><Relationship Id="rId30" Type="http://schemas.openxmlformats.org/officeDocument/2006/relationships/tags" Target="../tags/tag29.xml"/><Relationship Id="rId35" Type="http://schemas.openxmlformats.org/officeDocument/2006/relationships/tags" Target="../tags/tag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M&amp;C Cross Org Reports Process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dirty="0" smtClean="0"/>
              <a:t>July</a:t>
            </a:r>
            <a:r>
              <a:rPr lang="en-US" dirty="0" smtClean="0"/>
              <a:t>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gray">
          <a:xfrm>
            <a:off x="304800" y="527614"/>
            <a:ext cx="8534400" cy="34347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b="1" dirty="0" smtClean="0">
                <a:solidFill>
                  <a:srgbClr val="646464"/>
                </a:solidFill>
              </a:rPr>
              <a:t>M&amp;C Current reporting process</a:t>
            </a:r>
          </a:p>
          <a:p>
            <a:pPr marL="0" lvl="1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</a:pPr>
            <a:endParaRPr lang="en-GB" sz="1200" dirty="0" smtClean="0">
              <a:solidFill>
                <a:srgbClr val="646464"/>
              </a:solidFill>
            </a:endParaRPr>
          </a:p>
          <a:p>
            <a:pPr marL="180975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</a:pPr>
            <a:r>
              <a:rPr lang="en-GB" sz="1200" dirty="0" smtClean="0">
                <a:solidFill>
                  <a:srgbClr val="646464"/>
                </a:solidFill>
              </a:rPr>
              <a:t>E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ach project produces a weekly status report that filters into a workstream level report</a:t>
            </a:r>
          </a:p>
          <a:p>
            <a:pPr marL="180975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The workstream level report feeds into the weekly M&amp;C Programme Report that is submitted to the Cross-Org PMO via the IT PM Tool</a:t>
            </a:r>
          </a:p>
          <a:p>
            <a:pPr marL="180975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Report feedback is then sent to the workstream leads for any improvements that can be made in the report</a:t>
            </a:r>
          </a:p>
          <a:p>
            <a:pPr marL="180975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ALL reports mentioned are in the same format as the next slide</a:t>
            </a:r>
          </a:p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endParaRPr lang="en-GB" sz="1200" dirty="0" smtClean="0">
              <a:solidFill>
                <a:srgbClr val="646464"/>
              </a:solidFill>
              <a:latin typeface="+mj-lt"/>
            </a:endParaRPr>
          </a:p>
          <a:p>
            <a:pPr marL="180975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Current weekly cycle includes the following reports: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Collaboration Release 1</a:t>
            </a: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Collaboration Release 2</a:t>
            </a:r>
            <a:endParaRPr lang="en-GB" sz="1200" dirty="0" smtClean="0">
              <a:solidFill>
                <a:srgbClr val="646464"/>
              </a:solidFill>
              <a:latin typeface="+mj-lt"/>
            </a:endParaRP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Messaging </a:t>
            </a:r>
            <a:r>
              <a:rPr lang="en-GB" sz="1200" dirty="0" err="1" smtClean="0">
                <a:solidFill>
                  <a:srgbClr val="646464"/>
                </a:solidFill>
                <a:latin typeface="+mj-lt"/>
              </a:rPr>
              <a:t>Lync</a:t>
            </a:r>
            <a:endParaRPr lang="en-GB" sz="1200" dirty="0" smtClean="0">
              <a:solidFill>
                <a:srgbClr val="646464"/>
              </a:solidFill>
              <a:latin typeface="+mj-lt"/>
            </a:endParaRPr>
          </a:p>
          <a:p>
            <a:pPr marL="449263" marR="0" lvl="1" indent="-180975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Messaging Outlook/Exchange</a:t>
            </a:r>
            <a:endParaRPr lang="en-GB" sz="1200" dirty="0" smtClean="0">
              <a:solidFill>
                <a:srgbClr val="646464"/>
              </a:solidFill>
              <a:latin typeface="+mj-lt"/>
            </a:endParaRPr>
          </a:p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endParaRPr lang="en-GB" sz="1200" dirty="0" smtClean="0">
              <a:solidFill>
                <a:srgbClr val="646464"/>
              </a:solidFill>
              <a:latin typeface="+mj-lt"/>
            </a:endParaRPr>
          </a:p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/>
            </a:pPr>
            <a:endParaRPr lang="en-GB" sz="1200" dirty="0" smtClean="0">
              <a:solidFill>
                <a:srgbClr val="646464"/>
              </a:solidFill>
              <a:latin typeface="+mj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762" y="4512420"/>
            <a:ext cx="8580438" cy="21169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gray">
          <a:xfrm>
            <a:off x="304800" y="228601"/>
            <a:ext cx="853440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b="1" dirty="0" smtClean="0">
                <a:solidFill>
                  <a:srgbClr val="646464"/>
                </a:solidFill>
              </a:rPr>
              <a:t>M&amp;C Future reporting process</a:t>
            </a:r>
            <a:endParaRPr lang="en-GB" sz="12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gray">
          <a:xfrm>
            <a:off x="76200" y="5212140"/>
            <a:ext cx="8534400" cy="134806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4 reports to be submitted to Cross Org PMO by 3pm Thursday (report template on final slide).  (The original reports are also required as normal for other </a:t>
            </a:r>
            <a:r>
              <a:rPr lang="en-GB" sz="1200" dirty="0" err="1" smtClean="0">
                <a:solidFill>
                  <a:srgbClr val="646464"/>
                </a:solidFill>
                <a:latin typeface="+mj-lt"/>
              </a:rPr>
              <a:t>workstreams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 for internal use)</a:t>
            </a:r>
          </a:p>
          <a:p>
            <a:pPr marL="4492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Messaging </a:t>
            </a:r>
            <a:r>
              <a:rPr lang="en-GB" sz="1200" dirty="0" err="1" smtClean="0">
                <a:solidFill>
                  <a:srgbClr val="646464"/>
                </a:solidFill>
                <a:latin typeface="+mj-lt"/>
              </a:rPr>
              <a:t>Lync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 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– 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Neil </a:t>
            </a:r>
            <a:r>
              <a:rPr lang="en-GB" sz="1200" dirty="0" err="1" smtClean="0">
                <a:solidFill>
                  <a:srgbClr val="646464"/>
                </a:solidFill>
                <a:latin typeface="+mj-lt"/>
              </a:rPr>
              <a:t>Sahdev</a:t>
            </a:r>
            <a:endParaRPr lang="en-GB" sz="1200" dirty="0" smtClean="0">
              <a:solidFill>
                <a:srgbClr val="646464"/>
              </a:solidFill>
            </a:endParaRPr>
          </a:p>
          <a:p>
            <a:pPr marL="4492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Messaging Outlook/Exchange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  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- 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Steve Dennis/Michael Caudill</a:t>
            </a:r>
            <a:endParaRPr lang="en-GB" sz="1200" dirty="0" smtClean="0">
              <a:solidFill>
                <a:srgbClr val="646464"/>
              </a:solidFill>
              <a:latin typeface="+mj-lt"/>
            </a:endParaRPr>
          </a:p>
          <a:p>
            <a:pPr marL="4492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Collaboration 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Release 1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 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– Andy </a:t>
            </a: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Ioannou/Nicola Cooper</a:t>
            </a:r>
          </a:p>
          <a:p>
            <a:pPr marL="4492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  <a:latin typeface="+mj-lt"/>
              </a:rPr>
              <a:t>Collaboration Release 2 – Andy Ioannou/Dione Miller</a:t>
            </a:r>
            <a:endParaRPr lang="en-GB" sz="1200" dirty="0" smtClean="0">
              <a:solidFill>
                <a:srgbClr val="646464"/>
              </a:solidFill>
              <a:latin typeface="+mj-lt"/>
            </a:endParaRPr>
          </a:p>
        </p:txBody>
      </p:sp>
      <p:pic>
        <p:nvPicPr>
          <p:cNvPr id="2343" name="Picture 29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62865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4" name="Group 272"/>
          <p:cNvGraphicFramePr>
            <a:graphicFrameLocks noGrp="1"/>
          </p:cNvGraphicFramePr>
          <p:nvPr/>
        </p:nvGraphicFramePr>
        <p:xfrm>
          <a:off x="76202" y="2133595"/>
          <a:ext cx="4355123" cy="4114805"/>
        </p:xfrm>
        <a:graphic>
          <a:graphicData uri="http://schemas.openxmlformats.org/drawingml/2006/table">
            <a:tbl>
              <a:tblPr/>
              <a:tblGrid>
                <a:gridCol w="4355123"/>
              </a:tblGrid>
              <a:tr h="15419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B.  KEY ACCOMPLISHMENTS 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Milestone 1 – DD MMM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354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C.  ACTIVITIES BEHIND SCHEDULE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Milestone 1 – DD MMM YY (New completion date of milestone)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473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D.  KEY ACTIVITIES PLANNED NEXT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204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  <a:r>
                        <a:rPr kumimoji="0" lang="en-US" sz="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Milestone 1 – DD MMM YY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34100" name="Group 852"/>
          <p:cNvGraphicFramePr>
            <a:graphicFrameLocks noGrp="1"/>
          </p:cNvGraphicFramePr>
          <p:nvPr/>
        </p:nvGraphicFramePr>
        <p:xfrm>
          <a:off x="4572000" y="3413644"/>
          <a:ext cx="4495800" cy="2324616"/>
        </p:xfrm>
        <a:graphic>
          <a:graphicData uri="http://schemas.openxmlformats.org/drawingml/2006/table">
            <a:tbl>
              <a:tblPr/>
              <a:tblGrid>
                <a:gridCol w="1074759"/>
                <a:gridCol w="1363641"/>
                <a:gridCol w="917053"/>
                <a:gridCol w="1140347"/>
              </a:tblGrid>
              <a:tr h="162849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G. MATTERS FOR IMMEDIATE ATTENTION – typically specific current issues or scope changes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5730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Issues to be resolved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21947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I#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7721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94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Scope Change requests to be approved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8778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/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/>
                </a:tc>
              </a:tr>
              <a:tr h="18778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299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17" name="Group 245"/>
          <p:cNvGraphicFramePr>
            <a:graphicFrameLocks noGrp="1"/>
          </p:cNvGraphicFramePr>
          <p:nvPr/>
        </p:nvGraphicFramePr>
        <p:xfrm>
          <a:off x="70338" y="838194"/>
          <a:ext cx="4360985" cy="1143006"/>
        </p:xfrm>
        <a:graphic>
          <a:graphicData uri="http://schemas.openxmlformats.org/drawingml/2006/table">
            <a:tbl>
              <a:tblPr/>
              <a:tblGrid>
                <a:gridCol w="4360985"/>
              </a:tblGrid>
              <a:tr h="175665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A.  </a:t>
                      </a:r>
                      <a:r>
                        <a:rPr kumimoji="0" lang="en-GB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EXECUTIVE SUMMARY – a summary of the progress for this period (not of the initiative)</a:t>
                      </a: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3231" marR="33231" marT="14400" marB="14400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967341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3231" marR="33231" marT="14400" marB="14400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42" name="Group 270"/>
          <p:cNvGraphicFramePr>
            <a:graphicFrameLocks noGrp="1"/>
          </p:cNvGraphicFramePr>
          <p:nvPr/>
        </p:nvGraphicFramePr>
        <p:xfrm>
          <a:off x="4572001" y="838199"/>
          <a:ext cx="4479007" cy="1167457"/>
        </p:xfrm>
        <a:graphic>
          <a:graphicData uri="http://schemas.openxmlformats.org/drawingml/2006/table">
            <a:tbl>
              <a:tblPr/>
              <a:tblGrid>
                <a:gridCol w="1475181"/>
                <a:gridCol w="773281"/>
                <a:gridCol w="773281"/>
                <a:gridCol w="386641"/>
                <a:gridCol w="541297"/>
                <a:gridCol w="529326"/>
              </a:tblGrid>
              <a:tr h="15240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E.  MILESTONES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Individual Milestone Name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Planned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Projected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Conf.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Rating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813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192156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Group 270"/>
          <p:cNvGraphicFramePr>
            <a:graphicFrameLocks noGrp="1"/>
          </p:cNvGraphicFramePr>
          <p:nvPr/>
        </p:nvGraphicFramePr>
        <p:xfrm>
          <a:off x="7570453" y="69061"/>
          <a:ext cx="1503209" cy="535063"/>
        </p:xfrm>
        <a:graphic>
          <a:graphicData uri="http://schemas.openxmlformats.org/drawingml/2006/table">
            <a:tbl>
              <a:tblPr/>
              <a:tblGrid>
                <a:gridCol w="751604"/>
                <a:gridCol w="751605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INITIATIVE STATUS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0" y="2133600"/>
          <a:ext cx="4495800" cy="1177353"/>
        </p:xfrm>
        <a:graphic>
          <a:graphicData uri="http://schemas.openxmlformats.org/drawingml/2006/table">
            <a:tbl>
              <a:tblPr/>
              <a:tblGrid>
                <a:gridCol w="1068162"/>
                <a:gridCol w="1370238"/>
                <a:gridCol w="914854"/>
                <a:gridCol w="1142546"/>
              </a:tblGrid>
              <a:tr h="138113">
                <a:tc gridSpan="2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F.  KEY RISKS – typically future challenges or external circumstances that may affect the initiative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38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Risks to be addressed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Mitigating Action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9962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R#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DD Month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62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0" y="5562604"/>
          <a:ext cx="4495800" cy="685801"/>
        </p:xfrm>
        <a:graphic>
          <a:graphicData uri="http://schemas.openxmlformats.org/drawingml/2006/table">
            <a:tbl>
              <a:tblPr/>
              <a:tblGrid>
                <a:gridCol w="4495800"/>
              </a:tblGrid>
              <a:tr h="18039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H.  GENERAL COMMENTS – must include reasoning for an overall Red or Amber Status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0540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270"/>
          <p:cNvGraphicFramePr>
            <a:graphicFrameLocks noGrp="1"/>
          </p:cNvGraphicFramePr>
          <p:nvPr/>
        </p:nvGraphicFramePr>
        <p:xfrm>
          <a:off x="1187624" y="6585504"/>
          <a:ext cx="351692" cy="88326"/>
        </p:xfrm>
        <a:graphic>
          <a:graphicData uri="http://schemas.openxmlformats.org/drawingml/2006/table">
            <a:tbl>
              <a:tblPr/>
              <a:tblGrid>
                <a:gridCol w="351692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Group 270"/>
          <p:cNvGraphicFramePr>
            <a:graphicFrameLocks noGrp="1"/>
          </p:cNvGraphicFramePr>
          <p:nvPr/>
        </p:nvGraphicFramePr>
        <p:xfrm>
          <a:off x="4019816" y="6585320"/>
          <a:ext cx="483613" cy="88326"/>
        </p:xfrm>
        <a:graphic>
          <a:graphicData uri="http://schemas.openxmlformats.org/drawingml/2006/table">
            <a:tbl>
              <a:tblPr/>
              <a:tblGrid>
                <a:gridCol w="483613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Group 270"/>
          <p:cNvGraphicFramePr>
            <a:graphicFrameLocks noGrp="1"/>
          </p:cNvGraphicFramePr>
          <p:nvPr/>
        </p:nvGraphicFramePr>
        <p:xfrm>
          <a:off x="6516216" y="6573472"/>
          <a:ext cx="351692" cy="88326"/>
        </p:xfrm>
        <a:graphic>
          <a:graphicData uri="http://schemas.openxmlformats.org/drawingml/2006/table">
            <a:tbl>
              <a:tblPr/>
              <a:tblGrid>
                <a:gridCol w="351692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Group 270"/>
          <p:cNvGraphicFramePr>
            <a:graphicFrameLocks noGrp="1"/>
          </p:cNvGraphicFramePr>
          <p:nvPr/>
        </p:nvGraphicFramePr>
        <p:xfrm>
          <a:off x="70340" y="6581034"/>
          <a:ext cx="613229" cy="88326"/>
        </p:xfrm>
        <a:graphic>
          <a:graphicData uri="http://schemas.openxmlformats.org/drawingml/2006/table">
            <a:tbl>
              <a:tblPr/>
              <a:tblGrid>
                <a:gridCol w="613229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27"/>
          <p:cNvGrpSpPr/>
          <p:nvPr/>
        </p:nvGrpSpPr>
        <p:grpSpPr>
          <a:xfrm>
            <a:off x="0" y="6390185"/>
            <a:ext cx="8964489" cy="540206"/>
            <a:chOff x="0" y="6505545"/>
            <a:chExt cx="9711531" cy="540206"/>
          </a:xfrm>
        </p:grpSpPr>
        <p:sp>
          <p:nvSpPr>
            <p:cNvPr id="21" name="TextBox 20"/>
            <p:cNvSpPr txBox="1"/>
            <p:nvPr/>
          </p:nvSpPr>
          <p:spPr bwMode="gray">
            <a:xfrm>
              <a:off x="1639689" y="6576570"/>
              <a:ext cx="261123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not on track and has significant challenges and/or issues that materially impact the overall successful achievement of the expected outcomes. 	</a:t>
              </a:r>
            </a:p>
          </p:txBody>
        </p:sp>
        <p:sp>
          <p:nvSpPr>
            <p:cNvPr id="23" name="TextBox 22"/>
            <p:cNvSpPr txBox="1"/>
            <p:nvPr/>
          </p:nvSpPr>
          <p:spPr bwMode="gray">
            <a:xfrm>
              <a:off x="674554" y="6657945"/>
              <a:ext cx="663724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b="1" dirty="0">
                  <a:solidFill>
                    <a:srgbClr val="646464"/>
                  </a:solidFill>
                  <a:latin typeface="EYInterstate Light" pitchFamily="2" charset="0"/>
                </a:rPr>
                <a:t>Fully achieved</a:t>
              </a:r>
              <a:endParaRPr lang="en-GB" sz="500" b="1" kern="0" dirty="0">
                <a:solidFill>
                  <a:srgbClr val="646464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 bwMode="gray">
            <a:xfrm>
              <a:off x="0" y="6505545"/>
              <a:ext cx="4881893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dirty="0">
                  <a:solidFill>
                    <a:srgbClr val="646464"/>
                  </a:solidFill>
                  <a:latin typeface="EYInterstate Light" pitchFamily="2" charset="0"/>
                </a:rPr>
                <a:t>The overall initiative status is governed by the RAG Status Guidance, summarized below. This guidance also applies to the individual Milestones Stats. </a:t>
              </a:r>
              <a:endParaRPr lang="en-GB" sz="500" kern="0" dirty="0">
                <a:solidFill>
                  <a:srgbClr val="646464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 bwMode="gray">
            <a:xfrm>
              <a:off x="7423210" y="6564722"/>
              <a:ext cx="22883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and has no significant challenges and/or issues that may materially impact the overall successful achievement of the expected outcomes, now or in the future. 	</a:t>
              </a:r>
            </a:p>
          </p:txBody>
        </p:sp>
        <p:sp>
          <p:nvSpPr>
            <p:cNvPr id="27" name="TextBox 26"/>
            <p:cNvSpPr txBox="1"/>
            <p:nvPr/>
          </p:nvSpPr>
          <p:spPr bwMode="gray">
            <a:xfrm>
              <a:off x="4849123" y="6568697"/>
              <a:ext cx="1976087" cy="4770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but has some significant challenges and/or issues that may materially impact the overall successful achievement of the expected outcomes. 	</a:t>
              </a:r>
            </a:p>
          </p:txBody>
        </p:sp>
      </p:grpSp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[Ref #] - [Program/Project Name]– [DD Month YYYY]</a:t>
            </a:r>
          </a:p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400" kern="0" dirty="0" smtClean="0">
                <a:solidFill>
                  <a:srgbClr val="646464"/>
                </a:solidFill>
              </a:rPr>
              <a:t>[Program/Project Lead’s Name]</a:t>
            </a:r>
            <a:endParaRPr lang="en-US" sz="1400" kern="0" dirty="0">
              <a:solidFill>
                <a:srgbClr val="64646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 smtClean="0">
                <a:solidFill>
                  <a:srgbClr val="646464"/>
                </a:solidFill>
                <a:latin typeface="Arial" pitchFamily="34" charset="0"/>
                <a:cs typeface="Arial" pitchFamily="34" charset="0"/>
              </a:rPr>
              <a:t>&lt;&lt; Program/Project Name &gt;&gt; – DD Month YYYY</a:t>
            </a:r>
            <a:endParaRPr lang="en-US" sz="1600" b="1" kern="0" dirty="0">
              <a:solidFill>
                <a:srgbClr val="646464"/>
              </a:solidFill>
              <a:latin typeface="Arial" pitchFamily="34" charset="0"/>
              <a:cs typeface="Arial" pitchFamily="34" charset="0"/>
            </a:endParaRPr>
          </a:p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400" kern="0" dirty="0" smtClean="0">
                <a:solidFill>
                  <a:srgbClr val="646464"/>
                </a:solidFill>
                <a:latin typeface="Arial" pitchFamily="34" charset="0"/>
                <a:cs typeface="Arial" pitchFamily="34" charset="0"/>
              </a:rPr>
              <a:t>&lt;&lt; PM Name &gt;&gt;</a:t>
            </a:r>
            <a:endParaRPr lang="en-US" sz="1400" kern="0" dirty="0">
              <a:solidFill>
                <a:srgbClr val="646464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4" name="Group 270"/>
          <p:cNvGraphicFramePr>
            <a:graphicFrameLocks noGrp="1"/>
          </p:cNvGraphicFramePr>
          <p:nvPr/>
        </p:nvGraphicFramePr>
        <p:xfrm>
          <a:off x="228600" y="3276600"/>
          <a:ext cx="4752528" cy="1054968"/>
        </p:xfrm>
        <a:graphic>
          <a:graphicData uri="http://schemas.openxmlformats.org/drawingml/2006/table">
            <a:tbl>
              <a:tblPr/>
              <a:tblGrid>
                <a:gridCol w="633670"/>
                <a:gridCol w="4118858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Budget 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92962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u="sng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10% or $100,000 of current budget (baseline + approved change requests) and/or pending spend - or -  no project budget is defined/approved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b="0" i="0" u="sng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6% - 9%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 </a:t>
                      </a:r>
                      <a:r>
                        <a:rPr lang="en-US" sz="700" b="0" i="0" u="sng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5%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62600" y="3276600"/>
          <a:ext cx="1828800" cy="1028702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1322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VARIANCE FACTORS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9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capital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resource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5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project (misc)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capital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resources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Project not progressing as planned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OTHER (Please explain in section below)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 bwMode="gray">
          <a:xfrm>
            <a:off x="7924800" y="76200"/>
            <a:ext cx="990600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556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Page</a:t>
            </a:r>
            <a:r>
              <a:rPr kumimoji="0" lang="en-US" sz="1600" b="1" i="0" u="none" strike="noStrike" kern="0" cap="none" spc="0" normalizeH="0" noProof="0" dirty="0" smtClean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2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Group 270"/>
          <p:cNvGraphicFramePr>
            <a:graphicFrameLocks noGrp="1"/>
          </p:cNvGraphicFramePr>
          <p:nvPr/>
        </p:nvGraphicFramePr>
        <p:xfrm>
          <a:off x="152400" y="4572000"/>
          <a:ext cx="8762999" cy="1207074"/>
        </p:xfrm>
        <a:graphic>
          <a:graphicData uri="http://schemas.openxmlformats.org/drawingml/2006/table">
            <a:tbl>
              <a:tblPr/>
              <a:tblGrid>
                <a:gridCol w="677894"/>
                <a:gridCol w="1335714"/>
                <a:gridCol w="1720192"/>
                <a:gridCol w="533400"/>
                <a:gridCol w="533400"/>
                <a:gridCol w="381000"/>
                <a:gridCol w="3581399"/>
              </a:tblGrid>
              <a:tr h="304800">
                <a:tc gridSpan="5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J.  Key Inbound Dependency View</a:t>
                      </a:r>
                      <a:endParaRPr kumimoji="0" 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Criticality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Supplying Program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Dependency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Delivery Date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Required by Date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Current State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D#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16474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28600" y="685800"/>
          <a:ext cx="8153403" cy="2413718"/>
        </p:xfrm>
        <a:graphic>
          <a:graphicData uri="http://schemas.openxmlformats.org/drawingml/2006/table">
            <a:tbl>
              <a:tblPr/>
              <a:tblGrid>
                <a:gridCol w="622992"/>
                <a:gridCol w="498394"/>
                <a:gridCol w="778739"/>
                <a:gridCol w="737206"/>
                <a:gridCol w="706057"/>
                <a:gridCol w="708653"/>
                <a:gridCol w="708653"/>
                <a:gridCol w="708653"/>
                <a:gridCol w="708653"/>
                <a:gridCol w="986403"/>
                <a:gridCol w="989000"/>
              </a:tblGrid>
              <a:tr h="105603">
                <a:tc gridSpan="10"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I.  BUDGET – ($)</a:t>
                      </a:r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RAG Status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GB" sz="700" b="1" i="1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206">
                <a:tc rowSpan="3"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Fiscal Year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Business Case Budget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Project Charter Budget 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PMP Budget   (baseline)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Current Budget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Spend to Date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Estimate at Completion (EAC)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681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(Baseline + Approved CRs)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Estimate to Completion (ETC)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Capital Spend ETC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Revenue Spend ETC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0560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(2+3)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(1) - (2+3)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FY11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FY12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FY13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FY14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FY15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3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TOTALS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212" marR="6212" marT="621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995">
                <a:tc gridSpan="5"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Brief explanation for RED or AMBER variance</a:t>
                      </a:r>
                    </a:p>
                  </a:txBody>
                  <a:tcPr marL="6212" marR="6212" marT="621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Variance Factor:      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E46D0A"/>
                          </a:solidFill>
                          <a:latin typeface="Calibri"/>
                        </a:rPr>
                        <a:t>  </a:t>
                      </a:r>
                      <a:r>
                        <a:rPr lang="en-GB" sz="700" b="1" i="1" u="none" strike="noStrike" dirty="0">
                          <a:solidFill>
                            <a:srgbClr val="FF0000"/>
                          </a:solidFill>
                          <a:latin typeface="Calibri"/>
                        </a:rPr>
                        <a:t>Select variance factor from list below.</a:t>
                      </a: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latin typeface="Calibri"/>
                        </a:rPr>
                        <a:t> </a:t>
                      </a:r>
                      <a:endParaRPr lang="en-GB" sz="700" b="1" i="0" u="none" strike="noStrike" dirty="0">
                        <a:solidFill>
                          <a:srgbClr val="E46D0A"/>
                        </a:solidFill>
                        <a:latin typeface="Calibri"/>
                      </a:endParaRPr>
                    </a:p>
                  </a:txBody>
                  <a:tcPr marL="6212" marR="6212" marT="62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664679"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n-GB" sz="7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6212" marR="6212" marT="62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7" cstate="print"/>
          <a:srcRect/>
          <a:stretch>
            <a:fillRect/>
          </a:stretch>
        </p:blipFill>
        <p:spPr bwMode="auto">
          <a:xfrm>
            <a:off x="2389187" y="695325"/>
            <a:ext cx="4849813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1" name="Object 100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think-cell Slide" r:id="rId38" imgW="476" imgH="476" progId="">
                  <p:embed/>
                </p:oleObj>
              </mc:Choice>
              <mc:Fallback>
                <p:oleObj name="think-cell Slide" r:id="rId38" imgW="476" imgH="476" progId="">
                  <p:embed/>
                  <p:pic>
                    <p:nvPicPr>
                      <p:cNvPr id="0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 smtClean="0"/>
              <a:t>Status report guidance</a:t>
            </a:r>
            <a:endParaRPr lang="en-US" dirty="0"/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 bwMode="auto">
          <a:xfrm>
            <a:off x="4114800" y="1295401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Oval 5"/>
          <p:cNvSpPr/>
          <p:nvPr>
            <p:custDataLst>
              <p:tags r:id="rId5"/>
            </p:custDataLst>
          </p:nvPr>
        </p:nvSpPr>
        <p:spPr bwMode="auto">
          <a:xfrm>
            <a:off x="5105400" y="24384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" name="Oval 6"/>
          <p:cNvSpPr/>
          <p:nvPr>
            <p:custDataLst>
              <p:tags r:id="rId6"/>
            </p:custDataLst>
          </p:nvPr>
        </p:nvSpPr>
        <p:spPr bwMode="auto">
          <a:xfrm>
            <a:off x="4114800" y="2667001"/>
            <a:ext cx="228600" cy="2286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0" name="Oval 9"/>
          <p:cNvSpPr/>
          <p:nvPr>
            <p:custDataLst>
              <p:tags r:id="rId7"/>
            </p:custDataLst>
          </p:nvPr>
        </p:nvSpPr>
        <p:spPr bwMode="auto">
          <a:xfrm>
            <a:off x="2558283" y="4800601"/>
            <a:ext cx="108717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" name="Oval 10"/>
          <p:cNvSpPr/>
          <p:nvPr>
            <p:custDataLst>
              <p:tags r:id="rId8"/>
            </p:custDataLst>
          </p:nvPr>
        </p:nvSpPr>
        <p:spPr bwMode="auto">
          <a:xfrm>
            <a:off x="3048000" y="53340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2" name="Oval 11"/>
          <p:cNvSpPr/>
          <p:nvPr>
            <p:custDataLst>
              <p:tags r:id="rId9"/>
            </p:custDataLst>
          </p:nvPr>
        </p:nvSpPr>
        <p:spPr bwMode="auto">
          <a:xfrm>
            <a:off x="3962400" y="54102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3" name="Oval 12"/>
          <p:cNvSpPr/>
          <p:nvPr>
            <p:custDataLst>
              <p:tags r:id="rId10"/>
            </p:custDataLst>
          </p:nvPr>
        </p:nvSpPr>
        <p:spPr bwMode="auto">
          <a:xfrm>
            <a:off x="4572000" y="47244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4" name="Oval 13"/>
          <p:cNvSpPr/>
          <p:nvPr>
            <p:custDataLst>
              <p:tags r:id="rId11"/>
            </p:custDataLst>
          </p:nvPr>
        </p:nvSpPr>
        <p:spPr bwMode="auto">
          <a:xfrm>
            <a:off x="4800600" y="52578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5" name="Oval 14"/>
          <p:cNvSpPr/>
          <p:nvPr>
            <p:custDataLst>
              <p:tags r:id="rId12"/>
            </p:custDataLst>
          </p:nvPr>
        </p:nvSpPr>
        <p:spPr bwMode="auto">
          <a:xfrm>
            <a:off x="5029200" y="5410201"/>
            <a:ext cx="2286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8" name="Rectangle 17"/>
          <p:cNvSpPr/>
          <p:nvPr>
            <p:custDataLst>
              <p:tags r:id="rId13"/>
            </p:custDataLst>
          </p:nvPr>
        </p:nvSpPr>
        <p:spPr bwMode="auto">
          <a:xfrm>
            <a:off x="6172200" y="1066801"/>
            <a:ext cx="2895600" cy="762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Variances will be reported on the project budgets (over the life of the project) as either negative or positive.  </a:t>
            </a:r>
            <a:endParaRPr lang="en-US" sz="700" i="1" dirty="0" smtClean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700" i="1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If estimate at completion (EAC) exceeds the stated thresholds either negatively or positively, need to complete two additional fields.  See #3 and #4 </a:t>
            </a:r>
            <a:r>
              <a:rPr lang="en-US" sz="700" i="1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explanations below.</a:t>
            </a:r>
            <a:endParaRPr lang="en-GB" sz="700" i="1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0" name="Rectangle 19"/>
          <p:cNvSpPr/>
          <p:nvPr>
            <p:custDataLst>
              <p:tags r:id="rId14"/>
            </p:custDataLst>
          </p:nvPr>
        </p:nvSpPr>
        <p:spPr bwMode="auto">
          <a:xfrm>
            <a:off x="6248400" y="2286001"/>
            <a:ext cx="16002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A pre-defined list of reasons for variance.  </a:t>
            </a:r>
          </a:p>
        </p:txBody>
      </p:sp>
      <p:sp>
        <p:nvSpPr>
          <p:cNvPr id="21" name="Rectangle 20"/>
          <p:cNvSpPr/>
          <p:nvPr>
            <p:custDataLst>
              <p:tags r:id="rId15"/>
            </p:custDataLst>
          </p:nvPr>
        </p:nvSpPr>
        <p:spPr bwMode="auto">
          <a:xfrm>
            <a:off x="152400" y="2667001"/>
            <a:ext cx="17526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One(1) to 3 sentences explaining the reason for RED or AMBER status.</a:t>
            </a: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6" name="Rectangle 25"/>
          <p:cNvSpPr/>
          <p:nvPr>
            <p:custDataLst>
              <p:tags r:id="rId16"/>
            </p:custDataLst>
          </p:nvPr>
        </p:nvSpPr>
        <p:spPr bwMode="auto">
          <a:xfrm>
            <a:off x="7391400" y="5029201"/>
            <a:ext cx="14478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Provide a RAG status on dependency.</a:t>
            </a:r>
          </a:p>
        </p:txBody>
      </p:sp>
      <p:sp>
        <p:nvSpPr>
          <p:cNvPr id="31" name="Rectangle 30"/>
          <p:cNvSpPr/>
          <p:nvPr>
            <p:custDataLst>
              <p:tags r:id="rId17"/>
            </p:custDataLst>
          </p:nvPr>
        </p:nvSpPr>
        <p:spPr bwMode="auto">
          <a:xfrm>
            <a:off x="304800" y="5257801"/>
            <a:ext cx="1828800" cy="1524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Program(s) depending upon work/milestone.</a:t>
            </a:r>
          </a:p>
        </p:txBody>
      </p:sp>
      <p:cxnSp>
        <p:nvCxnSpPr>
          <p:cNvPr id="118" name="Straight Arrow Connector 117"/>
          <p:cNvCxnSpPr>
            <a:stCxn id="6" idx="6"/>
            <a:endCxn id="20" idx="1"/>
          </p:cNvCxnSpPr>
          <p:nvPr>
            <p:custDataLst>
              <p:tags r:id="rId18"/>
            </p:custDataLst>
          </p:nvPr>
        </p:nvCxnSpPr>
        <p:spPr>
          <a:xfrm flipV="1">
            <a:off x="5257800" y="2438401"/>
            <a:ext cx="990600" cy="76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5" idx="6"/>
          </p:cNvCxnSpPr>
          <p:nvPr>
            <p:custDataLst>
              <p:tags r:id="rId19"/>
            </p:custDataLst>
          </p:nvPr>
        </p:nvCxnSpPr>
        <p:spPr>
          <a:xfrm flipV="1">
            <a:off x="4380646" y="1219201"/>
            <a:ext cx="1791554" cy="220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7" idx="2"/>
          </p:cNvCxnSpPr>
          <p:nvPr>
            <p:custDataLst>
              <p:tags r:id="rId20"/>
            </p:custDataLst>
          </p:nvPr>
        </p:nvCxnSpPr>
        <p:spPr>
          <a:xfrm flipV="1">
            <a:off x="1905000" y="2781301"/>
            <a:ext cx="2209800" cy="381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>
            <p:custDataLst>
              <p:tags r:id="rId21"/>
            </p:custDataLst>
          </p:nvPr>
        </p:nvSpPr>
        <p:spPr bwMode="auto">
          <a:xfrm>
            <a:off x="6477000" y="5334001"/>
            <a:ext cx="2286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65" name="Rectangle 64"/>
          <p:cNvSpPr/>
          <p:nvPr>
            <p:custDataLst>
              <p:tags r:id="rId22"/>
            </p:custDataLst>
          </p:nvPr>
        </p:nvSpPr>
        <p:spPr bwMode="auto">
          <a:xfrm>
            <a:off x="7924800" y="5486401"/>
            <a:ext cx="914400" cy="1524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Self-explanatory.</a:t>
            </a:r>
          </a:p>
        </p:txBody>
      </p:sp>
      <p:cxnSp>
        <p:nvCxnSpPr>
          <p:cNvPr id="72" name="Straight Arrow Connector 71"/>
          <p:cNvCxnSpPr>
            <a:stCxn id="6" idx="5"/>
          </p:cNvCxnSpPr>
          <p:nvPr>
            <p:custDataLst>
              <p:tags r:id="rId23"/>
            </p:custDataLst>
          </p:nvPr>
        </p:nvCxnSpPr>
        <p:spPr>
          <a:xfrm>
            <a:off x="5235482" y="2568483"/>
            <a:ext cx="250918" cy="6319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>
            <p:custDataLst>
              <p:tags r:id="rId24"/>
            </p:custDataLst>
          </p:nvPr>
        </p:nvSpPr>
        <p:spPr bwMode="auto">
          <a:xfrm>
            <a:off x="7391400" y="4572001"/>
            <a:ext cx="14478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Required date for completing / delivering work / milestone.</a:t>
            </a:r>
          </a:p>
        </p:txBody>
      </p:sp>
      <p:sp>
        <p:nvSpPr>
          <p:cNvPr id="92" name="Rectangle 91"/>
          <p:cNvSpPr/>
          <p:nvPr>
            <p:custDataLst>
              <p:tags r:id="rId25"/>
            </p:custDataLst>
          </p:nvPr>
        </p:nvSpPr>
        <p:spPr bwMode="auto">
          <a:xfrm>
            <a:off x="7391400" y="4191001"/>
            <a:ext cx="1447800" cy="2286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Planned delivery date for work / milestone.</a:t>
            </a:r>
          </a:p>
        </p:txBody>
      </p:sp>
      <p:sp>
        <p:nvSpPr>
          <p:cNvPr id="107" name="Rectangle 106"/>
          <p:cNvSpPr/>
          <p:nvPr>
            <p:custDataLst>
              <p:tags r:id="rId26"/>
            </p:custDataLst>
          </p:nvPr>
        </p:nvSpPr>
        <p:spPr bwMode="auto">
          <a:xfrm>
            <a:off x="76200" y="3657601"/>
            <a:ext cx="2057400" cy="1447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b="1" dirty="0">
                <a:solidFill>
                  <a:srgbClr val="0070C0"/>
                </a:solidFill>
              </a:rPr>
              <a:t>NOTE:  </a:t>
            </a:r>
            <a:r>
              <a:rPr lang="en-US" sz="650" dirty="0">
                <a:solidFill>
                  <a:srgbClr val="0070C0"/>
                </a:solidFill>
              </a:rPr>
              <a:t>Reporting of critical dependencies is only expected of Enterprise Programs.  This is an optional section for all other programs/projects.</a:t>
            </a:r>
            <a:endParaRPr lang="en-US" sz="650" b="1" dirty="0">
              <a:solidFill>
                <a:srgbClr val="0070C0"/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650" u="sng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u="sng" dirty="0">
                <a:solidFill>
                  <a:srgbClr val="000000">
                    <a:lumMod val="50000"/>
                    <a:lumOff val="50000"/>
                  </a:srgbClr>
                </a:solidFill>
              </a:rPr>
              <a:t>Critical</a:t>
            </a:r>
            <a:r>
              <a:rPr lang="en-US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:  Program not able to execute if deliverable not available on time. No contingency available. Intense monitoring required. Dependency is directly impacting critical path.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200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650" u="sng" dirty="0">
                <a:solidFill>
                  <a:srgbClr val="000000">
                    <a:lumMod val="50000"/>
                    <a:lumOff val="50000"/>
                  </a:srgbClr>
                </a:solidFill>
              </a:rPr>
              <a:t>Significant </a:t>
            </a:r>
            <a:r>
              <a:rPr lang="en-US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:  Program may be able to execute if deliverable  not available on time. Contingency available but at high cost and w/significant lead time.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2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111" name="Rectangle 110"/>
          <p:cNvSpPr/>
          <p:nvPr>
            <p:custDataLst>
              <p:tags r:id="rId27"/>
            </p:custDataLst>
          </p:nvPr>
        </p:nvSpPr>
        <p:spPr bwMode="auto">
          <a:xfrm>
            <a:off x="914400" y="5562601"/>
            <a:ext cx="1208964" cy="16605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650" dirty="0">
                <a:solidFill>
                  <a:srgbClr val="000000">
                    <a:lumMod val="50000"/>
                    <a:lumOff val="50000"/>
                  </a:srgbClr>
                </a:solidFill>
              </a:rPr>
              <a:t>Description of dependency.</a:t>
            </a:r>
          </a:p>
        </p:txBody>
      </p:sp>
      <p:sp>
        <p:nvSpPr>
          <p:cNvPr id="145" name="Oval 144"/>
          <p:cNvSpPr/>
          <p:nvPr>
            <p:custDataLst>
              <p:tags r:id="rId28"/>
            </p:custDataLst>
          </p:nvPr>
        </p:nvSpPr>
        <p:spPr bwMode="auto">
          <a:xfrm>
            <a:off x="5486400" y="1600201"/>
            <a:ext cx="152400" cy="152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6" name="Rectangle 145"/>
          <p:cNvSpPr/>
          <p:nvPr>
            <p:custDataLst>
              <p:tags r:id="rId29"/>
            </p:custDataLst>
          </p:nvPr>
        </p:nvSpPr>
        <p:spPr bwMode="auto">
          <a:xfrm>
            <a:off x="76200" y="1752601"/>
            <a:ext cx="19050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Enter RAG status based  on resulting variance.  See status definitions.</a:t>
            </a: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148" name="Straight Arrow Connector 147"/>
          <p:cNvCxnSpPr>
            <a:stCxn id="146" idx="3"/>
            <a:endCxn id="145" idx="3"/>
          </p:cNvCxnSpPr>
          <p:nvPr>
            <p:custDataLst>
              <p:tags r:id="rId30"/>
            </p:custDataLst>
          </p:nvPr>
        </p:nvCxnSpPr>
        <p:spPr>
          <a:xfrm flipV="1">
            <a:off x="1981200" y="1730283"/>
            <a:ext cx="3527518" cy="1747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146" idx="3"/>
          </p:cNvCxnSpPr>
          <p:nvPr>
            <p:custDataLst>
              <p:tags r:id="rId31"/>
            </p:custDataLst>
          </p:nvPr>
        </p:nvCxnSpPr>
        <p:spPr>
          <a:xfrm>
            <a:off x="1981200" y="1905001"/>
            <a:ext cx="457200" cy="1219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stCxn id="13" idx="6"/>
            <a:endCxn id="92" idx="1"/>
          </p:cNvCxnSpPr>
          <p:nvPr/>
        </p:nvCxnSpPr>
        <p:spPr>
          <a:xfrm flipV="1">
            <a:off x="4724400" y="4305301"/>
            <a:ext cx="2667000" cy="4953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14" idx="6"/>
            <a:endCxn id="87" idx="1"/>
          </p:cNvCxnSpPr>
          <p:nvPr/>
        </p:nvCxnSpPr>
        <p:spPr>
          <a:xfrm flipV="1">
            <a:off x="4953000" y="4724401"/>
            <a:ext cx="2438400" cy="6096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>
            <a:stCxn id="15" idx="6"/>
            <a:endCxn id="26" idx="1"/>
          </p:cNvCxnSpPr>
          <p:nvPr/>
        </p:nvCxnSpPr>
        <p:spPr>
          <a:xfrm flipV="1">
            <a:off x="5257800" y="5181601"/>
            <a:ext cx="2133600" cy="3048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>
            <a:stCxn id="64" idx="6"/>
            <a:endCxn id="65" idx="1"/>
          </p:cNvCxnSpPr>
          <p:nvPr/>
        </p:nvCxnSpPr>
        <p:spPr>
          <a:xfrm>
            <a:off x="6705600" y="5410201"/>
            <a:ext cx="1219200" cy="1524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0" idx="1"/>
            <a:endCxn id="107" idx="3"/>
          </p:cNvCxnSpPr>
          <p:nvPr>
            <p:custDataLst>
              <p:tags r:id="rId32"/>
            </p:custDataLst>
          </p:nvPr>
        </p:nvCxnSpPr>
        <p:spPr>
          <a:xfrm flipH="1" flipV="1">
            <a:off x="2133600" y="4381501"/>
            <a:ext cx="440604" cy="4414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>
            <a:stCxn id="11" idx="2"/>
            <a:endCxn id="31" idx="3"/>
          </p:cNvCxnSpPr>
          <p:nvPr>
            <p:custDataLst>
              <p:tags r:id="rId33"/>
            </p:custDataLst>
          </p:nvPr>
        </p:nvCxnSpPr>
        <p:spPr>
          <a:xfrm flipH="1" flipV="1">
            <a:off x="2133600" y="5334001"/>
            <a:ext cx="914400" cy="762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>
            <a:stCxn id="12" idx="2"/>
            <a:endCxn id="111" idx="3"/>
          </p:cNvCxnSpPr>
          <p:nvPr>
            <p:custDataLst>
              <p:tags r:id="rId34"/>
            </p:custDataLst>
          </p:nvPr>
        </p:nvCxnSpPr>
        <p:spPr>
          <a:xfrm flipH="1">
            <a:off x="2123364" y="5486401"/>
            <a:ext cx="1839036" cy="15922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>
            <p:custDataLst>
              <p:tags r:id="rId35"/>
            </p:custDataLst>
          </p:nvPr>
        </p:nvSpPr>
        <p:spPr bwMode="auto">
          <a:xfrm>
            <a:off x="6477000" y="762000"/>
            <a:ext cx="1600200" cy="3048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US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ratings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71488" y="1326491"/>
          <a:ext cx="7758112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577"/>
                <a:gridCol w="857800"/>
                <a:gridCol w="2989780"/>
                <a:gridCol w="1432505"/>
                <a:gridCol w="2163450"/>
              </a:tblGrid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100" dirty="0"/>
                        <a:t>Probability</a:t>
                      </a:r>
                      <a:r>
                        <a:rPr lang="en-US" sz="1100" baseline="0" dirty="0"/>
                        <a:t> of occurrence*</a:t>
                      </a:r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Estimate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Low confidence that milestone</a:t>
                      </a:r>
                      <a:r>
                        <a:rPr lang="en-US" sz="1100" baseline="0" dirty="0"/>
                        <a:t>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Less than 50%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</a:t>
                      </a:r>
                      <a:r>
                        <a:rPr lang="en-US" sz="1100" baseline="0" dirty="0"/>
                        <a:t> likely </a:t>
                      </a:r>
                      <a:r>
                        <a:rPr lang="en-US" sz="1100" b="1" i="1" baseline="0" dirty="0"/>
                        <a:t>not </a:t>
                      </a:r>
                      <a:r>
                        <a:rPr lang="en-US" sz="1100" baseline="0" dirty="0"/>
                        <a:t>to occur 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Moderate</a:t>
                      </a:r>
                      <a:r>
                        <a:rPr lang="en-US" sz="1100" baseline="0" dirty="0"/>
                        <a:t> confidence that milestone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Somewhere</a:t>
                      </a:r>
                      <a:r>
                        <a:rPr lang="en-US" sz="1100" baseline="0" dirty="0"/>
                        <a:t> in the middle - b</a:t>
                      </a:r>
                      <a:r>
                        <a:rPr lang="en-US" sz="1100" dirty="0"/>
                        <a:t>etween 51% and</a:t>
                      </a:r>
                      <a:r>
                        <a:rPr lang="en-US" sz="1100" baseline="0" dirty="0"/>
                        <a:t> 79%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Good chance, but some doubt exists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High</a:t>
                      </a:r>
                      <a:r>
                        <a:rPr lang="en-US" sz="1100" baseline="0" dirty="0"/>
                        <a:t> confidence that milestone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80% or higher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 likely to occur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5VIkG7Aa0aOcRv3Khjjb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b9XBY0gky377FJpDJPJ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YyAhZ17bEeVYsJU62zkz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wPWSW3JVE27NNgc58dob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YjhTzUX2U62QhZbXGS_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v2D__WvJkaOE_3a3qspO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IuZNSzSdkORLPXYN6uyq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M01N2GuTEaIj_xfcnSAt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as3Rx3bq06cZ4Hm.3Zsm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xHf2HGse0ShOlFM.ecfM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oz_KwWfUem.t9snNIIK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JLUm0gx0mN5TukeKufk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wzphj1Uz0SYpTZT2qMM7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JOpJPOy0OOuCQUaZ4Pj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Y.lLT1WvUOzcObN2DxEc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Ex79XPy80W7Dw_MJtLyT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A3yaywXE0CH.2L4VsX_V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J2LIVvtq0ipgRfhhrnaM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VUijZ5oDkq5VM8lmtYfp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US5.Lo50Cy8nAyOETDf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64Qi8YBS02AaVlcx.I.t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7QmUKOl7kC2oGRiqUlsD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ywdOHziUky41xO4kPvkU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.siXSWnZki5xP2OqT45Q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1B3wZjREEOo6GK2W.1Dw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KZ5w9itTEKv8iWFo8iYM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Bcd0kArPkWlVqsit75P5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GvEL5yCyECe7BvvtG9q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fQSMjRAUyhUBSTiHf_C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JLUm0gx0mN5TukeKufkQ"/>
</p:tagLst>
</file>

<file path=ppt/theme/theme1.xml><?xml version="1.0" encoding="utf-8"?>
<a:theme xmlns:a="http://schemas.openxmlformats.org/drawingml/2006/main" name="30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80808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80808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cbe1240-e4fe-486d-8edc-2712abb96eb4">MSIBM-2-8574</_dlc_DocId>
    <_dlc_DocIdUrl xmlns="0cbe1240-e4fe-486d-8edc-2712abb96eb4">
      <Url>http://sp.ey.net/msibm/_layouts/DocIdRedir.aspx?ID=MSIBM-2-8574</Url>
      <Description>MSIBM-2-8574</Description>
    </_dlc_DocIdUrl>
    <IconOverlay xmlns="http://schemas.microsoft.com/sharepoint/v4" xsi:nil="true"/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D4D6DD9E8E844ABCF76CA171F0261" ma:contentTypeVersion="1" ma:contentTypeDescription="Create a new document." ma:contentTypeScope="" ma:versionID="77ad254942208db058e965127797ab8e">
  <xsd:schema xmlns:xsd="http://www.w3.org/2001/XMLSchema" xmlns:xs="http://www.w3.org/2001/XMLSchema" xmlns:p="http://schemas.microsoft.com/office/2006/metadata/properties" xmlns:ns2="0cbe1240-e4fe-486d-8edc-2712abb96eb4" xmlns:ns3="http://schemas.microsoft.com/sharepoint/v4" targetNamespace="http://schemas.microsoft.com/office/2006/metadata/properties" ma:root="true" ma:fieldsID="11e48089c2e39b090a5f6bcc0cdab83b" ns2:_="" ns3:_="">
    <xsd:import namespace="0cbe1240-e4fe-486d-8edc-2712abb96eb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94B8EC-3BAD-46E7-A69E-4F647FDB82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A8ED6B-2F8F-4A56-97C8-D252EEEF3408}">
  <ds:schemaRefs>
    <ds:schemaRef ds:uri="0cbe1240-e4fe-486d-8edc-2712abb96eb4"/>
    <ds:schemaRef ds:uri="http://schemas.openxmlformats.org/package/2006/metadata/core-properties"/>
    <ds:schemaRef ds:uri="http://purl.org/dc/elements/1.1/"/>
    <ds:schemaRef ds:uri="http://schemas.microsoft.com/sharepoint/v4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38369B0-ED0F-45E5-BF8C-5F5FAC00183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37BDB4C-BE40-4571-9C55-54F4F10E4E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e1240-e4fe-486d-8edc-2712abb96eb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1108</Words>
  <Application>Microsoft Office PowerPoint</Application>
  <PresentationFormat>On-screen Show (4:3)</PresentationFormat>
  <Paragraphs>298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30_EYCspecial</vt:lpstr>
      <vt:lpstr>EY_Handout</vt:lpstr>
      <vt:lpstr>think-cell Slide</vt:lpstr>
      <vt:lpstr>M&amp;C Cross Org Reports Process</vt:lpstr>
      <vt:lpstr>PowerPoint Presentation</vt:lpstr>
      <vt:lpstr>PowerPoint Presentation</vt:lpstr>
      <vt:lpstr>PowerPoint Presentation</vt:lpstr>
      <vt:lpstr>PowerPoint Presentation</vt:lpstr>
      <vt:lpstr>Status report guidance</vt:lpstr>
      <vt:lpstr>Confidence ratings</vt:lpstr>
    </vt:vector>
  </TitlesOfParts>
  <Company>Ernst &amp; Young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Gail M. Givens</dc:creator>
  <cp:lastModifiedBy>Wale Agbaje</cp:lastModifiedBy>
  <cp:revision>178</cp:revision>
  <cp:lastPrinted>2013-07-17T12:33:32Z</cp:lastPrinted>
  <dcterms:created xsi:type="dcterms:W3CDTF">2012-03-12T13:39:55Z</dcterms:created>
  <dcterms:modified xsi:type="dcterms:W3CDTF">2013-07-17T15:49:56Z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0x0101004BBD4D6DD9E8E844ABCF76CA171F0261</vt:lpwstr>
  </property>
  <property fmtid="{D5CDD505-2E9C-101B-9397-08002B2CF9AE}" pid="3" name="_dlc_DocIdItemGuid">
    <vt:lpwstr>6f3c669a-3bfc-4e21-a288-9579c7612e7c</vt:lpwstr>
  </property>
</Properties>
</file>