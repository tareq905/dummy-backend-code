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tags/tag8.xml" ContentType="application/vnd.openxmlformats-officedocument.presentationml.tags+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Layouts/slideLayout64.xml" ContentType="application/vnd.openxmlformats-officedocument.presentationml.slideLayout+xml"/>
  <Override PartName="/ppt/tags/tag4.xml" ContentType="application/vnd.openxmlformats-officedocument.presentationml.tags+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53.xml" ContentType="application/vnd.openxmlformats-officedocument.presentationml.slide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slideLayouts/slideLayout60.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charts/chart3.xml" ContentType="application/vnd.openxmlformats-officedocument.drawingml.chart+xml"/>
  <Override PartName="/ppt/notesSlides/notesSlide7.xml" ContentType="application/vnd.openxmlformats-officedocument.presentationml.notesSlide+xml"/>
  <Override PartName="/ppt/slideMasters/slideMaster4.xml" ContentType="application/vnd.openxmlformats-officedocument.presentationml.slideMaster+xml"/>
  <Override PartName="/ppt/slides/slide9.xml" ContentType="application/vnd.openxmlformats-officedocument.presentationml.slide+xml"/>
  <Override PartName="/ppt/viewProps.xml" ContentType="application/vnd.openxmlformats-officedocument.presentationml.viewProps+xml"/>
  <Override PartName="/ppt/slideLayouts/slideLayout69.xml" ContentType="application/vnd.openxmlformats-officedocument.presentationml.slideLayout+xml"/>
  <Override PartName="/ppt/theme/theme6.xml" ContentType="application/vnd.openxmlformats-officedocument.theme+xml"/>
  <Override PartName="/ppt/tags/tag9.xml" ContentType="application/vnd.openxmlformats-officedocument.presentationml.tag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slideLayouts/slideLayout58.xml" ContentType="application/vnd.openxmlformats-officedocument.presentationml.slideLayout+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Layouts/slideLayout65.xml" ContentType="application/vnd.openxmlformats-officedocument.presentationml.slideLayout+xml"/>
  <Override PartName="/ppt/tags/tag5.xml" ContentType="application/vnd.openxmlformats-officedocument.presentationml.tags+xml"/>
  <Override PartName="/ppt/drawings/drawing1.xml" ContentType="application/vnd.openxmlformats-officedocument.drawingml.chartshape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63.xml" ContentType="application/vnd.openxmlformats-officedocument.presentationml.slideLayout+xml"/>
  <Override PartName="/ppt/tags/tag3.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Masters/slideMaster5.xml" ContentType="application/vnd.openxmlformats-officedocument.presentationml.slideMaster+xml"/>
  <Override PartName="/ppt/slides/slide8.xml" ContentType="application/vnd.openxmlformats-officedocument.presentationml.slide+xml"/>
  <Override PartName="/ppt/handoutMasters/handoutMaster1.xml" ContentType="application/vnd.openxmlformats-officedocument.presentationml.handoutMaster+xml"/>
  <Override PartName="/ppt/slideLayouts/slideLayout59.xml" ContentType="application/vnd.openxmlformats-officedocument.presentationml.slideLayout+xml"/>
  <Override PartName="/ppt/slideLayouts/slideLayout68.xml" ContentType="application/vnd.openxmlformats-officedocument.presentationml.slideLayout+xml"/>
  <Override PartName="/ppt/theme/theme7.xml" ContentType="application/vnd.openxmlformats-officedocument.theme+xml"/>
  <Override PartName="/ppt/charts/chart2.xml" ContentType="application/vnd.openxmlformats-officedocument.drawingml.chart+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Override PartName="/ppt/tags/tag2.xml" ContentType="application/vnd.openxmlformats-officedocument.presentationml.tags+xml"/>
  <Default Extension="rels" ContentType="application/vnd.openxmlformats-package.relationships+xml"/>
  <Override PartName="/ppt/slides/slide23.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slides/slide12.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notesSlides/notesSlide9.xml" ContentType="application/vnd.openxmlformats-officedocument.presentationml.notesSlide+xml"/>
  <Override PartName="/ppt/slideMasters/slideMaster6.xml" ContentType="application/vnd.openxmlformats-officedocument.presentationml.slideMaster+xml"/>
  <Override PartName="/ppt/theme/theme8.xml" ContentType="application/vnd.openxmlformats-officedocument.theme+xml"/>
  <Override PartName="/ppt/notesSlides/notesSlide10.xml" ContentType="application/vnd.openxmlformats-officedocument.presentationml.notesSlide+xml"/>
  <Override PartName="/customXml/itemProps4.xml" ContentType="application/vnd.openxmlformats-officedocument.customXmlProperties+xml"/>
  <Override PartName="/ppt/slides/slide7.xml" ContentType="application/vnd.openxmlformats-officedocument.presentationml.slide+xml"/>
  <Override PartName="/ppt/slideLayouts/slideLayout9.xml" ContentType="application/vnd.openxmlformats-officedocument.presentationml.slideLayout+xml"/>
  <Override PartName="/ppt/charts/chart1.xml" ContentType="application/vnd.openxmlformats-officedocument.drawingml.chart+xml"/>
  <Override PartName="/ppt/tags/tag10.xml" ContentType="application/vnd.openxmlformats-officedocument.presentationml.tags+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67.xml" ContentType="application/vnd.openxmlformats-officedocument.presentationml.slideLayout+xml"/>
  <Override PartName="/ppt/notesSlides/notesSlide1.xml" ContentType="application/vnd.openxmlformats-officedocument.presentationml.notesSlide+xml"/>
  <Override PartName="/ppt/tags/tag7.xml" ContentType="application/vnd.openxmlformats-officedocument.presentationml.tag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2" r:id="rId5"/>
    <p:sldMasterId id="2147483655" r:id="rId6"/>
    <p:sldMasterId id="2147483656" r:id="rId7"/>
    <p:sldMasterId id="2147483657" r:id="rId8"/>
    <p:sldMasterId id="2147483658" r:id="rId9"/>
    <p:sldMasterId id="2147483659" r:id="rId10"/>
  </p:sldMasterIdLst>
  <p:notesMasterIdLst>
    <p:notesMasterId r:id="rId35"/>
  </p:notesMasterIdLst>
  <p:handoutMasterIdLst>
    <p:handoutMasterId r:id="rId36"/>
  </p:handoutMasterIdLst>
  <p:sldIdLst>
    <p:sldId id="377" r:id="rId11"/>
    <p:sldId id="512" r:id="rId12"/>
    <p:sldId id="887" r:id="rId13"/>
    <p:sldId id="963" r:id="rId14"/>
    <p:sldId id="964" r:id="rId15"/>
    <p:sldId id="965" r:id="rId16"/>
    <p:sldId id="938" r:id="rId17"/>
    <p:sldId id="971" r:id="rId18"/>
    <p:sldId id="972" r:id="rId19"/>
    <p:sldId id="515" r:id="rId20"/>
    <p:sldId id="973" r:id="rId21"/>
    <p:sldId id="981" r:id="rId22"/>
    <p:sldId id="974" r:id="rId23"/>
    <p:sldId id="975" r:id="rId24"/>
    <p:sldId id="976" r:id="rId25"/>
    <p:sldId id="977" r:id="rId26"/>
    <p:sldId id="978" r:id="rId27"/>
    <p:sldId id="979" r:id="rId28"/>
    <p:sldId id="983" r:id="rId29"/>
    <p:sldId id="982" r:id="rId30"/>
    <p:sldId id="599" r:id="rId31"/>
    <p:sldId id="980" r:id="rId32"/>
    <p:sldId id="949" r:id="rId33"/>
    <p:sldId id="951" r:id="rId34"/>
  </p:sldIdLst>
  <p:sldSz cx="9144000" cy="6858000" type="screen4x3"/>
  <p:notesSz cx="6797675" cy="9928225"/>
  <p:embeddedFontLst>
    <p:embeddedFont>
      <p:font typeface="EYInterstate" pitchFamily="2" charset="0"/>
      <p:regular r:id="rId37"/>
      <p:bold r:id="rId38"/>
      <p:italic r:id="rId39"/>
      <p:boldItalic r:id="rId40"/>
    </p:embeddedFont>
    <p:embeddedFont>
      <p:font typeface="EYInterstate Light" pitchFamily="2" charset="0"/>
      <p:regular r:id="rId41"/>
      <p:bold r:id="rId42"/>
      <p:italic r:id="rId43"/>
      <p:boldItalic r:id="rId44"/>
    </p:embeddedFont>
  </p:embeddedFontLst>
  <p:defaultTextStyle>
    <a:defPPr>
      <a:defRPr lang="en-US"/>
    </a:defPPr>
    <a:lvl1pPr algn="ctr" rtl="0" fontAlgn="base">
      <a:spcBef>
        <a:spcPct val="0"/>
      </a:spcBef>
      <a:spcAft>
        <a:spcPct val="0"/>
      </a:spcAft>
      <a:defRPr kern="1200">
        <a:solidFill>
          <a:schemeClr val="tx1"/>
        </a:solidFill>
        <a:latin typeface="Arial" charset="0"/>
        <a:ea typeface="+mn-ea"/>
        <a:cs typeface="+mn-cs"/>
      </a:defRPr>
    </a:lvl1pPr>
    <a:lvl2pPr marL="457200" algn="ctr" rtl="0" fontAlgn="base">
      <a:spcBef>
        <a:spcPct val="0"/>
      </a:spcBef>
      <a:spcAft>
        <a:spcPct val="0"/>
      </a:spcAft>
      <a:defRPr kern="1200">
        <a:solidFill>
          <a:schemeClr val="tx1"/>
        </a:solidFill>
        <a:latin typeface="Arial" charset="0"/>
        <a:ea typeface="+mn-ea"/>
        <a:cs typeface="+mn-cs"/>
      </a:defRPr>
    </a:lvl2pPr>
    <a:lvl3pPr marL="914400" algn="ctr" rtl="0" fontAlgn="base">
      <a:spcBef>
        <a:spcPct val="0"/>
      </a:spcBef>
      <a:spcAft>
        <a:spcPct val="0"/>
      </a:spcAft>
      <a:defRPr kern="1200">
        <a:solidFill>
          <a:schemeClr val="tx1"/>
        </a:solidFill>
        <a:latin typeface="Arial" charset="0"/>
        <a:ea typeface="+mn-ea"/>
        <a:cs typeface="+mn-cs"/>
      </a:defRPr>
    </a:lvl3pPr>
    <a:lvl4pPr marL="1371600" algn="ctr" rtl="0" fontAlgn="base">
      <a:spcBef>
        <a:spcPct val="0"/>
      </a:spcBef>
      <a:spcAft>
        <a:spcPct val="0"/>
      </a:spcAft>
      <a:defRPr kern="1200">
        <a:solidFill>
          <a:schemeClr val="tx1"/>
        </a:solidFill>
        <a:latin typeface="Arial" charset="0"/>
        <a:ea typeface="+mn-ea"/>
        <a:cs typeface="+mn-cs"/>
      </a:defRPr>
    </a:lvl4pPr>
    <a:lvl5pPr marL="1828800" algn="ctr"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clrMru>
    <a:srgbClr val="2C973E"/>
    <a:srgbClr val="000000"/>
    <a:srgbClr val="FAE600"/>
    <a:srgbClr val="F04C3E"/>
    <a:srgbClr val="FFFFFF"/>
    <a:srgbClr val="B4B4B4"/>
    <a:srgbClr val="808080"/>
    <a:srgbClr val="F1F1F1"/>
    <a:srgbClr val="336699"/>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47" autoAdjust="0"/>
    <p:restoredTop sz="86409" autoAdjust="0"/>
  </p:normalViewPr>
  <p:slideViewPr>
    <p:cSldViewPr snapToObjects="1">
      <p:cViewPr>
        <p:scale>
          <a:sx n="100" d="100"/>
          <a:sy n="100" d="100"/>
        </p:scale>
        <p:origin x="-936" y="-72"/>
      </p:cViewPr>
      <p:guideLst>
        <p:guide orient="horz" pos="2160"/>
        <p:guide pos="2880"/>
      </p:guideLst>
    </p:cSldViewPr>
  </p:slideViewPr>
  <p:outlineViewPr>
    <p:cViewPr>
      <p:scale>
        <a:sx n="33" d="100"/>
        <a:sy n="33" d="100"/>
      </p:scale>
      <p:origin x="246" y="570"/>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p:scale>
          <a:sx n="75" d="100"/>
          <a:sy n="75" d="100"/>
        </p:scale>
        <p:origin x="-648" y="954"/>
      </p:cViewPr>
      <p:guideLst>
        <p:guide orient="horz" pos="3128"/>
        <p:guide pos="2141"/>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4.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font" Target="fonts/font6.fntdata"/><Relationship Id="rId47" Type="http://schemas.openxmlformats.org/officeDocument/2006/relationships/theme" Target="theme/theme1.xml"/><Relationship Id="rId7"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font" Target="fonts/font2.fntdata"/><Relationship Id="rId46"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41"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handoutMaster" Target="handoutMasters/handoutMaster1.xml"/><Relationship Id="rId10" Type="http://schemas.openxmlformats.org/officeDocument/2006/relationships/slideMaster" Target="slideMasters/slideMaster6.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font" Target="fonts/font8.fntdata"/><Relationship Id="rId4" Type="http://schemas.openxmlformats.org/officeDocument/2006/relationships/customXml" Target="../customXml/item4.xml"/><Relationship Id="rId9" Type="http://schemas.openxmlformats.org/officeDocument/2006/relationships/slideMaster" Target="slideMasters/slideMaster5.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notesMaster" Target="notesMasters/notesMaster1.xml"/><Relationship Id="rId43" Type="http://schemas.openxmlformats.org/officeDocument/2006/relationships/font" Target="fonts/font7.fntdata"/><Relationship Id="rId4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http://sp.ey.net/msibm/MC%20Program/Program%20Management/Plan/Dependencies/Dependency%20Alignment%20Report%2020th%20Feb%201.1.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http://sp.ey.net/msibm/MC%20Program/Program%20Management/Plan/Dependencies/Dependency%20Alignment%20Report%2012th%20March.xlsx" TargetMode="External"/></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Documents%20and%20Settings\murphla\Desktop\RAID%20KPI%20Template%202012-06-08.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GB"/>
  <c:chart>
    <c:plotArea>
      <c:layout/>
      <c:barChart>
        <c:barDir val="bar"/>
        <c:grouping val="clustered"/>
        <c:ser>
          <c:idx val="0"/>
          <c:order val="0"/>
          <c:tx>
            <c:strRef>
              <c:f>'M&amp;C Dependency Metrics'!$L$123:$L$124</c:f>
              <c:strCache>
                <c:ptCount val="1"/>
                <c:pt idx="0">
                  <c:v>3rd Feb Number of missed milestones</c:v>
                </c:pt>
              </c:strCache>
            </c:strRef>
          </c:tx>
          <c:cat>
            <c:strRef>
              <c:f>'M&amp;C Dependency Metrics'!$K$125:$K$130</c:f>
              <c:strCache>
                <c:ptCount val="6"/>
                <c:pt idx="0">
                  <c:v>Unified Comms </c:v>
                </c:pt>
                <c:pt idx="1">
                  <c:v>Tech Foundation – Lync </c:v>
                </c:pt>
                <c:pt idx="2">
                  <c:v>Tech Foundation – Exchange </c:v>
                </c:pt>
                <c:pt idx="3">
                  <c:v>Tech Foundation - SharePoint </c:v>
                </c:pt>
                <c:pt idx="4">
                  <c:v>Application &amp; Data Migration </c:v>
                </c:pt>
                <c:pt idx="5">
                  <c:v>TOTAL Milestones</c:v>
                </c:pt>
              </c:strCache>
            </c:strRef>
          </c:cat>
          <c:val>
            <c:numRef>
              <c:f>'M&amp;C Dependency Metrics'!$L$125:$L$130</c:f>
              <c:numCache>
                <c:formatCode>General</c:formatCode>
                <c:ptCount val="6"/>
                <c:pt idx="0">
                  <c:v>2</c:v>
                </c:pt>
                <c:pt idx="1">
                  <c:v>0</c:v>
                </c:pt>
                <c:pt idx="2">
                  <c:v>0</c:v>
                </c:pt>
                <c:pt idx="3">
                  <c:v>4</c:v>
                </c:pt>
                <c:pt idx="4">
                  <c:v>0</c:v>
                </c:pt>
                <c:pt idx="5">
                  <c:v>6</c:v>
                </c:pt>
              </c:numCache>
            </c:numRef>
          </c:val>
        </c:ser>
        <c:ser>
          <c:idx val="1"/>
          <c:order val="1"/>
          <c:tx>
            <c:strRef>
              <c:f>'M&amp;C Dependency Metrics'!$M$123:$M$124</c:f>
              <c:strCache>
                <c:ptCount val="1"/>
                <c:pt idx="0">
                  <c:v>3rd Feb Number of met milestones</c:v>
                </c:pt>
              </c:strCache>
            </c:strRef>
          </c:tx>
          <c:cat>
            <c:strRef>
              <c:f>'M&amp;C Dependency Metrics'!$K$125:$K$130</c:f>
              <c:strCache>
                <c:ptCount val="6"/>
                <c:pt idx="0">
                  <c:v>Unified Comms </c:v>
                </c:pt>
                <c:pt idx="1">
                  <c:v>Tech Foundation – Lync </c:v>
                </c:pt>
                <c:pt idx="2">
                  <c:v>Tech Foundation – Exchange </c:v>
                </c:pt>
                <c:pt idx="3">
                  <c:v>Tech Foundation - SharePoint </c:v>
                </c:pt>
                <c:pt idx="4">
                  <c:v>Application &amp; Data Migration </c:v>
                </c:pt>
                <c:pt idx="5">
                  <c:v>TOTAL Milestones</c:v>
                </c:pt>
              </c:strCache>
            </c:strRef>
          </c:cat>
          <c:val>
            <c:numRef>
              <c:f>'M&amp;C Dependency Metrics'!$M$125:$M$130</c:f>
              <c:numCache>
                <c:formatCode>General</c:formatCode>
                <c:ptCount val="6"/>
                <c:pt idx="0">
                  <c:v>1</c:v>
                </c:pt>
                <c:pt idx="1">
                  <c:v>0</c:v>
                </c:pt>
                <c:pt idx="2">
                  <c:v>1</c:v>
                </c:pt>
                <c:pt idx="3">
                  <c:v>0</c:v>
                </c:pt>
                <c:pt idx="4">
                  <c:v>0</c:v>
                </c:pt>
                <c:pt idx="5">
                  <c:v>2</c:v>
                </c:pt>
              </c:numCache>
            </c:numRef>
          </c:val>
        </c:ser>
        <c:ser>
          <c:idx val="2"/>
          <c:order val="2"/>
          <c:tx>
            <c:strRef>
              <c:f>'M&amp;C Dependency Metrics'!$N$123:$N$124</c:f>
              <c:strCache>
                <c:ptCount val="1"/>
                <c:pt idx="0">
                  <c:v>10th Feb Number of missed milestones</c:v>
                </c:pt>
              </c:strCache>
            </c:strRef>
          </c:tx>
          <c:cat>
            <c:strRef>
              <c:f>'M&amp;C Dependency Metrics'!$K$125:$K$130</c:f>
              <c:strCache>
                <c:ptCount val="6"/>
                <c:pt idx="0">
                  <c:v>Unified Comms </c:v>
                </c:pt>
                <c:pt idx="1">
                  <c:v>Tech Foundation – Lync </c:v>
                </c:pt>
                <c:pt idx="2">
                  <c:v>Tech Foundation – Exchange </c:v>
                </c:pt>
                <c:pt idx="3">
                  <c:v>Tech Foundation - SharePoint </c:v>
                </c:pt>
                <c:pt idx="4">
                  <c:v>Application &amp; Data Migration </c:v>
                </c:pt>
                <c:pt idx="5">
                  <c:v>TOTAL Milestones</c:v>
                </c:pt>
              </c:strCache>
            </c:strRef>
          </c:cat>
          <c:val>
            <c:numRef>
              <c:f>'M&amp;C Dependency Metrics'!$N$125:$N$130</c:f>
              <c:numCache>
                <c:formatCode>General</c:formatCode>
                <c:ptCount val="6"/>
                <c:pt idx="0">
                  <c:v>2</c:v>
                </c:pt>
                <c:pt idx="1">
                  <c:v>0</c:v>
                </c:pt>
                <c:pt idx="2">
                  <c:v>0</c:v>
                </c:pt>
                <c:pt idx="3">
                  <c:v>0</c:v>
                </c:pt>
                <c:pt idx="4">
                  <c:v>0</c:v>
                </c:pt>
                <c:pt idx="5">
                  <c:v>2</c:v>
                </c:pt>
              </c:numCache>
            </c:numRef>
          </c:val>
        </c:ser>
        <c:ser>
          <c:idx val="3"/>
          <c:order val="3"/>
          <c:tx>
            <c:strRef>
              <c:f>'M&amp;C Dependency Metrics'!$O$123:$O$124</c:f>
              <c:strCache>
                <c:ptCount val="1"/>
                <c:pt idx="0">
                  <c:v>10th Feb Number of met milestones</c:v>
                </c:pt>
              </c:strCache>
            </c:strRef>
          </c:tx>
          <c:cat>
            <c:strRef>
              <c:f>'M&amp;C Dependency Metrics'!$K$125:$K$130</c:f>
              <c:strCache>
                <c:ptCount val="6"/>
                <c:pt idx="0">
                  <c:v>Unified Comms </c:v>
                </c:pt>
                <c:pt idx="1">
                  <c:v>Tech Foundation – Lync </c:v>
                </c:pt>
                <c:pt idx="2">
                  <c:v>Tech Foundation – Exchange </c:v>
                </c:pt>
                <c:pt idx="3">
                  <c:v>Tech Foundation - SharePoint </c:v>
                </c:pt>
                <c:pt idx="4">
                  <c:v>Application &amp; Data Migration </c:v>
                </c:pt>
                <c:pt idx="5">
                  <c:v>TOTAL Milestones</c:v>
                </c:pt>
              </c:strCache>
            </c:strRef>
          </c:cat>
          <c:val>
            <c:numRef>
              <c:f>'M&amp;C Dependency Metrics'!$O$125:$O$130</c:f>
              <c:numCache>
                <c:formatCode>General</c:formatCode>
                <c:ptCount val="6"/>
                <c:pt idx="0">
                  <c:v>0</c:v>
                </c:pt>
                <c:pt idx="1">
                  <c:v>0</c:v>
                </c:pt>
                <c:pt idx="2">
                  <c:v>0</c:v>
                </c:pt>
                <c:pt idx="3">
                  <c:v>0</c:v>
                </c:pt>
                <c:pt idx="4">
                  <c:v>0</c:v>
                </c:pt>
                <c:pt idx="5">
                  <c:v>0</c:v>
                </c:pt>
              </c:numCache>
            </c:numRef>
          </c:val>
        </c:ser>
        <c:ser>
          <c:idx val="4"/>
          <c:order val="4"/>
          <c:tx>
            <c:strRef>
              <c:f>'M&amp;C Dependency Metrics'!$P$123:$P$124</c:f>
              <c:strCache>
                <c:ptCount val="1"/>
                <c:pt idx="0">
                  <c:v>17th Feb Number of missed milestones</c:v>
                </c:pt>
              </c:strCache>
            </c:strRef>
          </c:tx>
          <c:spPr>
            <a:solidFill>
              <a:schemeClr val="accent6">
                <a:lumMod val="20000"/>
                <a:lumOff val="80000"/>
              </a:schemeClr>
            </a:solidFill>
          </c:spPr>
          <c:cat>
            <c:strRef>
              <c:f>'M&amp;C Dependency Metrics'!$K$125:$K$130</c:f>
              <c:strCache>
                <c:ptCount val="6"/>
                <c:pt idx="0">
                  <c:v>Unified Comms </c:v>
                </c:pt>
                <c:pt idx="1">
                  <c:v>Tech Foundation – Lync </c:v>
                </c:pt>
                <c:pt idx="2">
                  <c:v>Tech Foundation – Exchange </c:v>
                </c:pt>
                <c:pt idx="3">
                  <c:v>Tech Foundation - SharePoint </c:v>
                </c:pt>
                <c:pt idx="4">
                  <c:v>Application &amp; Data Migration </c:v>
                </c:pt>
                <c:pt idx="5">
                  <c:v>TOTAL Milestones</c:v>
                </c:pt>
              </c:strCache>
            </c:strRef>
          </c:cat>
          <c:val>
            <c:numRef>
              <c:f>'M&amp;C Dependency Metrics'!$P$125:$P$130</c:f>
              <c:numCache>
                <c:formatCode>General</c:formatCode>
                <c:ptCount val="6"/>
                <c:pt idx="0">
                  <c:v>1</c:v>
                </c:pt>
                <c:pt idx="1">
                  <c:v>1</c:v>
                </c:pt>
                <c:pt idx="2">
                  <c:v>2</c:v>
                </c:pt>
                <c:pt idx="3">
                  <c:v>0</c:v>
                </c:pt>
                <c:pt idx="4">
                  <c:v>0</c:v>
                </c:pt>
                <c:pt idx="5">
                  <c:v>4</c:v>
                </c:pt>
              </c:numCache>
            </c:numRef>
          </c:val>
        </c:ser>
        <c:ser>
          <c:idx val="5"/>
          <c:order val="5"/>
          <c:tx>
            <c:strRef>
              <c:f>'M&amp;C Dependency Metrics'!$Q$123:$Q$124</c:f>
              <c:strCache>
                <c:ptCount val="1"/>
                <c:pt idx="0">
                  <c:v>17th Feb Number of met milestones</c:v>
                </c:pt>
              </c:strCache>
            </c:strRef>
          </c:tx>
          <c:cat>
            <c:strRef>
              <c:f>'M&amp;C Dependency Metrics'!$K$125:$K$130</c:f>
              <c:strCache>
                <c:ptCount val="6"/>
                <c:pt idx="0">
                  <c:v>Unified Comms </c:v>
                </c:pt>
                <c:pt idx="1">
                  <c:v>Tech Foundation – Lync </c:v>
                </c:pt>
                <c:pt idx="2">
                  <c:v>Tech Foundation – Exchange </c:v>
                </c:pt>
                <c:pt idx="3">
                  <c:v>Tech Foundation - SharePoint </c:v>
                </c:pt>
                <c:pt idx="4">
                  <c:v>Application &amp; Data Migration </c:v>
                </c:pt>
                <c:pt idx="5">
                  <c:v>TOTAL Milestones</c:v>
                </c:pt>
              </c:strCache>
            </c:strRef>
          </c:cat>
          <c:val>
            <c:numRef>
              <c:f>'M&amp;C Dependency Metrics'!$Q$125:$Q$130</c:f>
              <c:numCache>
                <c:formatCode>General</c:formatCode>
                <c:ptCount val="6"/>
                <c:pt idx="0">
                  <c:v>0</c:v>
                </c:pt>
                <c:pt idx="1">
                  <c:v>0</c:v>
                </c:pt>
                <c:pt idx="2">
                  <c:v>0</c:v>
                </c:pt>
                <c:pt idx="3">
                  <c:v>0</c:v>
                </c:pt>
                <c:pt idx="4">
                  <c:v>0</c:v>
                </c:pt>
                <c:pt idx="5">
                  <c:v>0</c:v>
                </c:pt>
              </c:numCache>
            </c:numRef>
          </c:val>
        </c:ser>
        <c:ser>
          <c:idx val="6"/>
          <c:order val="6"/>
          <c:tx>
            <c:strRef>
              <c:f>'M&amp;C Dependency Metrics'!$R$123:$R$124</c:f>
              <c:strCache>
                <c:ptCount val="1"/>
                <c:pt idx="0">
                  <c:v>24th Feb Number of missed milestones</c:v>
                </c:pt>
              </c:strCache>
            </c:strRef>
          </c:tx>
          <c:cat>
            <c:strRef>
              <c:f>'M&amp;C Dependency Metrics'!$K$125:$K$130</c:f>
              <c:strCache>
                <c:ptCount val="6"/>
                <c:pt idx="0">
                  <c:v>Unified Comms </c:v>
                </c:pt>
                <c:pt idx="1">
                  <c:v>Tech Foundation – Lync </c:v>
                </c:pt>
                <c:pt idx="2">
                  <c:v>Tech Foundation – Exchange </c:v>
                </c:pt>
                <c:pt idx="3">
                  <c:v>Tech Foundation - SharePoint </c:v>
                </c:pt>
                <c:pt idx="4">
                  <c:v>Application &amp; Data Migration </c:v>
                </c:pt>
                <c:pt idx="5">
                  <c:v>TOTAL Milestones</c:v>
                </c:pt>
              </c:strCache>
            </c:strRef>
          </c:cat>
          <c:val>
            <c:numRef>
              <c:f>'M&amp;C Dependency Metrics'!$R$125:$R$130</c:f>
              <c:numCache>
                <c:formatCode>General</c:formatCode>
                <c:ptCount val="6"/>
                <c:pt idx="0">
                  <c:v>1</c:v>
                </c:pt>
                <c:pt idx="1">
                  <c:v>0</c:v>
                </c:pt>
                <c:pt idx="2">
                  <c:v>8</c:v>
                </c:pt>
                <c:pt idx="3">
                  <c:v>0</c:v>
                </c:pt>
                <c:pt idx="4">
                  <c:v>0</c:v>
                </c:pt>
                <c:pt idx="5">
                  <c:v>9</c:v>
                </c:pt>
              </c:numCache>
            </c:numRef>
          </c:val>
        </c:ser>
        <c:ser>
          <c:idx val="7"/>
          <c:order val="7"/>
          <c:tx>
            <c:strRef>
              <c:f>'M&amp;C Dependency Metrics'!$S$123:$S$124</c:f>
              <c:strCache>
                <c:ptCount val="1"/>
                <c:pt idx="0">
                  <c:v>24th Feb Number of met milestones</c:v>
                </c:pt>
              </c:strCache>
            </c:strRef>
          </c:tx>
          <c:cat>
            <c:strRef>
              <c:f>'M&amp;C Dependency Metrics'!$K$125:$K$130</c:f>
              <c:strCache>
                <c:ptCount val="6"/>
                <c:pt idx="0">
                  <c:v>Unified Comms </c:v>
                </c:pt>
                <c:pt idx="1">
                  <c:v>Tech Foundation – Lync </c:v>
                </c:pt>
                <c:pt idx="2">
                  <c:v>Tech Foundation – Exchange </c:v>
                </c:pt>
                <c:pt idx="3">
                  <c:v>Tech Foundation - SharePoint </c:v>
                </c:pt>
                <c:pt idx="4">
                  <c:v>Application &amp; Data Migration </c:v>
                </c:pt>
                <c:pt idx="5">
                  <c:v>TOTAL Milestones</c:v>
                </c:pt>
              </c:strCache>
            </c:strRef>
          </c:cat>
          <c:val>
            <c:numRef>
              <c:f>'M&amp;C Dependency Metrics'!$S$125:$S$130</c:f>
              <c:numCache>
                <c:formatCode>General</c:formatCode>
                <c:ptCount val="6"/>
                <c:pt idx="0">
                  <c:v>0</c:v>
                </c:pt>
                <c:pt idx="1">
                  <c:v>0</c:v>
                </c:pt>
                <c:pt idx="2">
                  <c:v>0</c:v>
                </c:pt>
                <c:pt idx="3">
                  <c:v>0</c:v>
                </c:pt>
                <c:pt idx="4">
                  <c:v>0</c:v>
                </c:pt>
                <c:pt idx="5">
                  <c:v>0</c:v>
                </c:pt>
              </c:numCache>
            </c:numRef>
          </c:val>
        </c:ser>
        <c:axId val="72644480"/>
        <c:axId val="72646016"/>
      </c:barChart>
      <c:catAx>
        <c:axId val="72644480"/>
        <c:scaling>
          <c:orientation val="minMax"/>
        </c:scaling>
        <c:axPos val="l"/>
        <c:tickLblPos val="nextTo"/>
        <c:crossAx val="72646016"/>
        <c:crosses val="autoZero"/>
        <c:auto val="1"/>
        <c:lblAlgn val="ctr"/>
        <c:lblOffset val="100"/>
      </c:catAx>
      <c:valAx>
        <c:axId val="72646016"/>
        <c:scaling>
          <c:orientation val="minMax"/>
        </c:scaling>
        <c:axPos val="b"/>
        <c:majorGridlines/>
        <c:numFmt formatCode="General" sourceLinked="1"/>
        <c:tickLblPos val="nextTo"/>
        <c:crossAx val="72644480"/>
        <c:crosses val="autoZero"/>
        <c:crossBetween val="between"/>
      </c:valAx>
    </c:plotArea>
    <c:legend>
      <c:legendPos val="r"/>
      <c:layout/>
    </c:legend>
    <c:plotVisOnly val="1"/>
  </c:chart>
  <c:txPr>
    <a:bodyPr/>
    <a:lstStyle/>
    <a:p>
      <a:pPr>
        <a:defRPr sz="600"/>
      </a:pPr>
      <a:endParaRPr lang="en-US"/>
    </a:p>
  </c:tx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GB"/>
  <c:chart>
    <c:plotArea>
      <c:layout/>
      <c:barChart>
        <c:barDir val="bar"/>
        <c:grouping val="clustered"/>
        <c:ser>
          <c:idx val="0"/>
          <c:order val="0"/>
          <c:tx>
            <c:strRef>
              <c:f>'M&amp;C Dependency Metrics'!$A$126</c:f>
              <c:strCache>
                <c:ptCount val="1"/>
                <c:pt idx="0">
                  <c:v>6th Jan</c:v>
                </c:pt>
              </c:strCache>
            </c:strRef>
          </c:tx>
          <c:cat>
            <c:strRef>
              <c:f>'M&amp;C Dependency Metrics'!$B$125:$G$125</c:f>
              <c:strCache>
                <c:ptCount val="6"/>
                <c:pt idx="0">
                  <c:v>Missing dependencies from M&amp;C Delivering plans</c:v>
                </c:pt>
                <c:pt idx="1">
                  <c:v>Missing dependencies from M&amp;C Receiving plans</c:v>
                </c:pt>
                <c:pt idx="2">
                  <c:v>Mis-aligned dates</c:v>
                </c:pt>
                <c:pt idx="3">
                  <c:v>Aligned but past due</c:v>
                </c:pt>
                <c:pt idx="4">
                  <c:v>Total Aligned</c:v>
                </c:pt>
                <c:pt idx="5">
                  <c:v>Total Mis-aligned</c:v>
                </c:pt>
              </c:strCache>
            </c:strRef>
          </c:cat>
          <c:val>
            <c:numRef>
              <c:f>'M&amp;C Dependency Metrics'!$B$126:$G$126</c:f>
              <c:numCache>
                <c:formatCode>0</c:formatCode>
                <c:ptCount val="6"/>
                <c:pt idx="0">
                  <c:v>10</c:v>
                </c:pt>
                <c:pt idx="1">
                  <c:v>5</c:v>
                </c:pt>
                <c:pt idx="2">
                  <c:v>26</c:v>
                </c:pt>
                <c:pt idx="3">
                  <c:v>3</c:v>
                </c:pt>
                <c:pt idx="4">
                  <c:v>55</c:v>
                </c:pt>
                <c:pt idx="5">
                  <c:v>41</c:v>
                </c:pt>
              </c:numCache>
            </c:numRef>
          </c:val>
        </c:ser>
        <c:ser>
          <c:idx val="1"/>
          <c:order val="1"/>
          <c:tx>
            <c:strRef>
              <c:f>'M&amp;C Dependency Metrics'!$A$127</c:f>
              <c:strCache>
                <c:ptCount val="1"/>
                <c:pt idx="0">
                  <c:v>13th Jan</c:v>
                </c:pt>
              </c:strCache>
            </c:strRef>
          </c:tx>
          <c:cat>
            <c:strRef>
              <c:f>'M&amp;C Dependency Metrics'!$B$125:$G$125</c:f>
              <c:strCache>
                <c:ptCount val="6"/>
                <c:pt idx="0">
                  <c:v>Missing dependencies from M&amp;C Delivering plans</c:v>
                </c:pt>
                <c:pt idx="1">
                  <c:v>Missing dependencies from M&amp;C Receiving plans</c:v>
                </c:pt>
                <c:pt idx="2">
                  <c:v>Mis-aligned dates</c:v>
                </c:pt>
                <c:pt idx="3">
                  <c:v>Aligned but past due</c:v>
                </c:pt>
                <c:pt idx="4">
                  <c:v>Total Aligned</c:v>
                </c:pt>
                <c:pt idx="5">
                  <c:v>Total Mis-aligned</c:v>
                </c:pt>
              </c:strCache>
            </c:strRef>
          </c:cat>
          <c:val>
            <c:numRef>
              <c:f>'M&amp;C Dependency Metrics'!$B$127:$G$127</c:f>
              <c:numCache>
                <c:formatCode>General</c:formatCode>
                <c:ptCount val="6"/>
                <c:pt idx="0">
                  <c:v>10</c:v>
                </c:pt>
                <c:pt idx="1">
                  <c:v>5</c:v>
                </c:pt>
                <c:pt idx="2">
                  <c:v>25</c:v>
                </c:pt>
                <c:pt idx="3">
                  <c:v>4</c:v>
                </c:pt>
                <c:pt idx="4">
                  <c:v>59</c:v>
                </c:pt>
                <c:pt idx="5">
                  <c:v>40</c:v>
                </c:pt>
              </c:numCache>
            </c:numRef>
          </c:val>
        </c:ser>
        <c:ser>
          <c:idx val="2"/>
          <c:order val="2"/>
          <c:tx>
            <c:strRef>
              <c:f>'M&amp;C Dependency Metrics'!$A$128</c:f>
              <c:strCache>
                <c:ptCount val="1"/>
                <c:pt idx="0">
                  <c:v>20th Jan</c:v>
                </c:pt>
              </c:strCache>
            </c:strRef>
          </c:tx>
          <c:cat>
            <c:strRef>
              <c:f>'M&amp;C Dependency Metrics'!$B$125:$G$125</c:f>
              <c:strCache>
                <c:ptCount val="6"/>
                <c:pt idx="0">
                  <c:v>Missing dependencies from M&amp;C Delivering plans</c:v>
                </c:pt>
                <c:pt idx="1">
                  <c:v>Missing dependencies from M&amp;C Receiving plans</c:v>
                </c:pt>
                <c:pt idx="2">
                  <c:v>Mis-aligned dates</c:v>
                </c:pt>
                <c:pt idx="3">
                  <c:v>Aligned but past due</c:v>
                </c:pt>
                <c:pt idx="4">
                  <c:v>Total Aligned</c:v>
                </c:pt>
                <c:pt idx="5">
                  <c:v>Total Mis-aligned</c:v>
                </c:pt>
              </c:strCache>
            </c:strRef>
          </c:cat>
          <c:val>
            <c:numRef>
              <c:f>'M&amp;C Dependency Metrics'!$B$128:$G$128</c:f>
              <c:numCache>
                <c:formatCode>0</c:formatCode>
                <c:ptCount val="6"/>
                <c:pt idx="0" formatCode="General">
                  <c:v>12</c:v>
                </c:pt>
                <c:pt idx="1">
                  <c:v>8</c:v>
                </c:pt>
                <c:pt idx="2" formatCode="General">
                  <c:v>26</c:v>
                </c:pt>
                <c:pt idx="3" formatCode="General">
                  <c:v>6</c:v>
                </c:pt>
                <c:pt idx="4" formatCode="General">
                  <c:v>49</c:v>
                </c:pt>
                <c:pt idx="5" formatCode="General">
                  <c:v>41</c:v>
                </c:pt>
              </c:numCache>
            </c:numRef>
          </c:val>
        </c:ser>
        <c:ser>
          <c:idx val="3"/>
          <c:order val="3"/>
          <c:tx>
            <c:strRef>
              <c:f>'M&amp;C Dependency Metrics'!$A$129</c:f>
              <c:strCache>
                <c:ptCount val="1"/>
                <c:pt idx="0">
                  <c:v>27th Jan</c:v>
                </c:pt>
              </c:strCache>
            </c:strRef>
          </c:tx>
          <c:cat>
            <c:strRef>
              <c:f>'M&amp;C Dependency Metrics'!$B$125:$G$125</c:f>
              <c:strCache>
                <c:ptCount val="6"/>
                <c:pt idx="0">
                  <c:v>Missing dependencies from M&amp;C Delivering plans</c:v>
                </c:pt>
                <c:pt idx="1">
                  <c:v>Missing dependencies from M&amp;C Receiving plans</c:v>
                </c:pt>
                <c:pt idx="2">
                  <c:v>Mis-aligned dates</c:v>
                </c:pt>
                <c:pt idx="3">
                  <c:v>Aligned but past due</c:v>
                </c:pt>
                <c:pt idx="4">
                  <c:v>Total Aligned</c:v>
                </c:pt>
                <c:pt idx="5">
                  <c:v>Total Mis-aligned</c:v>
                </c:pt>
              </c:strCache>
            </c:strRef>
          </c:cat>
          <c:val>
            <c:numRef>
              <c:f>'M&amp;C Dependency Metrics'!$B$129:$G$129</c:f>
              <c:numCache>
                <c:formatCode>0</c:formatCode>
                <c:ptCount val="6"/>
                <c:pt idx="0" formatCode="General">
                  <c:v>10</c:v>
                </c:pt>
                <c:pt idx="1">
                  <c:v>6</c:v>
                </c:pt>
                <c:pt idx="2" formatCode="General">
                  <c:v>25</c:v>
                </c:pt>
                <c:pt idx="3" formatCode="General">
                  <c:v>7</c:v>
                </c:pt>
                <c:pt idx="4" formatCode="General">
                  <c:v>51</c:v>
                </c:pt>
                <c:pt idx="5" formatCode="General">
                  <c:v>41</c:v>
                </c:pt>
              </c:numCache>
            </c:numRef>
          </c:val>
        </c:ser>
        <c:ser>
          <c:idx val="4"/>
          <c:order val="4"/>
          <c:tx>
            <c:strRef>
              <c:f>'M&amp;C Dependency Metrics'!$A$130</c:f>
              <c:strCache>
                <c:ptCount val="1"/>
                <c:pt idx="0">
                  <c:v>3rd Feb</c:v>
                </c:pt>
              </c:strCache>
            </c:strRef>
          </c:tx>
          <c:cat>
            <c:strRef>
              <c:f>'M&amp;C Dependency Metrics'!$B$125:$G$125</c:f>
              <c:strCache>
                <c:ptCount val="6"/>
                <c:pt idx="0">
                  <c:v>Missing dependencies from M&amp;C Delivering plans</c:v>
                </c:pt>
                <c:pt idx="1">
                  <c:v>Missing dependencies from M&amp;C Receiving plans</c:v>
                </c:pt>
                <c:pt idx="2">
                  <c:v>Mis-aligned dates</c:v>
                </c:pt>
                <c:pt idx="3">
                  <c:v>Aligned but past due</c:v>
                </c:pt>
                <c:pt idx="4">
                  <c:v>Total Aligned</c:v>
                </c:pt>
                <c:pt idx="5">
                  <c:v>Total Mis-aligned</c:v>
                </c:pt>
              </c:strCache>
            </c:strRef>
          </c:cat>
          <c:val>
            <c:numRef>
              <c:f>'M&amp;C Dependency Metrics'!$B$130:$G$130</c:f>
              <c:numCache>
                <c:formatCode>0</c:formatCode>
                <c:ptCount val="6"/>
                <c:pt idx="0" formatCode="General">
                  <c:v>14</c:v>
                </c:pt>
                <c:pt idx="1">
                  <c:v>5</c:v>
                </c:pt>
                <c:pt idx="2" formatCode="General">
                  <c:v>23</c:v>
                </c:pt>
                <c:pt idx="3" formatCode="General">
                  <c:v>16</c:v>
                </c:pt>
                <c:pt idx="4" formatCode="General">
                  <c:v>57</c:v>
                </c:pt>
                <c:pt idx="5" formatCode="General">
                  <c:v>42</c:v>
                </c:pt>
              </c:numCache>
            </c:numRef>
          </c:val>
        </c:ser>
        <c:ser>
          <c:idx val="5"/>
          <c:order val="5"/>
          <c:tx>
            <c:strRef>
              <c:f>'M&amp;C Dependency Metrics'!$A$131</c:f>
              <c:strCache>
                <c:ptCount val="1"/>
                <c:pt idx="0">
                  <c:v>10th Feb</c:v>
                </c:pt>
              </c:strCache>
            </c:strRef>
          </c:tx>
          <c:cat>
            <c:strRef>
              <c:f>'M&amp;C Dependency Metrics'!$B$125:$G$125</c:f>
              <c:strCache>
                <c:ptCount val="6"/>
                <c:pt idx="0">
                  <c:v>Missing dependencies from M&amp;C Delivering plans</c:v>
                </c:pt>
                <c:pt idx="1">
                  <c:v>Missing dependencies from M&amp;C Receiving plans</c:v>
                </c:pt>
                <c:pt idx="2">
                  <c:v>Mis-aligned dates</c:v>
                </c:pt>
                <c:pt idx="3">
                  <c:v>Aligned but past due</c:v>
                </c:pt>
                <c:pt idx="4">
                  <c:v>Total Aligned</c:v>
                </c:pt>
                <c:pt idx="5">
                  <c:v>Total Mis-aligned</c:v>
                </c:pt>
              </c:strCache>
            </c:strRef>
          </c:cat>
          <c:val>
            <c:numRef>
              <c:f>'M&amp;C Dependency Metrics'!$B$131:$G$131</c:f>
              <c:numCache>
                <c:formatCode>0</c:formatCode>
                <c:ptCount val="6"/>
                <c:pt idx="0" formatCode="General">
                  <c:v>13</c:v>
                </c:pt>
                <c:pt idx="1">
                  <c:v>6</c:v>
                </c:pt>
                <c:pt idx="2" formatCode="General">
                  <c:v>23</c:v>
                </c:pt>
                <c:pt idx="3" formatCode="General">
                  <c:v>15</c:v>
                </c:pt>
                <c:pt idx="4" formatCode="General">
                  <c:v>57</c:v>
                </c:pt>
                <c:pt idx="5" formatCode="General">
                  <c:v>42</c:v>
                </c:pt>
              </c:numCache>
            </c:numRef>
          </c:val>
        </c:ser>
        <c:ser>
          <c:idx val="6"/>
          <c:order val="6"/>
          <c:tx>
            <c:strRef>
              <c:f>'M&amp;C Dependency Metrics'!$A$132</c:f>
              <c:strCache>
                <c:ptCount val="1"/>
                <c:pt idx="0">
                  <c:v>17th Feb</c:v>
                </c:pt>
              </c:strCache>
            </c:strRef>
          </c:tx>
          <c:cat>
            <c:strRef>
              <c:f>'M&amp;C Dependency Metrics'!$B$125:$G$125</c:f>
              <c:strCache>
                <c:ptCount val="6"/>
                <c:pt idx="0">
                  <c:v>Missing dependencies from M&amp;C Delivering plans</c:v>
                </c:pt>
                <c:pt idx="1">
                  <c:v>Missing dependencies from M&amp;C Receiving plans</c:v>
                </c:pt>
                <c:pt idx="2">
                  <c:v>Mis-aligned dates</c:v>
                </c:pt>
                <c:pt idx="3">
                  <c:v>Aligned but past due</c:v>
                </c:pt>
                <c:pt idx="4">
                  <c:v>Total Aligned</c:v>
                </c:pt>
                <c:pt idx="5">
                  <c:v>Total Mis-aligned</c:v>
                </c:pt>
              </c:strCache>
            </c:strRef>
          </c:cat>
          <c:val>
            <c:numRef>
              <c:f>'M&amp;C Dependency Metrics'!$B$132:$G$132</c:f>
              <c:numCache>
                <c:formatCode>0</c:formatCode>
                <c:ptCount val="6"/>
                <c:pt idx="0" formatCode="General">
                  <c:v>15</c:v>
                </c:pt>
                <c:pt idx="1">
                  <c:v>5</c:v>
                </c:pt>
                <c:pt idx="2" formatCode="General">
                  <c:v>27</c:v>
                </c:pt>
                <c:pt idx="3" formatCode="General">
                  <c:v>15</c:v>
                </c:pt>
                <c:pt idx="4" formatCode="General">
                  <c:v>49</c:v>
                </c:pt>
                <c:pt idx="5" formatCode="General">
                  <c:v>47</c:v>
                </c:pt>
              </c:numCache>
            </c:numRef>
          </c:val>
        </c:ser>
        <c:ser>
          <c:idx val="7"/>
          <c:order val="7"/>
          <c:tx>
            <c:strRef>
              <c:f>'M&amp;C Dependency Metrics'!$A$133</c:f>
              <c:strCache>
                <c:ptCount val="1"/>
                <c:pt idx="0">
                  <c:v>24th Feb</c:v>
                </c:pt>
              </c:strCache>
            </c:strRef>
          </c:tx>
          <c:cat>
            <c:strRef>
              <c:f>'M&amp;C Dependency Metrics'!$B$125:$G$125</c:f>
              <c:strCache>
                <c:ptCount val="6"/>
                <c:pt idx="0">
                  <c:v>Missing dependencies from M&amp;C Delivering plans</c:v>
                </c:pt>
                <c:pt idx="1">
                  <c:v>Missing dependencies from M&amp;C Receiving plans</c:v>
                </c:pt>
                <c:pt idx="2">
                  <c:v>Mis-aligned dates</c:v>
                </c:pt>
                <c:pt idx="3">
                  <c:v>Aligned but past due</c:v>
                </c:pt>
                <c:pt idx="4">
                  <c:v>Total Aligned</c:v>
                </c:pt>
                <c:pt idx="5">
                  <c:v>Total Mis-aligned</c:v>
                </c:pt>
              </c:strCache>
            </c:strRef>
          </c:cat>
          <c:val>
            <c:numRef>
              <c:f>'M&amp;C Dependency Metrics'!$B$133:$G$133</c:f>
              <c:numCache>
                <c:formatCode>0</c:formatCode>
                <c:ptCount val="6"/>
                <c:pt idx="0" formatCode="General">
                  <c:v>14</c:v>
                </c:pt>
                <c:pt idx="1">
                  <c:v>7</c:v>
                </c:pt>
                <c:pt idx="2" formatCode="General">
                  <c:v>19</c:v>
                </c:pt>
                <c:pt idx="3" formatCode="General">
                  <c:v>15</c:v>
                </c:pt>
                <c:pt idx="4" formatCode="General">
                  <c:v>53</c:v>
                </c:pt>
                <c:pt idx="5" formatCode="General">
                  <c:v>40</c:v>
                </c:pt>
              </c:numCache>
            </c:numRef>
          </c:val>
        </c:ser>
        <c:ser>
          <c:idx val="8"/>
          <c:order val="8"/>
          <c:tx>
            <c:strRef>
              <c:f>'M&amp;C Dependency Metrics'!$A$134</c:f>
              <c:strCache>
                <c:ptCount val="1"/>
                <c:pt idx="0">
                  <c:v>12th March</c:v>
                </c:pt>
              </c:strCache>
            </c:strRef>
          </c:tx>
          <c:spPr>
            <a:solidFill>
              <a:srgbClr val="FF0000"/>
            </a:solidFill>
          </c:spPr>
          <c:cat>
            <c:strRef>
              <c:f>'M&amp;C Dependency Metrics'!$B$125:$G$125</c:f>
              <c:strCache>
                <c:ptCount val="6"/>
                <c:pt idx="0">
                  <c:v>Missing dependencies from M&amp;C Delivering plans</c:v>
                </c:pt>
                <c:pt idx="1">
                  <c:v>Missing dependencies from M&amp;C Receiving plans</c:v>
                </c:pt>
                <c:pt idx="2">
                  <c:v>Mis-aligned dates</c:v>
                </c:pt>
                <c:pt idx="3">
                  <c:v>Aligned but past due</c:v>
                </c:pt>
                <c:pt idx="4">
                  <c:v>Total Aligned</c:v>
                </c:pt>
                <c:pt idx="5">
                  <c:v>Total Mis-aligned</c:v>
                </c:pt>
              </c:strCache>
            </c:strRef>
          </c:cat>
          <c:val>
            <c:numRef>
              <c:f>'M&amp;C Dependency Metrics'!$B$134:$G$134</c:f>
              <c:numCache>
                <c:formatCode>0</c:formatCode>
                <c:ptCount val="6"/>
                <c:pt idx="0" formatCode="General">
                  <c:v>28</c:v>
                </c:pt>
                <c:pt idx="1">
                  <c:v>1</c:v>
                </c:pt>
                <c:pt idx="2">
                  <c:v>13</c:v>
                </c:pt>
                <c:pt idx="3" formatCode="General">
                  <c:v>1</c:v>
                </c:pt>
                <c:pt idx="4" formatCode="General">
                  <c:v>19</c:v>
                </c:pt>
                <c:pt idx="5" formatCode="General">
                  <c:v>42</c:v>
                </c:pt>
              </c:numCache>
            </c:numRef>
          </c:val>
        </c:ser>
        <c:axId val="72819840"/>
        <c:axId val="72821376"/>
      </c:barChart>
      <c:catAx>
        <c:axId val="72819840"/>
        <c:scaling>
          <c:orientation val="minMax"/>
        </c:scaling>
        <c:axPos val="l"/>
        <c:tickLblPos val="nextTo"/>
        <c:crossAx val="72821376"/>
        <c:crosses val="autoZero"/>
        <c:auto val="1"/>
        <c:lblAlgn val="ctr"/>
        <c:lblOffset val="100"/>
      </c:catAx>
      <c:valAx>
        <c:axId val="72821376"/>
        <c:scaling>
          <c:orientation val="minMax"/>
        </c:scaling>
        <c:axPos val="b"/>
        <c:majorGridlines/>
        <c:numFmt formatCode="0" sourceLinked="1"/>
        <c:tickLblPos val="nextTo"/>
        <c:crossAx val="72819840"/>
        <c:crosses val="autoZero"/>
        <c:crossBetween val="between"/>
      </c:valAx>
    </c:plotArea>
    <c:legend>
      <c:legendPos val="r"/>
      <c:layout/>
    </c:legend>
    <c:plotVisOnly val="1"/>
  </c:chart>
  <c:txPr>
    <a:bodyPr/>
    <a:lstStyle/>
    <a:p>
      <a:pPr>
        <a:defRPr sz="600"/>
      </a:pPr>
      <a:endParaRPr lang="en-US"/>
    </a:p>
  </c:txPr>
  <c:externalData r:id="rId1"/>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GB"/>
  <c:chart>
    <c:plotArea>
      <c:layout/>
      <c:lineChart>
        <c:grouping val="standard"/>
        <c:ser>
          <c:idx val="0"/>
          <c:order val="0"/>
          <c:tx>
            <c:strRef>
              <c:f>'RAID Summary'!$A$2</c:f>
              <c:strCache>
                <c:ptCount val="1"/>
                <c:pt idx="0">
                  <c:v>Open Risks</c:v>
                </c:pt>
              </c:strCache>
            </c:strRef>
          </c:tx>
          <c:marker>
            <c:symbol val="none"/>
          </c:marker>
          <c:cat>
            <c:numRef>
              <c:f>'RAID Summary'!$B$1:$AU$1</c:f>
              <c:numCache>
                <c:formatCode>d\-mmm\-yy</c:formatCode>
                <c:ptCount val="46"/>
                <c:pt idx="0">
                  <c:v>40898</c:v>
                </c:pt>
                <c:pt idx="1">
                  <c:v>40912</c:v>
                </c:pt>
                <c:pt idx="2">
                  <c:v>40919</c:v>
                </c:pt>
                <c:pt idx="3">
                  <c:v>40926</c:v>
                </c:pt>
                <c:pt idx="4">
                  <c:v>40933</c:v>
                </c:pt>
                <c:pt idx="5">
                  <c:v>40940</c:v>
                </c:pt>
                <c:pt idx="6">
                  <c:v>40947</c:v>
                </c:pt>
                <c:pt idx="7">
                  <c:v>40954</c:v>
                </c:pt>
                <c:pt idx="8">
                  <c:v>40961</c:v>
                </c:pt>
                <c:pt idx="9">
                  <c:v>40968</c:v>
                </c:pt>
                <c:pt idx="10">
                  <c:v>40974</c:v>
                </c:pt>
                <c:pt idx="11">
                  <c:v>40975</c:v>
                </c:pt>
                <c:pt idx="12">
                  <c:v>40976</c:v>
                </c:pt>
                <c:pt idx="13">
                  <c:v>40977</c:v>
                </c:pt>
                <c:pt idx="14">
                  <c:v>40980</c:v>
                </c:pt>
                <c:pt idx="15">
                  <c:v>40981</c:v>
                </c:pt>
                <c:pt idx="16">
                  <c:v>40982</c:v>
                </c:pt>
                <c:pt idx="17">
                  <c:v>40983</c:v>
                </c:pt>
                <c:pt idx="18">
                  <c:v>40984</c:v>
                </c:pt>
                <c:pt idx="19">
                  <c:v>40987</c:v>
                </c:pt>
                <c:pt idx="20">
                  <c:v>40988</c:v>
                </c:pt>
                <c:pt idx="21">
                  <c:v>40991</c:v>
                </c:pt>
                <c:pt idx="22">
                  <c:v>40994</c:v>
                </c:pt>
                <c:pt idx="23">
                  <c:v>40995</c:v>
                </c:pt>
                <c:pt idx="24">
                  <c:v>40996</c:v>
                </c:pt>
                <c:pt idx="25">
                  <c:v>40997</c:v>
                </c:pt>
                <c:pt idx="26">
                  <c:v>40998</c:v>
                </c:pt>
                <c:pt idx="27">
                  <c:v>41001</c:v>
                </c:pt>
                <c:pt idx="28">
                  <c:v>41002</c:v>
                </c:pt>
                <c:pt idx="29">
                  <c:v>41003</c:v>
                </c:pt>
                <c:pt idx="30">
                  <c:v>41005</c:v>
                </c:pt>
                <c:pt idx="31">
                  <c:v>41010</c:v>
                </c:pt>
                <c:pt idx="32">
                  <c:v>41015</c:v>
                </c:pt>
                <c:pt idx="33">
                  <c:v>41017</c:v>
                </c:pt>
                <c:pt idx="34">
                  <c:v>41019</c:v>
                </c:pt>
                <c:pt idx="35">
                  <c:v>41025</c:v>
                </c:pt>
                <c:pt idx="36">
                  <c:v>41026</c:v>
                </c:pt>
                <c:pt idx="37">
                  <c:v>41032</c:v>
                </c:pt>
                <c:pt idx="38">
                  <c:v>41033</c:v>
                </c:pt>
                <c:pt idx="39">
                  <c:v>41038</c:v>
                </c:pt>
                <c:pt idx="40">
                  <c:v>41046</c:v>
                </c:pt>
                <c:pt idx="41">
                  <c:v>41047</c:v>
                </c:pt>
                <c:pt idx="42">
                  <c:v>41053</c:v>
                </c:pt>
                <c:pt idx="43">
                  <c:v>41060</c:v>
                </c:pt>
                <c:pt idx="44">
                  <c:v>41061</c:v>
                </c:pt>
                <c:pt idx="45">
                  <c:v>41068</c:v>
                </c:pt>
              </c:numCache>
            </c:numRef>
          </c:cat>
          <c:val>
            <c:numRef>
              <c:f>'RAID Summary'!$B$2:$AU$2</c:f>
              <c:numCache>
                <c:formatCode>General</c:formatCode>
                <c:ptCount val="46"/>
                <c:pt idx="0">
                  <c:v>40</c:v>
                </c:pt>
                <c:pt idx="1">
                  <c:v>34</c:v>
                </c:pt>
                <c:pt idx="2">
                  <c:v>33</c:v>
                </c:pt>
                <c:pt idx="3">
                  <c:v>30</c:v>
                </c:pt>
                <c:pt idx="4">
                  <c:v>32</c:v>
                </c:pt>
                <c:pt idx="5">
                  <c:v>32</c:v>
                </c:pt>
                <c:pt idx="6">
                  <c:v>30</c:v>
                </c:pt>
                <c:pt idx="7">
                  <c:v>30</c:v>
                </c:pt>
                <c:pt idx="8">
                  <c:v>32</c:v>
                </c:pt>
                <c:pt idx="9">
                  <c:v>39</c:v>
                </c:pt>
                <c:pt idx="10">
                  <c:v>45</c:v>
                </c:pt>
                <c:pt idx="11">
                  <c:v>38</c:v>
                </c:pt>
                <c:pt idx="12">
                  <c:v>37</c:v>
                </c:pt>
                <c:pt idx="13">
                  <c:v>32</c:v>
                </c:pt>
                <c:pt idx="14">
                  <c:v>30</c:v>
                </c:pt>
                <c:pt idx="15">
                  <c:v>29</c:v>
                </c:pt>
                <c:pt idx="16">
                  <c:v>32</c:v>
                </c:pt>
                <c:pt idx="17">
                  <c:v>32</c:v>
                </c:pt>
                <c:pt idx="18">
                  <c:v>32</c:v>
                </c:pt>
                <c:pt idx="19">
                  <c:v>35</c:v>
                </c:pt>
                <c:pt idx="20">
                  <c:v>35</c:v>
                </c:pt>
                <c:pt idx="21">
                  <c:v>35</c:v>
                </c:pt>
                <c:pt idx="22">
                  <c:v>35</c:v>
                </c:pt>
                <c:pt idx="23">
                  <c:v>34</c:v>
                </c:pt>
                <c:pt idx="24">
                  <c:v>38</c:v>
                </c:pt>
                <c:pt idx="25">
                  <c:v>35</c:v>
                </c:pt>
                <c:pt idx="26">
                  <c:v>35</c:v>
                </c:pt>
                <c:pt idx="27">
                  <c:v>36</c:v>
                </c:pt>
                <c:pt idx="28">
                  <c:v>34</c:v>
                </c:pt>
                <c:pt idx="29">
                  <c:v>35</c:v>
                </c:pt>
                <c:pt idx="30">
                  <c:v>35</c:v>
                </c:pt>
                <c:pt idx="31">
                  <c:v>37</c:v>
                </c:pt>
                <c:pt idx="32">
                  <c:v>36</c:v>
                </c:pt>
                <c:pt idx="33">
                  <c:v>36</c:v>
                </c:pt>
                <c:pt idx="34">
                  <c:v>37</c:v>
                </c:pt>
                <c:pt idx="35">
                  <c:v>41</c:v>
                </c:pt>
                <c:pt idx="36">
                  <c:v>39</c:v>
                </c:pt>
                <c:pt idx="37">
                  <c:v>37</c:v>
                </c:pt>
                <c:pt idx="38">
                  <c:v>37</c:v>
                </c:pt>
                <c:pt idx="39">
                  <c:v>36</c:v>
                </c:pt>
                <c:pt idx="40">
                  <c:v>34</c:v>
                </c:pt>
                <c:pt idx="41">
                  <c:v>33</c:v>
                </c:pt>
                <c:pt idx="42">
                  <c:v>34</c:v>
                </c:pt>
                <c:pt idx="43">
                  <c:v>33</c:v>
                </c:pt>
                <c:pt idx="44">
                  <c:v>32</c:v>
                </c:pt>
                <c:pt idx="45">
                  <c:v>34</c:v>
                </c:pt>
              </c:numCache>
            </c:numRef>
          </c:val>
        </c:ser>
        <c:ser>
          <c:idx val="1"/>
          <c:order val="1"/>
          <c:tx>
            <c:strRef>
              <c:f>'RAID Summary'!$A$3</c:f>
              <c:strCache>
                <c:ptCount val="1"/>
                <c:pt idx="0">
                  <c:v>Open Critical Risks</c:v>
                </c:pt>
              </c:strCache>
            </c:strRef>
          </c:tx>
          <c:marker>
            <c:symbol val="none"/>
          </c:marker>
          <c:cat>
            <c:numRef>
              <c:f>'RAID Summary'!$B$1:$AU$1</c:f>
              <c:numCache>
                <c:formatCode>d\-mmm\-yy</c:formatCode>
                <c:ptCount val="46"/>
                <c:pt idx="0">
                  <c:v>40898</c:v>
                </c:pt>
                <c:pt idx="1">
                  <c:v>40912</c:v>
                </c:pt>
                <c:pt idx="2">
                  <c:v>40919</c:v>
                </c:pt>
                <c:pt idx="3">
                  <c:v>40926</c:v>
                </c:pt>
                <c:pt idx="4">
                  <c:v>40933</c:v>
                </c:pt>
                <c:pt idx="5">
                  <c:v>40940</c:v>
                </c:pt>
                <c:pt idx="6">
                  <c:v>40947</c:v>
                </c:pt>
                <c:pt idx="7">
                  <c:v>40954</c:v>
                </c:pt>
                <c:pt idx="8">
                  <c:v>40961</c:v>
                </c:pt>
                <c:pt idx="9">
                  <c:v>40968</c:v>
                </c:pt>
                <c:pt idx="10">
                  <c:v>40974</c:v>
                </c:pt>
                <c:pt idx="11">
                  <c:v>40975</c:v>
                </c:pt>
                <c:pt idx="12">
                  <c:v>40976</c:v>
                </c:pt>
                <c:pt idx="13">
                  <c:v>40977</c:v>
                </c:pt>
                <c:pt idx="14">
                  <c:v>40980</c:v>
                </c:pt>
                <c:pt idx="15">
                  <c:v>40981</c:v>
                </c:pt>
                <c:pt idx="16">
                  <c:v>40982</c:v>
                </c:pt>
                <c:pt idx="17">
                  <c:v>40983</c:v>
                </c:pt>
                <c:pt idx="18">
                  <c:v>40984</c:v>
                </c:pt>
                <c:pt idx="19">
                  <c:v>40987</c:v>
                </c:pt>
                <c:pt idx="20">
                  <c:v>40988</c:v>
                </c:pt>
                <c:pt idx="21">
                  <c:v>40991</c:v>
                </c:pt>
                <c:pt idx="22">
                  <c:v>40994</c:v>
                </c:pt>
                <c:pt idx="23">
                  <c:v>40995</c:v>
                </c:pt>
                <c:pt idx="24">
                  <c:v>40996</c:v>
                </c:pt>
                <c:pt idx="25">
                  <c:v>40997</c:v>
                </c:pt>
                <c:pt idx="26">
                  <c:v>40998</c:v>
                </c:pt>
                <c:pt idx="27">
                  <c:v>41001</c:v>
                </c:pt>
                <c:pt idx="28">
                  <c:v>41002</c:v>
                </c:pt>
                <c:pt idx="29">
                  <c:v>41003</c:v>
                </c:pt>
                <c:pt idx="30">
                  <c:v>41005</c:v>
                </c:pt>
                <c:pt idx="31">
                  <c:v>41010</c:v>
                </c:pt>
                <c:pt idx="32">
                  <c:v>41015</c:v>
                </c:pt>
                <c:pt idx="33">
                  <c:v>41017</c:v>
                </c:pt>
                <c:pt idx="34">
                  <c:v>41019</c:v>
                </c:pt>
                <c:pt idx="35">
                  <c:v>41025</c:v>
                </c:pt>
                <c:pt idx="36">
                  <c:v>41026</c:v>
                </c:pt>
                <c:pt idx="37">
                  <c:v>41032</c:v>
                </c:pt>
                <c:pt idx="38">
                  <c:v>41033</c:v>
                </c:pt>
                <c:pt idx="39">
                  <c:v>41038</c:v>
                </c:pt>
                <c:pt idx="40">
                  <c:v>41046</c:v>
                </c:pt>
                <c:pt idx="41">
                  <c:v>41047</c:v>
                </c:pt>
                <c:pt idx="42">
                  <c:v>41053</c:v>
                </c:pt>
                <c:pt idx="43">
                  <c:v>41060</c:v>
                </c:pt>
                <c:pt idx="44">
                  <c:v>41061</c:v>
                </c:pt>
                <c:pt idx="45">
                  <c:v>41068</c:v>
                </c:pt>
              </c:numCache>
            </c:numRef>
          </c:cat>
          <c:val>
            <c:numRef>
              <c:f>'RAID Summary'!$B$3:$AU$3</c:f>
              <c:numCache>
                <c:formatCode>General</c:formatCode>
                <c:ptCount val="46"/>
                <c:pt idx="0">
                  <c:v>15</c:v>
                </c:pt>
                <c:pt idx="1">
                  <c:v>10</c:v>
                </c:pt>
                <c:pt idx="2">
                  <c:v>13</c:v>
                </c:pt>
                <c:pt idx="3">
                  <c:v>13</c:v>
                </c:pt>
                <c:pt idx="4">
                  <c:v>14</c:v>
                </c:pt>
                <c:pt idx="5">
                  <c:v>14</c:v>
                </c:pt>
                <c:pt idx="6">
                  <c:v>16</c:v>
                </c:pt>
                <c:pt idx="7">
                  <c:v>16</c:v>
                </c:pt>
                <c:pt idx="8">
                  <c:v>21</c:v>
                </c:pt>
                <c:pt idx="9">
                  <c:v>28</c:v>
                </c:pt>
                <c:pt idx="10">
                  <c:v>25</c:v>
                </c:pt>
                <c:pt idx="11">
                  <c:v>19</c:v>
                </c:pt>
                <c:pt idx="12">
                  <c:v>17</c:v>
                </c:pt>
                <c:pt idx="13">
                  <c:v>14</c:v>
                </c:pt>
                <c:pt idx="14">
                  <c:v>14</c:v>
                </c:pt>
                <c:pt idx="15">
                  <c:v>14</c:v>
                </c:pt>
                <c:pt idx="16">
                  <c:v>17</c:v>
                </c:pt>
                <c:pt idx="17">
                  <c:v>16</c:v>
                </c:pt>
                <c:pt idx="18">
                  <c:v>16</c:v>
                </c:pt>
                <c:pt idx="19">
                  <c:v>15</c:v>
                </c:pt>
                <c:pt idx="20">
                  <c:v>15</c:v>
                </c:pt>
                <c:pt idx="21">
                  <c:v>15</c:v>
                </c:pt>
                <c:pt idx="22">
                  <c:v>15</c:v>
                </c:pt>
                <c:pt idx="23">
                  <c:v>14</c:v>
                </c:pt>
                <c:pt idx="24">
                  <c:v>14</c:v>
                </c:pt>
                <c:pt idx="25">
                  <c:v>17</c:v>
                </c:pt>
                <c:pt idx="26">
                  <c:v>17</c:v>
                </c:pt>
                <c:pt idx="27">
                  <c:v>19</c:v>
                </c:pt>
                <c:pt idx="28">
                  <c:v>18</c:v>
                </c:pt>
                <c:pt idx="29">
                  <c:v>17</c:v>
                </c:pt>
                <c:pt idx="30">
                  <c:v>20</c:v>
                </c:pt>
                <c:pt idx="31">
                  <c:v>20</c:v>
                </c:pt>
                <c:pt idx="32">
                  <c:v>19</c:v>
                </c:pt>
                <c:pt idx="33">
                  <c:v>19</c:v>
                </c:pt>
                <c:pt idx="34">
                  <c:v>19</c:v>
                </c:pt>
                <c:pt idx="35">
                  <c:v>22</c:v>
                </c:pt>
                <c:pt idx="36">
                  <c:v>21</c:v>
                </c:pt>
                <c:pt idx="37">
                  <c:v>21</c:v>
                </c:pt>
                <c:pt idx="38">
                  <c:v>21</c:v>
                </c:pt>
                <c:pt idx="39">
                  <c:v>20</c:v>
                </c:pt>
                <c:pt idx="40">
                  <c:v>11</c:v>
                </c:pt>
                <c:pt idx="41">
                  <c:v>10</c:v>
                </c:pt>
                <c:pt idx="42">
                  <c:v>11</c:v>
                </c:pt>
                <c:pt idx="43">
                  <c:v>11</c:v>
                </c:pt>
                <c:pt idx="44">
                  <c:v>11</c:v>
                </c:pt>
                <c:pt idx="45">
                  <c:v>11</c:v>
                </c:pt>
              </c:numCache>
            </c:numRef>
          </c:val>
        </c:ser>
        <c:ser>
          <c:idx val="2"/>
          <c:order val="2"/>
          <c:tx>
            <c:strRef>
              <c:f>'RAID Summary'!$A$4</c:f>
              <c:strCache>
                <c:ptCount val="1"/>
                <c:pt idx="0">
                  <c:v>Risks: Missed Required Resolution Date</c:v>
                </c:pt>
              </c:strCache>
            </c:strRef>
          </c:tx>
          <c:marker>
            <c:symbol val="none"/>
          </c:marker>
          <c:cat>
            <c:numRef>
              <c:f>'RAID Summary'!$B$1:$AU$1</c:f>
              <c:numCache>
                <c:formatCode>d\-mmm\-yy</c:formatCode>
                <c:ptCount val="46"/>
                <c:pt idx="0">
                  <c:v>40898</c:v>
                </c:pt>
                <c:pt idx="1">
                  <c:v>40912</c:v>
                </c:pt>
                <c:pt idx="2">
                  <c:v>40919</c:v>
                </c:pt>
                <c:pt idx="3">
                  <c:v>40926</c:v>
                </c:pt>
                <c:pt idx="4">
                  <c:v>40933</c:v>
                </c:pt>
                <c:pt idx="5">
                  <c:v>40940</c:v>
                </c:pt>
                <c:pt idx="6">
                  <c:v>40947</c:v>
                </c:pt>
                <c:pt idx="7">
                  <c:v>40954</c:v>
                </c:pt>
                <c:pt idx="8">
                  <c:v>40961</c:v>
                </c:pt>
                <c:pt idx="9">
                  <c:v>40968</c:v>
                </c:pt>
                <c:pt idx="10">
                  <c:v>40974</c:v>
                </c:pt>
                <c:pt idx="11">
                  <c:v>40975</c:v>
                </c:pt>
                <c:pt idx="12">
                  <c:v>40976</c:v>
                </c:pt>
                <c:pt idx="13">
                  <c:v>40977</c:v>
                </c:pt>
                <c:pt idx="14">
                  <c:v>40980</c:v>
                </c:pt>
                <c:pt idx="15">
                  <c:v>40981</c:v>
                </c:pt>
                <c:pt idx="16">
                  <c:v>40982</c:v>
                </c:pt>
                <c:pt idx="17">
                  <c:v>40983</c:v>
                </c:pt>
                <c:pt idx="18">
                  <c:v>40984</c:v>
                </c:pt>
                <c:pt idx="19">
                  <c:v>40987</c:v>
                </c:pt>
                <c:pt idx="20">
                  <c:v>40988</c:v>
                </c:pt>
                <c:pt idx="21">
                  <c:v>40991</c:v>
                </c:pt>
                <c:pt idx="22">
                  <c:v>40994</c:v>
                </c:pt>
                <c:pt idx="23">
                  <c:v>40995</c:v>
                </c:pt>
                <c:pt idx="24">
                  <c:v>40996</c:v>
                </c:pt>
                <c:pt idx="25">
                  <c:v>40997</c:v>
                </c:pt>
                <c:pt idx="26">
                  <c:v>40998</c:v>
                </c:pt>
                <c:pt idx="27">
                  <c:v>41001</c:v>
                </c:pt>
                <c:pt idx="28">
                  <c:v>41002</c:v>
                </c:pt>
                <c:pt idx="29">
                  <c:v>41003</c:v>
                </c:pt>
                <c:pt idx="30">
                  <c:v>41005</c:v>
                </c:pt>
                <c:pt idx="31">
                  <c:v>41010</c:v>
                </c:pt>
                <c:pt idx="32">
                  <c:v>41015</c:v>
                </c:pt>
                <c:pt idx="33">
                  <c:v>41017</c:v>
                </c:pt>
                <c:pt idx="34">
                  <c:v>41019</c:v>
                </c:pt>
                <c:pt idx="35">
                  <c:v>41025</c:v>
                </c:pt>
                <c:pt idx="36">
                  <c:v>41026</c:v>
                </c:pt>
                <c:pt idx="37">
                  <c:v>41032</c:v>
                </c:pt>
                <c:pt idx="38">
                  <c:v>41033</c:v>
                </c:pt>
                <c:pt idx="39">
                  <c:v>41038</c:v>
                </c:pt>
                <c:pt idx="40">
                  <c:v>41046</c:v>
                </c:pt>
                <c:pt idx="41">
                  <c:v>41047</c:v>
                </c:pt>
                <c:pt idx="42">
                  <c:v>41053</c:v>
                </c:pt>
                <c:pt idx="43">
                  <c:v>41060</c:v>
                </c:pt>
                <c:pt idx="44">
                  <c:v>41061</c:v>
                </c:pt>
                <c:pt idx="45">
                  <c:v>41068</c:v>
                </c:pt>
              </c:numCache>
            </c:numRef>
          </c:cat>
          <c:val>
            <c:numRef>
              <c:f>'RAID Summary'!$B$4:$AU$4</c:f>
              <c:numCache>
                <c:formatCode>General</c:formatCode>
                <c:ptCount val="46"/>
                <c:pt idx="2">
                  <c:v>2</c:v>
                </c:pt>
                <c:pt idx="3">
                  <c:v>3</c:v>
                </c:pt>
                <c:pt idx="4">
                  <c:v>5</c:v>
                </c:pt>
                <c:pt idx="5">
                  <c:v>7</c:v>
                </c:pt>
                <c:pt idx="6">
                  <c:v>8</c:v>
                </c:pt>
                <c:pt idx="7">
                  <c:v>10</c:v>
                </c:pt>
                <c:pt idx="8">
                  <c:v>9</c:v>
                </c:pt>
                <c:pt idx="9">
                  <c:v>13</c:v>
                </c:pt>
                <c:pt idx="10">
                  <c:v>9</c:v>
                </c:pt>
                <c:pt idx="11">
                  <c:v>2</c:v>
                </c:pt>
                <c:pt idx="12">
                  <c:v>2</c:v>
                </c:pt>
                <c:pt idx="13">
                  <c:v>1</c:v>
                </c:pt>
                <c:pt idx="14">
                  <c:v>1</c:v>
                </c:pt>
                <c:pt idx="15">
                  <c:v>0</c:v>
                </c:pt>
                <c:pt idx="16">
                  <c:v>1</c:v>
                </c:pt>
                <c:pt idx="17">
                  <c:v>1</c:v>
                </c:pt>
                <c:pt idx="18">
                  <c:v>0</c:v>
                </c:pt>
                <c:pt idx="19">
                  <c:v>0</c:v>
                </c:pt>
                <c:pt idx="20">
                  <c:v>0</c:v>
                </c:pt>
                <c:pt idx="21">
                  <c:v>0</c:v>
                </c:pt>
                <c:pt idx="22">
                  <c:v>0</c:v>
                </c:pt>
                <c:pt idx="23">
                  <c:v>0</c:v>
                </c:pt>
                <c:pt idx="24">
                  <c:v>0</c:v>
                </c:pt>
                <c:pt idx="25">
                  <c:v>0</c:v>
                </c:pt>
                <c:pt idx="26">
                  <c:v>0</c:v>
                </c:pt>
                <c:pt idx="27">
                  <c:v>10</c:v>
                </c:pt>
                <c:pt idx="28">
                  <c:v>7</c:v>
                </c:pt>
                <c:pt idx="29">
                  <c:v>7</c:v>
                </c:pt>
                <c:pt idx="30">
                  <c:v>7</c:v>
                </c:pt>
                <c:pt idx="31">
                  <c:v>8</c:v>
                </c:pt>
                <c:pt idx="32">
                  <c:v>9</c:v>
                </c:pt>
                <c:pt idx="33">
                  <c:v>6</c:v>
                </c:pt>
                <c:pt idx="34">
                  <c:v>5</c:v>
                </c:pt>
                <c:pt idx="35">
                  <c:v>7</c:v>
                </c:pt>
                <c:pt idx="36">
                  <c:v>4</c:v>
                </c:pt>
                <c:pt idx="37">
                  <c:v>6</c:v>
                </c:pt>
                <c:pt idx="38">
                  <c:v>6</c:v>
                </c:pt>
                <c:pt idx="39">
                  <c:v>9</c:v>
                </c:pt>
                <c:pt idx="40">
                  <c:v>8</c:v>
                </c:pt>
                <c:pt idx="41">
                  <c:v>8</c:v>
                </c:pt>
                <c:pt idx="42">
                  <c:v>5</c:v>
                </c:pt>
                <c:pt idx="43">
                  <c:v>7</c:v>
                </c:pt>
                <c:pt idx="44">
                  <c:v>5</c:v>
                </c:pt>
                <c:pt idx="45">
                  <c:v>7</c:v>
                </c:pt>
              </c:numCache>
            </c:numRef>
          </c:val>
        </c:ser>
        <c:ser>
          <c:idx val="3"/>
          <c:order val="3"/>
          <c:tx>
            <c:strRef>
              <c:f>'RAID Summary'!$A$5</c:f>
              <c:strCache>
                <c:ptCount val="1"/>
                <c:pt idx="0">
                  <c:v>Open Issues</c:v>
                </c:pt>
              </c:strCache>
            </c:strRef>
          </c:tx>
          <c:marker>
            <c:symbol val="none"/>
          </c:marker>
          <c:cat>
            <c:numRef>
              <c:f>'RAID Summary'!$B$1:$AU$1</c:f>
              <c:numCache>
                <c:formatCode>d\-mmm\-yy</c:formatCode>
                <c:ptCount val="46"/>
                <c:pt idx="0">
                  <c:v>40898</c:v>
                </c:pt>
                <c:pt idx="1">
                  <c:v>40912</c:v>
                </c:pt>
                <c:pt idx="2">
                  <c:v>40919</c:v>
                </c:pt>
                <c:pt idx="3">
                  <c:v>40926</c:v>
                </c:pt>
                <c:pt idx="4">
                  <c:v>40933</c:v>
                </c:pt>
                <c:pt idx="5">
                  <c:v>40940</c:v>
                </c:pt>
                <c:pt idx="6">
                  <c:v>40947</c:v>
                </c:pt>
                <c:pt idx="7">
                  <c:v>40954</c:v>
                </c:pt>
                <c:pt idx="8">
                  <c:v>40961</c:v>
                </c:pt>
                <c:pt idx="9">
                  <c:v>40968</c:v>
                </c:pt>
                <c:pt idx="10">
                  <c:v>40974</c:v>
                </c:pt>
                <c:pt idx="11">
                  <c:v>40975</c:v>
                </c:pt>
                <c:pt idx="12">
                  <c:v>40976</c:v>
                </c:pt>
                <c:pt idx="13">
                  <c:v>40977</c:v>
                </c:pt>
                <c:pt idx="14">
                  <c:v>40980</c:v>
                </c:pt>
                <c:pt idx="15">
                  <c:v>40981</c:v>
                </c:pt>
                <c:pt idx="16">
                  <c:v>40982</c:v>
                </c:pt>
                <c:pt idx="17">
                  <c:v>40983</c:v>
                </c:pt>
                <c:pt idx="18">
                  <c:v>40984</c:v>
                </c:pt>
                <c:pt idx="19">
                  <c:v>40987</c:v>
                </c:pt>
                <c:pt idx="20">
                  <c:v>40988</c:v>
                </c:pt>
                <c:pt idx="21">
                  <c:v>40991</c:v>
                </c:pt>
                <c:pt idx="22">
                  <c:v>40994</c:v>
                </c:pt>
                <c:pt idx="23">
                  <c:v>40995</c:v>
                </c:pt>
                <c:pt idx="24">
                  <c:v>40996</c:v>
                </c:pt>
                <c:pt idx="25">
                  <c:v>40997</c:v>
                </c:pt>
                <c:pt idx="26">
                  <c:v>40998</c:v>
                </c:pt>
                <c:pt idx="27">
                  <c:v>41001</c:v>
                </c:pt>
                <c:pt idx="28">
                  <c:v>41002</c:v>
                </c:pt>
                <c:pt idx="29">
                  <c:v>41003</c:v>
                </c:pt>
                <c:pt idx="30">
                  <c:v>41005</c:v>
                </c:pt>
                <c:pt idx="31">
                  <c:v>41010</c:v>
                </c:pt>
                <c:pt idx="32">
                  <c:v>41015</c:v>
                </c:pt>
                <c:pt idx="33">
                  <c:v>41017</c:v>
                </c:pt>
                <c:pt idx="34">
                  <c:v>41019</c:v>
                </c:pt>
                <c:pt idx="35">
                  <c:v>41025</c:v>
                </c:pt>
                <c:pt idx="36">
                  <c:v>41026</c:v>
                </c:pt>
                <c:pt idx="37">
                  <c:v>41032</c:v>
                </c:pt>
                <c:pt idx="38">
                  <c:v>41033</c:v>
                </c:pt>
                <c:pt idx="39">
                  <c:v>41038</c:v>
                </c:pt>
                <c:pt idx="40">
                  <c:v>41046</c:v>
                </c:pt>
                <c:pt idx="41">
                  <c:v>41047</c:v>
                </c:pt>
                <c:pt idx="42">
                  <c:v>41053</c:v>
                </c:pt>
                <c:pt idx="43">
                  <c:v>41060</c:v>
                </c:pt>
                <c:pt idx="44">
                  <c:v>41061</c:v>
                </c:pt>
                <c:pt idx="45">
                  <c:v>41068</c:v>
                </c:pt>
              </c:numCache>
            </c:numRef>
          </c:cat>
          <c:val>
            <c:numRef>
              <c:f>'RAID Summary'!$B$5:$AU$5</c:f>
              <c:numCache>
                <c:formatCode>General</c:formatCode>
                <c:ptCount val="46"/>
                <c:pt idx="0">
                  <c:v>37</c:v>
                </c:pt>
                <c:pt idx="1">
                  <c:v>37</c:v>
                </c:pt>
                <c:pt idx="2">
                  <c:v>42</c:v>
                </c:pt>
                <c:pt idx="3">
                  <c:v>42</c:v>
                </c:pt>
                <c:pt idx="4">
                  <c:v>45</c:v>
                </c:pt>
                <c:pt idx="5">
                  <c:v>48</c:v>
                </c:pt>
                <c:pt idx="6">
                  <c:v>52</c:v>
                </c:pt>
                <c:pt idx="7">
                  <c:v>43</c:v>
                </c:pt>
                <c:pt idx="8">
                  <c:v>49</c:v>
                </c:pt>
                <c:pt idx="9">
                  <c:v>51</c:v>
                </c:pt>
                <c:pt idx="10">
                  <c:v>55</c:v>
                </c:pt>
                <c:pt idx="11">
                  <c:v>51</c:v>
                </c:pt>
                <c:pt idx="12">
                  <c:v>53</c:v>
                </c:pt>
                <c:pt idx="13">
                  <c:v>46</c:v>
                </c:pt>
                <c:pt idx="14">
                  <c:v>47</c:v>
                </c:pt>
                <c:pt idx="15">
                  <c:v>44</c:v>
                </c:pt>
                <c:pt idx="16">
                  <c:v>44</c:v>
                </c:pt>
                <c:pt idx="17">
                  <c:v>42</c:v>
                </c:pt>
                <c:pt idx="18">
                  <c:v>41</c:v>
                </c:pt>
                <c:pt idx="19">
                  <c:v>37</c:v>
                </c:pt>
                <c:pt idx="20">
                  <c:v>37</c:v>
                </c:pt>
                <c:pt idx="21">
                  <c:v>37</c:v>
                </c:pt>
                <c:pt idx="22">
                  <c:v>37</c:v>
                </c:pt>
                <c:pt idx="23">
                  <c:v>37</c:v>
                </c:pt>
                <c:pt idx="24">
                  <c:v>36</c:v>
                </c:pt>
                <c:pt idx="25">
                  <c:v>32</c:v>
                </c:pt>
                <c:pt idx="26">
                  <c:v>31</c:v>
                </c:pt>
                <c:pt idx="27">
                  <c:v>29</c:v>
                </c:pt>
                <c:pt idx="28">
                  <c:v>29</c:v>
                </c:pt>
                <c:pt idx="29">
                  <c:v>29</c:v>
                </c:pt>
                <c:pt idx="30">
                  <c:v>30</c:v>
                </c:pt>
                <c:pt idx="31">
                  <c:v>30</c:v>
                </c:pt>
                <c:pt idx="32">
                  <c:v>31</c:v>
                </c:pt>
                <c:pt idx="33">
                  <c:v>24</c:v>
                </c:pt>
                <c:pt idx="34">
                  <c:v>24</c:v>
                </c:pt>
                <c:pt idx="35">
                  <c:v>27</c:v>
                </c:pt>
                <c:pt idx="36">
                  <c:v>31</c:v>
                </c:pt>
                <c:pt idx="37">
                  <c:v>34</c:v>
                </c:pt>
                <c:pt idx="38">
                  <c:v>35</c:v>
                </c:pt>
                <c:pt idx="39">
                  <c:v>37</c:v>
                </c:pt>
                <c:pt idx="40">
                  <c:v>35</c:v>
                </c:pt>
                <c:pt idx="41">
                  <c:v>35</c:v>
                </c:pt>
                <c:pt idx="42">
                  <c:v>33</c:v>
                </c:pt>
                <c:pt idx="43">
                  <c:v>32</c:v>
                </c:pt>
                <c:pt idx="44">
                  <c:v>31</c:v>
                </c:pt>
                <c:pt idx="45">
                  <c:v>26</c:v>
                </c:pt>
              </c:numCache>
            </c:numRef>
          </c:val>
        </c:ser>
        <c:ser>
          <c:idx val="4"/>
          <c:order val="4"/>
          <c:tx>
            <c:strRef>
              <c:f>'RAID Summary'!$A$6</c:f>
              <c:strCache>
                <c:ptCount val="1"/>
                <c:pt idx="0">
                  <c:v>Open High Impact Issues</c:v>
                </c:pt>
              </c:strCache>
            </c:strRef>
          </c:tx>
          <c:marker>
            <c:symbol val="none"/>
          </c:marker>
          <c:cat>
            <c:numRef>
              <c:f>'RAID Summary'!$B$1:$AU$1</c:f>
              <c:numCache>
                <c:formatCode>d\-mmm\-yy</c:formatCode>
                <c:ptCount val="46"/>
                <c:pt idx="0">
                  <c:v>40898</c:v>
                </c:pt>
                <c:pt idx="1">
                  <c:v>40912</c:v>
                </c:pt>
                <c:pt idx="2">
                  <c:v>40919</c:v>
                </c:pt>
                <c:pt idx="3">
                  <c:v>40926</c:v>
                </c:pt>
                <c:pt idx="4">
                  <c:v>40933</c:v>
                </c:pt>
                <c:pt idx="5">
                  <c:v>40940</c:v>
                </c:pt>
                <c:pt idx="6">
                  <c:v>40947</c:v>
                </c:pt>
                <c:pt idx="7">
                  <c:v>40954</c:v>
                </c:pt>
                <c:pt idx="8">
                  <c:v>40961</c:v>
                </c:pt>
                <c:pt idx="9">
                  <c:v>40968</c:v>
                </c:pt>
                <c:pt idx="10">
                  <c:v>40974</c:v>
                </c:pt>
                <c:pt idx="11">
                  <c:v>40975</c:v>
                </c:pt>
                <c:pt idx="12">
                  <c:v>40976</c:v>
                </c:pt>
                <c:pt idx="13">
                  <c:v>40977</c:v>
                </c:pt>
                <c:pt idx="14">
                  <c:v>40980</c:v>
                </c:pt>
                <c:pt idx="15">
                  <c:v>40981</c:v>
                </c:pt>
                <c:pt idx="16">
                  <c:v>40982</c:v>
                </c:pt>
                <c:pt idx="17">
                  <c:v>40983</c:v>
                </c:pt>
                <c:pt idx="18">
                  <c:v>40984</c:v>
                </c:pt>
                <c:pt idx="19">
                  <c:v>40987</c:v>
                </c:pt>
                <c:pt idx="20">
                  <c:v>40988</c:v>
                </c:pt>
                <c:pt idx="21">
                  <c:v>40991</c:v>
                </c:pt>
                <c:pt idx="22">
                  <c:v>40994</c:v>
                </c:pt>
                <c:pt idx="23">
                  <c:v>40995</c:v>
                </c:pt>
                <c:pt idx="24">
                  <c:v>40996</c:v>
                </c:pt>
                <c:pt idx="25">
                  <c:v>40997</c:v>
                </c:pt>
                <c:pt idx="26">
                  <c:v>40998</c:v>
                </c:pt>
                <c:pt idx="27">
                  <c:v>41001</c:v>
                </c:pt>
                <c:pt idx="28">
                  <c:v>41002</c:v>
                </c:pt>
                <c:pt idx="29">
                  <c:v>41003</c:v>
                </c:pt>
                <c:pt idx="30">
                  <c:v>41005</c:v>
                </c:pt>
                <c:pt idx="31">
                  <c:v>41010</c:v>
                </c:pt>
                <c:pt idx="32">
                  <c:v>41015</c:v>
                </c:pt>
                <c:pt idx="33">
                  <c:v>41017</c:v>
                </c:pt>
                <c:pt idx="34">
                  <c:v>41019</c:v>
                </c:pt>
                <c:pt idx="35">
                  <c:v>41025</c:v>
                </c:pt>
                <c:pt idx="36">
                  <c:v>41026</c:v>
                </c:pt>
                <c:pt idx="37">
                  <c:v>41032</c:v>
                </c:pt>
                <c:pt idx="38">
                  <c:v>41033</c:v>
                </c:pt>
                <c:pt idx="39">
                  <c:v>41038</c:v>
                </c:pt>
                <c:pt idx="40">
                  <c:v>41046</c:v>
                </c:pt>
                <c:pt idx="41">
                  <c:v>41047</c:v>
                </c:pt>
                <c:pt idx="42">
                  <c:v>41053</c:v>
                </c:pt>
                <c:pt idx="43">
                  <c:v>41060</c:v>
                </c:pt>
                <c:pt idx="44">
                  <c:v>41061</c:v>
                </c:pt>
                <c:pt idx="45">
                  <c:v>41068</c:v>
                </c:pt>
              </c:numCache>
            </c:numRef>
          </c:cat>
          <c:val>
            <c:numRef>
              <c:f>'RAID Summary'!$B$6:$AU$6</c:f>
              <c:numCache>
                <c:formatCode>General</c:formatCode>
                <c:ptCount val="46"/>
                <c:pt idx="2">
                  <c:v>25</c:v>
                </c:pt>
                <c:pt idx="3">
                  <c:v>25</c:v>
                </c:pt>
                <c:pt idx="4">
                  <c:v>28</c:v>
                </c:pt>
                <c:pt idx="5">
                  <c:v>33</c:v>
                </c:pt>
                <c:pt idx="6">
                  <c:v>39</c:v>
                </c:pt>
                <c:pt idx="7">
                  <c:v>31</c:v>
                </c:pt>
                <c:pt idx="8">
                  <c:v>37</c:v>
                </c:pt>
                <c:pt idx="9">
                  <c:v>40</c:v>
                </c:pt>
                <c:pt idx="10">
                  <c:v>45</c:v>
                </c:pt>
                <c:pt idx="11">
                  <c:v>42</c:v>
                </c:pt>
                <c:pt idx="12">
                  <c:v>45</c:v>
                </c:pt>
                <c:pt idx="13">
                  <c:v>37</c:v>
                </c:pt>
                <c:pt idx="14">
                  <c:v>37</c:v>
                </c:pt>
                <c:pt idx="15">
                  <c:v>36</c:v>
                </c:pt>
                <c:pt idx="16">
                  <c:v>36</c:v>
                </c:pt>
                <c:pt idx="17">
                  <c:v>34</c:v>
                </c:pt>
                <c:pt idx="18">
                  <c:v>33</c:v>
                </c:pt>
                <c:pt idx="19">
                  <c:v>29</c:v>
                </c:pt>
                <c:pt idx="20">
                  <c:v>29</c:v>
                </c:pt>
                <c:pt idx="21">
                  <c:v>29</c:v>
                </c:pt>
                <c:pt idx="22">
                  <c:v>29</c:v>
                </c:pt>
                <c:pt idx="23">
                  <c:v>29</c:v>
                </c:pt>
                <c:pt idx="24">
                  <c:v>28</c:v>
                </c:pt>
                <c:pt idx="25">
                  <c:v>26</c:v>
                </c:pt>
                <c:pt idx="26">
                  <c:v>25</c:v>
                </c:pt>
                <c:pt idx="27">
                  <c:v>23</c:v>
                </c:pt>
                <c:pt idx="28">
                  <c:v>23</c:v>
                </c:pt>
                <c:pt idx="29">
                  <c:v>24</c:v>
                </c:pt>
                <c:pt idx="30">
                  <c:v>24</c:v>
                </c:pt>
                <c:pt idx="31">
                  <c:v>24</c:v>
                </c:pt>
                <c:pt idx="32">
                  <c:v>25</c:v>
                </c:pt>
                <c:pt idx="33">
                  <c:v>17</c:v>
                </c:pt>
                <c:pt idx="34">
                  <c:v>17</c:v>
                </c:pt>
                <c:pt idx="35">
                  <c:v>18</c:v>
                </c:pt>
                <c:pt idx="36">
                  <c:v>22</c:v>
                </c:pt>
                <c:pt idx="37">
                  <c:v>24</c:v>
                </c:pt>
                <c:pt idx="38">
                  <c:v>25</c:v>
                </c:pt>
                <c:pt idx="39">
                  <c:v>26</c:v>
                </c:pt>
                <c:pt idx="40">
                  <c:v>25</c:v>
                </c:pt>
                <c:pt idx="41">
                  <c:v>25</c:v>
                </c:pt>
                <c:pt idx="42">
                  <c:v>22</c:v>
                </c:pt>
                <c:pt idx="43">
                  <c:v>21</c:v>
                </c:pt>
                <c:pt idx="44">
                  <c:v>21</c:v>
                </c:pt>
                <c:pt idx="45">
                  <c:v>17</c:v>
                </c:pt>
              </c:numCache>
            </c:numRef>
          </c:val>
        </c:ser>
        <c:ser>
          <c:idx val="5"/>
          <c:order val="5"/>
          <c:tx>
            <c:strRef>
              <c:f>'RAID Summary'!$A$7</c:f>
              <c:strCache>
                <c:ptCount val="1"/>
                <c:pt idx="0">
                  <c:v>Issues: Missed Required Resolution Date</c:v>
                </c:pt>
              </c:strCache>
            </c:strRef>
          </c:tx>
          <c:marker>
            <c:symbol val="none"/>
          </c:marker>
          <c:cat>
            <c:numRef>
              <c:f>'RAID Summary'!$B$1:$AU$1</c:f>
              <c:numCache>
                <c:formatCode>d\-mmm\-yy</c:formatCode>
                <c:ptCount val="46"/>
                <c:pt idx="0">
                  <c:v>40898</c:v>
                </c:pt>
                <c:pt idx="1">
                  <c:v>40912</c:v>
                </c:pt>
                <c:pt idx="2">
                  <c:v>40919</c:v>
                </c:pt>
                <c:pt idx="3">
                  <c:v>40926</c:v>
                </c:pt>
                <c:pt idx="4">
                  <c:v>40933</c:v>
                </c:pt>
                <c:pt idx="5">
                  <c:v>40940</c:v>
                </c:pt>
                <c:pt idx="6">
                  <c:v>40947</c:v>
                </c:pt>
                <c:pt idx="7">
                  <c:v>40954</c:v>
                </c:pt>
                <c:pt idx="8">
                  <c:v>40961</c:v>
                </c:pt>
                <c:pt idx="9">
                  <c:v>40968</c:v>
                </c:pt>
                <c:pt idx="10">
                  <c:v>40974</c:v>
                </c:pt>
                <c:pt idx="11">
                  <c:v>40975</c:v>
                </c:pt>
                <c:pt idx="12">
                  <c:v>40976</c:v>
                </c:pt>
                <c:pt idx="13">
                  <c:v>40977</c:v>
                </c:pt>
                <c:pt idx="14">
                  <c:v>40980</c:v>
                </c:pt>
                <c:pt idx="15">
                  <c:v>40981</c:v>
                </c:pt>
                <c:pt idx="16">
                  <c:v>40982</c:v>
                </c:pt>
                <c:pt idx="17">
                  <c:v>40983</c:v>
                </c:pt>
                <c:pt idx="18">
                  <c:v>40984</c:v>
                </c:pt>
                <c:pt idx="19">
                  <c:v>40987</c:v>
                </c:pt>
                <c:pt idx="20">
                  <c:v>40988</c:v>
                </c:pt>
                <c:pt idx="21">
                  <c:v>40991</c:v>
                </c:pt>
                <c:pt idx="22">
                  <c:v>40994</c:v>
                </c:pt>
                <c:pt idx="23">
                  <c:v>40995</c:v>
                </c:pt>
                <c:pt idx="24">
                  <c:v>40996</c:v>
                </c:pt>
                <c:pt idx="25">
                  <c:v>40997</c:v>
                </c:pt>
                <c:pt idx="26">
                  <c:v>40998</c:v>
                </c:pt>
                <c:pt idx="27">
                  <c:v>41001</c:v>
                </c:pt>
                <c:pt idx="28">
                  <c:v>41002</c:v>
                </c:pt>
                <c:pt idx="29">
                  <c:v>41003</c:v>
                </c:pt>
                <c:pt idx="30">
                  <c:v>41005</c:v>
                </c:pt>
                <c:pt idx="31">
                  <c:v>41010</c:v>
                </c:pt>
                <c:pt idx="32">
                  <c:v>41015</c:v>
                </c:pt>
                <c:pt idx="33">
                  <c:v>41017</c:v>
                </c:pt>
                <c:pt idx="34">
                  <c:v>41019</c:v>
                </c:pt>
                <c:pt idx="35">
                  <c:v>41025</c:v>
                </c:pt>
                <c:pt idx="36">
                  <c:v>41026</c:v>
                </c:pt>
                <c:pt idx="37">
                  <c:v>41032</c:v>
                </c:pt>
                <c:pt idx="38">
                  <c:v>41033</c:v>
                </c:pt>
                <c:pt idx="39">
                  <c:v>41038</c:v>
                </c:pt>
                <c:pt idx="40">
                  <c:v>41046</c:v>
                </c:pt>
                <c:pt idx="41">
                  <c:v>41047</c:v>
                </c:pt>
                <c:pt idx="42">
                  <c:v>41053</c:v>
                </c:pt>
                <c:pt idx="43">
                  <c:v>41060</c:v>
                </c:pt>
                <c:pt idx="44">
                  <c:v>41061</c:v>
                </c:pt>
                <c:pt idx="45">
                  <c:v>41068</c:v>
                </c:pt>
              </c:numCache>
            </c:numRef>
          </c:cat>
          <c:val>
            <c:numRef>
              <c:f>'RAID Summary'!$B$7:$AU$7</c:f>
              <c:numCache>
                <c:formatCode>General</c:formatCode>
                <c:ptCount val="46"/>
                <c:pt idx="2">
                  <c:v>13</c:v>
                </c:pt>
                <c:pt idx="3">
                  <c:v>12</c:v>
                </c:pt>
                <c:pt idx="4">
                  <c:v>7</c:v>
                </c:pt>
                <c:pt idx="5">
                  <c:v>13</c:v>
                </c:pt>
                <c:pt idx="6">
                  <c:v>16</c:v>
                </c:pt>
                <c:pt idx="7">
                  <c:v>14</c:v>
                </c:pt>
                <c:pt idx="8">
                  <c:v>12</c:v>
                </c:pt>
                <c:pt idx="9">
                  <c:v>22</c:v>
                </c:pt>
                <c:pt idx="10">
                  <c:v>20</c:v>
                </c:pt>
                <c:pt idx="11">
                  <c:v>14</c:v>
                </c:pt>
                <c:pt idx="12">
                  <c:v>16</c:v>
                </c:pt>
                <c:pt idx="13">
                  <c:v>13</c:v>
                </c:pt>
                <c:pt idx="14">
                  <c:v>8</c:v>
                </c:pt>
                <c:pt idx="15">
                  <c:v>6</c:v>
                </c:pt>
                <c:pt idx="16">
                  <c:v>4</c:v>
                </c:pt>
                <c:pt idx="17">
                  <c:v>7</c:v>
                </c:pt>
                <c:pt idx="18">
                  <c:v>6</c:v>
                </c:pt>
                <c:pt idx="19">
                  <c:v>3</c:v>
                </c:pt>
                <c:pt idx="20">
                  <c:v>10</c:v>
                </c:pt>
                <c:pt idx="21">
                  <c:v>10</c:v>
                </c:pt>
                <c:pt idx="22">
                  <c:v>10</c:v>
                </c:pt>
                <c:pt idx="23">
                  <c:v>10</c:v>
                </c:pt>
                <c:pt idx="24">
                  <c:v>10</c:v>
                </c:pt>
                <c:pt idx="25">
                  <c:v>9</c:v>
                </c:pt>
                <c:pt idx="26">
                  <c:v>7</c:v>
                </c:pt>
                <c:pt idx="27">
                  <c:v>12</c:v>
                </c:pt>
                <c:pt idx="28">
                  <c:v>12</c:v>
                </c:pt>
                <c:pt idx="29">
                  <c:v>10</c:v>
                </c:pt>
                <c:pt idx="30">
                  <c:v>11</c:v>
                </c:pt>
                <c:pt idx="31">
                  <c:v>13</c:v>
                </c:pt>
                <c:pt idx="32">
                  <c:v>11</c:v>
                </c:pt>
                <c:pt idx="33">
                  <c:v>4</c:v>
                </c:pt>
                <c:pt idx="34">
                  <c:v>4</c:v>
                </c:pt>
                <c:pt idx="35">
                  <c:v>6</c:v>
                </c:pt>
                <c:pt idx="36">
                  <c:v>4</c:v>
                </c:pt>
                <c:pt idx="37">
                  <c:v>9</c:v>
                </c:pt>
                <c:pt idx="38">
                  <c:v>9</c:v>
                </c:pt>
                <c:pt idx="39">
                  <c:v>6</c:v>
                </c:pt>
                <c:pt idx="40">
                  <c:v>11</c:v>
                </c:pt>
                <c:pt idx="41">
                  <c:v>11</c:v>
                </c:pt>
                <c:pt idx="42">
                  <c:v>5</c:v>
                </c:pt>
                <c:pt idx="43">
                  <c:v>12</c:v>
                </c:pt>
                <c:pt idx="44">
                  <c:v>11</c:v>
                </c:pt>
                <c:pt idx="45">
                  <c:v>10</c:v>
                </c:pt>
              </c:numCache>
            </c:numRef>
          </c:val>
        </c:ser>
        <c:ser>
          <c:idx val="6"/>
          <c:order val="6"/>
          <c:tx>
            <c:strRef>
              <c:f>'RAID Summary'!$A$8</c:f>
              <c:strCache>
                <c:ptCount val="1"/>
                <c:pt idx="0">
                  <c:v>Validated Assumptions</c:v>
                </c:pt>
              </c:strCache>
            </c:strRef>
          </c:tx>
          <c:marker>
            <c:symbol val="none"/>
          </c:marker>
          <c:cat>
            <c:numRef>
              <c:f>'RAID Summary'!$B$1:$AU$1</c:f>
              <c:numCache>
                <c:formatCode>d\-mmm\-yy</c:formatCode>
                <c:ptCount val="46"/>
                <c:pt idx="0">
                  <c:v>40898</c:v>
                </c:pt>
                <c:pt idx="1">
                  <c:v>40912</c:v>
                </c:pt>
                <c:pt idx="2">
                  <c:v>40919</c:v>
                </c:pt>
                <c:pt idx="3">
                  <c:v>40926</c:v>
                </c:pt>
                <c:pt idx="4">
                  <c:v>40933</c:v>
                </c:pt>
                <c:pt idx="5">
                  <c:v>40940</c:v>
                </c:pt>
                <c:pt idx="6">
                  <c:v>40947</c:v>
                </c:pt>
                <c:pt idx="7">
                  <c:v>40954</c:v>
                </c:pt>
                <c:pt idx="8">
                  <c:v>40961</c:v>
                </c:pt>
                <c:pt idx="9">
                  <c:v>40968</c:v>
                </c:pt>
                <c:pt idx="10">
                  <c:v>40974</c:v>
                </c:pt>
                <c:pt idx="11">
                  <c:v>40975</c:v>
                </c:pt>
                <c:pt idx="12">
                  <c:v>40976</c:v>
                </c:pt>
                <c:pt idx="13">
                  <c:v>40977</c:v>
                </c:pt>
                <c:pt idx="14">
                  <c:v>40980</c:v>
                </c:pt>
                <c:pt idx="15">
                  <c:v>40981</c:v>
                </c:pt>
                <c:pt idx="16">
                  <c:v>40982</c:v>
                </c:pt>
                <c:pt idx="17">
                  <c:v>40983</c:v>
                </c:pt>
                <c:pt idx="18">
                  <c:v>40984</c:v>
                </c:pt>
                <c:pt idx="19">
                  <c:v>40987</c:v>
                </c:pt>
                <c:pt idx="20">
                  <c:v>40988</c:v>
                </c:pt>
                <c:pt idx="21">
                  <c:v>40991</c:v>
                </c:pt>
                <c:pt idx="22">
                  <c:v>40994</c:v>
                </c:pt>
                <c:pt idx="23">
                  <c:v>40995</c:v>
                </c:pt>
                <c:pt idx="24">
                  <c:v>40996</c:v>
                </c:pt>
                <c:pt idx="25">
                  <c:v>40997</c:v>
                </c:pt>
                <c:pt idx="26">
                  <c:v>40998</c:v>
                </c:pt>
                <c:pt idx="27">
                  <c:v>41001</c:v>
                </c:pt>
                <c:pt idx="28">
                  <c:v>41002</c:v>
                </c:pt>
                <c:pt idx="29">
                  <c:v>41003</c:v>
                </c:pt>
                <c:pt idx="30">
                  <c:v>41005</c:v>
                </c:pt>
                <c:pt idx="31">
                  <c:v>41010</c:v>
                </c:pt>
                <c:pt idx="32">
                  <c:v>41015</c:v>
                </c:pt>
                <c:pt idx="33">
                  <c:v>41017</c:v>
                </c:pt>
                <c:pt idx="34">
                  <c:v>41019</c:v>
                </c:pt>
                <c:pt idx="35">
                  <c:v>41025</c:v>
                </c:pt>
                <c:pt idx="36">
                  <c:v>41026</c:v>
                </c:pt>
                <c:pt idx="37">
                  <c:v>41032</c:v>
                </c:pt>
                <c:pt idx="38">
                  <c:v>41033</c:v>
                </c:pt>
                <c:pt idx="39">
                  <c:v>41038</c:v>
                </c:pt>
                <c:pt idx="40">
                  <c:v>41046</c:v>
                </c:pt>
                <c:pt idx="41">
                  <c:v>41047</c:v>
                </c:pt>
                <c:pt idx="42">
                  <c:v>41053</c:v>
                </c:pt>
                <c:pt idx="43">
                  <c:v>41060</c:v>
                </c:pt>
                <c:pt idx="44">
                  <c:v>41061</c:v>
                </c:pt>
                <c:pt idx="45">
                  <c:v>41068</c:v>
                </c:pt>
              </c:numCache>
            </c:numRef>
          </c:cat>
          <c:val>
            <c:numRef>
              <c:f>'RAID Summary'!$B$8:$AU$8</c:f>
              <c:numCache>
                <c:formatCode>General</c:formatCode>
                <c:ptCount val="46"/>
                <c:pt idx="0">
                  <c:v>78</c:v>
                </c:pt>
                <c:pt idx="1">
                  <c:v>70</c:v>
                </c:pt>
                <c:pt idx="2">
                  <c:v>67</c:v>
                </c:pt>
                <c:pt idx="3">
                  <c:v>67</c:v>
                </c:pt>
                <c:pt idx="4">
                  <c:v>68</c:v>
                </c:pt>
                <c:pt idx="5">
                  <c:v>69</c:v>
                </c:pt>
                <c:pt idx="6">
                  <c:v>69</c:v>
                </c:pt>
                <c:pt idx="7">
                  <c:v>69</c:v>
                </c:pt>
                <c:pt idx="8">
                  <c:v>63</c:v>
                </c:pt>
                <c:pt idx="9">
                  <c:v>63</c:v>
                </c:pt>
                <c:pt idx="10">
                  <c:v>63</c:v>
                </c:pt>
                <c:pt idx="11">
                  <c:v>63</c:v>
                </c:pt>
                <c:pt idx="12">
                  <c:v>63</c:v>
                </c:pt>
                <c:pt idx="13">
                  <c:v>63</c:v>
                </c:pt>
                <c:pt idx="14">
                  <c:v>62</c:v>
                </c:pt>
                <c:pt idx="15">
                  <c:v>62</c:v>
                </c:pt>
                <c:pt idx="16">
                  <c:v>62</c:v>
                </c:pt>
                <c:pt idx="17">
                  <c:v>62</c:v>
                </c:pt>
                <c:pt idx="18">
                  <c:v>62</c:v>
                </c:pt>
                <c:pt idx="19">
                  <c:v>62</c:v>
                </c:pt>
                <c:pt idx="20">
                  <c:v>62</c:v>
                </c:pt>
                <c:pt idx="21">
                  <c:v>54</c:v>
                </c:pt>
                <c:pt idx="22">
                  <c:v>54</c:v>
                </c:pt>
                <c:pt idx="23">
                  <c:v>53</c:v>
                </c:pt>
                <c:pt idx="24">
                  <c:v>53</c:v>
                </c:pt>
                <c:pt idx="25">
                  <c:v>54</c:v>
                </c:pt>
                <c:pt idx="26">
                  <c:v>55</c:v>
                </c:pt>
                <c:pt idx="27">
                  <c:v>55</c:v>
                </c:pt>
                <c:pt idx="28">
                  <c:v>100</c:v>
                </c:pt>
                <c:pt idx="29">
                  <c:v>99</c:v>
                </c:pt>
                <c:pt idx="30">
                  <c:v>99</c:v>
                </c:pt>
                <c:pt idx="31">
                  <c:v>102</c:v>
                </c:pt>
                <c:pt idx="32">
                  <c:v>102</c:v>
                </c:pt>
                <c:pt idx="33">
                  <c:v>102</c:v>
                </c:pt>
                <c:pt idx="34">
                  <c:v>103</c:v>
                </c:pt>
                <c:pt idx="35">
                  <c:v>103</c:v>
                </c:pt>
                <c:pt idx="36">
                  <c:v>103</c:v>
                </c:pt>
                <c:pt idx="37">
                  <c:v>100</c:v>
                </c:pt>
                <c:pt idx="38">
                  <c:v>100</c:v>
                </c:pt>
                <c:pt idx="39">
                  <c:v>103</c:v>
                </c:pt>
                <c:pt idx="40">
                  <c:v>92</c:v>
                </c:pt>
                <c:pt idx="41">
                  <c:v>92</c:v>
                </c:pt>
                <c:pt idx="42">
                  <c:v>92</c:v>
                </c:pt>
                <c:pt idx="43">
                  <c:v>93</c:v>
                </c:pt>
                <c:pt idx="44">
                  <c:v>93</c:v>
                </c:pt>
                <c:pt idx="45">
                  <c:v>93</c:v>
                </c:pt>
              </c:numCache>
            </c:numRef>
          </c:val>
        </c:ser>
        <c:ser>
          <c:idx val="7"/>
          <c:order val="7"/>
          <c:tx>
            <c:strRef>
              <c:f>'RAID Summary'!$A$9</c:f>
              <c:strCache>
                <c:ptCount val="1"/>
                <c:pt idx="0">
                  <c:v>Validated Decisions</c:v>
                </c:pt>
              </c:strCache>
            </c:strRef>
          </c:tx>
          <c:marker>
            <c:symbol val="none"/>
          </c:marker>
          <c:cat>
            <c:numRef>
              <c:f>'RAID Summary'!$B$1:$AU$1</c:f>
              <c:numCache>
                <c:formatCode>d\-mmm\-yy</c:formatCode>
                <c:ptCount val="46"/>
                <c:pt idx="0">
                  <c:v>40898</c:v>
                </c:pt>
                <c:pt idx="1">
                  <c:v>40912</c:v>
                </c:pt>
                <c:pt idx="2">
                  <c:v>40919</c:v>
                </c:pt>
                <c:pt idx="3">
                  <c:v>40926</c:v>
                </c:pt>
                <c:pt idx="4">
                  <c:v>40933</c:v>
                </c:pt>
                <c:pt idx="5">
                  <c:v>40940</c:v>
                </c:pt>
                <c:pt idx="6">
                  <c:v>40947</c:v>
                </c:pt>
                <c:pt idx="7">
                  <c:v>40954</c:v>
                </c:pt>
                <c:pt idx="8">
                  <c:v>40961</c:v>
                </c:pt>
                <c:pt idx="9">
                  <c:v>40968</c:v>
                </c:pt>
                <c:pt idx="10">
                  <c:v>40974</c:v>
                </c:pt>
                <c:pt idx="11">
                  <c:v>40975</c:v>
                </c:pt>
                <c:pt idx="12">
                  <c:v>40976</c:v>
                </c:pt>
                <c:pt idx="13">
                  <c:v>40977</c:v>
                </c:pt>
                <c:pt idx="14">
                  <c:v>40980</c:v>
                </c:pt>
                <c:pt idx="15">
                  <c:v>40981</c:v>
                </c:pt>
                <c:pt idx="16">
                  <c:v>40982</c:v>
                </c:pt>
                <c:pt idx="17">
                  <c:v>40983</c:v>
                </c:pt>
                <c:pt idx="18">
                  <c:v>40984</c:v>
                </c:pt>
                <c:pt idx="19">
                  <c:v>40987</c:v>
                </c:pt>
                <c:pt idx="20">
                  <c:v>40988</c:v>
                </c:pt>
                <c:pt idx="21">
                  <c:v>40991</c:v>
                </c:pt>
                <c:pt idx="22">
                  <c:v>40994</c:v>
                </c:pt>
                <c:pt idx="23">
                  <c:v>40995</c:v>
                </c:pt>
                <c:pt idx="24">
                  <c:v>40996</c:v>
                </c:pt>
                <c:pt idx="25">
                  <c:v>40997</c:v>
                </c:pt>
                <c:pt idx="26">
                  <c:v>40998</c:v>
                </c:pt>
                <c:pt idx="27">
                  <c:v>41001</c:v>
                </c:pt>
                <c:pt idx="28">
                  <c:v>41002</c:v>
                </c:pt>
                <c:pt idx="29">
                  <c:v>41003</c:v>
                </c:pt>
                <c:pt idx="30">
                  <c:v>41005</c:v>
                </c:pt>
                <c:pt idx="31">
                  <c:v>41010</c:v>
                </c:pt>
                <c:pt idx="32">
                  <c:v>41015</c:v>
                </c:pt>
                <c:pt idx="33">
                  <c:v>41017</c:v>
                </c:pt>
                <c:pt idx="34">
                  <c:v>41019</c:v>
                </c:pt>
                <c:pt idx="35">
                  <c:v>41025</c:v>
                </c:pt>
                <c:pt idx="36">
                  <c:v>41026</c:v>
                </c:pt>
                <c:pt idx="37">
                  <c:v>41032</c:v>
                </c:pt>
                <c:pt idx="38">
                  <c:v>41033</c:v>
                </c:pt>
                <c:pt idx="39">
                  <c:v>41038</c:v>
                </c:pt>
                <c:pt idx="40">
                  <c:v>41046</c:v>
                </c:pt>
                <c:pt idx="41">
                  <c:v>41047</c:v>
                </c:pt>
                <c:pt idx="42">
                  <c:v>41053</c:v>
                </c:pt>
                <c:pt idx="43">
                  <c:v>41060</c:v>
                </c:pt>
                <c:pt idx="44">
                  <c:v>41061</c:v>
                </c:pt>
                <c:pt idx="45">
                  <c:v>41068</c:v>
                </c:pt>
              </c:numCache>
            </c:numRef>
          </c:cat>
          <c:val>
            <c:numRef>
              <c:f>'RAID Summary'!$B$9:$AU$9</c:f>
              <c:numCache>
                <c:formatCode>General</c:formatCode>
                <c:ptCount val="46"/>
                <c:pt idx="0">
                  <c:v>153</c:v>
                </c:pt>
                <c:pt idx="1">
                  <c:v>153</c:v>
                </c:pt>
                <c:pt idx="2">
                  <c:v>154</c:v>
                </c:pt>
                <c:pt idx="3">
                  <c:v>154</c:v>
                </c:pt>
                <c:pt idx="4">
                  <c:v>161</c:v>
                </c:pt>
                <c:pt idx="5">
                  <c:v>182</c:v>
                </c:pt>
                <c:pt idx="6">
                  <c:v>183</c:v>
                </c:pt>
                <c:pt idx="7">
                  <c:v>179</c:v>
                </c:pt>
                <c:pt idx="8">
                  <c:v>179</c:v>
                </c:pt>
                <c:pt idx="9">
                  <c:v>179</c:v>
                </c:pt>
                <c:pt idx="10">
                  <c:v>181</c:v>
                </c:pt>
                <c:pt idx="11">
                  <c:v>194</c:v>
                </c:pt>
                <c:pt idx="12">
                  <c:v>192</c:v>
                </c:pt>
                <c:pt idx="13">
                  <c:v>191</c:v>
                </c:pt>
                <c:pt idx="14">
                  <c:v>192</c:v>
                </c:pt>
                <c:pt idx="15">
                  <c:v>193</c:v>
                </c:pt>
                <c:pt idx="16">
                  <c:v>193</c:v>
                </c:pt>
                <c:pt idx="17">
                  <c:v>191</c:v>
                </c:pt>
                <c:pt idx="18">
                  <c:v>191</c:v>
                </c:pt>
                <c:pt idx="19">
                  <c:v>191</c:v>
                </c:pt>
                <c:pt idx="20">
                  <c:v>191</c:v>
                </c:pt>
                <c:pt idx="21">
                  <c:v>176</c:v>
                </c:pt>
                <c:pt idx="22">
                  <c:v>176</c:v>
                </c:pt>
                <c:pt idx="23">
                  <c:v>177</c:v>
                </c:pt>
                <c:pt idx="24">
                  <c:v>178</c:v>
                </c:pt>
                <c:pt idx="25">
                  <c:v>178</c:v>
                </c:pt>
                <c:pt idx="26">
                  <c:v>178</c:v>
                </c:pt>
                <c:pt idx="27">
                  <c:v>178</c:v>
                </c:pt>
                <c:pt idx="28">
                  <c:v>182</c:v>
                </c:pt>
                <c:pt idx="29">
                  <c:v>179</c:v>
                </c:pt>
                <c:pt idx="30">
                  <c:v>178</c:v>
                </c:pt>
                <c:pt idx="31">
                  <c:v>178</c:v>
                </c:pt>
                <c:pt idx="32">
                  <c:v>179</c:v>
                </c:pt>
                <c:pt idx="33">
                  <c:v>180</c:v>
                </c:pt>
                <c:pt idx="34">
                  <c:v>178</c:v>
                </c:pt>
                <c:pt idx="35">
                  <c:v>177</c:v>
                </c:pt>
                <c:pt idx="36">
                  <c:v>172</c:v>
                </c:pt>
                <c:pt idx="37">
                  <c:v>172</c:v>
                </c:pt>
                <c:pt idx="38">
                  <c:v>172</c:v>
                </c:pt>
                <c:pt idx="39">
                  <c:v>172</c:v>
                </c:pt>
                <c:pt idx="40">
                  <c:v>135</c:v>
                </c:pt>
                <c:pt idx="41">
                  <c:v>135</c:v>
                </c:pt>
                <c:pt idx="42">
                  <c:v>145</c:v>
                </c:pt>
                <c:pt idx="43">
                  <c:v>149</c:v>
                </c:pt>
                <c:pt idx="44">
                  <c:v>149</c:v>
                </c:pt>
                <c:pt idx="45">
                  <c:v>143</c:v>
                </c:pt>
              </c:numCache>
            </c:numRef>
          </c:val>
        </c:ser>
        <c:ser>
          <c:idx val="8"/>
          <c:order val="8"/>
          <c:tx>
            <c:strRef>
              <c:f>'RAID Summary'!$A$10</c:f>
              <c:strCache>
                <c:ptCount val="1"/>
                <c:pt idx="0">
                  <c:v>Pending Decisions</c:v>
                </c:pt>
              </c:strCache>
            </c:strRef>
          </c:tx>
          <c:marker>
            <c:symbol val="none"/>
          </c:marker>
          <c:cat>
            <c:numRef>
              <c:f>'RAID Summary'!$B$1:$AU$1</c:f>
              <c:numCache>
                <c:formatCode>d\-mmm\-yy</c:formatCode>
                <c:ptCount val="46"/>
                <c:pt idx="0">
                  <c:v>40898</c:v>
                </c:pt>
                <c:pt idx="1">
                  <c:v>40912</c:v>
                </c:pt>
                <c:pt idx="2">
                  <c:v>40919</c:v>
                </c:pt>
                <c:pt idx="3">
                  <c:v>40926</c:v>
                </c:pt>
                <c:pt idx="4">
                  <c:v>40933</c:v>
                </c:pt>
                <c:pt idx="5">
                  <c:v>40940</c:v>
                </c:pt>
                <c:pt idx="6">
                  <c:v>40947</c:v>
                </c:pt>
                <c:pt idx="7">
                  <c:v>40954</c:v>
                </c:pt>
                <c:pt idx="8">
                  <c:v>40961</c:v>
                </c:pt>
                <c:pt idx="9">
                  <c:v>40968</c:v>
                </c:pt>
                <c:pt idx="10">
                  <c:v>40974</c:v>
                </c:pt>
                <c:pt idx="11">
                  <c:v>40975</c:v>
                </c:pt>
                <c:pt idx="12">
                  <c:v>40976</c:v>
                </c:pt>
                <c:pt idx="13">
                  <c:v>40977</c:v>
                </c:pt>
                <c:pt idx="14">
                  <c:v>40980</c:v>
                </c:pt>
                <c:pt idx="15">
                  <c:v>40981</c:v>
                </c:pt>
                <c:pt idx="16">
                  <c:v>40982</c:v>
                </c:pt>
                <c:pt idx="17">
                  <c:v>40983</c:v>
                </c:pt>
                <c:pt idx="18">
                  <c:v>40984</c:v>
                </c:pt>
                <c:pt idx="19">
                  <c:v>40987</c:v>
                </c:pt>
                <c:pt idx="20">
                  <c:v>40988</c:v>
                </c:pt>
                <c:pt idx="21">
                  <c:v>40991</c:v>
                </c:pt>
                <c:pt idx="22">
                  <c:v>40994</c:v>
                </c:pt>
                <c:pt idx="23">
                  <c:v>40995</c:v>
                </c:pt>
                <c:pt idx="24">
                  <c:v>40996</c:v>
                </c:pt>
                <c:pt idx="25">
                  <c:v>40997</c:v>
                </c:pt>
                <c:pt idx="26">
                  <c:v>40998</c:v>
                </c:pt>
                <c:pt idx="27">
                  <c:v>41001</c:v>
                </c:pt>
                <c:pt idx="28">
                  <c:v>41002</c:v>
                </c:pt>
                <c:pt idx="29">
                  <c:v>41003</c:v>
                </c:pt>
                <c:pt idx="30">
                  <c:v>41005</c:v>
                </c:pt>
                <c:pt idx="31">
                  <c:v>41010</c:v>
                </c:pt>
                <c:pt idx="32">
                  <c:v>41015</c:v>
                </c:pt>
                <c:pt idx="33">
                  <c:v>41017</c:v>
                </c:pt>
                <c:pt idx="34">
                  <c:v>41019</c:v>
                </c:pt>
                <c:pt idx="35">
                  <c:v>41025</c:v>
                </c:pt>
                <c:pt idx="36">
                  <c:v>41026</c:v>
                </c:pt>
                <c:pt idx="37">
                  <c:v>41032</c:v>
                </c:pt>
                <c:pt idx="38">
                  <c:v>41033</c:v>
                </c:pt>
                <c:pt idx="39">
                  <c:v>41038</c:v>
                </c:pt>
                <c:pt idx="40">
                  <c:v>41046</c:v>
                </c:pt>
                <c:pt idx="41">
                  <c:v>41047</c:v>
                </c:pt>
                <c:pt idx="42">
                  <c:v>41053</c:v>
                </c:pt>
                <c:pt idx="43">
                  <c:v>41060</c:v>
                </c:pt>
                <c:pt idx="44">
                  <c:v>41061</c:v>
                </c:pt>
                <c:pt idx="45">
                  <c:v>41068</c:v>
                </c:pt>
              </c:numCache>
            </c:numRef>
          </c:cat>
          <c:val>
            <c:numRef>
              <c:f>'RAID Summary'!$B$10:$AU$10</c:f>
              <c:numCache>
                <c:formatCode>General</c:formatCode>
                <c:ptCount val="46"/>
                <c:pt idx="0">
                  <c:v>24</c:v>
                </c:pt>
                <c:pt idx="1">
                  <c:v>24</c:v>
                </c:pt>
                <c:pt idx="2">
                  <c:v>25</c:v>
                </c:pt>
                <c:pt idx="3">
                  <c:v>24</c:v>
                </c:pt>
                <c:pt idx="4">
                  <c:v>30</c:v>
                </c:pt>
                <c:pt idx="5">
                  <c:v>39</c:v>
                </c:pt>
                <c:pt idx="6">
                  <c:v>40</c:v>
                </c:pt>
                <c:pt idx="7">
                  <c:v>29</c:v>
                </c:pt>
                <c:pt idx="8">
                  <c:v>28</c:v>
                </c:pt>
                <c:pt idx="9">
                  <c:v>27</c:v>
                </c:pt>
                <c:pt idx="10">
                  <c:v>22</c:v>
                </c:pt>
                <c:pt idx="11">
                  <c:v>33</c:v>
                </c:pt>
                <c:pt idx="12">
                  <c:v>28</c:v>
                </c:pt>
                <c:pt idx="13">
                  <c:v>26</c:v>
                </c:pt>
                <c:pt idx="14">
                  <c:v>26</c:v>
                </c:pt>
                <c:pt idx="15">
                  <c:v>26</c:v>
                </c:pt>
                <c:pt idx="16">
                  <c:v>26</c:v>
                </c:pt>
                <c:pt idx="17">
                  <c:v>23</c:v>
                </c:pt>
                <c:pt idx="18">
                  <c:v>22</c:v>
                </c:pt>
                <c:pt idx="19">
                  <c:v>21</c:v>
                </c:pt>
                <c:pt idx="20">
                  <c:v>21</c:v>
                </c:pt>
                <c:pt idx="21">
                  <c:v>21</c:v>
                </c:pt>
                <c:pt idx="22">
                  <c:v>21</c:v>
                </c:pt>
                <c:pt idx="23">
                  <c:v>22</c:v>
                </c:pt>
                <c:pt idx="24">
                  <c:v>22</c:v>
                </c:pt>
                <c:pt idx="25">
                  <c:v>22</c:v>
                </c:pt>
                <c:pt idx="26">
                  <c:v>22</c:v>
                </c:pt>
                <c:pt idx="27">
                  <c:v>22</c:v>
                </c:pt>
                <c:pt idx="28">
                  <c:v>23</c:v>
                </c:pt>
                <c:pt idx="29">
                  <c:v>23</c:v>
                </c:pt>
                <c:pt idx="30">
                  <c:v>23</c:v>
                </c:pt>
                <c:pt idx="31">
                  <c:v>23</c:v>
                </c:pt>
                <c:pt idx="32">
                  <c:v>22</c:v>
                </c:pt>
                <c:pt idx="33">
                  <c:v>23</c:v>
                </c:pt>
                <c:pt idx="34">
                  <c:v>21</c:v>
                </c:pt>
                <c:pt idx="35">
                  <c:v>19</c:v>
                </c:pt>
                <c:pt idx="36">
                  <c:v>19</c:v>
                </c:pt>
                <c:pt idx="37">
                  <c:v>19</c:v>
                </c:pt>
                <c:pt idx="38">
                  <c:v>19</c:v>
                </c:pt>
                <c:pt idx="39">
                  <c:v>20</c:v>
                </c:pt>
                <c:pt idx="40">
                  <c:v>23</c:v>
                </c:pt>
                <c:pt idx="41">
                  <c:v>26</c:v>
                </c:pt>
                <c:pt idx="42">
                  <c:v>23</c:v>
                </c:pt>
                <c:pt idx="43">
                  <c:v>19</c:v>
                </c:pt>
                <c:pt idx="44">
                  <c:v>19</c:v>
                </c:pt>
                <c:pt idx="45">
                  <c:v>16</c:v>
                </c:pt>
              </c:numCache>
            </c:numRef>
          </c:val>
        </c:ser>
        <c:marker val="1"/>
        <c:axId val="73171328"/>
        <c:axId val="73172864"/>
      </c:lineChart>
      <c:dateAx>
        <c:axId val="73171328"/>
        <c:scaling>
          <c:orientation val="minMax"/>
        </c:scaling>
        <c:axPos val="b"/>
        <c:numFmt formatCode="d\-mmm\-yy" sourceLinked="1"/>
        <c:tickLblPos val="nextTo"/>
        <c:txPr>
          <a:bodyPr/>
          <a:lstStyle/>
          <a:p>
            <a:pPr>
              <a:defRPr sz="800"/>
            </a:pPr>
            <a:endParaRPr lang="en-US"/>
          </a:p>
        </c:txPr>
        <c:crossAx val="73172864"/>
        <c:crosses val="autoZero"/>
        <c:auto val="1"/>
        <c:lblOffset val="100"/>
      </c:dateAx>
      <c:valAx>
        <c:axId val="73172864"/>
        <c:scaling>
          <c:orientation val="minMax"/>
        </c:scaling>
        <c:axPos val="l"/>
        <c:majorGridlines/>
        <c:numFmt formatCode="General" sourceLinked="1"/>
        <c:tickLblPos val="nextTo"/>
        <c:txPr>
          <a:bodyPr/>
          <a:lstStyle/>
          <a:p>
            <a:pPr>
              <a:defRPr sz="800"/>
            </a:pPr>
            <a:endParaRPr lang="en-US"/>
          </a:p>
        </c:txPr>
        <c:crossAx val="73171328"/>
        <c:crosses val="autoZero"/>
        <c:crossBetween val="between"/>
      </c:valAx>
    </c:plotArea>
    <c:legend>
      <c:legendPos val="r"/>
      <c:txPr>
        <a:bodyPr/>
        <a:lstStyle/>
        <a:p>
          <a:pPr>
            <a:defRPr sz="900"/>
          </a:pPr>
          <a:endParaRPr lang="en-US"/>
        </a:p>
      </c:txPr>
    </c:legend>
    <c:plotVisOnly val="1"/>
  </c:chart>
  <c:externalData r:id="rId1"/>
  <c:userShapes r:id="rId2"/>
</c:chartSpace>
</file>

<file path=ppt/drawings/drawing1.xml><?xml version="1.0" encoding="utf-8"?>
<c:userShapes xmlns:c="http://schemas.openxmlformats.org/drawingml/2006/chart">
  <cdr:relSizeAnchor xmlns:cdr="http://schemas.openxmlformats.org/drawingml/2006/chartDrawing">
    <cdr:from>
      <cdr:x>0.56473</cdr:x>
      <cdr:y>0.19149</cdr:y>
    </cdr:from>
    <cdr:to>
      <cdr:x>0.56573</cdr:x>
      <cdr:y>0.91759</cdr:y>
    </cdr:to>
    <cdr:sp macro="" textlink="">
      <cdr:nvSpPr>
        <cdr:cNvPr id="7" name="Straight Connector 6"/>
        <cdr:cNvSpPr/>
      </cdr:nvSpPr>
      <cdr:spPr>
        <a:xfrm xmlns:a="http://schemas.openxmlformats.org/drawingml/2006/main">
          <a:off x="3923927" y="648071"/>
          <a:ext cx="6948" cy="2457395"/>
        </a:xfrm>
        <a:prstGeom xmlns:a="http://schemas.openxmlformats.org/drawingml/2006/main" prst="line">
          <a:avLst/>
        </a:prstGeom>
        <a:ln xmlns:a="http://schemas.openxmlformats.org/drawingml/2006/main">
          <a:solidFill>
            <a:schemeClr val="bg1">
              <a:lumMod val="50000"/>
            </a:schemeClr>
          </a:solidFill>
          <a:prstDash val="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userShapes>
</file>

<file path=ppt/handoutMasters/_rels/handoutMaster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8" name="Rectangle 6"/>
          <p:cNvSpPr>
            <a:spLocks noChangeArrowheads="1"/>
          </p:cNvSpPr>
          <p:nvPr/>
        </p:nvSpPr>
        <p:spPr bwMode="auto">
          <a:xfrm>
            <a:off x="152402" y="9637715"/>
            <a:ext cx="1235075" cy="153987"/>
          </a:xfrm>
          <a:prstGeom prst="rect">
            <a:avLst/>
          </a:prstGeom>
          <a:noFill/>
          <a:ln w="9525">
            <a:noFill/>
            <a:miter lim="800000"/>
            <a:headEnd/>
            <a:tailEnd/>
          </a:ln>
          <a:effectLst/>
        </p:spPr>
        <p:txBody>
          <a:bodyPr lIns="0" tIns="0" rIns="0" bIns="0"/>
          <a:lstStyle/>
          <a:p>
            <a:pPr algn="l" defTabSz="931619">
              <a:defRPr/>
            </a:pPr>
            <a:fld id="{5BBE6DE4-E82D-4F90-96E4-E232F78FBEAF}" type="datetime1">
              <a:rPr lang="en-US" sz="1200">
                <a:cs typeface="Arial" charset="0"/>
              </a:rPr>
              <a:pPr algn="l" defTabSz="931619">
                <a:defRPr/>
              </a:pPr>
              <a:t>6/14/2012</a:t>
            </a:fld>
            <a:endParaRPr lang="en-US" sz="1200" dirty="0">
              <a:cs typeface="Arial" charset="0"/>
            </a:endParaRPr>
          </a:p>
        </p:txBody>
      </p:sp>
      <p:sp>
        <p:nvSpPr>
          <p:cNvPr id="69639" name="Rectangle 7"/>
          <p:cNvSpPr>
            <a:spLocks noChangeArrowheads="1"/>
          </p:cNvSpPr>
          <p:nvPr/>
        </p:nvSpPr>
        <p:spPr bwMode="auto">
          <a:xfrm>
            <a:off x="2381251" y="9637714"/>
            <a:ext cx="1971675" cy="207962"/>
          </a:xfrm>
          <a:prstGeom prst="rect">
            <a:avLst/>
          </a:prstGeom>
          <a:noFill/>
          <a:ln w="9525">
            <a:noFill/>
            <a:miter lim="800000"/>
            <a:headEnd/>
            <a:tailEnd/>
          </a:ln>
          <a:effectLst/>
        </p:spPr>
        <p:txBody>
          <a:bodyPr lIns="0" tIns="0" rIns="0" bIns="0"/>
          <a:lstStyle/>
          <a:p>
            <a:pPr algn="l" defTabSz="931619">
              <a:defRPr/>
            </a:pPr>
            <a:r>
              <a:rPr lang="en-US" sz="1200" dirty="0">
                <a:cs typeface="Arial" charset="0"/>
              </a:rPr>
              <a:t>Presentation title</a:t>
            </a:r>
          </a:p>
        </p:txBody>
      </p:sp>
      <p:sp>
        <p:nvSpPr>
          <p:cNvPr id="69640" name="Rectangle 8"/>
          <p:cNvSpPr>
            <a:spLocks noChangeArrowheads="1"/>
          </p:cNvSpPr>
          <p:nvPr/>
        </p:nvSpPr>
        <p:spPr bwMode="auto">
          <a:xfrm>
            <a:off x="1568451" y="9637714"/>
            <a:ext cx="636588" cy="207962"/>
          </a:xfrm>
          <a:prstGeom prst="rect">
            <a:avLst/>
          </a:prstGeom>
          <a:noFill/>
          <a:ln w="9525">
            <a:noFill/>
            <a:miter lim="800000"/>
            <a:headEnd/>
            <a:tailEnd/>
          </a:ln>
          <a:effectLst/>
        </p:spPr>
        <p:txBody>
          <a:bodyPr lIns="0" tIns="0" rIns="0" bIns="0"/>
          <a:lstStyle/>
          <a:p>
            <a:pPr algn="l" defTabSz="931619">
              <a:defRPr/>
            </a:pPr>
            <a:r>
              <a:rPr lang="en-US" sz="1200" dirty="0">
                <a:cs typeface="Arial" charset="0"/>
              </a:rPr>
              <a:t>Page </a:t>
            </a:r>
            <a:fld id="{2A07B3BF-2A67-4B01-AEB8-9C5108F06278}" type="slidenum">
              <a:rPr lang="en-US" sz="1200">
                <a:cs typeface="Arial" charset="0"/>
              </a:rPr>
              <a:pPr algn="l" defTabSz="931619">
                <a:defRPr/>
              </a:pPr>
              <a:t>‹#›</a:t>
            </a:fld>
            <a:endParaRPr lang="en-US" sz="1200" dirty="0">
              <a:cs typeface="Arial" charset="0"/>
            </a:endParaRPr>
          </a:p>
        </p:txBody>
      </p:sp>
      <p:pic>
        <p:nvPicPr>
          <p:cNvPr id="47109" name="Picture 9" descr="logo_tagblack"/>
          <p:cNvPicPr>
            <a:picLocks noChangeAspect="1" noChangeArrowheads="1"/>
          </p:cNvPicPr>
          <p:nvPr/>
        </p:nvPicPr>
        <p:blipFill>
          <a:blip r:embed="rId2" cstate="print"/>
          <a:srcRect/>
          <a:stretch>
            <a:fillRect/>
          </a:stretch>
        </p:blipFill>
        <p:spPr bwMode="auto">
          <a:xfrm>
            <a:off x="5240338" y="9445627"/>
            <a:ext cx="1423987" cy="3524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4"/>
          <p:cNvSpPr>
            <a:spLocks noGrp="1" noRot="1" noChangeAspect="1" noChangeArrowheads="1" noTextEdit="1"/>
          </p:cNvSpPr>
          <p:nvPr>
            <p:ph type="sldImg" idx="2"/>
          </p:nvPr>
        </p:nvSpPr>
        <p:spPr bwMode="auto">
          <a:xfrm>
            <a:off x="915988" y="744538"/>
            <a:ext cx="4965700" cy="3724275"/>
          </a:xfrm>
          <a:prstGeom prst="rect">
            <a:avLst/>
          </a:prstGeom>
          <a:noFill/>
          <a:ln w="9525">
            <a:solidFill>
              <a:srgbClr val="000000"/>
            </a:solidFill>
            <a:miter lim="800000"/>
            <a:headEnd/>
            <a:tailEnd/>
          </a:ln>
        </p:spPr>
      </p:sp>
      <p:sp>
        <p:nvSpPr>
          <p:cNvPr id="8197" name="Rectangle 5"/>
          <p:cNvSpPr>
            <a:spLocks noGrp="1" noChangeArrowheads="1"/>
          </p:cNvSpPr>
          <p:nvPr>
            <p:ph type="body" sz="quarter" idx="3"/>
          </p:nvPr>
        </p:nvSpPr>
        <p:spPr bwMode="auto">
          <a:xfrm>
            <a:off x="677863" y="4716465"/>
            <a:ext cx="5441950" cy="4467225"/>
          </a:xfrm>
          <a:prstGeom prst="rect">
            <a:avLst/>
          </a:prstGeom>
          <a:noFill/>
          <a:ln w="9525">
            <a:noFill/>
            <a:miter lim="800000"/>
            <a:headEnd/>
            <a:tailEnd/>
          </a:ln>
          <a:effectLst/>
        </p:spPr>
        <p:txBody>
          <a:bodyPr vert="horz" wrap="square" lIns="95975" tIns="47988" rIns="95975" bIns="47988"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8200" name="Rectangle 8"/>
          <p:cNvSpPr>
            <a:spLocks noChangeArrowheads="1"/>
          </p:cNvSpPr>
          <p:nvPr/>
        </p:nvSpPr>
        <p:spPr bwMode="auto">
          <a:xfrm>
            <a:off x="152402" y="9637715"/>
            <a:ext cx="1235075" cy="153987"/>
          </a:xfrm>
          <a:prstGeom prst="rect">
            <a:avLst/>
          </a:prstGeom>
          <a:noFill/>
          <a:ln w="9525">
            <a:noFill/>
            <a:miter lim="800000"/>
            <a:headEnd/>
            <a:tailEnd/>
          </a:ln>
          <a:effectLst/>
        </p:spPr>
        <p:txBody>
          <a:bodyPr lIns="0" tIns="0" rIns="0" bIns="0"/>
          <a:lstStyle/>
          <a:p>
            <a:pPr algn="l" defTabSz="931619">
              <a:defRPr/>
            </a:pPr>
            <a:fld id="{89A86910-E513-4C4B-949B-84323FA223C3}" type="datetime1">
              <a:rPr lang="en-US" sz="1200">
                <a:cs typeface="Arial" charset="0"/>
              </a:rPr>
              <a:pPr algn="l" defTabSz="931619">
                <a:defRPr/>
              </a:pPr>
              <a:t>6/14/2012</a:t>
            </a:fld>
            <a:endParaRPr lang="en-US" sz="1200" dirty="0">
              <a:cs typeface="Arial" charset="0"/>
            </a:endParaRPr>
          </a:p>
        </p:txBody>
      </p:sp>
      <p:sp>
        <p:nvSpPr>
          <p:cNvPr id="8201" name="Rectangle 9"/>
          <p:cNvSpPr>
            <a:spLocks noChangeArrowheads="1"/>
          </p:cNvSpPr>
          <p:nvPr/>
        </p:nvSpPr>
        <p:spPr bwMode="auto">
          <a:xfrm>
            <a:off x="2381251" y="9637714"/>
            <a:ext cx="1971675" cy="207962"/>
          </a:xfrm>
          <a:prstGeom prst="rect">
            <a:avLst/>
          </a:prstGeom>
          <a:noFill/>
          <a:ln w="9525">
            <a:noFill/>
            <a:miter lim="800000"/>
            <a:headEnd/>
            <a:tailEnd/>
          </a:ln>
          <a:effectLst/>
        </p:spPr>
        <p:txBody>
          <a:bodyPr lIns="0" tIns="0" rIns="0" bIns="0"/>
          <a:lstStyle/>
          <a:p>
            <a:pPr algn="l" defTabSz="931619">
              <a:defRPr/>
            </a:pPr>
            <a:r>
              <a:rPr lang="en-US" sz="1200" dirty="0">
                <a:cs typeface="Arial" charset="0"/>
              </a:rPr>
              <a:t>Presentation title</a:t>
            </a:r>
          </a:p>
        </p:txBody>
      </p:sp>
      <p:sp>
        <p:nvSpPr>
          <p:cNvPr id="8202" name="Rectangle 10"/>
          <p:cNvSpPr>
            <a:spLocks noChangeArrowheads="1"/>
          </p:cNvSpPr>
          <p:nvPr/>
        </p:nvSpPr>
        <p:spPr bwMode="auto">
          <a:xfrm>
            <a:off x="1568451" y="9637714"/>
            <a:ext cx="636588" cy="207962"/>
          </a:xfrm>
          <a:prstGeom prst="rect">
            <a:avLst/>
          </a:prstGeom>
          <a:noFill/>
          <a:ln w="9525">
            <a:noFill/>
            <a:miter lim="800000"/>
            <a:headEnd/>
            <a:tailEnd/>
          </a:ln>
          <a:effectLst/>
        </p:spPr>
        <p:txBody>
          <a:bodyPr lIns="0" tIns="0" rIns="0" bIns="0"/>
          <a:lstStyle/>
          <a:p>
            <a:pPr algn="l" defTabSz="931619">
              <a:defRPr/>
            </a:pPr>
            <a:r>
              <a:rPr lang="en-US" sz="1200" dirty="0">
                <a:cs typeface="Arial" charset="0"/>
              </a:rPr>
              <a:t>Page </a:t>
            </a:r>
            <a:fld id="{90222F15-384C-4F8B-A461-087D94ECCB26}" type="slidenum">
              <a:rPr lang="en-US" sz="1200">
                <a:cs typeface="Arial" charset="0"/>
              </a:rPr>
              <a:pPr algn="l" defTabSz="931619">
                <a:defRPr/>
              </a:pPr>
              <a:t>‹#›</a:t>
            </a:fld>
            <a:endParaRPr lang="en-US" sz="1200" dirty="0">
              <a:cs typeface="Arial" charset="0"/>
            </a:endParaRPr>
          </a:p>
        </p:txBody>
      </p:sp>
      <p:pic>
        <p:nvPicPr>
          <p:cNvPr id="38919" name="Picture 11" descr="logo_tagblack"/>
          <p:cNvPicPr>
            <a:picLocks noChangeAspect="1" noChangeArrowheads="1"/>
          </p:cNvPicPr>
          <p:nvPr/>
        </p:nvPicPr>
        <p:blipFill>
          <a:blip r:embed="rId2"/>
          <a:srcRect/>
          <a:stretch>
            <a:fillRect/>
          </a:stretch>
        </p:blipFill>
        <p:spPr bwMode="auto">
          <a:xfrm>
            <a:off x="5240338" y="9445627"/>
            <a:ext cx="1423987" cy="3524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buClr>
        <a:srgbClr val="FFD200"/>
      </a:buClr>
      <a:buSzPct val="75000"/>
      <a:buFont typeface="Arial" charset="0"/>
      <a:defRPr sz="1200" kern="1200">
        <a:solidFill>
          <a:schemeClr val="tx1"/>
        </a:solidFill>
        <a:latin typeface="Arial" charset="0"/>
        <a:ea typeface="+mn-ea"/>
        <a:cs typeface="+mn-cs"/>
      </a:defRPr>
    </a:lvl1pPr>
    <a:lvl2pPr marL="1588" indent="177800"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2pPr>
    <a:lvl3pPr marL="358775" indent="184150"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3pPr>
    <a:lvl4pPr marL="722313" indent="173038"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4pPr>
    <a:lvl5pPr marL="1074738" indent="182563"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6"/>
          <p:cNvSpPr>
            <a:spLocks noGrp="1" noRot="1" noChangeAspect="1" noChangeArrowheads="1" noTextEdit="1"/>
          </p:cNvSpPr>
          <p:nvPr>
            <p:ph type="sldImg"/>
          </p:nvPr>
        </p:nvSpPr>
        <p:spPr>
          <a:ln/>
        </p:spPr>
      </p:sp>
      <p:sp>
        <p:nvSpPr>
          <p:cNvPr id="39939" name="Rectangle 7"/>
          <p:cNvSpPr>
            <a:spLocks noGrp="1" noChangeArrowheads="1"/>
          </p:cNvSpPr>
          <p:nvPr>
            <p:ph type="body" idx="1"/>
          </p:nvPr>
        </p:nvSpPr>
        <p:spPr>
          <a:noFill/>
          <a:ln/>
        </p:spPr>
        <p:txBody>
          <a:bodyPr/>
          <a:lstStyle/>
          <a:p>
            <a:pPr eaLnBrk="1" hangingPunct="1"/>
            <a:endParaRPr lang="de-DE"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GB" dirty="0" smtClean="0"/>
              <a:t>Cost</a:t>
            </a:r>
          </a:p>
          <a:p>
            <a:pPr defTabSz="881885">
              <a:defRPr/>
            </a:pPr>
            <a:r>
              <a:rPr lang="en-GB" dirty="0" smtClean="0"/>
              <a:t>GREEN - </a:t>
            </a:r>
            <a:r>
              <a:rPr lang="en-US" dirty="0" smtClean="0"/>
              <a:t>Estimate at Completion (EAC) = + 0 - 5% of approved spend (cost baseline + approved change requests)</a:t>
            </a:r>
            <a:endParaRPr lang="en-GB" dirty="0" smtClean="0"/>
          </a:p>
          <a:p>
            <a:pPr defTabSz="881885">
              <a:defRPr/>
            </a:pPr>
            <a:r>
              <a:rPr lang="en-GB" dirty="0" smtClean="0"/>
              <a:t>AMBER - </a:t>
            </a:r>
            <a:r>
              <a:rPr lang="en-US" dirty="0" smtClean="0"/>
              <a:t>Estimate at Completion (EAC) = + 6 - 10% of approved spend (cost baseline + approved changes) and/or pending spend</a:t>
            </a:r>
            <a:endParaRPr lang="en-GB" dirty="0" smtClean="0"/>
          </a:p>
          <a:p>
            <a:r>
              <a:rPr lang="en-GB" dirty="0" smtClean="0"/>
              <a:t>RED</a:t>
            </a:r>
            <a:r>
              <a:rPr lang="en-GB" baseline="0" dirty="0" smtClean="0"/>
              <a:t> – </a:t>
            </a:r>
            <a:r>
              <a:rPr lang="en-US" dirty="0" smtClean="0"/>
              <a:t>Estimate at Completion (EAC) exceeds + 10% or $100,000 of approved spend (cost baseline + approved changes) and/or pending spend or no project budget defined</a:t>
            </a:r>
            <a:endParaRPr lang="en-GB" baseline="0" dirty="0" smtClean="0"/>
          </a:p>
          <a:p>
            <a:endParaRPr lang="en-GB" baseline="0" dirty="0" smtClean="0"/>
          </a:p>
          <a:p>
            <a:r>
              <a:rPr lang="en-GB" dirty="0" smtClean="0"/>
              <a:t>Schedule</a:t>
            </a:r>
          </a:p>
          <a:p>
            <a:r>
              <a:rPr lang="en-GB" dirty="0" smtClean="0"/>
              <a:t>GREEN - </a:t>
            </a:r>
            <a:r>
              <a:rPr lang="en-US" dirty="0" smtClean="0"/>
              <a:t>The project schedule supports the end date of the project (with some elapsed time contingency).</a:t>
            </a:r>
            <a:endParaRPr lang="en-GB" dirty="0" smtClean="0"/>
          </a:p>
          <a:p>
            <a:r>
              <a:rPr lang="en-GB" dirty="0" smtClean="0"/>
              <a:t>AMBER - </a:t>
            </a:r>
            <a:r>
              <a:rPr lang="en-US" dirty="0" smtClean="0"/>
              <a:t>The project schedule supports the end date, but issues, risks and/or changes exist that may put the date in jeopardy.</a:t>
            </a:r>
            <a:endParaRPr lang="en-GB" dirty="0" smtClean="0"/>
          </a:p>
          <a:p>
            <a:r>
              <a:rPr lang="en-GB" dirty="0" smtClean="0"/>
              <a:t>RED</a:t>
            </a:r>
            <a:r>
              <a:rPr lang="en-GB" baseline="0" dirty="0" smtClean="0"/>
              <a:t> – </a:t>
            </a:r>
            <a:r>
              <a:rPr lang="en-US" dirty="0" smtClean="0"/>
              <a:t>The project schedule does not exist and/or the project schedule does not support the end of the project.</a:t>
            </a:r>
            <a:endParaRPr lang="en-GB" baseline="0" dirty="0" smtClean="0"/>
          </a:p>
          <a:p>
            <a:endParaRPr lang="en-GB" baseline="0" dirty="0" smtClean="0"/>
          </a:p>
          <a:p>
            <a:r>
              <a:rPr lang="en-GB" dirty="0" smtClean="0"/>
              <a:t>Scope</a:t>
            </a:r>
          </a:p>
          <a:p>
            <a:r>
              <a:rPr lang="en-GB" dirty="0" smtClean="0"/>
              <a:t>GREEN - </a:t>
            </a:r>
            <a:r>
              <a:rPr lang="en-US" dirty="0" smtClean="0"/>
              <a:t>Scope defined and </a:t>
            </a:r>
            <a:r>
              <a:rPr lang="en-US" u="sng" dirty="0" smtClean="0"/>
              <a:t>approved</a:t>
            </a:r>
            <a:r>
              <a:rPr lang="en-US" dirty="0" smtClean="0"/>
              <a:t> (scope baseline) with no pending change requests.</a:t>
            </a:r>
            <a:endParaRPr lang="en-GB" dirty="0" smtClean="0"/>
          </a:p>
          <a:p>
            <a:r>
              <a:rPr lang="en-GB" dirty="0" smtClean="0"/>
              <a:t>AMBER - </a:t>
            </a:r>
            <a:r>
              <a:rPr lang="en-US" dirty="0" smtClean="0"/>
              <a:t>Scope defined and </a:t>
            </a:r>
            <a:r>
              <a:rPr lang="en-US" u="sng" dirty="0" smtClean="0"/>
              <a:t>approved</a:t>
            </a:r>
            <a:r>
              <a:rPr lang="en-US" dirty="0" smtClean="0"/>
              <a:t> (scope baseline) with </a:t>
            </a:r>
            <a:r>
              <a:rPr lang="en-US" u="sng" dirty="0" smtClean="0"/>
              <a:t>pending</a:t>
            </a:r>
            <a:r>
              <a:rPr lang="en-US" dirty="0" smtClean="0"/>
              <a:t> change requests – known and not raised and raised but not agreed.</a:t>
            </a:r>
            <a:endParaRPr lang="en-GB" dirty="0" smtClean="0"/>
          </a:p>
          <a:p>
            <a:r>
              <a:rPr lang="en-GB" dirty="0" smtClean="0"/>
              <a:t>RED</a:t>
            </a:r>
            <a:r>
              <a:rPr lang="en-GB" baseline="0" dirty="0" smtClean="0"/>
              <a:t> – </a:t>
            </a:r>
            <a:r>
              <a:rPr lang="en-US" dirty="0" smtClean="0"/>
              <a:t>Scope undefined or unapproved (no scope baseline) and/or multiple pending change requests.</a:t>
            </a:r>
            <a:endParaRPr lang="en-GB" baseline="0" dirty="0" smtClean="0"/>
          </a:p>
          <a:p>
            <a:endParaRPr lang="en-GB" baseline="0" dirty="0" smtClean="0"/>
          </a:p>
          <a:p>
            <a:r>
              <a:rPr lang="en-GB" dirty="0" smtClean="0"/>
              <a:t>Risk</a:t>
            </a:r>
          </a:p>
          <a:p>
            <a:r>
              <a:rPr lang="en-GB" dirty="0" smtClean="0"/>
              <a:t>GREEN – Low amount of risks with negligible impact</a:t>
            </a:r>
          </a:p>
          <a:p>
            <a:r>
              <a:rPr lang="en-GB" dirty="0" smtClean="0"/>
              <a:t>AMBER – Medium amount of risks. High or medium impact but with mitigation actions in place. Time left to put in place mitigation plans.</a:t>
            </a:r>
          </a:p>
          <a:p>
            <a:r>
              <a:rPr lang="en-GB" dirty="0" smtClean="0"/>
              <a:t>RED</a:t>
            </a:r>
            <a:r>
              <a:rPr lang="en-GB" baseline="0" dirty="0" smtClean="0"/>
              <a:t> – High number of risks. High score risks which impact in the near term. No mitigation in place for High risks.</a:t>
            </a:r>
          </a:p>
          <a:p>
            <a:endParaRPr lang="en-GB" baseline="0" dirty="0" smtClean="0"/>
          </a:p>
          <a:p>
            <a:r>
              <a:rPr lang="en-GB" dirty="0" smtClean="0"/>
              <a:t>Issue</a:t>
            </a:r>
          </a:p>
          <a:p>
            <a:r>
              <a:rPr lang="en-GB" dirty="0" smtClean="0"/>
              <a:t>GREEN – No or low impact issues. Medium impact issues with resolution plans agreed and in place.</a:t>
            </a:r>
          </a:p>
          <a:p>
            <a:r>
              <a:rPr lang="en-GB" dirty="0" smtClean="0"/>
              <a:t>AMBER – Large</a:t>
            </a:r>
            <a:r>
              <a:rPr lang="en-GB" baseline="0" dirty="0" smtClean="0"/>
              <a:t> amount of issues and/or Medium impact issues with no resolution plans.</a:t>
            </a:r>
            <a:endParaRPr lang="en-GB" dirty="0" smtClean="0"/>
          </a:p>
          <a:p>
            <a:r>
              <a:rPr lang="en-GB" dirty="0" smtClean="0"/>
              <a:t>RED</a:t>
            </a:r>
            <a:r>
              <a:rPr lang="en-GB" baseline="0" dirty="0" smtClean="0"/>
              <a:t> – High impact issues present. No resolution plans in place for Medium of High level issues</a:t>
            </a:r>
          </a:p>
          <a:p>
            <a:endParaRPr lang="en-GB" baseline="0" dirty="0" smtClean="0"/>
          </a:p>
          <a:p>
            <a:r>
              <a:rPr lang="en-GB" dirty="0" smtClean="0"/>
              <a:t>Commercial</a:t>
            </a:r>
          </a:p>
          <a:p>
            <a:r>
              <a:rPr lang="en-GB" dirty="0" smtClean="0"/>
              <a:t>GREEN - TBD</a:t>
            </a:r>
          </a:p>
          <a:p>
            <a:r>
              <a:rPr lang="en-GB" dirty="0" smtClean="0"/>
              <a:t>AMBER - TBD</a:t>
            </a:r>
          </a:p>
          <a:p>
            <a:r>
              <a:rPr lang="en-GB" dirty="0" smtClean="0"/>
              <a:t>RED</a:t>
            </a:r>
            <a:r>
              <a:rPr lang="en-GB" baseline="0" dirty="0" smtClean="0"/>
              <a:t> – TBD</a:t>
            </a:r>
          </a:p>
          <a:p>
            <a:endParaRPr lang="en-GB" baseline="0" dirty="0" smtClean="0"/>
          </a:p>
          <a:p>
            <a:r>
              <a:rPr lang="en-GB" dirty="0" smtClean="0"/>
              <a:t>Resource</a:t>
            </a:r>
          </a:p>
          <a:p>
            <a:r>
              <a:rPr lang="en-GB" dirty="0" smtClean="0"/>
              <a:t>GREEN – No resource issue or constraints</a:t>
            </a:r>
          </a:p>
          <a:p>
            <a:r>
              <a:rPr lang="en-GB" dirty="0" smtClean="0"/>
              <a:t>AMBER – Resource issues exist but plans are in place to resolve.</a:t>
            </a:r>
          </a:p>
          <a:p>
            <a:r>
              <a:rPr lang="en-GB" dirty="0" smtClean="0"/>
              <a:t>RED</a:t>
            </a:r>
            <a:r>
              <a:rPr lang="en-GB" baseline="0" dirty="0" smtClean="0"/>
              <a:t> – Resource issues exist with no plans in place to resolve.</a:t>
            </a:r>
          </a:p>
          <a:p>
            <a:endParaRPr lang="en-GB" baseline="0" dirty="0" smtClean="0"/>
          </a:p>
          <a:p>
            <a:endParaRPr lang="en-GB" baseline="0"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Date Placeholder 3"/>
          <p:cNvSpPr>
            <a:spLocks noGrp="1"/>
          </p:cNvSpPr>
          <p:nvPr>
            <p:ph type="dt" idx="10"/>
          </p:nvPr>
        </p:nvSpPr>
        <p:spPr>
          <a:xfrm>
            <a:off x="3850947" y="1"/>
            <a:ext cx="2945126" cy="495772"/>
          </a:xfrm>
          <a:prstGeom prst="rect">
            <a:avLst/>
          </a:prstGeom>
        </p:spPr>
        <p:txBody>
          <a:bodyPr lIns="92204" tIns="46101" rIns="92204" bIns="46101"/>
          <a:lstStyle/>
          <a:p>
            <a:fld id="{9CAA74A6-10E5-41A7-8B8F-A766F5656366}" type="datetime4">
              <a:rPr lang="en-GB" smtClean="0"/>
              <a:pPr/>
              <a:t>14 June 2012</a:t>
            </a:fld>
            <a:endParaRPr lang="en-GB" dirty="0"/>
          </a:p>
        </p:txBody>
      </p:sp>
      <p:sp>
        <p:nvSpPr>
          <p:cNvPr id="5" name="Footer Placeholder 4"/>
          <p:cNvSpPr>
            <a:spLocks noGrp="1"/>
          </p:cNvSpPr>
          <p:nvPr>
            <p:ph type="ftr" sz="quarter" idx="11"/>
          </p:nvPr>
        </p:nvSpPr>
        <p:spPr>
          <a:xfrm>
            <a:off x="0" y="9430855"/>
            <a:ext cx="2945126" cy="495772"/>
          </a:xfrm>
          <a:prstGeom prst="rect">
            <a:avLst/>
          </a:prstGeom>
        </p:spPr>
        <p:txBody>
          <a:bodyPr lIns="92204" tIns="46101" rIns="92204" bIns="46101"/>
          <a:lstStyle/>
          <a:p>
            <a:endParaRPr lang="en-GB" dirty="0"/>
          </a:p>
        </p:txBody>
      </p:sp>
      <p:sp>
        <p:nvSpPr>
          <p:cNvPr id="6" name="Slide Number Placeholder 5"/>
          <p:cNvSpPr>
            <a:spLocks noGrp="1"/>
          </p:cNvSpPr>
          <p:nvPr>
            <p:ph type="sldNum" sz="quarter" idx="12"/>
          </p:nvPr>
        </p:nvSpPr>
        <p:spPr>
          <a:xfrm>
            <a:off x="3850947" y="9430855"/>
            <a:ext cx="2945126" cy="495772"/>
          </a:xfrm>
          <a:prstGeom prst="rect">
            <a:avLst/>
          </a:prstGeom>
        </p:spPr>
        <p:txBody>
          <a:bodyPr lIns="92204" tIns="46101" rIns="92204" bIns="46101"/>
          <a:lstStyle/>
          <a:p>
            <a:r>
              <a:rPr lang="en-GB" dirty="0" smtClean="0"/>
              <a:t>Page </a:t>
            </a:r>
            <a:fld id="{8E4BB8F6-032B-4FD4-9A99-EF51C8EFB725}" type="slidenum">
              <a:rPr lang="en-GB" smtClean="0"/>
              <a:pPr/>
              <a:t>5</a:t>
            </a:fld>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Date Placeholder 3"/>
          <p:cNvSpPr>
            <a:spLocks noGrp="1"/>
          </p:cNvSpPr>
          <p:nvPr>
            <p:ph type="dt" idx="10"/>
          </p:nvPr>
        </p:nvSpPr>
        <p:spPr>
          <a:xfrm>
            <a:off x="3850947" y="2"/>
            <a:ext cx="2945126" cy="495772"/>
          </a:xfrm>
          <a:prstGeom prst="rect">
            <a:avLst/>
          </a:prstGeom>
        </p:spPr>
        <p:txBody>
          <a:bodyPr lIns="92207" tIns="46103" rIns="92207" bIns="46103"/>
          <a:lstStyle/>
          <a:p>
            <a:fld id="{9CAA74A6-10E5-41A7-8B8F-A766F5656366}" type="datetime4">
              <a:rPr lang="en-GB" smtClean="0"/>
              <a:pPr/>
              <a:t>14 June 2012</a:t>
            </a:fld>
            <a:endParaRPr lang="en-GB" dirty="0"/>
          </a:p>
        </p:txBody>
      </p:sp>
      <p:sp>
        <p:nvSpPr>
          <p:cNvPr id="5" name="Footer Placeholder 4"/>
          <p:cNvSpPr>
            <a:spLocks noGrp="1"/>
          </p:cNvSpPr>
          <p:nvPr>
            <p:ph type="ftr" sz="quarter" idx="11"/>
          </p:nvPr>
        </p:nvSpPr>
        <p:spPr>
          <a:xfrm>
            <a:off x="0" y="9430856"/>
            <a:ext cx="2945126" cy="495772"/>
          </a:xfrm>
          <a:prstGeom prst="rect">
            <a:avLst/>
          </a:prstGeom>
        </p:spPr>
        <p:txBody>
          <a:bodyPr lIns="92207" tIns="46103" rIns="92207" bIns="46103"/>
          <a:lstStyle/>
          <a:p>
            <a:endParaRPr lang="en-GB" dirty="0"/>
          </a:p>
        </p:txBody>
      </p:sp>
      <p:sp>
        <p:nvSpPr>
          <p:cNvPr id="6" name="Slide Number Placeholder 5"/>
          <p:cNvSpPr>
            <a:spLocks noGrp="1"/>
          </p:cNvSpPr>
          <p:nvPr>
            <p:ph type="sldNum" sz="quarter" idx="12"/>
          </p:nvPr>
        </p:nvSpPr>
        <p:spPr>
          <a:xfrm>
            <a:off x="3850947" y="9430856"/>
            <a:ext cx="2945126" cy="495772"/>
          </a:xfrm>
          <a:prstGeom prst="rect">
            <a:avLst/>
          </a:prstGeom>
        </p:spPr>
        <p:txBody>
          <a:bodyPr lIns="92207" tIns="46103" rIns="92207" bIns="46103"/>
          <a:lstStyle/>
          <a:p>
            <a:r>
              <a:rPr lang="en-GB" dirty="0" smtClean="0"/>
              <a:t>Page </a:t>
            </a:r>
            <a:fld id="{8E4BB8F6-032B-4FD4-9A99-EF51C8EFB725}" type="slidenum">
              <a:rPr lang="en-GB" smtClean="0"/>
              <a:pPr/>
              <a:t>6</a:t>
            </a:fld>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a:xfrm>
            <a:off x="3850443" y="9430091"/>
            <a:ext cx="2945659" cy="496411"/>
          </a:xfrm>
          <a:prstGeom prst="rect">
            <a:avLst/>
          </a:prstGeom>
        </p:spPr>
        <p:txBody>
          <a:bodyPr/>
          <a:lstStyle/>
          <a:p>
            <a:fld id="{6157EFC4-BCE1-40C5-825F-A6039ECCBEEA}" type="slidenum">
              <a:rPr lang="en-US" smtClean="0"/>
              <a:pPr/>
              <a:t>9</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a:xfrm>
            <a:off x="3850443" y="9430091"/>
            <a:ext cx="2945659" cy="496411"/>
          </a:xfrm>
          <a:prstGeom prst="rect">
            <a:avLst/>
          </a:prstGeom>
        </p:spPr>
        <p:txBody>
          <a:bodyPr/>
          <a:lstStyle/>
          <a:p>
            <a:fld id="{6785ADCA-8C1F-40CE-AD93-D4361F274F3C}" type="slidenum">
              <a:rPr lang="en-GB" smtClean="0">
                <a:solidFill>
                  <a:prstClr val="black"/>
                </a:solidFill>
              </a:rPr>
              <a:pPr/>
              <a:t>11</a:t>
            </a:fld>
            <a:endParaRPr lang="en-GB" dirty="0">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GB" dirty="0" smtClean="0"/>
              <a:t>Cost</a:t>
            </a:r>
          </a:p>
          <a:p>
            <a:pPr defTabSz="881885">
              <a:defRPr/>
            </a:pPr>
            <a:r>
              <a:rPr lang="en-GB" dirty="0" smtClean="0"/>
              <a:t>GREEN - </a:t>
            </a:r>
            <a:r>
              <a:rPr lang="en-US" dirty="0" smtClean="0"/>
              <a:t>Estimate at Completion (EAC) = + 0 - 5% of approved spend (cost baseline + approved change requests)</a:t>
            </a:r>
            <a:endParaRPr lang="en-GB" dirty="0" smtClean="0"/>
          </a:p>
          <a:p>
            <a:pPr defTabSz="881885">
              <a:defRPr/>
            </a:pPr>
            <a:r>
              <a:rPr lang="en-GB" dirty="0" smtClean="0"/>
              <a:t>AMBER - </a:t>
            </a:r>
            <a:r>
              <a:rPr lang="en-US" dirty="0" smtClean="0"/>
              <a:t>Estimate at Completion (EAC) = + 6 - 10% of approved spend (cost baseline + approved changes) and/or pending spend</a:t>
            </a:r>
            <a:endParaRPr lang="en-GB" dirty="0" smtClean="0"/>
          </a:p>
          <a:p>
            <a:r>
              <a:rPr lang="en-GB" dirty="0" smtClean="0"/>
              <a:t>RED</a:t>
            </a:r>
            <a:r>
              <a:rPr lang="en-GB" baseline="0" dirty="0" smtClean="0"/>
              <a:t> – </a:t>
            </a:r>
            <a:r>
              <a:rPr lang="en-US" dirty="0" smtClean="0"/>
              <a:t>Estimate at Completion (EAC) exceeds + 10% or $100,000 of approved spend (cost baseline + approved changes) and/or pending spend or no project budget defined</a:t>
            </a:r>
            <a:endParaRPr lang="en-GB" baseline="0" dirty="0" smtClean="0"/>
          </a:p>
          <a:p>
            <a:endParaRPr lang="en-GB" baseline="0" dirty="0" smtClean="0"/>
          </a:p>
          <a:p>
            <a:r>
              <a:rPr lang="en-GB" dirty="0" smtClean="0"/>
              <a:t>Schedule</a:t>
            </a:r>
          </a:p>
          <a:p>
            <a:r>
              <a:rPr lang="en-GB" dirty="0" smtClean="0"/>
              <a:t>GREEN - </a:t>
            </a:r>
            <a:r>
              <a:rPr lang="en-US" dirty="0" smtClean="0"/>
              <a:t>The project schedule supports the end date of the project (with some elapsed time contingency).</a:t>
            </a:r>
            <a:endParaRPr lang="en-GB" dirty="0" smtClean="0"/>
          </a:p>
          <a:p>
            <a:r>
              <a:rPr lang="en-GB" dirty="0" smtClean="0"/>
              <a:t>AMBER - </a:t>
            </a:r>
            <a:r>
              <a:rPr lang="en-US" dirty="0" smtClean="0"/>
              <a:t>The project schedule supports the end date, but issues, risks and/or changes exist that may put the date in jeopardy.</a:t>
            </a:r>
            <a:endParaRPr lang="en-GB" dirty="0" smtClean="0"/>
          </a:p>
          <a:p>
            <a:r>
              <a:rPr lang="en-GB" dirty="0" smtClean="0"/>
              <a:t>RED</a:t>
            </a:r>
            <a:r>
              <a:rPr lang="en-GB" baseline="0" dirty="0" smtClean="0"/>
              <a:t> – </a:t>
            </a:r>
            <a:r>
              <a:rPr lang="en-US" dirty="0" smtClean="0"/>
              <a:t>The project schedule does not exist and/or the project schedule does not support the end of the project.</a:t>
            </a:r>
            <a:endParaRPr lang="en-GB" baseline="0" dirty="0" smtClean="0"/>
          </a:p>
          <a:p>
            <a:endParaRPr lang="en-GB" baseline="0" dirty="0" smtClean="0"/>
          </a:p>
          <a:p>
            <a:r>
              <a:rPr lang="en-GB" dirty="0" smtClean="0"/>
              <a:t>Scope</a:t>
            </a:r>
          </a:p>
          <a:p>
            <a:r>
              <a:rPr lang="en-GB" dirty="0" smtClean="0"/>
              <a:t>GREEN - </a:t>
            </a:r>
            <a:r>
              <a:rPr lang="en-US" dirty="0" smtClean="0"/>
              <a:t>Scope defined and </a:t>
            </a:r>
            <a:r>
              <a:rPr lang="en-US" u="sng" dirty="0" smtClean="0"/>
              <a:t>approved</a:t>
            </a:r>
            <a:r>
              <a:rPr lang="en-US" dirty="0" smtClean="0"/>
              <a:t> (scope baseline) with no pending change requests.</a:t>
            </a:r>
            <a:endParaRPr lang="en-GB" dirty="0" smtClean="0"/>
          </a:p>
          <a:p>
            <a:r>
              <a:rPr lang="en-GB" dirty="0" smtClean="0"/>
              <a:t>AMBER - </a:t>
            </a:r>
            <a:r>
              <a:rPr lang="en-US" dirty="0" smtClean="0"/>
              <a:t>Scope defined and </a:t>
            </a:r>
            <a:r>
              <a:rPr lang="en-US" u="sng" dirty="0" smtClean="0"/>
              <a:t>approved</a:t>
            </a:r>
            <a:r>
              <a:rPr lang="en-US" dirty="0" smtClean="0"/>
              <a:t> (scope baseline) with </a:t>
            </a:r>
            <a:r>
              <a:rPr lang="en-US" u="sng" dirty="0" smtClean="0"/>
              <a:t>pending</a:t>
            </a:r>
            <a:r>
              <a:rPr lang="en-US" dirty="0" smtClean="0"/>
              <a:t> change requests – known and not raised and raised but not agreed.</a:t>
            </a:r>
            <a:endParaRPr lang="en-GB" dirty="0" smtClean="0"/>
          </a:p>
          <a:p>
            <a:r>
              <a:rPr lang="en-GB" dirty="0" smtClean="0"/>
              <a:t>RED</a:t>
            </a:r>
            <a:r>
              <a:rPr lang="en-GB" baseline="0" dirty="0" smtClean="0"/>
              <a:t> – </a:t>
            </a:r>
            <a:r>
              <a:rPr lang="en-US" dirty="0" smtClean="0"/>
              <a:t>Scope undefined or unapproved (no scope baseline) and/or multiple pending change requests.</a:t>
            </a:r>
            <a:endParaRPr lang="en-GB" baseline="0" dirty="0" smtClean="0"/>
          </a:p>
          <a:p>
            <a:endParaRPr lang="en-GB" baseline="0" dirty="0" smtClean="0"/>
          </a:p>
          <a:p>
            <a:r>
              <a:rPr lang="en-GB" dirty="0" smtClean="0"/>
              <a:t>Risk</a:t>
            </a:r>
          </a:p>
          <a:p>
            <a:r>
              <a:rPr lang="en-GB" dirty="0" smtClean="0"/>
              <a:t>GREEN – Low amount of risks with negligible impact</a:t>
            </a:r>
          </a:p>
          <a:p>
            <a:r>
              <a:rPr lang="en-GB" dirty="0" smtClean="0"/>
              <a:t>AMBER – Medium amount of risks. High or medium impact but with mitigation actions in place. Time left to put in place mitigation plans.</a:t>
            </a:r>
          </a:p>
          <a:p>
            <a:r>
              <a:rPr lang="en-GB" dirty="0" smtClean="0"/>
              <a:t>RED</a:t>
            </a:r>
            <a:r>
              <a:rPr lang="en-GB" baseline="0" dirty="0" smtClean="0"/>
              <a:t> – High number of risks. High score risks which impact in the near term. No mitigation in place for High risks.</a:t>
            </a:r>
          </a:p>
          <a:p>
            <a:endParaRPr lang="en-GB" baseline="0" dirty="0" smtClean="0"/>
          </a:p>
          <a:p>
            <a:r>
              <a:rPr lang="en-GB" dirty="0" smtClean="0"/>
              <a:t>Issue</a:t>
            </a:r>
          </a:p>
          <a:p>
            <a:r>
              <a:rPr lang="en-GB" dirty="0" smtClean="0"/>
              <a:t>GREEN – No or low impact issues. Medium impact issues with resolution plans agreed and in place.</a:t>
            </a:r>
          </a:p>
          <a:p>
            <a:r>
              <a:rPr lang="en-GB" dirty="0" smtClean="0"/>
              <a:t>AMBER – Large</a:t>
            </a:r>
            <a:r>
              <a:rPr lang="en-GB" baseline="0" dirty="0" smtClean="0"/>
              <a:t> amount of issues and/or Medium impact issues with no resolution plans.</a:t>
            </a:r>
            <a:endParaRPr lang="en-GB" dirty="0" smtClean="0"/>
          </a:p>
          <a:p>
            <a:r>
              <a:rPr lang="en-GB" dirty="0" smtClean="0"/>
              <a:t>RED</a:t>
            </a:r>
            <a:r>
              <a:rPr lang="en-GB" baseline="0" dirty="0" smtClean="0"/>
              <a:t> – High impact issues present. No resolution plans in place for Medium of High level issues</a:t>
            </a:r>
          </a:p>
          <a:p>
            <a:endParaRPr lang="en-GB" baseline="0" dirty="0" smtClean="0"/>
          </a:p>
          <a:p>
            <a:r>
              <a:rPr lang="en-GB" dirty="0" smtClean="0"/>
              <a:t>Commercial</a:t>
            </a:r>
          </a:p>
          <a:p>
            <a:r>
              <a:rPr lang="en-GB" dirty="0" smtClean="0"/>
              <a:t>GREEN - TBD</a:t>
            </a:r>
          </a:p>
          <a:p>
            <a:r>
              <a:rPr lang="en-GB" dirty="0" smtClean="0"/>
              <a:t>AMBER - TBD</a:t>
            </a:r>
          </a:p>
          <a:p>
            <a:r>
              <a:rPr lang="en-GB" dirty="0" smtClean="0"/>
              <a:t>RED</a:t>
            </a:r>
            <a:r>
              <a:rPr lang="en-GB" baseline="0" dirty="0" smtClean="0"/>
              <a:t> – TBD</a:t>
            </a:r>
          </a:p>
          <a:p>
            <a:endParaRPr lang="en-GB" baseline="0" dirty="0" smtClean="0"/>
          </a:p>
          <a:p>
            <a:r>
              <a:rPr lang="en-GB" dirty="0" smtClean="0"/>
              <a:t>Resource</a:t>
            </a:r>
          </a:p>
          <a:p>
            <a:r>
              <a:rPr lang="en-GB" dirty="0" smtClean="0"/>
              <a:t>GREEN – No resource issue or constraints</a:t>
            </a:r>
          </a:p>
          <a:p>
            <a:r>
              <a:rPr lang="en-GB" dirty="0" smtClean="0"/>
              <a:t>AMBER – Resource issues exist but plans are in place to resolve.</a:t>
            </a:r>
          </a:p>
          <a:p>
            <a:r>
              <a:rPr lang="en-GB" dirty="0" smtClean="0"/>
              <a:t>RED</a:t>
            </a:r>
            <a:r>
              <a:rPr lang="en-GB" baseline="0" dirty="0" smtClean="0"/>
              <a:t> – Resource issues exist with no plans in place to resolve.</a:t>
            </a:r>
          </a:p>
          <a:p>
            <a:endParaRPr lang="en-GB" baseline="0" dirty="0" smtClean="0"/>
          </a:p>
          <a:p>
            <a:endParaRPr lang="en-GB" baseline="0" dirty="0"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4" name="Picture 4" descr="logo_tagblack"/>
          <p:cNvPicPr>
            <a:picLocks noChangeAspect="1" noChangeArrowheads="1"/>
          </p:cNvPicPr>
          <p:nvPr/>
        </p:nvPicPr>
        <p:blipFill>
          <a:blip r:embed="rId2" cstate="print"/>
          <a:srcRect/>
          <a:stretch>
            <a:fillRect/>
          </a:stretch>
        </p:blipFill>
        <p:spPr bwMode="auto">
          <a:xfrm>
            <a:off x="3073400" y="6030913"/>
            <a:ext cx="1908175" cy="428625"/>
          </a:xfrm>
          <a:prstGeom prst="rect">
            <a:avLst/>
          </a:prstGeom>
          <a:noFill/>
          <a:ln w="9525">
            <a:noFill/>
            <a:miter lim="800000"/>
            <a:headEnd/>
            <a:tailEnd/>
          </a:ln>
        </p:spPr>
      </p:pic>
      <p:pic>
        <p:nvPicPr>
          <p:cNvPr id="5" name="Picture 6" descr="logo_tagblack"/>
          <p:cNvPicPr>
            <a:picLocks noChangeAspect="1" noChangeArrowheads="1"/>
          </p:cNvPicPr>
          <p:nvPr userDrawn="1"/>
        </p:nvPicPr>
        <p:blipFill>
          <a:blip r:embed="rId2" cstate="print"/>
          <a:srcRect/>
          <a:stretch>
            <a:fillRect/>
          </a:stretch>
        </p:blipFill>
        <p:spPr bwMode="auto">
          <a:xfrm>
            <a:off x="3073400" y="6030913"/>
            <a:ext cx="1908175" cy="428625"/>
          </a:xfrm>
          <a:prstGeom prst="rect">
            <a:avLst/>
          </a:prstGeom>
          <a:noFill/>
          <a:ln w="9525">
            <a:noFill/>
            <a:miter lim="800000"/>
            <a:headEnd/>
            <a:tailEnd/>
          </a:ln>
        </p:spPr>
      </p:pic>
      <p:sp>
        <p:nvSpPr>
          <p:cNvPr id="6" name="Freeform 8"/>
          <p:cNvSpPr>
            <a:spLocks/>
          </p:cNvSpPr>
          <p:nvPr userDrawn="1"/>
        </p:nvSpPr>
        <p:spPr bwMode="auto">
          <a:xfrm>
            <a:off x="3074988" y="565150"/>
            <a:ext cx="6067425" cy="2586038"/>
          </a:xfrm>
          <a:custGeom>
            <a:avLst/>
            <a:gdLst/>
            <a:ahLst/>
            <a:cxnLst>
              <a:cxn ang="0">
                <a:pos x="0" y="1629"/>
              </a:cxn>
              <a:cxn ang="0">
                <a:pos x="3822" y="0"/>
              </a:cxn>
              <a:cxn ang="0">
                <a:pos x="3822" y="492"/>
              </a:cxn>
              <a:cxn ang="0">
                <a:pos x="0" y="1629"/>
              </a:cxn>
            </a:cxnLst>
            <a:rect l="0" t="0" r="r" b="b"/>
            <a:pathLst>
              <a:path w="3822" h="1629">
                <a:moveTo>
                  <a:pt x="0" y="1629"/>
                </a:moveTo>
                <a:lnTo>
                  <a:pt x="3822" y="0"/>
                </a:lnTo>
                <a:lnTo>
                  <a:pt x="3822" y="492"/>
                </a:lnTo>
                <a:lnTo>
                  <a:pt x="0" y="1629"/>
                </a:lnTo>
                <a:close/>
              </a:path>
            </a:pathLst>
          </a:custGeom>
          <a:solidFill>
            <a:schemeClr val="accent2"/>
          </a:solidFill>
          <a:ln w="9525">
            <a:noFill/>
            <a:round/>
            <a:headEnd/>
            <a:tailEnd/>
          </a:ln>
          <a:effectLst/>
        </p:spPr>
        <p:txBody>
          <a:bodyPr/>
          <a:lstStyle/>
          <a:p>
            <a:pPr>
              <a:defRPr/>
            </a:pPr>
            <a:endParaRPr lang="de-DE" dirty="0"/>
          </a:p>
        </p:txBody>
      </p:sp>
      <p:sp>
        <p:nvSpPr>
          <p:cNvPr id="7" name="AutoShape 10"/>
          <p:cNvSpPr>
            <a:spLocks noChangeArrowheads="1"/>
          </p:cNvSpPr>
          <p:nvPr userDrawn="1"/>
        </p:nvSpPr>
        <p:spPr bwMode="auto">
          <a:xfrm rot="5400000">
            <a:off x="-120649" y="1274762"/>
            <a:ext cx="3313112" cy="3071813"/>
          </a:xfrm>
          <a:prstGeom prst="triangle">
            <a:avLst>
              <a:gd name="adj" fmla="val 60227"/>
            </a:avLst>
          </a:prstGeom>
          <a:blipFill dpi="0" rotWithShape="0">
            <a:blip r:embed="rId3" cstate="print"/>
            <a:srcRect/>
            <a:stretch>
              <a:fillRect/>
            </a:stretch>
          </a:blipFill>
          <a:ln w="9525">
            <a:noFill/>
            <a:miter lim="800000"/>
            <a:headEnd/>
            <a:tailEnd/>
          </a:ln>
          <a:effectLst/>
        </p:spPr>
        <p:txBody>
          <a:bodyPr rot="10800000" vert="eaVert" wrap="none" anchor="ctr"/>
          <a:lstStyle/>
          <a:p>
            <a:pPr>
              <a:defRPr/>
            </a:pPr>
            <a:endParaRPr lang="de-DE" dirty="0"/>
          </a:p>
        </p:txBody>
      </p:sp>
      <p:sp>
        <p:nvSpPr>
          <p:cNvPr id="166914" name="Rectangle 2"/>
          <p:cNvSpPr>
            <a:spLocks noGrp="1" noChangeArrowheads="1"/>
          </p:cNvSpPr>
          <p:nvPr>
            <p:ph type="ctrTitle"/>
          </p:nvPr>
        </p:nvSpPr>
        <p:spPr>
          <a:xfrm>
            <a:off x="3059113" y="3457575"/>
            <a:ext cx="5541962" cy="908050"/>
          </a:xfrm>
        </p:spPr>
        <p:txBody>
          <a:bodyPr tIns="0"/>
          <a:lstStyle>
            <a:lvl1pPr>
              <a:defRPr/>
            </a:lvl1pPr>
          </a:lstStyle>
          <a:p>
            <a:r>
              <a:rPr lang="en-US"/>
              <a:t>Click to edit Master title style</a:t>
            </a:r>
          </a:p>
        </p:txBody>
      </p:sp>
      <p:sp>
        <p:nvSpPr>
          <p:cNvPr id="166915" name="Rectangle 3"/>
          <p:cNvSpPr>
            <a:spLocks noGrp="1" noChangeArrowheads="1"/>
          </p:cNvSpPr>
          <p:nvPr>
            <p:ph type="subTitle" idx="1"/>
          </p:nvPr>
        </p:nvSpPr>
        <p:spPr>
          <a:xfrm>
            <a:off x="3062288" y="4354513"/>
            <a:ext cx="5541962" cy="1019175"/>
          </a:xfrm>
        </p:spPr>
        <p:txBody>
          <a:bodyPr/>
          <a:lstStyle>
            <a:lvl1pPr marL="0" indent="0">
              <a:lnSpc>
                <a:spcPct val="85000"/>
              </a:lnSpc>
              <a:buFont typeface="Arial" charset="0"/>
              <a:buNone/>
              <a:defRPr sz="2000"/>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de-DE"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5613" y="1412875"/>
            <a:ext cx="4002087"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10100" y="1412875"/>
            <a:ext cx="4003675"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0988" y="200025"/>
            <a:ext cx="2057400" cy="5732463"/>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5613" y="200025"/>
            <a:ext cx="6022975" cy="57324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4_Title Only">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cSld name="Double Column Content (Horizont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smtClean="0"/>
              <a:t>Click to edit Master title style</a:t>
            </a:r>
            <a:endParaRPr lang="en-GB" dirty="0"/>
          </a:p>
        </p:txBody>
      </p:sp>
      <p:sp>
        <p:nvSpPr>
          <p:cNvPr id="3" name="Content Placeholder 2"/>
          <p:cNvSpPr>
            <a:spLocks noGrp="1"/>
          </p:cNvSpPr>
          <p:nvPr>
            <p:ph idx="1" hasCustomPrompt="1"/>
          </p:nvPr>
        </p:nvSpPr>
        <p:spPr>
          <a:xfrm>
            <a:off x="457200" y="1411288"/>
            <a:ext cx="8220075" cy="2147923"/>
          </a:xfrm>
        </p:spPr>
        <p:txBody>
          <a:bodyPr/>
          <a:lstStyle>
            <a:lvl2pPr>
              <a:defRPr>
                <a:solidFill>
                  <a:schemeClr val="tx2"/>
                </a:solidFill>
              </a:defRPr>
            </a:lvl2pPr>
          </a:lstStyle>
          <a:p>
            <a:pPr lvl="0"/>
            <a:r>
              <a:rPr lang="en-US" dirty="0" smtClean="0"/>
              <a:t>Body text – Arial 24 point</a:t>
            </a:r>
          </a:p>
          <a:p>
            <a:pPr lvl="1"/>
            <a:r>
              <a:rPr lang="en-US" dirty="0" smtClean="0"/>
              <a:t>Heading – Arial 24 point bold</a:t>
            </a:r>
          </a:p>
          <a:p>
            <a:pPr lvl="2"/>
            <a:r>
              <a:rPr lang="en-US" dirty="0" smtClean="0"/>
              <a:t>Bullet 1 – Arial 24 point</a:t>
            </a:r>
          </a:p>
          <a:p>
            <a:pPr lvl="3"/>
            <a:r>
              <a:rPr lang="en-US" dirty="0" smtClean="0"/>
              <a:t>Bullet 2 – Arial 20 point</a:t>
            </a:r>
          </a:p>
          <a:p>
            <a:pPr lvl="4"/>
            <a:r>
              <a:rPr lang="en-US" dirty="0" smtClean="0"/>
              <a:t>Bullet 3 – Arial 18 point</a:t>
            </a:r>
            <a:endParaRPr lang="en-GB" dirty="0"/>
          </a:p>
        </p:txBody>
      </p:sp>
      <p:sp>
        <p:nvSpPr>
          <p:cNvPr id="7" name="Content Placeholder 2"/>
          <p:cNvSpPr>
            <a:spLocks noGrp="1"/>
          </p:cNvSpPr>
          <p:nvPr>
            <p:ph idx="13" hasCustomPrompt="1"/>
          </p:nvPr>
        </p:nvSpPr>
        <p:spPr>
          <a:xfrm>
            <a:off x="457200" y="3767102"/>
            <a:ext cx="8220075" cy="2147923"/>
          </a:xfrm>
        </p:spPr>
        <p:txBody>
          <a:bodyPr/>
          <a:lstStyle>
            <a:lvl2pPr>
              <a:defRPr>
                <a:solidFill>
                  <a:schemeClr val="tx2"/>
                </a:solidFill>
              </a:defRPr>
            </a:lvl2pPr>
          </a:lstStyle>
          <a:p>
            <a:pPr lvl="0"/>
            <a:r>
              <a:rPr lang="en-US" dirty="0" smtClean="0"/>
              <a:t>Body text – Arial 24 point</a:t>
            </a:r>
          </a:p>
          <a:p>
            <a:pPr lvl="1"/>
            <a:r>
              <a:rPr lang="en-US" dirty="0" smtClean="0"/>
              <a:t>Heading – Arial 24 point bold</a:t>
            </a:r>
          </a:p>
          <a:p>
            <a:pPr lvl="2"/>
            <a:r>
              <a:rPr lang="en-US" dirty="0" smtClean="0"/>
              <a:t>Bullet 1 – Arial 24 point</a:t>
            </a:r>
          </a:p>
          <a:p>
            <a:pPr lvl="3"/>
            <a:r>
              <a:rPr lang="en-US" dirty="0" smtClean="0"/>
              <a:t>Bullet 2 – Arial 20 point</a:t>
            </a:r>
          </a:p>
          <a:p>
            <a:pPr lvl="4"/>
            <a:r>
              <a:rPr lang="en-US" dirty="0" smtClean="0"/>
              <a:t>Bullet 3 – Arial 18 point</a:t>
            </a:r>
            <a:endParaRPr lang="en-GB"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1.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4.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image" Target="../media/image5.png"/><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image" Target="../media/image1.png"/><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4.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6.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image" Target="../media/image7.jpeg"/><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theme" Target="../theme/theme5.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image" Target="../media/image1.png"/><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theme" Target="../theme/theme6.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0025"/>
            <a:ext cx="8231188"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5613" y="1412875"/>
            <a:ext cx="8158162" cy="451961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65893" name="Rectangle 5"/>
          <p:cNvSpPr>
            <a:spLocks noChangeArrowheads="1"/>
          </p:cNvSpPr>
          <p:nvPr/>
        </p:nvSpPr>
        <p:spPr bwMode="auto">
          <a:xfrm>
            <a:off x="3962400" y="6386513"/>
            <a:ext cx="2057400" cy="196850"/>
          </a:xfrm>
          <a:prstGeom prst="rect">
            <a:avLst/>
          </a:prstGeom>
          <a:noFill/>
          <a:ln w="9525">
            <a:noFill/>
            <a:miter lim="800000"/>
            <a:headEnd/>
            <a:tailEnd/>
          </a:ln>
          <a:effectLst/>
        </p:spPr>
        <p:txBody>
          <a:bodyPr lIns="0" tIns="0" rIns="0" bIns="0"/>
          <a:lstStyle/>
          <a:p>
            <a:pPr algn="l">
              <a:defRPr/>
            </a:pPr>
            <a:r>
              <a:rPr lang="en-US" sz="1100" dirty="0" smtClean="0">
                <a:solidFill>
                  <a:srgbClr val="000000"/>
                </a:solidFill>
                <a:cs typeface="Arial" charset="0"/>
              </a:rPr>
              <a:t>DCC Program Committee</a:t>
            </a:r>
            <a:endParaRPr lang="en-US" sz="1100" dirty="0">
              <a:solidFill>
                <a:srgbClr val="000000"/>
              </a:solidFill>
              <a:cs typeface="Arial" charset="0"/>
            </a:endParaRPr>
          </a:p>
        </p:txBody>
      </p:sp>
      <p:sp>
        <p:nvSpPr>
          <p:cNvPr id="165894" name="Rectangle 6"/>
          <p:cNvSpPr>
            <a:spLocks noChangeArrowheads="1"/>
          </p:cNvSpPr>
          <p:nvPr/>
        </p:nvSpPr>
        <p:spPr bwMode="auto">
          <a:xfrm>
            <a:off x="457200" y="6419850"/>
            <a:ext cx="663575" cy="196850"/>
          </a:xfrm>
          <a:prstGeom prst="rect">
            <a:avLst/>
          </a:prstGeom>
          <a:noFill/>
          <a:ln w="9525">
            <a:noFill/>
            <a:miter lim="800000"/>
            <a:headEnd/>
            <a:tailEnd/>
          </a:ln>
          <a:effectLst/>
        </p:spPr>
        <p:txBody>
          <a:bodyPr lIns="0" tIns="0" rIns="0" bIns="0"/>
          <a:lstStyle/>
          <a:p>
            <a:pPr algn="l">
              <a:defRPr/>
            </a:pPr>
            <a:r>
              <a:rPr lang="en-US" sz="1100" dirty="0">
                <a:solidFill>
                  <a:srgbClr val="000000"/>
                </a:solidFill>
                <a:cs typeface="Arial" charset="0"/>
              </a:rPr>
              <a:t>Page </a:t>
            </a:r>
            <a:fld id="{84B491C8-BB09-42DF-B246-12EF53273C68}" type="slidenum">
              <a:rPr lang="en-US" sz="1100">
                <a:solidFill>
                  <a:srgbClr val="000000"/>
                </a:solidFill>
                <a:cs typeface="Arial" charset="0"/>
              </a:rPr>
              <a:pPr algn="l">
                <a:defRPr/>
              </a:pPr>
              <a:t>‹#›</a:t>
            </a:fld>
            <a:endParaRPr lang="en-US" sz="1100" dirty="0">
              <a:solidFill>
                <a:srgbClr val="000000"/>
              </a:solidFill>
              <a:cs typeface="Arial" charset="0"/>
            </a:endParaRPr>
          </a:p>
        </p:txBody>
      </p:sp>
      <p:sp>
        <p:nvSpPr>
          <p:cNvPr id="165895" name="Line 7"/>
          <p:cNvSpPr>
            <a:spLocks noChangeShapeType="1"/>
          </p:cNvSpPr>
          <p:nvPr/>
        </p:nvSpPr>
        <p:spPr bwMode="auto">
          <a:xfrm>
            <a:off x="455613" y="1042988"/>
            <a:ext cx="8229600" cy="0"/>
          </a:xfrm>
          <a:prstGeom prst="line">
            <a:avLst/>
          </a:prstGeom>
          <a:noFill/>
          <a:ln w="12700">
            <a:solidFill>
              <a:srgbClr val="FFD200"/>
            </a:solidFill>
            <a:round/>
            <a:headEnd/>
            <a:tailEnd/>
          </a:ln>
          <a:effectLst/>
        </p:spPr>
        <p:txBody>
          <a:bodyPr wrap="none" anchor="ctr"/>
          <a:lstStyle/>
          <a:p>
            <a:pPr>
              <a:defRPr/>
            </a:pPr>
            <a:endParaRPr lang="de-DE" dirty="0"/>
          </a:p>
        </p:txBody>
      </p:sp>
      <p:sp>
        <p:nvSpPr>
          <p:cNvPr id="165896" name="Line 8"/>
          <p:cNvSpPr>
            <a:spLocks noChangeShapeType="1"/>
          </p:cNvSpPr>
          <p:nvPr/>
        </p:nvSpPr>
        <p:spPr bwMode="auto">
          <a:xfrm>
            <a:off x="455613" y="6243638"/>
            <a:ext cx="8229600" cy="0"/>
          </a:xfrm>
          <a:prstGeom prst="line">
            <a:avLst/>
          </a:prstGeom>
          <a:noFill/>
          <a:ln w="3175">
            <a:solidFill>
              <a:srgbClr val="646464"/>
            </a:solidFill>
            <a:round/>
            <a:headEnd/>
            <a:tailEnd/>
          </a:ln>
          <a:effectLst/>
        </p:spPr>
        <p:txBody>
          <a:bodyPr wrap="none" anchor="ctr"/>
          <a:lstStyle/>
          <a:p>
            <a:pPr>
              <a:defRPr/>
            </a:pPr>
            <a:endParaRPr lang="de-DE" dirty="0"/>
          </a:p>
        </p:txBody>
      </p:sp>
      <p:sp>
        <p:nvSpPr>
          <p:cNvPr id="165897" name="Line 9"/>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1033" name="Picture 10" descr="logo_tagblack"/>
          <p:cNvPicPr>
            <a:picLocks noChangeAspect="1" noChangeArrowheads="1"/>
          </p:cNvPicPr>
          <p:nvPr/>
        </p:nvPicPr>
        <p:blipFill>
          <a:blip r:embed="rId16" cstate="print"/>
          <a:srcRect/>
          <a:stretch>
            <a:fillRect/>
          </a:stretch>
        </p:blipFill>
        <p:spPr bwMode="auto">
          <a:xfrm>
            <a:off x="7226300" y="6386513"/>
            <a:ext cx="1485900" cy="333375"/>
          </a:xfrm>
          <a:prstGeom prst="rect">
            <a:avLst/>
          </a:prstGeom>
          <a:noFill/>
          <a:ln w="9525">
            <a:noFill/>
            <a:miter lim="800000"/>
            <a:headEnd/>
            <a:tailEnd/>
          </a:ln>
        </p:spPr>
      </p:pic>
      <p:sp>
        <p:nvSpPr>
          <p:cNvPr id="165899" name="Line 11"/>
          <p:cNvSpPr>
            <a:spLocks noChangeShapeType="1"/>
          </p:cNvSpPr>
          <p:nvPr/>
        </p:nvSpPr>
        <p:spPr bwMode="auto">
          <a:xfrm>
            <a:off x="455613" y="1042988"/>
            <a:ext cx="8229600" cy="0"/>
          </a:xfrm>
          <a:prstGeom prst="line">
            <a:avLst/>
          </a:prstGeom>
          <a:noFill/>
          <a:ln w="19050">
            <a:solidFill>
              <a:srgbClr val="FFD200"/>
            </a:solidFill>
            <a:round/>
            <a:headEnd/>
            <a:tailEnd/>
          </a:ln>
          <a:effectLst/>
        </p:spPr>
        <p:txBody>
          <a:bodyPr wrap="none" anchor="ctr"/>
          <a:lstStyle/>
          <a:p>
            <a:pPr>
              <a:defRPr/>
            </a:pPr>
            <a:endParaRPr lang="de-DE" dirty="0"/>
          </a:p>
        </p:txBody>
      </p:sp>
      <p:sp>
        <p:nvSpPr>
          <p:cNvPr id="165900" name="Line 12"/>
          <p:cNvSpPr>
            <a:spLocks noChangeShapeType="1"/>
          </p:cNvSpPr>
          <p:nvPr/>
        </p:nvSpPr>
        <p:spPr bwMode="auto">
          <a:xfrm>
            <a:off x="455613" y="6243638"/>
            <a:ext cx="8229600" cy="0"/>
          </a:xfrm>
          <a:prstGeom prst="line">
            <a:avLst/>
          </a:prstGeom>
          <a:noFill/>
          <a:ln w="3175">
            <a:solidFill>
              <a:srgbClr val="646464"/>
            </a:solidFill>
            <a:round/>
            <a:headEnd/>
            <a:tailEnd/>
          </a:ln>
          <a:effectLst/>
        </p:spPr>
        <p:txBody>
          <a:bodyPr wrap="none" anchor="ctr"/>
          <a:lstStyle/>
          <a:p>
            <a:pPr>
              <a:defRPr/>
            </a:pPr>
            <a:endParaRPr lang="de-DE" dirty="0"/>
          </a:p>
        </p:txBody>
      </p:sp>
      <p:sp>
        <p:nvSpPr>
          <p:cNvPr id="165901" name="Line 13"/>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1037" name="Picture 14" descr="logo_tagblack"/>
          <p:cNvPicPr>
            <a:picLocks noChangeAspect="1" noChangeArrowheads="1"/>
          </p:cNvPicPr>
          <p:nvPr/>
        </p:nvPicPr>
        <p:blipFill>
          <a:blip r:embed="rId16" cstate="print"/>
          <a:srcRect/>
          <a:stretch>
            <a:fillRect/>
          </a:stretch>
        </p:blipFill>
        <p:spPr bwMode="auto">
          <a:xfrm>
            <a:off x="7226300" y="6386513"/>
            <a:ext cx="1485900" cy="333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816" r:id="rId1"/>
    <p:sldLayoutId id="2147485750" r:id="rId2"/>
    <p:sldLayoutId id="2147485751" r:id="rId3"/>
    <p:sldLayoutId id="2147485752" r:id="rId4"/>
    <p:sldLayoutId id="2147485753" r:id="rId5"/>
    <p:sldLayoutId id="2147485754" r:id="rId6"/>
    <p:sldLayoutId id="2147485755" r:id="rId7"/>
    <p:sldLayoutId id="2147485756" r:id="rId8"/>
    <p:sldLayoutId id="2147485757" r:id="rId9"/>
    <p:sldLayoutId id="2147485758" r:id="rId10"/>
    <p:sldLayoutId id="2147485759" r:id="rId11"/>
    <p:sldLayoutId id="2147485818" r:id="rId12"/>
    <p:sldLayoutId id="2147485824" r:id="rId13"/>
    <p:sldLayoutId id="2147485825" r:id="rId14"/>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646464"/>
          </a:solidFill>
          <a:latin typeface="+mj-lt"/>
          <a:ea typeface="+mj-ea"/>
          <a:cs typeface="+mj-cs"/>
        </a:defRPr>
      </a:lvl1pPr>
      <a:lvl2pPr algn="l" rtl="0" eaLnBrk="0" fontAlgn="base" hangingPunct="0">
        <a:lnSpc>
          <a:spcPct val="85000"/>
        </a:lnSpc>
        <a:spcBef>
          <a:spcPct val="0"/>
        </a:spcBef>
        <a:spcAft>
          <a:spcPct val="0"/>
        </a:spcAft>
        <a:defRPr sz="3000" b="1">
          <a:solidFill>
            <a:srgbClr val="646464"/>
          </a:solidFill>
          <a:latin typeface="Arial" charset="0"/>
        </a:defRPr>
      </a:lvl2pPr>
      <a:lvl3pPr algn="l" rtl="0" eaLnBrk="0" fontAlgn="base" hangingPunct="0">
        <a:lnSpc>
          <a:spcPct val="85000"/>
        </a:lnSpc>
        <a:spcBef>
          <a:spcPct val="0"/>
        </a:spcBef>
        <a:spcAft>
          <a:spcPct val="0"/>
        </a:spcAft>
        <a:defRPr sz="3000" b="1">
          <a:solidFill>
            <a:srgbClr val="646464"/>
          </a:solidFill>
          <a:latin typeface="Arial" charset="0"/>
        </a:defRPr>
      </a:lvl3pPr>
      <a:lvl4pPr algn="l" rtl="0" eaLnBrk="0" fontAlgn="base" hangingPunct="0">
        <a:lnSpc>
          <a:spcPct val="85000"/>
        </a:lnSpc>
        <a:spcBef>
          <a:spcPct val="0"/>
        </a:spcBef>
        <a:spcAft>
          <a:spcPct val="0"/>
        </a:spcAft>
        <a:defRPr sz="3000" b="1">
          <a:solidFill>
            <a:srgbClr val="646464"/>
          </a:solidFill>
          <a:latin typeface="Arial" charset="0"/>
        </a:defRPr>
      </a:lvl4pPr>
      <a:lvl5pPr algn="l" rtl="0" eaLnBrk="0" fontAlgn="base" hangingPunct="0">
        <a:lnSpc>
          <a:spcPct val="85000"/>
        </a:lnSpc>
        <a:spcBef>
          <a:spcPct val="0"/>
        </a:spcBef>
        <a:spcAft>
          <a:spcPct val="0"/>
        </a:spcAft>
        <a:defRPr sz="3000" b="1">
          <a:solidFill>
            <a:srgbClr val="646464"/>
          </a:solidFill>
          <a:latin typeface="Arial" charset="0"/>
        </a:defRPr>
      </a:lvl5pPr>
      <a:lvl6pPr marL="457200" algn="l" rtl="0" fontAlgn="base">
        <a:lnSpc>
          <a:spcPct val="85000"/>
        </a:lnSpc>
        <a:spcBef>
          <a:spcPct val="0"/>
        </a:spcBef>
        <a:spcAft>
          <a:spcPct val="0"/>
        </a:spcAft>
        <a:defRPr sz="3000" b="1">
          <a:solidFill>
            <a:srgbClr val="646464"/>
          </a:solidFill>
          <a:latin typeface="Arial" charset="0"/>
        </a:defRPr>
      </a:lvl6pPr>
      <a:lvl7pPr marL="914400" algn="l" rtl="0" fontAlgn="base">
        <a:lnSpc>
          <a:spcPct val="85000"/>
        </a:lnSpc>
        <a:spcBef>
          <a:spcPct val="0"/>
        </a:spcBef>
        <a:spcAft>
          <a:spcPct val="0"/>
        </a:spcAft>
        <a:defRPr sz="3000" b="1">
          <a:solidFill>
            <a:srgbClr val="646464"/>
          </a:solidFill>
          <a:latin typeface="Arial" charset="0"/>
        </a:defRPr>
      </a:lvl7pPr>
      <a:lvl8pPr marL="1371600" algn="l" rtl="0" fontAlgn="base">
        <a:lnSpc>
          <a:spcPct val="85000"/>
        </a:lnSpc>
        <a:spcBef>
          <a:spcPct val="0"/>
        </a:spcBef>
        <a:spcAft>
          <a:spcPct val="0"/>
        </a:spcAft>
        <a:defRPr sz="3000" b="1">
          <a:solidFill>
            <a:srgbClr val="646464"/>
          </a:solidFill>
          <a:latin typeface="Arial" charset="0"/>
        </a:defRPr>
      </a:lvl8pPr>
      <a:lvl9pPr marL="1828800" algn="l" rtl="0" fontAlgn="base">
        <a:lnSpc>
          <a:spcPct val="85000"/>
        </a:lnSpc>
        <a:spcBef>
          <a:spcPct val="0"/>
        </a:spcBef>
        <a:spcAft>
          <a:spcPct val="0"/>
        </a:spcAft>
        <a:defRPr sz="3000" b="1">
          <a:solidFill>
            <a:srgbClr val="646464"/>
          </a:solidFill>
          <a:latin typeface="Arial" charset="0"/>
        </a:defRPr>
      </a:lvl9pPr>
    </p:titleStyle>
    <p:bodyStyle>
      <a:lvl1pPr marL="360363" indent="-360363" algn="l" rtl="0" eaLnBrk="0" fontAlgn="base" hangingPunct="0">
        <a:spcBef>
          <a:spcPct val="20000"/>
        </a:spcBef>
        <a:spcAft>
          <a:spcPct val="0"/>
        </a:spcAft>
        <a:buClr>
          <a:srgbClr val="FFD200"/>
        </a:buClr>
        <a:buSzPct val="75000"/>
        <a:buFont typeface="Arial" charset="0"/>
        <a:buChar char="►"/>
        <a:defRPr sz="2400">
          <a:solidFill>
            <a:srgbClr val="646464"/>
          </a:solidFill>
          <a:latin typeface="+mn-lt"/>
          <a:ea typeface="+mn-ea"/>
          <a:cs typeface="+mn-cs"/>
        </a:defRPr>
      </a:lvl1pPr>
      <a:lvl2pPr marL="717550" indent="-355600" algn="l" rtl="0" eaLnBrk="0" fontAlgn="base" hangingPunct="0">
        <a:spcBef>
          <a:spcPct val="20000"/>
        </a:spcBef>
        <a:spcAft>
          <a:spcPct val="0"/>
        </a:spcAft>
        <a:buClr>
          <a:srgbClr val="FFD200"/>
        </a:buClr>
        <a:buSzPct val="75000"/>
        <a:buFont typeface="Arial" charset="0"/>
        <a:buChar char="►"/>
        <a:defRPr sz="2000">
          <a:solidFill>
            <a:srgbClr val="646464"/>
          </a:solidFill>
          <a:latin typeface="+mn-lt"/>
        </a:defRPr>
      </a:lvl2pPr>
      <a:lvl3pPr marL="1081088" indent="-361950" algn="l" rtl="0" eaLnBrk="0" fontAlgn="base" hangingPunct="0">
        <a:spcBef>
          <a:spcPct val="20000"/>
        </a:spcBef>
        <a:spcAft>
          <a:spcPct val="0"/>
        </a:spcAft>
        <a:buClr>
          <a:srgbClr val="FFD200"/>
        </a:buClr>
        <a:buSzPct val="75000"/>
        <a:buFont typeface="Arial" charset="0"/>
        <a:buChar char="►"/>
        <a:defRPr>
          <a:solidFill>
            <a:srgbClr val="646464"/>
          </a:solidFill>
          <a:latin typeface="+mn-lt"/>
        </a:defRPr>
      </a:lvl3pPr>
      <a:lvl4pPr marL="1441450" indent="-358775" algn="l" rtl="0" eaLnBrk="0" fontAlgn="base" hangingPunct="0">
        <a:spcBef>
          <a:spcPct val="20000"/>
        </a:spcBef>
        <a:spcAft>
          <a:spcPct val="0"/>
        </a:spcAft>
        <a:buClr>
          <a:srgbClr val="FFD200"/>
        </a:buClr>
        <a:buSzPct val="75000"/>
        <a:buFont typeface="Arial" charset="0"/>
        <a:buChar char="►"/>
        <a:defRPr sz="1600">
          <a:solidFill>
            <a:srgbClr val="646464"/>
          </a:solidFill>
          <a:latin typeface="+mn-lt"/>
        </a:defRPr>
      </a:lvl4pPr>
      <a:lvl5pPr marL="1800225" indent="-357188" algn="l" rtl="0" eaLnBrk="0" fontAlgn="base" hangingPunct="0">
        <a:spcBef>
          <a:spcPct val="20000"/>
        </a:spcBef>
        <a:spcAft>
          <a:spcPct val="0"/>
        </a:spcAft>
        <a:buClr>
          <a:srgbClr val="FFD200"/>
        </a:buClr>
        <a:buSzPct val="75000"/>
        <a:buFont typeface="Arial" charset="0"/>
        <a:buChar char="►"/>
        <a:defRPr sz="1600">
          <a:solidFill>
            <a:srgbClr val="646464"/>
          </a:solidFill>
          <a:latin typeface="+mn-lt"/>
        </a:defRPr>
      </a:lvl5pPr>
      <a:lvl6pPr marL="22574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6pPr>
      <a:lvl7pPr marL="27146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7pPr>
      <a:lvl8pPr marL="31718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8pPr>
      <a:lvl9pPr marL="36290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99331" name="Line 3"/>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2052" name="Picture 4" descr="logo_tagblack"/>
          <p:cNvPicPr>
            <a:picLocks noChangeAspect="1" noChangeArrowheads="1"/>
          </p:cNvPicPr>
          <p:nvPr/>
        </p:nvPicPr>
        <p:blipFill>
          <a:blip r:embed="rId13" cstate="print"/>
          <a:srcRect/>
          <a:stretch>
            <a:fillRect/>
          </a:stretch>
        </p:blipFill>
        <p:spPr bwMode="auto">
          <a:xfrm>
            <a:off x="7226300" y="6386513"/>
            <a:ext cx="1485900" cy="333375"/>
          </a:xfrm>
          <a:prstGeom prst="rect">
            <a:avLst/>
          </a:prstGeom>
          <a:noFill/>
          <a:ln w="9525">
            <a:noFill/>
            <a:miter lim="800000"/>
            <a:headEnd/>
            <a:tailEnd/>
          </a:ln>
        </p:spPr>
      </p:pic>
      <p:sp>
        <p:nvSpPr>
          <p:cNvPr id="99335" name="Freeform 7"/>
          <p:cNvSpPr>
            <a:spLocks noChangeAspect="1"/>
          </p:cNvSpPr>
          <p:nvPr/>
        </p:nvSpPr>
        <p:spPr bwMode="auto">
          <a:xfrm>
            <a:off x="455613" y="1039813"/>
            <a:ext cx="8253412" cy="5194300"/>
          </a:xfrm>
          <a:custGeom>
            <a:avLst/>
            <a:gdLst/>
            <a:ahLst/>
            <a:cxnLst>
              <a:cxn ang="0">
                <a:pos x="0" y="0"/>
              </a:cxn>
              <a:cxn ang="0">
                <a:pos x="5170" y="0"/>
              </a:cxn>
              <a:cxn ang="0">
                <a:pos x="4535" y="3266"/>
              </a:cxn>
              <a:cxn ang="0">
                <a:pos x="0" y="3266"/>
              </a:cxn>
              <a:cxn ang="0">
                <a:pos x="0" y="0"/>
              </a:cxn>
            </a:cxnLst>
            <a:rect l="0" t="0" r="r" b="b"/>
            <a:pathLst>
              <a:path w="5170" h="3266">
                <a:moveTo>
                  <a:pt x="0" y="0"/>
                </a:moveTo>
                <a:lnTo>
                  <a:pt x="5170" y="0"/>
                </a:lnTo>
                <a:lnTo>
                  <a:pt x="4535" y="3266"/>
                </a:lnTo>
                <a:lnTo>
                  <a:pt x="0" y="3266"/>
                </a:lnTo>
                <a:lnTo>
                  <a:pt x="0" y="0"/>
                </a:lnTo>
                <a:close/>
              </a:path>
            </a:pathLst>
          </a:custGeom>
          <a:blipFill dpi="0" rotWithShape="1">
            <a:blip r:embed="rId14" cstate="print"/>
            <a:srcRect/>
            <a:stretch>
              <a:fillRect/>
            </a:stretch>
          </a:blipFill>
          <a:ln w="9525">
            <a:noFill/>
            <a:round/>
            <a:headEnd/>
            <a:tailEnd/>
          </a:ln>
          <a:effectLst/>
        </p:spPr>
        <p:txBody>
          <a:bodyPr/>
          <a:lstStyle/>
          <a:p>
            <a:pPr>
              <a:defRPr/>
            </a:pPr>
            <a:endParaRPr lang="de-DE" dirty="0"/>
          </a:p>
        </p:txBody>
      </p:sp>
    </p:spTree>
  </p:cSld>
  <p:clrMap bg1="lt1" tx1="dk1" bg2="lt2" tx2="dk2" accent1="accent1" accent2="accent2" accent3="accent3" accent4="accent4" accent5="accent5" accent6="accent6" hlink="hlink" folHlink="folHlink"/>
  <p:sldLayoutIdLst>
    <p:sldLayoutId id="2147485761" r:id="rId1"/>
    <p:sldLayoutId id="2147485762" r:id="rId2"/>
    <p:sldLayoutId id="2147485763" r:id="rId3"/>
    <p:sldLayoutId id="2147485764" r:id="rId4"/>
    <p:sldLayoutId id="2147485765" r:id="rId5"/>
    <p:sldLayoutId id="2147485766" r:id="rId6"/>
    <p:sldLayoutId id="2147485767" r:id="rId7"/>
    <p:sldLayoutId id="2147485768" r:id="rId8"/>
    <p:sldLayoutId id="2147485769" r:id="rId9"/>
    <p:sldLayoutId id="2147485770" r:id="rId10"/>
    <p:sldLayoutId id="2147485771"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Picture 2" descr="lines11_crop_subtle_w"/>
          <p:cNvPicPr>
            <a:picLocks noChangeAspect="1" noChangeArrowheads="1"/>
          </p:cNvPicPr>
          <p:nvPr/>
        </p:nvPicPr>
        <p:blipFill>
          <a:blip r:embed="rId13" cstate="print"/>
          <a:srcRect/>
          <a:stretch>
            <a:fillRect/>
          </a:stretch>
        </p:blipFill>
        <p:spPr bwMode="auto">
          <a:xfrm>
            <a:off x="455613" y="1036638"/>
            <a:ext cx="8231187" cy="5195887"/>
          </a:xfrm>
          <a:prstGeom prst="rect">
            <a:avLst/>
          </a:prstGeom>
          <a:noFill/>
          <a:ln w="9525">
            <a:noFill/>
            <a:miter lim="800000"/>
            <a:headEnd/>
            <a:tailEnd/>
          </a:ln>
        </p:spPr>
      </p:pic>
      <p:sp>
        <p:nvSpPr>
          <p:cNvPr id="3075" name="Rectangle 3"/>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0356" name="Line 4"/>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3077" name="Picture 5" descr="logo_tagblack"/>
          <p:cNvPicPr>
            <a:picLocks noChangeAspect="1" noChangeArrowheads="1"/>
          </p:cNvPicPr>
          <p:nvPr/>
        </p:nvPicPr>
        <p:blipFill>
          <a:blip r:embed="rId14" cstate="print"/>
          <a:srcRect/>
          <a:stretch>
            <a:fillRect/>
          </a:stretch>
        </p:blipFill>
        <p:spPr bwMode="auto">
          <a:xfrm>
            <a:off x="7226300" y="6386513"/>
            <a:ext cx="1485900" cy="333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772" r:id="rId1"/>
    <p:sldLayoutId id="2147485773" r:id="rId2"/>
    <p:sldLayoutId id="2147485774" r:id="rId3"/>
    <p:sldLayoutId id="2147485775" r:id="rId4"/>
    <p:sldLayoutId id="2147485776" r:id="rId5"/>
    <p:sldLayoutId id="2147485777" r:id="rId6"/>
    <p:sldLayoutId id="2147485778" r:id="rId7"/>
    <p:sldLayoutId id="2147485779" r:id="rId8"/>
    <p:sldLayoutId id="2147485780" r:id="rId9"/>
    <p:sldLayoutId id="2147485781" r:id="rId10"/>
    <p:sldLayoutId id="2147485782"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3"/>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1380" name="Line 4"/>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4100" name="Picture 5" descr="logo_tagblack"/>
          <p:cNvPicPr>
            <a:picLocks noChangeAspect="1" noChangeArrowheads="1"/>
          </p:cNvPicPr>
          <p:nvPr/>
        </p:nvPicPr>
        <p:blipFill>
          <a:blip r:embed="rId13" cstate="print"/>
          <a:srcRect/>
          <a:stretch>
            <a:fillRect/>
          </a:stretch>
        </p:blipFill>
        <p:spPr bwMode="auto">
          <a:xfrm>
            <a:off x="7226300" y="6386513"/>
            <a:ext cx="1485900" cy="333375"/>
          </a:xfrm>
          <a:prstGeom prst="rect">
            <a:avLst/>
          </a:prstGeom>
          <a:noFill/>
          <a:ln w="9525">
            <a:noFill/>
            <a:miter lim="800000"/>
            <a:headEnd/>
            <a:tailEnd/>
          </a:ln>
        </p:spPr>
      </p:pic>
      <p:pic>
        <p:nvPicPr>
          <p:cNvPr id="4101" name="Picture 6" descr="Motion_1"/>
          <p:cNvPicPr>
            <a:picLocks noChangeAspect="1" noChangeArrowheads="1"/>
          </p:cNvPicPr>
          <p:nvPr/>
        </p:nvPicPr>
        <p:blipFill>
          <a:blip r:embed="rId14" cstate="print"/>
          <a:srcRect/>
          <a:stretch>
            <a:fillRect/>
          </a:stretch>
        </p:blipFill>
        <p:spPr bwMode="auto">
          <a:xfrm>
            <a:off x="455613" y="1036638"/>
            <a:ext cx="8231187" cy="51974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783" r:id="rId1"/>
    <p:sldLayoutId id="2147485784" r:id="rId2"/>
    <p:sldLayoutId id="2147485785" r:id="rId3"/>
    <p:sldLayoutId id="2147485786" r:id="rId4"/>
    <p:sldLayoutId id="2147485787" r:id="rId5"/>
    <p:sldLayoutId id="2147485788" r:id="rId6"/>
    <p:sldLayoutId id="2147485789" r:id="rId7"/>
    <p:sldLayoutId id="2147485790" r:id="rId8"/>
    <p:sldLayoutId id="2147485791" r:id="rId9"/>
    <p:sldLayoutId id="2147485792" r:id="rId10"/>
    <p:sldLayoutId id="2147485793"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2" name="Picture 2" descr="lines11_fade_crop_subtle"/>
          <p:cNvPicPr>
            <a:picLocks noChangeAspect="1" noChangeArrowheads="1"/>
          </p:cNvPicPr>
          <p:nvPr/>
        </p:nvPicPr>
        <p:blipFill>
          <a:blip r:embed="rId13" cstate="print"/>
          <a:srcRect/>
          <a:stretch>
            <a:fillRect/>
          </a:stretch>
        </p:blipFill>
        <p:spPr bwMode="auto">
          <a:xfrm>
            <a:off x="455613" y="1036638"/>
            <a:ext cx="8231187" cy="5197475"/>
          </a:xfrm>
          <a:prstGeom prst="rect">
            <a:avLst/>
          </a:prstGeom>
          <a:noFill/>
          <a:ln w="9525">
            <a:noFill/>
            <a:miter lim="800000"/>
            <a:headEnd/>
            <a:tailEnd/>
          </a:ln>
        </p:spPr>
      </p:pic>
      <p:sp>
        <p:nvSpPr>
          <p:cNvPr id="5123" name="Rectangle 3"/>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2404" name="Line 4"/>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5125" name="Picture 5" descr="logo_tagblack"/>
          <p:cNvPicPr>
            <a:picLocks noChangeAspect="1" noChangeArrowheads="1"/>
          </p:cNvPicPr>
          <p:nvPr/>
        </p:nvPicPr>
        <p:blipFill>
          <a:blip r:embed="rId14" cstate="print"/>
          <a:srcRect/>
          <a:stretch>
            <a:fillRect/>
          </a:stretch>
        </p:blipFill>
        <p:spPr bwMode="auto">
          <a:xfrm>
            <a:off x="7226300" y="6386513"/>
            <a:ext cx="1485900" cy="333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794" r:id="rId1"/>
    <p:sldLayoutId id="2147485795" r:id="rId2"/>
    <p:sldLayoutId id="2147485796" r:id="rId3"/>
    <p:sldLayoutId id="2147485797" r:id="rId4"/>
    <p:sldLayoutId id="2147485798" r:id="rId5"/>
    <p:sldLayoutId id="2147485799" r:id="rId6"/>
    <p:sldLayoutId id="2147485800" r:id="rId7"/>
    <p:sldLayoutId id="2147485801" r:id="rId8"/>
    <p:sldLayoutId id="2147485802" r:id="rId9"/>
    <p:sldLayoutId id="2147485803" r:id="rId10"/>
    <p:sldLayoutId id="2147485804"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3427" name="Line 3"/>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6148" name="Picture 4" descr="logo_tagblack"/>
          <p:cNvPicPr>
            <a:picLocks noChangeAspect="1" noChangeArrowheads="1"/>
          </p:cNvPicPr>
          <p:nvPr/>
        </p:nvPicPr>
        <p:blipFill>
          <a:blip r:embed="rId13" cstate="print"/>
          <a:srcRect/>
          <a:stretch>
            <a:fillRect/>
          </a:stretch>
        </p:blipFill>
        <p:spPr bwMode="auto">
          <a:xfrm>
            <a:off x="7226300" y="6386513"/>
            <a:ext cx="1485900" cy="333375"/>
          </a:xfrm>
          <a:prstGeom prst="rect">
            <a:avLst/>
          </a:prstGeom>
          <a:noFill/>
          <a:ln w="9525">
            <a:noFill/>
            <a:miter lim="800000"/>
            <a:headEnd/>
            <a:tailEnd/>
          </a:ln>
        </p:spPr>
      </p:pic>
      <p:sp>
        <p:nvSpPr>
          <p:cNvPr id="103444" name="Freeform 20"/>
          <p:cNvSpPr>
            <a:spLocks noChangeAspect="1"/>
          </p:cNvSpPr>
          <p:nvPr/>
        </p:nvSpPr>
        <p:spPr bwMode="auto">
          <a:xfrm>
            <a:off x="457200" y="1028700"/>
            <a:ext cx="8242300" cy="5232400"/>
          </a:xfrm>
          <a:custGeom>
            <a:avLst/>
            <a:gdLst/>
            <a:ahLst/>
            <a:cxnLst>
              <a:cxn ang="0">
                <a:pos x="632" y="0"/>
              </a:cxn>
              <a:cxn ang="0">
                <a:pos x="0" y="3272"/>
              </a:cxn>
              <a:cxn ang="0">
                <a:pos x="5192" y="3272"/>
              </a:cxn>
              <a:cxn ang="0">
                <a:pos x="5192" y="0"/>
              </a:cxn>
              <a:cxn ang="0">
                <a:pos x="632" y="0"/>
              </a:cxn>
            </a:cxnLst>
            <a:rect l="0" t="0" r="r" b="b"/>
            <a:pathLst>
              <a:path w="5192" h="3272">
                <a:moveTo>
                  <a:pt x="632" y="0"/>
                </a:moveTo>
                <a:lnTo>
                  <a:pt x="0" y="3272"/>
                </a:lnTo>
                <a:lnTo>
                  <a:pt x="5192" y="3272"/>
                </a:lnTo>
                <a:lnTo>
                  <a:pt x="5192" y="0"/>
                </a:lnTo>
                <a:lnTo>
                  <a:pt x="632" y="0"/>
                </a:lnTo>
                <a:close/>
              </a:path>
            </a:pathLst>
          </a:custGeom>
          <a:solidFill>
            <a:srgbClr val="FFD200"/>
          </a:solidFill>
          <a:ln w="9525">
            <a:noFill/>
            <a:round/>
            <a:headEnd/>
            <a:tailEnd/>
          </a:ln>
          <a:effectLst/>
        </p:spPr>
        <p:txBody>
          <a:bodyPr/>
          <a:lstStyle/>
          <a:p>
            <a:pPr>
              <a:defRPr/>
            </a:pPr>
            <a:endParaRPr lang="de-DE" dirty="0"/>
          </a:p>
        </p:txBody>
      </p:sp>
    </p:spTree>
  </p:cSld>
  <p:clrMap bg1="lt1" tx1="dk1" bg2="lt2" tx2="dk2" accent1="accent1" accent2="accent2" accent3="accent3" accent4="accent4" accent5="accent5" accent6="accent6" hlink="hlink" folHlink="folHlink"/>
  <p:sldLayoutIdLst>
    <p:sldLayoutId id="2147485805" r:id="rId1"/>
    <p:sldLayoutId id="2147485806" r:id="rId2"/>
    <p:sldLayoutId id="2147485807" r:id="rId3"/>
    <p:sldLayoutId id="2147485808" r:id="rId4"/>
    <p:sldLayoutId id="2147485809" r:id="rId5"/>
    <p:sldLayoutId id="2147485810" r:id="rId6"/>
    <p:sldLayoutId id="2147485811" r:id="rId7"/>
    <p:sldLayoutId id="2147485812" r:id="rId8"/>
    <p:sldLayoutId id="2147485813" r:id="rId9"/>
    <p:sldLayoutId id="2147485814" r:id="rId10"/>
    <p:sldLayoutId id="2147485815"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3.xml"/><Relationship Id="rId7" Type="http://schemas.openxmlformats.org/officeDocument/2006/relationships/slideLayout" Target="../slideLayouts/slideLayout14.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notesSlide" Target="../notesSlides/notesSlide4.xml"/><Relationship Id="rId5" Type="http://schemas.openxmlformats.org/officeDocument/2006/relationships/slideLayout" Target="../slideLayouts/slideLayout14.xml"/><Relationship Id="rId4" Type="http://schemas.openxmlformats.org/officeDocument/2006/relationships/tags" Target="../tags/tag10.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5"/>
          <p:cNvSpPr>
            <a:spLocks noGrp="1" noChangeArrowheads="1"/>
          </p:cNvSpPr>
          <p:nvPr>
            <p:ph type="ctrTitle"/>
          </p:nvPr>
        </p:nvSpPr>
        <p:spPr>
          <a:xfrm>
            <a:off x="3062288" y="3429001"/>
            <a:ext cx="5541962" cy="1066800"/>
          </a:xfrm>
        </p:spPr>
        <p:txBody>
          <a:bodyPr/>
          <a:lstStyle/>
          <a:p>
            <a:pPr eaLnBrk="1" hangingPunct="1"/>
            <a:r>
              <a:rPr lang="en-US" sz="2400" b="0" dirty="0" smtClean="0">
                <a:latin typeface="EYInterstate" pitchFamily="2" charset="0"/>
              </a:rPr>
              <a:t>IT Services</a:t>
            </a:r>
            <a:br>
              <a:rPr lang="en-US" sz="2400" b="0" dirty="0" smtClean="0">
                <a:latin typeface="EYInterstate" pitchFamily="2" charset="0"/>
              </a:rPr>
            </a:br>
            <a:r>
              <a:rPr lang="en-US" sz="2400" b="0" dirty="0" smtClean="0">
                <a:latin typeface="EYInterstate" pitchFamily="2" charset="0"/>
              </a:rPr>
              <a:t>M&amp;C Program IT Service Delivery </a:t>
            </a:r>
            <a:br>
              <a:rPr lang="en-US" sz="2400" b="0" dirty="0" smtClean="0">
                <a:latin typeface="EYInterstate" pitchFamily="2" charset="0"/>
              </a:rPr>
            </a:br>
            <a:r>
              <a:rPr lang="en-US" sz="2400" b="0" dirty="0" smtClean="0">
                <a:latin typeface="EYInterstate" pitchFamily="2" charset="0"/>
              </a:rPr>
              <a:t>Weekly report</a:t>
            </a:r>
            <a:endParaRPr lang="en-US" sz="2400" b="0" dirty="0">
              <a:latin typeface="EYInterstate" pitchFamily="2" charset="0"/>
            </a:endParaRPr>
          </a:p>
        </p:txBody>
      </p:sp>
      <p:sp>
        <p:nvSpPr>
          <p:cNvPr id="8195" name="Rectangle 6"/>
          <p:cNvSpPr>
            <a:spLocks noGrp="1" noChangeArrowheads="1"/>
          </p:cNvSpPr>
          <p:nvPr>
            <p:ph type="subTitle" idx="1"/>
          </p:nvPr>
        </p:nvSpPr>
        <p:spPr>
          <a:xfrm>
            <a:off x="3062288" y="4953000"/>
            <a:ext cx="5541962" cy="1019175"/>
          </a:xfrm>
        </p:spPr>
        <p:txBody>
          <a:bodyPr/>
          <a:lstStyle/>
          <a:p>
            <a:pPr eaLnBrk="1" hangingPunct="1"/>
            <a:r>
              <a:rPr lang="en-GB" sz="1600" dirty="0" smtClean="0">
                <a:latin typeface="EYInterstate" pitchFamily="2" charset="0"/>
              </a:rPr>
              <a:t>12</a:t>
            </a:r>
            <a:r>
              <a:rPr lang="en-GB" sz="1600" baseline="30000" dirty="0" smtClean="0">
                <a:latin typeface="EYInterstate" pitchFamily="2" charset="0"/>
              </a:rPr>
              <a:t>TH</a:t>
            </a:r>
            <a:r>
              <a:rPr lang="en-GB" sz="1600" dirty="0" smtClean="0">
                <a:latin typeface="EYInterstate" pitchFamily="2" charset="0"/>
              </a:rPr>
              <a:t>  June 2012</a:t>
            </a:r>
            <a:endParaRPr lang="en-GB" sz="1600" dirty="0">
              <a:latin typeface="EYInterstate" pitchFamily="2" charset="0"/>
            </a:endParaRPr>
          </a:p>
        </p:txBody>
      </p:sp>
    </p:spTree>
  </p:cSld>
  <p:clrMapOvr>
    <a:masterClrMapping/>
  </p:clrMapOvr>
  <p:transition advTm="1157"/>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l" defTabSz="955675" eaLnBrk="0" hangingPunct="0">
              <a:spcAft>
                <a:spcPts val="0"/>
              </a:spcAft>
              <a:defRPr/>
            </a:pPr>
            <a:r>
              <a:rPr lang="en-US" sz="1600" b="1" kern="0" dirty="0" smtClean="0">
                <a:solidFill>
                  <a:srgbClr val="646464"/>
                </a:solidFill>
                <a:latin typeface="EYInterstate"/>
              </a:rPr>
              <a:t>1. Actions brought forward</a:t>
            </a:r>
            <a:endParaRPr lang="en-US" sz="1600" b="1" kern="0" dirty="0">
              <a:solidFill>
                <a:srgbClr val="646464"/>
              </a:solidFill>
              <a:latin typeface="EYInterstate"/>
            </a:endParaRPr>
          </a:p>
        </p:txBody>
      </p:sp>
      <p:graphicFrame>
        <p:nvGraphicFramePr>
          <p:cNvPr id="3" name="Content Placeholder 3"/>
          <p:cNvGraphicFramePr>
            <a:graphicFrameLocks/>
          </p:cNvGraphicFramePr>
          <p:nvPr/>
        </p:nvGraphicFramePr>
        <p:xfrm>
          <a:off x="227015" y="1188720"/>
          <a:ext cx="8612185" cy="1203960"/>
        </p:xfrm>
        <a:graphic>
          <a:graphicData uri="http://schemas.openxmlformats.org/drawingml/2006/table">
            <a:tbl>
              <a:tblPr firstRow="1" bandRow="1">
                <a:tableStyleId>{5C22544A-7EE6-4342-B048-85BDC9FD1C3A}</a:tableStyleId>
              </a:tblPr>
              <a:tblGrid>
                <a:gridCol w="534985"/>
                <a:gridCol w="1828800"/>
                <a:gridCol w="941642"/>
                <a:gridCol w="764019"/>
                <a:gridCol w="804638"/>
                <a:gridCol w="737933"/>
                <a:gridCol w="615091"/>
                <a:gridCol w="708677"/>
                <a:gridCol w="1035570"/>
                <a:gridCol w="640830"/>
              </a:tblGrid>
              <a:tr h="378117">
                <a:tc>
                  <a:txBody>
                    <a:bodyPr/>
                    <a:lstStyle/>
                    <a:p>
                      <a:pPr algn="l"/>
                      <a:r>
                        <a:rPr lang="en-US" sz="1000" b="1" kern="1200" dirty="0" smtClean="0">
                          <a:solidFill>
                            <a:schemeClr val="lt1"/>
                          </a:solidFill>
                          <a:latin typeface="+mn-lt"/>
                          <a:ea typeface="+mn-ea"/>
                          <a:cs typeface="+mn-cs"/>
                        </a:rPr>
                        <a:t>Ref</a:t>
                      </a:r>
                      <a:endParaRPr lang="en-GB" sz="1000" dirty="0"/>
                    </a:p>
                  </a:txBody>
                  <a:tcPr/>
                </a:tc>
                <a:tc>
                  <a:txBody>
                    <a:bodyPr/>
                    <a:lstStyle/>
                    <a:p>
                      <a:pPr algn="l"/>
                      <a:r>
                        <a:rPr lang="en-US" sz="1100" b="1" kern="1200" dirty="0" smtClean="0">
                          <a:solidFill>
                            <a:schemeClr val="lt1"/>
                          </a:solidFill>
                          <a:latin typeface="+mn-lt"/>
                          <a:ea typeface="+mn-ea"/>
                          <a:cs typeface="+mn-cs"/>
                        </a:rPr>
                        <a:t>Action</a:t>
                      </a:r>
                      <a:endParaRPr lang="en-GB" sz="1100" dirty="0"/>
                    </a:p>
                  </a:txBody>
                  <a:tcPr/>
                </a:tc>
                <a:tc>
                  <a:txBody>
                    <a:bodyPr/>
                    <a:lstStyle/>
                    <a:p>
                      <a:pPr algn="ctr"/>
                      <a:r>
                        <a:rPr lang="en-US" sz="1000" b="1" kern="1200" dirty="0" smtClean="0">
                          <a:solidFill>
                            <a:schemeClr val="lt1"/>
                          </a:solidFill>
                          <a:latin typeface="+mn-lt"/>
                          <a:ea typeface="+mn-ea"/>
                          <a:cs typeface="+mn-cs"/>
                        </a:rPr>
                        <a:t>Who</a:t>
                      </a:r>
                      <a:endParaRPr lang="en-GB" sz="1000" dirty="0"/>
                    </a:p>
                  </a:txBody>
                  <a:tcPr/>
                </a:tc>
                <a:tc>
                  <a:txBody>
                    <a:bodyPr/>
                    <a:lstStyle/>
                    <a:p>
                      <a:pPr algn="ctr"/>
                      <a:r>
                        <a:rPr lang="en-GB" sz="1000" dirty="0" smtClean="0"/>
                        <a:t>Program</a:t>
                      </a:r>
                      <a:endParaRPr lang="en-GB" sz="1000" dirty="0"/>
                    </a:p>
                  </a:txBody>
                  <a:tcPr/>
                </a:tc>
                <a:tc>
                  <a:txBody>
                    <a:bodyPr/>
                    <a:lstStyle/>
                    <a:p>
                      <a:pPr algn="ctr"/>
                      <a:r>
                        <a:rPr lang="en-GB" sz="1000" dirty="0" smtClean="0"/>
                        <a:t>Status</a:t>
                      </a:r>
                      <a:endParaRPr lang="en-GB" sz="1000" dirty="0"/>
                    </a:p>
                  </a:txBody>
                  <a:tcPr/>
                </a:tc>
                <a:tc>
                  <a:txBody>
                    <a:bodyPr/>
                    <a:lstStyle/>
                    <a:p>
                      <a:pPr algn="ctr"/>
                      <a:r>
                        <a:rPr lang="en-US" sz="1000" b="1" kern="1200" dirty="0" smtClean="0">
                          <a:solidFill>
                            <a:schemeClr val="lt1"/>
                          </a:solidFill>
                          <a:latin typeface="+mn-lt"/>
                          <a:ea typeface="+mn-ea"/>
                          <a:cs typeface="+mn-cs"/>
                        </a:rPr>
                        <a:t>Original target</a:t>
                      </a:r>
                      <a:r>
                        <a:rPr lang="en-US" sz="1000" b="1" kern="1200" baseline="0" dirty="0" smtClean="0">
                          <a:solidFill>
                            <a:schemeClr val="lt1"/>
                          </a:solidFill>
                          <a:latin typeface="+mn-lt"/>
                          <a:ea typeface="+mn-ea"/>
                          <a:cs typeface="+mn-cs"/>
                        </a:rPr>
                        <a:t> date</a:t>
                      </a:r>
                      <a:endParaRPr lang="en-GB" sz="1000" dirty="0"/>
                    </a:p>
                  </a:txBody>
                  <a:tcPr/>
                </a:tc>
                <a:tc>
                  <a:txBody>
                    <a:bodyPr/>
                    <a:lstStyle/>
                    <a:p>
                      <a:pPr algn="ctr"/>
                      <a:r>
                        <a:rPr lang="en-GB" sz="1000" dirty="0" smtClean="0"/>
                        <a:t>New target date</a:t>
                      </a:r>
                      <a:endParaRPr lang="en-GB" sz="1000" dirty="0"/>
                    </a:p>
                  </a:txBody>
                  <a:tcPr/>
                </a:tc>
                <a:tc>
                  <a:txBody>
                    <a:bodyPr/>
                    <a:lstStyle/>
                    <a:p>
                      <a:pPr marL="0" indent="0" algn="ctr" defTabSz="914400" rtl="0" eaLnBrk="1" latinLnBrk="0" hangingPunct="1"/>
                      <a:r>
                        <a:rPr lang="en-GB" sz="1000" b="1" kern="1200" dirty="0" smtClean="0">
                          <a:solidFill>
                            <a:schemeClr val="lt1"/>
                          </a:solidFill>
                          <a:latin typeface="+mn-lt"/>
                          <a:ea typeface="+mn-ea"/>
                          <a:cs typeface="+mn-cs"/>
                        </a:rPr>
                        <a:t>Update</a:t>
                      </a:r>
                      <a:endParaRPr lang="en-GB" sz="1000" b="1" kern="1200" dirty="0">
                        <a:solidFill>
                          <a:schemeClr val="lt1"/>
                        </a:solidFill>
                        <a:latin typeface="+mn-lt"/>
                        <a:ea typeface="+mn-ea"/>
                        <a:cs typeface="+mn-cs"/>
                      </a:endParaRPr>
                    </a:p>
                  </a:txBody>
                  <a:tcPr/>
                </a:tc>
                <a:tc>
                  <a:txBody>
                    <a:bodyPr/>
                    <a:lstStyle/>
                    <a:p>
                      <a:pPr marL="0" algn="ctr" defTabSz="914400" rtl="0" eaLnBrk="1" latinLnBrk="0" hangingPunct="1"/>
                      <a:r>
                        <a:rPr lang="en-US" sz="1000" b="1" kern="1200" dirty="0" smtClean="0">
                          <a:solidFill>
                            <a:schemeClr val="lt1"/>
                          </a:solidFill>
                          <a:latin typeface="+mn-lt"/>
                          <a:ea typeface="+mn-ea"/>
                          <a:cs typeface="+mn-cs"/>
                        </a:rPr>
                        <a:t>Date opened</a:t>
                      </a:r>
                      <a:endParaRPr lang="en-GB" sz="1000" b="1" kern="1200" dirty="0">
                        <a:solidFill>
                          <a:schemeClr val="lt1"/>
                        </a:solidFill>
                        <a:latin typeface="+mn-lt"/>
                        <a:ea typeface="+mn-ea"/>
                        <a:cs typeface="+mn-cs"/>
                      </a:endParaRPr>
                    </a:p>
                  </a:txBody>
                  <a:tcPr/>
                </a:tc>
                <a:tc>
                  <a:txBody>
                    <a:bodyPr/>
                    <a:lstStyle/>
                    <a:p>
                      <a:pPr marL="0" algn="ctr" defTabSz="914400" rtl="0" eaLnBrk="1" latinLnBrk="0" hangingPunct="1"/>
                      <a:r>
                        <a:rPr lang="en-GB" sz="1000" b="1" kern="1200" dirty="0" smtClean="0">
                          <a:solidFill>
                            <a:schemeClr val="lt1"/>
                          </a:solidFill>
                          <a:latin typeface="+mn-lt"/>
                          <a:ea typeface="+mn-ea"/>
                          <a:cs typeface="+mn-cs"/>
                        </a:rPr>
                        <a:t>Date closed</a:t>
                      </a:r>
                      <a:endParaRPr lang="en-GB" sz="1000" b="1" kern="1200" dirty="0">
                        <a:solidFill>
                          <a:schemeClr val="lt1"/>
                        </a:solidFill>
                        <a:latin typeface="+mn-lt"/>
                        <a:ea typeface="+mn-ea"/>
                        <a:cs typeface="+mn-cs"/>
                      </a:endParaRPr>
                    </a:p>
                  </a:txBody>
                  <a:tcPr/>
                </a:tc>
              </a:tr>
              <a:tr h="167640">
                <a:tc>
                  <a:txBody>
                    <a:bodyPr/>
                    <a:lstStyle/>
                    <a:p>
                      <a:pPr algn="l" hangingPunct="0">
                        <a:spcBef>
                          <a:spcPts val="500"/>
                        </a:spcBef>
                        <a:spcAft>
                          <a:spcPts val="500"/>
                        </a:spcAft>
                      </a:pPr>
                      <a:endParaRPr lang="en-GB" sz="900" dirty="0">
                        <a:latin typeface="+mn-lt"/>
                        <a:ea typeface="Times New Roman"/>
                        <a:cs typeface="Times New Roman"/>
                      </a:endParaRPr>
                    </a:p>
                  </a:txBody>
                  <a:tcPr marL="44450" marR="44450" marT="0" marB="0"/>
                </a:tc>
                <a:tc>
                  <a:txBody>
                    <a:bodyPr/>
                    <a:lstStyle/>
                    <a:p>
                      <a:pPr marL="46990" algn="l" hangingPunct="0">
                        <a:spcBef>
                          <a:spcPts val="500"/>
                        </a:spcBef>
                        <a:spcAft>
                          <a:spcPts val="500"/>
                        </a:spcAft>
                      </a:pPr>
                      <a:r>
                        <a:rPr lang="en-GB" sz="700" dirty="0" smtClean="0">
                          <a:solidFill>
                            <a:srgbClr val="000000"/>
                          </a:solidFill>
                          <a:latin typeface="EYInterstate Light" pitchFamily="2" charset="0"/>
                          <a:ea typeface="Times New Roman"/>
                          <a:cs typeface="Times New Roman"/>
                        </a:rPr>
                        <a:t>SP need to resolve</a:t>
                      </a:r>
                      <a:r>
                        <a:rPr lang="en-GB" sz="700" baseline="0" dirty="0" smtClean="0">
                          <a:solidFill>
                            <a:srgbClr val="000000"/>
                          </a:solidFill>
                          <a:latin typeface="EYInterstate Light" pitchFamily="2" charset="0"/>
                          <a:ea typeface="Times New Roman"/>
                          <a:cs typeface="Times New Roman"/>
                        </a:rPr>
                        <a:t> budget issues.</a:t>
                      </a:r>
                      <a:endParaRPr lang="en-GB" sz="700" dirty="0">
                        <a:solidFill>
                          <a:srgbClr val="000000"/>
                        </a:solidFill>
                        <a:latin typeface="EYInterstate Light" pitchFamily="2" charset="0"/>
                        <a:ea typeface="Times New Roman"/>
                        <a:cs typeface="Times New Roman"/>
                      </a:endParaRPr>
                    </a:p>
                  </a:txBody>
                  <a:tcPr marL="44450" marR="44450" marT="0" marB="0"/>
                </a:tc>
                <a:tc>
                  <a:txBody>
                    <a:bodyPr/>
                    <a:lstStyle/>
                    <a:p>
                      <a:pPr algn="ctr" hangingPunct="0">
                        <a:spcBef>
                          <a:spcPts val="500"/>
                        </a:spcBef>
                        <a:spcAft>
                          <a:spcPts val="500"/>
                        </a:spcAft>
                      </a:pPr>
                      <a:r>
                        <a:rPr lang="en-GB" sz="700" dirty="0" smtClean="0">
                          <a:solidFill>
                            <a:srgbClr val="000000"/>
                          </a:solidFill>
                          <a:latin typeface="EYInterstate Light" pitchFamily="2" charset="0"/>
                          <a:ea typeface="Times New Roman"/>
                          <a:cs typeface="Times New Roman"/>
                        </a:rPr>
                        <a:t>Andy</a:t>
                      </a:r>
                      <a:r>
                        <a:rPr lang="en-GB" sz="700" baseline="0" dirty="0" smtClean="0">
                          <a:solidFill>
                            <a:srgbClr val="000000"/>
                          </a:solidFill>
                          <a:latin typeface="EYInterstate Light" pitchFamily="2" charset="0"/>
                          <a:ea typeface="Times New Roman"/>
                          <a:cs typeface="Times New Roman"/>
                        </a:rPr>
                        <a:t> </a:t>
                      </a:r>
                      <a:r>
                        <a:rPr lang="en-GB" sz="700" baseline="0" dirty="0" err="1" smtClean="0">
                          <a:solidFill>
                            <a:srgbClr val="000000"/>
                          </a:solidFill>
                          <a:latin typeface="EYInterstate Light" pitchFamily="2" charset="0"/>
                          <a:ea typeface="Times New Roman"/>
                          <a:cs typeface="Times New Roman"/>
                        </a:rPr>
                        <a:t>Ioannou</a:t>
                      </a:r>
                      <a:endParaRPr lang="en-GB" sz="700" dirty="0">
                        <a:solidFill>
                          <a:srgbClr val="000000"/>
                        </a:solidFill>
                        <a:latin typeface="EYInterstate Light" pitchFamily="2" charset="0"/>
                        <a:ea typeface="Times New Roman"/>
                        <a:cs typeface="Times New Roman"/>
                      </a:endParaRPr>
                    </a:p>
                  </a:txBody>
                  <a:tcPr marL="44450" marR="44450" marT="0" marB="0"/>
                </a:tc>
                <a:tc>
                  <a:txBody>
                    <a:bodyPr/>
                    <a:lstStyle/>
                    <a:p>
                      <a:pPr algn="ctr" hangingPunct="0">
                        <a:spcBef>
                          <a:spcPts val="500"/>
                        </a:spcBef>
                        <a:spcAft>
                          <a:spcPts val="500"/>
                        </a:spcAft>
                      </a:pPr>
                      <a:r>
                        <a:rPr lang="en-GB" sz="700" dirty="0" smtClean="0">
                          <a:solidFill>
                            <a:srgbClr val="000000"/>
                          </a:solidFill>
                          <a:latin typeface="EYInterstate Light" pitchFamily="2" charset="0"/>
                          <a:ea typeface="Times New Roman"/>
                          <a:cs typeface="Times New Roman"/>
                        </a:rPr>
                        <a:t>M&amp;C</a:t>
                      </a:r>
                      <a:endParaRPr lang="en-GB" sz="700" dirty="0">
                        <a:solidFill>
                          <a:srgbClr val="000000"/>
                        </a:solidFill>
                        <a:latin typeface="EYInterstate Light" pitchFamily="2" charset="0"/>
                        <a:ea typeface="Times New Roman"/>
                        <a:cs typeface="Times New Roman"/>
                      </a:endParaRPr>
                    </a:p>
                  </a:txBody>
                  <a:tcPr marL="44450" marR="44450" marT="0" marB="0"/>
                </a:tc>
                <a:tc>
                  <a:txBody>
                    <a:bodyPr/>
                    <a:lstStyle/>
                    <a:p>
                      <a:pPr marL="46990" algn="ctr" hangingPunct="0">
                        <a:spcBef>
                          <a:spcPts val="300"/>
                        </a:spcBef>
                        <a:spcAft>
                          <a:spcPts val="300"/>
                        </a:spcAft>
                      </a:pPr>
                      <a:r>
                        <a:rPr lang="en-GB" sz="700" dirty="0" smtClean="0">
                          <a:solidFill>
                            <a:srgbClr val="000000"/>
                          </a:solidFill>
                          <a:latin typeface="EYInterstate Light" pitchFamily="2" charset="0"/>
                          <a:ea typeface="Times New Roman"/>
                          <a:cs typeface="Times New Roman"/>
                        </a:rPr>
                        <a:t>Ongoing</a:t>
                      </a:r>
                      <a:endParaRPr lang="en-GB" sz="700" dirty="0">
                        <a:solidFill>
                          <a:srgbClr val="000000"/>
                        </a:solidFill>
                        <a:latin typeface="EYInterstate Light" pitchFamily="2" charset="0"/>
                        <a:ea typeface="Times New Roman"/>
                        <a:cs typeface="Times New Roman"/>
                      </a:endParaRPr>
                    </a:p>
                  </a:txBody>
                  <a:tcPr marL="44450" marR="44450" marT="0" marB="0"/>
                </a:tc>
                <a:tc>
                  <a:txBody>
                    <a:bodyPr/>
                    <a:lstStyle/>
                    <a:p>
                      <a:pPr marL="46990" algn="ctr" hangingPunct="0">
                        <a:spcBef>
                          <a:spcPts val="300"/>
                        </a:spcBef>
                        <a:spcAft>
                          <a:spcPts val="300"/>
                        </a:spcAft>
                      </a:pPr>
                      <a:r>
                        <a:rPr lang="en-GB" sz="700" dirty="0" smtClean="0">
                          <a:solidFill>
                            <a:srgbClr val="000000"/>
                          </a:solidFill>
                          <a:latin typeface="EYInterstate Light" pitchFamily="2" charset="0"/>
                          <a:ea typeface="Times New Roman"/>
                          <a:cs typeface="Times New Roman"/>
                        </a:rPr>
                        <a:t>-</a:t>
                      </a:r>
                      <a:endParaRPr lang="en-GB" sz="700" dirty="0">
                        <a:solidFill>
                          <a:srgbClr val="000000"/>
                        </a:solidFill>
                        <a:latin typeface="EYInterstate Light" pitchFamily="2" charset="0"/>
                        <a:ea typeface="Times New Roman"/>
                        <a:cs typeface="Times New Roman"/>
                      </a:endParaRPr>
                    </a:p>
                  </a:txBody>
                  <a:tcPr marL="44450" marR="44450" marT="0" marB="0"/>
                </a:tc>
                <a:tc>
                  <a:txBody>
                    <a:bodyPr/>
                    <a:lstStyle/>
                    <a:p>
                      <a:pPr marL="46990" algn="ctr" hangingPunct="0">
                        <a:spcBef>
                          <a:spcPts val="300"/>
                        </a:spcBef>
                        <a:spcAft>
                          <a:spcPts val="300"/>
                        </a:spcAft>
                      </a:pPr>
                      <a:r>
                        <a:rPr lang="en-GB" sz="700" dirty="0" smtClean="0">
                          <a:solidFill>
                            <a:srgbClr val="000000"/>
                          </a:solidFill>
                          <a:latin typeface="EYInterstate Light" pitchFamily="2" charset="0"/>
                          <a:ea typeface="Times New Roman"/>
                          <a:cs typeface="Times New Roman"/>
                        </a:rPr>
                        <a:t>-</a:t>
                      </a:r>
                      <a:endParaRPr lang="en-GB" sz="700" dirty="0">
                        <a:solidFill>
                          <a:srgbClr val="000000"/>
                        </a:solidFill>
                        <a:latin typeface="EYInterstate Light" pitchFamily="2" charset="0"/>
                        <a:ea typeface="Times New Roman"/>
                        <a:cs typeface="Times New Roman"/>
                      </a:endParaRPr>
                    </a:p>
                  </a:txBody>
                  <a:tcPr marL="44450" marR="44450" marT="0" marB="0"/>
                </a:tc>
                <a:tc>
                  <a:txBody>
                    <a:bodyPr/>
                    <a:lstStyle/>
                    <a:p>
                      <a:pPr marL="46990" algn="ctr" hangingPunct="0">
                        <a:spcBef>
                          <a:spcPts val="300"/>
                        </a:spcBef>
                        <a:spcAft>
                          <a:spcPts val="300"/>
                        </a:spcAft>
                      </a:pPr>
                      <a:endParaRPr lang="en-GB" sz="700" dirty="0">
                        <a:solidFill>
                          <a:srgbClr val="000000"/>
                        </a:solidFill>
                        <a:latin typeface="EYInterstate Light" pitchFamily="2" charset="0"/>
                        <a:ea typeface="Times New Roman"/>
                        <a:cs typeface="Times New Roman"/>
                      </a:endParaRPr>
                    </a:p>
                  </a:txBody>
                  <a:tcPr marL="44450" marR="44450" marT="0" marB="0"/>
                </a:tc>
                <a:tc>
                  <a:txBody>
                    <a:bodyPr/>
                    <a:lstStyle/>
                    <a:p>
                      <a:pPr marL="46990" algn="ctr" hangingPunct="0">
                        <a:spcBef>
                          <a:spcPts val="300"/>
                        </a:spcBef>
                        <a:spcAft>
                          <a:spcPts val="300"/>
                        </a:spcAft>
                      </a:pPr>
                      <a:r>
                        <a:rPr lang="en-GB" sz="700" dirty="0" smtClean="0">
                          <a:solidFill>
                            <a:srgbClr val="000000"/>
                          </a:solidFill>
                          <a:latin typeface="EYInterstate Light" pitchFamily="2" charset="0"/>
                          <a:ea typeface="Times New Roman"/>
                          <a:cs typeface="Times New Roman"/>
                        </a:rPr>
                        <a:t>27/02/2012</a:t>
                      </a:r>
                      <a:endParaRPr lang="en-GB" sz="700" dirty="0">
                        <a:solidFill>
                          <a:srgbClr val="000000"/>
                        </a:solidFill>
                        <a:latin typeface="EYInterstate Light" pitchFamily="2" charset="0"/>
                        <a:ea typeface="Times New Roman"/>
                        <a:cs typeface="Times New Roman"/>
                      </a:endParaRPr>
                    </a:p>
                  </a:txBody>
                  <a:tcPr marL="44450" marR="44450" marT="0" marB="0"/>
                </a:tc>
                <a:tc>
                  <a:txBody>
                    <a:bodyPr/>
                    <a:lstStyle/>
                    <a:p>
                      <a:pPr marL="46990" algn="ctr" hangingPunct="0">
                        <a:spcBef>
                          <a:spcPts val="300"/>
                        </a:spcBef>
                        <a:spcAft>
                          <a:spcPts val="300"/>
                        </a:spcAft>
                      </a:pPr>
                      <a:endParaRPr lang="en-GB" sz="800" dirty="0">
                        <a:latin typeface="+mn-lt"/>
                        <a:ea typeface="Times New Roman"/>
                        <a:cs typeface="Times New Roman"/>
                      </a:endParaRPr>
                    </a:p>
                  </a:txBody>
                  <a:tcPr marL="44450" marR="44450" marT="0" marB="0"/>
                </a:tc>
              </a:tr>
              <a:tr h="60960">
                <a:tc>
                  <a:txBody>
                    <a:bodyPr/>
                    <a:lstStyle/>
                    <a:p>
                      <a:pPr algn="l" hangingPunct="0">
                        <a:spcBef>
                          <a:spcPts val="500"/>
                        </a:spcBef>
                        <a:spcAft>
                          <a:spcPts val="500"/>
                        </a:spcAft>
                      </a:pPr>
                      <a:endParaRPr lang="en-GB" sz="900" dirty="0">
                        <a:latin typeface="+mn-lt"/>
                        <a:ea typeface="Times New Roman"/>
                        <a:cs typeface="Times New Roman"/>
                      </a:endParaRPr>
                    </a:p>
                  </a:txBody>
                  <a:tcPr marL="36195" marR="36195" marT="0" marB="0"/>
                </a:tc>
                <a:tc>
                  <a:txBody>
                    <a:bodyPr/>
                    <a:lstStyle/>
                    <a:p>
                      <a:pPr marL="46990" algn="l" hangingPunct="0">
                        <a:spcBef>
                          <a:spcPts val="500"/>
                        </a:spcBef>
                        <a:spcAft>
                          <a:spcPts val="500"/>
                        </a:spcAft>
                      </a:pPr>
                      <a:r>
                        <a:rPr lang="en-GB" sz="700" dirty="0" smtClean="0">
                          <a:solidFill>
                            <a:srgbClr val="000000"/>
                          </a:solidFill>
                          <a:latin typeface="+mn-lt"/>
                          <a:ea typeface="Times New Roman"/>
                          <a:cs typeface="Times New Roman"/>
                        </a:rPr>
                        <a:t>Ensure</a:t>
                      </a:r>
                      <a:r>
                        <a:rPr lang="en-GB" sz="700" baseline="0" dirty="0" smtClean="0">
                          <a:solidFill>
                            <a:srgbClr val="000000"/>
                          </a:solidFill>
                          <a:latin typeface="+mn-lt"/>
                          <a:ea typeface="Times New Roman"/>
                          <a:cs typeface="Times New Roman"/>
                        </a:rPr>
                        <a:t> holidays are factored into resource plans. </a:t>
                      </a:r>
                      <a:endParaRPr lang="en-GB" sz="700" dirty="0">
                        <a:solidFill>
                          <a:srgbClr val="000000"/>
                        </a:solidFill>
                        <a:latin typeface="+mn-lt"/>
                        <a:ea typeface="Times New Roman"/>
                        <a:cs typeface="Times New Roman"/>
                      </a:endParaRPr>
                    </a:p>
                  </a:txBody>
                  <a:tcPr marL="36195" marR="36195" marT="0" marB="0"/>
                </a:tc>
                <a:tc>
                  <a:txBody>
                    <a:bodyPr/>
                    <a:lstStyle/>
                    <a:p>
                      <a:pPr algn="ctr" hangingPunct="0">
                        <a:spcBef>
                          <a:spcPts val="500"/>
                        </a:spcBef>
                        <a:spcAft>
                          <a:spcPts val="500"/>
                        </a:spcAft>
                      </a:pPr>
                      <a:r>
                        <a:rPr lang="en-GB" sz="700" dirty="0" smtClean="0">
                          <a:solidFill>
                            <a:srgbClr val="000000"/>
                          </a:solidFill>
                          <a:latin typeface="+mn-lt"/>
                          <a:ea typeface="Times New Roman"/>
                          <a:cs typeface="Times New Roman"/>
                        </a:rPr>
                        <a:t>All</a:t>
                      </a:r>
                      <a:endParaRPr lang="en-GB" sz="700" dirty="0">
                        <a:solidFill>
                          <a:srgbClr val="000000"/>
                        </a:solidFill>
                        <a:latin typeface="+mn-lt"/>
                        <a:ea typeface="Times New Roman"/>
                        <a:cs typeface="Times New Roman"/>
                      </a:endParaRPr>
                    </a:p>
                  </a:txBody>
                  <a:tcPr marL="36195" marR="36195" marT="0" marB="0"/>
                </a:tc>
                <a:tc>
                  <a:txBody>
                    <a:bodyPr/>
                    <a:lstStyle/>
                    <a:p>
                      <a:pPr algn="ctr" hangingPunct="0">
                        <a:spcBef>
                          <a:spcPts val="500"/>
                        </a:spcBef>
                        <a:spcAft>
                          <a:spcPts val="500"/>
                        </a:spcAft>
                      </a:pPr>
                      <a:r>
                        <a:rPr lang="en-GB" sz="700" dirty="0" smtClean="0">
                          <a:solidFill>
                            <a:srgbClr val="000000"/>
                          </a:solidFill>
                          <a:latin typeface="+mn-lt"/>
                          <a:ea typeface="Times New Roman"/>
                          <a:cs typeface="Times New Roman"/>
                        </a:rPr>
                        <a:t>M&amp;C</a:t>
                      </a:r>
                      <a:endParaRPr lang="en-GB" sz="700" dirty="0">
                        <a:solidFill>
                          <a:srgbClr val="000000"/>
                        </a:solidFill>
                        <a:latin typeface="+mn-lt"/>
                        <a:ea typeface="Times New Roman"/>
                        <a:cs typeface="Times New Roman"/>
                      </a:endParaRPr>
                    </a:p>
                  </a:txBody>
                  <a:tcPr marL="36195" marR="36195" marT="0" marB="0"/>
                </a:tc>
                <a:tc>
                  <a:txBody>
                    <a:bodyPr/>
                    <a:lstStyle/>
                    <a:p>
                      <a:pPr algn="ctr" hangingPunct="0">
                        <a:spcBef>
                          <a:spcPts val="500"/>
                        </a:spcBef>
                        <a:spcAft>
                          <a:spcPts val="500"/>
                        </a:spcAft>
                      </a:pPr>
                      <a:r>
                        <a:rPr lang="en-GB" sz="700" dirty="0" smtClean="0">
                          <a:solidFill>
                            <a:srgbClr val="000000"/>
                          </a:solidFill>
                          <a:latin typeface="+mn-lt"/>
                          <a:ea typeface="Times New Roman"/>
                          <a:cs typeface="Times New Roman"/>
                        </a:rPr>
                        <a:t>-</a:t>
                      </a:r>
                      <a:endParaRPr lang="en-GB" sz="700" dirty="0">
                        <a:solidFill>
                          <a:srgbClr val="000000"/>
                        </a:solidFill>
                        <a:latin typeface="+mn-lt"/>
                        <a:ea typeface="Times New Roman"/>
                        <a:cs typeface="Times New Roman"/>
                      </a:endParaRPr>
                    </a:p>
                  </a:txBody>
                  <a:tcPr marL="36195" marR="36195" marT="0" marB="0"/>
                </a:tc>
                <a:tc>
                  <a:txBody>
                    <a:bodyPr/>
                    <a:lstStyle/>
                    <a:p>
                      <a:pPr algn="ctr" hangingPunct="0">
                        <a:spcBef>
                          <a:spcPts val="500"/>
                        </a:spcBef>
                        <a:spcAft>
                          <a:spcPts val="500"/>
                        </a:spcAft>
                      </a:pPr>
                      <a:r>
                        <a:rPr lang="en-GB" sz="700" dirty="0" smtClean="0">
                          <a:solidFill>
                            <a:srgbClr val="000000"/>
                          </a:solidFill>
                          <a:latin typeface="+mn-lt"/>
                          <a:ea typeface="Times New Roman"/>
                          <a:cs typeface="Times New Roman"/>
                        </a:rPr>
                        <a:t>-</a:t>
                      </a:r>
                      <a:endParaRPr lang="en-GB" sz="700" dirty="0">
                        <a:solidFill>
                          <a:srgbClr val="000000"/>
                        </a:solidFill>
                        <a:latin typeface="+mn-lt"/>
                        <a:ea typeface="Times New Roman"/>
                        <a:cs typeface="Times New Roman"/>
                      </a:endParaRPr>
                    </a:p>
                  </a:txBody>
                  <a:tcPr marL="36195" marR="36195" marT="0" marB="0"/>
                </a:tc>
                <a:tc>
                  <a:txBody>
                    <a:bodyPr/>
                    <a:lstStyle/>
                    <a:p>
                      <a:pPr algn="ctr" hangingPunct="0">
                        <a:spcBef>
                          <a:spcPts val="500"/>
                        </a:spcBef>
                        <a:spcAft>
                          <a:spcPts val="500"/>
                        </a:spcAft>
                      </a:pPr>
                      <a:r>
                        <a:rPr lang="en-GB" sz="700" dirty="0" smtClean="0">
                          <a:solidFill>
                            <a:srgbClr val="000000"/>
                          </a:solidFill>
                          <a:latin typeface="+mn-lt"/>
                          <a:ea typeface="Times New Roman"/>
                          <a:cs typeface="Times New Roman"/>
                        </a:rPr>
                        <a:t>-</a:t>
                      </a:r>
                      <a:endParaRPr lang="en-GB" sz="700" dirty="0">
                        <a:solidFill>
                          <a:srgbClr val="000000"/>
                        </a:solidFill>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r>
                        <a:rPr lang="en-GB" sz="700" dirty="0" smtClean="0">
                          <a:solidFill>
                            <a:srgbClr val="000000"/>
                          </a:solidFill>
                          <a:latin typeface="+mn-lt"/>
                          <a:ea typeface="Times New Roman"/>
                          <a:cs typeface="Times New Roman"/>
                        </a:rPr>
                        <a:t>-</a:t>
                      </a:r>
                      <a:endParaRPr lang="en-GB" sz="700" dirty="0">
                        <a:solidFill>
                          <a:srgbClr val="000000"/>
                        </a:solidFill>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r>
                        <a:rPr lang="en-GB" sz="700" dirty="0" smtClean="0">
                          <a:solidFill>
                            <a:srgbClr val="000000"/>
                          </a:solidFill>
                          <a:latin typeface="+mn-lt"/>
                          <a:ea typeface="Times New Roman"/>
                          <a:cs typeface="Times New Roman"/>
                        </a:rPr>
                        <a:t>23/04/12</a:t>
                      </a:r>
                      <a:endParaRPr lang="en-GB" sz="700" dirty="0">
                        <a:solidFill>
                          <a:srgbClr val="000000"/>
                        </a:solidFill>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endParaRPr lang="en-GB" sz="800" dirty="0">
                        <a:solidFill>
                          <a:srgbClr val="000000"/>
                        </a:solidFill>
                        <a:latin typeface="+mn-lt"/>
                        <a:ea typeface="Times New Roman"/>
                        <a:cs typeface="Times New Roman"/>
                      </a:endParaRPr>
                    </a:p>
                  </a:txBody>
                  <a:tcPr marL="36195" marR="36195" marT="0" marB="0"/>
                </a:tc>
              </a:tr>
              <a:tr h="60960">
                <a:tc>
                  <a:txBody>
                    <a:bodyPr/>
                    <a:lstStyle/>
                    <a:p>
                      <a:pPr algn="l" hangingPunct="0">
                        <a:spcBef>
                          <a:spcPts val="500"/>
                        </a:spcBef>
                        <a:spcAft>
                          <a:spcPts val="500"/>
                        </a:spcAft>
                      </a:pPr>
                      <a:endParaRPr lang="en-GB" sz="900" dirty="0">
                        <a:latin typeface="+mn-lt"/>
                        <a:ea typeface="Times New Roman"/>
                        <a:cs typeface="Times New Roman"/>
                      </a:endParaRPr>
                    </a:p>
                  </a:txBody>
                  <a:tcPr marL="36195" marR="36195" marT="0" marB="0"/>
                </a:tc>
                <a:tc>
                  <a:txBody>
                    <a:bodyPr/>
                    <a:lstStyle/>
                    <a:p>
                      <a:pPr marL="46990" algn="l" hangingPunct="0">
                        <a:spcBef>
                          <a:spcPts val="500"/>
                        </a:spcBef>
                        <a:spcAft>
                          <a:spcPts val="500"/>
                        </a:spcAft>
                      </a:pPr>
                      <a:r>
                        <a:rPr lang="en-GB" sz="700" dirty="0" smtClean="0">
                          <a:solidFill>
                            <a:schemeClr val="tx1">
                              <a:lumMod val="50000"/>
                            </a:schemeClr>
                          </a:solidFill>
                          <a:latin typeface="+mn-lt"/>
                          <a:ea typeface="Times New Roman"/>
                          <a:cs typeface="Times New Roman"/>
                        </a:rPr>
                        <a:t>Raise</a:t>
                      </a:r>
                      <a:r>
                        <a:rPr lang="en-GB" sz="700" baseline="0" dirty="0" smtClean="0">
                          <a:solidFill>
                            <a:schemeClr val="tx1">
                              <a:lumMod val="50000"/>
                            </a:schemeClr>
                          </a:solidFill>
                          <a:latin typeface="+mn-lt"/>
                          <a:ea typeface="Times New Roman"/>
                          <a:cs typeface="Times New Roman"/>
                        </a:rPr>
                        <a:t> SP15 CR </a:t>
                      </a:r>
                      <a:endParaRPr lang="en-GB" sz="700" dirty="0">
                        <a:solidFill>
                          <a:schemeClr val="tx1">
                            <a:lumMod val="50000"/>
                          </a:schemeClr>
                        </a:solidFill>
                        <a:latin typeface="+mn-lt"/>
                        <a:ea typeface="Times New Roman"/>
                        <a:cs typeface="Times New Roman"/>
                      </a:endParaRPr>
                    </a:p>
                  </a:txBody>
                  <a:tcPr marL="36195" marR="36195" marT="0" marB="0"/>
                </a:tc>
                <a:tc>
                  <a:txBody>
                    <a:bodyPr/>
                    <a:lstStyle/>
                    <a:p>
                      <a:pPr algn="ctr" hangingPunct="0">
                        <a:spcBef>
                          <a:spcPts val="500"/>
                        </a:spcBef>
                        <a:spcAft>
                          <a:spcPts val="500"/>
                        </a:spcAft>
                      </a:pPr>
                      <a:r>
                        <a:rPr lang="en-GB" sz="700" dirty="0" smtClean="0">
                          <a:solidFill>
                            <a:schemeClr val="tx1">
                              <a:lumMod val="50000"/>
                            </a:schemeClr>
                          </a:solidFill>
                          <a:latin typeface="+mn-lt"/>
                          <a:ea typeface="Times New Roman"/>
                          <a:cs typeface="Times New Roman"/>
                        </a:rPr>
                        <a:t>Andy </a:t>
                      </a:r>
                      <a:r>
                        <a:rPr lang="en-GB" sz="700" dirty="0" err="1" smtClean="0">
                          <a:solidFill>
                            <a:schemeClr val="tx1">
                              <a:lumMod val="50000"/>
                            </a:schemeClr>
                          </a:solidFill>
                          <a:latin typeface="+mn-lt"/>
                          <a:ea typeface="Times New Roman"/>
                          <a:cs typeface="Times New Roman"/>
                        </a:rPr>
                        <a:t>Ioannou</a:t>
                      </a:r>
                      <a:endParaRPr lang="en-GB" sz="700" dirty="0">
                        <a:solidFill>
                          <a:schemeClr val="tx1">
                            <a:lumMod val="50000"/>
                          </a:schemeClr>
                        </a:solidFill>
                        <a:latin typeface="+mn-lt"/>
                        <a:ea typeface="Times New Roman"/>
                        <a:cs typeface="Times New Roman"/>
                      </a:endParaRPr>
                    </a:p>
                  </a:txBody>
                  <a:tcPr marL="36195" marR="36195" marT="0" marB="0"/>
                </a:tc>
                <a:tc>
                  <a:txBody>
                    <a:bodyPr/>
                    <a:lstStyle/>
                    <a:p>
                      <a:pPr algn="ctr" hangingPunct="0">
                        <a:spcBef>
                          <a:spcPts val="500"/>
                        </a:spcBef>
                        <a:spcAft>
                          <a:spcPts val="500"/>
                        </a:spcAft>
                      </a:pPr>
                      <a:r>
                        <a:rPr lang="en-GB" sz="700" dirty="0" smtClean="0">
                          <a:solidFill>
                            <a:schemeClr val="tx1">
                              <a:lumMod val="50000"/>
                            </a:schemeClr>
                          </a:solidFill>
                          <a:latin typeface="+mn-lt"/>
                          <a:ea typeface="Times New Roman"/>
                          <a:cs typeface="Times New Roman"/>
                        </a:rPr>
                        <a:t>M&amp;C</a:t>
                      </a:r>
                      <a:endParaRPr lang="en-GB" sz="700" dirty="0">
                        <a:solidFill>
                          <a:schemeClr val="tx1">
                            <a:lumMod val="50000"/>
                          </a:schemeClr>
                        </a:solidFill>
                        <a:latin typeface="+mn-lt"/>
                        <a:ea typeface="Times New Roman"/>
                        <a:cs typeface="Times New Roman"/>
                      </a:endParaRPr>
                    </a:p>
                  </a:txBody>
                  <a:tcPr marL="36195" marR="36195" marT="0" marB="0"/>
                </a:tc>
                <a:tc>
                  <a:txBody>
                    <a:bodyPr/>
                    <a:lstStyle/>
                    <a:p>
                      <a:pPr algn="ctr" hangingPunct="0">
                        <a:spcBef>
                          <a:spcPts val="500"/>
                        </a:spcBef>
                        <a:spcAft>
                          <a:spcPts val="500"/>
                        </a:spcAft>
                      </a:pPr>
                      <a:r>
                        <a:rPr lang="en-GB" sz="700" dirty="0" smtClean="0">
                          <a:solidFill>
                            <a:schemeClr val="tx1">
                              <a:lumMod val="50000"/>
                            </a:schemeClr>
                          </a:solidFill>
                          <a:latin typeface="+mn-lt"/>
                          <a:ea typeface="Times New Roman"/>
                          <a:cs typeface="Times New Roman"/>
                        </a:rPr>
                        <a:t>-</a:t>
                      </a:r>
                      <a:endParaRPr lang="en-GB" sz="700" dirty="0">
                        <a:solidFill>
                          <a:schemeClr val="tx1">
                            <a:lumMod val="50000"/>
                          </a:schemeClr>
                        </a:solidFill>
                        <a:latin typeface="+mn-lt"/>
                        <a:ea typeface="Times New Roman"/>
                        <a:cs typeface="Times New Roman"/>
                      </a:endParaRPr>
                    </a:p>
                  </a:txBody>
                  <a:tcPr marL="36195" marR="36195" marT="0" marB="0"/>
                </a:tc>
                <a:tc>
                  <a:txBody>
                    <a:bodyPr/>
                    <a:lstStyle/>
                    <a:p>
                      <a:pPr algn="ctr" hangingPunct="0">
                        <a:spcBef>
                          <a:spcPts val="500"/>
                        </a:spcBef>
                        <a:spcAft>
                          <a:spcPts val="500"/>
                        </a:spcAft>
                      </a:pPr>
                      <a:r>
                        <a:rPr lang="en-GB" sz="700" dirty="0" smtClean="0">
                          <a:solidFill>
                            <a:schemeClr val="tx1">
                              <a:lumMod val="50000"/>
                            </a:schemeClr>
                          </a:solidFill>
                          <a:latin typeface="+mn-lt"/>
                          <a:ea typeface="Times New Roman"/>
                          <a:cs typeface="Times New Roman"/>
                        </a:rPr>
                        <a:t>-</a:t>
                      </a:r>
                      <a:endParaRPr lang="en-GB" sz="700" dirty="0">
                        <a:solidFill>
                          <a:schemeClr val="tx1">
                            <a:lumMod val="50000"/>
                          </a:schemeClr>
                        </a:solidFill>
                        <a:latin typeface="+mn-lt"/>
                        <a:ea typeface="Times New Roman"/>
                        <a:cs typeface="Times New Roman"/>
                      </a:endParaRPr>
                    </a:p>
                  </a:txBody>
                  <a:tcPr marL="36195" marR="36195" marT="0" marB="0"/>
                </a:tc>
                <a:tc>
                  <a:txBody>
                    <a:bodyPr/>
                    <a:lstStyle/>
                    <a:p>
                      <a:pPr algn="ctr" hangingPunct="0">
                        <a:spcBef>
                          <a:spcPts val="500"/>
                        </a:spcBef>
                        <a:spcAft>
                          <a:spcPts val="500"/>
                        </a:spcAft>
                      </a:pPr>
                      <a:r>
                        <a:rPr lang="en-GB" sz="700" dirty="0" smtClean="0">
                          <a:solidFill>
                            <a:schemeClr val="tx1">
                              <a:lumMod val="50000"/>
                            </a:schemeClr>
                          </a:solidFill>
                          <a:latin typeface="+mn-lt"/>
                          <a:ea typeface="Times New Roman"/>
                          <a:cs typeface="Times New Roman"/>
                        </a:rPr>
                        <a:t>-</a:t>
                      </a:r>
                      <a:endParaRPr lang="en-GB" sz="700" dirty="0">
                        <a:solidFill>
                          <a:schemeClr val="tx1">
                            <a:lumMod val="50000"/>
                          </a:schemeClr>
                        </a:solidFill>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r>
                        <a:rPr lang="en-GB" sz="700" dirty="0" smtClean="0">
                          <a:solidFill>
                            <a:schemeClr val="tx1">
                              <a:lumMod val="50000"/>
                            </a:schemeClr>
                          </a:solidFill>
                          <a:latin typeface="+mn-lt"/>
                          <a:ea typeface="Times New Roman"/>
                          <a:cs typeface="Times New Roman"/>
                        </a:rPr>
                        <a:t>-</a:t>
                      </a:r>
                      <a:endParaRPr lang="en-GB" sz="700" dirty="0">
                        <a:solidFill>
                          <a:schemeClr val="tx1">
                            <a:lumMod val="50000"/>
                          </a:schemeClr>
                        </a:solidFill>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r>
                        <a:rPr lang="en-GB" sz="700" dirty="0" smtClean="0">
                          <a:solidFill>
                            <a:schemeClr val="tx1">
                              <a:lumMod val="50000"/>
                            </a:schemeClr>
                          </a:solidFill>
                          <a:latin typeface="+mn-lt"/>
                          <a:ea typeface="Times New Roman"/>
                          <a:cs typeface="Times New Roman"/>
                        </a:rPr>
                        <a:t>12/06/2012</a:t>
                      </a:r>
                      <a:endParaRPr lang="en-GB" sz="700" dirty="0">
                        <a:solidFill>
                          <a:schemeClr val="tx1">
                            <a:lumMod val="50000"/>
                          </a:schemeClr>
                        </a:solidFill>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36195" marR="36195" marT="0" marB="0"/>
                </a:tc>
              </a:tr>
              <a:tr h="60960">
                <a:tc>
                  <a:txBody>
                    <a:bodyPr/>
                    <a:lstStyle/>
                    <a:p>
                      <a:pPr algn="l" hangingPunct="0">
                        <a:spcBef>
                          <a:spcPts val="500"/>
                        </a:spcBef>
                        <a:spcAft>
                          <a:spcPts val="500"/>
                        </a:spcAft>
                      </a:pPr>
                      <a:endParaRPr lang="en-GB" sz="900" dirty="0">
                        <a:latin typeface="+mn-lt"/>
                        <a:ea typeface="Times New Roman"/>
                        <a:cs typeface="Times New Roman"/>
                      </a:endParaRPr>
                    </a:p>
                  </a:txBody>
                  <a:tcPr marL="36195" marR="36195" marT="0" marB="0"/>
                </a:tc>
                <a:tc>
                  <a:txBody>
                    <a:bodyPr/>
                    <a:lstStyle/>
                    <a:p>
                      <a:pPr marL="46990" algn="l" hangingPunct="0">
                        <a:spcBef>
                          <a:spcPts val="500"/>
                        </a:spcBef>
                        <a:spcAft>
                          <a:spcPts val="500"/>
                        </a:spcAft>
                      </a:pPr>
                      <a:endParaRPr lang="en-GB" sz="900" dirty="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dirty="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dirty="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a:latin typeface="+mn-lt"/>
                        <a:ea typeface="Times New Roman"/>
                        <a:cs typeface="Times New Roman"/>
                      </a:endParaRPr>
                    </a:p>
                  </a:txBody>
                  <a:tcPr marL="36195" marR="36195" marT="0" marB="0"/>
                </a:tc>
                <a:tc>
                  <a:txBody>
                    <a:bodyPr/>
                    <a:lstStyle/>
                    <a:p>
                      <a:pPr algn="ctr" hangingPunct="0">
                        <a:spcBef>
                          <a:spcPts val="500"/>
                        </a:spcBef>
                        <a:spcAft>
                          <a:spcPts val="500"/>
                        </a:spcAft>
                      </a:pPr>
                      <a:endParaRPr lang="en-GB" sz="900" dirty="0">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36195" marR="36195" marT="0" marB="0"/>
                </a:tc>
                <a:tc>
                  <a:txBody>
                    <a:bodyPr/>
                    <a:lstStyle/>
                    <a:p>
                      <a:pPr marL="46990" algn="ctr" hangingPunct="0">
                        <a:spcBef>
                          <a:spcPts val="300"/>
                        </a:spcBef>
                        <a:spcAft>
                          <a:spcPts val="300"/>
                        </a:spcAft>
                      </a:pPr>
                      <a:endParaRPr lang="en-GB" sz="900" dirty="0">
                        <a:latin typeface="+mn-lt"/>
                        <a:ea typeface="Times New Roman"/>
                        <a:cs typeface="Times New Roman"/>
                      </a:endParaRPr>
                    </a:p>
                  </a:txBody>
                  <a:tcPr marL="36195" marR="36195" marT="0" marB="0"/>
                </a:tc>
              </a:tr>
            </a:tbl>
          </a:graphicData>
        </a:graphic>
      </p:graphicFrame>
      <p:pic>
        <p:nvPicPr>
          <p:cNvPr id="4" name="Picture 3" descr="C:\Documents and Settings\liangli1\Desktop\ScopeTimeCost.png"/>
          <p:cNvPicPr/>
          <p:nvPr/>
        </p:nvPicPr>
        <p:blipFill>
          <a:blip r:embed="rId2" cstate="print"/>
          <a:srcRect/>
          <a:stretch>
            <a:fillRect/>
          </a:stretch>
        </p:blipFill>
        <p:spPr bwMode="auto">
          <a:xfrm>
            <a:off x="8190185" y="50304"/>
            <a:ext cx="877615" cy="86409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reeform 94"/>
          <p:cNvSpPr>
            <a:spLocks/>
          </p:cNvSpPr>
          <p:nvPr/>
        </p:nvSpPr>
        <p:spPr bwMode="gray">
          <a:xfrm>
            <a:off x="-2459" y="-3263"/>
            <a:ext cx="6022259" cy="341817"/>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338554"/>
          </a:xfrm>
          <a:prstGeom prst="rect">
            <a:avLst/>
          </a:prstGeom>
        </p:spPr>
        <p:txBody>
          <a:bodyPr>
            <a:spAutoFit/>
          </a:bodyPr>
          <a:lstStyle/>
          <a:p>
            <a:pPr algn="l" defTabSz="955675" eaLnBrk="0" hangingPunct="0">
              <a:spcAft>
                <a:spcPts val="0"/>
              </a:spcAft>
              <a:defRPr/>
            </a:pPr>
            <a:r>
              <a:rPr lang="en-US" sz="1600" b="1" kern="0" dirty="0" smtClean="0">
                <a:solidFill>
                  <a:srgbClr val="646464"/>
                </a:solidFill>
                <a:latin typeface="EYInterstate"/>
              </a:rPr>
              <a:t>2. Overall assessment of Program health</a:t>
            </a:r>
            <a:endParaRPr lang="en-US" sz="1600" b="1" kern="0" dirty="0">
              <a:solidFill>
                <a:srgbClr val="646464"/>
              </a:solidFill>
              <a:latin typeface="EYInterstate"/>
            </a:endParaRPr>
          </a:p>
        </p:txBody>
      </p:sp>
      <p:graphicFrame>
        <p:nvGraphicFramePr>
          <p:cNvPr id="10" name="Group 852"/>
          <p:cNvGraphicFramePr>
            <a:graphicFrameLocks noGrp="1"/>
          </p:cNvGraphicFramePr>
          <p:nvPr/>
        </p:nvGraphicFramePr>
        <p:xfrm>
          <a:off x="5867400" y="0"/>
          <a:ext cx="3276600" cy="5554914"/>
        </p:xfrm>
        <a:graphic>
          <a:graphicData uri="http://schemas.openxmlformats.org/drawingml/2006/table">
            <a:tbl>
              <a:tblPr/>
              <a:tblGrid>
                <a:gridCol w="3276600"/>
              </a:tblGrid>
              <a:tr h="114294">
                <a:tc>
                  <a:txBody>
                    <a:bodyPr/>
                    <a:lstStyle/>
                    <a:p>
                      <a:pPr marL="0" marR="0" lvl="0" indent="0" algn="l" defTabSz="947738" rtl="0" eaLnBrk="0" fontAlgn="base" latinLnBrk="0" hangingPunct="0">
                        <a:lnSpc>
                          <a:spcPct val="100000"/>
                        </a:lnSpc>
                        <a:spcBef>
                          <a:spcPct val="0"/>
                        </a:spcBef>
                        <a:spcAft>
                          <a:spcPct val="0"/>
                        </a:spcAft>
                        <a:buClrTx/>
                        <a:buSzTx/>
                        <a:buFont typeface="Wingdings" pitchFamily="2" charset="2"/>
                        <a:buChar char="Ø"/>
                        <a:tabLst/>
                      </a:pPr>
                      <a:r>
                        <a:rPr kumimoji="0" lang="en-US" sz="700" b="1" i="0" u="none" strike="noStrike" cap="none" normalizeH="0" baseline="0" dirty="0" smtClean="0">
                          <a:ln>
                            <a:noFill/>
                          </a:ln>
                          <a:solidFill>
                            <a:schemeClr val="tx1"/>
                          </a:solidFill>
                          <a:effectLst/>
                          <a:latin typeface="EYInterstate" pitchFamily="2" charset="0"/>
                        </a:rPr>
                        <a:t>PMO Narrative</a:t>
                      </a:r>
                      <a:endParaRPr kumimoji="0" lang="en-US" sz="7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869264">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700" b="1" i="0" u="none" strike="noStrike" cap="none" normalizeH="0" baseline="0" dirty="0" smtClean="0">
                          <a:ln>
                            <a:noFill/>
                          </a:ln>
                          <a:solidFill>
                            <a:schemeClr val="tx1">
                              <a:lumMod val="50000"/>
                            </a:schemeClr>
                          </a:solidFill>
                          <a:effectLst/>
                          <a:latin typeface="EYInterstate Light" pitchFamily="2" charset="0"/>
                        </a:rPr>
                        <a:t>Schedule – Overall status AMBER</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lumMod val="50000"/>
                            </a:schemeClr>
                          </a:solidFill>
                          <a:effectLst/>
                          <a:latin typeface="EYInterstate Light" pitchFamily="2" charset="0"/>
                        </a:rPr>
                        <a:t>Level 0 and 1s have been regenerated  and “deep dive” session held. Financials need to be updated for all work streams based on </a:t>
                      </a:r>
                      <a:r>
                        <a:rPr kumimoji="0" lang="en-US" sz="700" b="0" i="0" u="none" strike="noStrike" cap="none" normalizeH="0" baseline="0" dirty="0" err="1" smtClean="0">
                          <a:ln>
                            <a:noFill/>
                          </a:ln>
                          <a:solidFill>
                            <a:schemeClr val="tx1">
                              <a:lumMod val="50000"/>
                            </a:schemeClr>
                          </a:solidFill>
                          <a:effectLst/>
                          <a:latin typeface="EYInterstate Light" pitchFamily="2" charset="0"/>
                        </a:rPr>
                        <a:t>Inf</a:t>
                      </a:r>
                      <a:r>
                        <a:rPr kumimoji="0" lang="en-US" sz="700" b="0" i="0" u="none" strike="noStrike" cap="none" normalizeH="0" baseline="0" dirty="0" smtClean="0">
                          <a:ln>
                            <a:noFill/>
                          </a:ln>
                          <a:solidFill>
                            <a:schemeClr val="tx1">
                              <a:lumMod val="50000"/>
                            </a:schemeClr>
                          </a:solidFill>
                          <a:effectLst/>
                          <a:latin typeface="EYInterstate Light" pitchFamily="2" charset="0"/>
                        </a:rPr>
                        <a:t> &amp; Ops figures not being included.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lumMod val="50000"/>
                            </a:schemeClr>
                          </a:solidFill>
                          <a:effectLst/>
                          <a:latin typeface="EYInterstate Light" pitchFamily="2" charset="0"/>
                        </a:rPr>
                        <a:t>SharePoint Work stream going through a major re-structure currently – POAP has been generated directly from the team to drive detailed L3 plans over the coming 1 / 2 weeks.</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lumMod val="50000"/>
                            </a:schemeClr>
                          </a:solidFill>
                          <a:effectLst/>
                          <a:latin typeface="EYInterstate Light" pitchFamily="2" charset="0"/>
                        </a:rPr>
                        <a:t>ADM scope (and therefore plans) significantly reduced to only focusing on Discovery /Assessment</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lumMod val="50000"/>
                            </a:schemeClr>
                          </a:solidFill>
                          <a:effectLst/>
                          <a:latin typeface="EYInterstate Light" pitchFamily="2" charset="0"/>
                        </a:rPr>
                        <a:t>There will be a need to </a:t>
                      </a:r>
                      <a:r>
                        <a:rPr kumimoji="0" lang="en-US" sz="700" b="0" i="0" u="none" strike="noStrike" cap="none" normalizeH="0" baseline="0" dirty="0" err="1" smtClean="0">
                          <a:ln>
                            <a:noFill/>
                          </a:ln>
                          <a:solidFill>
                            <a:schemeClr val="tx1">
                              <a:lumMod val="50000"/>
                            </a:schemeClr>
                          </a:solidFill>
                          <a:effectLst/>
                          <a:latin typeface="EYInterstate Light" pitchFamily="2" charset="0"/>
                        </a:rPr>
                        <a:t>rebaseline</a:t>
                      </a:r>
                      <a:r>
                        <a:rPr kumimoji="0" lang="en-US" sz="700" b="0" i="0" u="none" strike="noStrike" cap="none" normalizeH="0" baseline="0" dirty="0" smtClean="0">
                          <a:ln>
                            <a:noFill/>
                          </a:ln>
                          <a:solidFill>
                            <a:schemeClr val="tx1">
                              <a:lumMod val="50000"/>
                            </a:schemeClr>
                          </a:solidFill>
                          <a:effectLst/>
                          <a:latin typeface="EYInterstate Light" pitchFamily="2" charset="0"/>
                        </a:rPr>
                        <a:t> all Level 3 plans again in realization of the FY13 target budgets per stream. This will occur after 12</a:t>
                      </a:r>
                      <a:r>
                        <a:rPr kumimoji="0" lang="en-US" sz="700" b="0" i="0" u="none" strike="noStrike" cap="none" normalizeH="0" baseline="30000" dirty="0" smtClean="0">
                          <a:ln>
                            <a:noFill/>
                          </a:ln>
                          <a:solidFill>
                            <a:schemeClr val="tx1">
                              <a:lumMod val="50000"/>
                            </a:schemeClr>
                          </a:solidFill>
                          <a:effectLst/>
                          <a:latin typeface="EYInterstate Light" pitchFamily="2" charset="0"/>
                        </a:rPr>
                        <a:t>th</a:t>
                      </a:r>
                      <a:r>
                        <a:rPr kumimoji="0" lang="en-US" sz="700" b="0" i="0" u="none" strike="noStrike" cap="none" normalizeH="0" baseline="0" dirty="0" smtClean="0">
                          <a:ln>
                            <a:noFill/>
                          </a:ln>
                          <a:solidFill>
                            <a:schemeClr val="tx1">
                              <a:lumMod val="50000"/>
                            </a:schemeClr>
                          </a:solidFill>
                          <a:effectLst/>
                          <a:latin typeface="EYInterstate Light" pitchFamily="2" charset="0"/>
                        </a:rPr>
                        <a:t> June.</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lumMod val="50000"/>
                            </a:schemeClr>
                          </a:solidFill>
                          <a:effectLst/>
                          <a:latin typeface="EYInterstate Light" pitchFamily="2" charset="0"/>
                        </a:rPr>
                        <a:t>Dependencies being recoded as per Enterprise Planning Team – Major re-work will be required when L3 are re-</a:t>
                      </a:r>
                      <a:r>
                        <a:rPr kumimoji="0" lang="en-US" sz="700" b="0" i="0" u="none" strike="noStrike" cap="none" normalizeH="0" baseline="0" dirty="0" err="1" smtClean="0">
                          <a:ln>
                            <a:noFill/>
                          </a:ln>
                          <a:solidFill>
                            <a:schemeClr val="tx1">
                              <a:lumMod val="50000"/>
                            </a:schemeClr>
                          </a:solidFill>
                          <a:effectLst/>
                          <a:latin typeface="EYInterstate Light" pitchFamily="2" charset="0"/>
                        </a:rPr>
                        <a:t>baselined</a:t>
                      </a:r>
                      <a:r>
                        <a:rPr kumimoji="0" lang="en-US" sz="700" b="0" i="0" u="none" strike="noStrike" cap="none" normalizeH="0" baseline="0" dirty="0" smtClean="0">
                          <a:ln>
                            <a:noFill/>
                          </a:ln>
                          <a:solidFill>
                            <a:schemeClr val="tx1">
                              <a:lumMod val="50000"/>
                            </a:schemeClr>
                          </a:solidFill>
                          <a:effectLst/>
                          <a:latin typeface="EYInterstate Light" pitchFamily="2" charset="0"/>
                        </a:rPr>
                        <a:t> following scope changes – especially relevant to ADM and SharePoint.</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lumMod val="50000"/>
                            </a:schemeClr>
                          </a:solidFill>
                          <a:effectLst/>
                          <a:latin typeface="EYInterstate Light" pitchFamily="2" charset="0"/>
                        </a:rPr>
                        <a:t>Methods now involved in review planning standards created for M&amp;C for potentially wider distribution.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688980">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700" b="1" i="0" u="none" strike="noStrike" cap="none" normalizeH="0" baseline="0" dirty="0" smtClean="0">
                          <a:ln>
                            <a:noFill/>
                          </a:ln>
                          <a:solidFill>
                            <a:schemeClr val="tx1">
                              <a:lumMod val="50000"/>
                            </a:schemeClr>
                          </a:solidFill>
                          <a:effectLst/>
                          <a:latin typeface="EYInterstate Light" pitchFamily="2" charset="0"/>
                        </a:rPr>
                        <a:t>Resource Management.</a:t>
                      </a:r>
                      <a:endParaRPr kumimoji="0" lang="en-US" sz="700" b="0" i="0" u="none" strike="noStrike" kern="1200" cap="none" normalizeH="0" baseline="0" dirty="0" smtClean="0">
                        <a:ln>
                          <a:noFill/>
                        </a:ln>
                        <a:solidFill>
                          <a:schemeClr val="tx1">
                            <a:lumMod val="50000"/>
                          </a:schemeClr>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Pct val="67000"/>
                        <a:buFont typeface="Wingdings" pitchFamily="2" charset="2"/>
                        <a:buChar char="Ø"/>
                        <a:tabLst/>
                        <a:defRPr/>
                      </a:pPr>
                      <a:r>
                        <a:rPr kumimoji="0" lang="en-US" sz="700" b="0" i="0" u="none" strike="noStrike" cap="none" normalizeH="0" baseline="0" dirty="0" smtClean="0">
                          <a:ln>
                            <a:noFill/>
                          </a:ln>
                          <a:solidFill>
                            <a:schemeClr val="tx1">
                              <a:lumMod val="50000"/>
                            </a:schemeClr>
                          </a:solidFill>
                          <a:effectLst/>
                          <a:latin typeface="EYInterstate Light" pitchFamily="2" charset="0"/>
                        </a:rPr>
                        <a:t> Collaboration resource plan </a:t>
                      </a:r>
                      <a:r>
                        <a:rPr kumimoji="0" lang="en-US" sz="700" b="0" i="0" u="none" strike="noStrike" kern="1200" cap="none" normalizeH="0" baseline="0" dirty="0" smtClean="0">
                          <a:ln>
                            <a:noFill/>
                          </a:ln>
                          <a:solidFill>
                            <a:schemeClr val="tx1">
                              <a:lumMod val="50000"/>
                            </a:schemeClr>
                          </a:solidFill>
                          <a:effectLst/>
                          <a:latin typeface="EYInterstate Light" pitchFamily="2" charset="0"/>
                          <a:ea typeface="+mn-ea"/>
                          <a:cs typeface="+mn-cs"/>
                        </a:rPr>
                        <a:t>still under review. </a:t>
                      </a:r>
                    </a:p>
                    <a:p>
                      <a:pPr marL="85725" marR="0" lvl="0" indent="-85725" algn="l" defTabSz="947738" rtl="0" eaLnBrk="0" fontAlgn="base" latinLnBrk="0" hangingPunct="0">
                        <a:lnSpc>
                          <a:spcPct val="100000"/>
                        </a:lnSpc>
                        <a:spcBef>
                          <a:spcPct val="0"/>
                        </a:spcBef>
                        <a:spcAft>
                          <a:spcPct val="10000"/>
                        </a:spcAft>
                        <a:buClrTx/>
                        <a:buSzPct val="67000"/>
                        <a:buFont typeface="Wingdings" pitchFamily="2" charset="2"/>
                        <a:buChar char="Ø"/>
                        <a:tabLst/>
                        <a:defRPr/>
                      </a:pPr>
                      <a:r>
                        <a:rPr kumimoji="0" lang="en-US" sz="700" b="0" i="0" u="none" strike="noStrike" cap="none" normalizeH="0" baseline="0" dirty="0" smtClean="0">
                          <a:ln>
                            <a:noFill/>
                          </a:ln>
                          <a:solidFill>
                            <a:schemeClr val="tx1">
                              <a:lumMod val="50000"/>
                            </a:schemeClr>
                          </a:solidFill>
                          <a:effectLst/>
                          <a:latin typeface="EYInterstate Light" pitchFamily="2" charset="0"/>
                        </a:rPr>
                        <a:t>  Business Deployment </a:t>
                      </a:r>
                      <a:r>
                        <a:rPr kumimoji="0" lang="en-US" sz="700" b="0" i="0" u="none" strike="noStrike" kern="1200" cap="none" normalizeH="0" baseline="0" dirty="0" smtClean="0">
                          <a:ln>
                            <a:noFill/>
                          </a:ln>
                          <a:solidFill>
                            <a:schemeClr val="tx1">
                              <a:lumMod val="50000"/>
                            </a:schemeClr>
                          </a:solidFill>
                          <a:effectLst/>
                          <a:latin typeface="EYInterstate Light" pitchFamily="2" charset="0"/>
                          <a:ea typeface="+mn-ea"/>
                          <a:cs typeface="+mn-cs"/>
                        </a:rPr>
                        <a:t>transfer of Iain </a:t>
                      </a:r>
                      <a:r>
                        <a:rPr kumimoji="0" lang="en-US" sz="700" b="0" i="0" u="none" strike="noStrike" kern="1200" cap="none" normalizeH="0" baseline="0" dirty="0" err="1" smtClean="0">
                          <a:ln>
                            <a:noFill/>
                          </a:ln>
                          <a:solidFill>
                            <a:schemeClr val="tx1">
                              <a:lumMod val="50000"/>
                            </a:schemeClr>
                          </a:solidFill>
                          <a:effectLst/>
                          <a:latin typeface="EYInterstate Light" pitchFamily="2" charset="0"/>
                          <a:ea typeface="+mn-ea"/>
                          <a:cs typeface="+mn-cs"/>
                        </a:rPr>
                        <a:t>Willetts</a:t>
                      </a:r>
                      <a:r>
                        <a:rPr kumimoji="0" lang="en-US" sz="700" b="0" i="0" u="none" strike="noStrike" kern="1200" cap="none" normalizeH="0" baseline="0" dirty="0" smtClean="0">
                          <a:ln>
                            <a:noFill/>
                          </a:ln>
                          <a:solidFill>
                            <a:schemeClr val="tx1">
                              <a:lumMod val="50000"/>
                            </a:schemeClr>
                          </a:solidFill>
                          <a:effectLst/>
                          <a:latin typeface="EYInterstate Light" pitchFamily="2" charset="0"/>
                          <a:ea typeface="+mn-ea"/>
                          <a:cs typeface="+mn-cs"/>
                        </a:rPr>
                        <a:t> into Cross Org confirmed from July. Will need one additional resource, investigating options</a:t>
                      </a:r>
                    </a:p>
                    <a:p>
                      <a:pPr marL="85725" marR="0" lvl="0" indent="-85725" algn="l" defTabSz="947738" rtl="0" eaLnBrk="0" fontAlgn="base" latinLnBrk="0" hangingPunct="0">
                        <a:lnSpc>
                          <a:spcPct val="100000"/>
                        </a:lnSpc>
                        <a:spcBef>
                          <a:spcPct val="0"/>
                        </a:spcBef>
                        <a:spcAft>
                          <a:spcPct val="10000"/>
                        </a:spcAft>
                        <a:buClrTx/>
                        <a:buSzPct val="67000"/>
                        <a:buFont typeface="Wingdings" pitchFamily="2" charset="2"/>
                        <a:buChar char="Ø"/>
                        <a:tabLst/>
                        <a:defRPr/>
                      </a:pPr>
                      <a:r>
                        <a:rPr kumimoji="0" lang="en-US" sz="700" b="0" i="0" u="none" strike="noStrike" cap="none" normalizeH="0" baseline="0" dirty="0" smtClean="0">
                          <a:ln>
                            <a:noFill/>
                          </a:ln>
                          <a:solidFill>
                            <a:schemeClr val="tx1">
                              <a:lumMod val="50000"/>
                            </a:schemeClr>
                          </a:solidFill>
                          <a:effectLst/>
                          <a:latin typeface="EYInterstate Light" pitchFamily="2" charset="0"/>
                        </a:rPr>
                        <a:t> Transition Mgt </a:t>
                      </a:r>
                      <a:r>
                        <a:rPr kumimoji="0" lang="en-GB" sz="700" b="0" i="0" u="none" strike="noStrike" kern="1200" cap="none" normalizeH="0" baseline="0" dirty="0" smtClean="0">
                          <a:ln>
                            <a:noFill/>
                          </a:ln>
                          <a:solidFill>
                            <a:schemeClr val="tx1">
                              <a:lumMod val="50000"/>
                            </a:schemeClr>
                          </a:solidFill>
                          <a:effectLst/>
                          <a:latin typeface="EYInterstate Light" pitchFamily="2" charset="0"/>
                          <a:ea typeface="+mn-ea"/>
                          <a:cs typeface="+mn-cs"/>
                        </a:rPr>
                        <a:t>still trying to progress move of Rocco Sung from CBS Finance and Krista </a:t>
                      </a:r>
                      <a:r>
                        <a:rPr kumimoji="0" lang="en-GB" sz="700" b="0" i="0" u="none" strike="noStrike" kern="1200" cap="none" normalizeH="0" baseline="0" dirty="0" err="1" smtClean="0">
                          <a:ln>
                            <a:noFill/>
                          </a:ln>
                          <a:solidFill>
                            <a:schemeClr val="tx1">
                              <a:lumMod val="50000"/>
                            </a:schemeClr>
                          </a:solidFill>
                          <a:effectLst/>
                          <a:latin typeface="EYInterstate Light" pitchFamily="2" charset="0"/>
                          <a:ea typeface="+mn-ea"/>
                          <a:cs typeface="+mn-cs"/>
                        </a:rPr>
                        <a:t>Jacobitz</a:t>
                      </a:r>
                      <a:r>
                        <a:rPr kumimoji="0" lang="en-GB" sz="700" b="0" i="0" u="none" strike="noStrike" kern="1200" cap="none" normalizeH="0" baseline="0" dirty="0" smtClean="0">
                          <a:ln>
                            <a:noFill/>
                          </a:ln>
                          <a:solidFill>
                            <a:schemeClr val="tx1">
                              <a:lumMod val="50000"/>
                            </a:schemeClr>
                          </a:solidFill>
                          <a:effectLst/>
                          <a:latin typeface="EYInterstate Light" pitchFamily="2" charset="0"/>
                          <a:ea typeface="+mn-ea"/>
                          <a:cs typeface="+mn-cs"/>
                        </a:rPr>
                        <a:t> from Tax. Hoping to secure 2 resources from GSS but these will require some support. Team to discuss potential role with candidate in Buenos Aires</a:t>
                      </a:r>
                      <a:endParaRPr kumimoji="0" lang="en-US" sz="700" b="0" i="0" u="none" strike="noStrike" cap="none" normalizeH="0" baseline="0" dirty="0" smtClean="0">
                        <a:ln>
                          <a:noFill/>
                        </a:ln>
                        <a:solidFill>
                          <a:schemeClr val="tx1">
                            <a:lumMod val="50000"/>
                          </a:schemeClr>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Pct val="57000"/>
                        <a:buFont typeface="Wingdings" pitchFamily="2" charset="2"/>
                        <a:buChar char="Ø"/>
                        <a:tabLst/>
                      </a:pPr>
                      <a:r>
                        <a:rPr kumimoji="0" lang="en-US" sz="700" b="0" i="0" u="none" strike="noStrike" cap="none" normalizeH="0" baseline="0" dirty="0" smtClean="0">
                          <a:ln>
                            <a:noFill/>
                          </a:ln>
                          <a:solidFill>
                            <a:schemeClr val="tx1">
                              <a:lumMod val="50000"/>
                            </a:schemeClr>
                          </a:solidFill>
                          <a:effectLst/>
                          <a:latin typeface="EYInterstate Light" pitchFamily="2" charset="0"/>
                        </a:rPr>
                        <a:t>Need a mechanism to accurately reflect and book buckets of hours being requested from CBS, Markets and I&amp;O</a:t>
                      </a:r>
                    </a:p>
                    <a:p>
                      <a:pPr marL="85725" marR="0" lvl="0" indent="-85725" algn="l" defTabSz="947738" rtl="0" eaLnBrk="0" fontAlgn="base" latinLnBrk="0" hangingPunct="0">
                        <a:lnSpc>
                          <a:spcPct val="100000"/>
                        </a:lnSpc>
                        <a:spcBef>
                          <a:spcPct val="0"/>
                        </a:spcBef>
                        <a:spcAft>
                          <a:spcPct val="10000"/>
                        </a:spcAft>
                        <a:buClrTx/>
                        <a:buSzPct val="60000"/>
                        <a:buFont typeface="Wingdings" pitchFamily="2" charset="2"/>
                        <a:buChar char="Ø"/>
                        <a:tabLst/>
                      </a:pPr>
                      <a:r>
                        <a:rPr kumimoji="0" lang="en-US" sz="700" b="0" i="0" u="none" strike="noStrike" cap="none" normalizeH="0" baseline="0" dirty="0" smtClean="0">
                          <a:ln>
                            <a:noFill/>
                          </a:ln>
                          <a:solidFill>
                            <a:schemeClr val="tx1">
                              <a:lumMod val="50000"/>
                            </a:schemeClr>
                          </a:solidFill>
                          <a:effectLst/>
                          <a:latin typeface="EYInterstate Light" pitchFamily="2" charset="0"/>
                        </a:rPr>
                        <a:t>Still need clarity on overall I&amp;O requirements and what falls within scope of program as opposed to Operations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614370">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lang="en-GB" sz="700" b="1" i="0" kern="1200" baseline="0" dirty="0" smtClean="0">
                          <a:solidFill>
                            <a:schemeClr val="tx1">
                              <a:lumMod val="50000"/>
                            </a:schemeClr>
                          </a:solidFill>
                          <a:latin typeface="EYInterstate Light" pitchFamily="2" charset="0"/>
                          <a:ea typeface="+mn-ea"/>
                          <a:cs typeface="+mn-cs"/>
                        </a:rPr>
                        <a:t>RAIDs.</a:t>
                      </a:r>
                      <a:r>
                        <a:rPr kumimoji="0" lang="en-US" sz="700" b="0" i="0" u="none" strike="noStrike" kern="1200" cap="none" normalizeH="0" baseline="0" dirty="0" smtClean="0">
                          <a:ln>
                            <a:noFill/>
                          </a:ln>
                          <a:solidFill>
                            <a:schemeClr val="tx1">
                              <a:lumMod val="50000"/>
                            </a:schemeClr>
                          </a:solidFill>
                          <a:effectLst/>
                          <a:latin typeface="EYInterstate Light" pitchFamily="2" charset="0"/>
                          <a:ea typeface="+mn-ea"/>
                          <a:cs typeface="+mn-cs"/>
                        </a:rPr>
                        <a:t> </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chemeClr val="tx1">
                              <a:lumMod val="50000"/>
                            </a:schemeClr>
                          </a:solidFill>
                          <a:effectLst/>
                          <a:latin typeface="EYInterstate Light" pitchFamily="2" charset="0"/>
                          <a:ea typeface="+mn-ea"/>
                          <a:cs typeface="+mn-cs"/>
                        </a:rPr>
                        <a:t>Following the 30-May call, the fortnightly RAID meeting is suspended  as critical RAIDs are under review as part of the “Wall” activity.</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chemeClr val="tx1">
                              <a:lumMod val="50000"/>
                            </a:schemeClr>
                          </a:solidFill>
                          <a:effectLst/>
                          <a:latin typeface="EYInterstate Light" pitchFamily="2" charset="0"/>
                          <a:ea typeface="+mn-ea"/>
                          <a:cs typeface="+mn-cs"/>
                        </a:rPr>
                        <a:t>No Wall meetings took place this week. </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chemeClr val="tx1">
                              <a:lumMod val="50000"/>
                            </a:schemeClr>
                          </a:solidFill>
                          <a:effectLst/>
                          <a:latin typeface="EYInterstate Light" pitchFamily="2" charset="0"/>
                          <a:ea typeface="+mn-ea"/>
                          <a:cs typeface="+mn-cs"/>
                        </a:rPr>
                        <a:t>No Blueprint </a:t>
                      </a:r>
                      <a:r>
                        <a:rPr kumimoji="0" lang="en-US" sz="700" b="0" i="0" u="none" strike="noStrike" kern="1200" cap="none" normalizeH="0" baseline="0" dirty="0" err="1" smtClean="0">
                          <a:ln>
                            <a:noFill/>
                          </a:ln>
                          <a:solidFill>
                            <a:schemeClr val="tx1">
                              <a:lumMod val="50000"/>
                            </a:schemeClr>
                          </a:solidFill>
                          <a:effectLst/>
                          <a:latin typeface="EYInterstate Light" pitchFamily="2" charset="0"/>
                          <a:ea typeface="+mn-ea"/>
                          <a:cs typeface="+mn-cs"/>
                        </a:rPr>
                        <a:t>workstream</a:t>
                      </a:r>
                      <a:r>
                        <a:rPr kumimoji="0" lang="en-US" sz="700" b="0" i="0" u="none" strike="noStrike" kern="1200" cap="none" normalizeH="0" baseline="0" dirty="0" smtClean="0">
                          <a:ln>
                            <a:noFill/>
                          </a:ln>
                          <a:solidFill>
                            <a:schemeClr val="tx1">
                              <a:lumMod val="50000"/>
                            </a:schemeClr>
                          </a:solidFill>
                          <a:effectLst/>
                          <a:latin typeface="EYInterstate Light" pitchFamily="2" charset="0"/>
                          <a:ea typeface="+mn-ea"/>
                          <a:cs typeface="+mn-cs"/>
                        </a:rPr>
                        <a:t> RAIDs in log.</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chemeClr val="tx1">
                              <a:lumMod val="50000"/>
                            </a:schemeClr>
                          </a:solidFill>
                          <a:effectLst/>
                          <a:latin typeface="EYInterstate Light" pitchFamily="2" charset="0"/>
                          <a:ea typeface="+mn-ea"/>
                          <a:cs typeface="+mn-cs"/>
                        </a:rPr>
                        <a:t> Overall RAID Red status is due to existence of overdue, critical priority Risks and Issues.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65440">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defRPr/>
                      </a:pPr>
                      <a:r>
                        <a:rPr kumimoji="0" lang="en-US" sz="700" b="1" i="0" u="none" strike="noStrike" cap="none" normalizeH="0" baseline="0" dirty="0" smtClean="0">
                          <a:ln>
                            <a:noFill/>
                          </a:ln>
                          <a:solidFill>
                            <a:schemeClr val="tx1">
                              <a:lumMod val="50000"/>
                            </a:schemeClr>
                          </a:solidFill>
                          <a:effectLst/>
                          <a:latin typeface="EYInterstate Light" pitchFamily="2" charset="0"/>
                        </a:rPr>
                        <a:t>Change Control.</a:t>
                      </a:r>
                      <a:endParaRPr kumimoji="0" lang="en-GB" sz="700" b="0" i="0" u="none" strike="noStrike" cap="none" normalizeH="0" baseline="0" dirty="0" smtClean="0">
                        <a:ln>
                          <a:noFill/>
                        </a:ln>
                        <a:solidFill>
                          <a:schemeClr val="tx1">
                            <a:lumMod val="50000"/>
                          </a:schemeClr>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1">
                              <a:lumMod val="50000"/>
                            </a:schemeClr>
                          </a:solidFill>
                          <a:effectLst/>
                          <a:latin typeface="EYInterstate Light" pitchFamily="2" charset="0"/>
                          <a:ea typeface="+mn-ea"/>
                          <a:cs typeface="+mn-cs"/>
                        </a:rPr>
                        <a:t>CR84 – Approved</a:t>
                      </a:r>
                      <a:endParaRPr kumimoji="0" lang="en-GB" sz="700" b="0" i="0" u="none" strike="noStrike" cap="none" normalizeH="0" baseline="0" dirty="0" smtClean="0">
                        <a:ln>
                          <a:noFill/>
                        </a:ln>
                        <a:solidFill>
                          <a:schemeClr val="tx1">
                            <a:lumMod val="50000"/>
                          </a:schemeClr>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987513">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700" b="1" i="0" u="none" strike="noStrike" cap="none" normalizeH="0" baseline="0" dirty="0" smtClean="0">
                          <a:ln>
                            <a:noFill/>
                          </a:ln>
                          <a:solidFill>
                            <a:schemeClr val="tx1">
                              <a:lumMod val="50000"/>
                            </a:schemeClr>
                          </a:solidFill>
                          <a:effectLst/>
                          <a:latin typeface="EYInterstate Light" pitchFamily="2" charset="0"/>
                        </a:rPr>
                        <a:t>General .</a:t>
                      </a:r>
                      <a:endParaRPr kumimoji="0" lang="en-US" sz="700" b="0" i="0" u="none" strike="noStrike" cap="none" normalizeH="0" baseline="0" dirty="0" smtClean="0">
                        <a:ln>
                          <a:noFill/>
                        </a:ln>
                        <a:solidFill>
                          <a:schemeClr val="tx1">
                            <a:lumMod val="50000"/>
                          </a:schemeClr>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Pct val="50000"/>
                        <a:buFont typeface="Wingdings" pitchFamily="2" charset="2"/>
                        <a:buChar char="Ø"/>
                        <a:tabLst/>
                      </a:pPr>
                      <a:r>
                        <a:rPr kumimoji="0" lang="en-US" sz="700" b="0" i="0" u="none" strike="noStrike" cap="none" normalizeH="0" baseline="0" dirty="0" smtClean="0">
                          <a:ln>
                            <a:noFill/>
                          </a:ln>
                          <a:solidFill>
                            <a:schemeClr val="tx1">
                              <a:lumMod val="50000"/>
                            </a:schemeClr>
                          </a:solidFill>
                          <a:effectLst/>
                          <a:latin typeface="EYInterstate Light" pitchFamily="2" charset="0"/>
                        </a:rPr>
                        <a:t>Progression of the new cost-model now moving forward.</a:t>
                      </a:r>
                      <a:endParaRPr kumimoji="0" lang="en-GB" sz="700" b="0" i="0" u="none" strike="noStrike" cap="none" normalizeH="0" baseline="0" dirty="0" smtClean="0">
                        <a:ln>
                          <a:noFill/>
                        </a:ln>
                        <a:solidFill>
                          <a:schemeClr val="tx1">
                            <a:lumMod val="50000"/>
                          </a:schemeClr>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smtClean="0">
                          <a:ln>
                            <a:noFill/>
                          </a:ln>
                          <a:solidFill>
                            <a:schemeClr val="tx1">
                              <a:lumMod val="50000"/>
                            </a:schemeClr>
                          </a:solidFill>
                          <a:effectLst/>
                          <a:latin typeface="EYInterstate Light" pitchFamily="2" charset="0"/>
                        </a:rPr>
                        <a:t>Program Interlock session ongoing - I&amp;O updates.</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err="1" smtClean="0">
                          <a:ln>
                            <a:noFill/>
                          </a:ln>
                          <a:solidFill>
                            <a:schemeClr val="tx1">
                              <a:lumMod val="50000"/>
                            </a:schemeClr>
                          </a:solidFill>
                          <a:effectLst/>
                          <a:latin typeface="EYInterstate Light" pitchFamily="2" charset="0"/>
                        </a:rPr>
                        <a:t>Lync</a:t>
                      </a:r>
                      <a:r>
                        <a:rPr kumimoji="0" lang="en-GB" sz="700" b="0" i="0" u="none" strike="noStrike" cap="none" normalizeH="0" baseline="0" dirty="0" smtClean="0">
                          <a:ln>
                            <a:noFill/>
                          </a:ln>
                          <a:solidFill>
                            <a:schemeClr val="tx1">
                              <a:lumMod val="50000"/>
                            </a:schemeClr>
                          </a:solidFill>
                          <a:effectLst/>
                          <a:latin typeface="EYInterstate Light" pitchFamily="2" charset="0"/>
                        </a:rPr>
                        <a:t> &amp; AT&amp;T ongoing engagement workshops to get </a:t>
                      </a:r>
                      <a:r>
                        <a:rPr kumimoji="0" lang="en-GB" sz="700" b="0" i="0" u="none" strike="noStrike" cap="none" normalizeH="0" baseline="0" dirty="0" err="1" smtClean="0">
                          <a:ln>
                            <a:noFill/>
                          </a:ln>
                          <a:solidFill>
                            <a:schemeClr val="tx1">
                              <a:lumMod val="50000"/>
                            </a:schemeClr>
                          </a:solidFill>
                          <a:effectLst/>
                          <a:latin typeface="EYInterstate Light" pitchFamily="2" charset="0"/>
                        </a:rPr>
                        <a:t>scopelock</a:t>
                      </a:r>
                      <a:r>
                        <a:rPr kumimoji="0" lang="en-GB" sz="700" b="0" i="0" u="none" strike="noStrike" cap="none" normalizeH="0" baseline="0" dirty="0" smtClean="0">
                          <a:ln>
                            <a:noFill/>
                          </a:ln>
                          <a:solidFill>
                            <a:schemeClr val="tx1">
                              <a:lumMod val="50000"/>
                            </a:schemeClr>
                          </a:solidFill>
                          <a:effectLst/>
                          <a:latin typeface="EYInterstate Light" pitchFamily="2" charset="0"/>
                        </a:rPr>
                        <a:t> In progress.</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smtClean="0">
                          <a:ln>
                            <a:noFill/>
                          </a:ln>
                          <a:solidFill>
                            <a:schemeClr val="tx1">
                              <a:lumMod val="50000"/>
                            </a:schemeClr>
                          </a:solidFill>
                          <a:effectLst/>
                          <a:latin typeface="EYInterstate Light" pitchFamily="2" charset="0"/>
                        </a:rPr>
                        <a:t> RAG criteria defined by PMO attached to appendix.</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smtClean="0">
                          <a:ln>
                            <a:noFill/>
                          </a:ln>
                          <a:solidFill>
                            <a:schemeClr val="tx1">
                              <a:lumMod val="50000"/>
                            </a:schemeClr>
                          </a:solidFill>
                          <a:effectLst/>
                          <a:latin typeface="EYInterstate Light" pitchFamily="2" charset="0"/>
                        </a:rPr>
                        <a:t> Finance RAG to be included from next fiscal year FY13.</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smtClean="0">
                          <a:ln>
                            <a:noFill/>
                          </a:ln>
                          <a:solidFill>
                            <a:schemeClr val="tx1">
                              <a:lumMod val="50000"/>
                            </a:schemeClr>
                          </a:solidFill>
                          <a:effectLst/>
                          <a:latin typeface="EYInterstate Light" pitchFamily="2" charset="0"/>
                        </a:rPr>
                        <a:t> New RAG definitions applied to current weeks program status report.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lumMod val="75000"/>
                            </a:schemeClr>
                          </a:solidFill>
                          <a:effectLst/>
                          <a:latin typeface="EYInterstate Light" pitchFamily="2" charset="0"/>
                        </a:rPr>
                        <a:t> Scope PMP documents were expected to have been completed by </a:t>
                      </a:r>
                      <a:r>
                        <a:rPr kumimoji="0" lang="en-US" sz="700" b="0" i="0" u="none" strike="noStrike" cap="none" normalizeH="0" baseline="0" dirty="0" err="1" smtClean="0">
                          <a:ln>
                            <a:noFill/>
                          </a:ln>
                          <a:solidFill>
                            <a:schemeClr val="tx1">
                              <a:lumMod val="75000"/>
                            </a:schemeClr>
                          </a:solidFill>
                          <a:effectLst/>
                          <a:latin typeface="EYInterstate Light" pitchFamily="2" charset="0"/>
                        </a:rPr>
                        <a:t>workstream</a:t>
                      </a:r>
                      <a:r>
                        <a:rPr kumimoji="0" lang="en-US" sz="700" b="0" i="0" u="none" strike="noStrike" cap="none" normalizeH="0" baseline="0" dirty="0" smtClean="0">
                          <a:ln>
                            <a:noFill/>
                          </a:ln>
                          <a:solidFill>
                            <a:schemeClr val="tx1">
                              <a:lumMod val="75000"/>
                            </a:schemeClr>
                          </a:solidFill>
                          <a:effectLst/>
                          <a:latin typeface="EYInterstate Light" pitchFamily="2" charset="0"/>
                        </a:rPr>
                        <a:t> leads by Tuesday 29</a:t>
                      </a:r>
                      <a:r>
                        <a:rPr kumimoji="0" lang="en-US" sz="700" b="0" i="0" u="none" strike="noStrike" cap="none" normalizeH="0" baseline="30000" dirty="0" smtClean="0">
                          <a:ln>
                            <a:noFill/>
                          </a:ln>
                          <a:solidFill>
                            <a:schemeClr val="tx1">
                              <a:lumMod val="75000"/>
                            </a:schemeClr>
                          </a:solidFill>
                          <a:effectLst/>
                          <a:latin typeface="EYInterstate Light" pitchFamily="2" charset="0"/>
                        </a:rPr>
                        <a:t>th</a:t>
                      </a:r>
                      <a:r>
                        <a:rPr kumimoji="0" lang="en-US" sz="700" b="0" i="0" u="none" strike="noStrike" cap="none" normalizeH="0" baseline="0" dirty="0" smtClean="0">
                          <a:ln>
                            <a:noFill/>
                          </a:ln>
                          <a:solidFill>
                            <a:schemeClr val="tx1">
                              <a:lumMod val="75000"/>
                            </a:schemeClr>
                          </a:solidFill>
                          <a:effectLst/>
                          <a:latin typeface="EYInterstate Light" pitchFamily="2" charset="0"/>
                        </a:rPr>
                        <a:t> May.</a:t>
                      </a:r>
                    </a:p>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GB" sz="700" b="0" i="0" u="none" strike="noStrike" cap="none" normalizeH="0" baseline="0" dirty="0" smtClean="0">
                        <a:ln>
                          <a:noFill/>
                        </a:ln>
                        <a:solidFill>
                          <a:schemeClr val="tx1">
                            <a:lumMod val="50000"/>
                          </a:schemeClr>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2" name="Table 11"/>
          <p:cNvGraphicFramePr>
            <a:graphicFrameLocks noGrp="1"/>
          </p:cNvGraphicFramePr>
          <p:nvPr/>
        </p:nvGraphicFramePr>
        <p:xfrm>
          <a:off x="-2460" y="3660774"/>
          <a:ext cx="5869857" cy="3044826"/>
        </p:xfrm>
        <a:graphic>
          <a:graphicData uri="http://schemas.openxmlformats.org/drawingml/2006/table">
            <a:tbl>
              <a:tblPr/>
              <a:tblGrid>
                <a:gridCol w="881791"/>
                <a:gridCol w="678550"/>
                <a:gridCol w="575719"/>
                <a:gridCol w="761717"/>
                <a:gridCol w="668718"/>
                <a:gridCol w="668718"/>
                <a:gridCol w="743020"/>
                <a:gridCol w="891624"/>
              </a:tblGrid>
              <a:tr h="156592">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gridSpan="6">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WEEKLY PROGRAM RAG ASSESSMENT TREND</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33103">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Program</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This week</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cap="none" normalizeH="0" baseline="0" dirty="0" smtClean="0">
                          <a:ln>
                            <a:noFill/>
                          </a:ln>
                          <a:solidFill>
                            <a:srgbClr val="000000"/>
                          </a:solidFill>
                          <a:effectLst/>
                          <a:latin typeface="EYInterstate Light" pitchFamily="2" charset="0"/>
                        </a:rPr>
                        <a:t>Last week</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Week -2</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Week -3</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Week -4</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EYInterstate Light" pitchFamily="2" charset="0"/>
                        </a:rPr>
                        <a:t>Week -5</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rgbClr val="000000"/>
                          </a:solidFill>
                          <a:effectLst/>
                          <a:latin typeface="EYInterstate Light" pitchFamily="2" charset="0"/>
                        </a:rPr>
                        <a:t>Week -6</a:t>
                      </a:r>
                      <a:endParaRPr kumimoji="0" lang="en-US" sz="7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56431">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Collaboration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chemeClr val="bg2">
                              <a:lumMod val="50000"/>
                            </a:schemeClr>
                          </a:solidFill>
                          <a:latin typeface="EYInterstate Light" pitchFamily="2" charset="0"/>
                        </a:rPr>
                        <a:t>RED</a:t>
                      </a:r>
                      <a:endParaRPr lang="en-GB" sz="700" dirty="0">
                        <a:solidFill>
                          <a:schemeClr val="bg2">
                            <a:lumMod val="50000"/>
                          </a:schemeClr>
                        </a:solidFill>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NO REPORT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endParaRPr kumimoji="0" lang="en-US" sz="700" b="0" i="0" u="none" strike="noStrike" kern="1200" cap="none" normalizeH="0" baseline="0" dirty="0">
                        <a:ln>
                          <a:noFill/>
                        </a:ln>
                        <a:solidFill>
                          <a:schemeClr val="bg2">
                            <a:lumMod val="50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52038">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App &amp; Data</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endParaRPr kumimoji="0" lang="en-US" sz="700" b="0" i="0" u="none" strike="noStrike" kern="1200" cap="none" normalizeH="0" baseline="0" dirty="0">
                        <a:ln>
                          <a:noFill/>
                        </a:ln>
                        <a:solidFill>
                          <a:schemeClr val="bg2">
                            <a:lumMod val="50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7003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Change Management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chemeClr val="bg2">
                              <a:lumMod val="50000"/>
                            </a:schemeClr>
                          </a:solidFill>
                          <a:latin typeface="EYInterstate Light" pitchFamily="2" charset="0"/>
                        </a:rPr>
                        <a:t>AMBER</a:t>
                      </a:r>
                      <a:endParaRPr lang="en-GB" sz="700" dirty="0">
                        <a:solidFill>
                          <a:schemeClr val="bg2">
                            <a:lumMod val="50000"/>
                          </a:schemeClr>
                        </a:solidFill>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2C973E"/>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2C973E"/>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GREEN</a:t>
                      </a:r>
                      <a:endParaRPr kumimoji="0" lang="en-US" sz="700" b="0" i="0" u="none" strike="noStrike" kern="1200" cap="none" normalizeH="0" baseline="0" dirty="0">
                        <a:ln>
                          <a:noFill/>
                        </a:ln>
                        <a:solidFill>
                          <a:schemeClr val="bg2">
                            <a:lumMod val="50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2C973E"/>
                    </a:solidFill>
                  </a:tcPr>
                </a:tc>
              </a:tr>
              <a:tr h="27003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Messaging</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chemeClr val="bg2">
                              <a:lumMod val="50000"/>
                            </a:schemeClr>
                          </a:solidFill>
                          <a:latin typeface="EYInterstate Light" pitchFamily="2" charset="0"/>
                        </a:rPr>
                        <a:t>RED</a:t>
                      </a:r>
                      <a:endParaRPr lang="en-GB" sz="700" dirty="0">
                        <a:solidFill>
                          <a:schemeClr val="bg2">
                            <a:lumMod val="50000"/>
                          </a:schemeClr>
                        </a:solidFill>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N/A</a:t>
                      </a:r>
                      <a:endParaRPr kumimoji="0" lang="en-US" sz="700" b="0" i="0" u="none" strike="noStrike" kern="1200" cap="none" normalizeH="0" baseline="0" dirty="0">
                        <a:ln>
                          <a:noFill/>
                        </a:ln>
                        <a:solidFill>
                          <a:schemeClr val="bg2">
                            <a:lumMod val="50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256431">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Outlook/Exchange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chemeClr val="bg2">
                              <a:lumMod val="50000"/>
                            </a:schemeClr>
                          </a:solidFill>
                          <a:latin typeface="EYInterstate Light" pitchFamily="2" charset="0"/>
                        </a:rPr>
                        <a:t>RED</a:t>
                      </a:r>
                      <a:endParaRPr lang="en-GB" sz="700" dirty="0">
                        <a:solidFill>
                          <a:schemeClr val="bg2">
                            <a:lumMod val="50000"/>
                          </a:schemeClr>
                        </a:solidFill>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endParaRPr kumimoji="0" lang="en-US" sz="700" b="0" i="0" u="none" strike="noStrike" kern="1200" cap="none" normalizeH="0" baseline="0" dirty="0">
                        <a:ln>
                          <a:noFill/>
                        </a:ln>
                        <a:solidFill>
                          <a:schemeClr val="bg2">
                            <a:lumMod val="50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7003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err="1" smtClean="0">
                          <a:ln>
                            <a:noFill/>
                          </a:ln>
                          <a:solidFill>
                            <a:srgbClr val="000000"/>
                          </a:solidFill>
                          <a:effectLst/>
                          <a:latin typeface="EYInterstate Light" pitchFamily="2" charset="0"/>
                          <a:ea typeface="+mn-ea"/>
                          <a:cs typeface="+mn-cs"/>
                        </a:rPr>
                        <a:t>Lync</a:t>
                      </a:r>
                      <a:endParaRPr kumimoji="0" lang="en-US" sz="700" b="1"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chemeClr val="bg2">
                              <a:lumMod val="50000"/>
                            </a:schemeClr>
                          </a:solidFill>
                          <a:latin typeface="EYInterstate Light" pitchFamily="2" charset="0"/>
                        </a:rPr>
                        <a:t>RED</a:t>
                      </a:r>
                      <a:endParaRPr lang="en-GB" sz="700" dirty="0">
                        <a:solidFill>
                          <a:schemeClr val="bg2">
                            <a:lumMod val="50000"/>
                          </a:schemeClr>
                        </a:solidFill>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endParaRPr kumimoji="0" lang="en-US" sz="700" b="0" i="0" u="none" strike="noStrike" kern="1200" cap="none" normalizeH="0" baseline="0" dirty="0">
                        <a:ln>
                          <a:noFill/>
                        </a:ln>
                        <a:solidFill>
                          <a:schemeClr val="bg2">
                            <a:lumMod val="50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7003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IT Transition Management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chemeClr val="bg2">
                              <a:lumMod val="50000"/>
                            </a:schemeClr>
                          </a:solidFill>
                          <a:latin typeface="EYInterstate Light" pitchFamily="2" charset="0"/>
                        </a:rPr>
                        <a:t>RED</a:t>
                      </a:r>
                      <a:endParaRPr lang="en-GB" sz="700" dirty="0">
                        <a:solidFill>
                          <a:schemeClr val="bg2">
                            <a:lumMod val="50000"/>
                          </a:schemeClr>
                        </a:solidFill>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endParaRPr kumimoji="0" lang="en-US" sz="700" b="0" i="0" u="none" strike="noStrike" kern="1200" cap="none" normalizeH="0" baseline="0" dirty="0">
                        <a:ln>
                          <a:noFill/>
                        </a:ln>
                        <a:solidFill>
                          <a:schemeClr val="bg2">
                            <a:lumMod val="50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7003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Business Deployment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chemeClr val="bg2">
                              <a:lumMod val="50000"/>
                            </a:schemeClr>
                          </a:solidFill>
                          <a:latin typeface="EYInterstate Light" pitchFamily="2" charset="0"/>
                        </a:rPr>
                        <a:t>AMBER</a:t>
                      </a:r>
                      <a:endParaRPr lang="en-GB" sz="700" dirty="0">
                        <a:solidFill>
                          <a:schemeClr val="bg2">
                            <a:lumMod val="50000"/>
                          </a:schemeClr>
                        </a:solidFill>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NO REPORT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GREEN</a:t>
                      </a:r>
                      <a:endParaRPr kumimoji="0" lang="en-US" sz="700" b="0" i="0" u="none" strike="noStrike" kern="1200" cap="none" normalizeH="0" baseline="0" dirty="0">
                        <a:ln>
                          <a:noFill/>
                        </a:ln>
                        <a:solidFill>
                          <a:schemeClr val="bg2">
                            <a:lumMod val="50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2C973E"/>
                    </a:solidFill>
                  </a:tcPr>
                </a:tc>
              </a:tr>
              <a:tr h="27003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Blueprint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chemeClr val="bg2">
                              <a:lumMod val="50000"/>
                            </a:schemeClr>
                          </a:solidFill>
                          <a:latin typeface="EYInterstate Light" pitchFamily="2" charset="0"/>
                        </a:rPr>
                        <a:t>GREEN</a:t>
                      </a:r>
                      <a:endParaRPr lang="en-GB" sz="700" dirty="0">
                        <a:solidFill>
                          <a:schemeClr val="bg2">
                            <a:lumMod val="50000"/>
                          </a:schemeClr>
                        </a:solidFill>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2C973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2C973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AMBER</a:t>
                      </a:r>
                      <a:endParaRPr kumimoji="0" lang="en-US" sz="700" b="0" i="0" u="none" strike="noStrike" kern="1200" cap="none" normalizeH="0" baseline="0" dirty="0">
                        <a:ln>
                          <a:noFill/>
                        </a:ln>
                        <a:solidFill>
                          <a:schemeClr val="bg2">
                            <a:lumMod val="50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7003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Microsoft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chemeClr val="bg2">
                              <a:lumMod val="50000"/>
                            </a:schemeClr>
                          </a:solidFill>
                          <a:latin typeface="EYInterstate Light" pitchFamily="2" charset="0"/>
                        </a:rPr>
                        <a:t>RED</a:t>
                      </a:r>
                      <a:endParaRPr lang="en-GB" sz="700" dirty="0">
                        <a:solidFill>
                          <a:schemeClr val="bg2">
                            <a:lumMod val="50000"/>
                          </a:schemeClr>
                        </a:solidFill>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chemeClr val="bg2">
                              <a:lumMod val="50000"/>
                            </a:schemeClr>
                          </a:solidFill>
                          <a:effectLst/>
                          <a:latin typeface="EYInterstate Light" pitchFamily="2" charset="0"/>
                          <a:ea typeface="+mn-ea"/>
                          <a:cs typeface="+mn-cs"/>
                        </a:rPr>
                        <a:t>NO REPORT</a:t>
                      </a:r>
                      <a:endParaRPr kumimoji="0" lang="en-US" sz="700" b="0" i="0" u="none" strike="noStrike" kern="1200" cap="none" normalizeH="0" baseline="0" dirty="0">
                        <a:ln>
                          <a:noFill/>
                        </a:ln>
                        <a:solidFill>
                          <a:schemeClr val="bg2">
                            <a:lumMod val="50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9" name="Table 8"/>
          <p:cNvGraphicFramePr>
            <a:graphicFrameLocks noGrp="1"/>
          </p:cNvGraphicFramePr>
          <p:nvPr/>
        </p:nvGraphicFramePr>
        <p:xfrm>
          <a:off x="2" y="304800"/>
          <a:ext cx="5562597" cy="3227087"/>
        </p:xfrm>
        <a:graphic>
          <a:graphicData uri="http://schemas.openxmlformats.org/drawingml/2006/table">
            <a:tbl>
              <a:tblPr/>
              <a:tblGrid>
                <a:gridCol w="945022"/>
                <a:gridCol w="454463"/>
                <a:gridCol w="454713"/>
                <a:gridCol w="644939"/>
                <a:gridCol w="644939"/>
                <a:gridCol w="483704"/>
                <a:gridCol w="644939"/>
                <a:gridCol w="644939"/>
                <a:gridCol w="644939"/>
              </a:tblGrid>
              <a:tr h="113989">
                <a:tc gridSpan="9">
                  <a:txBody>
                    <a:bodyPr/>
                    <a:lstStyle/>
                    <a:p>
                      <a:pPr algn="l" rtl="0" fontAlgn="ctr"/>
                      <a:r>
                        <a:rPr lang="en-GB" sz="700" b="1" i="0" u="none" strike="noStrike" dirty="0">
                          <a:solidFill>
                            <a:srgbClr val="646464"/>
                          </a:solidFill>
                          <a:latin typeface="EYInterstate"/>
                        </a:rPr>
                        <a:t>Weekly Ratings</a:t>
                      </a:r>
                      <a:r>
                        <a:rPr lang="en-GB" sz="700" b="0" i="0" u="none" strike="noStrike" dirty="0">
                          <a:solidFill>
                            <a:srgbClr val="646464"/>
                          </a:solidFill>
                          <a:latin typeface="EYInterstate"/>
                        </a:rPr>
                        <a:t> </a:t>
                      </a:r>
                      <a:endParaRPr lang="en-GB" sz="700" b="1" i="0" u="none" strike="noStrike" dirty="0">
                        <a:solidFill>
                          <a:srgbClr val="646464"/>
                        </a:solidFill>
                        <a:latin typeface="EYInterstate"/>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r>
              <a:tr h="264795">
                <a:tc>
                  <a:txBody>
                    <a:bodyPr/>
                    <a:lstStyle/>
                    <a:p>
                      <a:pPr algn="ctr" rtl="0" fontAlgn="ctr"/>
                      <a:r>
                        <a:rPr lang="en-GB" sz="700" b="1" i="0" u="none" strike="noStrike" dirty="0">
                          <a:solidFill>
                            <a:srgbClr val="000000"/>
                          </a:solidFill>
                          <a:latin typeface="EYInterstate Light"/>
                        </a:rPr>
                        <a:t>Program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Overall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EYInterstate Light"/>
                        </a:rPr>
                        <a:t>Scope </a:t>
                      </a:r>
                      <a:endParaRPr lang="en-GB" sz="700" b="1"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EYInterstate Light"/>
                        </a:rPr>
                        <a:t>Schedule</a:t>
                      </a:r>
                      <a:endParaRPr lang="en-GB" sz="700" b="1"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EYInterstate Light"/>
                        </a:rPr>
                        <a:t>Cost</a:t>
                      </a:r>
                      <a:endParaRPr lang="en-GB" sz="700" b="1"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RAID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Resource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Financial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EYInterstate Light"/>
                        </a:rPr>
                        <a:t>Vendor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r>
              <a:tr h="286879">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Collaboration</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chemeClr val="bg2">
                              <a:lumMod val="50000"/>
                            </a:schemeClr>
                          </a:solidFill>
                          <a:latin typeface="EYInterstate Light" pitchFamily="2" charset="0"/>
                          <a:ea typeface="+mn-ea"/>
                          <a:cs typeface="+mn-cs"/>
                        </a:rPr>
                        <a:t>RED</a:t>
                      </a:r>
                      <a:endParaRPr lang="en-GB" sz="700" b="0" i="0" u="none" strike="noStrike" kern="1200" dirty="0">
                        <a:solidFill>
                          <a:schemeClr val="bg2">
                            <a:lumMod val="50000"/>
                          </a:schemeClr>
                        </a:solidFill>
                        <a:latin typeface="EYInterstate Light" pitchFamily="2" charset="0"/>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chemeClr val="bg2">
                              <a:lumMod val="50000"/>
                            </a:schemeClr>
                          </a:solidFill>
                          <a:latin typeface="EYInterstate Light" pitchFamily="2" charset="0"/>
                          <a:ea typeface="+mn-ea"/>
                          <a:cs typeface="+mn-cs"/>
                        </a:rPr>
                        <a:t>RED</a:t>
                      </a:r>
                      <a:endParaRPr lang="en-GB" sz="700" b="0" i="0" u="none" strike="noStrike" kern="1200" dirty="0">
                        <a:solidFill>
                          <a:schemeClr val="bg2">
                            <a:lumMod val="50000"/>
                          </a:schemeClr>
                        </a:solidFill>
                        <a:latin typeface="EYInterstate Light" pitchFamily="2" charset="0"/>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chemeClr val="bg2">
                              <a:lumMod val="50000"/>
                            </a:schemeClr>
                          </a:solidFill>
                          <a:latin typeface="EYInterstate Light" pitchFamily="2" charset="0"/>
                          <a:ea typeface="+mn-ea"/>
                          <a:cs typeface="+mn-cs"/>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chemeClr val="bg2">
                              <a:lumMod val="50000"/>
                            </a:schemeClr>
                          </a:solidFill>
                          <a:latin typeface="EYInterstate Light" pitchFamily="2" charset="0"/>
                          <a:ea typeface="+mn-ea"/>
                          <a:cs typeface="+mn-cs"/>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algn="ctr"/>
                      <a:r>
                        <a:rPr lang="en-US" sz="700" dirty="0" smtClean="0">
                          <a:solidFill>
                            <a:schemeClr val="bg2">
                              <a:lumMod val="50000"/>
                            </a:schemeClr>
                          </a:solidFill>
                          <a:latin typeface="EYInterstate Light" pitchFamily="2" charset="0"/>
                        </a:rPr>
                        <a:t>RED</a:t>
                      </a:r>
                      <a:endParaRPr lang="en-US" sz="700"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chemeClr val="bg2">
                              <a:lumMod val="50000"/>
                            </a:schemeClr>
                          </a:solidFill>
                          <a:latin typeface="EYInterstate Light" pitchFamily="2" charset="0"/>
                          <a:ea typeface="+mn-ea"/>
                          <a:cs typeface="+mn-cs"/>
                        </a:rPr>
                        <a:t>AMBER</a:t>
                      </a:r>
                      <a:endParaRPr lang="en-GB" sz="700" b="0" i="0" u="none" strike="noStrike" kern="1200" dirty="0">
                        <a:solidFill>
                          <a:schemeClr val="bg2">
                            <a:lumMod val="50000"/>
                          </a:schemeClr>
                        </a:solidFill>
                        <a:latin typeface="EYInterstate Light" pitchFamily="2" charset="0"/>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chemeClr val="bg2">
                              <a:lumMod val="50000"/>
                            </a:schemeClr>
                          </a:solidFill>
                          <a:latin typeface="EYInterstate Light" pitchFamily="2" charset="0"/>
                          <a:ea typeface="+mn-ea"/>
                          <a:cs typeface="+mn-cs"/>
                        </a:rPr>
                        <a:t>TBC</a:t>
                      </a:r>
                      <a:endParaRPr lang="en-GB" sz="700" b="0" i="0" u="none" strike="noStrike" kern="1200" dirty="0">
                        <a:solidFill>
                          <a:schemeClr val="bg2">
                            <a:lumMod val="50000"/>
                          </a:schemeClr>
                        </a:solidFill>
                        <a:latin typeface="EYInterstate Light" pitchFamily="2" charset="0"/>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GB" sz="700" b="0" i="0" u="none" strike="noStrike" kern="1200" dirty="0" smtClean="0">
                          <a:solidFill>
                            <a:schemeClr val="bg2">
                              <a:lumMod val="50000"/>
                            </a:schemeClr>
                          </a:solidFill>
                          <a:latin typeface="EYInterstate Light" pitchFamily="2" charset="0"/>
                          <a:ea typeface="+mn-ea"/>
                          <a:cs typeface="+mn-cs"/>
                        </a:rPr>
                        <a:t>TBC</a:t>
                      </a:r>
                      <a:endParaRPr lang="en-GB" sz="700" b="0" i="0" u="none" strike="noStrike" kern="1200" dirty="0">
                        <a:solidFill>
                          <a:schemeClr val="bg2">
                            <a:lumMod val="50000"/>
                          </a:schemeClr>
                        </a:solidFill>
                        <a:latin typeface="EYInterstate Light" pitchFamily="2" charset="0"/>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37088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App &amp; Data</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algn="ctr" rtl="0" fontAlgn="ctr"/>
                      <a:r>
                        <a:rPr lang="en-GB" sz="700" b="0" i="0" u="none" strike="noStrike" dirty="0" smtClean="0">
                          <a:solidFill>
                            <a:schemeClr val="bg2">
                              <a:lumMod val="50000"/>
                            </a:schemeClr>
                          </a:solidFill>
                          <a:latin typeface="EYInterstate Light" pitchFamily="2" charset="0"/>
                        </a:rPr>
                        <a:t>RED</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algn="ctr"/>
                      <a:r>
                        <a:rPr lang="en-US" sz="700" dirty="0" smtClean="0">
                          <a:solidFill>
                            <a:schemeClr val="bg2">
                              <a:lumMod val="50000"/>
                            </a:schemeClr>
                          </a:solidFill>
                          <a:latin typeface="EYInterstate Light" pitchFamily="2" charset="0"/>
                        </a:rPr>
                        <a:t>RED</a:t>
                      </a:r>
                      <a:endParaRPr lang="en-US" sz="700"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TBC</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chemeClr val="bg2">
                              <a:lumMod val="50000"/>
                            </a:schemeClr>
                          </a:solidFill>
                          <a:latin typeface="EYInterstate Light" pitchFamily="2" charset="0"/>
                        </a:rPr>
                        <a:t>TBC</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337076">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Change Management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AMBER</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accent2"/>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algn="ctr"/>
                      <a:r>
                        <a:rPr lang="en-US" sz="700" dirty="0" smtClean="0">
                          <a:solidFill>
                            <a:schemeClr val="bg2">
                              <a:lumMod val="50000"/>
                            </a:schemeClr>
                          </a:solidFill>
                          <a:latin typeface="EYInterstate Light" pitchFamily="2" charset="0"/>
                        </a:rPr>
                        <a:t>GREEN</a:t>
                      </a:r>
                      <a:endParaRPr lang="en-US" sz="700"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chemeClr val="bg2">
                              <a:lumMod val="50000"/>
                            </a:schemeClr>
                          </a:solidFill>
                          <a:latin typeface="EYInterstate Light" pitchFamily="2" charset="0"/>
                        </a:rPr>
                        <a:t>TBC</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37422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Messaging </a:t>
                      </a:r>
                      <a:r>
                        <a:rPr kumimoji="0" lang="en-US" sz="700" b="1" i="0" u="none" strike="noStrike" kern="1200" cap="none" normalizeH="0" baseline="0" dirty="0" err="1" smtClean="0">
                          <a:ln>
                            <a:noFill/>
                          </a:ln>
                          <a:solidFill>
                            <a:srgbClr val="000000"/>
                          </a:solidFill>
                          <a:effectLst/>
                          <a:latin typeface="EYInterstate Light" pitchFamily="2" charset="0"/>
                          <a:ea typeface="+mn-ea"/>
                          <a:cs typeface="+mn-cs"/>
                        </a:rPr>
                        <a:t>Lync</a:t>
                      </a:r>
                      <a:endParaRPr kumimoji="0" lang="en-US" sz="700" b="1"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RED</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algn="ctr"/>
                      <a:r>
                        <a:rPr lang="en-US" sz="700" dirty="0" smtClean="0">
                          <a:solidFill>
                            <a:schemeClr val="bg2">
                              <a:lumMod val="50000"/>
                            </a:schemeClr>
                          </a:solidFill>
                          <a:latin typeface="EYInterstate Light" pitchFamily="2" charset="0"/>
                        </a:rPr>
                        <a:t>GREEN</a:t>
                      </a:r>
                      <a:endParaRPr lang="en-US" sz="700"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chemeClr val="bg2">
                              <a:lumMod val="50000"/>
                            </a:schemeClr>
                          </a:solidFill>
                          <a:latin typeface="EYInterstate Light" pitchFamily="2" charset="0"/>
                        </a:rPr>
                        <a:t>TBC</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341684">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Messaging Outlook</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RED</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a:r>
                        <a:rPr lang="en-US" sz="700" dirty="0" smtClean="0">
                          <a:solidFill>
                            <a:schemeClr val="bg2">
                              <a:lumMod val="50000"/>
                            </a:schemeClr>
                          </a:solidFill>
                          <a:latin typeface="EYInterstate Light" pitchFamily="2" charset="0"/>
                        </a:rPr>
                        <a:t>RED</a:t>
                      </a:r>
                      <a:endParaRPr lang="en-US" sz="700"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chemeClr val="bg2">
                              <a:lumMod val="50000"/>
                            </a:schemeClr>
                          </a:solidFill>
                          <a:latin typeface="EYInterstate Light" pitchFamily="2" charset="0"/>
                        </a:rPr>
                        <a:t>TBC</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270906">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IT Transition Management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RED</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algn="ctr"/>
                      <a:r>
                        <a:rPr lang="en-US" sz="700" dirty="0" smtClean="0">
                          <a:solidFill>
                            <a:schemeClr val="bg2">
                              <a:lumMod val="50000"/>
                            </a:schemeClr>
                          </a:solidFill>
                          <a:latin typeface="EYInterstate Light" pitchFamily="2" charset="0"/>
                        </a:rPr>
                        <a:t>AMBER</a:t>
                      </a:r>
                      <a:endParaRPr lang="en-US" sz="700"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chemeClr val="bg2">
                              <a:lumMod val="50000"/>
                            </a:schemeClr>
                          </a:solidFill>
                          <a:latin typeface="EYInterstate Light" pitchFamily="2" charset="0"/>
                        </a:rPr>
                        <a:t>TBC</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270906">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Business Deployment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RED</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accent2"/>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NO DATA</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a:r>
                        <a:rPr lang="en-US" sz="700" dirty="0" smtClean="0">
                          <a:solidFill>
                            <a:schemeClr val="bg2">
                              <a:lumMod val="50000"/>
                            </a:schemeClr>
                          </a:solidFill>
                          <a:latin typeface="EYInterstate Light" pitchFamily="2" charset="0"/>
                        </a:rPr>
                        <a:t>GREEN</a:t>
                      </a:r>
                      <a:endParaRPr lang="en-US" sz="700"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chemeClr val="bg2">
                              <a:lumMod val="50000"/>
                            </a:schemeClr>
                          </a:solidFill>
                          <a:latin typeface="EYInterstate Light" pitchFamily="2" charset="0"/>
                        </a:rPr>
                        <a:t>TBC</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270906">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EYInterstate Light" pitchFamily="2" charset="0"/>
                          <a:ea typeface="+mn-ea"/>
                          <a:cs typeface="+mn-cs"/>
                        </a:rPr>
                        <a:t>Blueprint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AMBER</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accent2"/>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algn="ctr" rtl="0" fontAlgn="ctr"/>
                      <a:r>
                        <a:rPr lang="en-GB" sz="700" b="0" i="0" u="none" strike="noStrike" dirty="0" smtClean="0">
                          <a:solidFill>
                            <a:schemeClr val="bg2">
                              <a:lumMod val="50000"/>
                            </a:schemeClr>
                          </a:solidFill>
                          <a:latin typeface="EYInterstate Light" pitchFamily="2" charset="0"/>
                        </a:rPr>
                        <a:t>AMBER</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algn="ctr" rtl="0" fontAlgn="ctr"/>
                      <a:r>
                        <a:rPr lang="en-GB" sz="700" b="0" i="0" u="none" strike="noStrike" dirty="0" smtClean="0">
                          <a:solidFill>
                            <a:schemeClr val="bg2">
                              <a:lumMod val="50000"/>
                            </a:schemeClr>
                          </a:solidFill>
                          <a:latin typeface="EYInterstate Light" pitchFamily="2" charset="0"/>
                        </a:rPr>
                        <a:t>GREEN</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chemeClr val="bg2">
                              <a:lumMod val="50000"/>
                            </a:schemeClr>
                          </a:solidFill>
                          <a:latin typeface="EYInterstate Light" pitchFamily="2" charset="0"/>
                        </a:rPr>
                        <a:t>TBC</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322625">
                <a:tc>
                  <a:txBody>
                    <a:bodyPr/>
                    <a:lstStyle/>
                    <a:p>
                      <a:pPr algn="ctr" rtl="0" fontAlgn="ctr"/>
                      <a:r>
                        <a:rPr lang="en-GB" sz="700" b="1" i="0" u="none" strike="noStrike" dirty="0" smtClean="0">
                          <a:solidFill>
                            <a:srgbClr val="000000"/>
                          </a:solidFill>
                          <a:latin typeface="EYInterstate Light"/>
                        </a:rPr>
                        <a:t>Overall</a:t>
                      </a:r>
                      <a:endParaRPr lang="en-GB" sz="700" b="1" i="0" u="none" strike="noStrike" dirty="0">
                        <a:solidFill>
                          <a:srgbClr val="000000"/>
                        </a:solidFill>
                        <a:latin typeface="EYInterstate Ligh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RED</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chemeClr val="bg2">
                              <a:lumMod val="50000"/>
                            </a:schemeClr>
                          </a:solidFill>
                          <a:latin typeface="EYInterstate Light" pitchFamily="2" charset="0"/>
                        </a:rPr>
                        <a:t>RED</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chemeClr val="bg2">
                              <a:lumMod val="50000"/>
                            </a:schemeClr>
                          </a:solidFill>
                          <a:latin typeface="EYInterstate Light" pitchFamily="2" charset="0"/>
                        </a:rPr>
                        <a:t>RED</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chemeClr val="bg2">
                              <a:lumMod val="50000"/>
                            </a:schemeClr>
                          </a:solidFill>
                          <a:latin typeface="EYInterstate Light" pitchFamily="2" charset="0"/>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chemeClr val="bg2">
                              <a:lumMod val="50000"/>
                            </a:schemeClr>
                          </a:solidFill>
                          <a:latin typeface="EYInterstate Light" pitchFamily="2" charset="0"/>
                        </a:rPr>
                        <a:t>TBC</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chemeClr val="bg2">
                              <a:lumMod val="50000"/>
                            </a:schemeClr>
                          </a:solidFill>
                          <a:latin typeface="EYInterstate Light" pitchFamily="2" charset="0"/>
                        </a:rPr>
                        <a:t>TBC</a:t>
                      </a:r>
                      <a:endParaRPr lang="en-GB" sz="700" b="0" i="0" u="none" strike="noStrike" dirty="0">
                        <a:solidFill>
                          <a:schemeClr val="bg2">
                            <a:lumMod val="50000"/>
                          </a:schemeClr>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bl>
          </a:graphicData>
        </a:graphic>
      </p:graphicFrame>
      <p:graphicFrame>
        <p:nvGraphicFramePr>
          <p:cNvPr id="8" name="Table 7"/>
          <p:cNvGraphicFramePr>
            <a:graphicFrameLocks noGrp="1"/>
          </p:cNvGraphicFramePr>
          <p:nvPr/>
        </p:nvGraphicFramePr>
        <p:xfrm>
          <a:off x="5867400" y="5562600"/>
          <a:ext cx="3276600" cy="918840"/>
        </p:xfrm>
        <a:graphic>
          <a:graphicData uri="http://schemas.openxmlformats.org/drawingml/2006/table">
            <a:tbl>
              <a:tblPr/>
              <a:tblGrid>
                <a:gridCol w="3276600"/>
              </a:tblGrid>
              <a:tr h="98312">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lumMod val="75000"/>
                            </a:schemeClr>
                          </a:solidFill>
                          <a:effectLst/>
                          <a:latin typeface="EYInterstate Light" pitchFamily="2" charset="0"/>
                        </a:rPr>
                        <a:t>PMO Work stream RAG Assessment Vs Program Managers.</a:t>
                      </a:r>
                      <a:endParaRPr kumimoji="0" lang="en-US" sz="700" b="1" i="0" u="none" strike="noStrike" cap="none" normalizeH="0" baseline="0" dirty="0">
                        <a:ln>
                          <a:noFill/>
                        </a:ln>
                        <a:solidFill>
                          <a:schemeClr val="tx1">
                            <a:lumMod val="75000"/>
                          </a:schemeClr>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2">
                        <a:lumMod val="60000"/>
                        <a:lumOff val="40000"/>
                      </a:schemeClr>
                    </a:solidFill>
                  </a:tcPr>
                </a:tc>
              </a:tr>
              <a:tr h="739888">
                <a:tc>
                  <a:txBody>
                    <a:bodyPr/>
                    <a:lstStyle/>
                    <a:p>
                      <a:pPr marL="88900" marR="0" lvl="0" indent="-88900" algn="l" defTabSz="947738" rtl="0" eaLnBrk="0" fontAlgn="base" latinLnBrk="0" hangingPunct="0">
                        <a:lnSpc>
                          <a:spcPct val="100000"/>
                        </a:lnSpc>
                        <a:spcBef>
                          <a:spcPct val="0"/>
                        </a:spcBef>
                        <a:spcAft>
                          <a:spcPct val="10000"/>
                        </a:spcAft>
                        <a:buClrTx/>
                        <a:buSzTx/>
                        <a:buFont typeface="Wingdings" pitchFamily="2" charset="2"/>
                        <a:buChar char="Ø"/>
                        <a:tabLst/>
                        <a:defRPr/>
                      </a:pPr>
                      <a:r>
                        <a:rPr kumimoji="0" lang="en-US" sz="700" b="1" i="0" u="none" strike="noStrike" cap="none" normalizeH="0" baseline="0" dirty="0" smtClean="0">
                          <a:ln>
                            <a:noFill/>
                          </a:ln>
                          <a:solidFill>
                            <a:schemeClr val="tx1">
                              <a:lumMod val="75000"/>
                            </a:schemeClr>
                          </a:solidFill>
                          <a:effectLst/>
                          <a:latin typeface="EYInterstate Light" pitchFamily="2" charset="0"/>
                        </a:rPr>
                        <a:t> Microsoft Report. </a:t>
                      </a:r>
                      <a:r>
                        <a:rPr kumimoji="0" lang="en-US" sz="700" b="0" i="0" u="none" strike="noStrike" cap="none" normalizeH="0" baseline="0" dirty="0" smtClean="0">
                          <a:ln>
                            <a:noFill/>
                          </a:ln>
                          <a:solidFill>
                            <a:schemeClr val="tx1">
                              <a:lumMod val="75000"/>
                            </a:schemeClr>
                          </a:solidFill>
                          <a:effectLst/>
                          <a:latin typeface="EYInterstate Light" pitchFamily="2" charset="0"/>
                        </a:rPr>
                        <a:t>The Microsoft report dated 8 Jun with AMBER RAG assessment conflicts with the PMO assessment as the Milestone (</a:t>
                      </a:r>
                      <a:r>
                        <a:rPr kumimoji="0" lang="en-US" sz="700" b="1" i="0" u="none" strike="noStrike" cap="none" normalizeH="0" baseline="0" dirty="0" smtClean="0">
                          <a:ln>
                            <a:noFill/>
                          </a:ln>
                          <a:solidFill>
                            <a:schemeClr val="tx1">
                              <a:lumMod val="75000"/>
                            </a:schemeClr>
                          </a:solidFill>
                          <a:effectLst/>
                          <a:latin typeface="EYInterstate Light" pitchFamily="2" charset="0"/>
                        </a:rPr>
                        <a:t>Identity Management</a:t>
                      </a:r>
                      <a:r>
                        <a:rPr kumimoji="0" lang="en-US" sz="700" b="0" i="0" u="none" strike="noStrike" cap="none" normalizeH="0" baseline="0" dirty="0" smtClean="0">
                          <a:ln>
                            <a:noFill/>
                          </a:ln>
                          <a:solidFill>
                            <a:schemeClr val="tx1">
                              <a:lumMod val="75000"/>
                            </a:schemeClr>
                          </a:solidFill>
                          <a:effectLst/>
                          <a:latin typeface="EYInterstate Light" pitchFamily="2" charset="0"/>
                        </a:rPr>
                        <a:t>) is RED.</a:t>
                      </a:r>
                    </a:p>
                    <a:p>
                      <a:pPr marL="88900" marR="0" lvl="0" indent="-88900" algn="l" defTabSz="947738" rtl="0" eaLnBrk="0" fontAlgn="base" latinLnBrk="0" hangingPunct="0">
                        <a:lnSpc>
                          <a:spcPct val="100000"/>
                        </a:lnSpc>
                        <a:spcBef>
                          <a:spcPct val="0"/>
                        </a:spcBef>
                        <a:spcAft>
                          <a:spcPct val="10000"/>
                        </a:spcAft>
                        <a:buClrTx/>
                        <a:buSzTx/>
                        <a:buFont typeface="Wingdings" pitchFamily="2" charset="2"/>
                        <a:buChar char="Ø"/>
                        <a:tabLst/>
                        <a:defRPr/>
                      </a:pPr>
                      <a:r>
                        <a:rPr kumimoji="0" lang="en-US" sz="700" b="0" i="0" u="none" strike="noStrike" cap="none" normalizeH="0" baseline="0" dirty="0" smtClean="0">
                          <a:ln>
                            <a:noFill/>
                          </a:ln>
                          <a:solidFill>
                            <a:schemeClr val="tx1">
                              <a:lumMod val="75000"/>
                            </a:schemeClr>
                          </a:solidFill>
                          <a:effectLst/>
                          <a:latin typeface="EYInterstate Light" pitchFamily="2" charset="0"/>
                        </a:rPr>
                        <a:t>All Program scope is RED due to the lack of solid scope document for the program work-streams. Only Transition &amp; Change Mgt are GREEN as a submitted scope document is in place. The other </a:t>
                      </a:r>
                      <a:r>
                        <a:rPr kumimoji="0" lang="en-US" sz="700" b="0" i="0" u="none" strike="noStrike" cap="none" normalizeH="0" baseline="0" dirty="0" err="1" smtClean="0">
                          <a:ln>
                            <a:noFill/>
                          </a:ln>
                          <a:solidFill>
                            <a:schemeClr val="tx1">
                              <a:lumMod val="75000"/>
                            </a:schemeClr>
                          </a:solidFill>
                          <a:effectLst/>
                          <a:latin typeface="EYInterstate Light" pitchFamily="2" charset="0"/>
                        </a:rPr>
                        <a:t>workstream</a:t>
                      </a:r>
                      <a:r>
                        <a:rPr kumimoji="0" lang="en-US" sz="700" b="0" i="0" u="none" strike="noStrike" cap="none" normalizeH="0" baseline="0" dirty="0" smtClean="0">
                          <a:ln>
                            <a:noFill/>
                          </a:ln>
                          <a:solidFill>
                            <a:schemeClr val="tx1">
                              <a:lumMod val="75000"/>
                            </a:schemeClr>
                          </a:solidFill>
                          <a:effectLst/>
                          <a:latin typeface="EYInterstate Light" pitchFamily="2" charset="0"/>
                        </a:rPr>
                        <a:t> Scope status is expected to change as soon as the scope documents are in place.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 name="Group 270"/>
          <p:cNvGraphicFramePr>
            <a:graphicFrameLocks noGrp="1"/>
          </p:cNvGraphicFramePr>
          <p:nvPr/>
        </p:nvGraphicFramePr>
        <p:xfrm>
          <a:off x="107506" y="2895600"/>
          <a:ext cx="4540694" cy="3505200"/>
        </p:xfrm>
        <a:graphic>
          <a:graphicData uri="http://schemas.openxmlformats.org/drawingml/2006/table">
            <a:tbl>
              <a:tblPr/>
              <a:tblGrid>
                <a:gridCol w="2040023"/>
                <a:gridCol w="460650"/>
                <a:gridCol w="897021"/>
                <a:gridCol w="608801"/>
                <a:gridCol w="534199"/>
              </a:tblGrid>
              <a:tr h="136355">
                <a:tc gridSpan="5">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B. DEPENDENCY ALIGNMENT STATISTICS</a:t>
                      </a:r>
                      <a:endParaRPr kumimoji="0" lang="en-US" sz="700" b="0" i="0" u="sng" strike="noStrike" kern="1200" cap="none" normalizeH="0" baseline="0" dirty="0" smtClean="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1">
                        <a:lumMod val="20000"/>
                        <a:lumOff val="80000"/>
                      </a:schemeClr>
                    </a:solidFill>
                  </a:tcPr>
                </a:tc>
                <a:tc hMerge="1">
                  <a:txBody>
                    <a:bodyPr/>
                    <a:lstStyle/>
                    <a:p>
                      <a:endParaRPr lang="en-GB"/>
                    </a:p>
                  </a:txBody>
                  <a:tcPr/>
                </a:tc>
                <a:tc hMerge="1">
                  <a:txBody>
                    <a:bodyPr/>
                    <a:lstStyle/>
                    <a:p>
                      <a:endParaRPr lang="en-GB"/>
                    </a:p>
                  </a:txBody>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4487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Enterprise Plan League Table Position This Week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11 /18</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 Change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This Week</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Last Week</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36355">
                <a:tc gridSpan="2">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Overall  Dependency Alignment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hMerge="1">
                  <a:txBody>
                    <a:bodyPr/>
                    <a:lstStyle/>
                    <a:p>
                      <a:endParaRPr lang="en-GB"/>
                    </a:p>
                  </a:txBody>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FF0000"/>
                          </a:solidFill>
                          <a:effectLst/>
                          <a:latin typeface="EYInterstate Light" pitchFamily="2" charset="0"/>
                        </a:rPr>
                        <a:t>-25%</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31%</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51%</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920818">
                <a:tc gridSpan="5">
                  <a:txBody>
                    <a:bodyPr/>
                    <a:lstStyle/>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hMerge="1">
                  <a:txBody>
                    <a:bodyPr/>
                    <a:lstStyle/>
                    <a:p>
                      <a:endParaRPr lang="en-GB"/>
                    </a:p>
                  </a:txBody>
                  <a:tcPr/>
                </a:tc>
                <a:tc hMerge="1">
                  <a:txBody>
                    <a:bodyPr/>
                    <a:lstStyle/>
                    <a:p>
                      <a:endParaRPr lang="en-GB"/>
                    </a:p>
                  </a:txBody>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endParaRPr kumimoji="0" lang="en-US" sz="700" b="0" i="0" u="none" strike="noStrike" cap="none" normalizeH="0" baseline="0" dirty="0" smtClean="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endParaRPr kumimoji="0" lang="en-US" sz="700" b="0" i="0" u="none" strike="noStrike" cap="none" normalizeH="0" baseline="0" dirty="0" smtClean="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36355">
                <a:tc gridSpan="5">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Commentary – Key Dependency Misalignments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1">
                        <a:lumMod val="20000"/>
                        <a:lumOff val="80000"/>
                      </a:schemeClr>
                    </a:solidFill>
                  </a:tcPr>
                </a:tc>
                <a:tc hMerge="1">
                  <a:txBody>
                    <a:bodyPr/>
                    <a:lstStyle/>
                    <a:p>
                      <a:endParaRPr lang="en-GB"/>
                    </a:p>
                  </a:txBody>
                  <a:tcPr/>
                </a:tc>
                <a:tc hMerge="1">
                  <a:txBody>
                    <a:bodyPr/>
                    <a:lstStyle/>
                    <a:p>
                      <a:endParaRPr lang="en-GB"/>
                    </a:p>
                  </a:txBody>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930445">
                <a:tc gridSpan="5">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Key Dependency misalignments this week relate to  :-</a:t>
                      </a:r>
                      <a:endParaRPr kumimoji="0" lang="en-US" sz="700" b="1" i="1" u="none" strike="noStrike" cap="none" normalizeH="0" baseline="0" dirty="0" smtClean="0">
                        <a:ln>
                          <a:noFill/>
                        </a:ln>
                        <a:solidFill>
                          <a:schemeClr val="tx1"/>
                        </a:solidFill>
                        <a:effectLst/>
                        <a:latin typeface="EYInterstate Light" pitchFamily="2" charset="0"/>
                      </a:endParaRPr>
                    </a:p>
                    <a:p>
                      <a:pPr marL="228600" marR="0" lvl="0" indent="-228600" algn="l" defTabSz="947738" rtl="0" eaLnBrk="0" fontAlgn="base" latinLnBrk="0" hangingPunct="0">
                        <a:lnSpc>
                          <a:spcPct val="100000"/>
                        </a:lnSpc>
                        <a:spcBef>
                          <a:spcPct val="0"/>
                        </a:spcBef>
                        <a:spcAft>
                          <a:spcPct val="10000"/>
                        </a:spcAft>
                        <a:buClr>
                          <a:schemeClr val="hlink"/>
                        </a:buClr>
                        <a:buSzTx/>
                        <a:buFont typeface="EYInterstate" pitchFamily="2" charset="0"/>
                        <a:buAutoNum type="arabicParenR"/>
                        <a:tabLst/>
                      </a:pPr>
                      <a:r>
                        <a:rPr kumimoji="0" lang="en-US" sz="700" b="1" i="0" u="none" strike="noStrike" cap="none" normalizeH="0" baseline="0" dirty="0" smtClean="0">
                          <a:ln>
                            <a:noFill/>
                          </a:ln>
                          <a:solidFill>
                            <a:schemeClr val="tx1"/>
                          </a:solidFill>
                          <a:effectLst/>
                          <a:latin typeface="EYInterstate Light" pitchFamily="2" charset="0"/>
                        </a:rPr>
                        <a:t>30 day “get to green” action plan in place. Baseline plans in place for all streams, however dependency alignment is significantly reduced due to previous plans being shelved and new versions created. Meetings now occurring every 2 weeks for UC /TF, ADM and SharePoint (tba) to address the gap / misalignment.</a:t>
                      </a:r>
                    </a:p>
                    <a:p>
                      <a:pPr marL="228600" marR="0" lvl="0" indent="-228600" algn="l" defTabSz="947738" rtl="0" eaLnBrk="0" fontAlgn="base" latinLnBrk="0" hangingPunct="0">
                        <a:lnSpc>
                          <a:spcPct val="100000"/>
                        </a:lnSpc>
                        <a:spcBef>
                          <a:spcPct val="0"/>
                        </a:spcBef>
                        <a:spcAft>
                          <a:spcPct val="10000"/>
                        </a:spcAft>
                        <a:buClr>
                          <a:schemeClr val="hlink"/>
                        </a:buClr>
                        <a:buSzTx/>
                        <a:buFont typeface="EYInterstate" pitchFamily="2" charset="0"/>
                        <a:buAutoNum type="arabicParenR"/>
                        <a:tabLst/>
                      </a:pPr>
                      <a:r>
                        <a:rPr kumimoji="0" lang="en-US" sz="700" b="1" i="0" u="none" strike="noStrike" cap="none" normalizeH="0" baseline="0" dirty="0" smtClean="0">
                          <a:ln>
                            <a:noFill/>
                          </a:ln>
                          <a:solidFill>
                            <a:schemeClr val="tx1"/>
                          </a:solidFill>
                          <a:effectLst/>
                          <a:latin typeface="EYInterstate Light" pitchFamily="2" charset="0"/>
                        </a:rPr>
                        <a:t>Overall, a new / revised organizational structure will determine what dependencies remain and which will in essence be rolled into new work streams. This is due over the next 1 week.</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r>
            </a:tbl>
          </a:graphicData>
        </a:graphic>
      </p:graphicFrame>
      <p:grpSp>
        <p:nvGrpSpPr>
          <p:cNvPr id="2" name="Group 8"/>
          <p:cNvGrpSpPr/>
          <p:nvPr/>
        </p:nvGrpSpPr>
        <p:grpSpPr>
          <a:xfrm>
            <a:off x="107505" y="-3264"/>
            <a:ext cx="11170096" cy="533400"/>
            <a:chOff x="-2459" y="-3265"/>
            <a:chExt cx="9310073" cy="623953"/>
          </a:xfrm>
        </p:grpSpPr>
        <p:sp>
          <p:nvSpPr>
            <p:cNvPr id="8"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69" name="Rectangle 2"/>
            <p:cNvSpPr txBox="1">
              <a:spLocks noChangeArrowheads="1"/>
            </p:cNvSpPr>
            <p:nvPr/>
          </p:nvSpPr>
          <p:spPr bwMode="gray">
            <a:xfrm>
              <a:off x="179802" y="13569"/>
              <a:ext cx="9127812" cy="607119"/>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algn="l" eaLnBrk="0" hangingPunct="0">
                <a:lnSpc>
                  <a:spcPct val="85000"/>
                </a:lnSpc>
                <a:defRPr/>
              </a:pPr>
              <a:r>
                <a:rPr lang="en-US" sz="1600" b="1" kern="0" dirty="0" smtClean="0">
                  <a:solidFill>
                    <a:srgbClr val="646464"/>
                  </a:solidFill>
                  <a:latin typeface="Arial"/>
                </a:rPr>
                <a:t>3. M&amp;C Planning Dashboard</a:t>
              </a:r>
            </a:p>
          </p:txBody>
        </p:sp>
      </p:grpSp>
      <p:graphicFrame>
        <p:nvGraphicFramePr>
          <p:cNvPr id="10" name="Group 245"/>
          <p:cNvGraphicFramePr>
            <a:graphicFrameLocks noGrp="1"/>
          </p:cNvGraphicFramePr>
          <p:nvPr/>
        </p:nvGraphicFramePr>
        <p:xfrm>
          <a:off x="107507" y="457200"/>
          <a:ext cx="8884096" cy="1753770"/>
        </p:xfrm>
        <a:graphic>
          <a:graphicData uri="http://schemas.openxmlformats.org/drawingml/2006/table">
            <a:tbl>
              <a:tblPr/>
              <a:tblGrid>
                <a:gridCol w="502095"/>
                <a:gridCol w="4038598"/>
                <a:gridCol w="2463471"/>
                <a:gridCol w="584531"/>
                <a:gridCol w="1295401"/>
              </a:tblGrid>
              <a:tr h="77970">
                <a:tc gridSpan="5">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GB" sz="700" b="1" i="0" u="none" strike="noStrike" cap="none" normalizeH="0" baseline="0" dirty="0" smtClean="0">
                          <a:ln>
                            <a:noFill/>
                          </a:ln>
                          <a:solidFill>
                            <a:schemeClr val="tx1"/>
                          </a:solidFill>
                          <a:effectLst/>
                          <a:latin typeface="EYInterstate" pitchFamily="2" charset="0"/>
                        </a:rPr>
                        <a:t>A. KEY PLANNING ISSUES &amp; RISKS (EXTRACT)</a:t>
                      </a:r>
                      <a:endParaRPr kumimoji="0" lang="en-US" sz="700" b="1" i="0" u="none" strike="noStrike" cap="none" normalizeH="0" baseline="0" dirty="0" smtClean="0">
                        <a:ln>
                          <a:noFill/>
                        </a:ln>
                        <a:solidFill>
                          <a:schemeClr val="tx1"/>
                        </a:solidFill>
                        <a:effectLst/>
                        <a:latin typeface="EYInterstate" pitchFamily="2" charset="0"/>
                      </a:endParaRPr>
                    </a:p>
                  </a:txBody>
                  <a:tcPr marL="36000" marR="36000"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1">
                        <a:lumMod val="20000"/>
                        <a:lumOff val="80000"/>
                      </a:schemeClr>
                    </a:solidFill>
                  </a:tcPr>
                </a:tc>
                <a:tc hMerge="1">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smtClean="0">
                        <a:ln>
                          <a:noFill/>
                        </a:ln>
                        <a:solidFill>
                          <a:schemeClr val="tx1"/>
                        </a:solidFill>
                        <a:effectLst/>
                        <a:latin typeface="EYInterstate" pitchFamily="2" charset="0"/>
                      </a:endParaRPr>
                    </a:p>
                  </a:txBody>
                  <a:tcPr marL="36000" marR="36000"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smtClean="0">
                        <a:ln>
                          <a:noFill/>
                        </a:ln>
                        <a:solidFill>
                          <a:schemeClr val="tx1"/>
                        </a:solidFill>
                        <a:effectLst/>
                        <a:latin typeface="EYInterstate" pitchFamily="2" charset="0"/>
                      </a:endParaRPr>
                    </a:p>
                  </a:txBody>
                  <a:tcPr marL="36000" marR="36000"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smtClean="0">
                        <a:ln>
                          <a:noFill/>
                        </a:ln>
                        <a:solidFill>
                          <a:schemeClr val="tx1"/>
                        </a:solidFill>
                        <a:effectLst/>
                        <a:latin typeface="EYInterstate" pitchFamily="2" charset="0"/>
                      </a:endParaRPr>
                    </a:p>
                  </a:txBody>
                  <a:tcPr marL="36000" marR="36000"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1">
                        <a:lumMod val="20000"/>
                        <a:lumOff val="80000"/>
                      </a:schemeClr>
                    </a:solidFill>
                  </a:tcPr>
                </a:tc>
                <a:tc hMerge="1">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smtClean="0">
                        <a:ln>
                          <a:noFill/>
                        </a:ln>
                        <a:solidFill>
                          <a:schemeClr val="tx1"/>
                        </a:solidFill>
                        <a:effectLst/>
                        <a:latin typeface="EYInterstate" pitchFamily="2" charset="0"/>
                      </a:endParaRPr>
                    </a:p>
                  </a:txBody>
                  <a:tcPr marL="36000" marR="36000"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1">
                        <a:lumMod val="20000"/>
                        <a:lumOff val="80000"/>
                      </a:schemeClr>
                    </a:solidFill>
                  </a:tcPr>
                </a:tc>
              </a:tr>
              <a:tr h="771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Ref</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Risk / Issue Description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Proposed Mitigation / Resolution Strategy</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Impact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Owner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53628">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I90</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Tx/>
                        <a:buNone/>
                        <a:tabLst/>
                        <a:defRPr/>
                      </a:pPr>
                      <a:r>
                        <a:rPr kumimoji="0" lang="en-US" sz="700" b="1" i="0" u="none" strike="noStrike" cap="none" normalizeH="0" baseline="0" dirty="0" smtClean="0">
                          <a:ln>
                            <a:noFill/>
                          </a:ln>
                          <a:solidFill>
                            <a:schemeClr val="tx1"/>
                          </a:solidFill>
                          <a:effectLst/>
                          <a:latin typeface="EYInterstate Light" pitchFamily="2" charset="0"/>
                        </a:rPr>
                        <a:t>36% Dependency alignments.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Level 3 Plans updated to reflect 1/2 plans.  However L3 plans being updated further based on budget restrictions now known.  - This will change the nature of some of the dependencies in terms of both date changes and potentially dropping the number of dependencies M&amp;C have.</a:t>
                      </a:r>
                    </a:p>
                    <a:p>
                      <a:pPr marL="0" marR="0" lvl="0" indent="0" algn="l" defTabSz="947738" rtl="0" eaLnBrk="0" fontAlgn="base" latinLnBrk="0" hangingPunct="0">
                        <a:lnSpc>
                          <a:spcPct val="100000"/>
                        </a:lnSpc>
                        <a:spcBef>
                          <a:spcPct val="0"/>
                        </a:spcBef>
                        <a:spcAft>
                          <a:spcPct val="10000"/>
                        </a:spcAft>
                        <a:buClr>
                          <a:schemeClr val="hlink"/>
                        </a:buClr>
                        <a:buSzTx/>
                        <a:buFontTx/>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Significant dependency alignment carried out on SP plans – aligning dependencies specifically for SP infrastructure.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M</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S. Jelf</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53628">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I155</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Tx/>
                        <a:buNone/>
                        <a:tabLst/>
                        <a:defRPr/>
                      </a:pPr>
                      <a:r>
                        <a:rPr kumimoji="0" lang="en-US" sz="700" b="1" i="0" u="none" strike="noStrike" cap="none" normalizeH="0" baseline="0" dirty="0" smtClean="0">
                          <a:ln>
                            <a:noFill/>
                          </a:ln>
                          <a:solidFill>
                            <a:schemeClr val="tx1"/>
                          </a:solidFill>
                          <a:effectLst/>
                          <a:latin typeface="EYInterstate Light" pitchFamily="2" charset="0"/>
                        </a:rPr>
                        <a:t>Splitting up / linking of plans not feasible in SharePoint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Key issues identified in terms of linking plans cannot be achieved with a  Web client. </a:t>
                      </a:r>
                    </a:p>
                    <a:p>
                      <a:pPr marL="0" marR="0" lvl="0" indent="0" algn="l" defTabSz="947738" rtl="0" eaLnBrk="0" fontAlgn="base" latinLnBrk="0" hangingPunct="0">
                        <a:lnSpc>
                          <a:spcPct val="100000"/>
                        </a:lnSpc>
                        <a:spcBef>
                          <a:spcPct val="0"/>
                        </a:spcBef>
                        <a:spcAft>
                          <a:spcPct val="10000"/>
                        </a:spcAft>
                        <a:buClr>
                          <a:schemeClr val="hlink"/>
                        </a:buClr>
                        <a:buSzTx/>
                        <a:buFontTx/>
                        <a:buNone/>
                        <a:tabLst/>
                      </a:pPr>
                      <a:endParaRPr kumimoji="0" lang="en-US" sz="700" b="1"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Pursuing the MS Office 2010 client upgrade route.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H</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tx1"/>
                          </a:solidFill>
                          <a:effectLst/>
                          <a:latin typeface="EYInterstate Light" pitchFamily="2" charset="0"/>
                        </a:rPr>
                        <a:t>S. Jelf</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sp>
        <p:nvSpPr>
          <p:cNvPr id="16" name="TextBox 15"/>
          <p:cNvSpPr txBox="1"/>
          <p:nvPr/>
        </p:nvSpPr>
        <p:spPr>
          <a:xfrm>
            <a:off x="4800600" y="71735"/>
            <a:ext cx="3505200" cy="461665"/>
          </a:xfrm>
          <a:prstGeom prst="rect">
            <a:avLst/>
          </a:prstGeom>
          <a:noFill/>
        </p:spPr>
        <p:txBody>
          <a:bodyPr wrap="square" tIns="0" bIns="0" rtlCol="0">
            <a:spAutoFit/>
          </a:bodyPr>
          <a:lstStyle/>
          <a:p>
            <a:r>
              <a:rPr lang="en-GB" sz="600" b="1" dirty="0" smtClean="0"/>
              <a:t>Overall Plan Health</a:t>
            </a:r>
          </a:p>
          <a:p>
            <a:pPr algn="l"/>
            <a:endParaRPr lang="en-GB" sz="600" b="1" dirty="0" smtClean="0"/>
          </a:p>
          <a:p>
            <a:pPr algn="l"/>
            <a:r>
              <a:rPr lang="en-GB" sz="600" b="1" dirty="0" smtClean="0"/>
              <a:t>Project Schedule Quality	               Dependency Alignment                    Milestones Met</a:t>
            </a:r>
          </a:p>
          <a:p>
            <a:pPr algn="l">
              <a:lnSpc>
                <a:spcPct val="200000"/>
              </a:lnSpc>
            </a:pPr>
            <a:endParaRPr lang="en-GB" sz="600" b="1" dirty="0"/>
          </a:p>
        </p:txBody>
      </p:sp>
      <p:sp>
        <p:nvSpPr>
          <p:cNvPr id="23" name="Rectangle 22"/>
          <p:cNvSpPr/>
          <p:nvPr/>
        </p:nvSpPr>
        <p:spPr bwMode="auto">
          <a:xfrm>
            <a:off x="5867400" y="228600"/>
            <a:ext cx="152400" cy="152400"/>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900" dirty="0" smtClean="0"/>
              <a:t>A</a:t>
            </a:r>
            <a:endParaRPr kumimoji="0" lang="en-GB" sz="900" b="0" i="0" u="none" strike="noStrike" cap="none" normalizeH="0" baseline="0" dirty="0" smtClean="0">
              <a:ln>
                <a:noFill/>
              </a:ln>
              <a:solidFill>
                <a:schemeClr val="tx1"/>
              </a:solidFill>
              <a:effectLst/>
              <a:latin typeface="Arial" charset="0"/>
            </a:endParaRPr>
          </a:p>
        </p:txBody>
      </p:sp>
      <p:sp>
        <p:nvSpPr>
          <p:cNvPr id="25" name="Rectangle 24"/>
          <p:cNvSpPr/>
          <p:nvPr/>
        </p:nvSpPr>
        <p:spPr bwMode="auto">
          <a:xfrm>
            <a:off x="7086600" y="228600"/>
            <a:ext cx="152400" cy="152400"/>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GB" sz="900" dirty="0" smtClean="0"/>
              <a:t>A</a:t>
            </a:r>
            <a:endParaRPr kumimoji="0" lang="en-GB" sz="900" b="0" i="0" u="none" strike="noStrike" cap="none" normalizeH="0" baseline="0" dirty="0" smtClean="0">
              <a:ln>
                <a:noFill/>
              </a:ln>
              <a:solidFill>
                <a:schemeClr val="tx1"/>
              </a:solidFill>
              <a:effectLst/>
              <a:latin typeface="Arial" charset="0"/>
            </a:endParaRPr>
          </a:p>
        </p:txBody>
      </p:sp>
      <p:graphicFrame>
        <p:nvGraphicFramePr>
          <p:cNvPr id="17" name="Group 270"/>
          <p:cNvGraphicFramePr>
            <a:graphicFrameLocks noGrp="1"/>
          </p:cNvGraphicFramePr>
          <p:nvPr/>
        </p:nvGraphicFramePr>
        <p:xfrm>
          <a:off x="4648200" y="2895600"/>
          <a:ext cx="4343403" cy="3379766"/>
        </p:xfrm>
        <a:graphic>
          <a:graphicData uri="http://schemas.openxmlformats.org/drawingml/2006/table">
            <a:tbl>
              <a:tblPr/>
              <a:tblGrid>
                <a:gridCol w="4343403"/>
              </a:tblGrid>
              <a:tr h="14094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C. 30 DAY PLAN - MILESTONES MISSED STATISTICS</a:t>
                      </a:r>
                      <a:endParaRPr kumimoji="0" lang="en-US" sz="700" b="0" i="0" u="sng" strike="noStrike" kern="1200" cap="none" normalizeH="0" baseline="0" dirty="0" smtClean="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1">
                        <a:lumMod val="20000"/>
                        <a:lumOff val="80000"/>
                      </a:schemeClr>
                    </a:solidFill>
                  </a:tcPr>
                </a:tc>
              </a:tr>
              <a:tr h="2297458">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cap="none" normalizeH="0" baseline="0" dirty="0" smtClean="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0942">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Commentary – Missed Milestones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1">
                        <a:lumMod val="20000"/>
                        <a:lumOff val="80000"/>
                      </a:schemeClr>
                    </a:solidFill>
                  </a:tcPr>
                </a:tc>
              </a:tr>
              <a:tr h="800424">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Milestones will be available from new baseline plans as of 2</a:t>
                      </a:r>
                      <a:r>
                        <a:rPr kumimoji="0" lang="en-US" sz="700" b="1" i="0" u="none" strike="noStrike" cap="none" normalizeH="0" baseline="30000" dirty="0" smtClean="0">
                          <a:ln>
                            <a:noFill/>
                          </a:ln>
                          <a:solidFill>
                            <a:schemeClr val="tx1"/>
                          </a:solidFill>
                          <a:effectLst/>
                          <a:latin typeface="EYInterstate Light" pitchFamily="2" charset="0"/>
                        </a:rPr>
                        <a:t>nd</a:t>
                      </a:r>
                      <a:r>
                        <a:rPr kumimoji="0" lang="en-US" sz="700" b="1" i="0" u="none" strike="noStrike" cap="none" normalizeH="0" baseline="0" dirty="0" smtClean="0">
                          <a:ln>
                            <a:noFill/>
                          </a:ln>
                          <a:solidFill>
                            <a:schemeClr val="tx1"/>
                          </a:solidFill>
                          <a:effectLst/>
                          <a:latin typeface="EYInterstate Light" pitchFamily="2" charset="0"/>
                        </a:rPr>
                        <a:t>  April</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8" name="Group 245"/>
          <p:cNvGraphicFramePr>
            <a:graphicFrameLocks noGrp="1"/>
          </p:cNvGraphicFramePr>
          <p:nvPr/>
        </p:nvGraphicFramePr>
        <p:xfrm>
          <a:off x="107506" y="6400982"/>
          <a:ext cx="8884096" cy="396058"/>
        </p:xfrm>
        <a:graphic>
          <a:graphicData uri="http://schemas.openxmlformats.org/drawingml/2006/table">
            <a:tbl>
              <a:tblPr/>
              <a:tblGrid>
                <a:gridCol w="8884096"/>
              </a:tblGrid>
              <a:tr h="153898">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D.  PROGRAM PLANNING </a:t>
                      </a:r>
                      <a:r>
                        <a:rPr kumimoji="0" lang="en-GB" sz="700" b="1" i="0" u="none" strike="noStrike" cap="none" normalizeH="0" baseline="0" dirty="0" smtClean="0">
                          <a:ln>
                            <a:noFill/>
                          </a:ln>
                          <a:solidFill>
                            <a:schemeClr val="tx1"/>
                          </a:solidFill>
                          <a:effectLst/>
                          <a:latin typeface="EYInterstate" pitchFamily="2" charset="0"/>
                        </a:rPr>
                        <a:t>LATEST INITIATIVES</a:t>
                      </a:r>
                      <a:endParaRPr kumimoji="0" lang="en-US" sz="700" b="1" i="0" u="none" strike="noStrike" cap="none" normalizeH="0" baseline="0" dirty="0" smtClean="0">
                        <a:ln>
                          <a:noFill/>
                        </a:ln>
                        <a:solidFill>
                          <a:schemeClr val="tx1"/>
                        </a:solidFill>
                        <a:effectLst/>
                        <a:latin typeface="EYInterstate" pitchFamily="2" charset="0"/>
                      </a:endParaRPr>
                    </a:p>
                  </a:txBody>
                  <a:tcPr marL="36000" marR="36000"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50720">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700" baseline="0" dirty="0" smtClean="0">
                          <a:latin typeface="EYInterstate Light"/>
                        </a:rPr>
                        <a:t>Quality – All plans now following / using standard template to track decisions / dependencies and roll up summary level milestones . In addition Enterprise Planning milestones have been inserted into  most plans with the exception of SharePoint (due to its nature). Awaiting confirmation from  James Martin on how best to proceed with SP</a:t>
                      </a:r>
                    </a:p>
                  </a:txBody>
                  <a:tcPr marL="36000" marR="36000"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9" name="Chart 18"/>
          <p:cNvGraphicFramePr/>
          <p:nvPr/>
        </p:nvGraphicFramePr>
        <p:xfrm>
          <a:off x="4876799" y="3048000"/>
          <a:ext cx="3659267" cy="2290762"/>
        </p:xfrm>
        <a:graphic>
          <a:graphicData uri="http://schemas.openxmlformats.org/drawingml/2006/chart">
            <c:chart xmlns:c="http://schemas.openxmlformats.org/drawingml/2006/chart" xmlns:r="http://schemas.openxmlformats.org/officeDocument/2006/relationships" r:id="rId2"/>
          </a:graphicData>
        </a:graphic>
      </p:graphicFrame>
      <p:sp>
        <p:nvSpPr>
          <p:cNvPr id="21" name="TextBox 20"/>
          <p:cNvSpPr txBox="1"/>
          <p:nvPr/>
        </p:nvSpPr>
        <p:spPr>
          <a:xfrm rot="20015151">
            <a:off x="4882306" y="3571280"/>
            <a:ext cx="4513683" cy="1815882"/>
          </a:xfrm>
          <a:prstGeom prst="rect">
            <a:avLst/>
          </a:prstGeom>
          <a:noFill/>
        </p:spPr>
        <p:txBody>
          <a:bodyPr wrap="square" rtlCol="0">
            <a:spAutoFit/>
          </a:bodyPr>
          <a:lstStyle/>
          <a:p>
            <a:r>
              <a:rPr lang="en-GB" sz="2800" dirty="0" smtClean="0">
                <a:solidFill>
                  <a:srgbClr val="FF0000"/>
                </a:solidFill>
              </a:rPr>
              <a:t>Revised Milestones expected w.c 18</a:t>
            </a:r>
            <a:r>
              <a:rPr lang="en-GB" sz="2800" baseline="30000" dirty="0" smtClean="0">
                <a:solidFill>
                  <a:srgbClr val="FF0000"/>
                </a:solidFill>
              </a:rPr>
              <a:t>th</a:t>
            </a:r>
            <a:r>
              <a:rPr lang="en-GB" sz="2800" dirty="0" smtClean="0">
                <a:solidFill>
                  <a:srgbClr val="FF0000"/>
                </a:solidFill>
              </a:rPr>
              <a:t> June awaiting plans to be re-baselined</a:t>
            </a:r>
            <a:endParaRPr lang="en-GB" sz="2800" dirty="0">
              <a:solidFill>
                <a:srgbClr val="FF0000"/>
              </a:solidFill>
            </a:endParaRPr>
          </a:p>
        </p:txBody>
      </p:sp>
      <p:graphicFrame>
        <p:nvGraphicFramePr>
          <p:cNvPr id="24" name="Chart 23"/>
          <p:cNvGraphicFramePr/>
          <p:nvPr/>
        </p:nvGraphicFramePr>
        <p:xfrm>
          <a:off x="619125" y="3429000"/>
          <a:ext cx="3800476" cy="1909762"/>
        </p:xfrm>
        <a:graphic>
          <a:graphicData uri="http://schemas.openxmlformats.org/drawingml/2006/chart">
            <c:chart xmlns:c="http://schemas.openxmlformats.org/drawingml/2006/chart" xmlns:r="http://schemas.openxmlformats.org/officeDocument/2006/relationships" r:id="rId3"/>
          </a:graphicData>
        </a:graphic>
      </p:graphicFrame>
      <p:sp>
        <p:nvSpPr>
          <p:cNvPr id="26" name="TextBox 25"/>
          <p:cNvSpPr txBox="1"/>
          <p:nvPr/>
        </p:nvSpPr>
        <p:spPr>
          <a:xfrm rot="20015151">
            <a:off x="281411" y="3723680"/>
            <a:ext cx="4513683" cy="1815882"/>
          </a:xfrm>
          <a:prstGeom prst="rect">
            <a:avLst/>
          </a:prstGeom>
          <a:noFill/>
        </p:spPr>
        <p:txBody>
          <a:bodyPr wrap="square" rtlCol="0">
            <a:spAutoFit/>
          </a:bodyPr>
          <a:lstStyle/>
          <a:p>
            <a:r>
              <a:rPr lang="en-GB" sz="2800" dirty="0" smtClean="0">
                <a:solidFill>
                  <a:srgbClr val="FF0000"/>
                </a:solidFill>
              </a:rPr>
              <a:t>Revised Dependencies expected w.c 18</a:t>
            </a:r>
            <a:r>
              <a:rPr lang="en-GB" sz="2800" baseline="30000" dirty="0" smtClean="0">
                <a:solidFill>
                  <a:srgbClr val="FF0000"/>
                </a:solidFill>
              </a:rPr>
              <a:t>th</a:t>
            </a:r>
            <a:r>
              <a:rPr lang="en-GB" sz="2800" dirty="0" smtClean="0">
                <a:solidFill>
                  <a:srgbClr val="FF0000"/>
                </a:solidFill>
              </a:rPr>
              <a:t> June</a:t>
            </a:r>
          </a:p>
          <a:p>
            <a:r>
              <a:rPr lang="en-GB" sz="2800" dirty="0" smtClean="0">
                <a:solidFill>
                  <a:srgbClr val="FF0000"/>
                </a:solidFill>
              </a:rPr>
              <a:t>Awaiting plans to be re-baselined</a:t>
            </a:r>
            <a:endParaRPr lang="en-GB" sz="2800" dirty="0">
              <a:solidFill>
                <a:srgbClr val="FF0000"/>
              </a:solidFill>
            </a:endParaRPr>
          </a:p>
        </p:txBody>
      </p:sp>
      <p:sp>
        <p:nvSpPr>
          <p:cNvPr id="20" name="Rectangle 19"/>
          <p:cNvSpPr/>
          <p:nvPr/>
        </p:nvSpPr>
        <p:spPr bwMode="auto">
          <a:xfrm>
            <a:off x="8001000" y="228600"/>
            <a:ext cx="152400" cy="152400"/>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900" dirty="0" smtClean="0"/>
              <a:t>A</a:t>
            </a:r>
            <a:endParaRPr kumimoji="0" lang="en-GB" sz="900" b="0" i="0" u="none" strike="noStrike" cap="none" normalizeH="0" baseline="0" dirty="0" smtClean="0">
              <a:ln>
                <a:noFill/>
              </a:ln>
              <a:solidFill>
                <a:schemeClr val="tx1"/>
              </a:solidFill>
              <a:effectLst/>
              <a:latin typeface="Arial"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Rectangle 331"/>
          <p:cNvSpPr/>
          <p:nvPr/>
        </p:nvSpPr>
        <p:spPr bwMode="auto">
          <a:xfrm>
            <a:off x="3635896" y="2132856"/>
            <a:ext cx="576064" cy="968424"/>
          </a:xfrm>
          <a:prstGeom prst="rect">
            <a:avLst/>
          </a:prstGeom>
          <a:solidFill>
            <a:schemeClr val="accent2">
              <a:lumMod val="40000"/>
              <a:lumOff val="60000"/>
            </a:schemeClr>
          </a:solidFill>
          <a:ln w="9525" cap="flat" cmpd="sng" algn="ctr">
            <a:noFill/>
            <a:prstDash val="solid"/>
            <a:round/>
            <a:headEnd type="none" w="med" len="med"/>
            <a:tailEnd type="none" w="med" len="med"/>
          </a:ln>
          <a:effectLst/>
        </p:spPr>
        <p:txBody>
          <a:bodyPr vert="horz" wrap="none" lIns="91440" tIns="36000" rIns="36000" bIns="45720" numCol="1" rtlCol="0" anchor="t" anchorCtr="0" compatLnSpc="1">
            <a:prstTxWarp prst="textNoShape">
              <a:avLst/>
            </a:prstTxWarp>
          </a:bodyPr>
          <a:lstStyle/>
          <a:p>
            <a:pPr algn="ctr" fontAlgn="base">
              <a:spcBef>
                <a:spcPct val="0"/>
              </a:spcBef>
              <a:spcAft>
                <a:spcPct val="0"/>
              </a:spcAft>
            </a:pPr>
            <a:endParaRPr lang="en-GB" sz="800" b="1" dirty="0" smtClean="0">
              <a:latin typeface="Arial" charset="0"/>
            </a:endParaRPr>
          </a:p>
          <a:p>
            <a:pPr algn="ctr" fontAlgn="base">
              <a:spcBef>
                <a:spcPct val="0"/>
              </a:spcBef>
              <a:spcAft>
                <a:spcPct val="0"/>
              </a:spcAft>
            </a:pPr>
            <a:endParaRPr lang="en-GB" sz="800" b="1" dirty="0" smtClean="0">
              <a:latin typeface="Arial" charset="0"/>
            </a:endParaRPr>
          </a:p>
          <a:p>
            <a:pPr algn="ctr" fontAlgn="base">
              <a:spcBef>
                <a:spcPct val="0"/>
              </a:spcBef>
              <a:spcAft>
                <a:spcPct val="0"/>
              </a:spcAft>
            </a:pPr>
            <a:endParaRPr lang="en-GB" sz="800" b="1" dirty="0" smtClean="0">
              <a:latin typeface="Arial" charset="0"/>
            </a:endParaRPr>
          </a:p>
          <a:p>
            <a:pPr algn="ctr" fontAlgn="base">
              <a:spcBef>
                <a:spcPct val="0"/>
              </a:spcBef>
              <a:spcAft>
                <a:spcPct val="0"/>
              </a:spcAft>
            </a:pPr>
            <a:endParaRPr lang="en-GB" sz="800" b="1" dirty="0" smtClean="0">
              <a:latin typeface="Arial" charset="0"/>
            </a:endParaRPr>
          </a:p>
          <a:p>
            <a:pPr algn="ctr" fontAlgn="base">
              <a:spcBef>
                <a:spcPct val="0"/>
              </a:spcBef>
              <a:spcAft>
                <a:spcPct val="0"/>
              </a:spcAft>
            </a:pPr>
            <a:endParaRPr lang="en-GB" sz="800" b="1" dirty="0" smtClean="0"/>
          </a:p>
          <a:p>
            <a:pPr algn="ctr" fontAlgn="base">
              <a:spcBef>
                <a:spcPct val="0"/>
              </a:spcBef>
              <a:spcAft>
                <a:spcPct val="0"/>
              </a:spcAft>
            </a:pPr>
            <a:endParaRPr lang="en-GB" sz="800" b="1" dirty="0" smtClean="0">
              <a:latin typeface="Arial" charset="0"/>
            </a:endParaRPr>
          </a:p>
          <a:p>
            <a:pPr algn="ctr" fontAlgn="base">
              <a:spcBef>
                <a:spcPct val="0"/>
              </a:spcBef>
              <a:spcAft>
                <a:spcPct val="0"/>
              </a:spcAft>
            </a:pPr>
            <a:r>
              <a:rPr lang="en-GB" sz="800" b="1" dirty="0" smtClean="0">
                <a:latin typeface="Arial" charset="0"/>
              </a:rPr>
              <a:t>UAT</a:t>
            </a:r>
          </a:p>
        </p:txBody>
      </p:sp>
      <p:sp>
        <p:nvSpPr>
          <p:cNvPr id="349" name="Rectangle 348"/>
          <p:cNvSpPr/>
          <p:nvPr/>
        </p:nvSpPr>
        <p:spPr bwMode="auto">
          <a:xfrm>
            <a:off x="4572000" y="908720"/>
            <a:ext cx="1476164" cy="5076564"/>
          </a:xfrm>
          <a:prstGeom prst="rect">
            <a:avLst/>
          </a:prstGeom>
          <a:solidFill>
            <a:schemeClr val="bg1">
              <a:lumMod val="75000"/>
              <a:alpha val="25000"/>
            </a:schemeClr>
          </a:solidFill>
          <a:ln w="3175" cap="flat" cmpd="sng" algn="ctr">
            <a:solidFill>
              <a:schemeClr val="accent1"/>
            </a:solidFill>
            <a:prstDash val="lgDash"/>
            <a:round/>
            <a:headEnd type="none" w="med" len="med"/>
            <a:tailEnd type="none" w="med" len="med"/>
          </a:ln>
          <a:effectLst/>
        </p:spPr>
        <p:txBody>
          <a:bodyPr vert="horz" wrap="none" lIns="0" tIns="0" rIns="0" bIns="0" numCol="1" rtlCol="0" anchor="t" anchorCtr="0" compatLnSpc="1">
            <a:prstTxWarp prst="textNoShape">
              <a:avLst/>
            </a:prstTxWarp>
          </a:bodyPr>
          <a:lstStyle/>
          <a:p>
            <a:pPr algn="ctr"/>
            <a:endParaRPr lang="en-GB" sz="1000" b="1" dirty="0" smtClean="0"/>
          </a:p>
          <a:p>
            <a:pPr algn="ctr"/>
            <a:r>
              <a:rPr lang="en-GB" sz="900" b="1" dirty="0" smtClean="0"/>
              <a:t>GENERAL </a:t>
            </a:r>
          </a:p>
          <a:p>
            <a:pPr algn="ctr"/>
            <a:r>
              <a:rPr lang="en-GB" sz="900" b="1" dirty="0" smtClean="0"/>
              <a:t>BLACKOUT PERIOD</a:t>
            </a:r>
          </a:p>
          <a:p>
            <a:pPr algn="ctr"/>
            <a:endParaRPr lang="en-GB" sz="600" b="1" dirty="0" smtClean="0"/>
          </a:p>
          <a:p>
            <a:pPr algn="ctr">
              <a:spcBef>
                <a:spcPts val="0"/>
              </a:spcBef>
            </a:pPr>
            <a:r>
              <a:rPr lang="en-GB" sz="800" b="1" dirty="0" smtClean="0"/>
              <a:t>Europe except Africa &amp; ME</a:t>
            </a:r>
            <a:endParaRPr lang="en-GB" sz="600" b="1" dirty="0" smtClean="0"/>
          </a:p>
          <a:p>
            <a:pPr algn="ctr">
              <a:spcBef>
                <a:spcPts val="0"/>
              </a:spcBef>
            </a:pPr>
            <a:r>
              <a:rPr lang="en-GB" sz="800" b="1" dirty="0" smtClean="0"/>
              <a:t>AsiaPac except ASEAN</a:t>
            </a:r>
            <a:endParaRPr lang="en-GB" sz="600" b="1" dirty="0" smtClean="0"/>
          </a:p>
          <a:p>
            <a:pPr algn="ctr">
              <a:spcBef>
                <a:spcPts val="0"/>
              </a:spcBef>
            </a:pPr>
            <a:r>
              <a:rPr lang="en-GB" sz="800" b="1" dirty="0" smtClean="0"/>
              <a:t>US, Canada, SASA</a:t>
            </a:r>
          </a:p>
          <a:p>
            <a:pPr algn="ctr"/>
            <a:endParaRPr kumimoji="0" lang="en-GB" sz="600" b="0" i="0" u="none" strike="noStrike" cap="none" normalizeH="0" baseline="0" dirty="0" smtClean="0">
              <a:ln>
                <a:noFill/>
              </a:ln>
              <a:solidFill>
                <a:schemeClr val="tx1"/>
              </a:solidFill>
              <a:effectLst/>
              <a:latin typeface="Arial" charset="0"/>
            </a:endParaRPr>
          </a:p>
        </p:txBody>
      </p:sp>
      <p:sp>
        <p:nvSpPr>
          <p:cNvPr id="191" name="Rectangle 190"/>
          <p:cNvSpPr/>
          <p:nvPr/>
        </p:nvSpPr>
        <p:spPr bwMode="auto">
          <a:xfrm>
            <a:off x="3635896" y="3212976"/>
            <a:ext cx="576064" cy="720080"/>
          </a:xfrm>
          <a:prstGeom prst="rect">
            <a:avLst/>
          </a:prstGeom>
          <a:solidFill>
            <a:schemeClr val="accent2">
              <a:lumMod val="40000"/>
              <a:lumOff val="60000"/>
            </a:schemeClr>
          </a:solidFill>
          <a:ln w="9525" cap="flat" cmpd="sng" algn="ctr">
            <a:noFill/>
            <a:prstDash val="solid"/>
            <a:round/>
            <a:headEnd type="none" w="med" len="med"/>
            <a:tailEnd type="none" w="med" len="med"/>
          </a:ln>
          <a:effectLst/>
        </p:spPr>
        <p:txBody>
          <a:bodyPr vert="horz" wrap="none" lIns="91440" tIns="36000" rIns="36000" bIns="45720" numCol="1" rtlCol="0" anchor="t" anchorCtr="0" compatLnSpc="1">
            <a:prstTxWarp prst="textNoShape">
              <a:avLst/>
            </a:prstTxWarp>
          </a:bodyPr>
          <a:lstStyle/>
          <a:p>
            <a:pPr algn="ctr" fontAlgn="base">
              <a:spcBef>
                <a:spcPct val="0"/>
              </a:spcBef>
              <a:spcAft>
                <a:spcPct val="0"/>
              </a:spcAft>
            </a:pPr>
            <a:endParaRPr lang="en-GB" sz="800" b="1" dirty="0" smtClean="0">
              <a:latin typeface="Arial" charset="0"/>
            </a:endParaRPr>
          </a:p>
          <a:p>
            <a:pPr algn="ctr" fontAlgn="base">
              <a:spcBef>
                <a:spcPct val="0"/>
              </a:spcBef>
              <a:spcAft>
                <a:spcPct val="0"/>
              </a:spcAft>
            </a:pPr>
            <a:endParaRPr lang="en-GB" sz="800" b="1" dirty="0" smtClean="0">
              <a:latin typeface="Arial" charset="0"/>
            </a:endParaRPr>
          </a:p>
          <a:p>
            <a:pPr algn="ctr" fontAlgn="base">
              <a:spcBef>
                <a:spcPct val="0"/>
              </a:spcBef>
              <a:spcAft>
                <a:spcPct val="0"/>
              </a:spcAft>
            </a:pPr>
            <a:endParaRPr lang="en-GB" sz="800" b="1" dirty="0" smtClean="0">
              <a:latin typeface="Arial" charset="0"/>
            </a:endParaRPr>
          </a:p>
        </p:txBody>
      </p:sp>
      <p:sp>
        <p:nvSpPr>
          <p:cNvPr id="123" name="Rectangle 122"/>
          <p:cNvSpPr/>
          <p:nvPr/>
        </p:nvSpPr>
        <p:spPr bwMode="auto">
          <a:xfrm>
            <a:off x="6701308" y="332656"/>
            <a:ext cx="2406198" cy="1260140"/>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grpSp>
        <p:nvGrpSpPr>
          <p:cNvPr id="2" name="Group 216"/>
          <p:cNvGrpSpPr/>
          <p:nvPr/>
        </p:nvGrpSpPr>
        <p:grpSpPr>
          <a:xfrm>
            <a:off x="179512" y="6600172"/>
            <a:ext cx="8712968" cy="213204"/>
            <a:chOff x="251520" y="6301107"/>
            <a:chExt cx="8712968" cy="213204"/>
          </a:xfrm>
        </p:grpSpPr>
        <p:sp>
          <p:nvSpPr>
            <p:cNvPr id="18" name="Text Box 126"/>
            <p:cNvSpPr txBox="1">
              <a:spLocks noChangeArrowheads="1"/>
            </p:cNvSpPr>
            <p:nvPr/>
          </p:nvSpPr>
          <p:spPr bwMode="gray">
            <a:xfrm>
              <a:off x="287524" y="6406589"/>
              <a:ext cx="396044"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April</a:t>
              </a:r>
              <a:endParaRPr lang="en-US" sz="700" dirty="0">
                <a:solidFill>
                  <a:srgbClr val="646464"/>
                </a:solidFill>
                <a:latin typeface="EYInterstate" pitchFamily="2" charset="0"/>
              </a:endParaRPr>
            </a:p>
          </p:txBody>
        </p:sp>
        <p:sp>
          <p:nvSpPr>
            <p:cNvPr id="19" name="Text Box 126"/>
            <p:cNvSpPr txBox="1">
              <a:spLocks noChangeArrowheads="1"/>
            </p:cNvSpPr>
            <p:nvPr/>
          </p:nvSpPr>
          <p:spPr bwMode="gray">
            <a:xfrm>
              <a:off x="1475656" y="6406589"/>
              <a:ext cx="360040"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July </a:t>
              </a:r>
              <a:endParaRPr lang="en-US" sz="700" dirty="0">
                <a:solidFill>
                  <a:srgbClr val="646464"/>
                </a:solidFill>
                <a:latin typeface="EYInterstate" pitchFamily="2" charset="0"/>
              </a:endParaRPr>
            </a:p>
          </p:txBody>
        </p:sp>
        <p:sp>
          <p:nvSpPr>
            <p:cNvPr id="20" name="Text Box 126"/>
            <p:cNvSpPr txBox="1">
              <a:spLocks noChangeArrowheads="1"/>
            </p:cNvSpPr>
            <p:nvPr/>
          </p:nvSpPr>
          <p:spPr bwMode="gray">
            <a:xfrm>
              <a:off x="2555776" y="6406589"/>
              <a:ext cx="432048"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Oct </a:t>
              </a:r>
              <a:endParaRPr lang="en-US" sz="700" dirty="0">
                <a:solidFill>
                  <a:srgbClr val="646464"/>
                </a:solidFill>
                <a:latin typeface="EYInterstate" pitchFamily="2" charset="0"/>
              </a:endParaRPr>
            </a:p>
          </p:txBody>
        </p:sp>
        <p:sp>
          <p:nvSpPr>
            <p:cNvPr id="21" name="Text Box 126"/>
            <p:cNvSpPr txBox="1">
              <a:spLocks noChangeArrowheads="1"/>
            </p:cNvSpPr>
            <p:nvPr/>
          </p:nvSpPr>
          <p:spPr bwMode="gray">
            <a:xfrm>
              <a:off x="3563888" y="6406589"/>
              <a:ext cx="576064"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Jan 2013</a:t>
              </a:r>
              <a:endParaRPr lang="en-US" sz="700" dirty="0">
                <a:solidFill>
                  <a:srgbClr val="646464"/>
                </a:solidFill>
                <a:latin typeface="EYInterstate" pitchFamily="2" charset="0"/>
              </a:endParaRPr>
            </a:p>
          </p:txBody>
        </p:sp>
        <p:sp>
          <p:nvSpPr>
            <p:cNvPr id="51" name="Text Box 126"/>
            <p:cNvSpPr txBox="1">
              <a:spLocks noChangeArrowheads="1"/>
            </p:cNvSpPr>
            <p:nvPr/>
          </p:nvSpPr>
          <p:spPr bwMode="gray">
            <a:xfrm>
              <a:off x="4716016" y="6406589"/>
              <a:ext cx="504056"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April</a:t>
              </a:r>
              <a:endParaRPr lang="en-US" sz="700" dirty="0">
                <a:solidFill>
                  <a:srgbClr val="646464"/>
                </a:solidFill>
                <a:latin typeface="EYInterstate" pitchFamily="2" charset="0"/>
              </a:endParaRPr>
            </a:p>
          </p:txBody>
        </p:sp>
        <p:grpSp>
          <p:nvGrpSpPr>
            <p:cNvPr id="3" name="Group 153"/>
            <p:cNvGrpSpPr/>
            <p:nvPr/>
          </p:nvGrpSpPr>
          <p:grpSpPr>
            <a:xfrm>
              <a:off x="251520" y="6301107"/>
              <a:ext cx="8712968" cy="116225"/>
              <a:chOff x="323528" y="6309319"/>
              <a:chExt cx="8712968" cy="116225"/>
            </a:xfrm>
          </p:grpSpPr>
          <p:sp>
            <p:nvSpPr>
              <p:cNvPr id="6" name="Line 69"/>
              <p:cNvSpPr>
                <a:spLocks noChangeShapeType="1"/>
              </p:cNvSpPr>
              <p:nvPr/>
            </p:nvSpPr>
            <p:spPr bwMode="gray">
              <a:xfrm>
                <a:off x="323528" y="6407855"/>
                <a:ext cx="8712968" cy="17689"/>
              </a:xfrm>
              <a:prstGeom prst="line">
                <a:avLst/>
              </a:prstGeom>
              <a:noFill/>
              <a:ln w="38100">
                <a:solidFill>
                  <a:schemeClr val="accent2">
                    <a:lumMod val="40000"/>
                    <a:lumOff val="60000"/>
                  </a:schemeClr>
                </a:solidFill>
                <a:round/>
                <a:headEnd type="diamond" w="med" len="med"/>
                <a:tailEnd type="diamond" w="med" len="med"/>
              </a:ln>
            </p:spPr>
            <p:txBody>
              <a:bodyPr wrap="square"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8" name="Line 75"/>
              <p:cNvSpPr>
                <a:spLocks noChangeShapeType="1"/>
              </p:cNvSpPr>
              <p:nvPr/>
            </p:nvSpPr>
            <p:spPr bwMode="gray">
              <a:xfrm>
                <a:off x="5076056" y="6353536"/>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9" name="Line 76"/>
              <p:cNvSpPr>
                <a:spLocks noChangeShapeType="1"/>
              </p:cNvSpPr>
              <p:nvPr/>
            </p:nvSpPr>
            <p:spPr bwMode="gray">
              <a:xfrm>
                <a:off x="6156176" y="6353536"/>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0" name="Line 96"/>
              <p:cNvSpPr>
                <a:spLocks noChangeShapeType="1"/>
              </p:cNvSpPr>
              <p:nvPr/>
            </p:nvSpPr>
            <p:spPr bwMode="gray">
              <a:xfrm>
                <a:off x="7236296" y="6363357"/>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1" name="Line 97"/>
              <p:cNvSpPr>
                <a:spLocks noChangeShapeType="1"/>
              </p:cNvSpPr>
              <p:nvPr/>
            </p:nvSpPr>
            <p:spPr bwMode="gray">
              <a:xfrm>
                <a:off x="3203848" y="6353536"/>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46" name="Line 96"/>
              <p:cNvSpPr>
                <a:spLocks noChangeShapeType="1"/>
              </p:cNvSpPr>
              <p:nvPr/>
            </p:nvSpPr>
            <p:spPr bwMode="gray">
              <a:xfrm>
                <a:off x="9036496" y="6309321"/>
                <a:ext cx="0" cy="108012"/>
              </a:xfrm>
              <a:prstGeom prst="line">
                <a:avLst/>
              </a:prstGeom>
              <a:noFill/>
              <a:ln w="28575">
                <a:solidFill>
                  <a:srgbClr val="5F5F5F"/>
                </a:solidFill>
                <a:round/>
                <a:headEnd type="none" w="sm" len="sm"/>
                <a:tailEnd type="none" w="sm" len="sm"/>
              </a:ln>
            </p:spPr>
            <p:txBody>
              <a:bodyPr wrap="square"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50" name="Line 96"/>
              <p:cNvSpPr>
                <a:spLocks noChangeShapeType="1"/>
              </p:cNvSpPr>
              <p:nvPr/>
            </p:nvSpPr>
            <p:spPr bwMode="gray">
              <a:xfrm>
                <a:off x="323528" y="6309319"/>
                <a:ext cx="0" cy="108013"/>
              </a:xfrm>
              <a:prstGeom prst="line">
                <a:avLst/>
              </a:prstGeom>
              <a:noFill/>
              <a:ln w="28575">
                <a:solidFill>
                  <a:srgbClr val="5F5F5F"/>
                </a:solidFill>
                <a:round/>
                <a:headEnd type="none" w="sm" len="sm"/>
                <a:tailEnd type="none" w="sm" len="sm"/>
              </a:ln>
            </p:spPr>
            <p:txBody>
              <a:bodyPr wrap="square" lIns="92053" tIns="46028" rIns="92053" bIns="46028">
                <a:spAutoFit/>
              </a:bodyPr>
              <a:lstStyle/>
              <a:p>
                <a:pPr algn="ctr" fontAlgn="base">
                  <a:spcBef>
                    <a:spcPct val="0"/>
                  </a:spcBef>
                  <a:spcAft>
                    <a:spcPct val="0"/>
                  </a:spcAft>
                </a:pPr>
                <a:endParaRPr lang="en-GB" sz="700" dirty="0">
                  <a:solidFill>
                    <a:srgbClr val="646464"/>
                  </a:solidFill>
                </a:endParaRPr>
              </a:p>
            </p:txBody>
          </p:sp>
        </p:grpSp>
        <p:sp>
          <p:nvSpPr>
            <p:cNvPr id="157" name="Text Box 126"/>
            <p:cNvSpPr txBox="1">
              <a:spLocks noChangeArrowheads="1"/>
            </p:cNvSpPr>
            <p:nvPr/>
          </p:nvSpPr>
          <p:spPr bwMode="gray">
            <a:xfrm>
              <a:off x="5796136" y="6406589"/>
              <a:ext cx="1260140"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July</a:t>
              </a:r>
              <a:endParaRPr lang="en-US" sz="700" dirty="0">
                <a:solidFill>
                  <a:srgbClr val="646464"/>
                </a:solidFill>
                <a:latin typeface="EYInterstate" pitchFamily="2" charset="0"/>
              </a:endParaRPr>
            </a:p>
          </p:txBody>
        </p:sp>
        <p:sp>
          <p:nvSpPr>
            <p:cNvPr id="168" name="Line 75"/>
            <p:cNvSpPr>
              <a:spLocks noChangeShapeType="1"/>
            </p:cNvSpPr>
            <p:nvPr/>
          </p:nvSpPr>
          <p:spPr bwMode="gray">
            <a:xfrm>
              <a:off x="68356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69" name="Line 75"/>
            <p:cNvSpPr>
              <a:spLocks noChangeShapeType="1"/>
            </p:cNvSpPr>
            <p:nvPr/>
          </p:nvSpPr>
          <p:spPr bwMode="gray">
            <a:xfrm>
              <a:off x="104360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72" name="Line 96"/>
            <p:cNvSpPr>
              <a:spLocks noChangeShapeType="1"/>
            </p:cNvSpPr>
            <p:nvPr/>
          </p:nvSpPr>
          <p:spPr bwMode="gray">
            <a:xfrm>
              <a:off x="1403648" y="6309319"/>
              <a:ext cx="0" cy="108013"/>
            </a:xfrm>
            <a:prstGeom prst="line">
              <a:avLst/>
            </a:prstGeom>
            <a:noFill/>
            <a:ln w="28575">
              <a:solidFill>
                <a:srgbClr val="5F5F5F"/>
              </a:solidFill>
              <a:round/>
              <a:headEnd type="none" w="sm" len="sm"/>
              <a:tailEnd type="none" w="sm" len="sm"/>
            </a:ln>
          </p:spPr>
          <p:txBody>
            <a:bodyPr wrap="square"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73" name="Line 75"/>
            <p:cNvSpPr>
              <a:spLocks noChangeShapeType="1"/>
            </p:cNvSpPr>
            <p:nvPr/>
          </p:nvSpPr>
          <p:spPr bwMode="gray">
            <a:xfrm>
              <a:off x="176368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85" name="Line 75"/>
            <p:cNvSpPr>
              <a:spLocks noChangeShapeType="1"/>
            </p:cNvSpPr>
            <p:nvPr/>
          </p:nvSpPr>
          <p:spPr bwMode="gray">
            <a:xfrm>
              <a:off x="212372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86" name="Line 75"/>
            <p:cNvSpPr>
              <a:spLocks noChangeShapeType="1"/>
            </p:cNvSpPr>
            <p:nvPr/>
          </p:nvSpPr>
          <p:spPr bwMode="gray">
            <a:xfrm>
              <a:off x="284380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87" name="Line 96"/>
            <p:cNvSpPr>
              <a:spLocks noChangeShapeType="1"/>
            </p:cNvSpPr>
            <p:nvPr/>
          </p:nvSpPr>
          <p:spPr bwMode="gray">
            <a:xfrm>
              <a:off x="2483768" y="6309319"/>
              <a:ext cx="0" cy="108013"/>
            </a:xfrm>
            <a:prstGeom prst="line">
              <a:avLst/>
            </a:prstGeom>
            <a:noFill/>
            <a:ln w="28575">
              <a:solidFill>
                <a:srgbClr val="5F5F5F"/>
              </a:solidFill>
              <a:round/>
              <a:headEnd type="none" w="sm" len="sm"/>
              <a:tailEnd type="none" w="sm" len="sm"/>
            </a:ln>
          </p:spPr>
          <p:txBody>
            <a:bodyPr wrap="square"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97" name="Line 96"/>
            <p:cNvSpPr>
              <a:spLocks noChangeShapeType="1"/>
            </p:cNvSpPr>
            <p:nvPr/>
          </p:nvSpPr>
          <p:spPr bwMode="gray">
            <a:xfrm>
              <a:off x="3563888" y="6309320"/>
              <a:ext cx="0" cy="108013"/>
            </a:xfrm>
            <a:prstGeom prst="line">
              <a:avLst/>
            </a:prstGeom>
            <a:noFill/>
            <a:ln w="28575">
              <a:solidFill>
                <a:srgbClr val="5F5F5F"/>
              </a:solidFill>
              <a:round/>
              <a:headEnd type="none" w="sm" len="sm"/>
              <a:tailEnd type="none" w="sm" len="sm"/>
            </a:ln>
          </p:spPr>
          <p:txBody>
            <a:bodyPr wrap="square"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99" name="Line 97"/>
            <p:cNvSpPr>
              <a:spLocks noChangeShapeType="1"/>
            </p:cNvSpPr>
            <p:nvPr/>
          </p:nvSpPr>
          <p:spPr bwMode="gray">
            <a:xfrm>
              <a:off x="392392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00" name="Line 97"/>
            <p:cNvSpPr>
              <a:spLocks noChangeShapeType="1"/>
            </p:cNvSpPr>
            <p:nvPr/>
          </p:nvSpPr>
          <p:spPr bwMode="gray">
            <a:xfrm>
              <a:off x="428396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01" name="Line 96"/>
            <p:cNvSpPr>
              <a:spLocks noChangeShapeType="1"/>
            </p:cNvSpPr>
            <p:nvPr/>
          </p:nvSpPr>
          <p:spPr bwMode="gray">
            <a:xfrm>
              <a:off x="4644008" y="6309319"/>
              <a:ext cx="0" cy="108013"/>
            </a:xfrm>
            <a:prstGeom prst="line">
              <a:avLst/>
            </a:prstGeom>
            <a:noFill/>
            <a:ln w="28575">
              <a:solidFill>
                <a:srgbClr val="5F5F5F"/>
              </a:solidFill>
              <a:round/>
              <a:headEnd type="none" w="sm" len="sm"/>
              <a:tailEnd type="none" w="sm" len="sm"/>
            </a:ln>
          </p:spPr>
          <p:txBody>
            <a:bodyPr wrap="square"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02" name="Line 75"/>
            <p:cNvSpPr>
              <a:spLocks noChangeShapeType="1"/>
            </p:cNvSpPr>
            <p:nvPr/>
          </p:nvSpPr>
          <p:spPr bwMode="gray">
            <a:xfrm>
              <a:off x="536408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03" name="Line 96"/>
            <p:cNvSpPr>
              <a:spLocks noChangeShapeType="1"/>
            </p:cNvSpPr>
            <p:nvPr/>
          </p:nvSpPr>
          <p:spPr bwMode="gray">
            <a:xfrm>
              <a:off x="5724128" y="6309319"/>
              <a:ext cx="0" cy="108013"/>
            </a:xfrm>
            <a:prstGeom prst="line">
              <a:avLst/>
            </a:prstGeom>
            <a:noFill/>
            <a:ln w="28575">
              <a:solidFill>
                <a:srgbClr val="5F5F5F"/>
              </a:solidFill>
              <a:round/>
              <a:headEnd type="none" w="sm" len="sm"/>
              <a:tailEnd type="none" w="sm" len="sm"/>
            </a:ln>
          </p:spPr>
          <p:txBody>
            <a:bodyPr wrap="square"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07" name="Line 76"/>
            <p:cNvSpPr>
              <a:spLocks noChangeShapeType="1"/>
            </p:cNvSpPr>
            <p:nvPr/>
          </p:nvSpPr>
          <p:spPr bwMode="gray">
            <a:xfrm>
              <a:off x="644420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08" name="Line 96"/>
            <p:cNvSpPr>
              <a:spLocks noChangeShapeType="1"/>
            </p:cNvSpPr>
            <p:nvPr/>
          </p:nvSpPr>
          <p:spPr bwMode="gray">
            <a:xfrm>
              <a:off x="6804248" y="6309319"/>
              <a:ext cx="0" cy="108013"/>
            </a:xfrm>
            <a:prstGeom prst="line">
              <a:avLst/>
            </a:prstGeom>
            <a:noFill/>
            <a:ln w="28575">
              <a:solidFill>
                <a:srgbClr val="5F5F5F"/>
              </a:solidFill>
              <a:round/>
              <a:headEnd type="none" w="sm" len="sm"/>
              <a:tailEnd type="none" w="sm" len="sm"/>
            </a:ln>
          </p:spPr>
          <p:txBody>
            <a:bodyPr wrap="square"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09" name="Line 76"/>
            <p:cNvSpPr>
              <a:spLocks noChangeShapeType="1"/>
            </p:cNvSpPr>
            <p:nvPr/>
          </p:nvSpPr>
          <p:spPr bwMode="gray">
            <a:xfrm>
              <a:off x="752432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11" name="Line 96"/>
            <p:cNvSpPr>
              <a:spLocks noChangeShapeType="1"/>
            </p:cNvSpPr>
            <p:nvPr/>
          </p:nvSpPr>
          <p:spPr bwMode="gray">
            <a:xfrm>
              <a:off x="7884368" y="6309320"/>
              <a:ext cx="0" cy="108013"/>
            </a:xfrm>
            <a:prstGeom prst="line">
              <a:avLst/>
            </a:prstGeom>
            <a:noFill/>
            <a:ln w="28575">
              <a:solidFill>
                <a:srgbClr val="5F5F5F"/>
              </a:solidFill>
              <a:round/>
              <a:headEnd type="none" w="sm" len="sm"/>
              <a:tailEnd type="none" w="sm" len="sm"/>
            </a:ln>
          </p:spPr>
          <p:txBody>
            <a:bodyPr wrap="square"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12" name="Line 76"/>
            <p:cNvSpPr>
              <a:spLocks noChangeShapeType="1"/>
            </p:cNvSpPr>
            <p:nvPr/>
          </p:nvSpPr>
          <p:spPr bwMode="gray">
            <a:xfrm>
              <a:off x="824440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13" name="Line 76"/>
            <p:cNvSpPr>
              <a:spLocks noChangeShapeType="1"/>
            </p:cNvSpPr>
            <p:nvPr/>
          </p:nvSpPr>
          <p:spPr bwMode="gray">
            <a:xfrm>
              <a:off x="860444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15" name="Text Box 126"/>
            <p:cNvSpPr txBox="1">
              <a:spLocks noChangeArrowheads="1"/>
            </p:cNvSpPr>
            <p:nvPr/>
          </p:nvSpPr>
          <p:spPr bwMode="gray">
            <a:xfrm>
              <a:off x="6840252" y="6406299"/>
              <a:ext cx="1066800"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Oct </a:t>
              </a:r>
              <a:endParaRPr lang="en-US" sz="700" dirty="0">
                <a:solidFill>
                  <a:srgbClr val="646464"/>
                </a:solidFill>
                <a:latin typeface="EYInterstate" pitchFamily="2" charset="0"/>
              </a:endParaRPr>
            </a:p>
          </p:txBody>
        </p:sp>
        <p:sp>
          <p:nvSpPr>
            <p:cNvPr id="216" name="Text Box 126"/>
            <p:cNvSpPr txBox="1">
              <a:spLocks noChangeArrowheads="1"/>
            </p:cNvSpPr>
            <p:nvPr/>
          </p:nvSpPr>
          <p:spPr bwMode="gray">
            <a:xfrm>
              <a:off x="7897688" y="6406299"/>
              <a:ext cx="1066800"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Jan 2014</a:t>
              </a:r>
              <a:endParaRPr lang="en-US" sz="700" dirty="0">
                <a:solidFill>
                  <a:srgbClr val="646464"/>
                </a:solidFill>
                <a:latin typeface="EYInterstate" pitchFamily="2" charset="0"/>
              </a:endParaRPr>
            </a:p>
          </p:txBody>
        </p:sp>
      </p:grpSp>
      <p:cxnSp>
        <p:nvCxnSpPr>
          <p:cNvPr id="219" name="Straight Connector 218"/>
          <p:cNvCxnSpPr/>
          <p:nvPr/>
        </p:nvCxnSpPr>
        <p:spPr bwMode="auto">
          <a:xfrm>
            <a:off x="71500" y="6021288"/>
            <a:ext cx="8892988" cy="0"/>
          </a:xfrm>
          <a:prstGeom prst="line">
            <a:avLst/>
          </a:prstGeom>
          <a:solidFill>
            <a:schemeClr val="accent2"/>
          </a:solidFill>
          <a:ln w="15875" cap="flat" cmpd="sng" algn="ctr">
            <a:solidFill>
              <a:schemeClr val="bg2"/>
            </a:solidFill>
            <a:prstDash val="dash"/>
            <a:round/>
            <a:headEnd type="none" w="med" len="med"/>
            <a:tailEnd type="none"/>
          </a:ln>
          <a:effectLst/>
        </p:spPr>
      </p:cxnSp>
      <p:cxnSp>
        <p:nvCxnSpPr>
          <p:cNvPr id="220" name="Straight Connector 219"/>
          <p:cNvCxnSpPr/>
          <p:nvPr/>
        </p:nvCxnSpPr>
        <p:spPr bwMode="auto">
          <a:xfrm flipV="1">
            <a:off x="71500" y="5085184"/>
            <a:ext cx="8892988" cy="6387"/>
          </a:xfrm>
          <a:prstGeom prst="line">
            <a:avLst/>
          </a:prstGeom>
          <a:solidFill>
            <a:schemeClr val="accent2"/>
          </a:solidFill>
          <a:ln w="15875" cap="flat" cmpd="sng" algn="ctr">
            <a:solidFill>
              <a:schemeClr val="bg2"/>
            </a:solidFill>
            <a:prstDash val="dash"/>
            <a:round/>
            <a:headEnd type="none" w="med" len="med"/>
            <a:tailEnd type="none"/>
          </a:ln>
          <a:effectLst/>
        </p:spPr>
      </p:cxnSp>
      <p:cxnSp>
        <p:nvCxnSpPr>
          <p:cNvPr id="222" name="Straight Connector 221"/>
          <p:cNvCxnSpPr/>
          <p:nvPr/>
        </p:nvCxnSpPr>
        <p:spPr bwMode="auto">
          <a:xfrm>
            <a:off x="71500" y="944724"/>
            <a:ext cx="4824536" cy="0"/>
          </a:xfrm>
          <a:prstGeom prst="line">
            <a:avLst/>
          </a:prstGeom>
          <a:solidFill>
            <a:schemeClr val="accent2"/>
          </a:solidFill>
          <a:ln w="15875" cap="flat" cmpd="sng" algn="ctr">
            <a:solidFill>
              <a:schemeClr val="bg2"/>
            </a:solidFill>
            <a:prstDash val="dash"/>
            <a:round/>
            <a:headEnd type="none" w="med" len="med"/>
            <a:tailEnd type="none"/>
          </a:ln>
          <a:effectLst/>
        </p:spPr>
      </p:cxnSp>
      <p:sp>
        <p:nvSpPr>
          <p:cNvPr id="224" name="TextBox 223"/>
          <p:cNvSpPr txBox="1"/>
          <p:nvPr/>
        </p:nvSpPr>
        <p:spPr>
          <a:xfrm>
            <a:off x="-41233" y="5049760"/>
            <a:ext cx="1588897" cy="215444"/>
          </a:xfrm>
          <a:prstGeom prst="rect">
            <a:avLst/>
          </a:prstGeom>
          <a:noFill/>
        </p:spPr>
        <p:txBody>
          <a:bodyPr wrap="none" rtlCol="0">
            <a:spAutoFit/>
          </a:bodyPr>
          <a:lstStyle/>
          <a:p>
            <a:r>
              <a:rPr lang="en-GB" sz="800" b="1" dirty="0" smtClean="0"/>
              <a:t>Application &amp; Data Migration</a:t>
            </a:r>
            <a:endParaRPr lang="en-GB" sz="800" b="1" dirty="0"/>
          </a:p>
        </p:txBody>
      </p:sp>
      <p:sp>
        <p:nvSpPr>
          <p:cNvPr id="225" name="TextBox 224"/>
          <p:cNvSpPr txBox="1"/>
          <p:nvPr/>
        </p:nvSpPr>
        <p:spPr>
          <a:xfrm>
            <a:off x="-72516" y="3933056"/>
            <a:ext cx="728083" cy="215444"/>
          </a:xfrm>
          <a:prstGeom prst="rect">
            <a:avLst/>
          </a:prstGeom>
          <a:noFill/>
        </p:spPr>
        <p:txBody>
          <a:bodyPr wrap="none" rtlCol="0">
            <a:spAutoFit/>
          </a:bodyPr>
          <a:lstStyle/>
          <a:p>
            <a:r>
              <a:rPr lang="en-GB" sz="800" b="1" dirty="0" smtClean="0"/>
              <a:t>SharePoint</a:t>
            </a:r>
            <a:endParaRPr lang="en-GB" sz="800" b="1" dirty="0"/>
          </a:p>
        </p:txBody>
      </p:sp>
      <p:sp>
        <p:nvSpPr>
          <p:cNvPr id="226" name="TextBox 225"/>
          <p:cNvSpPr txBox="1"/>
          <p:nvPr/>
        </p:nvSpPr>
        <p:spPr>
          <a:xfrm>
            <a:off x="-29580" y="909300"/>
            <a:ext cx="425116" cy="215444"/>
          </a:xfrm>
          <a:prstGeom prst="rect">
            <a:avLst/>
          </a:prstGeom>
          <a:noFill/>
        </p:spPr>
        <p:txBody>
          <a:bodyPr wrap="none" rtlCol="0">
            <a:spAutoFit/>
          </a:bodyPr>
          <a:lstStyle/>
          <a:p>
            <a:r>
              <a:rPr lang="en-GB" sz="800" b="1" dirty="0" smtClean="0"/>
              <a:t>Lync</a:t>
            </a:r>
            <a:endParaRPr lang="en-GB" sz="800" b="1" dirty="0"/>
          </a:p>
        </p:txBody>
      </p:sp>
      <p:sp>
        <p:nvSpPr>
          <p:cNvPr id="231" name="TextBox 230"/>
          <p:cNvSpPr txBox="1"/>
          <p:nvPr/>
        </p:nvSpPr>
        <p:spPr>
          <a:xfrm>
            <a:off x="-63675" y="1953416"/>
            <a:ext cx="1611339" cy="215444"/>
          </a:xfrm>
          <a:prstGeom prst="rect">
            <a:avLst/>
          </a:prstGeom>
          <a:noFill/>
        </p:spPr>
        <p:txBody>
          <a:bodyPr wrap="none" rtlCol="0">
            <a:spAutoFit/>
          </a:bodyPr>
          <a:lstStyle/>
          <a:p>
            <a:r>
              <a:rPr lang="en-GB" sz="800" b="1" dirty="0" smtClean="0"/>
              <a:t>Exchange (Cloud) &amp; Outlook</a:t>
            </a:r>
            <a:endParaRPr lang="en-GB" sz="800" b="1" dirty="0"/>
          </a:p>
        </p:txBody>
      </p:sp>
      <p:sp>
        <p:nvSpPr>
          <p:cNvPr id="233" name="TextBox 232"/>
          <p:cNvSpPr txBox="1"/>
          <p:nvPr/>
        </p:nvSpPr>
        <p:spPr>
          <a:xfrm>
            <a:off x="-36512" y="0"/>
            <a:ext cx="1768433" cy="215444"/>
          </a:xfrm>
          <a:prstGeom prst="rect">
            <a:avLst/>
          </a:prstGeom>
          <a:noFill/>
        </p:spPr>
        <p:txBody>
          <a:bodyPr wrap="square" rtlCol="0">
            <a:spAutoFit/>
          </a:bodyPr>
          <a:lstStyle/>
          <a:p>
            <a:r>
              <a:rPr lang="en-GB" sz="800" b="1" dirty="0" smtClean="0"/>
              <a:t>Business Change &amp; Deployment</a:t>
            </a:r>
            <a:endParaRPr lang="en-GB" sz="800" b="1" dirty="0"/>
          </a:p>
        </p:txBody>
      </p:sp>
      <p:cxnSp>
        <p:nvCxnSpPr>
          <p:cNvPr id="236" name="Straight Connector 235"/>
          <p:cNvCxnSpPr/>
          <p:nvPr/>
        </p:nvCxnSpPr>
        <p:spPr bwMode="auto">
          <a:xfrm>
            <a:off x="71500" y="1988840"/>
            <a:ext cx="8964996" cy="0"/>
          </a:xfrm>
          <a:prstGeom prst="line">
            <a:avLst/>
          </a:prstGeom>
          <a:solidFill>
            <a:schemeClr val="accent2"/>
          </a:solidFill>
          <a:ln w="15875" cap="flat" cmpd="sng" algn="ctr">
            <a:solidFill>
              <a:schemeClr val="bg2"/>
            </a:solidFill>
            <a:prstDash val="dash"/>
            <a:round/>
            <a:headEnd type="none" w="med" len="med"/>
            <a:tailEnd type="none"/>
          </a:ln>
          <a:effectLst/>
        </p:spPr>
      </p:cxnSp>
      <p:sp>
        <p:nvSpPr>
          <p:cNvPr id="237" name="TextBox 236"/>
          <p:cNvSpPr txBox="1"/>
          <p:nvPr/>
        </p:nvSpPr>
        <p:spPr>
          <a:xfrm>
            <a:off x="-36512" y="5841268"/>
            <a:ext cx="1548822" cy="215444"/>
          </a:xfrm>
          <a:prstGeom prst="rect">
            <a:avLst/>
          </a:prstGeom>
          <a:noFill/>
        </p:spPr>
        <p:txBody>
          <a:bodyPr wrap="none" rtlCol="0">
            <a:spAutoFit/>
          </a:bodyPr>
          <a:lstStyle/>
          <a:p>
            <a:r>
              <a:rPr lang="en-GB" sz="800" b="1" dirty="0" smtClean="0"/>
              <a:t>Service Transition Strategy </a:t>
            </a:r>
            <a:endParaRPr lang="en-GB" sz="800" b="1" dirty="0"/>
          </a:p>
        </p:txBody>
      </p:sp>
      <p:sp>
        <p:nvSpPr>
          <p:cNvPr id="240" name="Pentagon 239"/>
          <p:cNvSpPr/>
          <p:nvPr/>
        </p:nvSpPr>
        <p:spPr bwMode="auto">
          <a:xfrm>
            <a:off x="179512" y="332656"/>
            <a:ext cx="248427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Business Change and Deployment </a:t>
            </a:r>
            <a:endParaRPr lang="en-GB" sz="800" b="1" dirty="0">
              <a:solidFill>
                <a:srgbClr val="646464"/>
              </a:solidFill>
            </a:endParaRPr>
          </a:p>
        </p:txBody>
      </p:sp>
      <p:sp>
        <p:nvSpPr>
          <p:cNvPr id="241" name="Pentagon 240"/>
          <p:cNvSpPr/>
          <p:nvPr/>
        </p:nvSpPr>
        <p:spPr bwMode="auto">
          <a:xfrm>
            <a:off x="179513" y="1088740"/>
            <a:ext cx="432048" cy="208416"/>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Initiate</a:t>
            </a:r>
          </a:p>
          <a:p>
            <a:pPr algn="ctr" fontAlgn="base">
              <a:spcBef>
                <a:spcPct val="0"/>
              </a:spcBef>
              <a:spcAft>
                <a:spcPct val="0"/>
              </a:spcAft>
            </a:pPr>
            <a:r>
              <a:rPr lang="en-GB" sz="800" b="1" dirty="0" smtClean="0">
                <a:solidFill>
                  <a:srgbClr val="646464"/>
                </a:solidFill>
              </a:rPr>
              <a:t>/ Plan</a:t>
            </a:r>
            <a:endParaRPr lang="en-GB" sz="800" b="1" dirty="0">
              <a:solidFill>
                <a:srgbClr val="646464"/>
              </a:solidFill>
            </a:endParaRPr>
          </a:p>
        </p:txBody>
      </p:sp>
      <p:sp>
        <p:nvSpPr>
          <p:cNvPr id="242" name="Pentagon 241"/>
          <p:cNvSpPr/>
          <p:nvPr/>
        </p:nvSpPr>
        <p:spPr bwMode="auto">
          <a:xfrm>
            <a:off x="611560" y="1340188"/>
            <a:ext cx="1044115" cy="103511"/>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Requirements</a:t>
            </a:r>
            <a:endParaRPr lang="en-GB" sz="800" b="1" dirty="0">
              <a:solidFill>
                <a:srgbClr val="646464"/>
              </a:solidFill>
            </a:endParaRPr>
          </a:p>
        </p:txBody>
      </p:sp>
      <p:sp>
        <p:nvSpPr>
          <p:cNvPr id="246" name="5-Point Star 245"/>
          <p:cNvSpPr/>
          <p:nvPr/>
        </p:nvSpPr>
        <p:spPr bwMode="auto">
          <a:xfrm>
            <a:off x="539553" y="1875747"/>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cxnSp>
        <p:nvCxnSpPr>
          <p:cNvPr id="247" name="Straight Connector 246"/>
          <p:cNvCxnSpPr/>
          <p:nvPr/>
        </p:nvCxnSpPr>
        <p:spPr bwMode="auto">
          <a:xfrm>
            <a:off x="611561" y="1119663"/>
            <a:ext cx="0" cy="773099"/>
          </a:xfrm>
          <a:prstGeom prst="line">
            <a:avLst/>
          </a:prstGeom>
          <a:solidFill>
            <a:srgbClr val="FF0000"/>
          </a:solidFill>
          <a:ln w="12700" cap="flat" cmpd="sng" algn="ctr">
            <a:solidFill>
              <a:srgbClr val="FF0000"/>
            </a:solidFill>
            <a:prstDash val="solid"/>
            <a:round/>
            <a:headEnd type="none" w="med" len="med"/>
            <a:tailEnd type="none"/>
          </a:ln>
          <a:effectLst/>
        </p:spPr>
      </p:cxnSp>
      <p:sp>
        <p:nvSpPr>
          <p:cNvPr id="251" name="TextBox 250"/>
          <p:cNvSpPr txBox="1"/>
          <p:nvPr/>
        </p:nvSpPr>
        <p:spPr>
          <a:xfrm>
            <a:off x="539554" y="975647"/>
            <a:ext cx="864096" cy="415498"/>
          </a:xfrm>
          <a:prstGeom prst="rect">
            <a:avLst/>
          </a:prstGeom>
          <a:noFill/>
        </p:spPr>
        <p:txBody>
          <a:bodyPr wrap="square" rtlCol="0">
            <a:spAutoFit/>
          </a:bodyPr>
          <a:lstStyle/>
          <a:p>
            <a:pPr algn="l"/>
            <a:r>
              <a:rPr lang="en-GB" sz="700" dirty="0" smtClean="0"/>
              <a:t>Lync Vendor Decision</a:t>
            </a:r>
          </a:p>
          <a:p>
            <a:pPr algn="l"/>
            <a:r>
              <a:rPr lang="en-GB" sz="700" dirty="0" smtClean="0"/>
              <a:t>30</a:t>
            </a:r>
            <a:r>
              <a:rPr lang="en-GB" sz="700" baseline="30000" dirty="0" smtClean="0"/>
              <a:t>th</a:t>
            </a:r>
            <a:r>
              <a:rPr lang="en-GB" sz="700" dirty="0" smtClean="0"/>
              <a:t> April</a:t>
            </a:r>
            <a:endParaRPr lang="en-GB" sz="700" dirty="0"/>
          </a:p>
        </p:txBody>
      </p:sp>
      <p:sp>
        <p:nvSpPr>
          <p:cNvPr id="253" name="Line 125"/>
          <p:cNvSpPr>
            <a:spLocks noChangeShapeType="1"/>
          </p:cNvSpPr>
          <p:nvPr/>
        </p:nvSpPr>
        <p:spPr bwMode="gray">
          <a:xfrm flipV="1">
            <a:off x="1655676" y="1047655"/>
            <a:ext cx="0" cy="900100"/>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54" name="TextBox 253"/>
          <p:cNvSpPr txBox="1"/>
          <p:nvPr/>
        </p:nvSpPr>
        <p:spPr>
          <a:xfrm>
            <a:off x="1583669" y="1011651"/>
            <a:ext cx="1440159" cy="415498"/>
          </a:xfrm>
          <a:prstGeom prst="rect">
            <a:avLst/>
          </a:prstGeom>
          <a:noFill/>
        </p:spPr>
        <p:txBody>
          <a:bodyPr wrap="square" rtlCol="0">
            <a:spAutoFit/>
          </a:bodyPr>
          <a:lstStyle/>
          <a:p>
            <a:pPr algn="l"/>
            <a:r>
              <a:rPr lang="en-GB" sz="700" dirty="0" smtClean="0"/>
              <a:t>30</a:t>
            </a:r>
            <a:r>
              <a:rPr lang="en-GB" sz="700" baseline="30000" dirty="0" smtClean="0"/>
              <a:t>th</a:t>
            </a:r>
            <a:r>
              <a:rPr lang="en-GB" sz="700" dirty="0" smtClean="0"/>
              <a:t> July</a:t>
            </a:r>
          </a:p>
          <a:p>
            <a:pPr algn="l"/>
            <a:r>
              <a:rPr lang="en-GB" sz="700" dirty="0" smtClean="0"/>
              <a:t>Contract</a:t>
            </a:r>
          </a:p>
          <a:p>
            <a:pPr algn="l"/>
            <a:r>
              <a:rPr lang="en-GB" sz="700" dirty="0" smtClean="0"/>
              <a:t> Signed</a:t>
            </a:r>
            <a:endParaRPr lang="en-GB" sz="700" dirty="0"/>
          </a:p>
        </p:txBody>
      </p:sp>
      <p:sp>
        <p:nvSpPr>
          <p:cNvPr id="255" name="Pentagon 254"/>
          <p:cNvSpPr/>
          <p:nvPr/>
        </p:nvSpPr>
        <p:spPr bwMode="auto">
          <a:xfrm>
            <a:off x="719572" y="1479703"/>
            <a:ext cx="1044116" cy="108012"/>
          </a:xfrm>
          <a:prstGeom prst="homePlate">
            <a:avLst/>
          </a:prstGeom>
          <a:gradFill>
            <a:gsLst>
              <a:gs pos="21000">
                <a:schemeClr val="bg1">
                  <a:lumMod val="85000"/>
                </a:schemeClr>
              </a:gs>
              <a:gs pos="50000">
                <a:schemeClr val="accent2"/>
              </a:gs>
              <a:gs pos="100000">
                <a:schemeClr val="accent1">
                  <a:tint val="23500"/>
                  <a:satMod val="160000"/>
                </a:schemeClr>
              </a:gs>
            </a:gsLst>
            <a:lin ang="10800000" scaled="1"/>
          </a:gra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Architecture &amp; Design</a:t>
            </a:r>
            <a:endParaRPr lang="en-GB" sz="800" b="1" dirty="0">
              <a:solidFill>
                <a:srgbClr val="646464"/>
              </a:solidFill>
            </a:endParaRPr>
          </a:p>
        </p:txBody>
      </p:sp>
      <p:sp>
        <p:nvSpPr>
          <p:cNvPr id="256" name="Pentagon 255"/>
          <p:cNvSpPr/>
          <p:nvPr/>
        </p:nvSpPr>
        <p:spPr bwMode="auto">
          <a:xfrm>
            <a:off x="1403649" y="1623719"/>
            <a:ext cx="1548000" cy="108012"/>
          </a:xfrm>
          <a:prstGeom prst="homePlate">
            <a:avLst/>
          </a:prstGeom>
          <a:solidFill>
            <a:schemeClr val="bg1">
              <a:lumMod val="75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Infrastructure Build </a:t>
            </a:r>
            <a:endParaRPr lang="en-GB" sz="800" b="1" dirty="0">
              <a:solidFill>
                <a:srgbClr val="646464"/>
              </a:solidFill>
            </a:endParaRPr>
          </a:p>
        </p:txBody>
      </p:sp>
      <p:sp>
        <p:nvSpPr>
          <p:cNvPr id="257" name="Line 125"/>
          <p:cNvSpPr>
            <a:spLocks noChangeShapeType="1"/>
          </p:cNvSpPr>
          <p:nvPr/>
        </p:nvSpPr>
        <p:spPr bwMode="gray">
          <a:xfrm flipV="1">
            <a:off x="2915816" y="1119663"/>
            <a:ext cx="0" cy="828092"/>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58" name="TextBox 257"/>
          <p:cNvSpPr txBox="1"/>
          <p:nvPr/>
        </p:nvSpPr>
        <p:spPr>
          <a:xfrm>
            <a:off x="2843808" y="1146375"/>
            <a:ext cx="1440159" cy="523220"/>
          </a:xfrm>
          <a:prstGeom prst="rect">
            <a:avLst/>
          </a:prstGeom>
          <a:noFill/>
        </p:spPr>
        <p:txBody>
          <a:bodyPr wrap="square" rtlCol="0">
            <a:spAutoFit/>
          </a:bodyPr>
          <a:lstStyle/>
          <a:p>
            <a:pPr algn="l"/>
            <a:r>
              <a:rPr lang="en-GB" sz="700" dirty="0" smtClean="0"/>
              <a:t>Infrastructure</a:t>
            </a:r>
          </a:p>
          <a:p>
            <a:pPr algn="l"/>
            <a:r>
              <a:rPr lang="en-GB" sz="700" dirty="0" smtClean="0"/>
              <a:t>Complete</a:t>
            </a:r>
          </a:p>
          <a:p>
            <a:pPr algn="l"/>
            <a:r>
              <a:rPr lang="en-GB" sz="700" dirty="0" smtClean="0"/>
              <a:t>5</a:t>
            </a:r>
            <a:r>
              <a:rPr lang="en-GB" sz="700" baseline="30000" dirty="0" smtClean="0"/>
              <a:t>th</a:t>
            </a:r>
            <a:r>
              <a:rPr lang="en-GB" sz="700" dirty="0" smtClean="0"/>
              <a:t> Nov</a:t>
            </a:r>
          </a:p>
          <a:p>
            <a:pPr algn="l"/>
            <a:endParaRPr lang="en-GB" sz="700" dirty="0"/>
          </a:p>
        </p:txBody>
      </p:sp>
      <p:sp>
        <p:nvSpPr>
          <p:cNvPr id="260" name="Text Box 126"/>
          <p:cNvSpPr txBox="1">
            <a:spLocks noChangeArrowheads="1"/>
          </p:cNvSpPr>
          <p:nvPr>
            <p:custDataLst>
              <p:tags r:id="rId1"/>
            </p:custDataLst>
          </p:nvPr>
        </p:nvSpPr>
        <p:spPr bwMode="gray">
          <a:xfrm>
            <a:off x="-36512" y="441829"/>
            <a:ext cx="863588" cy="430887"/>
          </a:xfrm>
          <a:prstGeom prst="rect">
            <a:avLst/>
          </a:prstGeom>
          <a:noFill/>
          <a:ln w="9525" algn="ctr">
            <a:noFill/>
            <a:miter lim="800000"/>
            <a:headEnd type="none" w="sm" len="sm"/>
            <a:tailEnd type="none" w="sm" len="sm"/>
          </a:ln>
        </p:spPr>
        <p:txBody>
          <a:bodyPr wrap="square" lIns="26118" tIns="0" rIns="0" bIns="0" anchor="ctr" anchorCtr="0">
            <a:spAutoFit/>
          </a:bodyPr>
          <a:lstStyle/>
          <a:p>
            <a:pPr algn="r" defTabSz="514230" eaLnBrk="0" fontAlgn="base" hangingPunct="0">
              <a:spcBef>
                <a:spcPct val="0"/>
              </a:spcBef>
              <a:spcAft>
                <a:spcPct val="0"/>
              </a:spcAft>
            </a:pPr>
            <a:r>
              <a:rPr lang="en-US" sz="700" dirty="0">
                <a:solidFill>
                  <a:srgbClr val="646464"/>
                </a:solidFill>
              </a:rPr>
              <a:t>Sign </a:t>
            </a:r>
            <a:r>
              <a:rPr lang="en-US" sz="700" dirty="0" smtClean="0">
                <a:solidFill>
                  <a:srgbClr val="646464"/>
                </a:solidFill>
              </a:rPr>
              <a:t>off Change  Approach , Structure &amp; Dep.  Framework</a:t>
            </a:r>
            <a:endParaRPr lang="en-US" sz="700" dirty="0">
              <a:solidFill>
                <a:srgbClr val="646464"/>
              </a:solidFill>
            </a:endParaRPr>
          </a:p>
          <a:p>
            <a:pPr algn="r" defTabSz="514230" eaLnBrk="0" fontAlgn="base" hangingPunct="0">
              <a:spcBef>
                <a:spcPct val="0"/>
              </a:spcBef>
              <a:spcAft>
                <a:spcPct val="0"/>
              </a:spcAft>
            </a:pPr>
            <a:r>
              <a:rPr lang="en-US" sz="700" dirty="0" smtClean="0">
                <a:solidFill>
                  <a:srgbClr val="646464"/>
                </a:solidFill>
              </a:rPr>
              <a:t>25</a:t>
            </a:r>
            <a:r>
              <a:rPr lang="en-US" sz="700" baseline="30000" dirty="0" smtClean="0">
                <a:solidFill>
                  <a:srgbClr val="646464"/>
                </a:solidFill>
              </a:rPr>
              <a:t>th</a:t>
            </a:r>
            <a:r>
              <a:rPr lang="en-US" sz="700" dirty="0" smtClean="0">
                <a:solidFill>
                  <a:srgbClr val="646464"/>
                </a:solidFill>
              </a:rPr>
              <a:t> May </a:t>
            </a:r>
            <a:endParaRPr lang="en-US" sz="700" dirty="0">
              <a:solidFill>
                <a:srgbClr val="646464"/>
              </a:solidFill>
            </a:endParaRPr>
          </a:p>
        </p:txBody>
      </p:sp>
      <p:sp>
        <p:nvSpPr>
          <p:cNvPr id="261" name="Line 125"/>
          <p:cNvSpPr>
            <a:spLocks noChangeShapeType="1"/>
          </p:cNvSpPr>
          <p:nvPr/>
        </p:nvSpPr>
        <p:spPr bwMode="gray">
          <a:xfrm flipV="1">
            <a:off x="863588" y="485964"/>
            <a:ext cx="0" cy="396044"/>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62" name="Text Box 126"/>
          <p:cNvSpPr txBox="1">
            <a:spLocks noChangeArrowheads="1"/>
          </p:cNvSpPr>
          <p:nvPr>
            <p:custDataLst>
              <p:tags r:id="rId2"/>
            </p:custDataLst>
          </p:nvPr>
        </p:nvSpPr>
        <p:spPr bwMode="gray">
          <a:xfrm>
            <a:off x="1007604" y="444587"/>
            <a:ext cx="864096" cy="500137"/>
          </a:xfrm>
          <a:prstGeom prst="rect">
            <a:avLst/>
          </a:prstGeom>
          <a:noFill/>
          <a:ln w="9525" algn="ctr">
            <a:noFill/>
            <a:miter lim="800000"/>
            <a:headEnd type="none" w="sm" len="sm"/>
            <a:tailEnd type="none" w="sm" len="sm"/>
          </a:ln>
        </p:spPr>
        <p:txBody>
          <a:bodyPr wrap="square" lIns="26118" tIns="0" rIns="0" bIns="0" anchor="ctr" anchorCtr="0">
            <a:spAutoFit/>
          </a:bodyPr>
          <a:lstStyle/>
          <a:p>
            <a:pPr algn="r" defTabSz="514230" eaLnBrk="0" fontAlgn="base" hangingPunct="0">
              <a:spcBef>
                <a:spcPct val="0"/>
              </a:spcBef>
              <a:spcAft>
                <a:spcPct val="0"/>
              </a:spcAft>
            </a:pPr>
            <a:r>
              <a:rPr lang="en-US" sz="650" dirty="0" smtClean="0"/>
              <a:t>Behavioral</a:t>
            </a:r>
          </a:p>
          <a:p>
            <a:pPr algn="r" defTabSz="514230" eaLnBrk="0" fontAlgn="base" hangingPunct="0">
              <a:spcBef>
                <a:spcPct val="0"/>
              </a:spcBef>
              <a:spcAft>
                <a:spcPct val="0"/>
              </a:spcAft>
            </a:pPr>
            <a:r>
              <a:rPr lang="en-US" sz="650" dirty="0" smtClean="0"/>
              <a:t>change </a:t>
            </a:r>
          </a:p>
          <a:p>
            <a:pPr algn="r" defTabSz="514230" eaLnBrk="0" fontAlgn="base" hangingPunct="0">
              <a:spcBef>
                <a:spcPct val="0"/>
              </a:spcBef>
              <a:spcAft>
                <a:spcPct val="0"/>
              </a:spcAft>
            </a:pPr>
            <a:r>
              <a:rPr lang="en-US" sz="650" dirty="0" smtClean="0"/>
              <a:t>Approach / </a:t>
            </a:r>
          </a:p>
          <a:p>
            <a:pPr algn="r" defTabSz="514230" eaLnBrk="0" fontAlgn="base" hangingPunct="0">
              <a:spcBef>
                <a:spcPct val="0"/>
              </a:spcBef>
              <a:spcAft>
                <a:spcPct val="0"/>
              </a:spcAft>
            </a:pPr>
            <a:r>
              <a:rPr lang="en-US" sz="650" dirty="0" smtClean="0"/>
              <a:t>Plan  </a:t>
            </a:r>
          </a:p>
          <a:p>
            <a:pPr algn="r" defTabSz="514230" eaLnBrk="0" fontAlgn="base" hangingPunct="0">
              <a:spcBef>
                <a:spcPct val="0"/>
              </a:spcBef>
              <a:spcAft>
                <a:spcPct val="0"/>
              </a:spcAft>
            </a:pPr>
            <a:r>
              <a:rPr lang="en-US" sz="650" dirty="0" smtClean="0"/>
              <a:t>   29</a:t>
            </a:r>
            <a:r>
              <a:rPr lang="en-US" sz="650" baseline="30000" dirty="0" smtClean="0"/>
              <a:t>th</a:t>
            </a:r>
            <a:r>
              <a:rPr lang="en-US" sz="650" dirty="0" smtClean="0"/>
              <a:t> June</a:t>
            </a:r>
          </a:p>
        </p:txBody>
      </p:sp>
      <p:sp>
        <p:nvSpPr>
          <p:cNvPr id="263" name="Line 125"/>
          <p:cNvSpPr>
            <a:spLocks noChangeShapeType="1"/>
          </p:cNvSpPr>
          <p:nvPr/>
        </p:nvSpPr>
        <p:spPr bwMode="gray">
          <a:xfrm flipV="1">
            <a:off x="1331640" y="485964"/>
            <a:ext cx="0" cy="396044"/>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64" name="Line 125"/>
          <p:cNvSpPr>
            <a:spLocks noChangeShapeType="1"/>
          </p:cNvSpPr>
          <p:nvPr/>
        </p:nvSpPr>
        <p:spPr bwMode="gray">
          <a:xfrm flipV="1">
            <a:off x="1907704" y="485964"/>
            <a:ext cx="0" cy="396044"/>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65" name="Text Box 126"/>
          <p:cNvSpPr txBox="1">
            <a:spLocks noChangeArrowheads="1"/>
          </p:cNvSpPr>
          <p:nvPr>
            <p:custDataLst>
              <p:tags r:id="rId3"/>
            </p:custDataLst>
          </p:nvPr>
        </p:nvSpPr>
        <p:spPr bwMode="gray">
          <a:xfrm>
            <a:off x="1907704" y="513837"/>
            <a:ext cx="864096" cy="430887"/>
          </a:xfrm>
          <a:prstGeom prst="rect">
            <a:avLst/>
          </a:prstGeom>
          <a:noFill/>
          <a:ln w="9525" algn="ctr">
            <a:noFill/>
            <a:miter lim="800000"/>
            <a:headEnd type="none" w="sm" len="sm"/>
            <a:tailEnd type="none" w="sm" len="sm"/>
          </a:ln>
        </p:spPr>
        <p:txBody>
          <a:bodyPr wrap="square" lIns="26118" tIns="0" rIns="0" bIns="0" anchor="ctr" anchorCtr="0">
            <a:spAutoFit/>
          </a:bodyPr>
          <a:lstStyle/>
          <a:p>
            <a:pPr algn="l" defTabSz="514230" eaLnBrk="0" fontAlgn="base" hangingPunct="0">
              <a:spcBef>
                <a:spcPct val="0"/>
              </a:spcBef>
              <a:spcAft>
                <a:spcPct val="0"/>
              </a:spcAft>
            </a:pPr>
            <a:r>
              <a:rPr lang="en-US" sz="700" dirty="0" smtClean="0"/>
              <a:t>Required</a:t>
            </a:r>
          </a:p>
          <a:p>
            <a:pPr algn="l" defTabSz="514230" eaLnBrk="0" fontAlgn="base" hangingPunct="0">
              <a:spcBef>
                <a:spcPct val="0"/>
              </a:spcBef>
              <a:spcAft>
                <a:spcPct val="0"/>
              </a:spcAft>
            </a:pPr>
            <a:r>
              <a:rPr lang="en-US" sz="700" dirty="0" smtClean="0"/>
              <a:t>Behaviors</a:t>
            </a:r>
          </a:p>
          <a:p>
            <a:pPr algn="l" defTabSz="514230" eaLnBrk="0" fontAlgn="base" hangingPunct="0">
              <a:spcBef>
                <a:spcPct val="0"/>
              </a:spcBef>
              <a:spcAft>
                <a:spcPct val="0"/>
              </a:spcAft>
            </a:pPr>
            <a:r>
              <a:rPr lang="en-US" sz="700" dirty="0" smtClean="0"/>
              <a:t>Signed Off</a:t>
            </a:r>
          </a:p>
          <a:p>
            <a:pPr algn="l" defTabSz="514230" eaLnBrk="0" fontAlgn="base" hangingPunct="0">
              <a:spcBef>
                <a:spcPct val="0"/>
              </a:spcBef>
              <a:spcAft>
                <a:spcPct val="0"/>
              </a:spcAft>
            </a:pPr>
            <a:r>
              <a:rPr lang="en-US" sz="700" dirty="0" smtClean="0"/>
              <a:t>  16</a:t>
            </a:r>
            <a:r>
              <a:rPr lang="en-US" sz="700" baseline="30000" dirty="0" smtClean="0"/>
              <a:t>th</a:t>
            </a:r>
            <a:r>
              <a:rPr lang="en-US" sz="700" dirty="0" smtClean="0"/>
              <a:t> Aug</a:t>
            </a:r>
          </a:p>
        </p:txBody>
      </p:sp>
      <p:sp>
        <p:nvSpPr>
          <p:cNvPr id="266" name="Line 125"/>
          <p:cNvSpPr>
            <a:spLocks noChangeShapeType="1"/>
          </p:cNvSpPr>
          <p:nvPr/>
        </p:nvSpPr>
        <p:spPr bwMode="gray">
          <a:xfrm flipV="1">
            <a:off x="2663788" y="485964"/>
            <a:ext cx="0" cy="396044"/>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67" name="Text Box 126"/>
          <p:cNvSpPr txBox="1">
            <a:spLocks noChangeArrowheads="1"/>
          </p:cNvSpPr>
          <p:nvPr>
            <p:custDataLst>
              <p:tags r:id="rId4"/>
            </p:custDataLst>
          </p:nvPr>
        </p:nvSpPr>
        <p:spPr bwMode="gray">
          <a:xfrm>
            <a:off x="2663788" y="370111"/>
            <a:ext cx="864096" cy="538609"/>
          </a:xfrm>
          <a:prstGeom prst="rect">
            <a:avLst/>
          </a:prstGeom>
          <a:noFill/>
          <a:ln w="9525" algn="ctr">
            <a:noFill/>
            <a:miter lim="800000"/>
            <a:headEnd type="none" w="sm" len="sm"/>
            <a:tailEnd type="none" w="sm" len="sm"/>
          </a:ln>
        </p:spPr>
        <p:txBody>
          <a:bodyPr wrap="square" lIns="26118" tIns="0" rIns="0" bIns="0" anchor="ctr" anchorCtr="0">
            <a:spAutoFit/>
          </a:bodyPr>
          <a:lstStyle/>
          <a:p>
            <a:pPr algn="l" defTabSz="514230" eaLnBrk="0" fontAlgn="base" hangingPunct="0">
              <a:spcBef>
                <a:spcPct val="0"/>
              </a:spcBef>
              <a:spcAft>
                <a:spcPct val="0"/>
              </a:spcAft>
            </a:pPr>
            <a:r>
              <a:rPr lang="en-US" sz="700" dirty="0" smtClean="0"/>
              <a:t>Outlook</a:t>
            </a:r>
          </a:p>
          <a:p>
            <a:pPr algn="l" defTabSz="514230" eaLnBrk="0" fontAlgn="base" hangingPunct="0">
              <a:spcBef>
                <a:spcPct val="0"/>
              </a:spcBef>
              <a:spcAft>
                <a:spcPct val="0"/>
              </a:spcAft>
            </a:pPr>
            <a:r>
              <a:rPr lang="en-US" sz="700" dirty="0" smtClean="0"/>
              <a:t>Deployment </a:t>
            </a:r>
          </a:p>
          <a:p>
            <a:pPr algn="l" defTabSz="514230" eaLnBrk="0" fontAlgn="base" hangingPunct="0">
              <a:spcBef>
                <a:spcPct val="0"/>
              </a:spcBef>
              <a:spcAft>
                <a:spcPct val="0"/>
              </a:spcAft>
            </a:pPr>
            <a:r>
              <a:rPr lang="en-US" sz="700" dirty="0" smtClean="0"/>
              <a:t>Plan</a:t>
            </a:r>
          </a:p>
          <a:p>
            <a:pPr algn="l" defTabSz="514230" eaLnBrk="0" fontAlgn="base" hangingPunct="0">
              <a:spcBef>
                <a:spcPct val="0"/>
              </a:spcBef>
              <a:spcAft>
                <a:spcPct val="0"/>
              </a:spcAft>
            </a:pPr>
            <a:r>
              <a:rPr lang="en-US" sz="700" dirty="0" smtClean="0"/>
              <a:t>Confirmation</a:t>
            </a:r>
          </a:p>
          <a:p>
            <a:pPr algn="l" defTabSz="514230" eaLnBrk="0" fontAlgn="base" hangingPunct="0">
              <a:spcBef>
                <a:spcPct val="0"/>
              </a:spcBef>
              <a:spcAft>
                <a:spcPct val="0"/>
              </a:spcAft>
            </a:pPr>
            <a:r>
              <a:rPr lang="en-US" sz="700" dirty="0" smtClean="0"/>
              <a:t>   24</a:t>
            </a:r>
            <a:r>
              <a:rPr lang="en-US" sz="700" baseline="30000" dirty="0" smtClean="0"/>
              <a:t>th</a:t>
            </a:r>
            <a:r>
              <a:rPr lang="en-US" sz="700" dirty="0" smtClean="0"/>
              <a:t> Oct</a:t>
            </a:r>
          </a:p>
        </p:txBody>
      </p:sp>
      <p:sp>
        <p:nvSpPr>
          <p:cNvPr id="268" name="Text Box 126"/>
          <p:cNvSpPr txBox="1">
            <a:spLocks noChangeArrowheads="1"/>
          </p:cNvSpPr>
          <p:nvPr>
            <p:custDataLst>
              <p:tags r:id="rId5"/>
            </p:custDataLst>
          </p:nvPr>
        </p:nvSpPr>
        <p:spPr bwMode="gray">
          <a:xfrm>
            <a:off x="827584" y="440668"/>
            <a:ext cx="468052" cy="500137"/>
          </a:xfrm>
          <a:prstGeom prst="rect">
            <a:avLst/>
          </a:prstGeom>
          <a:noFill/>
          <a:ln w="9525" algn="ctr">
            <a:noFill/>
            <a:miter lim="800000"/>
            <a:headEnd type="none" w="sm" len="sm"/>
            <a:tailEnd type="none" w="sm" len="sm"/>
          </a:ln>
        </p:spPr>
        <p:txBody>
          <a:bodyPr wrap="square" lIns="26118" tIns="0" rIns="0" bIns="0" anchor="ctr" anchorCtr="0">
            <a:spAutoFit/>
          </a:bodyPr>
          <a:lstStyle/>
          <a:p>
            <a:pPr algn="r" defTabSz="514230" eaLnBrk="0" fontAlgn="base" hangingPunct="0">
              <a:spcBef>
                <a:spcPct val="0"/>
              </a:spcBef>
              <a:spcAft>
                <a:spcPct val="0"/>
              </a:spcAft>
            </a:pPr>
            <a:r>
              <a:rPr lang="en-US" sz="650" dirty="0" smtClean="0"/>
              <a:t>Refresh</a:t>
            </a:r>
          </a:p>
          <a:p>
            <a:pPr algn="r" defTabSz="514230" eaLnBrk="0" fontAlgn="base" hangingPunct="0">
              <a:spcBef>
                <a:spcPct val="0"/>
              </a:spcBef>
              <a:spcAft>
                <a:spcPct val="0"/>
              </a:spcAft>
            </a:pPr>
            <a:r>
              <a:rPr lang="en-US" sz="650" dirty="0" smtClean="0"/>
              <a:t>Learning</a:t>
            </a:r>
          </a:p>
          <a:p>
            <a:pPr algn="r" defTabSz="514230" eaLnBrk="0" fontAlgn="base" hangingPunct="0">
              <a:spcBef>
                <a:spcPct val="0"/>
              </a:spcBef>
              <a:spcAft>
                <a:spcPct val="0"/>
              </a:spcAft>
            </a:pPr>
            <a:r>
              <a:rPr lang="en-US" sz="650" dirty="0" smtClean="0"/>
              <a:t> &amp; Comms </a:t>
            </a:r>
          </a:p>
          <a:p>
            <a:pPr algn="r" defTabSz="514230" eaLnBrk="0" fontAlgn="base" hangingPunct="0">
              <a:spcBef>
                <a:spcPct val="0"/>
              </a:spcBef>
              <a:spcAft>
                <a:spcPct val="0"/>
              </a:spcAft>
            </a:pPr>
            <a:r>
              <a:rPr lang="en-US" sz="650" dirty="0" smtClean="0"/>
              <a:t>Strategy</a:t>
            </a:r>
          </a:p>
          <a:p>
            <a:pPr algn="r" defTabSz="514230" eaLnBrk="0" fontAlgn="base" hangingPunct="0">
              <a:spcBef>
                <a:spcPct val="0"/>
              </a:spcBef>
              <a:spcAft>
                <a:spcPct val="0"/>
              </a:spcAft>
            </a:pPr>
            <a:r>
              <a:rPr lang="en-US" sz="650" dirty="0" smtClean="0"/>
              <a:t>28</a:t>
            </a:r>
            <a:r>
              <a:rPr lang="en-US" sz="650" baseline="30000" dirty="0" smtClean="0"/>
              <a:t>th</a:t>
            </a:r>
            <a:r>
              <a:rPr lang="en-US" sz="650" dirty="0" smtClean="0"/>
              <a:t> June</a:t>
            </a:r>
          </a:p>
        </p:txBody>
      </p:sp>
      <p:sp>
        <p:nvSpPr>
          <p:cNvPr id="269" name="Pentagon 268"/>
          <p:cNvSpPr/>
          <p:nvPr/>
        </p:nvSpPr>
        <p:spPr bwMode="auto">
          <a:xfrm>
            <a:off x="179512" y="188640"/>
            <a:ext cx="3060340"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Benefits Realisation</a:t>
            </a:r>
            <a:endParaRPr lang="en-GB" sz="800" b="1" dirty="0">
              <a:solidFill>
                <a:srgbClr val="646464"/>
              </a:solidFill>
            </a:endParaRPr>
          </a:p>
        </p:txBody>
      </p:sp>
      <p:sp>
        <p:nvSpPr>
          <p:cNvPr id="272" name="Line 125"/>
          <p:cNvSpPr>
            <a:spLocks noChangeShapeType="1"/>
          </p:cNvSpPr>
          <p:nvPr/>
        </p:nvSpPr>
        <p:spPr bwMode="gray">
          <a:xfrm flipV="1">
            <a:off x="3239852" y="188640"/>
            <a:ext cx="0" cy="720080"/>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73" name="Text Box 126"/>
          <p:cNvSpPr txBox="1">
            <a:spLocks noChangeArrowheads="1"/>
          </p:cNvSpPr>
          <p:nvPr>
            <p:custDataLst>
              <p:tags r:id="rId6"/>
            </p:custDataLst>
          </p:nvPr>
        </p:nvSpPr>
        <p:spPr bwMode="gray">
          <a:xfrm>
            <a:off x="3239852" y="333817"/>
            <a:ext cx="864096" cy="430887"/>
          </a:xfrm>
          <a:prstGeom prst="rect">
            <a:avLst/>
          </a:prstGeom>
          <a:noFill/>
          <a:ln w="9525" algn="ctr">
            <a:noFill/>
            <a:miter lim="800000"/>
            <a:headEnd type="none" w="sm" len="sm"/>
            <a:tailEnd type="none" w="sm" len="sm"/>
          </a:ln>
        </p:spPr>
        <p:txBody>
          <a:bodyPr wrap="square" lIns="26118" tIns="0" rIns="0" bIns="0" anchor="ctr" anchorCtr="0">
            <a:spAutoFit/>
          </a:bodyPr>
          <a:lstStyle/>
          <a:p>
            <a:pPr algn="l" defTabSz="514230" eaLnBrk="0" fontAlgn="base" hangingPunct="0">
              <a:spcBef>
                <a:spcPct val="0"/>
              </a:spcBef>
              <a:spcAft>
                <a:spcPct val="0"/>
              </a:spcAft>
            </a:pPr>
            <a:r>
              <a:rPr lang="en-US" sz="700" dirty="0" smtClean="0"/>
              <a:t>Benefits</a:t>
            </a:r>
          </a:p>
          <a:p>
            <a:pPr algn="l" defTabSz="514230" eaLnBrk="0" fontAlgn="base" hangingPunct="0">
              <a:spcBef>
                <a:spcPct val="0"/>
              </a:spcBef>
              <a:spcAft>
                <a:spcPct val="0"/>
              </a:spcAft>
            </a:pPr>
            <a:r>
              <a:rPr lang="en-US" sz="700" dirty="0" smtClean="0"/>
              <a:t>Realisation Plan</a:t>
            </a:r>
          </a:p>
          <a:p>
            <a:pPr algn="l" defTabSz="514230" eaLnBrk="0" fontAlgn="base" hangingPunct="0">
              <a:spcBef>
                <a:spcPct val="0"/>
              </a:spcBef>
              <a:spcAft>
                <a:spcPct val="0"/>
              </a:spcAft>
            </a:pPr>
            <a:r>
              <a:rPr lang="en-US" sz="700" dirty="0" smtClean="0"/>
              <a:t>Signed off </a:t>
            </a:r>
          </a:p>
          <a:p>
            <a:pPr algn="l" defTabSz="514230" eaLnBrk="0" fontAlgn="base" hangingPunct="0">
              <a:spcBef>
                <a:spcPct val="0"/>
              </a:spcBef>
              <a:spcAft>
                <a:spcPct val="0"/>
              </a:spcAft>
            </a:pPr>
            <a:r>
              <a:rPr lang="en-US" sz="700" dirty="0" smtClean="0"/>
              <a:t>6</a:t>
            </a:r>
            <a:r>
              <a:rPr lang="en-US" sz="700" baseline="30000" dirty="0" smtClean="0"/>
              <a:t>th</a:t>
            </a:r>
            <a:r>
              <a:rPr lang="en-US" sz="700" dirty="0" smtClean="0"/>
              <a:t> Dec</a:t>
            </a:r>
          </a:p>
        </p:txBody>
      </p:sp>
      <p:sp>
        <p:nvSpPr>
          <p:cNvPr id="274" name="Pentagon 273"/>
          <p:cNvSpPr/>
          <p:nvPr/>
        </p:nvSpPr>
        <p:spPr bwMode="auto">
          <a:xfrm>
            <a:off x="3275856" y="188640"/>
            <a:ext cx="5652628"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Benefits Realisation Tracking</a:t>
            </a:r>
            <a:endParaRPr lang="en-GB" sz="800" b="1" dirty="0">
              <a:solidFill>
                <a:srgbClr val="646464"/>
              </a:solidFill>
            </a:endParaRPr>
          </a:p>
        </p:txBody>
      </p:sp>
      <p:sp>
        <p:nvSpPr>
          <p:cNvPr id="275" name="Pentagon 274"/>
          <p:cNvSpPr/>
          <p:nvPr/>
        </p:nvSpPr>
        <p:spPr bwMode="auto">
          <a:xfrm>
            <a:off x="1691680" y="1767735"/>
            <a:ext cx="2124235" cy="108012"/>
          </a:xfrm>
          <a:prstGeom prst="homePlate">
            <a:avLst/>
          </a:prstGeom>
          <a:gradFill flip="none" rotWithShape="1">
            <a:gsLst>
              <a:gs pos="21000">
                <a:schemeClr val="accent2"/>
              </a:gs>
              <a:gs pos="50000">
                <a:schemeClr val="bg1">
                  <a:lumMod val="75000"/>
                </a:schemeClr>
              </a:gs>
              <a:gs pos="100000">
                <a:schemeClr val="accent1">
                  <a:tint val="23500"/>
                  <a:satMod val="160000"/>
                </a:schemeClr>
              </a:gs>
            </a:gsLst>
            <a:lin ang="10800000" scaled="1"/>
            <a:tileRect/>
          </a:gra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Testing</a:t>
            </a:r>
            <a:endParaRPr lang="en-GB" sz="800" b="1" dirty="0">
              <a:solidFill>
                <a:srgbClr val="646464"/>
              </a:solidFill>
            </a:endParaRPr>
          </a:p>
        </p:txBody>
      </p:sp>
      <p:sp>
        <p:nvSpPr>
          <p:cNvPr id="276" name="Pentagon 275"/>
          <p:cNvSpPr/>
          <p:nvPr/>
        </p:nvSpPr>
        <p:spPr bwMode="auto">
          <a:xfrm>
            <a:off x="3887924" y="1839743"/>
            <a:ext cx="68407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700" b="1" dirty="0" smtClean="0">
                <a:solidFill>
                  <a:srgbClr val="646464"/>
                </a:solidFill>
              </a:rPr>
              <a:t>Deployment (?)</a:t>
            </a:r>
            <a:endParaRPr lang="en-GB" sz="700" b="1" dirty="0">
              <a:solidFill>
                <a:srgbClr val="646464"/>
              </a:solidFill>
            </a:endParaRPr>
          </a:p>
        </p:txBody>
      </p:sp>
      <p:grpSp>
        <p:nvGrpSpPr>
          <p:cNvPr id="4" name="Group 281"/>
          <p:cNvGrpSpPr/>
          <p:nvPr/>
        </p:nvGrpSpPr>
        <p:grpSpPr>
          <a:xfrm>
            <a:off x="3743909" y="1300263"/>
            <a:ext cx="1440159" cy="688577"/>
            <a:chOff x="3563889" y="1484784"/>
            <a:chExt cx="1440159" cy="688577"/>
          </a:xfrm>
        </p:grpSpPr>
        <p:cxnSp>
          <p:nvCxnSpPr>
            <p:cNvPr id="277" name="Straight Connector 276"/>
            <p:cNvCxnSpPr/>
            <p:nvPr/>
          </p:nvCxnSpPr>
          <p:spPr bwMode="auto">
            <a:xfrm>
              <a:off x="3635897" y="1580282"/>
              <a:ext cx="0" cy="485067"/>
            </a:xfrm>
            <a:prstGeom prst="line">
              <a:avLst/>
            </a:prstGeom>
            <a:solidFill>
              <a:srgbClr val="FF0000"/>
            </a:solidFill>
            <a:ln w="12700" cap="flat" cmpd="sng" algn="ctr">
              <a:solidFill>
                <a:srgbClr val="FF0000"/>
              </a:solidFill>
              <a:prstDash val="solid"/>
              <a:round/>
              <a:headEnd type="none" w="med" len="med"/>
              <a:tailEnd type="none"/>
            </a:ln>
            <a:effectLst/>
          </p:spPr>
        </p:cxnSp>
        <p:sp>
          <p:nvSpPr>
            <p:cNvPr id="278" name="5-Point Star 277"/>
            <p:cNvSpPr/>
            <p:nvPr/>
          </p:nvSpPr>
          <p:spPr bwMode="auto">
            <a:xfrm>
              <a:off x="3563889" y="2060848"/>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700" b="0" i="0" u="none" strike="noStrike" cap="none" normalizeH="0" baseline="0" dirty="0" smtClean="0">
                <a:ln>
                  <a:noFill/>
                </a:ln>
                <a:solidFill>
                  <a:schemeClr val="tx1"/>
                </a:solidFill>
                <a:effectLst/>
                <a:latin typeface="Arial" charset="0"/>
              </a:endParaRPr>
            </a:p>
          </p:txBody>
        </p:sp>
        <p:sp>
          <p:nvSpPr>
            <p:cNvPr id="279" name="TextBox 278"/>
            <p:cNvSpPr txBox="1"/>
            <p:nvPr/>
          </p:nvSpPr>
          <p:spPr>
            <a:xfrm>
              <a:off x="3563889" y="1484784"/>
              <a:ext cx="1440159" cy="523220"/>
            </a:xfrm>
            <a:prstGeom prst="rect">
              <a:avLst/>
            </a:prstGeom>
            <a:noFill/>
          </p:spPr>
          <p:txBody>
            <a:bodyPr wrap="square" rtlCol="0">
              <a:spAutoFit/>
            </a:bodyPr>
            <a:lstStyle/>
            <a:p>
              <a:pPr algn="l"/>
              <a:r>
                <a:rPr lang="en-GB" sz="700" dirty="0" smtClean="0"/>
                <a:t>Deployment </a:t>
              </a:r>
            </a:p>
            <a:p>
              <a:pPr algn="l"/>
              <a:r>
                <a:rPr lang="en-GB" sz="700" dirty="0" smtClean="0"/>
                <a:t>Go / No Go</a:t>
              </a:r>
            </a:p>
            <a:p>
              <a:pPr algn="l"/>
              <a:r>
                <a:rPr lang="en-GB" sz="700" dirty="0" smtClean="0"/>
                <a:t>28</a:t>
              </a:r>
              <a:r>
                <a:rPr lang="en-GB" sz="700" baseline="30000" dirty="0" smtClean="0"/>
                <a:t>th</a:t>
              </a:r>
              <a:r>
                <a:rPr lang="en-GB" sz="700" dirty="0" smtClean="0"/>
                <a:t> Jan</a:t>
              </a:r>
            </a:p>
            <a:p>
              <a:pPr algn="l"/>
              <a:endParaRPr lang="en-GB" sz="700" dirty="0"/>
            </a:p>
          </p:txBody>
        </p:sp>
      </p:grpSp>
      <p:sp>
        <p:nvSpPr>
          <p:cNvPr id="281" name="Rectangle 280"/>
          <p:cNvSpPr/>
          <p:nvPr/>
        </p:nvSpPr>
        <p:spPr bwMode="auto">
          <a:xfrm>
            <a:off x="7668344" y="584684"/>
            <a:ext cx="216024" cy="6084676"/>
          </a:xfrm>
          <a:prstGeom prst="rect">
            <a:avLst/>
          </a:prstGeom>
          <a:solidFill>
            <a:schemeClr val="bg1">
              <a:lumMod val="85000"/>
              <a:alpha val="39000"/>
            </a:schemeClr>
          </a:solidFill>
          <a:ln w="9525" cap="flat" cmpd="sng" algn="ctr">
            <a:noFill/>
            <a:prstDash val="solid"/>
            <a:round/>
            <a:headEnd type="none" w="med" len="med"/>
            <a:tailEnd type="none" w="med" len="med"/>
          </a:ln>
          <a:effectLst/>
        </p:spPr>
        <p:txBody>
          <a:bodyPr vert="vert270"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GB" sz="900" b="1" dirty="0" smtClean="0"/>
              <a:t>CHRISTMAS</a:t>
            </a:r>
            <a:endParaRPr kumimoji="0" lang="en-GB" sz="900" b="1" i="0" u="none" strike="noStrike" cap="none" normalizeH="0" baseline="0" dirty="0" smtClean="0">
              <a:ln>
                <a:noFill/>
              </a:ln>
              <a:solidFill>
                <a:schemeClr val="tx1"/>
              </a:solidFill>
              <a:effectLst/>
              <a:latin typeface="Arial" charset="0"/>
            </a:endParaRPr>
          </a:p>
        </p:txBody>
      </p:sp>
      <p:sp>
        <p:nvSpPr>
          <p:cNvPr id="283" name="Pentagon 282"/>
          <p:cNvSpPr/>
          <p:nvPr/>
        </p:nvSpPr>
        <p:spPr bwMode="auto">
          <a:xfrm>
            <a:off x="35496" y="5265204"/>
            <a:ext cx="3276364"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Discovery &amp; Assessment</a:t>
            </a:r>
            <a:endParaRPr lang="en-GB" sz="800" b="1" dirty="0">
              <a:solidFill>
                <a:srgbClr val="646464"/>
              </a:solidFill>
            </a:endParaRPr>
          </a:p>
        </p:txBody>
      </p:sp>
      <p:sp>
        <p:nvSpPr>
          <p:cNvPr id="284" name="Pentagon 283"/>
          <p:cNvSpPr/>
          <p:nvPr/>
        </p:nvSpPr>
        <p:spPr bwMode="auto">
          <a:xfrm>
            <a:off x="35496" y="5409220"/>
            <a:ext cx="5508612"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Phase I</a:t>
            </a:r>
            <a:endParaRPr lang="en-GB" sz="800" b="1" dirty="0">
              <a:solidFill>
                <a:srgbClr val="646464"/>
              </a:solidFill>
            </a:endParaRPr>
          </a:p>
        </p:txBody>
      </p:sp>
      <p:sp>
        <p:nvSpPr>
          <p:cNvPr id="286" name="Pentagon 285"/>
          <p:cNvSpPr/>
          <p:nvPr/>
        </p:nvSpPr>
        <p:spPr bwMode="auto">
          <a:xfrm>
            <a:off x="1331640" y="5553236"/>
            <a:ext cx="770485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Portfolio 1 &amp; 2 (July 2012  -&gt; 2016)</a:t>
            </a:r>
            <a:endParaRPr lang="en-GB" sz="800" b="1" dirty="0">
              <a:solidFill>
                <a:srgbClr val="646464"/>
              </a:solidFill>
            </a:endParaRPr>
          </a:p>
        </p:txBody>
      </p:sp>
      <p:sp>
        <p:nvSpPr>
          <p:cNvPr id="287" name="Pentagon 286"/>
          <p:cNvSpPr/>
          <p:nvPr/>
        </p:nvSpPr>
        <p:spPr bwMode="auto">
          <a:xfrm>
            <a:off x="1979712" y="5697252"/>
            <a:ext cx="7056784"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Portfolio  3 &amp; 4 ( Oct 2012 -&gt; 2016)</a:t>
            </a:r>
            <a:endParaRPr lang="en-GB" sz="800" b="1" dirty="0">
              <a:solidFill>
                <a:srgbClr val="646464"/>
              </a:solidFill>
            </a:endParaRPr>
          </a:p>
        </p:txBody>
      </p:sp>
      <p:sp>
        <p:nvSpPr>
          <p:cNvPr id="289" name="Pentagon 288"/>
          <p:cNvSpPr/>
          <p:nvPr/>
        </p:nvSpPr>
        <p:spPr bwMode="auto">
          <a:xfrm>
            <a:off x="2411760" y="5841268"/>
            <a:ext cx="662473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Portfolio  5   ( (Jan 2013 -&gt; 2016)</a:t>
            </a:r>
            <a:endParaRPr lang="en-GB" sz="800" b="1" dirty="0">
              <a:solidFill>
                <a:srgbClr val="646464"/>
              </a:solidFill>
            </a:endParaRPr>
          </a:p>
        </p:txBody>
      </p:sp>
      <p:sp>
        <p:nvSpPr>
          <p:cNvPr id="290" name="Pentagon 289"/>
          <p:cNvSpPr/>
          <p:nvPr/>
        </p:nvSpPr>
        <p:spPr bwMode="auto">
          <a:xfrm>
            <a:off x="71500" y="6057292"/>
            <a:ext cx="1332148" cy="144016"/>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fontAlgn="base">
              <a:spcBef>
                <a:spcPct val="0"/>
              </a:spcBef>
              <a:spcAft>
                <a:spcPct val="0"/>
              </a:spcAft>
            </a:pPr>
            <a:r>
              <a:rPr lang="en-GB" sz="800" b="1" dirty="0" smtClean="0">
                <a:solidFill>
                  <a:srgbClr val="646464"/>
                </a:solidFill>
              </a:rPr>
              <a:t>Define Service Design</a:t>
            </a:r>
          </a:p>
        </p:txBody>
      </p:sp>
      <p:sp>
        <p:nvSpPr>
          <p:cNvPr id="291" name="Pentagon 290"/>
          <p:cNvSpPr/>
          <p:nvPr/>
        </p:nvSpPr>
        <p:spPr bwMode="auto">
          <a:xfrm>
            <a:off x="1439652" y="6425716"/>
            <a:ext cx="612068" cy="13563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0" tIns="45709" rIns="91418" bIns="45709" numCol="1" rtlCol="0" anchor="ctr" anchorCtr="0" compatLnSpc="1">
            <a:prstTxWarp prst="textNoShape">
              <a:avLst/>
            </a:prstTxWarp>
          </a:bodyPr>
          <a:lstStyle/>
          <a:p>
            <a:pPr fontAlgn="base">
              <a:spcBef>
                <a:spcPct val="0"/>
              </a:spcBef>
              <a:spcAft>
                <a:spcPct val="0"/>
              </a:spcAft>
            </a:pPr>
            <a:r>
              <a:rPr lang="en-GB" sz="600" b="1" dirty="0" smtClean="0">
                <a:solidFill>
                  <a:srgbClr val="646464"/>
                </a:solidFill>
              </a:rPr>
              <a:t>Validate Design</a:t>
            </a:r>
          </a:p>
        </p:txBody>
      </p:sp>
      <p:sp>
        <p:nvSpPr>
          <p:cNvPr id="292" name="Line 125"/>
          <p:cNvSpPr>
            <a:spLocks noChangeShapeType="1"/>
          </p:cNvSpPr>
          <p:nvPr/>
        </p:nvSpPr>
        <p:spPr bwMode="gray">
          <a:xfrm flipV="1">
            <a:off x="1475656" y="6093296"/>
            <a:ext cx="0" cy="540060"/>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93" name="TextBox 292"/>
          <p:cNvSpPr txBox="1"/>
          <p:nvPr/>
        </p:nvSpPr>
        <p:spPr>
          <a:xfrm>
            <a:off x="1331640" y="6021288"/>
            <a:ext cx="2016224" cy="523220"/>
          </a:xfrm>
          <a:prstGeom prst="rect">
            <a:avLst/>
          </a:prstGeom>
          <a:noFill/>
        </p:spPr>
        <p:txBody>
          <a:bodyPr wrap="square" rtlCol="0">
            <a:spAutoFit/>
          </a:bodyPr>
          <a:lstStyle/>
          <a:p>
            <a:pPr algn="l"/>
            <a:r>
              <a:rPr lang="en-GB" sz="700" dirty="0" smtClean="0"/>
              <a:t>Proposed </a:t>
            </a:r>
          </a:p>
          <a:p>
            <a:pPr algn="l"/>
            <a:r>
              <a:rPr lang="en-GB" sz="700" dirty="0" smtClean="0"/>
              <a:t>Service Design</a:t>
            </a:r>
          </a:p>
          <a:p>
            <a:pPr algn="l"/>
            <a:r>
              <a:rPr lang="en-GB" sz="700" dirty="0" smtClean="0"/>
              <a:t>16</a:t>
            </a:r>
            <a:r>
              <a:rPr lang="en-GB" sz="700" baseline="30000" dirty="0" smtClean="0"/>
              <a:t>th</a:t>
            </a:r>
            <a:r>
              <a:rPr lang="en-GB" sz="700" dirty="0" smtClean="0"/>
              <a:t>  July</a:t>
            </a:r>
          </a:p>
          <a:p>
            <a:pPr algn="l"/>
            <a:endParaRPr lang="en-GB" sz="700" dirty="0"/>
          </a:p>
        </p:txBody>
      </p:sp>
      <p:sp>
        <p:nvSpPr>
          <p:cNvPr id="294" name="Line 125"/>
          <p:cNvSpPr>
            <a:spLocks noChangeShapeType="1"/>
          </p:cNvSpPr>
          <p:nvPr/>
        </p:nvSpPr>
        <p:spPr bwMode="gray">
          <a:xfrm flipV="1">
            <a:off x="2051720" y="6093296"/>
            <a:ext cx="0" cy="540060"/>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95" name="TextBox 294"/>
          <p:cNvSpPr txBox="1"/>
          <p:nvPr/>
        </p:nvSpPr>
        <p:spPr>
          <a:xfrm>
            <a:off x="2015716" y="6057292"/>
            <a:ext cx="2016224" cy="523220"/>
          </a:xfrm>
          <a:prstGeom prst="rect">
            <a:avLst/>
          </a:prstGeom>
          <a:noFill/>
        </p:spPr>
        <p:txBody>
          <a:bodyPr wrap="square" rtlCol="0">
            <a:spAutoFit/>
          </a:bodyPr>
          <a:lstStyle/>
          <a:p>
            <a:pPr algn="l"/>
            <a:r>
              <a:rPr lang="en-GB" sz="700" dirty="0" smtClean="0"/>
              <a:t>Service</a:t>
            </a:r>
          </a:p>
          <a:p>
            <a:pPr algn="l"/>
            <a:r>
              <a:rPr lang="en-GB" sz="700" dirty="0" smtClean="0"/>
              <a:t>Design</a:t>
            </a:r>
          </a:p>
          <a:p>
            <a:pPr algn="l"/>
            <a:r>
              <a:rPr lang="en-GB" sz="700" dirty="0" smtClean="0"/>
              <a:t>Agreed</a:t>
            </a:r>
          </a:p>
          <a:p>
            <a:pPr algn="l"/>
            <a:r>
              <a:rPr lang="en-GB" sz="700" dirty="0" smtClean="0"/>
              <a:t>31</a:t>
            </a:r>
            <a:r>
              <a:rPr lang="en-GB" sz="700" baseline="30000" dirty="0" smtClean="0"/>
              <a:t>st</a:t>
            </a:r>
            <a:r>
              <a:rPr lang="en-GB" sz="700" dirty="0" smtClean="0"/>
              <a:t> Aug</a:t>
            </a:r>
          </a:p>
        </p:txBody>
      </p:sp>
      <p:cxnSp>
        <p:nvCxnSpPr>
          <p:cNvPr id="297" name="Straight Connector 296"/>
          <p:cNvCxnSpPr/>
          <p:nvPr/>
        </p:nvCxnSpPr>
        <p:spPr bwMode="auto">
          <a:xfrm>
            <a:off x="575556" y="6309320"/>
            <a:ext cx="0" cy="288032"/>
          </a:xfrm>
          <a:prstGeom prst="line">
            <a:avLst/>
          </a:prstGeom>
          <a:solidFill>
            <a:srgbClr val="FF0000"/>
          </a:solidFill>
          <a:ln w="12700" cap="flat" cmpd="sng" algn="ctr">
            <a:solidFill>
              <a:srgbClr val="FF0000"/>
            </a:solidFill>
            <a:prstDash val="solid"/>
            <a:round/>
            <a:headEnd type="none" w="med" len="med"/>
            <a:tailEnd type="none"/>
          </a:ln>
          <a:effectLst/>
        </p:spPr>
      </p:cxnSp>
      <p:sp>
        <p:nvSpPr>
          <p:cNvPr id="299" name="TextBox 298"/>
          <p:cNvSpPr txBox="1"/>
          <p:nvPr/>
        </p:nvSpPr>
        <p:spPr>
          <a:xfrm>
            <a:off x="-108520" y="6201308"/>
            <a:ext cx="756084" cy="523220"/>
          </a:xfrm>
          <a:prstGeom prst="rect">
            <a:avLst/>
          </a:prstGeom>
          <a:noFill/>
        </p:spPr>
        <p:txBody>
          <a:bodyPr wrap="square" rtlCol="0">
            <a:spAutoFit/>
          </a:bodyPr>
          <a:lstStyle/>
          <a:p>
            <a:pPr algn="r"/>
            <a:r>
              <a:rPr lang="en-GB" sz="700" dirty="0" smtClean="0"/>
              <a:t>Lync Vendor</a:t>
            </a:r>
          </a:p>
          <a:p>
            <a:pPr algn="r"/>
            <a:r>
              <a:rPr lang="en-GB" sz="700" dirty="0" smtClean="0"/>
              <a:t>Decision</a:t>
            </a:r>
          </a:p>
          <a:p>
            <a:pPr algn="r"/>
            <a:r>
              <a:rPr lang="en-GB" sz="700" dirty="0" smtClean="0"/>
              <a:t>30</a:t>
            </a:r>
            <a:r>
              <a:rPr lang="en-GB" sz="700" baseline="30000" dirty="0" smtClean="0"/>
              <a:t>th</a:t>
            </a:r>
            <a:r>
              <a:rPr lang="en-GB" sz="700" dirty="0" smtClean="0"/>
              <a:t> April</a:t>
            </a:r>
          </a:p>
          <a:p>
            <a:pPr algn="r"/>
            <a:endParaRPr lang="en-GB" sz="700" dirty="0"/>
          </a:p>
        </p:txBody>
      </p:sp>
      <p:sp>
        <p:nvSpPr>
          <p:cNvPr id="300" name="Line 125"/>
          <p:cNvSpPr>
            <a:spLocks noChangeShapeType="1"/>
          </p:cNvSpPr>
          <p:nvPr/>
        </p:nvSpPr>
        <p:spPr bwMode="gray">
          <a:xfrm flipV="1">
            <a:off x="575556" y="6489340"/>
            <a:ext cx="0" cy="135015"/>
          </a:xfrm>
          <a:prstGeom prst="line">
            <a:avLst/>
          </a:prstGeom>
          <a:noFill/>
          <a:ln w="6350">
            <a:solidFill>
              <a:srgbClr val="FF0000"/>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301" name="Line 125"/>
          <p:cNvSpPr>
            <a:spLocks noChangeShapeType="1"/>
          </p:cNvSpPr>
          <p:nvPr/>
        </p:nvSpPr>
        <p:spPr bwMode="gray">
          <a:xfrm flipV="1">
            <a:off x="5544108" y="5265204"/>
            <a:ext cx="0" cy="756084"/>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302" name="Line 125"/>
          <p:cNvSpPr>
            <a:spLocks noChangeShapeType="1"/>
          </p:cNvSpPr>
          <p:nvPr/>
        </p:nvSpPr>
        <p:spPr bwMode="gray">
          <a:xfrm flipV="1">
            <a:off x="7812360" y="5265204"/>
            <a:ext cx="0" cy="756084"/>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303" name="TextBox 302"/>
          <p:cNvSpPr txBox="1"/>
          <p:nvPr/>
        </p:nvSpPr>
        <p:spPr>
          <a:xfrm>
            <a:off x="7740352" y="5193196"/>
            <a:ext cx="1403648" cy="307777"/>
          </a:xfrm>
          <a:prstGeom prst="rect">
            <a:avLst/>
          </a:prstGeom>
          <a:noFill/>
        </p:spPr>
        <p:txBody>
          <a:bodyPr wrap="square" rtlCol="0">
            <a:spAutoFit/>
          </a:bodyPr>
          <a:lstStyle/>
          <a:p>
            <a:pPr algn="l"/>
            <a:r>
              <a:rPr lang="en-GB" sz="700" dirty="0" smtClean="0"/>
              <a:t>160 Applications Transformed</a:t>
            </a:r>
          </a:p>
          <a:p>
            <a:pPr algn="l"/>
            <a:r>
              <a:rPr lang="en-GB" sz="700" dirty="0" smtClean="0"/>
              <a:t>End 2012</a:t>
            </a:r>
            <a:endParaRPr lang="en-GB" sz="700" dirty="0"/>
          </a:p>
        </p:txBody>
      </p:sp>
      <p:sp>
        <p:nvSpPr>
          <p:cNvPr id="304" name="TextBox 303"/>
          <p:cNvSpPr txBox="1"/>
          <p:nvPr/>
        </p:nvSpPr>
        <p:spPr>
          <a:xfrm>
            <a:off x="5508104" y="5157192"/>
            <a:ext cx="1296144" cy="415498"/>
          </a:xfrm>
          <a:prstGeom prst="rect">
            <a:avLst/>
          </a:prstGeom>
          <a:noFill/>
        </p:spPr>
        <p:txBody>
          <a:bodyPr wrap="square" rtlCol="0">
            <a:spAutoFit/>
          </a:bodyPr>
          <a:lstStyle/>
          <a:p>
            <a:pPr algn="l"/>
            <a:r>
              <a:rPr lang="en-GB" sz="700" dirty="0" smtClean="0"/>
              <a:t>Phase I - 10 Apps Transformed</a:t>
            </a:r>
            <a:endParaRPr lang="en-GB" sz="700" dirty="0"/>
          </a:p>
          <a:p>
            <a:pPr algn="l"/>
            <a:r>
              <a:rPr lang="en-GB" sz="700" dirty="0" smtClean="0"/>
              <a:t>June 30th </a:t>
            </a:r>
          </a:p>
        </p:txBody>
      </p:sp>
      <p:sp>
        <p:nvSpPr>
          <p:cNvPr id="305" name="Line 125"/>
          <p:cNvSpPr>
            <a:spLocks noChangeShapeType="1"/>
          </p:cNvSpPr>
          <p:nvPr/>
        </p:nvSpPr>
        <p:spPr bwMode="gray">
          <a:xfrm flipV="1">
            <a:off x="1331640" y="6273316"/>
            <a:ext cx="0" cy="360040"/>
          </a:xfrm>
          <a:prstGeom prst="line">
            <a:avLst/>
          </a:prstGeom>
          <a:noFill/>
          <a:ln w="6350">
            <a:solidFill>
              <a:srgbClr val="FF0000"/>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306" name="TextBox 305"/>
          <p:cNvSpPr txBox="1"/>
          <p:nvPr/>
        </p:nvSpPr>
        <p:spPr>
          <a:xfrm>
            <a:off x="575556" y="6218148"/>
            <a:ext cx="828092" cy="523220"/>
          </a:xfrm>
          <a:prstGeom prst="rect">
            <a:avLst/>
          </a:prstGeom>
          <a:noFill/>
        </p:spPr>
        <p:txBody>
          <a:bodyPr wrap="square" rtlCol="0">
            <a:spAutoFit/>
          </a:bodyPr>
          <a:lstStyle/>
          <a:p>
            <a:pPr algn="r"/>
            <a:r>
              <a:rPr lang="en-GB" sz="700" dirty="0" smtClean="0"/>
              <a:t>On prem vendor &amp; O365 service design2</a:t>
            </a:r>
            <a:r>
              <a:rPr lang="en-GB" sz="700" baseline="30000" dirty="0" smtClean="0"/>
              <a:t>nd</a:t>
            </a:r>
            <a:r>
              <a:rPr lang="en-GB" sz="700" dirty="0" smtClean="0"/>
              <a:t> July  </a:t>
            </a:r>
          </a:p>
          <a:p>
            <a:pPr algn="r"/>
            <a:endParaRPr lang="en-GB" sz="700" dirty="0"/>
          </a:p>
        </p:txBody>
      </p:sp>
      <p:sp>
        <p:nvSpPr>
          <p:cNvPr id="307" name="Pentagon 306"/>
          <p:cNvSpPr/>
          <p:nvPr/>
        </p:nvSpPr>
        <p:spPr bwMode="auto">
          <a:xfrm>
            <a:off x="107504" y="2816932"/>
            <a:ext cx="1152128"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Arch &amp;Design</a:t>
            </a:r>
            <a:endParaRPr lang="en-GB" sz="800" b="1" dirty="0">
              <a:solidFill>
                <a:srgbClr val="646464"/>
              </a:solidFill>
            </a:endParaRPr>
          </a:p>
        </p:txBody>
      </p:sp>
      <p:sp>
        <p:nvSpPr>
          <p:cNvPr id="308" name="Pentagon 307"/>
          <p:cNvSpPr/>
          <p:nvPr/>
        </p:nvSpPr>
        <p:spPr bwMode="auto">
          <a:xfrm>
            <a:off x="223900" y="2132856"/>
            <a:ext cx="2691916" cy="108012"/>
          </a:xfrm>
          <a:prstGeom prst="homePlate">
            <a:avLst/>
          </a:prstGeom>
          <a:solidFill>
            <a:schemeClr val="bg1">
              <a:lumMod val="75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Cloud Infrastructure Configuration</a:t>
            </a:r>
            <a:endParaRPr lang="en-GB" sz="800" b="1" dirty="0">
              <a:solidFill>
                <a:srgbClr val="646464"/>
              </a:solidFill>
            </a:endParaRPr>
          </a:p>
        </p:txBody>
      </p:sp>
      <p:sp>
        <p:nvSpPr>
          <p:cNvPr id="311" name="TextBox 310"/>
          <p:cNvSpPr txBox="1"/>
          <p:nvPr/>
        </p:nvSpPr>
        <p:spPr>
          <a:xfrm>
            <a:off x="2123728" y="2348880"/>
            <a:ext cx="822407" cy="415498"/>
          </a:xfrm>
          <a:prstGeom prst="rect">
            <a:avLst/>
          </a:prstGeom>
          <a:noFill/>
        </p:spPr>
        <p:txBody>
          <a:bodyPr wrap="square" rtlCol="0">
            <a:spAutoFit/>
          </a:bodyPr>
          <a:lstStyle/>
          <a:p>
            <a:pPr algn="r"/>
            <a:r>
              <a:rPr lang="en-GB" sz="700" dirty="0" smtClean="0"/>
              <a:t>Build Complete</a:t>
            </a:r>
          </a:p>
          <a:p>
            <a:pPr algn="r"/>
            <a:r>
              <a:rPr lang="en-GB" sz="700" dirty="0" smtClean="0"/>
              <a:t>13</a:t>
            </a:r>
            <a:r>
              <a:rPr lang="en-GB" sz="700" baseline="30000" dirty="0" smtClean="0"/>
              <a:t>th</a:t>
            </a:r>
            <a:r>
              <a:rPr lang="en-GB" sz="700" dirty="0" smtClean="0"/>
              <a:t> Nov</a:t>
            </a:r>
          </a:p>
          <a:p>
            <a:pPr algn="r"/>
            <a:endParaRPr lang="en-GB" sz="700" dirty="0"/>
          </a:p>
        </p:txBody>
      </p:sp>
      <p:sp>
        <p:nvSpPr>
          <p:cNvPr id="313" name="Pentagon 312"/>
          <p:cNvSpPr/>
          <p:nvPr/>
        </p:nvSpPr>
        <p:spPr bwMode="auto">
          <a:xfrm>
            <a:off x="215516" y="2276872"/>
            <a:ext cx="2700300" cy="108012"/>
          </a:xfrm>
          <a:prstGeom prst="homePlate">
            <a:avLst/>
          </a:prstGeom>
          <a:solidFill>
            <a:schemeClr val="bg1">
              <a:lumMod val="75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Plug In Build  MDS &amp; Edocs only (Day 1)</a:t>
            </a:r>
            <a:endParaRPr lang="en-GB" sz="800" b="1" dirty="0">
              <a:solidFill>
                <a:srgbClr val="646464"/>
              </a:solidFill>
            </a:endParaRPr>
          </a:p>
        </p:txBody>
      </p:sp>
      <p:cxnSp>
        <p:nvCxnSpPr>
          <p:cNvPr id="314" name="Straight Connector 313"/>
          <p:cNvCxnSpPr>
            <a:endCxn id="316" idx="0"/>
          </p:cNvCxnSpPr>
          <p:nvPr/>
        </p:nvCxnSpPr>
        <p:spPr bwMode="auto">
          <a:xfrm>
            <a:off x="971600" y="2420888"/>
            <a:ext cx="0" cy="144016"/>
          </a:xfrm>
          <a:prstGeom prst="line">
            <a:avLst/>
          </a:prstGeom>
          <a:solidFill>
            <a:srgbClr val="FF0000"/>
          </a:solidFill>
          <a:ln w="6350" cap="flat" cmpd="sng" algn="ctr">
            <a:solidFill>
              <a:srgbClr val="FF0000"/>
            </a:solidFill>
            <a:prstDash val="solid"/>
            <a:round/>
            <a:headEnd type="none" w="med" len="med"/>
            <a:tailEnd type="none"/>
          </a:ln>
          <a:effectLst/>
        </p:spPr>
      </p:cxnSp>
      <p:sp>
        <p:nvSpPr>
          <p:cNvPr id="316" name="5-Point Star 315"/>
          <p:cNvSpPr/>
          <p:nvPr/>
        </p:nvSpPr>
        <p:spPr bwMode="auto">
          <a:xfrm>
            <a:off x="899592" y="2564904"/>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sp>
        <p:nvSpPr>
          <p:cNvPr id="317" name="TextBox 316"/>
          <p:cNvSpPr txBox="1"/>
          <p:nvPr/>
        </p:nvSpPr>
        <p:spPr>
          <a:xfrm>
            <a:off x="-180528" y="2348880"/>
            <a:ext cx="1224136" cy="415498"/>
          </a:xfrm>
          <a:prstGeom prst="rect">
            <a:avLst/>
          </a:prstGeom>
          <a:noFill/>
        </p:spPr>
        <p:txBody>
          <a:bodyPr wrap="square" rtlCol="0">
            <a:spAutoFit/>
          </a:bodyPr>
          <a:lstStyle/>
          <a:p>
            <a:pPr algn="r"/>
            <a:r>
              <a:rPr lang="en-GB" sz="700" dirty="0" smtClean="0"/>
              <a:t>Plug –In List confirmed</a:t>
            </a:r>
          </a:p>
          <a:p>
            <a:pPr algn="r"/>
            <a:r>
              <a:rPr lang="en-GB" sz="700" dirty="0" smtClean="0"/>
              <a:t>11</a:t>
            </a:r>
            <a:r>
              <a:rPr lang="en-GB" sz="700" baseline="30000" dirty="0" smtClean="0"/>
              <a:t>th</a:t>
            </a:r>
            <a:r>
              <a:rPr lang="en-GB" sz="700" dirty="0" smtClean="0"/>
              <a:t> June</a:t>
            </a:r>
          </a:p>
          <a:p>
            <a:pPr algn="r"/>
            <a:endParaRPr lang="en-GB" sz="700" dirty="0" smtClean="0"/>
          </a:p>
        </p:txBody>
      </p:sp>
      <p:sp>
        <p:nvSpPr>
          <p:cNvPr id="318" name="Pentagon 317"/>
          <p:cNvSpPr/>
          <p:nvPr/>
        </p:nvSpPr>
        <p:spPr bwMode="auto">
          <a:xfrm>
            <a:off x="1007604" y="3104964"/>
            <a:ext cx="320435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Testing</a:t>
            </a:r>
            <a:endParaRPr lang="en-GB" sz="800" b="1" dirty="0">
              <a:solidFill>
                <a:srgbClr val="646464"/>
              </a:solidFill>
            </a:endParaRPr>
          </a:p>
        </p:txBody>
      </p:sp>
      <p:sp>
        <p:nvSpPr>
          <p:cNvPr id="319" name="Pentagon 318"/>
          <p:cNvSpPr/>
          <p:nvPr/>
        </p:nvSpPr>
        <p:spPr bwMode="auto">
          <a:xfrm>
            <a:off x="2915816" y="2276872"/>
            <a:ext cx="360040" cy="216024"/>
          </a:xfrm>
          <a:prstGeom prst="homePlate">
            <a:avLst/>
          </a:prstGeom>
          <a:solidFill>
            <a:schemeClr val="bg1">
              <a:lumMod val="75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500" b="1" dirty="0" smtClean="0">
                <a:solidFill>
                  <a:srgbClr val="646464"/>
                </a:solidFill>
              </a:rPr>
              <a:t>Customer</a:t>
            </a:r>
          </a:p>
          <a:p>
            <a:pPr algn="ctr" fontAlgn="base">
              <a:spcBef>
                <a:spcPct val="0"/>
              </a:spcBef>
              <a:spcAft>
                <a:spcPct val="0"/>
              </a:spcAft>
            </a:pPr>
            <a:r>
              <a:rPr lang="en-GB" sz="500" b="1" dirty="0" smtClean="0">
                <a:solidFill>
                  <a:srgbClr val="646464"/>
                </a:solidFill>
              </a:rPr>
              <a:t>Valid’tion</a:t>
            </a:r>
            <a:endParaRPr lang="en-GB" sz="500" b="1" dirty="0">
              <a:solidFill>
                <a:srgbClr val="646464"/>
              </a:solidFill>
            </a:endParaRPr>
          </a:p>
        </p:txBody>
      </p:sp>
      <p:sp>
        <p:nvSpPr>
          <p:cNvPr id="320" name="Line 125"/>
          <p:cNvSpPr>
            <a:spLocks noChangeShapeType="1"/>
          </p:cNvSpPr>
          <p:nvPr/>
        </p:nvSpPr>
        <p:spPr bwMode="gray">
          <a:xfrm flipV="1">
            <a:off x="2123728" y="2420888"/>
            <a:ext cx="0" cy="180020"/>
          </a:xfrm>
          <a:prstGeom prst="line">
            <a:avLst/>
          </a:prstGeom>
          <a:noFill/>
          <a:ln w="6350">
            <a:solidFill>
              <a:srgbClr val="FF0000"/>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321" name="TextBox 320"/>
          <p:cNvSpPr txBox="1"/>
          <p:nvPr/>
        </p:nvSpPr>
        <p:spPr>
          <a:xfrm>
            <a:off x="395536" y="2348880"/>
            <a:ext cx="1728192" cy="415498"/>
          </a:xfrm>
          <a:prstGeom prst="rect">
            <a:avLst/>
          </a:prstGeom>
          <a:noFill/>
        </p:spPr>
        <p:txBody>
          <a:bodyPr wrap="square" rtlCol="0">
            <a:spAutoFit/>
          </a:bodyPr>
          <a:lstStyle/>
          <a:p>
            <a:pPr algn="r"/>
            <a:r>
              <a:rPr lang="en-GB" sz="700" dirty="0" smtClean="0"/>
              <a:t>IAM Dependencies </a:t>
            </a:r>
          </a:p>
          <a:p>
            <a:pPr algn="r"/>
            <a:r>
              <a:rPr lang="en-GB" sz="700" dirty="0" smtClean="0"/>
              <a:t>Complete 31</a:t>
            </a:r>
            <a:r>
              <a:rPr lang="en-GB" sz="700" baseline="30000" dirty="0" smtClean="0"/>
              <a:t>st</a:t>
            </a:r>
            <a:r>
              <a:rPr lang="en-GB" sz="700" dirty="0" smtClean="0"/>
              <a:t>  Aug</a:t>
            </a:r>
          </a:p>
          <a:p>
            <a:pPr algn="r"/>
            <a:endParaRPr lang="en-GB" sz="700" dirty="0" smtClean="0"/>
          </a:p>
        </p:txBody>
      </p:sp>
      <p:sp>
        <p:nvSpPr>
          <p:cNvPr id="141" name="Pentagon 140"/>
          <p:cNvSpPr/>
          <p:nvPr/>
        </p:nvSpPr>
        <p:spPr bwMode="auto">
          <a:xfrm>
            <a:off x="107504" y="4113076"/>
            <a:ext cx="2988332"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650" b="1" dirty="0" smtClean="0">
                <a:solidFill>
                  <a:srgbClr val="646464"/>
                </a:solidFill>
              </a:rPr>
              <a:t>People, Communities, Search, Metadata, </a:t>
            </a:r>
            <a:r>
              <a:rPr lang="en-GB" sz="600" b="1" dirty="0" smtClean="0">
                <a:solidFill>
                  <a:srgbClr val="646464"/>
                </a:solidFill>
              </a:rPr>
              <a:t>Authoritative</a:t>
            </a:r>
            <a:r>
              <a:rPr lang="en-GB" sz="650" b="1" dirty="0" smtClean="0">
                <a:solidFill>
                  <a:srgbClr val="646464"/>
                </a:solidFill>
              </a:rPr>
              <a:t> Content Requirements</a:t>
            </a:r>
            <a:endParaRPr lang="en-GB" sz="650" b="1" dirty="0">
              <a:solidFill>
                <a:srgbClr val="646464"/>
              </a:solidFill>
            </a:endParaRPr>
          </a:p>
        </p:txBody>
      </p:sp>
      <p:sp>
        <p:nvSpPr>
          <p:cNvPr id="144" name="Pentagon 143"/>
          <p:cNvSpPr/>
          <p:nvPr/>
        </p:nvSpPr>
        <p:spPr bwMode="auto">
          <a:xfrm>
            <a:off x="259904" y="4257092"/>
            <a:ext cx="3808040"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700" b="1" dirty="0" smtClean="0">
                <a:solidFill>
                  <a:srgbClr val="646464"/>
                </a:solidFill>
              </a:rPr>
              <a:t>People, Communities, Search, Metadata and Authoritative Content  Design /Development</a:t>
            </a:r>
            <a:endParaRPr lang="en-GB" sz="700" b="1" dirty="0">
              <a:solidFill>
                <a:srgbClr val="646464"/>
              </a:solidFill>
            </a:endParaRPr>
          </a:p>
        </p:txBody>
      </p:sp>
      <p:sp>
        <p:nvSpPr>
          <p:cNvPr id="145" name="Pentagon 144"/>
          <p:cNvSpPr/>
          <p:nvPr/>
        </p:nvSpPr>
        <p:spPr bwMode="auto">
          <a:xfrm>
            <a:off x="412304" y="4409492"/>
            <a:ext cx="3727648" cy="99628"/>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People, Communities, Search, Metadata and Authoritative Content  Testing</a:t>
            </a:r>
            <a:endParaRPr lang="en-GB" sz="800" b="1" dirty="0">
              <a:solidFill>
                <a:srgbClr val="646464"/>
              </a:solidFill>
            </a:endParaRPr>
          </a:p>
        </p:txBody>
      </p:sp>
      <p:sp>
        <p:nvSpPr>
          <p:cNvPr id="149" name="Pentagon 148"/>
          <p:cNvSpPr/>
          <p:nvPr/>
        </p:nvSpPr>
        <p:spPr bwMode="auto">
          <a:xfrm>
            <a:off x="251520" y="4695527"/>
            <a:ext cx="2700300"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Infrastructure Setup</a:t>
            </a:r>
            <a:endParaRPr lang="en-GB" sz="800" b="1" dirty="0">
              <a:solidFill>
                <a:srgbClr val="646464"/>
              </a:solidFill>
            </a:endParaRPr>
          </a:p>
        </p:txBody>
      </p:sp>
      <p:sp>
        <p:nvSpPr>
          <p:cNvPr id="151" name="Line 125"/>
          <p:cNvSpPr>
            <a:spLocks noChangeShapeType="1"/>
          </p:cNvSpPr>
          <p:nvPr/>
        </p:nvSpPr>
        <p:spPr bwMode="gray">
          <a:xfrm flipV="1">
            <a:off x="539552" y="4797152"/>
            <a:ext cx="0" cy="252028"/>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152" name="TextBox 151"/>
          <p:cNvSpPr txBox="1"/>
          <p:nvPr/>
        </p:nvSpPr>
        <p:spPr>
          <a:xfrm>
            <a:off x="467544" y="4761148"/>
            <a:ext cx="1188132" cy="307777"/>
          </a:xfrm>
          <a:prstGeom prst="rect">
            <a:avLst/>
          </a:prstGeom>
          <a:noFill/>
        </p:spPr>
        <p:txBody>
          <a:bodyPr wrap="square" rtlCol="0">
            <a:spAutoFit/>
          </a:bodyPr>
          <a:lstStyle/>
          <a:p>
            <a:pPr algn="l"/>
            <a:r>
              <a:rPr lang="en-GB" sz="700" dirty="0" smtClean="0"/>
              <a:t>Release 1 Scope Lock</a:t>
            </a:r>
          </a:p>
          <a:p>
            <a:pPr algn="l"/>
            <a:r>
              <a:rPr lang="en-GB" sz="700" dirty="0" smtClean="0"/>
              <a:t>May 1</a:t>
            </a:r>
          </a:p>
        </p:txBody>
      </p:sp>
      <p:cxnSp>
        <p:nvCxnSpPr>
          <p:cNvPr id="155" name="Straight Connector 154"/>
          <p:cNvCxnSpPr/>
          <p:nvPr/>
        </p:nvCxnSpPr>
        <p:spPr bwMode="auto">
          <a:xfrm>
            <a:off x="4067944" y="4473116"/>
            <a:ext cx="0" cy="581580"/>
          </a:xfrm>
          <a:prstGeom prst="line">
            <a:avLst/>
          </a:prstGeom>
          <a:solidFill>
            <a:srgbClr val="FF0000"/>
          </a:solidFill>
          <a:ln w="6350" cap="flat" cmpd="sng" algn="ctr">
            <a:solidFill>
              <a:srgbClr val="FF0000"/>
            </a:solidFill>
            <a:prstDash val="solid"/>
            <a:round/>
            <a:headEnd type="none" w="med" len="med"/>
            <a:tailEnd type="none"/>
          </a:ln>
          <a:effectLst/>
        </p:spPr>
      </p:cxnSp>
      <p:sp>
        <p:nvSpPr>
          <p:cNvPr id="156" name="5-Point Star 155"/>
          <p:cNvSpPr/>
          <p:nvPr/>
        </p:nvSpPr>
        <p:spPr bwMode="auto">
          <a:xfrm>
            <a:off x="3995936" y="5008675"/>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sp>
        <p:nvSpPr>
          <p:cNvPr id="158" name="TextBox 157"/>
          <p:cNvSpPr txBox="1"/>
          <p:nvPr/>
        </p:nvSpPr>
        <p:spPr>
          <a:xfrm>
            <a:off x="3995936" y="4669686"/>
            <a:ext cx="720080" cy="415498"/>
          </a:xfrm>
          <a:prstGeom prst="rect">
            <a:avLst/>
          </a:prstGeom>
          <a:noFill/>
        </p:spPr>
        <p:txBody>
          <a:bodyPr wrap="square" rtlCol="0">
            <a:spAutoFit/>
          </a:bodyPr>
          <a:lstStyle/>
          <a:p>
            <a:pPr algn="l"/>
            <a:r>
              <a:rPr lang="en-GB" sz="700" dirty="0" smtClean="0"/>
              <a:t>Release 1</a:t>
            </a:r>
          </a:p>
          <a:p>
            <a:pPr algn="l"/>
            <a:r>
              <a:rPr lang="en-GB" sz="700" dirty="0" smtClean="0"/>
              <a:t>Go Live </a:t>
            </a:r>
          </a:p>
          <a:p>
            <a:pPr algn="l"/>
            <a:r>
              <a:rPr lang="en-GB" sz="700" dirty="0" smtClean="0"/>
              <a:t>February </a:t>
            </a:r>
          </a:p>
        </p:txBody>
      </p:sp>
      <p:cxnSp>
        <p:nvCxnSpPr>
          <p:cNvPr id="162" name="Straight Connector 161"/>
          <p:cNvCxnSpPr/>
          <p:nvPr/>
        </p:nvCxnSpPr>
        <p:spPr bwMode="auto">
          <a:xfrm>
            <a:off x="2951820" y="4731531"/>
            <a:ext cx="0" cy="293548"/>
          </a:xfrm>
          <a:prstGeom prst="line">
            <a:avLst/>
          </a:prstGeom>
          <a:solidFill>
            <a:srgbClr val="FF0000"/>
          </a:solidFill>
          <a:ln w="6350" cap="flat" cmpd="sng" algn="ctr">
            <a:solidFill>
              <a:srgbClr val="FF0000"/>
            </a:solidFill>
            <a:prstDash val="solid"/>
            <a:round/>
            <a:headEnd type="none" w="med" len="med"/>
            <a:tailEnd type="none"/>
          </a:ln>
          <a:effectLst/>
        </p:spPr>
      </p:cxnSp>
      <p:sp>
        <p:nvSpPr>
          <p:cNvPr id="163" name="5-Point Star 162"/>
          <p:cNvSpPr/>
          <p:nvPr/>
        </p:nvSpPr>
        <p:spPr bwMode="auto">
          <a:xfrm>
            <a:off x="2879812" y="4979058"/>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sp>
        <p:nvSpPr>
          <p:cNvPr id="165" name="TextBox 164"/>
          <p:cNvSpPr txBox="1"/>
          <p:nvPr/>
        </p:nvSpPr>
        <p:spPr>
          <a:xfrm>
            <a:off x="2915816" y="4777407"/>
            <a:ext cx="1296144" cy="307777"/>
          </a:xfrm>
          <a:prstGeom prst="rect">
            <a:avLst/>
          </a:prstGeom>
          <a:noFill/>
        </p:spPr>
        <p:txBody>
          <a:bodyPr wrap="square" rtlCol="0">
            <a:spAutoFit/>
          </a:bodyPr>
          <a:lstStyle/>
          <a:p>
            <a:pPr algn="l"/>
            <a:r>
              <a:rPr lang="en-GB" sz="700" dirty="0" smtClean="0"/>
              <a:t>Cloud Infr. Ready </a:t>
            </a:r>
          </a:p>
          <a:p>
            <a:pPr algn="l"/>
            <a:r>
              <a:rPr lang="en-GB" sz="700" dirty="0" smtClean="0"/>
              <a:t>December</a:t>
            </a:r>
          </a:p>
        </p:txBody>
      </p:sp>
      <p:sp>
        <p:nvSpPr>
          <p:cNvPr id="167" name="Pentagon 166"/>
          <p:cNvSpPr/>
          <p:nvPr/>
        </p:nvSpPr>
        <p:spPr bwMode="auto">
          <a:xfrm>
            <a:off x="2987824" y="4689152"/>
            <a:ext cx="1080000" cy="108000"/>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Deploy to Cloud</a:t>
            </a:r>
            <a:endParaRPr lang="en-GB" sz="800" b="1" dirty="0">
              <a:solidFill>
                <a:srgbClr val="646464"/>
              </a:solidFill>
            </a:endParaRPr>
          </a:p>
        </p:txBody>
      </p:sp>
      <p:sp>
        <p:nvSpPr>
          <p:cNvPr id="170" name="Pentagon 169"/>
          <p:cNvSpPr/>
          <p:nvPr/>
        </p:nvSpPr>
        <p:spPr bwMode="auto">
          <a:xfrm>
            <a:off x="215516" y="4545124"/>
            <a:ext cx="1332148"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Business Blueprint</a:t>
            </a:r>
            <a:endParaRPr lang="en-GB" sz="800" b="1" dirty="0">
              <a:solidFill>
                <a:srgbClr val="646464"/>
              </a:solidFill>
            </a:endParaRPr>
          </a:p>
        </p:txBody>
      </p:sp>
      <p:sp>
        <p:nvSpPr>
          <p:cNvPr id="153" name="Rectangle 152"/>
          <p:cNvSpPr/>
          <p:nvPr/>
        </p:nvSpPr>
        <p:spPr bwMode="auto">
          <a:xfrm>
            <a:off x="3275856" y="2132856"/>
            <a:ext cx="360040" cy="1800200"/>
          </a:xfrm>
          <a:prstGeom prst="rect">
            <a:avLst/>
          </a:prstGeom>
          <a:solidFill>
            <a:schemeClr val="accent2">
              <a:lumMod val="40000"/>
              <a:lumOff val="60000"/>
            </a:schemeClr>
          </a:solidFill>
          <a:ln w="9525" cap="flat" cmpd="sng" algn="ctr">
            <a:noFill/>
            <a:prstDash val="solid"/>
            <a:round/>
            <a:headEnd type="none" w="med" len="med"/>
            <a:tailEnd type="none" w="med" len="med"/>
          </a:ln>
          <a:effectLst/>
        </p:spPr>
        <p:txBody>
          <a:bodyPr vert="horz" wrap="none" lIns="91440" tIns="36000" rIns="91440" bIns="45720" numCol="1" rtlCol="0" anchor="t" anchorCtr="0" compatLnSpc="1">
            <a:prstTxWarp prst="textNoShape">
              <a:avLst/>
            </a:prstTxWarp>
          </a:bodyPr>
          <a:lstStyle/>
          <a:p>
            <a:pPr fontAlgn="base">
              <a:spcBef>
                <a:spcPct val="0"/>
              </a:spcBef>
              <a:spcAft>
                <a:spcPct val="0"/>
              </a:spcAft>
            </a:pPr>
            <a:endParaRPr lang="en-GB" sz="600" b="1" dirty="0" smtClean="0"/>
          </a:p>
          <a:p>
            <a:pPr fontAlgn="base">
              <a:spcBef>
                <a:spcPct val="0"/>
              </a:spcBef>
              <a:spcAft>
                <a:spcPct val="0"/>
              </a:spcAft>
            </a:pPr>
            <a:endParaRPr lang="en-GB" sz="600" b="1" dirty="0" smtClean="0"/>
          </a:p>
          <a:p>
            <a:pPr fontAlgn="base">
              <a:spcBef>
                <a:spcPct val="0"/>
              </a:spcBef>
              <a:spcAft>
                <a:spcPct val="0"/>
              </a:spcAft>
            </a:pPr>
            <a:endParaRPr lang="en-GB" sz="600" b="1" dirty="0" smtClean="0"/>
          </a:p>
          <a:p>
            <a:pPr fontAlgn="base">
              <a:spcBef>
                <a:spcPct val="0"/>
              </a:spcBef>
              <a:spcAft>
                <a:spcPct val="0"/>
              </a:spcAft>
            </a:pPr>
            <a:endParaRPr lang="en-GB" sz="600" b="1" dirty="0" smtClean="0"/>
          </a:p>
          <a:p>
            <a:pPr fontAlgn="base">
              <a:spcBef>
                <a:spcPct val="0"/>
              </a:spcBef>
              <a:spcAft>
                <a:spcPct val="0"/>
              </a:spcAft>
            </a:pPr>
            <a:endParaRPr lang="en-GB" sz="600" b="1" dirty="0" smtClean="0"/>
          </a:p>
          <a:p>
            <a:pPr fontAlgn="base">
              <a:spcBef>
                <a:spcPct val="0"/>
              </a:spcBef>
              <a:spcAft>
                <a:spcPct val="0"/>
              </a:spcAft>
            </a:pPr>
            <a:endParaRPr lang="en-GB" sz="600" b="1" dirty="0" smtClean="0"/>
          </a:p>
          <a:p>
            <a:pPr fontAlgn="base">
              <a:spcBef>
                <a:spcPct val="0"/>
              </a:spcBef>
              <a:spcAft>
                <a:spcPct val="0"/>
              </a:spcAft>
            </a:pPr>
            <a:endParaRPr lang="en-GB" sz="600" b="1" dirty="0" smtClean="0"/>
          </a:p>
          <a:p>
            <a:pPr fontAlgn="base">
              <a:spcBef>
                <a:spcPct val="0"/>
              </a:spcBef>
              <a:spcAft>
                <a:spcPct val="0"/>
              </a:spcAft>
            </a:pPr>
            <a:r>
              <a:rPr lang="en-GB" sz="800" b="1" dirty="0" smtClean="0">
                <a:solidFill>
                  <a:schemeClr val="tx1">
                    <a:lumMod val="50000"/>
                  </a:schemeClr>
                </a:solidFill>
              </a:rPr>
              <a:t>UAT</a:t>
            </a:r>
          </a:p>
          <a:p>
            <a:pPr fontAlgn="base">
              <a:spcBef>
                <a:spcPct val="0"/>
              </a:spcBef>
              <a:spcAft>
                <a:spcPct val="0"/>
              </a:spcAft>
            </a:pPr>
            <a:r>
              <a:rPr lang="en-GB" sz="800" b="1" dirty="0" smtClean="0">
                <a:solidFill>
                  <a:schemeClr val="tx1">
                    <a:lumMod val="50000"/>
                  </a:schemeClr>
                </a:solidFill>
              </a:rPr>
              <a:t>Prep</a:t>
            </a:r>
            <a:endParaRPr lang="en-GB" sz="800" b="1" dirty="0" smtClean="0">
              <a:solidFill>
                <a:schemeClr val="tx1">
                  <a:lumMod val="50000"/>
                </a:schemeClr>
              </a:solidFill>
              <a:latin typeface="Arial" charset="0"/>
            </a:endParaRPr>
          </a:p>
        </p:txBody>
      </p:sp>
      <p:sp>
        <p:nvSpPr>
          <p:cNvPr id="175" name="Text Box 126"/>
          <p:cNvSpPr txBox="1">
            <a:spLocks noChangeArrowheads="1"/>
          </p:cNvSpPr>
          <p:nvPr/>
        </p:nvSpPr>
        <p:spPr bwMode="gray">
          <a:xfrm>
            <a:off x="5004048" y="2529771"/>
            <a:ext cx="1008112" cy="323165"/>
          </a:xfrm>
          <a:prstGeom prst="rect">
            <a:avLst/>
          </a:prstGeom>
          <a:noFill/>
          <a:ln w="9525" algn="ctr">
            <a:noFill/>
            <a:miter lim="800000"/>
            <a:headEnd type="none" w="sm" len="sm"/>
            <a:tailEnd type="none" w="sm" len="sm"/>
          </a:ln>
        </p:spPr>
        <p:txBody>
          <a:bodyPr wrap="square" lIns="26118" tIns="0" rIns="0" bIns="0" anchor="ctr" anchorCtr="0">
            <a:spAutoFit/>
          </a:bodyPr>
          <a:lstStyle/>
          <a:p>
            <a:pPr algn="l" defTabSz="514230" eaLnBrk="0" fontAlgn="base" hangingPunct="0">
              <a:spcBef>
                <a:spcPct val="0"/>
              </a:spcBef>
              <a:spcAft>
                <a:spcPct val="0"/>
              </a:spcAft>
            </a:pPr>
            <a:r>
              <a:rPr lang="en-US" sz="700" dirty="0" smtClean="0">
                <a:solidFill>
                  <a:srgbClr val="646464"/>
                </a:solidFill>
                <a:latin typeface="EYInterstate" pitchFamily="2" charset="0"/>
              </a:rPr>
              <a:t>Deployment </a:t>
            </a:r>
          </a:p>
          <a:p>
            <a:pPr algn="l" defTabSz="514230" eaLnBrk="0" fontAlgn="base" hangingPunct="0">
              <a:spcBef>
                <a:spcPct val="0"/>
              </a:spcBef>
              <a:spcAft>
                <a:spcPct val="0"/>
              </a:spcAft>
            </a:pPr>
            <a:r>
              <a:rPr lang="en-US" sz="700" dirty="0" smtClean="0">
                <a:solidFill>
                  <a:srgbClr val="646464"/>
                </a:solidFill>
                <a:latin typeface="EYInterstate" pitchFamily="2" charset="0"/>
              </a:rPr>
              <a:t>Go / No Go</a:t>
            </a:r>
          </a:p>
          <a:p>
            <a:pPr algn="l" defTabSz="514230" eaLnBrk="0" fontAlgn="base" hangingPunct="0">
              <a:spcBef>
                <a:spcPct val="0"/>
              </a:spcBef>
              <a:spcAft>
                <a:spcPct val="0"/>
              </a:spcAft>
            </a:pPr>
            <a:r>
              <a:rPr lang="en-US" sz="700" dirty="0" smtClean="0">
                <a:solidFill>
                  <a:srgbClr val="646464"/>
                </a:solidFill>
                <a:latin typeface="EYInterstate" pitchFamily="2" charset="0"/>
              </a:rPr>
              <a:t>17</a:t>
            </a:r>
            <a:r>
              <a:rPr lang="en-US" sz="700" baseline="30000" dirty="0" smtClean="0">
                <a:solidFill>
                  <a:srgbClr val="646464"/>
                </a:solidFill>
                <a:latin typeface="EYInterstate" pitchFamily="2" charset="0"/>
              </a:rPr>
              <a:t>th</a:t>
            </a:r>
            <a:r>
              <a:rPr lang="en-US" sz="700" dirty="0" smtClean="0">
                <a:solidFill>
                  <a:srgbClr val="646464"/>
                </a:solidFill>
                <a:latin typeface="EYInterstate" pitchFamily="2" charset="0"/>
              </a:rPr>
              <a:t> April</a:t>
            </a:r>
            <a:endParaRPr lang="en-US" sz="700" dirty="0">
              <a:solidFill>
                <a:srgbClr val="646464"/>
              </a:solidFill>
              <a:latin typeface="EYInterstate" pitchFamily="2" charset="0"/>
            </a:endParaRPr>
          </a:p>
        </p:txBody>
      </p:sp>
      <p:cxnSp>
        <p:nvCxnSpPr>
          <p:cNvPr id="176" name="Straight Connector 175"/>
          <p:cNvCxnSpPr/>
          <p:nvPr/>
        </p:nvCxnSpPr>
        <p:spPr bwMode="auto">
          <a:xfrm>
            <a:off x="4932040" y="2132856"/>
            <a:ext cx="0" cy="485067"/>
          </a:xfrm>
          <a:prstGeom prst="line">
            <a:avLst/>
          </a:prstGeom>
          <a:solidFill>
            <a:srgbClr val="FF0000"/>
          </a:solidFill>
          <a:ln w="12700" cap="flat" cmpd="sng" algn="ctr">
            <a:solidFill>
              <a:srgbClr val="FF0000"/>
            </a:solidFill>
            <a:prstDash val="solid"/>
            <a:round/>
            <a:headEnd type="none" w="med" len="med"/>
            <a:tailEnd type="none"/>
          </a:ln>
          <a:effectLst/>
        </p:spPr>
      </p:cxnSp>
      <p:sp>
        <p:nvSpPr>
          <p:cNvPr id="178" name="Pentagon 177"/>
          <p:cNvSpPr/>
          <p:nvPr/>
        </p:nvSpPr>
        <p:spPr bwMode="auto">
          <a:xfrm>
            <a:off x="4968044" y="2276872"/>
            <a:ext cx="248427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Cloud Deployment (?)</a:t>
            </a:r>
            <a:endParaRPr lang="en-GB" sz="800" b="1" dirty="0">
              <a:solidFill>
                <a:srgbClr val="646464"/>
              </a:solidFill>
            </a:endParaRPr>
          </a:p>
        </p:txBody>
      </p:sp>
      <p:sp>
        <p:nvSpPr>
          <p:cNvPr id="180" name="TextBox 179"/>
          <p:cNvSpPr txBox="1"/>
          <p:nvPr/>
        </p:nvSpPr>
        <p:spPr>
          <a:xfrm>
            <a:off x="-36512" y="2636912"/>
            <a:ext cx="1750800" cy="215444"/>
          </a:xfrm>
          <a:prstGeom prst="rect">
            <a:avLst/>
          </a:prstGeom>
          <a:noFill/>
        </p:spPr>
        <p:txBody>
          <a:bodyPr wrap="none" rtlCol="0">
            <a:spAutoFit/>
          </a:bodyPr>
          <a:lstStyle/>
          <a:p>
            <a:r>
              <a:rPr lang="en-GB" sz="800" b="1" dirty="0" smtClean="0"/>
              <a:t>Exchange (On Prem) &amp; Outook</a:t>
            </a:r>
            <a:endParaRPr lang="en-GB" sz="800" b="1" dirty="0"/>
          </a:p>
        </p:txBody>
      </p:sp>
      <p:cxnSp>
        <p:nvCxnSpPr>
          <p:cNvPr id="182" name="Straight Connector 181"/>
          <p:cNvCxnSpPr/>
          <p:nvPr/>
        </p:nvCxnSpPr>
        <p:spPr bwMode="auto">
          <a:xfrm flipV="1">
            <a:off x="-508" y="3933056"/>
            <a:ext cx="8964996" cy="36004"/>
          </a:xfrm>
          <a:prstGeom prst="line">
            <a:avLst/>
          </a:prstGeom>
          <a:solidFill>
            <a:schemeClr val="accent2"/>
          </a:solidFill>
          <a:ln w="15875" cap="flat" cmpd="sng" algn="ctr">
            <a:solidFill>
              <a:schemeClr val="bg2"/>
            </a:solidFill>
            <a:prstDash val="dash"/>
            <a:round/>
            <a:headEnd type="none" w="med" len="med"/>
            <a:tailEnd type="none"/>
          </a:ln>
          <a:effectLst/>
        </p:spPr>
      </p:cxnSp>
      <p:sp>
        <p:nvSpPr>
          <p:cNvPr id="183" name="Pentagon 182"/>
          <p:cNvSpPr/>
          <p:nvPr/>
        </p:nvSpPr>
        <p:spPr bwMode="auto">
          <a:xfrm>
            <a:off x="971600" y="3248980"/>
            <a:ext cx="158417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Wave 0* Build</a:t>
            </a:r>
            <a:endParaRPr lang="en-GB" sz="800" b="1" dirty="0">
              <a:solidFill>
                <a:srgbClr val="646464"/>
              </a:solidFill>
            </a:endParaRPr>
          </a:p>
        </p:txBody>
      </p:sp>
      <p:sp>
        <p:nvSpPr>
          <p:cNvPr id="184" name="Pentagon 183"/>
          <p:cNvSpPr/>
          <p:nvPr/>
        </p:nvSpPr>
        <p:spPr bwMode="auto">
          <a:xfrm>
            <a:off x="971600" y="3392996"/>
            <a:ext cx="158417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Wave 1* Build</a:t>
            </a:r>
            <a:endParaRPr lang="en-GB" sz="800" b="1" dirty="0">
              <a:solidFill>
                <a:srgbClr val="646464"/>
              </a:solidFill>
            </a:endParaRPr>
          </a:p>
        </p:txBody>
      </p:sp>
      <p:sp>
        <p:nvSpPr>
          <p:cNvPr id="188" name="Pentagon 187"/>
          <p:cNvSpPr/>
          <p:nvPr/>
        </p:nvSpPr>
        <p:spPr bwMode="auto">
          <a:xfrm>
            <a:off x="1367644" y="3537012"/>
            <a:ext cx="158417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Wave 2* Build</a:t>
            </a:r>
            <a:endParaRPr lang="en-GB" sz="800" b="1" dirty="0">
              <a:solidFill>
                <a:srgbClr val="646464"/>
              </a:solidFill>
            </a:endParaRPr>
          </a:p>
        </p:txBody>
      </p:sp>
      <p:sp>
        <p:nvSpPr>
          <p:cNvPr id="189" name="Pentagon 188"/>
          <p:cNvSpPr/>
          <p:nvPr/>
        </p:nvSpPr>
        <p:spPr bwMode="auto">
          <a:xfrm>
            <a:off x="1763688" y="3681028"/>
            <a:ext cx="158417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Wave 3* Build</a:t>
            </a:r>
            <a:endParaRPr lang="en-GB" sz="800" b="1" dirty="0">
              <a:solidFill>
                <a:srgbClr val="646464"/>
              </a:solidFill>
            </a:endParaRPr>
          </a:p>
        </p:txBody>
      </p:sp>
      <p:sp>
        <p:nvSpPr>
          <p:cNvPr id="190" name="Pentagon 189"/>
          <p:cNvSpPr/>
          <p:nvPr/>
        </p:nvSpPr>
        <p:spPr bwMode="auto">
          <a:xfrm>
            <a:off x="2051720" y="3825044"/>
            <a:ext cx="158417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Wave 4* Build</a:t>
            </a:r>
            <a:endParaRPr lang="en-GB" sz="800" b="1" dirty="0">
              <a:solidFill>
                <a:srgbClr val="646464"/>
              </a:solidFill>
            </a:endParaRPr>
          </a:p>
        </p:txBody>
      </p:sp>
      <p:sp>
        <p:nvSpPr>
          <p:cNvPr id="53" name="Rectangle 52"/>
          <p:cNvSpPr/>
          <p:nvPr/>
        </p:nvSpPr>
        <p:spPr bwMode="auto">
          <a:xfrm>
            <a:off x="3347864" y="332656"/>
            <a:ext cx="216024" cy="6336704"/>
          </a:xfrm>
          <a:prstGeom prst="rect">
            <a:avLst/>
          </a:prstGeom>
          <a:solidFill>
            <a:schemeClr val="bg1">
              <a:lumMod val="85000"/>
              <a:alpha val="39000"/>
            </a:schemeClr>
          </a:solidFill>
          <a:ln w="9525" cap="flat" cmpd="sng" algn="ctr">
            <a:noFill/>
            <a:prstDash val="solid"/>
            <a:round/>
            <a:headEnd type="none" w="med" len="med"/>
            <a:tailEnd type="none" w="med" len="med"/>
          </a:ln>
          <a:effectLst/>
        </p:spPr>
        <p:txBody>
          <a:bodyPr vert="vert270"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GB" sz="900" b="1" dirty="0" smtClean="0"/>
              <a:t>CHRISTMAS</a:t>
            </a:r>
            <a:endParaRPr kumimoji="0" lang="en-GB" sz="900" b="1" i="0" u="none" strike="noStrike" cap="none" normalizeH="0" baseline="0" dirty="0" smtClean="0">
              <a:ln>
                <a:noFill/>
              </a:ln>
              <a:solidFill>
                <a:schemeClr val="tx1"/>
              </a:solidFill>
              <a:effectLst/>
              <a:latin typeface="Arial" charset="0"/>
            </a:endParaRPr>
          </a:p>
        </p:txBody>
      </p:sp>
      <p:cxnSp>
        <p:nvCxnSpPr>
          <p:cNvPr id="196" name="Straight Connector 195"/>
          <p:cNvCxnSpPr/>
          <p:nvPr/>
        </p:nvCxnSpPr>
        <p:spPr bwMode="auto">
          <a:xfrm>
            <a:off x="3635896" y="2132856"/>
            <a:ext cx="0" cy="1800200"/>
          </a:xfrm>
          <a:prstGeom prst="line">
            <a:avLst/>
          </a:prstGeom>
          <a:solidFill>
            <a:srgbClr val="FF0000"/>
          </a:solidFill>
          <a:ln w="12700" cap="flat" cmpd="sng" algn="ctr">
            <a:solidFill>
              <a:srgbClr val="FF0000"/>
            </a:solidFill>
            <a:prstDash val="solid"/>
            <a:round/>
            <a:headEnd type="none" w="med" len="med"/>
            <a:tailEnd type="none"/>
          </a:ln>
          <a:effectLst/>
        </p:spPr>
      </p:cxnSp>
      <p:sp>
        <p:nvSpPr>
          <p:cNvPr id="198" name="5-Point Star 197"/>
          <p:cNvSpPr/>
          <p:nvPr/>
        </p:nvSpPr>
        <p:spPr bwMode="auto">
          <a:xfrm>
            <a:off x="3563888" y="3892551"/>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sp>
        <p:nvSpPr>
          <p:cNvPr id="214" name="Text Box 126"/>
          <p:cNvSpPr txBox="1">
            <a:spLocks noChangeArrowheads="1"/>
          </p:cNvSpPr>
          <p:nvPr/>
        </p:nvSpPr>
        <p:spPr bwMode="gray">
          <a:xfrm>
            <a:off x="3707904" y="2529771"/>
            <a:ext cx="509741" cy="323165"/>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UAT go/ </a:t>
            </a:r>
          </a:p>
          <a:p>
            <a:pPr defTabSz="514230" eaLnBrk="0" fontAlgn="base" hangingPunct="0">
              <a:spcBef>
                <a:spcPct val="0"/>
              </a:spcBef>
              <a:spcAft>
                <a:spcPct val="0"/>
              </a:spcAft>
            </a:pPr>
            <a:r>
              <a:rPr lang="en-US" sz="700" dirty="0" smtClean="0">
                <a:solidFill>
                  <a:srgbClr val="646464"/>
                </a:solidFill>
                <a:latin typeface="EYInterstate" pitchFamily="2" charset="0"/>
              </a:rPr>
              <a:t>no Go </a:t>
            </a:r>
          </a:p>
          <a:p>
            <a:pPr defTabSz="514230" eaLnBrk="0" fontAlgn="base" hangingPunct="0">
              <a:spcBef>
                <a:spcPct val="0"/>
              </a:spcBef>
              <a:spcAft>
                <a:spcPct val="0"/>
              </a:spcAft>
            </a:pPr>
            <a:r>
              <a:rPr lang="en-US" sz="700" dirty="0" smtClean="0">
                <a:solidFill>
                  <a:srgbClr val="646464"/>
                </a:solidFill>
                <a:latin typeface="EYInterstate" pitchFamily="2" charset="0"/>
              </a:rPr>
              <a:t>7</a:t>
            </a:r>
            <a:r>
              <a:rPr lang="en-US" sz="700" baseline="30000" dirty="0" smtClean="0">
                <a:solidFill>
                  <a:srgbClr val="646464"/>
                </a:solidFill>
                <a:latin typeface="EYInterstate" pitchFamily="2" charset="0"/>
              </a:rPr>
              <a:t>th</a:t>
            </a:r>
            <a:r>
              <a:rPr lang="en-US" sz="700" dirty="0" smtClean="0">
                <a:solidFill>
                  <a:srgbClr val="646464"/>
                </a:solidFill>
                <a:latin typeface="EYInterstate" pitchFamily="2" charset="0"/>
              </a:rPr>
              <a:t> Jan</a:t>
            </a:r>
            <a:endParaRPr lang="en-US" sz="700" dirty="0">
              <a:solidFill>
                <a:srgbClr val="646464"/>
              </a:solidFill>
              <a:latin typeface="EYInterstate" pitchFamily="2" charset="0"/>
            </a:endParaRPr>
          </a:p>
        </p:txBody>
      </p:sp>
      <p:sp>
        <p:nvSpPr>
          <p:cNvPr id="230" name="Pentagon 229"/>
          <p:cNvSpPr/>
          <p:nvPr/>
        </p:nvSpPr>
        <p:spPr bwMode="auto">
          <a:xfrm>
            <a:off x="4968044" y="3753036"/>
            <a:ext cx="248427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On Prem Deployment All Waves (?)</a:t>
            </a:r>
            <a:endParaRPr lang="en-GB" sz="800" b="1" dirty="0">
              <a:solidFill>
                <a:srgbClr val="646464"/>
              </a:solidFill>
            </a:endParaRPr>
          </a:p>
        </p:txBody>
      </p:sp>
      <p:grpSp>
        <p:nvGrpSpPr>
          <p:cNvPr id="5" name="Group 351"/>
          <p:cNvGrpSpPr/>
          <p:nvPr/>
        </p:nvGrpSpPr>
        <p:grpSpPr>
          <a:xfrm>
            <a:off x="4800600" y="296652"/>
            <a:ext cx="4267200" cy="631813"/>
            <a:chOff x="4800600" y="332656"/>
            <a:chExt cx="4267200" cy="631813"/>
          </a:xfrm>
        </p:grpSpPr>
        <p:sp>
          <p:nvSpPr>
            <p:cNvPr id="124" name="Rectangle 123"/>
            <p:cNvSpPr/>
            <p:nvPr/>
          </p:nvSpPr>
          <p:spPr bwMode="auto">
            <a:xfrm>
              <a:off x="4800600" y="332656"/>
              <a:ext cx="4174451" cy="612068"/>
            </a:xfrm>
            <a:prstGeom prst="rect">
              <a:avLst/>
            </a:prstGeom>
            <a:solidFill>
              <a:schemeClr val="bg1"/>
            </a:solidFill>
            <a:ln w="6350"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800" b="1" i="0" u="none" strike="noStrike" cap="none" normalizeH="0" baseline="0" dirty="0" smtClean="0">
                  <a:ln>
                    <a:noFill/>
                  </a:ln>
                  <a:solidFill>
                    <a:schemeClr val="tx1"/>
                  </a:solidFill>
                  <a:effectLst/>
                  <a:latin typeface="Arial" charset="0"/>
                </a:rPr>
                <a:t>KEY</a:t>
              </a:r>
            </a:p>
          </p:txBody>
        </p:sp>
        <p:sp>
          <p:nvSpPr>
            <p:cNvPr id="142" name="Pentagon 141"/>
            <p:cNvSpPr/>
            <p:nvPr/>
          </p:nvSpPr>
          <p:spPr bwMode="auto">
            <a:xfrm>
              <a:off x="4949784" y="676437"/>
              <a:ext cx="342296" cy="108012"/>
            </a:xfrm>
            <a:prstGeom prst="homePlate">
              <a:avLst/>
            </a:prstGeom>
            <a:solidFill>
              <a:schemeClr val="bg1">
                <a:lumMod val="75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fontAlgn="base">
                <a:spcBef>
                  <a:spcPct val="0"/>
                </a:spcBef>
                <a:spcAft>
                  <a:spcPct val="0"/>
                </a:spcAft>
              </a:pPr>
              <a:endParaRPr lang="en-GB" sz="600" b="1" dirty="0" smtClean="0">
                <a:solidFill>
                  <a:schemeClr val="bg1"/>
                </a:solidFill>
              </a:endParaRPr>
            </a:p>
          </p:txBody>
        </p:sp>
        <p:sp>
          <p:nvSpPr>
            <p:cNvPr id="122" name="Pentagon 121"/>
            <p:cNvSpPr/>
            <p:nvPr/>
          </p:nvSpPr>
          <p:spPr bwMode="auto">
            <a:xfrm>
              <a:off x="4932040" y="440668"/>
              <a:ext cx="361311"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fontAlgn="base">
                <a:spcBef>
                  <a:spcPct val="0"/>
                </a:spcBef>
                <a:spcAft>
                  <a:spcPct val="0"/>
                </a:spcAft>
              </a:pPr>
              <a:endParaRPr lang="en-GB" sz="600" b="1" dirty="0" smtClean="0">
                <a:solidFill>
                  <a:srgbClr val="646464"/>
                </a:solidFill>
              </a:endParaRPr>
            </a:p>
          </p:txBody>
        </p:sp>
        <p:sp>
          <p:nvSpPr>
            <p:cNvPr id="125" name="TextBox 124"/>
            <p:cNvSpPr txBox="1"/>
            <p:nvPr/>
          </p:nvSpPr>
          <p:spPr>
            <a:xfrm>
              <a:off x="4800600" y="332656"/>
              <a:ext cx="1480736" cy="307777"/>
            </a:xfrm>
            <a:prstGeom prst="rect">
              <a:avLst/>
            </a:prstGeom>
            <a:noFill/>
          </p:spPr>
          <p:txBody>
            <a:bodyPr wrap="square" rtlCol="0">
              <a:spAutoFit/>
            </a:bodyPr>
            <a:lstStyle/>
            <a:p>
              <a:r>
                <a:rPr lang="en-GB" sz="700" dirty="0" smtClean="0"/>
                <a:t>EY Project </a:t>
              </a:r>
            </a:p>
            <a:p>
              <a:r>
                <a:rPr lang="en-GB" sz="700" dirty="0" smtClean="0"/>
                <a:t>phase</a:t>
              </a:r>
              <a:endParaRPr lang="en-GB" sz="700" dirty="0"/>
            </a:p>
          </p:txBody>
        </p:sp>
        <p:grpSp>
          <p:nvGrpSpPr>
            <p:cNvPr id="7" name="Group 93"/>
            <p:cNvGrpSpPr/>
            <p:nvPr/>
          </p:nvGrpSpPr>
          <p:grpSpPr>
            <a:xfrm>
              <a:off x="7344308" y="440672"/>
              <a:ext cx="144016" cy="184518"/>
              <a:chOff x="8428361" y="3092225"/>
              <a:chExt cx="140069" cy="295228"/>
            </a:xfrm>
          </p:grpSpPr>
          <p:sp>
            <p:nvSpPr>
              <p:cNvPr id="138" name="5-Point Star 137"/>
              <p:cNvSpPr/>
              <p:nvPr/>
            </p:nvSpPr>
            <p:spPr bwMode="auto">
              <a:xfrm>
                <a:off x="8428361" y="3207434"/>
                <a:ext cx="140069" cy="180019"/>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cxnSp>
            <p:nvCxnSpPr>
              <p:cNvPr id="139" name="Straight Connector 138"/>
              <p:cNvCxnSpPr/>
              <p:nvPr/>
            </p:nvCxnSpPr>
            <p:spPr bwMode="auto">
              <a:xfrm>
                <a:off x="8496434" y="3092225"/>
                <a:ext cx="1" cy="116397"/>
              </a:xfrm>
              <a:prstGeom prst="line">
                <a:avLst/>
              </a:prstGeom>
              <a:solidFill>
                <a:srgbClr val="FF0000"/>
              </a:solidFill>
              <a:ln w="12700" cap="flat" cmpd="sng" algn="ctr">
                <a:solidFill>
                  <a:srgbClr val="FF0000"/>
                </a:solidFill>
                <a:prstDash val="solid"/>
                <a:round/>
                <a:headEnd type="none" w="med" len="med"/>
                <a:tailEnd type="none"/>
              </a:ln>
              <a:effectLst/>
            </p:spPr>
          </p:cxnSp>
        </p:grpSp>
        <p:sp>
          <p:nvSpPr>
            <p:cNvPr id="127" name="TextBox 126"/>
            <p:cNvSpPr txBox="1"/>
            <p:nvPr/>
          </p:nvSpPr>
          <p:spPr>
            <a:xfrm>
              <a:off x="7010400" y="672661"/>
              <a:ext cx="591773" cy="200055"/>
            </a:xfrm>
            <a:prstGeom prst="rect">
              <a:avLst/>
            </a:prstGeom>
            <a:noFill/>
          </p:spPr>
          <p:txBody>
            <a:bodyPr wrap="square" rtlCol="0">
              <a:spAutoFit/>
            </a:bodyPr>
            <a:lstStyle/>
            <a:p>
              <a:pPr algn="l"/>
              <a:r>
                <a:rPr lang="en-GB" sz="700" dirty="0" smtClean="0"/>
                <a:t>Decision</a:t>
              </a:r>
              <a:endParaRPr lang="en-GB" sz="700" dirty="0"/>
            </a:p>
          </p:txBody>
        </p:sp>
        <p:sp>
          <p:nvSpPr>
            <p:cNvPr id="128" name="Line 125"/>
            <p:cNvSpPr>
              <a:spLocks noChangeShapeType="1"/>
            </p:cNvSpPr>
            <p:nvPr/>
          </p:nvSpPr>
          <p:spPr bwMode="gray">
            <a:xfrm flipV="1">
              <a:off x="7812360" y="449669"/>
              <a:ext cx="0" cy="135015"/>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129" name="TextBox 128"/>
            <p:cNvSpPr txBox="1"/>
            <p:nvPr/>
          </p:nvSpPr>
          <p:spPr>
            <a:xfrm>
              <a:off x="7467600" y="672661"/>
              <a:ext cx="665809" cy="200055"/>
            </a:xfrm>
            <a:prstGeom prst="rect">
              <a:avLst/>
            </a:prstGeom>
            <a:noFill/>
          </p:spPr>
          <p:txBody>
            <a:bodyPr wrap="square" rtlCol="0">
              <a:spAutoFit/>
            </a:bodyPr>
            <a:lstStyle/>
            <a:p>
              <a:pPr algn="l"/>
              <a:r>
                <a:rPr lang="en-GB" sz="700" dirty="0" smtClean="0"/>
                <a:t>Milestone</a:t>
              </a:r>
              <a:endParaRPr lang="en-GB" sz="700" dirty="0"/>
            </a:p>
          </p:txBody>
        </p:sp>
        <p:sp>
          <p:nvSpPr>
            <p:cNvPr id="131" name="Line 125"/>
            <p:cNvSpPr>
              <a:spLocks noChangeShapeType="1"/>
            </p:cNvSpPr>
            <p:nvPr/>
          </p:nvSpPr>
          <p:spPr bwMode="gray">
            <a:xfrm flipV="1">
              <a:off x="8610600" y="440668"/>
              <a:ext cx="0" cy="135015"/>
            </a:xfrm>
            <a:prstGeom prst="line">
              <a:avLst/>
            </a:prstGeom>
            <a:noFill/>
            <a:ln w="6350">
              <a:solidFill>
                <a:srgbClr val="FF0000"/>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132" name="Rectangle 131"/>
            <p:cNvSpPr/>
            <p:nvPr/>
          </p:nvSpPr>
          <p:spPr bwMode="auto">
            <a:xfrm>
              <a:off x="5976156" y="440668"/>
              <a:ext cx="288031" cy="108012"/>
            </a:xfrm>
            <a:prstGeom prst="rect">
              <a:avLst/>
            </a:prstGeom>
            <a:solidFill>
              <a:schemeClr val="accent2">
                <a:lumMod val="40000"/>
                <a:lumOff val="60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GB" sz="600" dirty="0" smtClean="0">
                <a:latin typeface="Arial" charset="0"/>
              </a:endParaRPr>
            </a:p>
          </p:txBody>
        </p:sp>
        <p:sp>
          <p:nvSpPr>
            <p:cNvPr id="133" name="TextBox 132"/>
            <p:cNvSpPr txBox="1"/>
            <p:nvPr/>
          </p:nvSpPr>
          <p:spPr>
            <a:xfrm>
              <a:off x="5834464" y="332656"/>
              <a:ext cx="1480736" cy="307777"/>
            </a:xfrm>
            <a:prstGeom prst="rect">
              <a:avLst/>
            </a:prstGeom>
            <a:noFill/>
          </p:spPr>
          <p:txBody>
            <a:bodyPr wrap="square" rtlCol="0">
              <a:spAutoFit/>
            </a:bodyPr>
            <a:lstStyle/>
            <a:p>
              <a:r>
                <a:rPr lang="en-GB" sz="700" dirty="0" smtClean="0"/>
                <a:t>EY High</a:t>
              </a:r>
            </a:p>
            <a:p>
              <a:r>
                <a:rPr lang="en-GB" sz="700" dirty="0" smtClean="0"/>
                <a:t> level activity</a:t>
              </a:r>
              <a:endParaRPr lang="en-GB" sz="700" dirty="0"/>
            </a:p>
          </p:txBody>
        </p:sp>
        <p:sp>
          <p:nvSpPr>
            <p:cNvPr id="134" name="TextBox 133"/>
            <p:cNvSpPr txBox="1"/>
            <p:nvPr/>
          </p:nvSpPr>
          <p:spPr>
            <a:xfrm>
              <a:off x="7620000" y="656692"/>
              <a:ext cx="1184589" cy="307777"/>
            </a:xfrm>
            <a:prstGeom prst="rect">
              <a:avLst/>
            </a:prstGeom>
            <a:noFill/>
          </p:spPr>
          <p:txBody>
            <a:bodyPr wrap="square" rtlCol="0">
              <a:spAutoFit/>
            </a:bodyPr>
            <a:lstStyle/>
            <a:p>
              <a:r>
                <a:rPr lang="en-GB" sz="700" dirty="0" smtClean="0"/>
                <a:t>External </a:t>
              </a:r>
            </a:p>
            <a:p>
              <a:r>
                <a:rPr lang="en-GB" sz="700" dirty="0" smtClean="0"/>
                <a:t>Milestone</a:t>
              </a:r>
              <a:endParaRPr lang="en-GB" sz="700" dirty="0"/>
            </a:p>
          </p:txBody>
        </p:sp>
        <p:sp>
          <p:nvSpPr>
            <p:cNvPr id="135" name="Rectangle 134"/>
            <p:cNvSpPr/>
            <p:nvPr/>
          </p:nvSpPr>
          <p:spPr bwMode="auto">
            <a:xfrm>
              <a:off x="5976156" y="728700"/>
              <a:ext cx="288032" cy="108012"/>
            </a:xfrm>
            <a:prstGeom prst="rect">
              <a:avLst/>
            </a:prstGeom>
            <a:gradFill flip="none" rotWithShape="1">
              <a:gsLst>
                <a:gs pos="0">
                  <a:schemeClr val="accent1">
                    <a:tint val="66000"/>
                    <a:satMod val="160000"/>
                  </a:schemeClr>
                </a:gs>
                <a:gs pos="50000">
                  <a:schemeClr val="accent2"/>
                </a:gs>
                <a:gs pos="100000">
                  <a:schemeClr val="accent1">
                    <a:tint val="23500"/>
                    <a:satMod val="160000"/>
                  </a:schemeClr>
                </a:gs>
              </a:gsLst>
              <a:lin ang="10800000" scaled="1"/>
              <a:tileRect/>
            </a:gra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600" b="1" i="0" u="none" strike="noStrike" cap="none" normalizeH="0" baseline="0" dirty="0" smtClean="0">
                <a:ln>
                  <a:noFill/>
                </a:ln>
                <a:solidFill>
                  <a:schemeClr val="bg1"/>
                </a:solidFill>
                <a:effectLst/>
                <a:latin typeface="Arial" charset="0"/>
              </a:endParaRPr>
            </a:p>
          </p:txBody>
        </p:sp>
        <p:sp>
          <p:nvSpPr>
            <p:cNvPr id="136" name="TextBox 135"/>
            <p:cNvSpPr txBox="1"/>
            <p:nvPr/>
          </p:nvSpPr>
          <p:spPr>
            <a:xfrm>
              <a:off x="4800600" y="584684"/>
              <a:ext cx="1480736" cy="307777"/>
            </a:xfrm>
            <a:prstGeom prst="rect">
              <a:avLst/>
            </a:prstGeom>
            <a:noFill/>
          </p:spPr>
          <p:txBody>
            <a:bodyPr wrap="square" rtlCol="0">
              <a:spAutoFit/>
            </a:bodyPr>
            <a:lstStyle/>
            <a:p>
              <a:r>
                <a:rPr lang="en-GB" sz="700" dirty="0" smtClean="0"/>
                <a:t>External high </a:t>
              </a:r>
            </a:p>
            <a:p>
              <a:r>
                <a:rPr lang="en-GB" sz="700" dirty="0" smtClean="0"/>
                <a:t>level activity</a:t>
              </a:r>
              <a:endParaRPr lang="en-GB" sz="700" dirty="0"/>
            </a:p>
          </p:txBody>
        </p:sp>
        <p:sp>
          <p:nvSpPr>
            <p:cNvPr id="137" name="TextBox 136"/>
            <p:cNvSpPr txBox="1"/>
            <p:nvPr/>
          </p:nvSpPr>
          <p:spPr>
            <a:xfrm>
              <a:off x="8327954" y="674149"/>
              <a:ext cx="739846" cy="200055"/>
            </a:xfrm>
            <a:prstGeom prst="rect">
              <a:avLst/>
            </a:prstGeom>
            <a:noFill/>
          </p:spPr>
          <p:txBody>
            <a:bodyPr wrap="square" rtlCol="0">
              <a:spAutoFit/>
            </a:bodyPr>
            <a:lstStyle/>
            <a:p>
              <a:pPr algn="l"/>
              <a:r>
                <a:rPr lang="en-GB" sz="700" dirty="0" smtClean="0"/>
                <a:t>Dependency</a:t>
              </a:r>
              <a:endParaRPr lang="en-GB" sz="700" dirty="0"/>
            </a:p>
          </p:txBody>
        </p:sp>
        <p:sp>
          <p:nvSpPr>
            <p:cNvPr id="143" name="TextBox 142"/>
            <p:cNvSpPr txBox="1"/>
            <p:nvPr/>
          </p:nvSpPr>
          <p:spPr>
            <a:xfrm>
              <a:off x="5867400" y="620688"/>
              <a:ext cx="1480736" cy="307777"/>
            </a:xfrm>
            <a:prstGeom prst="rect">
              <a:avLst/>
            </a:prstGeom>
            <a:noFill/>
          </p:spPr>
          <p:txBody>
            <a:bodyPr wrap="square" rtlCol="0">
              <a:spAutoFit/>
            </a:bodyPr>
            <a:lstStyle/>
            <a:p>
              <a:r>
                <a:rPr lang="en-GB" sz="700" dirty="0" smtClean="0"/>
                <a:t>Joint  EY &amp;</a:t>
              </a:r>
            </a:p>
            <a:p>
              <a:r>
                <a:rPr lang="en-GB" sz="700" dirty="0" smtClean="0"/>
                <a:t> Vendor activity</a:t>
              </a:r>
              <a:endParaRPr lang="en-GB" sz="700" dirty="0"/>
            </a:p>
          </p:txBody>
        </p:sp>
        <p:sp>
          <p:nvSpPr>
            <p:cNvPr id="234" name="Line 125"/>
            <p:cNvSpPr>
              <a:spLocks noChangeShapeType="1"/>
            </p:cNvSpPr>
            <p:nvPr/>
          </p:nvSpPr>
          <p:spPr bwMode="gray">
            <a:xfrm flipV="1">
              <a:off x="8244408" y="440668"/>
              <a:ext cx="0" cy="135015"/>
            </a:xfrm>
            <a:prstGeom prst="line">
              <a:avLst/>
            </a:prstGeom>
            <a:noFill/>
            <a:ln w="6350">
              <a:solidFill>
                <a:schemeClr val="accent1"/>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grpSp>
      <p:sp>
        <p:nvSpPr>
          <p:cNvPr id="350" name="Rectangle 349"/>
          <p:cNvSpPr/>
          <p:nvPr/>
        </p:nvSpPr>
        <p:spPr bwMode="auto">
          <a:xfrm>
            <a:off x="6804248" y="908720"/>
            <a:ext cx="1368152" cy="5112568"/>
          </a:xfrm>
          <a:prstGeom prst="rect">
            <a:avLst/>
          </a:prstGeom>
          <a:solidFill>
            <a:schemeClr val="bg1">
              <a:lumMod val="75000"/>
              <a:alpha val="25000"/>
            </a:schemeClr>
          </a:solidFill>
          <a:ln w="3175" cap="flat" cmpd="sng" algn="ctr">
            <a:solidFill>
              <a:schemeClr val="tx1"/>
            </a:solidFill>
            <a:prstDash val="lgDash"/>
            <a:round/>
            <a:headEnd type="none" w="med" len="med"/>
            <a:tailEnd type="none" w="med" len="med"/>
          </a:ln>
          <a:effectLst/>
        </p:spPr>
        <p:txBody>
          <a:bodyPr vert="horz" wrap="none" lIns="0" tIns="0" rIns="0" bIns="0" numCol="1" rtlCol="0" anchor="t" anchorCtr="0" compatLnSpc="1">
            <a:prstTxWarp prst="textNoShape">
              <a:avLst/>
            </a:prstTxWarp>
          </a:bodyPr>
          <a:lstStyle/>
          <a:p>
            <a:pPr algn="ctr"/>
            <a:endParaRPr lang="en-GB" sz="900" b="1" dirty="0" smtClean="0"/>
          </a:p>
          <a:p>
            <a:pPr algn="ctr"/>
            <a:r>
              <a:rPr lang="en-GB" sz="900" b="1" dirty="0" smtClean="0"/>
              <a:t>GENERAL </a:t>
            </a:r>
          </a:p>
          <a:p>
            <a:pPr algn="ctr"/>
            <a:r>
              <a:rPr lang="en-GB" sz="900" b="1" dirty="0" smtClean="0"/>
              <a:t>BLACK OUT PERIOD</a:t>
            </a:r>
          </a:p>
          <a:p>
            <a:pPr algn="ctr"/>
            <a:endParaRPr lang="en-GB" sz="800" b="1" dirty="0" smtClean="0"/>
          </a:p>
          <a:p>
            <a:pPr algn="ctr"/>
            <a:r>
              <a:rPr lang="en-GB" sz="800" b="1" dirty="0" smtClean="0"/>
              <a:t>Europe</a:t>
            </a:r>
          </a:p>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sp>
        <p:nvSpPr>
          <p:cNvPr id="353" name="Pentagon 352"/>
          <p:cNvSpPr/>
          <p:nvPr/>
        </p:nvSpPr>
        <p:spPr bwMode="auto">
          <a:xfrm>
            <a:off x="2915816" y="1988840"/>
            <a:ext cx="4284476" cy="144016"/>
          </a:xfrm>
          <a:prstGeom prst="homePlate">
            <a:avLst/>
          </a:prstGeom>
          <a:solidFill>
            <a:schemeClr val="bg1">
              <a:lumMod val="75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Microsoft 12 Month available deployment window</a:t>
            </a:r>
            <a:endParaRPr lang="en-GB" sz="800" b="1" dirty="0">
              <a:solidFill>
                <a:srgbClr val="646464"/>
              </a:solidFill>
            </a:endParaRPr>
          </a:p>
        </p:txBody>
      </p:sp>
      <p:sp>
        <p:nvSpPr>
          <p:cNvPr id="235" name="TextBox 234"/>
          <p:cNvSpPr txBox="1"/>
          <p:nvPr/>
        </p:nvSpPr>
        <p:spPr>
          <a:xfrm>
            <a:off x="1763688" y="-27384"/>
            <a:ext cx="7236296" cy="230832"/>
          </a:xfrm>
          <a:prstGeom prst="rect">
            <a:avLst/>
          </a:prstGeom>
          <a:noFill/>
        </p:spPr>
        <p:txBody>
          <a:bodyPr wrap="square" rtlCol="0">
            <a:spAutoFit/>
          </a:bodyPr>
          <a:lstStyle/>
          <a:p>
            <a:r>
              <a:rPr lang="en-GB" sz="900" b="1" u="sng" dirty="0" smtClean="0"/>
              <a:t>MESSAGING AND COLLABORATOIN PROGRAM – LEVEL  0 INTERGRATED PLAN ON A PAGE – BASELINED 31</a:t>
            </a:r>
            <a:r>
              <a:rPr lang="en-GB" sz="900" b="1" u="sng" baseline="30000" dirty="0" smtClean="0"/>
              <a:t>ST</a:t>
            </a:r>
            <a:r>
              <a:rPr lang="en-GB" sz="900" b="1" u="sng" dirty="0" smtClean="0"/>
              <a:t> MARCH 2012</a:t>
            </a:r>
            <a:endParaRPr lang="en-GB" sz="900" b="1" u="sng" dirty="0"/>
          </a:p>
        </p:txBody>
      </p:sp>
      <p:sp>
        <p:nvSpPr>
          <p:cNvPr id="204" name="TextBox 203"/>
          <p:cNvSpPr txBox="1"/>
          <p:nvPr/>
        </p:nvSpPr>
        <p:spPr>
          <a:xfrm>
            <a:off x="755576" y="5589240"/>
            <a:ext cx="1188132" cy="307777"/>
          </a:xfrm>
          <a:prstGeom prst="rect">
            <a:avLst/>
          </a:prstGeom>
          <a:noFill/>
        </p:spPr>
        <p:txBody>
          <a:bodyPr wrap="square" rtlCol="0">
            <a:spAutoFit/>
          </a:bodyPr>
          <a:lstStyle/>
          <a:p>
            <a:pPr algn="l"/>
            <a:r>
              <a:rPr lang="en-GB" sz="700" dirty="0" smtClean="0"/>
              <a:t>Commence</a:t>
            </a:r>
          </a:p>
          <a:p>
            <a:pPr algn="l"/>
            <a:r>
              <a:rPr lang="en-GB" sz="700" dirty="0" smtClean="0"/>
              <a:t>Deactivations</a:t>
            </a:r>
          </a:p>
        </p:txBody>
      </p:sp>
      <p:sp>
        <p:nvSpPr>
          <p:cNvPr id="217" name="TextBox 216"/>
          <p:cNvSpPr txBox="1"/>
          <p:nvPr/>
        </p:nvSpPr>
        <p:spPr>
          <a:xfrm>
            <a:off x="1547664" y="5733256"/>
            <a:ext cx="1188132" cy="307777"/>
          </a:xfrm>
          <a:prstGeom prst="rect">
            <a:avLst/>
          </a:prstGeom>
          <a:noFill/>
        </p:spPr>
        <p:txBody>
          <a:bodyPr wrap="square" rtlCol="0">
            <a:spAutoFit/>
          </a:bodyPr>
          <a:lstStyle/>
          <a:p>
            <a:pPr algn="l"/>
            <a:r>
              <a:rPr lang="en-GB" sz="700" dirty="0" smtClean="0"/>
              <a:t>Commence</a:t>
            </a:r>
          </a:p>
          <a:p>
            <a:pPr algn="l"/>
            <a:r>
              <a:rPr lang="en-GB" sz="700" dirty="0" smtClean="0"/>
              <a:t>Decommissions</a:t>
            </a:r>
          </a:p>
        </p:txBody>
      </p:sp>
      <p:sp>
        <p:nvSpPr>
          <p:cNvPr id="232" name="Pentagon 231"/>
          <p:cNvSpPr/>
          <p:nvPr/>
        </p:nvSpPr>
        <p:spPr bwMode="auto">
          <a:xfrm>
            <a:off x="1619672" y="4545136"/>
            <a:ext cx="4608512" cy="108000"/>
          </a:xfrm>
          <a:prstGeom prst="homePlate">
            <a:avLst/>
          </a:prstGeom>
          <a:solidFill>
            <a:schemeClr val="bg1">
              <a:lumMod val="75000"/>
            </a:schemeClr>
          </a:solidFill>
          <a:ln w="9525" cap="flat" cmpd="sng" algn="ctr">
            <a:solidFill>
              <a:schemeClr val="tx1"/>
            </a:solidFill>
            <a:prstDash val="sysDash"/>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700" b="1" dirty="0" smtClean="0">
                <a:solidFill>
                  <a:srgbClr val="646464"/>
                </a:solidFill>
              </a:rPr>
              <a:t>Release 2 May/August 2013 Go Live – TBD in August 2012 </a:t>
            </a:r>
            <a:endParaRPr lang="en-GB" sz="700" b="1" dirty="0">
              <a:solidFill>
                <a:srgbClr val="646464"/>
              </a:solidFill>
            </a:endParaRPr>
          </a:p>
        </p:txBody>
      </p:sp>
      <p:sp>
        <p:nvSpPr>
          <p:cNvPr id="239" name="Text Box 126"/>
          <p:cNvSpPr txBox="1">
            <a:spLocks noChangeArrowheads="1"/>
          </p:cNvSpPr>
          <p:nvPr/>
        </p:nvSpPr>
        <p:spPr bwMode="gray">
          <a:xfrm>
            <a:off x="611560" y="6705654"/>
            <a:ext cx="396044"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May</a:t>
            </a:r>
            <a:endParaRPr lang="en-US" sz="700" dirty="0">
              <a:solidFill>
                <a:srgbClr val="646464"/>
              </a:solidFill>
              <a:latin typeface="EYInterstate" pitchFamily="2" charset="0"/>
            </a:endParaRPr>
          </a:p>
        </p:txBody>
      </p:sp>
      <p:sp>
        <p:nvSpPr>
          <p:cNvPr id="243" name="Text Box 126"/>
          <p:cNvSpPr txBox="1">
            <a:spLocks noChangeArrowheads="1"/>
          </p:cNvSpPr>
          <p:nvPr/>
        </p:nvSpPr>
        <p:spPr bwMode="gray">
          <a:xfrm>
            <a:off x="1007604" y="6705654"/>
            <a:ext cx="396044"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June</a:t>
            </a:r>
            <a:endParaRPr lang="en-US" sz="700" dirty="0">
              <a:solidFill>
                <a:srgbClr val="646464"/>
              </a:solidFill>
              <a:latin typeface="EYInterstate" pitchFamily="2" charset="0"/>
            </a:endParaRPr>
          </a:p>
        </p:txBody>
      </p:sp>
      <p:sp>
        <p:nvSpPr>
          <p:cNvPr id="244" name="Text Box 126"/>
          <p:cNvSpPr txBox="1">
            <a:spLocks noChangeArrowheads="1"/>
          </p:cNvSpPr>
          <p:nvPr/>
        </p:nvSpPr>
        <p:spPr bwMode="gray">
          <a:xfrm>
            <a:off x="1763688" y="6705654"/>
            <a:ext cx="360040"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Aug </a:t>
            </a:r>
            <a:endParaRPr lang="en-US" sz="700" dirty="0">
              <a:solidFill>
                <a:srgbClr val="646464"/>
              </a:solidFill>
              <a:latin typeface="EYInterstate" pitchFamily="2" charset="0"/>
            </a:endParaRPr>
          </a:p>
        </p:txBody>
      </p:sp>
      <p:sp>
        <p:nvSpPr>
          <p:cNvPr id="245" name="Text Box 126"/>
          <p:cNvSpPr txBox="1">
            <a:spLocks noChangeArrowheads="1"/>
          </p:cNvSpPr>
          <p:nvPr/>
        </p:nvSpPr>
        <p:spPr bwMode="gray">
          <a:xfrm>
            <a:off x="2123728" y="6705654"/>
            <a:ext cx="360040"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Sept </a:t>
            </a:r>
            <a:endParaRPr lang="en-US" sz="700" dirty="0">
              <a:solidFill>
                <a:srgbClr val="646464"/>
              </a:solidFill>
              <a:latin typeface="EYInterstate" pitchFamily="2" charset="0"/>
            </a:endParaRPr>
          </a:p>
        </p:txBody>
      </p:sp>
      <p:sp>
        <p:nvSpPr>
          <p:cNvPr id="248" name="Text Box 126"/>
          <p:cNvSpPr txBox="1">
            <a:spLocks noChangeArrowheads="1"/>
          </p:cNvSpPr>
          <p:nvPr/>
        </p:nvSpPr>
        <p:spPr bwMode="gray">
          <a:xfrm>
            <a:off x="2843808" y="6705654"/>
            <a:ext cx="432048"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Nov </a:t>
            </a:r>
            <a:endParaRPr lang="en-US" sz="700" dirty="0">
              <a:solidFill>
                <a:srgbClr val="646464"/>
              </a:solidFill>
              <a:latin typeface="EYInterstate" pitchFamily="2" charset="0"/>
            </a:endParaRPr>
          </a:p>
        </p:txBody>
      </p:sp>
      <p:sp>
        <p:nvSpPr>
          <p:cNvPr id="249" name="Text Box 126"/>
          <p:cNvSpPr txBox="1">
            <a:spLocks noChangeArrowheads="1"/>
          </p:cNvSpPr>
          <p:nvPr/>
        </p:nvSpPr>
        <p:spPr bwMode="gray">
          <a:xfrm>
            <a:off x="3203848" y="6705654"/>
            <a:ext cx="432048"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Dec</a:t>
            </a:r>
            <a:endParaRPr lang="en-US" sz="700" dirty="0">
              <a:solidFill>
                <a:srgbClr val="646464"/>
              </a:solidFill>
              <a:latin typeface="EYInterstate" pitchFamily="2" charset="0"/>
            </a:endParaRPr>
          </a:p>
        </p:txBody>
      </p:sp>
      <p:sp>
        <p:nvSpPr>
          <p:cNvPr id="250" name="Text Box 126"/>
          <p:cNvSpPr txBox="1">
            <a:spLocks noChangeArrowheads="1"/>
          </p:cNvSpPr>
          <p:nvPr/>
        </p:nvSpPr>
        <p:spPr bwMode="gray">
          <a:xfrm>
            <a:off x="3995936" y="6705654"/>
            <a:ext cx="504056"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Feb</a:t>
            </a:r>
            <a:endParaRPr lang="en-US" sz="700" dirty="0">
              <a:solidFill>
                <a:srgbClr val="646464"/>
              </a:solidFill>
              <a:latin typeface="EYInterstate" pitchFamily="2" charset="0"/>
            </a:endParaRPr>
          </a:p>
        </p:txBody>
      </p:sp>
      <p:sp>
        <p:nvSpPr>
          <p:cNvPr id="252" name="Text Box 126"/>
          <p:cNvSpPr txBox="1">
            <a:spLocks noChangeArrowheads="1"/>
          </p:cNvSpPr>
          <p:nvPr/>
        </p:nvSpPr>
        <p:spPr bwMode="gray">
          <a:xfrm>
            <a:off x="4283968" y="6705654"/>
            <a:ext cx="432048"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Mar</a:t>
            </a:r>
            <a:endParaRPr lang="en-US" sz="700" dirty="0">
              <a:solidFill>
                <a:srgbClr val="646464"/>
              </a:solidFill>
              <a:latin typeface="EYInterstate" pitchFamily="2" charset="0"/>
            </a:endParaRPr>
          </a:p>
        </p:txBody>
      </p:sp>
      <p:sp>
        <p:nvSpPr>
          <p:cNvPr id="259" name="Text Box 126"/>
          <p:cNvSpPr txBox="1">
            <a:spLocks noChangeArrowheads="1"/>
          </p:cNvSpPr>
          <p:nvPr/>
        </p:nvSpPr>
        <p:spPr bwMode="gray">
          <a:xfrm>
            <a:off x="5004048" y="6705654"/>
            <a:ext cx="504056"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May</a:t>
            </a:r>
            <a:endParaRPr lang="en-US" sz="700" dirty="0">
              <a:solidFill>
                <a:srgbClr val="646464"/>
              </a:solidFill>
              <a:latin typeface="EYInterstate" pitchFamily="2" charset="0"/>
            </a:endParaRPr>
          </a:p>
        </p:txBody>
      </p:sp>
      <p:sp>
        <p:nvSpPr>
          <p:cNvPr id="270" name="Text Box 126"/>
          <p:cNvSpPr txBox="1">
            <a:spLocks noChangeArrowheads="1"/>
          </p:cNvSpPr>
          <p:nvPr/>
        </p:nvSpPr>
        <p:spPr bwMode="gray">
          <a:xfrm>
            <a:off x="5364088" y="6705654"/>
            <a:ext cx="504056"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June</a:t>
            </a:r>
            <a:endParaRPr lang="en-US" sz="700" dirty="0">
              <a:solidFill>
                <a:srgbClr val="646464"/>
              </a:solidFill>
              <a:latin typeface="EYInterstate" pitchFamily="2" charset="0"/>
            </a:endParaRPr>
          </a:p>
        </p:txBody>
      </p:sp>
      <p:sp>
        <p:nvSpPr>
          <p:cNvPr id="271" name="Text Box 126"/>
          <p:cNvSpPr txBox="1">
            <a:spLocks noChangeArrowheads="1"/>
          </p:cNvSpPr>
          <p:nvPr/>
        </p:nvSpPr>
        <p:spPr bwMode="gray">
          <a:xfrm>
            <a:off x="6084168" y="6705654"/>
            <a:ext cx="504056"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Aug</a:t>
            </a:r>
            <a:endParaRPr lang="en-US" sz="700" dirty="0">
              <a:solidFill>
                <a:srgbClr val="646464"/>
              </a:solidFill>
              <a:latin typeface="EYInterstate" pitchFamily="2" charset="0"/>
            </a:endParaRPr>
          </a:p>
        </p:txBody>
      </p:sp>
      <p:sp>
        <p:nvSpPr>
          <p:cNvPr id="280" name="Text Box 126"/>
          <p:cNvSpPr txBox="1">
            <a:spLocks noChangeArrowheads="1"/>
          </p:cNvSpPr>
          <p:nvPr/>
        </p:nvSpPr>
        <p:spPr bwMode="gray">
          <a:xfrm>
            <a:off x="6444208" y="6705654"/>
            <a:ext cx="504056"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Sept</a:t>
            </a:r>
            <a:endParaRPr lang="en-US" sz="700" dirty="0">
              <a:solidFill>
                <a:srgbClr val="646464"/>
              </a:solidFill>
              <a:latin typeface="EYInterstate" pitchFamily="2" charset="0"/>
            </a:endParaRPr>
          </a:p>
        </p:txBody>
      </p:sp>
      <p:sp>
        <p:nvSpPr>
          <p:cNvPr id="282" name="Text Box 126"/>
          <p:cNvSpPr txBox="1">
            <a:spLocks noChangeArrowheads="1"/>
          </p:cNvSpPr>
          <p:nvPr/>
        </p:nvSpPr>
        <p:spPr bwMode="gray">
          <a:xfrm>
            <a:off x="7164288" y="6705654"/>
            <a:ext cx="504056"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Nov</a:t>
            </a:r>
            <a:endParaRPr lang="en-US" sz="700" dirty="0">
              <a:solidFill>
                <a:srgbClr val="646464"/>
              </a:solidFill>
              <a:latin typeface="EYInterstate" pitchFamily="2" charset="0"/>
            </a:endParaRPr>
          </a:p>
        </p:txBody>
      </p:sp>
      <p:sp>
        <p:nvSpPr>
          <p:cNvPr id="285" name="Text Box 126"/>
          <p:cNvSpPr txBox="1">
            <a:spLocks noChangeArrowheads="1"/>
          </p:cNvSpPr>
          <p:nvPr/>
        </p:nvSpPr>
        <p:spPr bwMode="gray">
          <a:xfrm>
            <a:off x="7524328" y="6705654"/>
            <a:ext cx="504056"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Dec</a:t>
            </a:r>
            <a:endParaRPr lang="en-US" sz="700" dirty="0">
              <a:solidFill>
                <a:srgbClr val="646464"/>
              </a:solidFill>
              <a:latin typeface="EYInterstate" pitchFamily="2" charset="0"/>
            </a:endParaRPr>
          </a:p>
        </p:txBody>
      </p:sp>
      <p:sp>
        <p:nvSpPr>
          <p:cNvPr id="288" name="Text Box 126"/>
          <p:cNvSpPr txBox="1">
            <a:spLocks noChangeArrowheads="1"/>
          </p:cNvSpPr>
          <p:nvPr/>
        </p:nvSpPr>
        <p:spPr bwMode="gray">
          <a:xfrm>
            <a:off x="8244408" y="6705654"/>
            <a:ext cx="504056"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Feb</a:t>
            </a:r>
            <a:endParaRPr lang="en-US" sz="700" dirty="0">
              <a:solidFill>
                <a:srgbClr val="646464"/>
              </a:solidFill>
              <a:latin typeface="EYInterstate" pitchFamily="2" charset="0"/>
            </a:endParaRPr>
          </a:p>
        </p:txBody>
      </p:sp>
      <p:sp>
        <p:nvSpPr>
          <p:cNvPr id="296" name="Text Box 126"/>
          <p:cNvSpPr txBox="1">
            <a:spLocks noChangeArrowheads="1"/>
          </p:cNvSpPr>
          <p:nvPr/>
        </p:nvSpPr>
        <p:spPr bwMode="gray">
          <a:xfrm>
            <a:off x="8604448" y="6705600"/>
            <a:ext cx="351656" cy="107776"/>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Mar</a:t>
            </a:r>
            <a:endParaRPr lang="en-US" sz="700" dirty="0">
              <a:solidFill>
                <a:srgbClr val="646464"/>
              </a:solidFill>
              <a:latin typeface="EYInterstate" pitchFamily="2" charset="0"/>
            </a:endParaRPr>
          </a:p>
        </p:txBody>
      </p:sp>
      <p:sp>
        <p:nvSpPr>
          <p:cNvPr id="298" name="5-Point Star 297"/>
          <p:cNvSpPr/>
          <p:nvPr/>
        </p:nvSpPr>
        <p:spPr bwMode="auto">
          <a:xfrm>
            <a:off x="1331640" y="5908775"/>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cxnSp>
        <p:nvCxnSpPr>
          <p:cNvPr id="309" name="Straight Connector 308"/>
          <p:cNvCxnSpPr/>
          <p:nvPr/>
        </p:nvCxnSpPr>
        <p:spPr bwMode="auto">
          <a:xfrm>
            <a:off x="1403648" y="5661248"/>
            <a:ext cx="0" cy="293548"/>
          </a:xfrm>
          <a:prstGeom prst="line">
            <a:avLst/>
          </a:prstGeom>
          <a:solidFill>
            <a:srgbClr val="FF0000"/>
          </a:solidFill>
          <a:ln w="6350" cap="flat" cmpd="sng" algn="ctr">
            <a:solidFill>
              <a:srgbClr val="FF0000"/>
            </a:solidFill>
            <a:prstDash val="solid"/>
            <a:round/>
            <a:headEnd type="none" w="med" len="med"/>
            <a:tailEnd type="none"/>
          </a:ln>
          <a:effectLst/>
        </p:spPr>
      </p:cxnSp>
      <p:sp>
        <p:nvSpPr>
          <p:cNvPr id="312" name="5-Point Star 311"/>
          <p:cNvSpPr/>
          <p:nvPr/>
        </p:nvSpPr>
        <p:spPr bwMode="auto">
          <a:xfrm>
            <a:off x="2267744" y="5877272"/>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cxnSp>
        <p:nvCxnSpPr>
          <p:cNvPr id="315" name="Straight Connector 314"/>
          <p:cNvCxnSpPr/>
          <p:nvPr/>
        </p:nvCxnSpPr>
        <p:spPr bwMode="auto">
          <a:xfrm>
            <a:off x="2339752" y="5589240"/>
            <a:ext cx="0" cy="293548"/>
          </a:xfrm>
          <a:prstGeom prst="line">
            <a:avLst/>
          </a:prstGeom>
          <a:solidFill>
            <a:srgbClr val="FF0000"/>
          </a:solidFill>
          <a:ln w="6350" cap="flat" cmpd="sng" algn="ctr">
            <a:solidFill>
              <a:srgbClr val="FF0000"/>
            </a:solidFill>
            <a:prstDash val="solid"/>
            <a:round/>
            <a:headEnd type="none" w="med" len="med"/>
            <a:tailEnd type="none"/>
          </a:ln>
          <a:effectLst/>
        </p:spPr>
      </p:cxnSp>
      <p:sp>
        <p:nvSpPr>
          <p:cNvPr id="323" name="Pentagon 322"/>
          <p:cNvSpPr/>
          <p:nvPr/>
        </p:nvSpPr>
        <p:spPr bwMode="auto">
          <a:xfrm>
            <a:off x="107504" y="2960948"/>
            <a:ext cx="1152128"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QA Build</a:t>
            </a:r>
            <a:endParaRPr lang="en-GB" sz="800" b="1" dirty="0">
              <a:solidFill>
                <a:srgbClr val="646464"/>
              </a:solidFill>
            </a:endParaRPr>
          </a:p>
        </p:txBody>
      </p:sp>
      <p:sp>
        <p:nvSpPr>
          <p:cNvPr id="325" name="Line 125"/>
          <p:cNvSpPr>
            <a:spLocks noChangeShapeType="1"/>
          </p:cNvSpPr>
          <p:nvPr/>
        </p:nvSpPr>
        <p:spPr bwMode="gray">
          <a:xfrm flipV="1">
            <a:off x="2915816" y="2132856"/>
            <a:ext cx="0" cy="468052"/>
          </a:xfrm>
          <a:prstGeom prst="line">
            <a:avLst/>
          </a:prstGeom>
          <a:noFill/>
          <a:ln w="6350">
            <a:solidFill>
              <a:schemeClr val="accent1"/>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10" name="Pentagon 209"/>
          <p:cNvSpPr/>
          <p:nvPr/>
        </p:nvSpPr>
        <p:spPr bwMode="auto">
          <a:xfrm>
            <a:off x="2915816" y="2492896"/>
            <a:ext cx="360040" cy="28803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600" b="1" dirty="0" smtClean="0">
                <a:solidFill>
                  <a:srgbClr val="646464"/>
                </a:solidFill>
              </a:rPr>
              <a:t>Plug In </a:t>
            </a:r>
          </a:p>
          <a:p>
            <a:pPr algn="ctr" fontAlgn="base">
              <a:spcBef>
                <a:spcPct val="0"/>
              </a:spcBef>
              <a:spcAft>
                <a:spcPct val="0"/>
              </a:spcAft>
            </a:pPr>
            <a:r>
              <a:rPr lang="en-GB" sz="600" b="1" dirty="0" smtClean="0">
                <a:solidFill>
                  <a:srgbClr val="646464"/>
                </a:solidFill>
              </a:rPr>
              <a:t>testing</a:t>
            </a:r>
            <a:endParaRPr lang="en-GB" sz="800" b="1" dirty="0">
              <a:solidFill>
                <a:srgbClr val="646464"/>
              </a:solidFill>
            </a:endParaRPr>
          </a:p>
        </p:txBody>
      </p:sp>
      <p:sp>
        <p:nvSpPr>
          <p:cNvPr id="339" name="5-Point Star 338"/>
          <p:cNvSpPr/>
          <p:nvPr/>
        </p:nvSpPr>
        <p:spPr bwMode="auto">
          <a:xfrm>
            <a:off x="3563888" y="2564904"/>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sp>
        <p:nvSpPr>
          <p:cNvPr id="343" name="Rectangle 342"/>
          <p:cNvSpPr/>
          <p:nvPr/>
        </p:nvSpPr>
        <p:spPr bwMode="auto">
          <a:xfrm>
            <a:off x="4211960" y="2132856"/>
            <a:ext cx="720080" cy="1080120"/>
          </a:xfrm>
          <a:prstGeom prst="rect">
            <a:avLst/>
          </a:prstGeom>
          <a:solidFill>
            <a:schemeClr val="accent2">
              <a:lumMod val="40000"/>
              <a:lumOff val="60000"/>
            </a:schemeClr>
          </a:solidFill>
          <a:ln w="9525" cap="flat" cmpd="sng" algn="ctr">
            <a:noFill/>
            <a:prstDash val="solid"/>
            <a:round/>
            <a:headEnd type="none" w="med" len="med"/>
            <a:tailEnd type="none" w="med" len="med"/>
          </a:ln>
          <a:effectLst/>
        </p:spPr>
        <p:txBody>
          <a:bodyPr vert="horz" wrap="none" lIns="91440" tIns="36000" rIns="36000" bIns="45720" numCol="1" rtlCol="0" anchor="t" anchorCtr="0" compatLnSpc="1">
            <a:prstTxWarp prst="textNoShape">
              <a:avLst/>
            </a:prstTxWarp>
          </a:bodyPr>
          <a:lstStyle/>
          <a:p>
            <a:pPr algn="ctr" fontAlgn="base">
              <a:spcBef>
                <a:spcPct val="0"/>
              </a:spcBef>
              <a:spcAft>
                <a:spcPct val="0"/>
              </a:spcAft>
            </a:pPr>
            <a:endParaRPr lang="en-GB" sz="800" b="1" dirty="0" smtClean="0">
              <a:latin typeface="Arial" charset="0"/>
            </a:endParaRPr>
          </a:p>
          <a:p>
            <a:pPr algn="ctr" fontAlgn="base">
              <a:spcBef>
                <a:spcPct val="0"/>
              </a:spcBef>
              <a:spcAft>
                <a:spcPct val="0"/>
              </a:spcAft>
            </a:pPr>
            <a:endParaRPr lang="en-GB" sz="800" b="1" dirty="0" smtClean="0">
              <a:latin typeface="Arial" charset="0"/>
            </a:endParaRPr>
          </a:p>
          <a:p>
            <a:pPr algn="ctr" fontAlgn="base">
              <a:spcBef>
                <a:spcPct val="0"/>
              </a:spcBef>
              <a:spcAft>
                <a:spcPct val="0"/>
              </a:spcAft>
            </a:pPr>
            <a:endParaRPr lang="en-GB" sz="800" b="1" dirty="0" smtClean="0">
              <a:latin typeface="Arial" charset="0"/>
            </a:endParaRPr>
          </a:p>
          <a:p>
            <a:pPr algn="ctr" fontAlgn="base">
              <a:spcBef>
                <a:spcPct val="0"/>
              </a:spcBef>
              <a:spcAft>
                <a:spcPct val="0"/>
              </a:spcAft>
            </a:pPr>
            <a:endParaRPr lang="en-GB" sz="800" b="1" dirty="0" smtClean="0">
              <a:latin typeface="Arial" charset="0"/>
            </a:endParaRPr>
          </a:p>
          <a:p>
            <a:pPr algn="ctr" fontAlgn="base">
              <a:spcBef>
                <a:spcPct val="0"/>
              </a:spcBef>
              <a:spcAft>
                <a:spcPct val="0"/>
              </a:spcAft>
            </a:pPr>
            <a:endParaRPr lang="en-GB" sz="800" b="1" dirty="0" smtClean="0"/>
          </a:p>
          <a:p>
            <a:pPr algn="ctr" fontAlgn="base">
              <a:spcBef>
                <a:spcPct val="0"/>
              </a:spcBef>
              <a:spcAft>
                <a:spcPct val="0"/>
              </a:spcAft>
            </a:pPr>
            <a:endParaRPr lang="en-GB" sz="800" b="1" dirty="0" smtClean="0">
              <a:latin typeface="Arial" charset="0"/>
            </a:endParaRPr>
          </a:p>
          <a:p>
            <a:pPr algn="ctr" fontAlgn="base">
              <a:spcBef>
                <a:spcPct val="0"/>
              </a:spcBef>
              <a:spcAft>
                <a:spcPct val="0"/>
              </a:spcAft>
            </a:pPr>
            <a:r>
              <a:rPr lang="en-GB" sz="800" b="1" dirty="0" smtClean="0">
                <a:latin typeface="Arial" charset="0"/>
              </a:rPr>
              <a:t>Pilot</a:t>
            </a:r>
          </a:p>
        </p:txBody>
      </p:sp>
      <p:sp>
        <p:nvSpPr>
          <p:cNvPr id="164" name="Text Box 126"/>
          <p:cNvSpPr txBox="1">
            <a:spLocks noChangeArrowheads="1"/>
          </p:cNvSpPr>
          <p:nvPr/>
        </p:nvSpPr>
        <p:spPr bwMode="gray">
          <a:xfrm>
            <a:off x="4283968" y="2529771"/>
            <a:ext cx="720080" cy="323165"/>
          </a:xfrm>
          <a:prstGeom prst="rect">
            <a:avLst/>
          </a:prstGeom>
          <a:noFill/>
          <a:ln w="9525" algn="ctr">
            <a:noFill/>
            <a:miter lim="800000"/>
            <a:headEnd type="none" w="sm" len="sm"/>
            <a:tailEnd type="none" w="sm" len="sm"/>
          </a:ln>
        </p:spPr>
        <p:txBody>
          <a:bodyPr wrap="square" lIns="26118" tIns="0" rIns="0" bIns="0" anchor="ctr" anchorCtr="0">
            <a:spAutoFit/>
          </a:bodyPr>
          <a:lstStyle/>
          <a:p>
            <a:pPr algn="l" defTabSz="514230" eaLnBrk="0" fontAlgn="base" hangingPunct="0">
              <a:spcBef>
                <a:spcPct val="0"/>
              </a:spcBef>
              <a:spcAft>
                <a:spcPct val="0"/>
              </a:spcAft>
            </a:pPr>
            <a:r>
              <a:rPr lang="en-US" sz="700" dirty="0" smtClean="0">
                <a:solidFill>
                  <a:srgbClr val="646464"/>
                </a:solidFill>
                <a:latin typeface="EYInterstate" pitchFamily="2" charset="0"/>
              </a:rPr>
              <a:t>Pilot Go / </a:t>
            </a:r>
          </a:p>
          <a:p>
            <a:pPr algn="l" defTabSz="514230" eaLnBrk="0" fontAlgn="base" hangingPunct="0">
              <a:spcBef>
                <a:spcPct val="0"/>
              </a:spcBef>
              <a:spcAft>
                <a:spcPct val="0"/>
              </a:spcAft>
            </a:pPr>
            <a:r>
              <a:rPr lang="en-US" sz="700" dirty="0" smtClean="0">
                <a:solidFill>
                  <a:srgbClr val="646464"/>
                </a:solidFill>
                <a:latin typeface="EYInterstate" pitchFamily="2" charset="0"/>
              </a:rPr>
              <a:t>No Go</a:t>
            </a:r>
          </a:p>
          <a:p>
            <a:pPr algn="l" defTabSz="514230" eaLnBrk="0" fontAlgn="base" hangingPunct="0">
              <a:spcBef>
                <a:spcPct val="0"/>
              </a:spcBef>
              <a:spcAft>
                <a:spcPct val="0"/>
              </a:spcAft>
            </a:pPr>
            <a:r>
              <a:rPr lang="en-US" sz="700" dirty="0" smtClean="0">
                <a:solidFill>
                  <a:srgbClr val="646464"/>
                </a:solidFill>
                <a:latin typeface="EYInterstate" pitchFamily="2" charset="0"/>
              </a:rPr>
              <a:t>28</a:t>
            </a:r>
            <a:r>
              <a:rPr lang="en-US" sz="700" baseline="30000" dirty="0" smtClean="0">
                <a:solidFill>
                  <a:srgbClr val="646464"/>
                </a:solidFill>
                <a:latin typeface="EYInterstate" pitchFamily="2" charset="0"/>
              </a:rPr>
              <a:t>th</a:t>
            </a:r>
            <a:r>
              <a:rPr lang="en-US" sz="700" dirty="0" smtClean="0">
                <a:solidFill>
                  <a:srgbClr val="646464"/>
                </a:solidFill>
                <a:latin typeface="EYInterstate" pitchFamily="2" charset="0"/>
              </a:rPr>
              <a:t> Feb </a:t>
            </a:r>
            <a:endParaRPr lang="en-US" sz="700" dirty="0">
              <a:solidFill>
                <a:srgbClr val="646464"/>
              </a:solidFill>
              <a:latin typeface="EYInterstate" pitchFamily="2" charset="0"/>
            </a:endParaRPr>
          </a:p>
        </p:txBody>
      </p:sp>
      <p:sp>
        <p:nvSpPr>
          <p:cNvPr id="174" name="Pentagon 173"/>
          <p:cNvSpPr/>
          <p:nvPr/>
        </p:nvSpPr>
        <p:spPr bwMode="auto">
          <a:xfrm>
            <a:off x="4211960" y="3176972"/>
            <a:ext cx="720080"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Pilot</a:t>
            </a:r>
            <a:endParaRPr lang="en-GB" sz="800" b="1" dirty="0">
              <a:solidFill>
                <a:srgbClr val="646464"/>
              </a:solidFill>
            </a:endParaRPr>
          </a:p>
        </p:txBody>
      </p:sp>
      <p:sp>
        <p:nvSpPr>
          <p:cNvPr id="342" name="Rectangle 341"/>
          <p:cNvSpPr/>
          <p:nvPr/>
        </p:nvSpPr>
        <p:spPr bwMode="auto">
          <a:xfrm>
            <a:off x="4211960" y="3284984"/>
            <a:ext cx="720080" cy="648072"/>
          </a:xfrm>
          <a:prstGeom prst="rect">
            <a:avLst/>
          </a:prstGeom>
          <a:solidFill>
            <a:schemeClr val="accent2">
              <a:lumMod val="40000"/>
              <a:lumOff val="60000"/>
            </a:schemeClr>
          </a:solidFill>
          <a:ln w="9525" cap="flat" cmpd="sng" algn="ctr">
            <a:noFill/>
            <a:prstDash val="solid"/>
            <a:round/>
            <a:headEnd type="none" w="med" len="med"/>
            <a:tailEnd type="none" w="med" len="med"/>
          </a:ln>
          <a:effectLst/>
        </p:spPr>
        <p:txBody>
          <a:bodyPr vert="horz" wrap="none" lIns="91440" tIns="36000" rIns="36000" bIns="45720" numCol="1" rtlCol="0" anchor="t" anchorCtr="0" compatLnSpc="1">
            <a:prstTxWarp prst="textNoShape">
              <a:avLst/>
            </a:prstTxWarp>
          </a:bodyPr>
          <a:lstStyle/>
          <a:p>
            <a:pPr algn="ctr" fontAlgn="base">
              <a:spcBef>
                <a:spcPct val="0"/>
              </a:spcBef>
              <a:spcAft>
                <a:spcPct val="0"/>
              </a:spcAft>
            </a:pPr>
            <a:endParaRPr lang="en-GB" sz="800" b="1" dirty="0" smtClean="0">
              <a:latin typeface="Arial" charset="0"/>
            </a:endParaRPr>
          </a:p>
          <a:p>
            <a:pPr algn="ctr" fontAlgn="base">
              <a:spcBef>
                <a:spcPct val="0"/>
              </a:spcBef>
              <a:spcAft>
                <a:spcPct val="0"/>
              </a:spcAft>
            </a:pPr>
            <a:endParaRPr lang="en-GB" sz="800" b="1" dirty="0" smtClean="0"/>
          </a:p>
          <a:p>
            <a:pPr algn="ctr" fontAlgn="base">
              <a:spcBef>
                <a:spcPct val="0"/>
              </a:spcBef>
              <a:spcAft>
                <a:spcPct val="0"/>
              </a:spcAft>
            </a:pPr>
            <a:endParaRPr lang="en-GB" sz="800" b="1" dirty="0" smtClean="0">
              <a:latin typeface="Arial" charset="0"/>
            </a:endParaRPr>
          </a:p>
        </p:txBody>
      </p:sp>
      <p:sp>
        <p:nvSpPr>
          <p:cNvPr id="177" name="5-Point Star 176"/>
          <p:cNvSpPr/>
          <p:nvPr/>
        </p:nvSpPr>
        <p:spPr bwMode="auto">
          <a:xfrm>
            <a:off x="4860032" y="2564904"/>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sp>
        <p:nvSpPr>
          <p:cNvPr id="340" name="5-Point Star 339"/>
          <p:cNvSpPr/>
          <p:nvPr/>
        </p:nvSpPr>
        <p:spPr bwMode="auto">
          <a:xfrm>
            <a:off x="4139952" y="2564904"/>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sp>
        <p:nvSpPr>
          <p:cNvPr id="229" name="5-Point Star 228"/>
          <p:cNvSpPr/>
          <p:nvPr/>
        </p:nvSpPr>
        <p:spPr bwMode="auto">
          <a:xfrm>
            <a:off x="4860032" y="3856547"/>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sp>
        <p:nvSpPr>
          <p:cNvPr id="206" name="5-Point Star 205"/>
          <p:cNvSpPr/>
          <p:nvPr/>
        </p:nvSpPr>
        <p:spPr bwMode="auto">
          <a:xfrm>
            <a:off x="4139952" y="3878063"/>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cxnSp>
        <p:nvCxnSpPr>
          <p:cNvPr id="336" name="Straight Connector 335"/>
          <p:cNvCxnSpPr/>
          <p:nvPr/>
        </p:nvCxnSpPr>
        <p:spPr bwMode="auto">
          <a:xfrm>
            <a:off x="4211960" y="2132856"/>
            <a:ext cx="0" cy="1800200"/>
          </a:xfrm>
          <a:prstGeom prst="line">
            <a:avLst/>
          </a:prstGeom>
          <a:solidFill>
            <a:srgbClr val="FF0000"/>
          </a:solidFill>
          <a:ln w="12700" cap="flat" cmpd="sng" algn="ctr">
            <a:solidFill>
              <a:srgbClr val="FF0000"/>
            </a:solidFill>
            <a:prstDash val="solid"/>
            <a:round/>
            <a:headEnd type="none" w="med" len="med"/>
            <a:tailEnd type="none"/>
          </a:ln>
          <a:effectLst/>
        </p:spPr>
      </p:cxnSp>
      <p:cxnSp>
        <p:nvCxnSpPr>
          <p:cNvPr id="227" name="Straight Connector 226"/>
          <p:cNvCxnSpPr/>
          <p:nvPr/>
        </p:nvCxnSpPr>
        <p:spPr bwMode="auto">
          <a:xfrm>
            <a:off x="4932040" y="2564904"/>
            <a:ext cx="0" cy="1308658"/>
          </a:xfrm>
          <a:prstGeom prst="line">
            <a:avLst/>
          </a:prstGeom>
          <a:solidFill>
            <a:srgbClr val="FF0000"/>
          </a:solidFill>
          <a:ln w="12700" cap="flat" cmpd="sng" algn="ctr">
            <a:solidFill>
              <a:srgbClr val="FF0000"/>
            </a:solidFill>
            <a:prstDash val="solid"/>
            <a:round/>
            <a:headEnd type="none" w="med" len="med"/>
            <a:tailEnd type="none"/>
          </a:ln>
          <a:effectLst/>
        </p:spPr>
      </p:cxnSp>
      <p:cxnSp>
        <p:nvCxnSpPr>
          <p:cNvPr id="228" name="Straight Connector 227"/>
          <p:cNvCxnSpPr/>
          <p:nvPr/>
        </p:nvCxnSpPr>
        <p:spPr bwMode="auto">
          <a:xfrm>
            <a:off x="35496" y="2636912"/>
            <a:ext cx="9001000" cy="0"/>
          </a:xfrm>
          <a:prstGeom prst="line">
            <a:avLst/>
          </a:prstGeom>
          <a:solidFill>
            <a:schemeClr val="accent2"/>
          </a:solidFill>
          <a:ln w="15875" cap="flat" cmpd="sng" algn="ctr">
            <a:solidFill>
              <a:schemeClr val="bg2"/>
            </a:solidFill>
            <a:prstDash val="dash"/>
            <a:round/>
            <a:headEnd type="none" w="med" len="med"/>
            <a:tailEnd type="none"/>
          </a:ln>
          <a:effectLst/>
        </p:spPr>
      </p:cxnSp>
      <p:sp>
        <p:nvSpPr>
          <p:cNvPr id="345" name="Line 125"/>
          <p:cNvSpPr>
            <a:spLocks noChangeShapeType="1"/>
          </p:cNvSpPr>
          <p:nvPr/>
        </p:nvSpPr>
        <p:spPr bwMode="gray">
          <a:xfrm flipV="1">
            <a:off x="3275856" y="2132856"/>
            <a:ext cx="0" cy="1836204"/>
          </a:xfrm>
          <a:prstGeom prst="line">
            <a:avLst/>
          </a:prstGeom>
          <a:noFill/>
          <a:ln w="15875">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346" name="Text Box 126"/>
          <p:cNvSpPr txBox="1">
            <a:spLocks noChangeArrowheads="1"/>
          </p:cNvSpPr>
          <p:nvPr/>
        </p:nvSpPr>
        <p:spPr bwMode="gray">
          <a:xfrm>
            <a:off x="3275856" y="2242319"/>
            <a:ext cx="576064" cy="538609"/>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Plug In </a:t>
            </a:r>
          </a:p>
          <a:p>
            <a:pPr defTabSz="514230" eaLnBrk="0" fontAlgn="base" hangingPunct="0">
              <a:spcBef>
                <a:spcPct val="0"/>
              </a:spcBef>
              <a:spcAft>
                <a:spcPct val="0"/>
              </a:spcAft>
            </a:pPr>
            <a:r>
              <a:rPr lang="en-US" sz="700" dirty="0" smtClean="0">
                <a:solidFill>
                  <a:srgbClr val="646464"/>
                </a:solidFill>
                <a:latin typeface="EYInterstate" pitchFamily="2" charset="0"/>
              </a:rPr>
              <a:t>Testing</a:t>
            </a:r>
          </a:p>
          <a:p>
            <a:pPr defTabSz="514230" eaLnBrk="0" fontAlgn="base" hangingPunct="0">
              <a:spcBef>
                <a:spcPct val="0"/>
              </a:spcBef>
              <a:spcAft>
                <a:spcPct val="0"/>
              </a:spcAft>
            </a:pPr>
            <a:r>
              <a:rPr lang="en-US" sz="700" dirty="0" smtClean="0">
                <a:solidFill>
                  <a:srgbClr val="646464"/>
                </a:solidFill>
                <a:latin typeface="EYInterstate" pitchFamily="2" charset="0"/>
              </a:rPr>
              <a:t>Comp.</a:t>
            </a:r>
          </a:p>
          <a:p>
            <a:pPr defTabSz="514230" eaLnBrk="0" fontAlgn="base" hangingPunct="0">
              <a:spcBef>
                <a:spcPct val="0"/>
              </a:spcBef>
              <a:spcAft>
                <a:spcPct val="0"/>
              </a:spcAft>
            </a:pPr>
            <a:r>
              <a:rPr lang="en-US" sz="700" dirty="0" smtClean="0">
                <a:solidFill>
                  <a:srgbClr val="646464"/>
                </a:solidFill>
                <a:latin typeface="EYInterstate" pitchFamily="2" charset="0"/>
              </a:rPr>
              <a:t>11</a:t>
            </a:r>
            <a:r>
              <a:rPr lang="en-US" sz="700" baseline="30000" dirty="0" smtClean="0">
                <a:solidFill>
                  <a:srgbClr val="646464"/>
                </a:solidFill>
                <a:latin typeface="EYInterstate" pitchFamily="2" charset="0"/>
              </a:rPr>
              <a:t>th</a:t>
            </a:r>
            <a:r>
              <a:rPr lang="en-US" sz="700" dirty="0" smtClean="0">
                <a:solidFill>
                  <a:srgbClr val="646464"/>
                </a:solidFill>
                <a:latin typeface="EYInterstate" pitchFamily="2" charset="0"/>
              </a:rPr>
              <a:t> </a:t>
            </a:r>
          </a:p>
          <a:p>
            <a:pPr defTabSz="514230" eaLnBrk="0" fontAlgn="base" hangingPunct="0">
              <a:spcBef>
                <a:spcPct val="0"/>
              </a:spcBef>
              <a:spcAft>
                <a:spcPct val="0"/>
              </a:spcAft>
            </a:pPr>
            <a:r>
              <a:rPr lang="en-US" sz="700" dirty="0" smtClean="0">
                <a:solidFill>
                  <a:srgbClr val="646464"/>
                </a:solidFill>
                <a:latin typeface="EYInterstate" pitchFamily="2" charset="0"/>
              </a:rPr>
              <a:t>Dec</a:t>
            </a:r>
            <a:endParaRPr lang="en-US" sz="700" dirty="0">
              <a:solidFill>
                <a:srgbClr val="646464"/>
              </a:solidFill>
              <a:latin typeface="EYInterstate" pitchFamily="2"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Rectangle 331"/>
          <p:cNvSpPr/>
          <p:nvPr/>
        </p:nvSpPr>
        <p:spPr bwMode="auto">
          <a:xfrm>
            <a:off x="3635896" y="2492896"/>
            <a:ext cx="576064" cy="1080120"/>
          </a:xfrm>
          <a:prstGeom prst="rect">
            <a:avLst/>
          </a:prstGeom>
          <a:solidFill>
            <a:schemeClr val="accent2">
              <a:lumMod val="40000"/>
              <a:lumOff val="60000"/>
            </a:schemeClr>
          </a:solidFill>
          <a:ln w="9525" cap="flat" cmpd="sng" algn="ctr">
            <a:noFill/>
            <a:prstDash val="solid"/>
            <a:round/>
            <a:headEnd type="none" w="med" len="med"/>
            <a:tailEnd type="none" w="med" len="med"/>
          </a:ln>
          <a:effectLst/>
        </p:spPr>
        <p:txBody>
          <a:bodyPr vert="horz" wrap="none" lIns="91440" tIns="36000" rIns="36000" bIns="45720" numCol="1" rtlCol="0" anchor="t" anchorCtr="0" compatLnSpc="1">
            <a:prstTxWarp prst="textNoShape">
              <a:avLst/>
            </a:prstTxWarp>
          </a:bodyPr>
          <a:lstStyle/>
          <a:p>
            <a:pPr algn="ctr" fontAlgn="base">
              <a:spcBef>
                <a:spcPct val="0"/>
              </a:spcBef>
              <a:spcAft>
                <a:spcPct val="0"/>
              </a:spcAft>
            </a:pPr>
            <a:endParaRPr lang="en-GB" sz="800" b="1" dirty="0" smtClean="0">
              <a:latin typeface="Arial" charset="0"/>
            </a:endParaRPr>
          </a:p>
          <a:p>
            <a:pPr algn="ctr" fontAlgn="base">
              <a:spcBef>
                <a:spcPct val="0"/>
              </a:spcBef>
              <a:spcAft>
                <a:spcPct val="0"/>
              </a:spcAft>
            </a:pPr>
            <a:endParaRPr lang="en-GB" sz="800" b="1" dirty="0" smtClean="0">
              <a:latin typeface="Arial" charset="0"/>
            </a:endParaRPr>
          </a:p>
          <a:p>
            <a:pPr algn="ctr" fontAlgn="base">
              <a:spcBef>
                <a:spcPct val="0"/>
              </a:spcBef>
              <a:spcAft>
                <a:spcPct val="0"/>
              </a:spcAft>
            </a:pPr>
            <a:endParaRPr lang="en-GB" sz="800" b="1" dirty="0" smtClean="0"/>
          </a:p>
          <a:p>
            <a:pPr algn="ctr" fontAlgn="base">
              <a:spcBef>
                <a:spcPct val="0"/>
              </a:spcBef>
              <a:spcAft>
                <a:spcPct val="0"/>
              </a:spcAft>
            </a:pPr>
            <a:endParaRPr lang="en-GB" sz="800" b="1" dirty="0" smtClean="0">
              <a:latin typeface="Arial" charset="0"/>
            </a:endParaRPr>
          </a:p>
          <a:p>
            <a:pPr algn="ctr" fontAlgn="base">
              <a:spcBef>
                <a:spcPct val="0"/>
              </a:spcBef>
              <a:spcAft>
                <a:spcPct val="0"/>
              </a:spcAft>
            </a:pPr>
            <a:endParaRPr lang="en-GB" sz="800" b="1" dirty="0" smtClean="0">
              <a:latin typeface="Arial" charset="0"/>
            </a:endParaRPr>
          </a:p>
          <a:p>
            <a:pPr algn="ctr" fontAlgn="base">
              <a:spcBef>
                <a:spcPct val="0"/>
              </a:spcBef>
              <a:spcAft>
                <a:spcPct val="0"/>
              </a:spcAft>
            </a:pPr>
            <a:r>
              <a:rPr lang="en-GB" sz="800" b="1" dirty="0" smtClean="0">
                <a:latin typeface="Arial" charset="0"/>
              </a:rPr>
              <a:t>UAT</a:t>
            </a:r>
          </a:p>
        </p:txBody>
      </p:sp>
      <p:sp>
        <p:nvSpPr>
          <p:cNvPr id="349" name="Rectangle 348"/>
          <p:cNvSpPr/>
          <p:nvPr/>
        </p:nvSpPr>
        <p:spPr bwMode="auto">
          <a:xfrm>
            <a:off x="4572000" y="404664"/>
            <a:ext cx="1476164" cy="6264696"/>
          </a:xfrm>
          <a:prstGeom prst="rect">
            <a:avLst/>
          </a:prstGeom>
          <a:solidFill>
            <a:schemeClr val="bg1">
              <a:lumMod val="75000"/>
              <a:alpha val="25000"/>
            </a:schemeClr>
          </a:solidFill>
          <a:ln w="3175" cap="flat" cmpd="sng" algn="ctr">
            <a:solidFill>
              <a:schemeClr val="accent1"/>
            </a:solidFill>
            <a:prstDash val="lgDash"/>
            <a:round/>
            <a:headEnd type="none" w="med" len="med"/>
            <a:tailEnd type="none" w="med" len="med"/>
          </a:ln>
          <a:effectLst/>
        </p:spPr>
        <p:txBody>
          <a:bodyPr vert="horz" wrap="none" lIns="0" tIns="0" rIns="0" bIns="0" numCol="1" rtlCol="0" anchor="t" anchorCtr="0" compatLnSpc="1">
            <a:prstTxWarp prst="textNoShape">
              <a:avLst/>
            </a:prstTxWarp>
          </a:bodyPr>
          <a:lstStyle/>
          <a:p>
            <a:pPr algn="ctr"/>
            <a:endParaRPr lang="en-GB" sz="1000" b="1" dirty="0" smtClean="0"/>
          </a:p>
          <a:p>
            <a:pPr algn="ctr"/>
            <a:endParaRPr lang="en-GB" sz="900" b="1" dirty="0" smtClean="0"/>
          </a:p>
          <a:p>
            <a:pPr algn="ctr"/>
            <a:endParaRPr lang="en-GB" sz="900" b="1" dirty="0" smtClean="0"/>
          </a:p>
          <a:p>
            <a:pPr algn="ctr"/>
            <a:endParaRPr lang="en-GB" sz="900" b="1" dirty="0" smtClean="0"/>
          </a:p>
          <a:p>
            <a:pPr algn="ctr"/>
            <a:r>
              <a:rPr lang="en-GB" sz="900" b="1" dirty="0" smtClean="0"/>
              <a:t>GENERAL </a:t>
            </a:r>
          </a:p>
          <a:p>
            <a:pPr algn="ctr"/>
            <a:endParaRPr lang="en-GB" sz="900" b="1" dirty="0" smtClean="0"/>
          </a:p>
          <a:p>
            <a:pPr algn="ctr"/>
            <a:r>
              <a:rPr lang="en-GB" sz="900" b="1" dirty="0" smtClean="0"/>
              <a:t>BLACKOUT PERIOD</a:t>
            </a:r>
          </a:p>
          <a:p>
            <a:pPr algn="ctr"/>
            <a:endParaRPr lang="en-GB" sz="900" b="1" dirty="0" smtClean="0"/>
          </a:p>
          <a:p>
            <a:pPr algn="ctr"/>
            <a:endParaRPr lang="en-GB" sz="600" b="1" dirty="0" smtClean="0"/>
          </a:p>
          <a:p>
            <a:pPr algn="ctr">
              <a:spcBef>
                <a:spcPts val="0"/>
              </a:spcBef>
            </a:pPr>
            <a:r>
              <a:rPr lang="en-GB" sz="800" b="1" dirty="0" smtClean="0"/>
              <a:t>Europe except Africa &amp; ME</a:t>
            </a:r>
            <a:endParaRPr lang="en-GB" sz="600" b="1" dirty="0" smtClean="0"/>
          </a:p>
          <a:p>
            <a:pPr algn="ctr">
              <a:spcBef>
                <a:spcPts val="0"/>
              </a:spcBef>
            </a:pPr>
            <a:r>
              <a:rPr lang="en-GB" sz="800" b="1" dirty="0" smtClean="0"/>
              <a:t>AsiaPac except ASEAN</a:t>
            </a:r>
            <a:endParaRPr lang="en-GB" sz="600" b="1" dirty="0" smtClean="0"/>
          </a:p>
          <a:p>
            <a:pPr algn="ctr">
              <a:spcBef>
                <a:spcPts val="0"/>
              </a:spcBef>
            </a:pPr>
            <a:r>
              <a:rPr lang="en-GB" sz="800" b="1" dirty="0" smtClean="0"/>
              <a:t>US, Canada, SASA</a:t>
            </a:r>
          </a:p>
          <a:p>
            <a:pPr algn="ctr"/>
            <a:endParaRPr kumimoji="0" lang="en-GB" sz="600" b="0" i="0" u="none" strike="noStrike" cap="none" normalizeH="0" baseline="0" dirty="0" smtClean="0">
              <a:ln>
                <a:noFill/>
              </a:ln>
              <a:solidFill>
                <a:schemeClr val="tx1"/>
              </a:solidFill>
              <a:effectLst/>
              <a:latin typeface="Arial" charset="0"/>
            </a:endParaRPr>
          </a:p>
        </p:txBody>
      </p:sp>
      <p:sp>
        <p:nvSpPr>
          <p:cNvPr id="191" name="Rectangle 190"/>
          <p:cNvSpPr/>
          <p:nvPr/>
        </p:nvSpPr>
        <p:spPr bwMode="auto">
          <a:xfrm>
            <a:off x="3635896" y="3573016"/>
            <a:ext cx="576064" cy="1080120"/>
          </a:xfrm>
          <a:prstGeom prst="rect">
            <a:avLst/>
          </a:prstGeom>
          <a:solidFill>
            <a:schemeClr val="accent2">
              <a:lumMod val="40000"/>
              <a:lumOff val="60000"/>
            </a:schemeClr>
          </a:solidFill>
          <a:ln w="9525" cap="flat" cmpd="sng" algn="ctr">
            <a:noFill/>
            <a:prstDash val="solid"/>
            <a:round/>
            <a:headEnd type="none" w="med" len="med"/>
            <a:tailEnd type="none" w="med" len="med"/>
          </a:ln>
          <a:effectLst/>
        </p:spPr>
        <p:txBody>
          <a:bodyPr vert="horz" wrap="none" lIns="91440" tIns="36000" rIns="36000" bIns="45720" numCol="1" rtlCol="0" anchor="t" anchorCtr="0" compatLnSpc="1">
            <a:prstTxWarp prst="textNoShape">
              <a:avLst/>
            </a:prstTxWarp>
          </a:bodyPr>
          <a:lstStyle/>
          <a:p>
            <a:pPr algn="ctr" fontAlgn="base">
              <a:spcBef>
                <a:spcPct val="0"/>
              </a:spcBef>
              <a:spcAft>
                <a:spcPct val="0"/>
              </a:spcAft>
            </a:pPr>
            <a:endParaRPr lang="en-GB" sz="800" b="1" dirty="0" smtClean="0">
              <a:latin typeface="Arial" charset="0"/>
            </a:endParaRPr>
          </a:p>
          <a:p>
            <a:pPr algn="ctr" fontAlgn="base">
              <a:spcBef>
                <a:spcPct val="0"/>
              </a:spcBef>
              <a:spcAft>
                <a:spcPct val="0"/>
              </a:spcAft>
            </a:pPr>
            <a:endParaRPr lang="en-GB" sz="800" b="1" dirty="0" smtClean="0">
              <a:latin typeface="Arial" charset="0"/>
            </a:endParaRPr>
          </a:p>
          <a:p>
            <a:pPr algn="ctr" fontAlgn="base">
              <a:spcBef>
                <a:spcPct val="0"/>
              </a:spcBef>
              <a:spcAft>
                <a:spcPct val="0"/>
              </a:spcAft>
            </a:pPr>
            <a:endParaRPr lang="en-GB" sz="800" b="1" dirty="0" smtClean="0">
              <a:latin typeface="Arial" charset="0"/>
            </a:endParaRPr>
          </a:p>
        </p:txBody>
      </p:sp>
      <p:sp>
        <p:nvSpPr>
          <p:cNvPr id="123" name="Rectangle 122"/>
          <p:cNvSpPr/>
          <p:nvPr/>
        </p:nvSpPr>
        <p:spPr bwMode="auto">
          <a:xfrm>
            <a:off x="6701308" y="512676"/>
            <a:ext cx="2406198" cy="1260140"/>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grpSp>
        <p:nvGrpSpPr>
          <p:cNvPr id="2" name="Group 216"/>
          <p:cNvGrpSpPr/>
          <p:nvPr/>
        </p:nvGrpSpPr>
        <p:grpSpPr>
          <a:xfrm>
            <a:off x="179512" y="6600172"/>
            <a:ext cx="8712968" cy="213204"/>
            <a:chOff x="251520" y="6301107"/>
            <a:chExt cx="8712968" cy="213204"/>
          </a:xfrm>
        </p:grpSpPr>
        <p:sp>
          <p:nvSpPr>
            <p:cNvPr id="18" name="Text Box 126"/>
            <p:cNvSpPr txBox="1">
              <a:spLocks noChangeArrowheads="1"/>
            </p:cNvSpPr>
            <p:nvPr/>
          </p:nvSpPr>
          <p:spPr bwMode="gray">
            <a:xfrm>
              <a:off x="287524" y="6406589"/>
              <a:ext cx="396044"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April</a:t>
              </a:r>
              <a:endParaRPr lang="en-US" sz="700" dirty="0">
                <a:solidFill>
                  <a:srgbClr val="646464"/>
                </a:solidFill>
                <a:latin typeface="EYInterstate" pitchFamily="2" charset="0"/>
              </a:endParaRPr>
            </a:p>
          </p:txBody>
        </p:sp>
        <p:sp>
          <p:nvSpPr>
            <p:cNvPr id="19" name="Text Box 126"/>
            <p:cNvSpPr txBox="1">
              <a:spLocks noChangeArrowheads="1"/>
            </p:cNvSpPr>
            <p:nvPr/>
          </p:nvSpPr>
          <p:spPr bwMode="gray">
            <a:xfrm>
              <a:off x="1475656" y="6406589"/>
              <a:ext cx="360040"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July </a:t>
              </a:r>
              <a:endParaRPr lang="en-US" sz="700" dirty="0">
                <a:solidFill>
                  <a:srgbClr val="646464"/>
                </a:solidFill>
                <a:latin typeface="EYInterstate" pitchFamily="2" charset="0"/>
              </a:endParaRPr>
            </a:p>
          </p:txBody>
        </p:sp>
        <p:sp>
          <p:nvSpPr>
            <p:cNvPr id="20" name="Text Box 126"/>
            <p:cNvSpPr txBox="1">
              <a:spLocks noChangeArrowheads="1"/>
            </p:cNvSpPr>
            <p:nvPr/>
          </p:nvSpPr>
          <p:spPr bwMode="gray">
            <a:xfrm>
              <a:off x="2555776" y="6406589"/>
              <a:ext cx="432048"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Oct </a:t>
              </a:r>
              <a:endParaRPr lang="en-US" sz="700" dirty="0">
                <a:solidFill>
                  <a:srgbClr val="646464"/>
                </a:solidFill>
                <a:latin typeface="EYInterstate" pitchFamily="2" charset="0"/>
              </a:endParaRPr>
            </a:p>
          </p:txBody>
        </p:sp>
        <p:sp>
          <p:nvSpPr>
            <p:cNvPr id="21" name="Text Box 126"/>
            <p:cNvSpPr txBox="1">
              <a:spLocks noChangeArrowheads="1"/>
            </p:cNvSpPr>
            <p:nvPr/>
          </p:nvSpPr>
          <p:spPr bwMode="gray">
            <a:xfrm>
              <a:off x="3491880" y="6406589"/>
              <a:ext cx="576064"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Jan 2013</a:t>
              </a:r>
              <a:endParaRPr lang="en-US" sz="700" dirty="0">
                <a:solidFill>
                  <a:srgbClr val="646464"/>
                </a:solidFill>
                <a:latin typeface="EYInterstate" pitchFamily="2" charset="0"/>
              </a:endParaRPr>
            </a:p>
          </p:txBody>
        </p:sp>
        <p:sp>
          <p:nvSpPr>
            <p:cNvPr id="51" name="Text Box 126"/>
            <p:cNvSpPr txBox="1">
              <a:spLocks noChangeArrowheads="1"/>
            </p:cNvSpPr>
            <p:nvPr/>
          </p:nvSpPr>
          <p:spPr bwMode="gray">
            <a:xfrm>
              <a:off x="4716016" y="6406589"/>
              <a:ext cx="504056"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April</a:t>
              </a:r>
              <a:endParaRPr lang="en-US" sz="700" dirty="0">
                <a:solidFill>
                  <a:srgbClr val="646464"/>
                </a:solidFill>
                <a:latin typeface="EYInterstate" pitchFamily="2" charset="0"/>
              </a:endParaRPr>
            </a:p>
          </p:txBody>
        </p:sp>
        <p:grpSp>
          <p:nvGrpSpPr>
            <p:cNvPr id="3" name="Group 153"/>
            <p:cNvGrpSpPr/>
            <p:nvPr/>
          </p:nvGrpSpPr>
          <p:grpSpPr>
            <a:xfrm>
              <a:off x="251520" y="6301107"/>
              <a:ext cx="8712968" cy="116225"/>
              <a:chOff x="323528" y="6309319"/>
              <a:chExt cx="8712968" cy="116225"/>
            </a:xfrm>
          </p:grpSpPr>
          <p:sp>
            <p:nvSpPr>
              <p:cNvPr id="6" name="Line 69"/>
              <p:cNvSpPr>
                <a:spLocks noChangeShapeType="1"/>
              </p:cNvSpPr>
              <p:nvPr/>
            </p:nvSpPr>
            <p:spPr bwMode="gray">
              <a:xfrm>
                <a:off x="323528" y="6407855"/>
                <a:ext cx="8712968" cy="17689"/>
              </a:xfrm>
              <a:prstGeom prst="line">
                <a:avLst/>
              </a:prstGeom>
              <a:noFill/>
              <a:ln w="38100">
                <a:solidFill>
                  <a:schemeClr val="accent2">
                    <a:lumMod val="40000"/>
                    <a:lumOff val="60000"/>
                  </a:schemeClr>
                </a:solidFill>
                <a:round/>
                <a:headEnd type="diamond" w="med" len="med"/>
                <a:tailEnd type="diamond" w="med" len="med"/>
              </a:ln>
            </p:spPr>
            <p:txBody>
              <a:bodyPr wrap="square"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8" name="Line 75"/>
              <p:cNvSpPr>
                <a:spLocks noChangeShapeType="1"/>
              </p:cNvSpPr>
              <p:nvPr/>
            </p:nvSpPr>
            <p:spPr bwMode="gray">
              <a:xfrm>
                <a:off x="5076056" y="6353536"/>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9" name="Line 76"/>
              <p:cNvSpPr>
                <a:spLocks noChangeShapeType="1"/>
              </p:cNvSpPr>
              <p:nvPr/>
            </p:nvSpPr>
            <p:spPr bwMode="gray">
              <a:xfrm>
                <a:off x="6156176" y="6353536"/>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0" name="Line 96"/>
              <p:cNvSpPr>
                <a:spLocks noChangeShapeType="1"/>
              </p:cNvSpPr>
              <p:nvPr/>
            </p:nvSpPr>
            <p:spPr bwMode="gray">
              <a:xfrm>
                <a:off x="7236296" y="6363357"/>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1" name="Line 97"/>
              <p:cNvSpPr>
                <a:spLocks noChangeShapeType="1"/>
              </p:cNvSpPr>
              <p:nvPr/>
            </p:nvSpPr>
            <p:spPr bwMode="gray">
              <a:xfrm>
                <a:off x="3203848" y="6353536"/>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46" name="Line 96"/>
              <p:cNvSpPr>
                <a:spLocks noChangeShapeType="1"/>
              </p:cNvSpPr>
              <p:nvPr/>
            </p:nvSpPr>
            <p:spPr bwMode="gray">
              <a:xfrm>
                <a:off x="9036496" y="6309321"/>
                <a:ext cx="0" cy="108012"/>
              </a:xfrm>
              <a:prstGeom prst="line">
                <a:avLst/>
              </a:prstGeom>
              <a:noFill/>
              <a:ln w="28575">
                <a:solidFill>
                  <a:srgbClr val="5F5F5F"/>
                </a:solidFill>
                <a:round/>
                <a:headEnd type="none" w="sm" len="sm"/>
                <a:tailEnd type="none" w="sm" len="sm"/>
              </a:ln>
            </p:spPr>
            <p:txBody>
              <a:bodyPr wrap="square"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50" name="Line 96"/>
              <p:cNvSpPr>
                <a:spLocks noChangeShapeType="1"/>
              </p:cNvSpPr>
              <p:nvPr/>
            </p:nvSpPr>
            <p:spPr bwMode="gray">
              <a:xfrm>
                <a:off x="323528" y="6309319"/>
                <a:ext cx="0" cy="108013"/>
              </a:xfrm>
              <a:prstGeom prst="line">
                <a:avLst/>
              </a:prstGeom>
              <a:noFill/>
              <a:ln w="28575">
                <a:solidFill>
                  <a:srgbClr val="5F5F5F"/>
                </a:solidFill>
                <a:round/>
                <a:headEnd type="none" w="sm" len="sm"/>
                <a:tailEnd type="none" w="sm" len="sm"/>
              </a:ln>
            </p:spPr>
            <p:txBody>
              <a:bodyPr wrap="square" lIns="92053" tIns="46028" rIns="92053" bIns="46028">
                <a:spAutoFit/>
              </a:bodyPr>
              <a:lstStyle/>
              <a:p>
                <a:pPr algn="ctr" fontAlgn="base">
                  <a:spcBef>
                    <a:spcPct val="0"/>
                  </a:spcBef>
                  <a:spcAft>
                    <a:spcPct val="0"/>
                  </a:spcAft>
                </a:pPr>
                <a:endParaRPr lang="en-GB" sz="700" dirty="0">
                  <a:solidFill>
                    <a:srgbClr val="646464"/>
                  </a:solidFill>
                </a:endParaRPr>
              </a:p>
            </p:txBody>
          </p:sp>
        </p:grpSp>
        <p:sp>
          <p:nvSpPr>
            <p:cNvPr id="157" name="Text Box 126"/>
            <p:cNvSpPr txBox="1">
              <a:spLocks noChangeArrowheads="1"/>
            </p:cNvSpPr>
            <p:nvPr/>
          </p:nvSpPr>
          <p:spPr bwMode="gray">
            <a:xfrm>
              <a:off x="5796136" y="6406299"/>
              <a:ext cx="720080"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July</a:t>
              </a:r>
              <a:endParaRPr lang="en-US" sz="700" dirty="0">
                <a:solidFill>
                  <a:srgbClr val="646464"/>
                </a:solidFill>
                <a:latin typeface="EYInterstate" pitchFamily="2" charset="0"/>
              </a:endParaRPr>
            </a:p>
          </p:txBody>
        </p:sp>
        <p:sp>
          <p:nvSpPr>
            <p:cNvPr id="168" name="Line 75"/>
            <p:cNvSpPr>
              <a:spLocks noChangeShapeType="1"/>
            </p:cNvSpPr>
            <p:nvPr/>
          </p:nvSpPr>
          <p:spPr bwMode="gray">
            <a:xfrm>
              <a:off x="68356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69" name="Line 75"/>
            <p:cNvSpPr>
              <a:spLocks noChangeShapeType="1"/>
            </p:cNvSpPr>
            <p:nvPr/>
          </p:nvSpPr>
          <p:spPr bwMode="gray">
            <a:xfrm>
              <a:off x="104360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72" name="Line 96"/>
            <p:cNvSpPr>
              <a:spLocks noChangeShapeType="1"/>
            </p:cNvSpPr>
            <p:nvPr/>
          </p:nvSpPr>
          <p:spPr bwMode="gray">
            <a:xfrm>
              <a:off x="1403648" y="6309319"/>
              <a:ext cx="0" cy="108013"/>
            </a:xfrm>
            <a:prstGeom prst="line">
              <a:avLst/>
            </a:prstGeom>
            <a:noFill/>
            <a:ln w="28575">
              <a:solidFill>
                <a:srgbClr val="5F5F5F"/>
              </a:solidFill>
              <a:round/>
              <a:headEnd type="none" w="sm" len="sm"/>
              <a:tailEnd type="none" w="sm" len="sm"/>
            </a:ln>
          </p:spPr>
          <p:txBody>
            <a:bodyPr wrap="square"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73" name="Line 75"/>
            <p:cNvSpPr>
              <a:spLocks noChangeShapeType="1"/>
            </p:cNvSpPr>
            <p:nvPr/>
          </p:nvSpPr>
          <p:spPr bwMode="gray">
            <a:xfrm>
              <a:off x="176368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85" name="Line 75"/>
            <p:cNvSpPr>
              <a:spLocks noChangeShapeType="1"/>
            </p:cNvSpPr>
            <p:nvPr/>
          </p:nvSpPr>
          <p:spPr bwMode="gray">
            <a:xfrm>
              <a:off x="212372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86" name="Line 75"/>
            <p:cNvSpPr>
              <a:spLocks noChangeShapeType="1"/>
            </p:cNvSpPr>
            <p:nvPr/>
          </p:nvSpPr>
          <p:spPr bwMode="gray">
            <a:xfrm>
              <a:off x="284380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87" name="Line 96"/>
            <p:cNvSpPr>
              <a:spLocks noChangeShapeType="1"/>
            </p:cNvSpPr>
            <p:nvPr/>
          </p:nvSpPr>
          <p:spPr bwMode="gray">
            <a:xfrm>
              <a:off x="2483768" y="6309319"/>
              <a:ext cx="0" cy="108013"/>
            </a:xfrm>
            <a:prstGeom prst="line">
              <a:avLst/>
            </a:prstGeom>
            <a:noFill/>
            <a:ln w="28575">
              <a:solidFill>
                <a:srgbClr val="5F5F5F"/>
              </a:solidFill>
              <a:round/>
              <a:headEnd type="none" w="sm" len="sm"/>
              <a:tailEnd type="none" w="sm" len="sm"/>
            </a:ln>
          </p:spPr>
          <p:txBody>
            <a:bodyPr wrap="square"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97" name="Line 96"/>
            <p:cNvSpPr>
              <a:spLocks noChangeShapeType="1"/>
            </p:cNvSpPr>
            <p:nvPr/>
          </p:nvSpPr>
          <p:spPr bwMode="gray">
            <a:xfrm>
              <a:off x="3563888" y="6309320"/>
              <a:ext cx="0" cy="108013"/>
            </a:xfrm>
            <a:prstGeom prst="line">
              <a:avLst/>
            </a:prstGeom>
            <a:noFill/>
            <a:ln w="28575">
              <a:solidFill>
                <a:srgbClr val="5F5F5F"/>
              </a:solidFill>
              <a:round/>
              <a:headEnd type="none" w="sm" len="sm"/>
              <a:tailEnd type="none" w="sm" len="sm"/>
            </a:ln>
          </p:spPr>
          <p:txBody>
            <a:bodyPr wrap="square"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199" name="Line 97"/>
            <p:cNvSpPr>
              <a:spLocks noChangeShapeType="1"/>
            </p:cNvSpPr>
            <p:nvPr/>
          </p:nvSpPr>
          <p:spPr bwMode="gray">
            <a:xfrm>
              <a:off x="392392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00" name="Line 97"/>
            <p:cNvSpPr>
              <a:spLocks noChangeShapeType="1"/>
            </p:cNvSpPr>
            <p:nvPr/>
          </p:nvSpPr>
          <p:spPr bwMode="gray">
            <a:xfrm>
              <a:off x="428396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01" name="Line 96"/>
            <p:cNvSpPr>
              <a:spLocks noChangeShapeType="1"/>
            </p:cNvSpPr>
            <p:nvPr/>
          </p:nvSpPr>
          <p:spPr bwMode="gray">
            <a:xfrm>
              <a:off x="4644008" y="6309319"/>
              <a:ext cx="0" cy="108013"/>
            </a:xfrm>
            <a:prstGeom prst="line">
              <a:avLst/>
            </a:prstGeom>
            <a:noFill/>
            <a:ln w="28575">
              <a:solidFill>
                <a:srgbClr val="5F5F5F"/>
              </a:solidFill>
              <a:round/>
              <a:headEnd type="none" w="sm" len="sm"/>
              <a:tailEnd type="none" w="sm" len="sm"/>
            </a:ln>
          </p:spPr>
          <p:txBody>
            <a:bodyPr wrap="square"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02" name="Line 75"/>
            <p:cNvSpPr>
              <a:spLocks noChangeShapeType="1"/>
            </p:cNvSpPr>
            <p:nvPr/>
          </p:nvSpPr>
          <p:spPr bwMode="gray">
            <a:xfrm>
              <a:off x="536408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03" name="Line 96"/>
            <p:cNvSpPr>
              <a:spLocks noChangeShapeType="1"/>
            </p:cNvSpPr>
            <p:nvPr/>
          </p:nvSpPr>
          <p:spPr bwMode="gray">
            <a:xfrm>
              <a:off x="5724128" y="6309319"/>
              <a:ext cx="0" cy="108013"/>
            </a:xfrm>
            <a:prstGeom prst="line">
              <a:avLst/>
            </a:prstGeom>
            <a:noFill/>
            <a:ln w="28575">
              <a:solidFill>
                <a:srgbClr val="5F5F5F"/>
              </a:solidFill>
              <a:round/>
              <a:headEnd type="none" w="sm" len="sm"/>
              <a:tailEnd type="none" w="sm" len="sm"/>
            </a:ln>
          </p:spPr>
          <p:txBody>
            <a:bodyPr wrap="square"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07" name="Line 76"/>
            <p:cNvSpPr>
              <a:spLocks noChangeShapeType="1"/>
            </p:cNvSpPr>
            <p:nvPr/>
          </p:nvSpPr>
          <p:spPr bwMode="gray">
            <a:xfrm>
              <a:off x="644420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08" name="Line 96"/>
            <p:cNvSpPr>
              <a:spLocks noChangeShapeType="1"/>
            </p:cNvSpPr>
            <p:nvPr/>
          </p:nvSpPr>
          <p:spPr bwMode="gray">
            <a:xfrm>
              <a:off x="6804248" y="6309319"/>
              <a:ext cx="0" cy="108013"/>
            </a:xfrm>
            <a:prstGeom prst="line">
              <a:avLst/>
            </a:prstGeom>
            <a:noFill/>
            <a:ln w="28575">
              <a:solidFill>
                <a:srgbClr val="5F5F5F"/>
              </a:solidFill>
              <a:round/>
              <a:headEnd type="none" w="sm" len="sm"/>
              <a:tailEnd type="none" w="sm" len="sm"/>
            </a:ln>
          </p:spPr>
          <p:txBody>
            <a:bodyPr wrap="square"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09" name="Line 76"/>
            <p:cNvSpPr>
              <a:spLocks noChangeShapeType="1"/>
            </p:cNvSpPr>
            <p:nvPr/>
          </p:nvSpPr>
          <p:spPr bwMode="gray">
            <a:xfrm>
              <a:off x="752432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11" name="Line 96"/>
            <p:cNvSpPr>
              <a:spLocks noChangeShapeType="1"/>
            </p:cNvSpPr>
            <p:nvPr/>
          </p:nvSpPr>
          <p:spPr bwMode="gray">
            <a:xfrm>
              <a:off x="7884368" y="6309320"/>
              <a:ext cx="0" cy="108013"/>
            </a:xfrm>
            <a:prstGeom prst="line">
              <a:avLst/>
            </a:prstGeom>
            <a:noFill/>
            <a:ln w="28575">
              <a:solidFill>
                <a:srgbClr val="5F5F5F"/>
              </a:solidFill>
              <a:round/>
              <a:headEnd type="none" w="sm" len="sm"/>
              <a:tailEnd type="none" w="sm" len="sm"/>
            </a:ln>
          </p:spPr>
          <p:txBody>
            <a:bodyPr wrap="square"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12" name="Line 76"/>
            <p:cNvSpPr>
              <a:spLocks noChangeShapeType="1"/>
            </p:cNvSpPr>
            <p:nvPr/>
          </p:nvSpPr>
          <p:spPr bwMode="gray">
            <a:xfrm>
              <a:off x="824440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13" name="Line 76"/>
            <p:cNvSpPr>
              <a:spLocks noChangeShapeType="1"/>
            </p:cNvSpPr>
            <p:nvPr/>
          </p:nvSpPr>
          <p:spPr bwMode="gray">
            <a:xfrm>
              <a:off x="8604448" y="6345324"/>
              <a:ext cx="0" cy="53975"/>
            </a:xfrm>
            <a:prstGeom prst="line">
              <a:avLst/>
            </a:prstGeom>
            <a:noFill/>
            <a:ln w="28575">
              <a:solidFill>
                <a:srgbClr val="5F5F5F"/>
              </a:solidFill>
              <a:round/>
              <a:headEnd type="none" w="sm" len="sm"/>
              <a:tailEnd type="none" w="sm" len="sm"/>
            </a:ln>
          </p:spPr>
          <p:txBody>
            <a:bodyPr lIns="92053" tIns="46028" rIns="92053" bIns="46028">
              <a:spAutoFit/>
            </a:bodyPr>
            <a:lstStyle/>
            <a:p>
              <a:pPr algn="ctr" fontAlgn="base">
                <a:spcBef>
                  <a:spcPct val="0"/>
                </a:spcBef>
                <a:spcAft>
                  <a:spcPct val="0"/>
                </a:spcAft>
              </a:pPr>
              <a:endParaRPr lang="en-GB" sz="700" dirty="0">
                <a:solidFill>
                  <a:srgbClr val="646464"/>
                </a:solidFill>
              </a:endParaRPr>
            </a:p>
          </p:txBody>
        </p:sp>
        <p:sp>
          <p:nvSpPr>
            <p:cNvPr id="215" name="Text Box 126"/>
            <p:cNvSpPr txBox="1">
              <a:spLocks noChangeArrowheads="1"/>
            </p:cNvSpPr>
            <p:nvPr/>
          </p:nvSpPr>
          <p:spPr bwMode="gray">
            <a:xfrm>
              <a:off x="6889576" y="6406589"/>
              <a:ext cx="418728"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Oct </a:t>
              </a:r>
              <a:endParaRPr lang="en-US" sz="700" dirty="0">
                <a:solidFill>
                  <a:srgbClr val="646464"/>
                </a:solidFill>
                <a:latin typeface="EYInterstate" pitchFamily="2" charset="0"/>
              </a:endParaRPr>
            </a:p>
          </p:txBody>
        </p:sp>
        <p:sp>
          <p:nvSpPr>
            <p:cNvPr id="216" name="Text Box 126"/>
            <p:cNvSpPr txBox="1">
              <a:spLocks noChangeArrowheads="1"/>
            </p:cNvSpPr>
            <p:nvPr/>
          </p:nvSpPr>
          <p:spPr bwMode="gray">
            <a:xfrm>
              <a:off x="7848364" y="6406589"/>
              <a:ext cx="612068"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Jan 2014</a:t>
              </a:r>
              <a:endParaRPr lang="en-US" sz="700" dirty="0">
                <a:solidFill>
                  <a:srgbClr val="646464"/>
                </a:solidFill>
                <a:latin typeface="EYInterstate" pitchFamily="2" charset="0"/>
              </a:endParaRPr>
            </a:p>
          </p:txBody>
        </p:sp>
      </p:grpSp>
      <p:cxnSp>
        <p:nvCxnSpPr>
          <p:cNvPr id="219" name="Straight Connector 218"/>
          <p:cNvCxnSpPr/>
          <p:nvPr/>
        </p:nvCxnSpPr>
        <p:spPr bwMode="auto">
          <a:xfrm>
            <a:off x="71500" y="6597352"/>
            <a:ext cx="8892988" cy="0"/>
          </a:xfrm>
          <a:prstGeom prst="line">
            <a:avLst/>
          </a:prstGeom>
          <a:solidFill>
            <a:schemeClr val="accent2"/>
          </a:solidFill>
          <a:ln w="15875" cap="flat" cmpd="sng" algn="ctr">
            <a:solidFill>
              <a:schemeClr val="bg2"/>
            </a:solidFill>
            <a:prstDash val="dash"/>
            <a:round/>
            <a:headEnd type="none" w="med" len="med"/>
            <a:tailEnd type="none"/>
          </a:ln>
          <a:effectLst/>
        </p:spPr>
      </p:cxnSp>
      <p:cxnSp>
        <p:nvCxnSpPr>
          <p:cNvPr id="220" name="Straight Connector 219"/>
          <p:cNvCxnSpPr/>
          <p:nvPr/>
        </p:nvCxnSpPr>
        <p:spPr bwMode="auto">
          <a:xfrm flipV="1">
            <a:off x="71500" y="5985284"/>
            <a:ext cx="9072500" cy="1"/>
          </a:xfrm>
          <a:prstGeom prst="line">
            <a:avLst/>
          </a:prstGeom>
          <a:solidFill>
            <a:schemeClr val="accent2"/>
          </a:solidFill>
          <a:ln w="15875" cap="flat" cmpd="sng" algn="ctr">
            <a:solidFill>
              <a:schemeClr val="bg2"/>
            </a:solidFill>
            <a:prstDash val="dash"/>
            <a:round/>
            <a:headEnd type="none" w="med" len="med"/>
            <a:tailEnd type="none"/>
          </a:ln>
          <a:effectLst/>
        </p:spPr>
      </p:cxnSp>
      <p:cxnSp>
        <p:nvCxnSpPr>
          <p:cNvPr id="222" name="Straight Connector 221"/>
          <p:cNvCxnSpPr/>
          <p:nvPr/>
        </p:nvCxnSpPr>
        <p:spPr bwMode="auto">
          <a:xfrm>
            <a:off x="71500" y="1124744"/>
            <a:ext cx="9072500" cy="0"/>
          </a:xfrm>
          <a:prstGeom prst="line">
            <a:avLst/>
          </a:prstGeom>
          <a:solidFill>
            <a:schemeClr val="accent2"/>
          </a:solidFill>
          <a:ln w="15875" cap="flat" cmpd="sng" algn="ctr">
            <a:solidFill>
              <a:schemeClr val="bg2"/>
            </a:solidFill>
            <a:prstDash val="dash"/>
            <a:round/>
            <a:headEnd type="none" w="med" len="med"/>
            <a:tailEnd type="none"/>
          </a:ln>
          <a:effectLst/>
        </p:spPr>
      </p:cxnSp>
      <p:sp>
        <p:nvSpPr>
          <p:cNvPr id="224" name="TextBox 223"/>
          <p:cNvSpPr txBox="1"/>
          <p:nvPr/>
        </p:nvSpPr>
        <p:spPr>
          <a:xfrm>
            <a:off x="-41233" y="5949860"/>
            <a:ext cx="1588897" cy="215444"/>
          </a:xfrm>
          <a:prstGeom prst="rect">
            <a:avLst/>
          </a:prstGeom>
          <a:noFill/>
        </p:spPr>
        <p:txBody>
          <a:bodyPr wrap="none" rtlCol="0">
            <a:spAutoFit/>
          </a:bodyPr>
          <a:lstStyle/>
          <a:p>
            <a:r>
              <a:rPr lang="en-GB" sz="800" b="1" dirty="0" smtClean="0"/>
              <a:t>Application &amp; Data Migration</a:t>
            </a:r>
            <a:endParaRPr lang="en-GB" sz="800" b="1" dirty="0"/>
          </a:p>
        </p:txBody>
      </p:sp>
      <p:sp>
        <p:nvSpPr>
          <p:cNvPr id="225" name="TextBox 224"/>
          <p:cNvSpPr txBox="1"/>
          <p:nvPr/>
        </p:nvSpPr>
        <p:spPr>
          <a:xfrm>
            <a:off x="-94132" y="4653716"/>
            <a:ext cx="1641796" cy="215444"/>
          </a:xfrm>
          <a:prstGeom prst="rect">
            <a:avLst/>
          </a:prstGeom>
          <a:noFill/>
        </p:spPr>
        <p:txBody>
          <a:bodyPr wrap="none" rtlCol="0">
            <a:spAutoFit/>
          </a:bodyPr>
          <a:lstStyle/>
          <a:p>
            <a:r>
              <a:rPr lang="en-GB" sz="800" b="1" dirty="0" smtClean="0"/>
              <a:t>SharePoint – </a:t>
            </a:r>
            <a:r>
              <a:rPr lang="en-GB" sz="800" b="1" dirty="0" smtClean="0">
                <a:solidFill>
                  <a:srgbClr val="FF0000"/>
                </a:solidFill>
              </a:rPr>
              <a:t>UNDER REVIEW</a:t>
            </a:r>
            <a:endParaRPr lang="en-GB" sz="800" b="1" dirty="0">
              <a:solidFill>
                <a:srgbClr val="FF0000"/>
              </a:solidFill>
            </a:endParaRPr>
          </a:p>
        </p:txBody>
      </p:sp>
      <p:sp>
        <p:nvSpPr>
          <p:cNvPr id="226" name="TextBox 225"/>
          <p:cNvSpPr txBox="1"/>
          <p:nvPr/>
        </p:nvSpPr>
        <p:spPr>
          <a:xfrm>
            <a:off x="-29580" y="1089320"/>
            <a:ext cx="425116" cy="215444"/>
          </a:xfrm>
          <a:prstGeom prst="rect">
            <a:avLst/>
          </a:prstGeom>
          <a:noFill/>
        </p:spPr>
        <p:txBody>
          <a:bodyPr wrap="none" rtlCol="0">
            <a:spAutoFit/>
          </a:bodyPr>
          <a:lstStyle/>
          <a:p>
            <a:r>
              <a:rPr lang="en-GB" sz="800" b="1" dirty="0" smtClean="0"/>
              <a:t>Lync</a:t>
            </a:r>
            <a:endParaRPr lang="en-GB" sz="800" b="1" dirty="0"/>
          </a:p>
        </p:txBody>
      </p:sp>
      <p:sp>
        <p:nvSpPr>
          <p:cNvPr id="231" name="TextBox 230"/>
          <p:cNvSpPr txBox="1"/>
          <p:nvPr/>
        </p:nvSpPr>
        <p:spPr>
          <a:xfrm>
            <a:off x="-63675" y="2329716"/>
            <a:ext cx="1611339" cy="215444"/>
          </a:xfrm>
          <a:prstGeom prst="rect">
            <a:avLst/>
          </a:prstGeom>
          <a:noFill/>
        </p:spPr>
        <p:txBody>
          <a:bodyPr wrap="none" rtlCol="0">
            <a:spAutoFit/>
          </a:bodyPr>
          <a:lstStyle/>
          <a:p>
            <a:r>
              <a:rPr lang="en-GB" sz="800" b="1" dirty="0" smtClean="0"/>
              <a:t>Exchange (Cloud) &amp; Outlook</a:t>
            </a:r>
            <a:endParaRPr lang="en-GB" sz="800" b="1" dirty="0"/>
          </a:p>
        </p:txBody>
      </p:sp>
      <p:sp>
        <p:nvSpPr>
          <p:cNvPr id="233" name="TextBox 232"/>
          <p:cNvSpPr txBox="1"/>
          <p:nvPr/>
        </p:nvSpPr>
        <p:spPr>
          <a:xfrm>
            <a:off x="-36512" y="189220"/>
            <a:ext cx="1768433" cy="215444"/>
          </a:xfrm>
          <a:prstGeom prst="rect">
            <a:avLst/>
          </a:prstGeom>
          <a:noFill/>
        </p:spPr>
        <p:txBody>
          <a:bodyPr wrap="square" rtlCol="0">
            <a:spAutoFit/>
          </a:bodyPr>
          <a:lstStyle/>
          <a:p>
            <a:r>
              <a:rPr lang="en-GB" sz="800" b="1" dirty="0" smtClean="0"/>
              <a:t>Business Change &amp; Deployment</a:t>
            </a:r>
            <a:endParaRPr lang="en-GB" sz="800" b="1" dirty="0"/>
          </a:p>
        </p:txBody>
      </p:sp>
      <p:cxnSp>
        <p:nvCxnSpPr>
          <p:cNvPr id="236" name="Straight Connector 235"/>
          <p:cNvCxnSpPr/>
          <p:nvPr/>
        </p:nvCxnSpPr>
        <p:spPr bwMode="auto">
          <a:xfrm flipV="1">
            <a:off x="71500" y="2312876"/>
            <a:ext cx="9072500" cy="36004"/>
          </a:xfrm>
          <a:prstGeom prst="line">
            <a:avLst/>
          </a:prstGeom>
          <a:solidFill>
            <a:schemeClr val="accent2"/>
          </a:solidFill>
          <a:ln w="15875" cap="flat" cmpd="sng" algn="ctr">
            <a:solidFill>
              <a:schemeClr val="bg2"/>
            </a:solidFill>
            <a:prstDash val="dash"/>
            <a:round/>
            <a:headEnd type="none" w="med" len="med"/>
            <a:tailEnd type="none"/>
          </a:ln>
          <a:effectLst/>
        </p:spPr>
      </p:cxnSp>
      <p:sp>
        <p:nvSpPr>
          <p:cNvPr id="240" name="Pentagon 239"/>
          <p:cNvSpPr/>
          <p:nvPr/>
        </p:nvSpPr>
        <p:spPr bwMode="auto">
          <a:xfrm>
            <a:off x="179512" y="512676"/>
            <a:ext cx="3168352"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Business Change and Deployment </a:t>
            </a:r>
            <a:endParaRPr lang="en-GB" sz="800" b="1" dirty="0">
              <a:solidFill>
                <a:srgbClr val="646464"/>
              </a:solidFill>
            </a:endParaRPr>
          </a:p>
        </p:txBody>
      </p:sp>
      <p:sp>
        <p:nvSpPr>
          <p:cNvPr id="241" name="Pentagon 240"/>
          <p:cNvSpPr/>
          <p:nvPr/>
        </p:nvSpPr>
        <p:spPr bwMode="auto">
          <a:xfrm>
            <a:off x="179513" y="1420384"/>
            <a:ext cx="432048" cy="208416"/>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Initiate</a:t>
            </a:r>
          </a:p>
          <a:p>
            <a:pPr algn="ctr" fontAlgn="base">
              <a:spcBef>
                <a:spcPct val="0"/>
              </a:spcBef>
              <a:spcAft>
                <a:spcPct val="0"/>
              </a:spcAft>
            </a:pPr>
            <a:r>
              <a:rPr lang="en-GB" sz="800" b="1" dirty="0" smtClean="0">
                <a:solidFill>
                  <a:srgbClr val="646464"/>
                </a:solidFill>
              </a:rPr>
              <a:t>/ Plan</a:t>
            </a:r>
            <a:endParaRPr lang="en-GB" sz="800" b="1" dirty="0">
              <a:solidFill>
                <a:srgbClr val="646464"/>
              </a:solidFill>
            </a:endParaRPr>
          </a:p>
        </p:txBody>
      </p:sp>
      <p:sp>
        <p:nvSpPr>
          <p:cNvPr id="242" name="Pentagon 241"/>
          <p:cNvSpPr/>
          <p:nvPr/>
        </p:nvSpPr>
        <p:spPr bwMode="auto">
          <a:xfrm>
            <a:off x="611560" y="1700228"/>
            <a:ext cx="1044115" cy="103511"/>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Requirements</a:t>
            </a:r>
            <a:endParaRPr lang="en-GB" sz="800" b="1" dirty="0">
              <a:solidFill>
                <a:srgbClr val="646464"/>
              </a:solidFill>
            </a:endParaRPr>
          </a:p>
        </p:txBody>
      </p:sp>
      <p:sp>
        <p:nvSpPr>
          <p:cNvPr id="246" name="5-Point Star 245"/>
          <p:cNvSpPr/>
          <p:nvPr/>
        </p:nvSpPr>
        <p:spPr bwMode="auto">
          <a:xfrm>
            <a:off x="539553" y="2235787"/>
            <a:ext cx="144016" cy="112513"/>
          </a:xfrm>
          <a:prstGeom prst="star5">
            <a:avLst/>
          </a:prstGeom>
          <a:solidFill>
            <a:schemeClr val="accent2"/>
          </a:solidFill>
          <a:ln w="9525" cap="flat" cmpd="sng" algn="ctr">
            <a:solidFill>
              <a:schemeClr val="accent2"/>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cxnSp>
        <p:nvCxnSpPr>
          <p:cNvPr id="247" name="Straight Connector 246"/>
          <p:cNvCxnSpPr/>
          <p:nvPr/>
        </p:nvCxnSpPr>
        <p:spPr bwMode="auto">
          <a:xfrm>
            <a:off x="611561" y="1479703"/>
            <a:ext cx="0" cy="773099"/>
          </a:xfrm>
          <a:prstGeom prst="line">
            <a:avLst/>
          </a:prstGeom>
          <a:solidFill>
            <a:srgbClr val="FF0000"/>
          </a:solidFill>
          <a:ln w="12700" cap="flat" cmpd="sng" algn="ctr">
            <a:solidFill>
              <a:schemeClr val="accent2"/>
            </a:solidFill>
            <a:prstDash val="solid"/>
            <a:round/>
            <a:headEnd type="none" w="med" len="med"/>
            <a:tailEnd type="none"/>
          </a:ln>
          <a:effectLst/>
        </p:spPr>
      </p:cxnSp>
      <p:sp>
        <p:nvSpPr>
          <p:cNvPr id="251" name="TextBox 250"/>
          <p:cNvSpPr txBox="1"/>
          <p:nvPr/>
        </p:nvSpPr>
        <p:spPr>
          <a:xfrm>
            <a:off x="539554" y="1285310"/>
            <a:ext cx="864096" cy="415498"/>
          </a:xfrm>
          <a:prstGeom prst="rect">
            <a:avLst/>
          </a:prstGeom>
          <a:noFill/>
        </p:spPr>
        <p:txBody>
          <a:bodyPr wrap="square" rtlCol="0">
            <a:spAutoFit/>
          </a:bodyPr>
          <a:lstStyle/>
          <a:p>
            <a:pPr algn="l"/>
            <a:r>
              <a:rPr lang="en-GB" sz="700" dirty="0" smtClean="0"/>
              <a:t>Lync Vendor Decision</a:t>
            </a:r>
          </a:p>
          <a:p>
            <a:pPr algn="l"/>
            <a:r>
              <a:rPr lang="en-GB" sz="700" dirty="0" smtClean="0"/>
              <a:t>30</a:t>
            </a:r>
            <a:r>
              <a:rPr lang="en-GB" sz="700" baseline="30000" dirty="0" smtClean="0"/>
              <a:t>th</a:t>
            </a:r>
            <a:r>
              <a:rPr lang="en-GB" sz="700" dirty="0" smtClean="0"/>
              <a:t> April</a:t>
            </a:r>
            <a:endParaRPr lang="en-GB" sz="700" dirty="0"/>
          </a:p>
        </p:txBody>
      </p:sp>
      <p:sp>
        <p:nvSpPr>
          <p:cNvPr id="253" name="Line 125"/>
          <p:cNvSpPr>
            <a:spLocks noChangeShapeType="1"/>
          </p:cNvSpPr>
          <p:nvPr/>
        </p:nvSpPr>
        <p:spPr bwMode="gray">
          <a:xfrm flipH="1" flipV="1">
            <a:off x="1691680" y="1556792"/>
            <a:ext cx="0" cy="720081"/>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54" name="TextBox 253"/>
          <p:cNvSpPr txBox="1"/>
          <p:nvPr/>
        </p:nvSpPr>
        <p:spPr>
          <a:xfrm>
            <a:off x="1619673" y="1501334"/>
            <a:ext cx="1440159" cy="415498"/>
          </a:xfrm>
          <a:prstGeom prst="rect">
            <a:avLst/>
          </a:prstGeom>
          <a:noFill/>
        </p:spPr>
        <p:txBody>
          <a:bodyPr wrap="square" rtlCol="0">
            <a:spAutoFit/>
          </a:bodyPr>
          <a:lstStyle/>
          <a:p>
            <a:pPr algn="l"/>
            <a:r>
              <a:rPr lang="en-GB" sz="700" dirty="0" smtClean="0"/>
              <a:t>30</a:t>
            </a:r>
            <a:r>
              <a:rPr lang="en-GB" sz="700" baseline="30000" dirty="0" smtClean="0"/>
              <a:t>th</a:t>
            </a:r>
            <a:r>
              <a:rPr lang="en-GB" sz="700" dirty="0" smtClean="0"/>
              <a:t> July</a:t>
            </a:r>
          </a:p>
          <a:p>
            <a:pPr algn="l"/>
            <a:r>
              <a:rPr lang="en-GB" sz="700" dirty="0" smtClean="0"/>
              <a:t>Contract</a:t>
            </a:r>
          </a:p>
          <a:p>
            <a:pPr algn="l"/>
            <a:r>
              <a:rPr lang="en-GB" sz="700" dirty="0" smtClean="0"/>
              <a:t> Signed</a:t>
            </a:r>
            <a:endParaRPr lang="en-GB" sz="700" dirty="0"/>
          </a:p>
        </p:txBody>
      </p:sp>
      <p:sp>
        <p:nvSpPr>
          <p:cNvPr id="255" name="Pentagon 254"/>
          <p:cNvSpPr/>
          <p:nvPr/>
        </p:nvSpPr>
        <p:spPr bwMode="auto">
          <a:xfrm>
            <a:off x="719572" y="1839743"/>
            <a:ext cx="1044116" cy="108012"/>
          </a:xfrm>
          <a:prstGeom prst="homePlate">
            <a:avLst/>
          </a:prstGeom>
          <a:gradFill>
            <a:gsLst>
              <a:gs pos="21000">
                <a:schemeClr val="bg1">
                  <a:lumMod val="85000"/>
                </a:schemeClr>
              </a:gs>
              <a:gs pos="50000">
                <a:schemeClr val="accent2"/>
              </a:gs>
              <a:gs pos="100000">
                <a:schemeClr val="accent1">
                  <a:tint val="23500"/>
                  <a:satMod val="160000"/>
                </a:schemeClr>
              </a:gs>
            </a:gsLst>
            <a:lin ang="10800000" scaled="1"/>
          </a:gra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Architecture &amp; Design</a:t>
            </a:r>
            <a:endParaRPr lang="en-GB" sz="800" b="1" dirty="0">
              <a:solidFill>
                <a:srgbClr val="646464"/>
              </a:solidFill>
            </a:endParaRPr>
          </a:p>
        </p:txBody>
      </p:sp>
      <p:sp>
        <p:nvSpPr>
          <p:cNvPr id="256" name="Pentagon 255"/>
          <p:cNvSpPr/>
          <p:nvPr/>
        </p:nvSpPr>
        <p:spPr bwMode="auto">
          <a:xfrm>
            <a:off x="1439824" y="1983759"/>
            <a:ext cx="1548000" cy="108012"/>
          </a:xfrm>
          <a:prstGeom prst="homePlate">
            <a:avLst/>
          </a:prstGeom>
          <a:solidFill>
            <a:schemeClr val="bg1">
              <a:lumMod val="75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Infrastructure Build </a:t>
            </a:r>
            <a:endParaRPr lang="en-GB" sz="800" b="1" dirty="0">
              <a:solidFill>
                <a:srgbClr val="646464"/>
              </a:solidFill>
            </a:endParaRPr>
          </a:p>
        </p:txBody>
      </p:sp>
      <p:sp>
        <p:nvSpPr>
          <p:cNvPr id="257" name="Line 125"/>
          <p:cNvSpPr>
            <a:spLocks noChangeShapeType="1"/>
          </p:cNvSpPr>
          <p:nvPr/>
        </p:nvSpPr>
        <p:spPr bwMode="gray">
          <a:xfrm flipV="1">
            <a:off x="2987824" y="1479703"/>
            <a:ext cx="0" cy="828092"/>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58" name="TextBox 257"/>
          <p:cNvSpPr txBox="1"/>
          <p:nvPr/>
        </p:nvSpPr>
        <p:spPr>
          <a:xfrm>
            <a:off x="2915817" y="1465620"/>
            <a:ext cx="1440159" cy="523220"/>
          </a:xfrm>
          <a:prstGeom prst="rect">
            <a:avLst/>
          </a:prstGeom>
          <a:noFill/>
        </p:spPr>
        <p:txBody>
          <a:bodyPr wrap="square" rtlCol="0">
            <a:spAutoFit/>
          </a:bodyPr>
          <a:lstStyle/>
          <a:p>
            <a:pPr algn="l"/>
            <a:r>
              <a:rPr lang="en-GB" sz="700" dirty="0" smtClean="0"/>
              <a:t>Infrastructure</a:t>
            </a:r>
          </a:p>
          <a:p>
            <a:pPr algn="l"/>
            <a:r>
              <a:rPr lang="en-GB" sz="700" dirty="0" smtClean="0"/>
              <a:t>Complete</a:t>
            </a:r>
          </a:p>
          <a:p>
            <a:pPr algn="l"/>
            <a:r>
              <a:rPr lang="en-GB" sz="700" dirty="0" smtClean="0"/>
              <a:t>15</a:t>
            </a:r>
            <a:r>
              <a:rPr lang="en-GB" sz="700" baseline="30000" dirty="0" smtClean="0"/>
              <a:t>th</a:t>
            </a:r>
            <a:r>
              <a:rPr lang="en-GB" sz="700" dirty="0" smtClean="0"/>
              <a:t> Nov</a:t>
            </a:r>
          </a:p>
          <a:p>
            <a:pPr algn="l"/>
            <a:endParaRPr lang="en-GB" sz="700" dirty="0"/>
          </a:p>
        </p:txBody>
      </p:sp>
      <p:sp>
        <p:nvSpPr>
          <p:cNvPr id="260" name="Text Box 126"/>
          <p:cNvSpPr txBox="1">
            <a:spLocks noChangeArrowheads="1"/>
          </p:cNvSpPr>
          <p:nvPr>
            <p:custDataLst>
              <p:tags r:id="rId1"/>
            </p:custDataLst>
          </p:nvPr>
        </p:nvSpPr>
        <p:spPr bwMode="gray">
          <a:xfrm>
            <a:off x="36004" y="621849"/>
            <a:ext cx="863588" cy="430887"/>
          </a:xfrm>
          <a:prstGeom prst="rect">
            <a:avLst/>
          </a:prstGeom>
          <a:noFill/>
          <a:ln w="9525" algn="ctr">
            <a:noFill/>
            <a:miter lim="800000"/>
            <a:headEnd type="none" w="sm" len="sm"/>
            <a:tailEnd type="none" w="sm" len="sm"/>
          </a:ln>
        </p:spPr>
        <p:txBody>
          <a:bodyPr wrap="square" lIns="26118" tIns="0" rIns="0" bIns="0" anchor="ctr" anchorCtr="0">
            <a:spAutoFit/>
          </a:bodyPr>
          <a:lstStyle/>
          <a:p>
            <a:pPr algn="r" defTabSz="514230" eaLnBrk="0" fontAlgn="base" hangingPunct="0">
              <a:spcBef>
                <a:spcPct val="0"/>
              </a:spcBef>
              <a:spcAft>
                <a:spcPct val="0"/>
              </a:spcAft>
            </a:pPr>
            <a:r>
              <a:rPr lang="en-US" sz="700" dirty="0">
                <a:solidFill>
                  <a:srgbClr val="646464"/>
                </a:solidFill>
              </a:rPr>
              <a:t>Sign </a:t>
            </a:r>
            <a:r>
              <a:rPr lang="en-US" sz="700" dirty="0" smtClean="0">
                <a:solidFill>
                  <a:srgbClr val="646464"/>
                </a:solidFill>
              </a:rPr>
              <a:t>off Change  Approach , Structure &amp; Dep.  Framework</a:t>
            </a:r>
            <a:endParaRPr lang="en-US" sz="700" dirty="0">
              <a:solidFill>
                <a:srgbClr val="646464"/>
              </a:solidFill>
            </a:endParaRPr>
          </a:p>
          <a:p>
            <a:pPr algn="r" defTabSz="514230" eaLnBrk="0" fontAlgn="base" hangingPunct="0">
              <a:spcBef>
                <a:spcPct val="0"/>
              </a:spcBef>
              <a:spcAft>
                <a:spcPct val="0"/>
              </a:spcAft>
            </a:pPr>
            <a:r>
              <a:rPr lang="en-US" sz="700" dirty="0" smtClean="0">
                <a:solidFill>
                  <a:srgbClr val="646464"/>
                </a:solidFill>
              </a:rPr>
              <a:t>31</a:t>
            </a:r>
            <a:r>
              <a:rPr lang="en-US" sz="700" baseline="30000" dirty="0" smtClean="0">
                <a:solidFill>
                  <a:srgbClr val="646464"/>
                </a:solidFill>
              </a:rPr>
              <a:t>st</a:t>
            </a:r>
            <a:r>
              <a:rPr lang="en-US" sz="700" dirty="0" smtClean="0">
                <a:solidFill>
                  <a:srgbClr val="646464"/>
                </a:solidFill>
              </a:rPr>
              <a:t> May</a:t>
            </a:r>
            <a:endParaRPr lang="en-US" sz="700" dirty="0">
              <a:solidFill>
                <a:srgbClr val="646464"/>
              </a:solidFill>
            </a:endParaRPr>
          </a:p>
        </p:txBody>
      </p:sp>
      <p:sp>
        <p:nvSpPr>
          <p:cNvPr id="261" name="Line 125"/>
          <p:cNvSpPr>
            <a:spLocks noChangeShapeType="1"/>
          </p:cNvSpPr>
          <p:nvPr/>
        </p:nvSpPr>
        <p:spPr bwMode="gray">
          <a:xfrm flipV="1">
            <a:off x="971600" y="665984"/>
            <a:ext cx="0" cy="396044"/>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63" name="Line 125"/>
          <p:cNvSpPr>
            <a:spLocks noChangeShapeType="1"/>
          </p:cNvSpPr>
          <p:nvPr/>
        </p:nvSpPr>
        <p:spPr bwMode="gray">
          <a:xfrm flipV="1">
            <a:off x="1331640" y="665984"/>
            <a:ext cx="0" cy="396044"/>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64" name="Line 125"/>
          <p:cNvSpPr>
            <a:spLocks noChangeShapeType="1"/>
          </p:cNvSpPr>
          <p:nvPr/>
        </p:nvSpPr>
        <p:spPr bwMode="gray">
          <a:xfrm flipV="1">
            <a:off x="3347864" y="476672"/>
            <a:ext cx="0" cy="612068"/>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65" name="Text Box 126"/>
          <p:cNvSpPr txBox="1">
            <a:spLocks noChangeArrowheads="1"/>
          </p:cNvSpPr>
          <p:nvPr>
            <p:custDataLst>
              <p:tags r:id="rId2"/>
            </p:custDataLst>
          </p:nvPr>
        </p:nvSpPr>
        <p:spPr bwMode="gray">
          <a:xfrm>
            <a:off x="2339752" y="657563"/>
            <a:ext cx="864096" cy="323165"/>
          </a:xfrm>
          <a:prstGeom prst="rect">
            <a:avLst/>
          </a:prstGeom>
          <a:noFill/>
          <a:ln w="9525" algn="ctr">
            <a:noFill/>
            <a:miter lim="800000"/>
            <a:headEnd type="none" w="sm" len="sm"/>
            <a:tailEnd type="none" w="sm" len="sm"/>
          </a:ln>
        </p:spPr>
        <p:txBody>
          <a:bodyPr wrap="square" lIns="26118" tIns="0" rIns="0" bIns="0" anchor="ctr" anchorCtr="0">
            <a:spAutoFit/>
          </a:bodyPr>
          <a:lstStyle/>
          <a:p>
            <a:pPr algn="r" defTabSz="514230" eaLnBrk="0" fontAlgn="base" hangingPunct="0">
              <a:spcBef>
                <a:spcPct val="0"/>
              </a:spcBef>
              <a:spcAft>
                <a:spcPct val="0"/>
              </a:spcAft>
            </a:pPr>
            <a:r>
              <a:rPr lang="en-US" sz="700" dirty="0" smtClean="0"/>
              <a:t>Required </a:t>
            </a:r>
          </a:p>
          <a:p>
            <a:pPr algn="r" defTabSz="514230" eaLnBrk="0" fontAlgn="base" hangingPunct="0">
              <a:spcBef>
                <a:spcPct val="0"/>
              </a:spcBef>
              <a:spcAft>
                <a:spcPct val="0"/>
              </a:spcAft>
            </a:pPr>
            <a:r>
              <a:rPr lang="en-US" sz="700" dirty="0" smtClean="0"/>
              <a:t>Behaviors</a:t>
            </a:r>
          </a:p>
          <a:p>
            <a:pPr algn="r" defTabSz="514230" eaLnBrk="0" fontAlgn="base" hangingPunct="0">
              <a:spcBef>
                <a:spcPct val="0"/>
              </a:spcBef>
              <a:spcAft>
                <a:spcPct val="0"/>
              </a:spcAft>
            </a:pPr>
            <a:r>
              <a:rPr lang="en-US" sz="700" dirty="0" smtClean="0"/>
              <a:t>Signed Off   12</a:t>
            </a:r>
            <a:r>
              <a:rPr lang="en-US" sz="700" baseline="30000" dirty="0" smtClean="0"/>
              <a:t>th</a:t>
            </a:r>
            <a:r>
              <a:rPr lang="en-US" sz="700" dirty="0" smtClean="0"/>
              <a:t> Dec</a:t>
            </a:r>
          </a:p>
        </p:txBody>
      </p:sp>
      <p:sp>
        <p:nvSpPr>
          <p:cNvPr id="268" name="Text Box 126"/>
          <p:cNvSpPr txBox="1">
            <a:spLocks noChangeArrowheads="1"/>
          </p:cNvSpPr>
          <p:nvPr>
            <p:custDataLst>
              <p:tags r:id="rId3"/>
            </p:custDataLst>
          </p:nvPr>
        </p:nvSpPr>
        <p:spPr bwMode="gray">
          <a:xfrm>
            <a:off x="1403648" y="601452"/>
            <a:ext cx="936104" cy="538609"/>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t>Refresh Learning  Strategy, + Behavioral change &amp; approach plan signed off </a:t>
            </a:r>
          </a:p>
          <a:p>
            <a:pPr defTabSz="514230" eaLnBrk="0" fontAlgn="base" hangingPunct="0">
              <a:spcBef>
                <a:spcPct val="0"/>
              </a:spcBef>
              <a:spcAft>
                <a:spcPct val="0"/>
              </a:spcAft>
            </a:pPr>
            <a:r>
              <a:rPr lang="en-US" sz="700" dirty="0" smtClean="0"/>
              <a:t>29th June </a:t>
            </a:r>
          </a:p>
        </p:txBody>
      </p:sp>
      <p:sp>
        <p:nvSpPr>
          <p:cNvPr id="272" name="Line 125"/>
          <p:cNvSpPr>
            <a:spLocks noChangeShapeType="1"/>
          </p:cNvSpPr>
          <p:nvPr/>
        </p:nvSpPr>
        <p:spPr bwMode="gray">
          <a:xfrm flipV="1">
            <a:off x="3203848" y="548680"/>
            <a:ext cx="0" cy="540060"/>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73" name="Text Box 126"/>
          <p:cNvSpPr txBox="1">
            <a:spLocks noChangeArrowheads="1"/>
          </p:cNvSpPr>
          <p:nvPr>
            <p:custDataLst>
              <p:tags r:id="rId4"/>
            </p:custDataLst>
          </p:nvPr>
        </p:nvSpPr>
        <p:spPr bwMode="gray">
          <a:xfrm>
            <a:off x="3347864" y="620688"/>
            <a:ext cx="864096" cy="430887"/>
          </a:xfrm>
          <a:prstGeom prst="rect">
            <a:avLst/>
          </a:prstGeom>
          <a:noFill/>
          <a:ln w="9525" algn="ctr">
            <a:noFill/>
            <a:miter lim="800000"/>
            <a:headEnd type="none" w="sm" len="sm"/>
            <a:tailEnd type="none" w="sm" len="sm"/>
          </a:ln>
        </p:spPr>
        <p:txBody>
          <a:bodyPr wrap="square" lIns="26118" tIns="0" rIns="0" bIns="0" anchor="ctr" anchorCtr="0">
            <a:spAutoFit/>
          </a:bodyPr>
          <a:lstStyle/>
          <a:p>
            <a:pPr algn="l" defTabSz="514230" eaLnBrk="0" fontAlgn="base" hangingPunct="0">
              <a:spcBef>
                <a:spcPct val="0"/>
              </a:spcBef>
              <a:spcAft>
                <a:spcPct val="0"/>
              </a:spcAft>
            </a:pPr>
            <a:r>
              <a:rPr lang="en-US" sz="700" dirty="0" smtClean="0"/>
              <a:t>Benefits</a:t>
            </a:r>
          </a:p>
          <a:p>
            <a:pPr algn="l" defTabSz="514230" eaLnBrk="0" fontAlgn="base" hangingPunct="0">
              <a:spcBef>
                <a:spcPct val="0"/>
              </a:spcBef>
              <a:spcAft>
                <a:spcPct val="0"/>
              </a:spcAft>
            </a:pPr>
            <a:r>
              <a:rPr lang="en-US" sz="700" dirty="0" smtClean="0"/>
              <a:t>Realisation Plan</a:t>
            </a:r>
          </a:p>
          <a:p>
            <a:pPr algn="l" defTabSz="514230" eaLnBrk="0" fontAlgn="base" hangingPunct="0">
              <a:spcBef>
                <a:spcPct val="0"/>
              </a:spcBef>
              <a:spcAft>
                <a:spcPct val="0"/>
              </a:spcAft>
            </a:pPr>
            <a:r>
              <a:rPr lang="en-US" sz="700" dirty="0" smtClean="0"/>
              <a:t>Signed off </a:t>
            </a:r>
          </a:p>
          <a:p>
            <a:pPr algn="l" defTabSz="514230" eaLnBrk="0" fontAlgn="base" hangingPunct="0">
              <a:spcBef>
                <a:spcPct val="0"/>
              </a:spcBef>
              <a:spcAft>
                <a:spcPct val="0"/>
              </a:spcAft>
            </a:pPr>
            <a:r>
              <a:rPr lang="en-US" sz="700" dirty="0" smtClean="0"/>
              <a:t>21</a:t>
            </a:r>
            <a:r>
              <a:rPr lang="en-US" sz="700" baseline="30000" dirty="0" smtClean="0"/>
              <a:t>st</a:t>
            </a:r>
            <a:r>
              <a:rPr lang="en-US" sz="700" dirty="0" smtClean="0"/>
              <a:t> Dec</a:t>
            </a:r>
          </a:p>
        </p:txBody>
      </p:sp>
      <p:sp>
        <p:nvSpPr>
          <p:cNvPr id="275" name="Pentagon 274"/>
          <p:cNvSpPr/>
          <p:nvPr/>
        </p:nvSpPr>
        <p:spPr bwMode="auto">
          <a:xfrm>
            <a:off x="1943709" y="2132856"/>
            <a:ext cx="2124235" cy="108012"/>
          </a:xfrm>
          <a:prstGeom prst="homePlate">
            <a:avLst/>
          </a:prstGeom>
          <a:gradFill flip="none" rotWithShape="1">
            <a:gsLst>
              <a:gs pos="21000">
                <a:schemeClr val="accent2"/>
              </a:gs>
              <a:gs pos="50000">
                <a:schemeClr val="bg1">
                  <a:lumMod val="75000"/>
                </a:schemeClr>
              </a:gs>
              <a:gs pos="100000">
                <a:schemeClr val="accent1">
                  <a:tint val="23500"/>
                  <a:satMod val="160000"/>
                </a:schemeClr>
              </a:gs>
            </a:gsLst>
            <a:lin ang="10800000" scaled="1"/>
            <a:tileRect/>
          </a:gra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Testing</a:t>
            </a:r>
            <a:endParaRPr lang="en-GB" sz="800" b="1" dirty="0">
              <a:solidFill>
                <a:srgbClr val="646464"/>
              </a:solidFill>
            </a:endParaRPr>
          </a:p>
        </p:txBody>
      </p:sp>
      <p:sp>
        <p:nvSpPr>
          <p:cNvPr id="276" name="Pentagon 275"/>
          <p:cNvSpPr/>
          <p:nvPr/>
        </p:nvSpPr>
        <p:spPr bwMode="auto">
          <a:xfrm>
            <a:off x="4247964" y="2168860"/>
            <a:ext cx="32403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700" b="1" dirty="0" smtClean="0">
                <a:solidFill>
                  <a:srgbClr val="646464"/>
                </a:solidFill>
              </a:rPr>
              <a:t>Dep’ (?)</a:t>
            </a:r>
            <a:endParaRPr lang="en-GB" sz="700" b="1" dirty="0">
              <a:solidFill>
                <a:srgbClr val="646464"/>
              </a:solidFill>
            </a:endParaRPr>
          </a:p>
        </p:txBody>
      </p:sp>
      <p:grpSp>
        <p:nvGrpSpPr>
          <p:cNvPr id="4" name="Group 281"/>
          <p:cNvGrpSpPr/>
          <p:nvPr/>
        </p:nvGrpSpPr>
        <p:grpSpPr>
          <a:xfrm>
            <a:off x="3995936" y="1789366"/>
            <a:ext cx="1440159" cy="559514"/>
            <a:chOff x="3815916" y="1613847"/>
            <a:chExt cx="1440159" cy="559514"/>
          </a:xfrm>
        </p:grpSpPr>
        <p:cxnSp>
          <p:nvCxnSpPr>
            <p:cNvPr id="277" name="Straight Connector 276"/>
            <p:cNvCxnSpPr>
              <a:endCxn id="278" idx="0"/>
            </p:cNvCxnSpPr>
            <p:nvPr/>
          </p:nvCxnSpPr>
          <p:spPr bwMode="auto">
            <a:xfrm>
              <a:off x="3887924" y="1741313"/>
              <a:ext cx="0" cy="319535"/>
            </a:xfrm>
            <a:prstGeom prst="line">
              <a:avLst/>
            </a:prstGeom>
            <a:solidFill>
              <a:srgbClr val="FF0000"/>
            </a:solidFill>
            <a:ln w="12700" cap="flat" cmpd="sng" algn="ctr">
              <a:solidFill>
                <a:srgbClr val="FF0000"/>
              </a:solidFill>
              <a:prstDash val="solid"/>
              <a:round/>
              <a:headEnd type="none" w="med" len="med"/>
              <a:tailEnd type="none"/>
            </a:ln>
            <a:effectLst/>
          </p:spPr>
        </p:cxnSp>
        <p:sp>
          <p:nvSpPr>
            <p:cNvPr id="278" name="5-Point Star 277"/>
            <p:cNvSpPr/>
            <p:nvPr/>
          </p:nvSpPr>
          <p:spPr bwMode="auto">
            <a:xfrm>
              <a:off x="3815916" y="2060848"/>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700" b="0" i="0" u="none" strike="noStrike" cap="none" normalizeH="0" baseline="0" dirty="0" smtClean="0">
                <a:ln>
                  <a:noFill/>
                </a:ln>
                <a:solidFill>
                  <a:schemeClr val="tx1"/>
                </a:solidFill>
                <a:effectLst/>
                <a:latin typeface="Arial" charset="0"/>
              </a:endParaRPr>
            </a:p>
          </p:txBody>
        </p:sp>
        <p:sp>
          <p:nvSpPr>
            <p:cNvPr id="279" name="TextBox 278"/>
            <p:cNvSpPr txBox="1"/>
            <p:nvPr/>
          </p:nvSpPr>
          <p:spPr>
            <a:xfrm>
              <a:off x="3815916" y="1613847"/>
              <a:ext cx="1440159" cy="415498"/>
            </a:xfrm>
            <a:prstGeom prst="rect">
              <a:avLst/>
            </a:prstGeom>
            <a:noFill/>
          </p:spPr>
          <p:txBody>
            <a:bodyPr wrap="square" rtlCol="0">
              <a:spAutoFit/>
            </a:bodyPr>
            <a:lstStyle/>
            <a:p>
              <a:pPr algn="l"/>
              <a:r>
                <a:rPr lang="en-GB" sz="700" dirty="0" smtClean="0"/>
                <a:t>Deployment </a:t>
              </a:r>
            </a:p>
            <a:p>
              <a:pPr algn="l"/>
              <a:r>
                <a:rPr lang="en-GB" sz="700" dirty="0" smtClean="0"/>
                <a:t>Go / No Go</a:t>
              </a:r>
            </a:p>
            <a:p>
              <a:pPr algn="l"/>
              <a:r>
                <a:rPr lang="en-GB" sz="700" dirty="0" smtClean="0"/>
                <a:t>18</a:t>
              </a:r>
              <a:r>
                <a:rPr lang="en-GB" sz="700" baseline="30000" dirty="0" smtClean="0"/>
                <a:t>th</a:t>
              </a:r>
              <a:r>
                <a:rPr lang="en-GB" sz="700" dirty="0" smtClean="0"/>
                <a:t> Feb</a:t>
              </a:r>
            </a:p>
          </p:txBody>
        </p:sp>
      </p:grpSp>
      <p:sp>
        <p:nvSpPr>
          <p:cNvPr id="281" name="Rectangle 280"/>
          <p:cNvSpPr/>
          <p:nvPr/>
        </p:nvSpPr>
        <p:spPr bwMode="auto">
          <a:xfrm>
            <a:off x="7668344" y="584684"/>
            <a:ext cx="216024" cy="6084676"/>
          </a:xfrm>
          <a:prstGeom prst="rect">
            <a:avLst/>
          </a:prstGeom>
          <a:solidFill>
            <a:schemeClr val="bg1">
              <a:lumMod val="85000"/>
              <a:alpha val="39000"/>
            </a:schemeClr>
          </a:solidFill>
          <a:ln w="9525" cap="flat" cmpd="sng" algn="ctr">
            <a:noFill/>
            <a:prstDash val="solid"/>
            <a:round/>
            <a:headEnd type="none" w="med" len="med"/>
            <a:tailEnd type="none" w="med" len="med"/>
          </a:ln>
          <a:effectLst/>
        </p:spPr>
        <p:txBody>
          <a:bodyPr vert="vert270"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GB" sz="900" b="1" dirty="0" smtClean="0"/>
              <a:t>CHRISTMAS</a:t>
            </a:r>
            <a:endParaRPr kumimoji="0" lang="en-GB" sz="900" b="1" i="0" u="none" strike="noStrike" cap="none" normalizeH="0" baseline="0" dirty="0" smtClean="0">
              <a:ln>
                <a:noFill/>
              </a:ln>
              <a:solidFill>
                <a:schemeClr val="tx1"/>
              </a:solidFill>
              <a:effectLst/>
              <a:latin typeface="Arial" charset="0"/>
            </a:endParaRPr>
          </a:p>
        </p:txBody>
      </p:sp>
      <p:sp>
        <p:nvSpPr>
          <p:cNvPr id="283" name="Pentagon 282"/>
          <p:cNvSpPr/>
          <p:nvPr/>
        </p:nvSpPr>
        <p:spPr bwMode="auto">
          <a:xfrm>
            <a:off x="35496" y="6129300"/>
            <a:ext cx="3276364"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Discovery &amp; Assessment</a:t>
            </a:r>
            <a:endParaRPr lang="en-GB" sz="800" b="1" dirty="0">
              <a:solidFill>
                <a:srgbClr val="646464"/>
              </a:solidFill>
            </a:endParaRPr>
          </a:p>
        </p:txBody>
      </p:sp>
      <p:sp>
        <p:nvSpPr>
          <p:cNvPr id="307" name="Pentagon 306"/>
          <p:cNvSpPr/>
          <p:nvPr/>
        </p:nvSpPr>
        <p:spPr bwMode="auto">
          <a:xfrm>
            <a:off x="107504" y="3392996"/>
            <a:ext cx="1152128"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Arch &amp;Design</a:t>
            </a:r>
            <a:endParaRPr lang="en-GB" sz="800" b="1" dirty="0">
              <a:solidFill>
                <a:srgbClr val="646464"/>
              </a:solidFill>
            </a:endParaRPr>
          </a:p>
        </p:txBody>
      </p:sp>
      <p:sp>
        <p:nvSpPr>
          <p:cNvPr id="308" name="Pentagon 307"/>
          <p:cNvSpPr/>
          <p:nvPr/>
        </p:nvSpPr>
        <p:spPr bwMode="auto">
          <a:xfrm>
            <a:off x="223900" y="2509156"/>
            <a:ext cx="2691916" cy="108012"/>
          </a:xfrm>
          <a:prstGeom prst="homePlate">
            <a:avLst/>
          </a:prstGeom>
          <a:solidFill>
            <a:schemeClr val="bg1">
              <a:lumMod val="75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Cloud Infrastructure Configuration</a:t>
            </a:r>
            <a:endParaRPr lang="en-GB" sz="800" b="1" dirty="0">
              <a:solidFill>
                <a:srgbClr val="646464"/>
              </a:solidFill>
            </a:endParaRPr>
          </a:p>
        </p:txBody>
      </p:sp>
      <p:sp>
        <p:nvSpPr>
          <p:cNvPr id="313" name="Pentagon 312"/>
          <p:cNvSpPr/>
          <p:nvPr/>
        </p:nvSpPr>
        <p:spPr bwMode="auto">
          <a:xfrm>
            <a:off x="215516" y="2653172"/>
            <a:ext cx="2700300" cy="108012"/>
          </a:xfrm>
          <a:prstGeom prst="homePlate">
            <a:avLst/>
          </a:prstGeom>
          <a:solidFill>
            <a:schemeClr val="bg1">
              <a:lumMod val="75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Plug In Build  MDS &amp; Edocs only (Day 1)</a:t>
            </a:r>
            <a:endParaRPr lang="en-GB" sz="800" b="1" dirty="0">
              <a:solidFill>
                <a:srgbClr val="646464"/>
              </a:solidFill>
            </a:endParaRPr>
          </a:p>
        </p:txBody>
      </p:sp>
      <p:cxnSp>
        <p:nvCxnSpPr>
          <p:cNvPr id="314" name="Straight Connector 313"/>
          <p:cNvCxnSpPr>
            <a:endCxn id="316" idx="0"/>
          </p:cNvCxnSpPr>
          <p:nvPr/>
        </p:nvCxnSpPr>
        <p:spPr bwMode="auto">
          <a:xfrm>
            <a:off x="1403648" y="2797188"/>
            <a:ext cx="0" cy="144016"/>
          </a:xfrm>
          <a:prstGeom prst="line">
            <a:avLst/>
          </a:prstGeom>
          <a:solidFill>
            <a:srgbClr val="FF0000"/>
          </a:solidFill>
          <a:ln w="6350" cap="flat" cmpd="sng" algn="ctr">
            <a:solidFill>
              <a:srgbClr val="FF0000"/>
            </a:solidFill>
            <a:prstDash val="solid"/>
            <a:round/>
            <a:headEnd type="none" w="med" len="med"/>
            <a:tailEnd type="none"/>
          </a:ln>
          <a:effectLst/>
        </p:spPr>
      </p:cxnSp>
      <p:sp>
        <p:nvSpPr>
          <p:cNvPr id="316" name="5-Point Star 315"/>
          <p:cNvSpPr/>
          <p:nvPr/>
        </p:nvSpPr>
        <p:spPr bwMode="auto">
          <a:xfrm>
            <a:off x="1331640" y="2941204"/>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sp>
        <p:nvSpPr>
          <p:cNvPr id="317" name="TextBox 316"/>
          <p:cNvSpPr txBox="1"/>
          <p:nvPr/>
        </p:nvSpPr>
        <p:spPr>
          <a:xfrm>
            <a:off x="251520" y="2725180"/>
            <a:ext cx="1224136" cy="307777"/>
          </a:xfrm>
          <a:prstGeom prst="rect">
            <a:avLst/>
          </a:prstGeom>
          <a:noFill/>
        </p:spPr>
        <p:txBody>
          <a:bodyPr wrap="square" rtlCol="0">
            <a:spAutoFit/>
          </a:bodyPr>
          <a:lstStyle/>
          <a:p>
            <a:pPr algn="r"/>
            <a:r>
              <a:rPr lang="en-GB" sz="700" dirty="0" smtClean="0"/>
              <a:t>Plug –In List confirmed</a:t>
            </a:r>
          </a:p>
          <a:p>
            <a:pPr algn="r"/>
            <a:r>
              <a:rPr lang="en-GB" sz="700" dirty="0" smtClean="0"/>
              <a:t>6</a:t>
            </a:r>
            <a:r>
              <a:rPr lang="en-GB" sz="700" baseline="30000" dirty="0" smtClean="0"/>
              <a:t>th</a:t>
            </a:r>
            <a:r>
              <a:rPr lang="en-GB" sz="700" dirty="0" smtClean="0"/>
              <a:t> July</a:t>
            </a:r>
          </a:p>
        </p:txBody>
      </p:sp>
      <p:sp>
        <p:nvSpPr>
          <p:cNvPr id="318" name="Pentagon 317"/>
          <p:cNvSpPr/>
          <p:nvPr/>
        </p:nvSpPr>
        <p:spPr bwMode="auto">
          <a:xfrm>
            <a:off x="1007604" y="3681028"/>
            <a:ext cx="320435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Testing</a:t>
            </a:r>
            <a:endParaRPr lang="en-GB" sz="800" b="1" dirty="0">
              <a:solidFill>
                <a:srgbClr val="646464"/>
              </a:solidFill>
            </a:endParaRPr>
          </a:p>
        </p:txBody>
      </p:sp>
      <p:sp>
        <p:nvSpPr>
          <p:cNvPr id="319" name="Pentagon 318"/>
          <p:cNvSpPr/>
          <p:nvPr/>
        </p:nvSpPr>
        <p:spPr bwMode="auto">
          <a:xfrm>
            <a:off x="2915816" y="2653172"/>
            <a:ext cx="360040" cy="216024"/>
          </a:xfrm>
          <a:prstGeom prst="homePlate">
            <a:avLst/>
          </a:prstGeom>
          <a:solidFill>
            <a:schemeClr val="bg1">
              <a:lumMod val="75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500" b="1" dirty="0" smtClean="0">
                <a:solidFill>
                  <a:srgbClr val="646464"/>
                </a:solidFill>
              </a:rPr>
              <a:t>Customer</a:t>
            </a:r>
          </a:p>
          <a:p>
            <a:pPr algn="ctr" fontAlgn="base">
              <a:spcBef>
                <a:spcPct val="0"/>
              </a:spcBef>
              <a:spcAft>
                <a:spcPct val="0"/>
              </a:spcAft>
            </a:pPr>
            <a:r>
              <a:rPr lang="en-GB" sz="500" b="1" dirty="0" smtClean="0">
                <a:solidFill>
                  <a:srgbClr val="646464"/>
                </a:solidFill>
              </a:rPr>
              <a:t>Valid’tion</a:t>
            </a:r>
            <a:endParaRPr lang="en-GB" sz="500" b="1" dirty="0">
              <a:solidFill>
                <a:srgbClr val="646464"/>
              </a:solidFill>
            </a:endParaRPr>
          </a:p>
        </p:txBody>
      </p:sp>
      <p:sp>
        <p:nvSpPr>
          <p:cNvPr id="320" name="Line 125"/>
          <p:cNvSpPr>
            <a:spLocks noChangeShapeType="1"/>
          </p:cNvSpPr>
          <p:nvPr/>
        </p:nvSpPr>
        <p:spPr bwMode="gray">
          <a:xfrm flipV="1">
            <a:off x="2699792" y="2761184"/>
            <a:ext cx="0" cy="252028"/>
          </a:xfrm>
          <a:prstGeom prst="line">
            <a:avLst/>
          </a:prstGeom>
          <a:noFill/>
          <a:ln w="6350">
            <a:solidFill>
              <a:srgbClr val="FF0000"/>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321" name="TextBox 320"/>
          <p:cNvSpPr txBox="1"/>
          <p:nvPr/>
        </p:nvSpPr>
        <p:spPr>
          <a:xfrm>
            <a:off x="1115616" y="2751311"/>
            <a:ext cx="1584176" cy="461665"/>
          </a:xfrm>
          <a:prstGeom prst="rect">
            <a:avLst/>
          </a:prstGeom>
          <a:noFill/>
        </p:spPr>
        <p:txBody>
          <a:bodyPr wrap="square" rtlCol="0">
            <a:spAutoFit/>
          </a:bodyPr>
          <a:lstStyle/>
          <a:p>
            <a:pPr algn="r"/>
            <a:r>
              <a:rPr lang="en-GB" sz="600" dirty="0" smtClean="0"/>
              <a:t>IAM Dependencies  Complete </a:t>
            </a:r>
          </a:p>
          <a:p>
            <a:pPr algn="r"/>
            <a:r>
              <a:rPr lang="en-GB" sz="600" dirty="0" smtClean="0"/>
              <a:t>30</a:t>
            </a:r>
            <a:r>
              <a:rPr lang="en-GB" sz="600" baseline="30000" dirty="0" smtClean="0"/>
              <a:t>th</a:t>
            </a:r>
            <a:r>
              <a:rPr lang="en-GB" sz="600" dirty="0" smtClean="0"/>
              <a:t> Oct</a:t>
            </a:r>
          </a:p>
          <a:p>
            <a:pPr algn="r"/>
            <a:r>
              <a:rPr lang="en-GB" sz="600" dirty="0" smtClean="0"/>
              <a:t>Cloud &amp; On Prem  </a:t>
            </a:r>
          </a:p>
          <a:p>
            <a:pPr algn="r"/>
            <a:r>
              <a:rPr lang="en-GB" sz="600" dirty="0" smtClean="0"/>
              <a:t>to support UAT</a:t>
            </a:r>
          </a:p>
        </p:txBody>
      </p:sp>
      <p:sp>
        <p:nvSpPr>
          <p:cNvPr id="141" name="Pentagon 140"/>
          <p:cNvSpPr/>
          <p:nvPr/>
        </p:nvSpPr>
        <p:spPr bwMode="auto">
          <a:xfrm>
            <a:off x="107504" y="5049180"/>
            <a:ext cx="2988332"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650" b="1" dirty="0" smtClean="0">
                <a:solidFill>
                  <a:srgbClr val="646464"/>
                </a:solidFill>
              </a:rPr>
              <a:t>People, Communities, Search, Metadata, </a:t>
            </a:r>
            <a:r>
              <a:rPr lang="en-GB" sz="600" b="1" dirty="0" smtClean="0">
                <a:solidFill>
                  <a:srgbClr val="646464"/>
                </a:solidFill>
              </a:rPr>
              <a:t>Authoritative</a:t>
            </a:r>
            <a:r>
              <a:rPr lang="en-GB" sz="650" b="1" dirty="0" smtClean="0">
                <a:solidFill>
                  <a:srgbClr val="646464"/>
                </a:solidFill>
              </a:rPr>
              <a:t> Content Requirements</a:t>
            </a:r>
            <a:endParaRPr lang="en-GB" sz="650" b="1" dirty="0">
              <a:solidFill>
                <a:srgbClr val="646464"/>
              </a:solidFill>
            </a:endParaRPr>
          </a:p>
        </p:txBody>
      </p:sp>
      <p:sp>
        <p:nvSpPr>
          <p:cNvPr id="144" name="Pentagon 143"/>
          <p:cNvSpPr/>
          <p:nvPr/>
        </p:nvSpPr>
        <p:spPr bwMode="auto">
          <a:xfrm>
            <a:off x="259904" y="5193196"/>
            <a:ext cx="3808040"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700" b="1" dirty="0" smtClean="0">
                <a:solidFill>
                  <a:srgbClr val="646464"/>
                </a:solidFill>
              </a:rPr>
              <a:t>People, Communities, Search, Metadata and Authoritative Content  Design /Development</a:t>
            </a:r>
            <a:endParaRPr lang="en-GB" sz="700" b="1" dirty="0">
              <a:solidFill>
                <a:srgbClr val="646464"/>
              </a:solidFill>
            </a:endParaRPr>
          </a:p>
        </p:txBody>
      </p:sp>
      <p:sp>
        <p:nvSpPr>
          <p:cNvPr id="145" name="Pentagon 144"/>
          <p:cNvSpPr/>
          <p:nvPr/>
        </p:nvSpPr>
        <p:spPr bwMode="auto">
          <a:xfrm>
            <a:off x="412304" y="5345596"/>
            <a:ext cx="3727648" cy="99628"/>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People, Communities, Search, Metadata and Authoritative Content  Testing</a:t>
            </a:r>
            <a:endParaRPr lang="en-GB" sz="800" b="1" dirty="0">
              <a:solidFill>
                <a:srgbClr val="646464"/>
              </a:solidFill>
            </a:endParaRPr>
          </a:p>
        </p:txBody>
      </p:sp>
      <p:sp>
        <p:nvSpPr>
          <p:cNvPr id="149" name="Pentagon 148"/>
          <p:cNvSpPr/>
          <p:nvPr/>
        </p:nvSpPr>
        <p:spPr bwMode="auto">
          <a:xfrm>
            <a:off x="251520" y="5631631"/>
            <a:ext cx="2700300"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Infrastructure Setup (including MS Cloud SP 2010)</a:t>
            </a:r>
            <a:endParaRPr lang="en-GB" sz="800" b="1" dirty="0">
              <a:solidFill>
                <a:srgbClr val="646464"/>
              </a:solidFill>
            </a:endParaRPr>
          </a:p>
        </p:txBody>
      </p:sp>
      <p:cxnSp>
        <p:nvCxnSpPr>
          <p:cNvPr id="155" name="Straight Connector 154"/>
          <p:cNvCxnSpPr/>
          <p:nvPr/>
        </p:nvCxnSpPr>
        <p:spPr bwMode="auto">
          <a:xfrm>
            <a:off x="4067944" y="5409220"/>
            <a:ext cx="0" cy="581580"/>
          </a:xfrm>
          <a:prstGeom prst="line">
            <a:avLst/>
          </a:prstGeom>
          <a:solidFill>
            <a:srgbClr val="FF0000"/>
          </a:solidFill>
          <a:ln w="6350" cap="flat" cmpd="sng" algn="ctr">
            <a:solidFill>
              <a:srgbClr val="FF0000"/>
            </a:solidFill>
            <a:prstDash val="solid"/>
            <a:round/>
            <a:headEnd type="none" w="med" len="med"/>
            <a:tailEnd type="none"/>
          </a:ln>
          <a:effectLst/>
        </p:spPr>
      </p:cxnSp>
      <p:sp>
        <p:nvSpPr>
          <p:cNvPr id="156" name="5-Point Star 155"/>
          <p:cNvSpPr/>
          <p:nvPr/>
        </p:nvSpPr>
        <p:spPr bwMode="auto">
          <a:xfrm>
            <a:off x="3995936" y="5877272"/>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sp>
        <p:nvSpPr>
          <p:cNvPr id="158" name="TextBox 157"/>
          <p:cNvSpPr txBox="1"/>
          <p:nvPr/>
        </p:nvSpPr>
        <p:spPr>
          <a:xfrm>
            <a:off x="3995936" y="5605790"/>
            <a:ext cx="720080" cy="415498"/>
          </a:xfrm>
          <a:prstGeom prst="rect">
            <a:avLst/>
          </a:prstGeom>
          <a:noFill/>
        </p:spPr>
        <p:txBody>
          <a:bodyPr wrap="square" rtlCol="0">
            <a:spAutoFit/>
          </a:bodyPr>
          <a:lstStyle/>
          <a:p>
            <a:pPr algn="l"/>
            <a:r>
              <a:rPr lang="en-GB" sz="700" dirty="0" smtClean="0"/>
              <a:t>Release 1</a:t>
            </a:r>
          </a:p>
          <a:p>
            <a:pPr algn="l"/>
            <a:r>
              <a:rPr lang="en-GB" sz="700" dirty="0" smtClean="0"/>
              <a:t>Go Live </a:t>
            </a:r>
          </a:p>
          <a:p>
            <a:pPr algn="l"/>
            <a:r>
              <a:rPr lang="en-GB" sz="700" dirty="0" smtClean="0"/>
              <a:t>February </a:t>
            </a:r>
          </a:p>
        </p:txBody>
      </p:sp>
      <p:cxnSp>
        <p:nvCxnSpPr>
          <p:cNvPr id="162" name="Straight Connector 161"/>
          <p:cNvCxnSpPr/>
          <p:nvPr/>
        </p:nvCxnSpPr>
        <p:spPr bwMode="auto">
          <a:xfrm>
            <a:off x="2951820" y="5667635"/>
            <a:ext cx="0" cy="293548"/>
          </a:xfrm>
          <a:prstGeom prst="line">
            <a:avLst/>
          </a:prstGeom>
          <a:solidFill>
            <a:srgbClr val="FF0000"/>
          </a:solidFill>
          <a:ln w="6350" cap="flat" cmpd="sng" algn="ctr">
            <a:solidFill>
              <a:srgbClr val="FF0000"/>
            </a:solidFill>
            <a:prstDash val="solid"/>
            <a:round/>
            <a:headEnd type="none" w="med" len="med"/>
            <a:tailEnd type="none"/>
          </a:ln>
          <a:effectLst/>
        </p:spPr>
      </p:cxnSp>
      <p:sp>
        <p:nvSpPr>
          <p:cNvPr id="163" name="5-Point Star 162"/>
          <p:cNvSpPr/>
          <p:nvPr/>
        </p:nvSpPr>
        <p:spPr bwMode="auto">
          <a:xfrm>
            <a:off x="2879812" y="5877272"/>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sp>
        <p:nvSpPr>
          <p:cNvPr id="165" name="TextBox 164"/>
          <p:cNvSpPr txBox="1"/>
          <p:nvPr/>
        </p:nvSpPr>
        <p:spPr>
          <a:xfrm>
            <a:off x="2915816" y="5713511"/>
            <a:ext cx="1296144" cy="307777"/>
          </a:xfrm>
          <a:prstGeom prst="rect">
            <a:avLst/>
          </a:prstGeom>
          <a:noFill/>
        </p:spPr>
        <p:txBody>
          <a:bodyPr wrap="square" rtlCol="0">
            <a:spAutoFit/>
          </a:bodyPr>
          <a:lstStyle/>
          <a:p>
            <a:pPr algn="l"/>
            <a:r>
              <a:rPr lang="en-GB" sz="700" dirty="0" smtClean="0"/>
              <a:t>Cloud Infr. Ready </a:t>
            </a:r>
          </a:p>
          <a:p>
            <a:pPr algn="l"/>
            <a:r>
              <a:rPr lang="en-GB" sz="700" dirty="0" smtClean="0"/>
              <a:t>December</a:t>
            </a:r>
          </a:p>
        </p:txBody>
      </p:sp>
      <p:sp>
        <p:nvSpPr>
          <p:cNvPr id="167" name="Pentagon 166"/>
          <p:cNvSpPr/>
          <p:nvPr/>
        </p:nvSpPr>
        <p:spPr bwMode="auto">
          <a:xfrm>
            <a:off x="2987824" y="5625256"/>
            <a:ext cx="1080000" cy="108000"/>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Deploy to Cloud</a:t>
            </a:r>
            <a:endParaRPr lang="en-GB" sz="800" b="1" dirty="0">
              <a:solidFill>
                <a:srgbClr val="646464"/>
              </a:solidFill>
            </a:endParaRPr>
          </a:p>
        </p:txBody>
      </p:sp>
      <p:sp>
        <p:nvSpPr>
          <p:cNvPr id="170" name="Pentagon 169"/>
          <p:cNvSpPr/>
          <p:nvPr/>
        </p:nvSpPr>
        <p:spPr bwMode="auto">
          <a:xfrm>
            <a:off x="215516" y="5481228"/>
            <a:ext cx="1332148"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Business Blueprint</a:t>
            </a:r>
            <a:endParaRPr lang="en-GB" sz="800" b="1" dirty="0">
              <a:solidFill>
                <a:srgbClr val="646464"/>
              </a:solidFill>
            </a:endParaRPr>
          </a:p>
        </p:txBody>
      </p:sp>
      <p:sp>
        <p:nvSpPr>
          <p:cNvPr id="153" name="Rectangle 152"/>
          <p:cNvSpPr/>
          <p:nvPr/>
        </p:nvSpPr>
        <p:spPr bwMode="auto">
          <a:xfrm>
            <a:off x="3131840" y="2492896"/>
            <a:ext cx="504056" cy="2160240"/>
          </a:xfrm>
          <a:prstGeom prst="rect">
            <a:avLst/>
          </a:prstGeom>
          <a:solidFill>
            <a:schemeClr val="accent2">
              <a:lumMod val="40000"/>
              <a:lumOff val="60000"/>
            </a:schemeClr>
          </a:solidFill>
          <a:ln w="9525" cap="flat" cmpd="sng" algn="ctr">
            <a:noFill/>
            <a:prstDash val="solid"/>
            <a:round/>
            <a:headEnd type="none" w="med" len="med"/>
            <a:tailEnd type="none" w="med" len="med"/>
          </a:ln>
          <a:effectLst/>
        </p:spPr>
        <p:txBody>
          <a:bodyPr vert="horz" wrap="none" lIns="91440" tIns="36000" rIns="91440" bIns="45720" numCol="1" rtlCol="0" anchor="t" anchorCtr="0" compatLnSpc="1">
            <a:prstTxWarp prst="textNoShape">
              <a:avLst/>
            </a:prstTxWarp>
          </a:bodyPr>
          <a:lstStyle/>
          <a:p>
            <a:pPr fontAlgn="base">
              <a:spcBef>
                <a:spcPct val="0"/>
              </a:spcBef>
              <a:spcAft>
                <a:spcPct val="0"/>
              </a:spcAft>
            </a:pPr>
            <a:endParaRPr lang="en-GB" sz="600" b="1" dirty="0" smtClean="0"/>
          </a:p>
          <a:p>
            <a:pPr fontAlgn="base">
              <a:spcBef>
                <a:spcPct val="0"/>
              </a:spcBef>
              <a:spcAft>
                <a:spcPct val="0"/>
              </a:spcAft>
            </a:pPr>
            <a:endParaRPr lang="en-GB" sz="600" b="1" dirty="0" smtClean="0"/>
          </a:p>
          <a:p>
            <a:pPr fontAlgn="base">
              <a:spcBef>
                <a:spcPct val="0"/>
              </a:spcBef>
              <a:spcAft>
                <a:spcPct val="0"/>
              </a:spcAft>
            </a:pPr>
            <a:endParaRPr lang="en-GB" sz="600" b="1" dirty="0" smtClean="0"/>
          </a:p>
          <a:p>
            <a:pPr fontAlgn="base">
              <a:spcBef>
                <a:spcPct val="0"/>
              </a:spcBef>
              <a:spcAft>
                <a:spcPct val="0"/>
              </a:spcAft>
            </a:pPr>
            <a:endParaRPr lang="en-GB" sz="600" b="1" dirty="0" smtClean="0"/>
          </a:p>
          <a:p>
            <a:pPr fontAlgn="base">
              <a:spcBef>
                <a:spcPct val="0"/>
              </a:spcBef>
              <a:spcAft>
                <a:spcPct val="0"/>
              </a:spcAft>
            </a:pPr>
            <a:endParaRPr lang="en-GB" sz="600" b="1" dirty="0" smtClean="0"/>
          </a:p>
          <a:p>
            <a:pPr fontAlgn="base">
              <a:spcBef>
                <a:spcPct val="0"/>
              </a:spcBef>
              <a:spcAft>
                <a:spcPct val="0"/>
              </a:spcAft>
            </a:pPr>
            <a:endParaRPr lang="en-GB" sz="800" b="1" dirty="0" smtClean="0">
              <a:solidFill>
                <a:schemeClr val="tx1">
                  <a:lumMod val="50000"/>
                </a:schemeClr>
              </a:solidFill>
            </a:endParaRPr>
          </a:p>
          <a:p>
            <a:pPr fontAlgn="base">
              <a:spcBef>
                <a:spcPct val="0"/>
              </a:spcBef>
              <a:spcAft>
                <a:spcPct val="0"/>
              </a:spcAft>
            </a:pPr>
            <a:r>
              <a:rPr lang="en-GB" sz="800" b="1" dirty="0" smtClean="0">
                <a:solidFill>
                  <a:schemeClr val="tx1">
                    <a:lumMod val="50000"/>
                  </a:schemeClr>
                </a:solidFill>
              </a:rPr>
              <a:t>UAT</a:t>
            </a:r>
          </a:p>
          <a:p>
            <a:pPr fontAlgn="base">
              <a:spcBef>
                <a:spcPct val="0"/>
              </a:spcBef>
              <a:spcAft>
                <a:spcPct val="0"/>
              </a:spcAft>
            </a:pPr>
            <a:r>
              <a:rPr lang="en-GB" sz="800" b="1" dirty="0" smtClean="0">
                <a:solidFill>
                  <a:schemeClr val="tx1">
                    <a:lumMod val="50000"/>
                  </a:schemeClr>
                </a:solidFill>
              </a:rPr>
              <a:t>Prep</a:t>
            </a:r>
            <a:endParaRPr lang="en-GB" sz="800" b="1" dirty="0" smtClean="0">
              <a:solidFill>
                <a:schemeClr val="tx1">
                  <a:lumMod val="50000"/>
                </a:schemeClr>
              </a:solidFill>
              <a:latin typeface="Arial" charset="0"/>
            </a:endParaRPr>
          </a:p>
        </p:txBody>
      </p:sp>
      <p:sp>
        <p:nvSpPr>
          <p:cNvPr id="175" name="Text Box 126"/>
          <p:cNvSpPr txBox="1">
            <a:spLocks noChangeArrowheads="1"/>
          </p:cNvSpPr>
          <p:nvPr/>
        </p:nvSpPr>
        <p:spPr bwMode="gray">
          <a:xfrm>
            <a:off x="5004048" y="2780928"/>
            <a:ext cx="1008112" cy="323165"/>
          </a:xfrm>
          <a:prstGeom prst="rect">
            <a:avLst/>
          </a:prstGeom>
          <a:noFill/>
          <a:ln w="9525" algn="ctr">
            <a:noFill/>
            <a:miter lim="800000"/>
            <a:headEnd type="none" w="sm" len="sm"/>
            <a:tailEnd type="none" w="sm" len="sm"/>
          </a:ln>
        </p:spPr>
        <p:txBody>
          <a:bodyPr wrap="square" lIns="26118" tIns="0" rIns="0" bIns="0" anchor="ctr" anchorCtr="0">
            <a:spAutoFit/>
          </a:bodyPr>
          <a:lstStyle/>
          <a:p>
            <a:pPr algn="l" defTabSz="514230" eaLnBrk="0" fontAlgn="base" hangingPunct="0">
              <a:spcBef>
                <a:spcPct val="0"/>
              </a:spcBef>
              <a:spcAft>
                <a:spcPct val="0"/>
              </a:spcAft>
            </a:pPr>
            <a:r>
              <a:rPr lang="en-US" sz="700" dirty="0" smtClean="0">
                <a:solidFill>
                  <a:srgbClr val="646464"/>
                </a:solidFill>
                <a:latin typeface="EYInterstate" pitchFamily="2" charset="0"/>
              </a:rPr>
              <a:t>Deployment </a:t>
            </a:r>
          </a:p>
          <a:p>
            <a:pPr algn="l" defTabSz="514230" eaLnBrk="0" fontAlgn="base" hangingPunct="0">
              <a:spcBef>
                <a:spcPct val="0"/>
              </a:spcBef>
              <a:spcAft>
                <a:spcPct val="0"/>
              </a:spcAft>
            </a:pPr>
            <a:r>
              <a:rPr lang="en-US" sz="700" dirty="0" smtClean="0">
                <a:solidFill>
                  <a:srgbClr val="646464"/>
                </a:solidFill>
                <a:latin typeface="EYInterstate" pitchFamily="2" charset="0"/>
              </a:rPr>
              <a:t>Go / No Go</a:t>
            </a:r>
          </a:p>
          <a:p>
            <a:pPr algn="l" defTabSz="514230" eaLnBrk="0" fontAlgn="base" hangingPunct="0">
              <a:spcBef>
                <a:spcPct val="0"/>
              </a:spcBef>
              <a:spcAft>
                <a:spcPct val="0"/>
              </a:spcAft>
            </a:pPr>
            <a:r>
              <a:rPr lang="en-US" sz="700" dirty="0" smtClean="0">
                <a:solidFill>
                  <a:srgbClr val="646464"/>
                </a:solidFill>
                <a:latin typeface="EYInterstate" pitchFamily="2" charset="0"/>
              </a:rPr>
              <a:t>17</a:t>
            </a:r>
            <a:r>
              <a:rPr lang="en-US" sz="700" baseline="30000" dirty="0" smtClean="0">
                <a:solidFill>
                  <a:srgbClr val="646464"/>
                </a:solidFill>
                <a:latin typeface="EYInterstate" pitchFamily="2" charset="0"/>
              </a:rPr>
              <a:t>th</a:t>
            </a:r>
            <a:r>
              <a:rPr lang="en-US" sz="700" dirty="0" smtClean="0">
                <a:solidFill>
                  <a:srgbClr val="646464"/>
                </a:solidFill>
                <a:latin typeface="EYInterstate" pitchFamily="2" charset="0"/>
              </a:rPr>
              <a:t> April</a:t>
            </a:r>
            <a:endParaRPr lang="en-US" sz="700" dirty="0">
              <a:solidFill>
                <a:srgbClr val="646464"/>
              </a:solidFill>
              <a:latin typeface="EYInterstate" pitchFamily="2" charset="0"/>
            </a:endParaRPr>
          </a:p>
        </p:txBody>
      </p:sp>
      <p:cxnSp>
        <p:nvCxnSpPr>
          <p:cNvPr id="176" name="Straight Connector 175"/>
          <p:cNvCxnSpPr/>
          <p:nvPr/>
        </p:nvCxnSpPr>
        <p:spPr bwMode="auto">
          <a:xfrm>
            <a:off x="4932040" y="2509156"/>
            <a:ext cx="0" cy="485067"/>
          </a:xfrm>
          <a:prstGeom prst="line">
            <a:avLst/>
          </a:prstGeom>
          <a:solidFill>
            <a:srgbClr val="FF0000"/>
          </a:solidFill>
          <a:ln w="12700" cap="flat" cmpd="sng" algn="ctr">
            <a:solidFill>
              <a:srgbClr val="FF0000"/>
            </a:solidFill>
            <a:prstDash val="solid"/>
            <a:round/>
            <a:headEnd type="none" w="med" len="med"/>
            <a:tailEnd type="none"/>
          </a:ln>
          <a:effectLst/>
        </p:spPr>
      </p:cxnSp>
      <p:sp>
        <p:nvSpPr>
          <p:cNvPr id="178" name="Pentagon 177"/>
          <p:cNvSpPr/>
          <p:nvPr/>
        </p:nvSpPr>
        <p:spPr bwMode="auto">
          <a:xfrm>
            <a:off x="4932040" y="2653172"/>
            <a:ext cx="248427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Cloud Deployment (?)</a:t>
            </a:r>
            <a:endParaRPr lang="en-GB" sz="800" b="1" dirty="0">
              <a:solidFill>
                <a:srgbClr val="646464"/>
              </a:solidFill>
            </a:endParaRPr>
          </a:p>
        </p:txBody>
      </p:sp>
      <p:sp>
        <p:nvSpPr>
          <p:cNvPr id="180" name="TextBox 179"/>
          <p:cNvSpPr txBox="1"/>
          <p:nvPr/>
        </p:nvSpPr>
        <p:spPr>
          <a:xfrm>
            <a:off x="-36512" y="3013212"/>
            <a:ext cx="1750800" cy="215444"/>
          </a:xfrm>
          <a:prstGeom prst="rect">
            <a:avLst/>
          </a:prstGeom>
          <a:noFill/>
        </p:spPr>
        <p:txBody>
          <a:bodyPr wrap="none" rtlCol="0">
            <a:spAutoFit/>
          </a:bodyPr>
          <a:lstStyle/>
          <a:p>
            <a:r>
              <a:rPr lang="en-GB" sz="800" b="1" dirty="0" smtClean="0"/>
              <a:t>Exchange (On Prem) &amp; Outook</a:t>
            </a:r>
            <a:endParaRPr lang="en-GB" sz="800" b="1" dirty="0"/>
          </a:p>
        </p:txBody>
      </p:sp>
      <p:cxnSp>
        <p:nvCxnSpPr>
          <p:cNvPr id="182" name="Straight Connector 181"/>
          <p:cNvCxnSpPr/>
          <p:nvPr/>
        </p:nvCxnSpPr>
        <p:spPr bwMode="auto">
          <a:xfrm>
            <a:off x="-508" y="4653136"/>
            <a:ext cx="9144508" cy="0"/>
          </a:xfrm>
          <a:prstGeom prst="line">
            <a:avLst/>
          </a:prstGeom>
          <a:solidFill>
            <a:schemeClr val="accent2"/>
          </a:solidFill>
          <a:ln w="15875" cap="flat" cmpd="sng" algn="ctr">
            <a:solidFill>
              <a:schemeClr val="bg2"/>
            </a:solidFill>
            <a:prstDash val="dash"/>
            <a:round/>
            <a:headEnd type="none" w="med" len="med"/>
            <a:tailEnd type="none"/>
          </a:ln>
          <a:effectLst/>
        </p:spPr>
      </p:cxnSp>
      <p:sp>
        <p:nvSpPr>
          <p:cNvPr id="183" name="Pentagon 182"/>
          <p:cNvSpPr/>
          <p:nvPr/>
        </p:nvSpPr>
        <p:spPr bwMode="auto">
          <a:xfrm>
            <a:off x="971600" y="3825044"/>
            <a:ext cx="158417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Wave 0* Build</a:t>
            </a:r>
            <a:endParaRPr lang="en-GB" sz="800" b="1" dirty="0">
              <a:solidFill>
                <a:srgbClr val="646464"/>
              </a:solidFill>
            </a:endParaRPr>
          </a:p>
        </p:txBody>
      </p:sp>
      <p:sp>
        <p:nvSpPr>
          <p:cNvPr id="184" name="Pentagon 183"/>
          <p:cNvSpPr/>
          <p:nvPr/>
        </p:nvSpPr>
        <p:spPr bwMode="auto">
          <a:xfrm>
            <a:off x="971600" y="3969060"/>
            <a:ext cx="158417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Wave 1* Build</a:t>
            </a:r>
            <a:endParaRPr lang="en-GB" sz="800" b="1" dirty="0">
              <a:solidFill>
                <a:srgbClr val="646464"/>
              </a:solidFill>
            </a:endParaRPr>
          </a:p>
        </p:txBody>
      </p:sp>
      <p:sp>
        <p:nvSpPr>
          <p:cNvPr id="188" name="Pentagon 187"/>
          <p:cNvSpPr/>
          <p:nvPr/>
        </p:nvSpPr>
        <p:spPr bwMode="auto">
          <a:xfrm>
            <a:off x="1367644" y="4113076"/>
            <a:ext cx="158417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Wave 2* Build</a:t>
            </a:r>
            <a:endParaRPr lang="en-GB" sz="800" b="1" dirty="0">
              <a:solidFill>
                <a:srgbClr val="646464"/>
              </a:solidFill>
            </a:endParaRPr>
          </a:p>
        </p:txBody>
      </p:sp>
      <p:cxnSp>
        <p:nvCxnSpPr>
          <p:cNvPr id="196" name="Straight Connector 195"/>
          <p:cNvCxnSpPr/>
          <p:nvPr/>
        </p:nvCxnSpPr>
        <p:spPr bwMode="auto">
          <a:xfrm>
            <a:off x="3131840" y="2420888"/>
            <a:ext cx="0" cy="2160240"/>
          </a:xfrm>
          <a:prstGeom prst="line">
            <a:avLst/>
          </a:prstGeom>
          <a:solidFill>
            <a:srgbClr val="FF0000"/>
          </a:solidFill>
          <a:ln w="12700" cap="flat" cmpd="sng" algn="ctr">
            <a:solidFill>
              <a:srgbClr val="FF0000"/>
            </a:solidFill>
            <a:prstDash val="solid"/>
            <a:round/>
            <a:headEnd type="none" w="med" len="med"/>
            <a:tailEnd type="none"/>
          </a:ln>
          <a:effectLst/>
        </p:spPr>
      </p:cxnSp>
      <p:sp>
        <p:nvSpPr>
          <p:cNvPr id="189" name="Pentagon 188"/>
          <p:cNvSpPr/>
          <p:nvPr/>
        </p:nvSpPr>
        <p:spPr bwMode="auto">
          <a:xfrm>
            <a:off x="1763688" y="4257092"/>
            <a:ext cx="158417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Wave 3* Build</a:t>
            </a:r>
            <a:endParaRPr lang="en-GB" sz="800" b="1" dirty="0">
              <a:solidFill>
                <a:srgbClr val="646464"/>
              </a:solidFill>
            </a:endParaRPr>
          </a:p>
        </p:txBody>
      </p:sp>
      <p:sp>
        <p:nvSpPr>
          <p:cNvPr id="190" name="Pentagon 189"/>
          <p:cNvSpPr/>
          <p:nvPr/>
        </p:nvSpPr>
        <p:spPr bwMode="auto">
          <a:xfrm>
            <a:off x="2051720" y="4401108"/>
            <a:ext cx="158417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Wave 4* Build</a:t>
            </a:r>
            <a:endParaRPr lang="en-GB" sz="800" b="1" dirty="0">
              <a:solidFill>
                <a:srgbClr val="646464"/>
              </a:solidFill>
            </a:endParaRPr>
          </a:p>
        </p:txBody>
      </p:sp>
      <p:sp>
        <p:nvSpPr>
          <p:cNvPr id="53" name="Rectangle 52"/>
          <p:cNvSpPr/>
          <p:nvPr/>
        </p:nvSpPr>
        <p:spPr bwMode="auto">
          <a:xfrm>
            <a:off x="3347864" y="404664"/>
            <a:ext cx="216024" cy="6264696"/>
          </a:xfrm>
          <a:prstGeom prst="rect">
            <a:avLst/>
          </a:prstGeom>
          <a:solidFill>
            <a:schemeClr val="bg1">
              <a:lumMod val="85000"/>
              <a:alpha val="39000"/>
            </a:schemeClr>
          </a:solidFill>
          <a:ln w="9525" cap="flat" cmpd="sng" algn="ctr">
            <a:noFill/>
            <a:prstDash val="solid"/>
            <a:round/>
            <a:headEnd type="none" w="med" len="med"/>
            <a:tailEnd type="none" w="med" len="med"/>
          </a:ln>
          <a:effectLst/>
        </p:spPr>
        <p:txBody>
          <a:bodyPr vert="vert270"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GB" sz="900" b="1" dirty="0" smtClean="0"/>
              <a:t>CHRISTMAS      </a:t>
            </a:r>
            <a:r>
              <a:rPr lang="en-GB" sz="900" b="1" dirty="0" smtClean="0">
                <a:latin typeface="Arial" charset="0"/>
              </a:rPr>
              <a:t>                </a:t>
            </a:r>
            <a:endParaRPr lang="en-GB" sz="900" b="1" dirty="0" smtClean="0"/>
          </a:p>
        </p:txBody>
      </p:sp>
      <p:sp>
        <p:nvSpPr>
          <p:cNvPr id="198" name="5-Point Star 197"/>
          <p:cNvSpPr/>
          <p:nvPr/>
        </p:nvSpPr>
        <p:spPr bwMode="auto">
          <a:xfrm>
            <a:off x="3059832" y="4581128"/>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sp>
        <p:nvSpPr>
          <p:cNvPr id="214" name="Text Box 126"/>
          <p:cNvSpPr txBox="1">
            <a:spLocks noChangeArrowheads="1"/>
          </p:cNvSpPr>
          <p:nvPr/>
        </p:nvSpPr>
        <p:spPr bwMode="gray">
          <a:xfrm>
            <a:off x="2339752" y="3140968"/>
            <a:ext cx="792089" cy="215444"/>
          </a:xfrm>
          <a:prstGeom prst="rect">
            <a:avLst/>
          </a:prstGeom>
          <a:noFill/>
          <a:ln w="9525" algn="ctr">
            <a:noFill/>
            <a:miter lim="800000"/>
            <a:headEnd type="none" w="sm" len="sm"/>
            <a:tailEnd type="none" w="sm" len="sm"/>
          </a:ln>
        </p:spPr>
        <p:txBody>
          <a:bodyPr wrap="square" lIns="26118" tIns="0" rIns="0" bIns="0" anchor="ctr" anchorCtr="0">
            <a:spAutoFit/>
          </a:bodyPr>
          <a:lstStyle/>
          <a:p>
            <a:pPr algn="r" defTabSz="514230" eaLnBrk="0" fontAlgn="base" hangingPunct="0">
              <a:spcBef>
                <a:spcPct val="0"/>
              </a:spcBef>
              <a:spcAft>
                <a:spcPct val="0"/>
              </a:spcAft>
            </a:pPr>
            <a:r>
              <a:rPr lang="en-US" sz="700" dirty="0" smtClean="0">
                <a:solidFill>
                  <a:srgbClr val="646464"/>
                </a:solidFill>
                <a:latin typeface="EYInterstate" pitchFamily="2" charset="0"/>
              </a:rPr>
              <a:t>UAT go/  no Go </a:t>
            </a:r>
          </a:p>
          <a:p>
            <a:pPr algn="r" defTabSz="514230" eaLnBrk="0" fontAlgn="base" hangingPunct="0">
              <a:spcBef>
                <a:spcPct val="0"/>
              </a:spcBef>
              <a:spcAft>
                <a:spcPct val="0"/>
              </a:spcAft>
            </a:pPr>
            <a:r>
              <a:rPr lang="en-US" sz="700" dirty="0" smtClean="0">
                <a:solidFill>
                  <a:srgbClr val="646464"/>
                </a:solidFill>
                <a:latin typeface="EYInterstate" pitchFamily="2" charset="0"/>
              </a:rPr>
              <a:t>3</a:t>
            </a:r>
            <a:r>
              <a:rPr lang="en-US" sz="700" baseline="30000" dirty="0" smtClean="0">
                <a:solidFill>
                  <a:srgbClr val="646464"/>
                </a:solidFill>
                <a:latin typeface="EYInterstate" pitchFamily="2" charset="0"/>
              </a:rPr>
              <a:t>rd</a:t>
            </a:r>
            <a:r>
              <a:rPr lang="en-US" sz="700" dirty="0" smtClean="0">
                <a:solidFill>
                  <a:srgbClr val="646464"/>
                </a:solidFill>
                <a:latin typeface="EYInterstate" pitchFamily="2" charset="0"/>
              </a:rPr>
              <a:t> Dec</a:t>
            </a:r>
            <a:endParaRPr lang="en-US" sz="700" dirty="0">
              <a:solidFill>
                <a:srgbClr val="646464"/>
              </a:solidFill>
              <a:latin typeface="EYInterstate" pitchFamily="2" charset="0"/>
            </a:endParaRPr>
          </a:p>
        </p:txBody>
      </p:sp>
      <p:sp>
        <p:nvSpPr>
          <p:cNvPr id="230" name="Pentagon 229"/>
          <p:cNvSpPr/>
          <p:nvPr/>
        </p:nvSpPr>
        <p:spPr bwMode="auto">
          <a:xfrm>
            <a:off x="4932040" y="3933056"/>
            <a:ext cx="248427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On Prem Deployment All Waves (?)</a:t>
            </a:r>
            <a:endParaRPr lang="en-GB" sz="800" b="1" dirty="0">
              <a:solidFill>
                <a:srgbClr val="646464"/>
              </a:solidFill>
            </a:endParaRPr>
          </a:p>
        </p:txBody>
      </p:sp>
      <p:sp>
        <p:nvSpPr>
          <p:cNvPr id="350" name="Rectangle 349"/>
          <p:cNvSpPr/>
          <p:nvPr/>
        </p:nvSpPr>
        <p:spPr bwMode="auto">
          <a:xfrm>
            <a:off x="6804248" y="980728"/>
            <a:ext cx="1368152" cy="5688632"/>
          </a:xfrm>
          <a:prstGeom prst="rect">
            <a:avLst/>
          </a:prstGeom>
          <a:solidFill>
            <a:schemeClr val="bg1">
              <a:lumMod val="75000"/>
              <a:alpha val="25000"/>
            </a:schemeClr>
          </a:solidFill>
          <a:ln w="3175" cap="flat" cmpd="sng" algn="ctr">
            <a:solidFill>
              <a:schemeClr val="tx1"/>
            </a:solidFill>
            <a:prstDash val="lgDash"/>
            <a:round/>
            <a:headEnd type="none" w="med" len="med"/>
            <a:tailEnd type="none" w="med" len="med"/>
          </a:ln>
          <a:effectLst/>
        </p:spPr>
        <p:txBody>
          <a:bodyPr vert="horz" wrap="none" lIns="0" tIns="0" rIns="0" bIns="0" numCol="1" rtlCol="0" anchor="t" anchorCtr="0" compatLnSpc="1">
            <a:prstTxWarp prst="textNoShape">
              <a:avLst/>
            </a:prstTxWarp>
          </a:bodyPr>
          <a:lstStyle/>
          <a:p>
            <a:pPr algn="ctr"/>
            <a:endParaRPr lang="en-GB" sz="900" b="1" dirty="0" smtClean="0"/>
          </a:p>
          <a:p>
            <a:pPr algn="ctr"/>
            <a:endParaRPr lang="en-GB" sz="900" b="1" dirty="0" smtClean="0"/>
          </a:p>
          <a:p>
            <a:pPr algn="ctr"/>
            <a:r>
              <a:rPr lang="en-GB" sz="900" b="1" dirty="0" smtClean="0"/>
              <a:t>BLACK OUT PERIOD</a:t>
            </a:r>
          </a:p>
          <a:p>
            <a:pPr algn="ctr"/>
            <a:endParaRPr lang="en-GB" sz="800" b="1" dirty="0" smtClean="0"/>
          </a:p>
          <a:p>
            <a:pPr algn="ctr"/>
            <a:endParaRPr lang="en-GB" sz="800" b="1" dirty="0" smtClean="0"/>
          </a:p>
          <a:p>
            <a:pPr algn="ctr"/>
            <a:r>
              <a:rPr lang="en-GB" sz="800" b="1" dirty="0" smtClean="0"/>
              <a:t>Europe</a:t>
            </a:r>
          </a:p>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grpSp>
        <p:nvGrpSpPr>
          <p:cNvPr id="5" name="Group 351"/>
          <p:cNvGrpSpPr/>
          <p:nvPr/>
        </p:nvGrpSpPr>
        <p:grpSpPr>
          <a:xfrm>
            <a:off x="4898049" y="476672"/>
            <a:ext cx="4266225" cy="631813"/>
            <a:chOff x="4898049" y="332656"/>
            <a:chExt cx="4266225" cy="631813"/>
          </a:xfrm>
        </p:grpSpPr>
        <p:sp>
          <p:nvSpPr>
            <p:cNvPr id="124" name="Rectangle 123"/>
            <p:cNvSpPr/>
            <p:nvPr/>
          </p:nvSpPr>
          <p:spPr bwMode="auto">
            <a:xfrm>
              <a:off x="4898049" y="332656"/>
              <a:ext cx="4174451" cy="612068"/>
            </a:xfrm>
            <a:prstGeom prst="rect">
              <a:avLst/>
            </a:prstGeom>
            <a:solidFill>
              <a:schemeClr val="bg1"/>
            </a:solidFill>
            <a:ln w="6350"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800" b="1" i="0" u="none" strike="noStrike" cap="none" normalizeH="0" baseline="0" dirty="0" smtClean="0">
                  <a:ln>
                    <a:noFill/>
                  </a:ln>
                  <a:solidFill>
                    <a:schemeClr val="tx1"/>
                  </a:solidFill>
                  <a:effectLst/>
                  <a:latin typeface="Arial" charset="0"/>
                </a:rPr>
                <a:t>KEY</a:t>
              </a:r>
            </a:p>
          </p:txBody>
        </p:sp>
        <p:sp>
          <p:nvSpPr>
            <p:cNvPr id="142" name="Pentagon 141"/>
            <p:cNvSpPr/>
            <p:nvPr/>
          </p:nvSpPr>
          <p:spPr bwMode="auto">
            <a:xfrm>
              <a:off x="4949784" y="676437"/>
              <a:ext cx="342296" cy="108012"/>
            </a:xfrm>
            <a:prstGeom prst="homePlate">
              <a:avLst/>
            </a:prstGeom>
            <a:solidFill>
              <a:schemeClr val="bg1">
                <a:lumMod val="75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fontAlgn="base">
                <a:spcBef>
                  <a:spcPct val="0"/>
                </a:spcBef>
                <a:spcAft>
                  <a:spcPct val="0"/>
                </a:spcAft>
              </a:pPr>
              <a:endParaRPr lang="en-GB" sz="600" b="1" dirty="0" smtClean="0">
                <a:solidFill>
                  <a:schemeClr val="bg1"/>
                </a:solidFill>
              </a:endParaRPr>
            </a:p>
          </p:txBody>
        </p:sp>
        <p:sp>
          <p:nvSpPr>
            <p:cNvPr id="122" name="Pentagon 121"/>
            <p:cNvSpPr/>
            <p:nvPr/>
          </p:nvSpPr>
          <p:spPr bwMode="auto">
            <a:xfrm>
              <a:off x="4932040" y="440668"/>
              <a:ext cx="361311"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fontAlgn="base">
                <a:spcBef>
                  <a:spcPct val="0"/>
                </a:spcBef>
                <a:spcAft>
                  <a:spcPct val="0"/>
                </a:spcAft>
              </a:pPr>
              <a:endParaRPr lang="en-GB" sz="600" b="1" dirty="0" smtClean="0">
                <a:solidFill>
                  <a:srgbClr val="646464"/>
                </a:solidFill>
              </a:endParaRPr>
            </a:p>
          </p:txBody>
        </p:sp>
        <p:sp>
          <p:nvSpPr>
            <p:cNvPr id="125" name="TextBox 124"/>
            <p:cNvSpPr txBox="1"/>
            <p:nvPr/>
          </p:nvSpPr>
          <p:spPr>
            <a:xfrm>
              <a:off x="5220072" y="332656"/>
              <a:ext cx="648072" cy="307777"/>
            </a:xfrm>
            <a:prstGeom prst="rect">
              <a:avLst/>
            </a:prstGeom>
            <a:noFill/>
          </p:spPr>
          <p:txBody>
            <a:bodyPr wrap="square" rtlCol="0">
              <a:spAutoFit/>
            </a:bodyPr>
            <a:lstStyle/>
            <a:p>
              <a:r>
                <a:rPr lang="en-GB" sz="700" dirty="0" smtClean="0"/>
                <a:t>EY Project </a:t>
              </a:r>
            </a:p>
            <a:p>
              <a:r>
                <a:rPr lang="en-GB" sz="700" dirty="0" smtClean="0"/>
                <a:t>phase</a:t>
              </a:r>
              <a:endParaRPr lang="en-GB" sz="700" dirty="0"/>
            </a:p>
          </p:txBody>
        </p:sp>
        <p:grpSp>
          <p:nvGrpSpPr>
            <p:cNvPr id="7" name="Group 93"/>
            <p:cNvGrpSpPr/>
            <p:nvPr/>
          </p:nvGrpSpPr>
          <p:grpSpPr>
            <a:xfrm>
              <a:off x="7308304" y="440672"/>
              <a:ext cx="144016" cy="184518"/>
              <a:chOff x="8393344" y="3092225"/>
              <a:chExt cx="140069" cy="295228"/>
            </a:xfrm>
          </p:grpSpPr>
          <p:sp>
            <p:nvSpPr>
              <p:cNvPr id="138" name="5-Point Star 137"/>
              <p:cNvSpPr/>
              <p:nvPr/>
            </p:nvSpPr>
            <p:spPr bwMode="auto">
              <a:xfrm>
                <a:off x="8393344" y="3207434"/>
                <a:ext cx="140069" cy="180019"/>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cxnSp>
            <p:nvCxnSpPr>
              <p:cNvPr id="139" name="Straight Connector 138"/>
              <p:cNvCxnSpPr/>
              <p:nvPr/>
            </p:nvCxnSpPr>
            <p:spPr bwMode="auto">
              <a:xfrm>
                <a:off x="8463379" y="3092225"/>
                <a:ext cx="1" cy="116396"/>
              </a:xfrm>
              <a:prstGeom prst="line">
                <a:avLst/>
              </a:prstGeom>
              <a:solidFill>
                <a:srgbClr val="FF0000"/>
              </a:solidFill>
              <a:ln w="12700" cap="flat" cmpd="sng" algn="ctr">
                <a:solidFill>
                  <a:srgbClr val="FF0000"/>
                </a:solidFill>
                <a:prstDash val="solid"/>
                <a:round/>
                <a:headEnd type="none" w="med" len="med"/>
                <a:tailEnd type="none"/>
              </a:ln>
              <a:effectLst/>
            </p:spPr>
          </p:cxnSp>
        </p:grpSp>
        <p:sp>
          <p:nvSpPr>
            <p:cNvPr id="127" name="TextBox 126"/>
            <p:cNvSpPr txBox="1"/>
            <p:nvPr/>
          </p:nvSpPr>
          <p:spPr>
            <a:xfrm>
              <a:off x="7092280" y="672661"/>
              <a:ext cx="591773" cy="200055"/>
            </a:xfrm>
            <a:prstGeom prst="rect">
              <a:avLst/>
            </a:prstGeom>
            <a:noFill/>
          </p:spPr>
          <p:txBody>
            <a:bodyPr wrap="square" rtlCol="0">
              <a:spAutoFit/>
            </a:bodyPr>
            <a:lstStyle/>
            <a:p>
              <a:pPr algn="l"/>
              <a:r>
                <a:rPr lang="en-GB" sz="700" dirty="0" smtClean="0"/>
                <a:t>Decision</a:t>
              </a:r>
              <a:endParaRPr lang="en-GB" sz="700" dirty="0"/>
            </a:p>
          </p:txBody>
        </p:sp>
        <p:sp>
          <p:nvSpPr>
            <p:cNvPr id="128" name="Line 125"/>
            <p:cNvSpPr>
              <a:spLocks noChangeShapeType="1"/>
            </p:cNvSpPr>
            <p:nvPr/>
          </p:nvSpPr>
          <p:spPr bwMode="gray">
            <a:xfrm flipV="1">
              <a:off x="7812360" y="449669"/>
              <a:ext cx="0" cy="135015"/>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129" name="TextBox 128"/>
            <p:cNvSpPr txBox="1"/>
            <p:nvPr/>
          </p:nvSpPr>
          <p:spPr>
            <a:xfrm>
              <a:off x="7524328" y="672661"/>
              <a:ext cx="665809" cy="200055"/>
            </a:xfrm>
            <a:prstGeom prst="rect">
              <a:avLst/>
            </a:prstGeom>
            <a:noFill/>
          </p:spPr>
          <p:txBody>
            <a:bodyPr wrap="square" rtlCol="0">
              <a:spAutoFit/>
            </a:bodyPr>
            <a:lstStyle/>
            <a:p>
              <a:pPr algn="l"/>
              <a:r>
                <a:rPr lang="en-GB" sz="700" dirty="0" smtClean="0"/>
                <a:t>Milestone</a:t>
              </a:r>
              <a:endParaRPr lang="en-GB" sz="700" dirty="0"/>
            </a:p>
          </p:txBody>
        </p:sp>
        <p:sp>
          <p:nvSpPr>
            <p:cNvPr id="131" name="Line 125"/>
            <p:cNvSpPr>
              <a:spLocks noChangeShapeType="1"/>
            </p:cNvSpPr>
            <p:nvPr/>
          </p:nvSpPr>
          <p:spPr bwMode="gray">
            <a:xfrm flipV="1">
              <a:off x="8748464" y="440668"/>
              <a:ext cx="0" cy="135015"/>
            </a:xfrm>
            <a:prstGeom prst="line">
              <a:avLst/>
            </a:prstGeom>
            <a:noFill/>
            <a:ln w="6350">
              <a:solidFill>
                <a:srgbClr val="FF0000"/>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132" name="Rectangle 131"/>
            <p:cNvSpPr/>
            <p:nvPr/>
          </p:nvSpPr>
          <p:spPr bwMode="auto">
            <a:xfrm>
              <a:off x="5976156" y="440668"/>
              <a:ext cx="288031" cy="108012"/>
            </a:xfrm>
            <a:prstGeom prst="rect">
              <a:avLst/>
            </a:prstGeom>
            <a:solidFill>
              <a:schemeClr val="accent2">
                <a:lumMod val="40000"/>
                <a:lumOff val="60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GB" sz="600" dirty="0" smtClean="0">
                <a:latin typeface="Arial" charset="0"/>
              </a:endParaRPr>
            </a:p>
          </p:txBody>
        </p:sp>
        <p:sp>
          <p:nvSpPr>
            <p:cNvPr id="133" name="TextBox 132"/>
            <p:cNvSpPr txBox="1"/>
            <p:nvPr/>
          </p:nvSpPr>
          <p:spPr>
            <a:xfrm>
              <a:off x="6264188" y="332656"/>
              <a:ext cx="756084" cy="307777"/>
            </a:xfrm>
            <a:prstGeom prst="rect">
              <a:avLst/>
            </a:prstGeom>
            <a:noFill/>
          </p:spPr>
          <p:txBody>
            <a:bodyPr wrap="square" rtlCol="0">
              <a:spAutoFit/>
            </a:bodyPr>
            <a:lstStyle/>
            <a:p>
              <a:r>
                <a:rPr lang="en-GB" sz="700" dirty="0" smtClean="0"/>
                <a:t>EY High</a:t>
              </a:r>
            </a:p>
            <a:p>
              <a:r>
                <a:rPr lang="en-GB" sz="700" dirty="0" smtClean="0"/>
                <a:t> level activity</a:t>
              </a:r>
              <a:endParaRPr lang="en-GB" sz="700" dirty="0"/>
            </a:p>
          </p:txBody>
        </p:sp>
        <p:sp>
          <p:nvSpPr>
            <p:cNvPr id="134" name="TextBox 133"/>
            <p:cNvSpPr txBox="1"/>
            <p:nvPr/>
          </p:nvSpPr>
          <p:spPr>
            <a:xfrm>
              <a:off x="7956376" y="656692"/>
              <a:ext cx="612068" cy="307777"/>
            </a:xfrm>
            <a:prstGeom prst="rect">
              <a:avLst/>
            </a:prstGeom>
            <a:noFill/>
          </p:spPr>
          <p:txBody>
            <a:bodyPr wrap="square" rtlCol="0">
              <a:spAutoFit/>
            </a:bodyPr>
            <a:lstStyle/>
            <a:p>
              <a:pPr algn="ctr"/>
              <a:r>
                <a:rPr lang="en-GB" sz="700" dirty="0" smtClean="0"/>
                <a:t>Ext</a:t>
              </a:r>
            </a:p>
            <a:p>
              <a:r>
                <a:rPr lang="en-GB" sz="700" dirty="0" smtClean="0"/>
                <a:t>Milestone</a:t>
              </a:r>
              <a:endParaRPr lang="en-GB" sz="700" dirty="0"/>
            </a:p>
          </p:txBody>
        </p:sp>
        <p:sp>
          <p:nvSpPr>
            <p:cNvPr id="135" name="Rectangle 134"/>
            <p:cNvSpPr/>
            <p:nvPr/>
          </p:nvSpPr>
          <p:spPr bwMode="auto">
            <a:xfrm>
              <a:off x="5976156" y="728700"/>
              <a:ext cx="288032" cy="108012"/>
            </a:xfrm>
            <a:prstGeom prst="rect">
              <a:avLst/>
            </a:prstGeom>
            <a:gradFill flip="none" rotWithShape="1">
              <a:gsLst>
                <a:gs pos="0">
                  <a:schemeClr val="accent1">
                    <a:tint val="66000"/>
                    <a:satMod val="160000"/>
                  </a:schemeClr>
                </a:gs>
                <a:gs pos="50000">
                  <a:schemeClr val="accent2"/>
                </a:gs>
                <a:gs pos="100000">
                  <a:schemeClr val="accent1">
                    <a:tint val="23500"/>
                    <a:satMod val="160000"/>
                  </a:schemeClr>
                </a:gs>
              </a:gsLst>
              <a:lin ang="10800000" scaled="1"/>
              <a:tileRect/>
            </a:gra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600" b="1" i="0" u="none" strike="noStrike" cap="none" normalizeH="0" baseline="0" dirty="0" smtClean="0">
                <a:ln>
                  <a:noFill/>
                </a:ln>
                <a:solidFill>
                  <a:schemeClr val="bg1"/>
                </a:solidFill>
                <a:effectLst/>
                <a:latin typeface="Arial" charset="0"/>
              </a:endParaRPr>
            </a:p>
          </p:txBody>
        </p:sp>
        <p:sp>
          <p:nvSpPr>
            <p:cNvPr id="136" name="TextBox 135"/>
            <p:cNvSpPr txBox="1"/>
            <p:nvPr/>
          </p:nvSpPr>
          <p:spPr>
            <a:xfrm>
              <a:off x="5220072" y="584684"/>
              <a:ext cx="792088" cy="307777"/>
            </a:xfrm>
            <a:prstGeom prst="rect">
              <a:avLst/>
            </a:prstGeom>
            <a:noFill/>
          </p:spPr>
          <p:txBody>
            <a:bodyPr wrap="square" rtlCol="0">
              <a:spAutoFit/>
            </a:bodyPr>
            <a:lstStyle/>
            <a:p>
              <a:r>
                <a:rPr lang="en-GB" sz="700" dirty="0" smtClean="0"/>
                <a:t>External high </a:t>
              </a:r>
            </a:p>
            <a:p>
              <a:r>
                <a:rPr lang="en-GB" sz="700" dirty="0" smtClean="0"/>
                <a:t>level activity</a:t>
              </a:r>
              <a:endParaRPr lang="en-GB" sz="700" dirty="0"/>
            </a:p>
          </p:txBody>
        </p:sp>
        <p:sp>
          <p:nvSpPr>
            <p:cNvPr id="137" name="TextBox 136"/>
            <p:cNvSpPr txBox="1"/>
            <p:nvPr/>
          </p:nvSpPr>
          <p:spPr>
            <a:xfrm>
              <a:off x="8424428" y="672661"/>
              <a:ext cx="739846" cy="200055"/>
            </a:xfrm>
            <a:prstGeom prst="rect">
              <a:avLst/>
            </a:prstGeom>
            <a:noFill/>
          </p:spPr>
          <p:txBody>
            <a:bodyPr wrap="square" rtlCol="0">
              <a:spAutoFit/>
            </a:bodyPr>
            <a:lstStyle/>
            <a:p>
              <a:pPr algn="l"/>
              <a:r>
                <a:rPr lang="en-GB" sz="700" dirty="0" smtClean="0"/>
                <a:t>Dependency</a:t>
              </a:r>
              <a:endParaRPr lang="en-GB" sz="700" dirty="0"/>
            </a:p>
          </p:txBody>
        </p:sp>
        <p:sp>
          <p:nvSpPr>
            <p:cNvPr id="143" name="TextBox 142"/>
            <p:cNvSpPr txBox="1"/>
            <p:nvPr/>
          </p:nvSpPr>
          <p:spPr>
            <a:xfrm>
              <a:off x="6264188" y="620688"/>
              <a:ext cx="828092" cy="307777"/>
            </a:xfrm>
            <a:prstGeom prst="rect">
              <a:avLst/>
            </a:prstGeom>
            <a:noFill/>
          </p:spPr>
          <p:txBody>
            <a:bodyPr wrap="square" rtlCol="0">
              <a:spAutoFit/>
            </a:bodyPr>
            <a:lstStyle/>
            <a:p>
              <a:r>
                <a:rPr lang="en-GB" sz="700" dirty="0" smtClean="0"/>
                <a:t>Joint  EY &amp;</a:t>
              </a:r>
            </a:p>
            <a:p>
              <a:r>
                <a:rPr lang="en-GB" sz="700" dirty="0" smtClean="0"/>
                <a:t> Vendor activity</a:t>
              </a:r>
              <a:endParaRPr lang="en-GB" sz="700" dirty="0"/>
            </a:p>
          </p:txBody>
        </p:sp>
        <p:sp>
          <p:nvSpPr>
            <p:cNvPr id="234" name="Line 125"/>
            <p:cNvSpPr>
              <a:spLocks noChangeShapeType="1"/>
            </p:cNvSpPr>
            <p:nvPr/>
          </p:nvSpPr>
          <p:spPr bwMode="gray">
            <a:xfrm flipV="1">
              <a:off x="8244408" y="440668"/>
              <a:ext cx="0" cy="135015"/>
            </a:xfrm>
            <a:prstGeom prst="line">
              <a:avLst/>
            </a:prstGeom>
            <a:noFill/>
            <a:ln w="6350">
              <a:solidFill>
                <a:schemeClr val="accent1"/>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grpSp>
      <p:sp>
        <p:nvSpPr>
          <p:cNvPr id="353" name="Pentagon 352"/>
          <p:cNvSpPr/>
          <p:nvPr/>
        </p:nvSpPr>
        <p:spPr bwMode="auto">
          <a:xfrm>
            <a:off x="2915816" y="2348880"/>
            <a:ext cx="4284476" cy="144016"/>
          </a:xfrm>
          <a:prstGeom prst="homePlate">
            <a:avLst/>
          </a:prstGeom>
          <a:solidFill>
            <a:schemeClr val="bg1">
              <a:lumMod val="75000"/>
            </a:schemeClr>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Microsoft 12 Month available deployment window</a:t>
            </a:r>
            <a:endParaRPr lang="en-GB" sz="800" b="1" dirty="0">
              <a:solidFill>
                <a:srgbClr val="646464"/>
              </a:solidFill>
            </a:endParaRPr>
          </a:p>
        </p:txBody>
      </p:sp>
      <p:sp>
        <p:nvSpPr>
          <p:cNvPr id="235" name="TextBox 234"/>
          <p:cNvSpPr txBox="1"/>
          <p:nvPr/>
        </p:nvSpPr>
        <p:spPr>
          <a:xfrm>
            <a:off x="1763688" y="-27384"/>
            <a:ext cx="7236296" cy="230832"/>
          </a:xfrm>
          <a:prstGeom prst="rect">
            <a:avLst/>
          </a:prstGeom>
          <a:noFill/>
        </p:spPr>
        <p:txBody>
          <a:bodyPr wrap="square" rtlCol="0">
            <a:spAutoFit/>
          </a:bodyPr>
          <a:lstStyle/>
          <a:p>
            <a:r>
              <a:rPr lang="en-GB" sz="900" b="1" u="sng" dirty="0" smtClean="0"/>
              <a:t>MESSAGING AND COLLABORATOIN PROGRAM – LEVEL  0 INTERGRATED PLAN ON A PAGE – DRAFT 31</a:t>
            </a:r>
            <a:r>
              <a:rPr lang="en-GB" sz="900" b="1" u="sng" baseline="30000" dirty="0" smtClean="0"/>
              <a:t>st</a:t>
            </a:r>
            <a:r>
              <a:rPr lang="en-GB" sz="900" b="1" u="sng" dirty="0" smtClean="0"/>
              <a:t> MAY 2012</a:t>
            </a:r>
            <a:endParaRPr lang="en-GB" sz="900" b="1" u="sng" dirty="0"/>
          </a:p>
        </p:txBody>
      </p:sp>
      <p:sp>
        <p:nvSpPr>
          <p:cNvPr id="204" name="TextBox 203"/>
          <p:cNvSpPr txBox="1"/>
          <p:nvPr/>
        </p:nvSpPr>
        <p:spPr>
          <a:xfrm>
            <a:off x="683568" y="6217567"/>
            <a:ext cx="720080" cy="307777"/>
          </a:xfrm>
          <a:prstGeom prst="rect">
            <a:avLst/>
          </a:prstGeom>
          <a:noFill/>
        </p:spPr>
        <p:txBody>
          <a:bodyPr wrap="square" rtlCol="0">
            <a:spAutoFit/>
          </a:bodyPr>
          <a:lstStyle/>
          <a:p>
            <a:pPr algn="r"/>
            <a:r>
              <a:rPr lang="en-GB" sz="700" dirty="0" smtClean="0"/>
              <a:t>Commence</a:t>
            </a:r>
          </a:p>
          <a:p>
            <a:pPr algn="r"/>
            <a:r>
              <a:rPr lang="en-GB" sz="700" dirty="0" smtClean="0"/>
              <a:t>Deactivations</a:t>
            </a:r>
          </a:p>
        </p:txBody>
      </p:sp>
      <p:sp>
        <p:nvSpPr>
          <p:cNvPr id="217" name="TextBox 216"/>
          <p:cNvSpPr txBox="1"/>
          <p:nvPr/>
        </p:nvSpPr>
        <p:spPr>
          <a:xfrm>
            <a:off x="1475656" y="6237312"/>
            <a:ext cx="864096" cy="307777"/>
          </a:xfrm>
          <a:prstGeom prst="rect">
            <a:avLst/>
          </a:prstGeom>
          <a:noFill/>
        </p:spPr>
        <p:txBody>
          <a:bodyPr wrap="square" rtlCol="0">
            <a:spAutoFit/>
          </a:bodyPr>
          <a:lstStyle/>
          <a:p>
            <a:pPr algn="r"/>
            <a:r>
              <a:rPr lang="en-GB" sz="700" dirty="0" smtClean="0"/>
              <a:t>Commence</a:t>
            </a:r>
          </a:p>
          <a:p>
            <a:pPr algn="r"/>
            <a:r>
              <a:rPr lang="en-GB" sz="700" dirty="0" smtClean="0"/>
              <a:t>Decommissions</a:t>
            </a:r>
          </a:p>
        </p:txBody>
      </p:sp>
      <p:sp>
        <p:nvSpPr>
          <p:cNvPr id="232" name="Pentagon 231"/>
          <p:cNvSpPr/>
          <p:nvPr/>
        </p:nvSpPr>
        <p:spPr bwMode="auto">
          <a:xfrm>
            <a:off x="1619672" y="5481240"/>
            <a:ext cx="4608512" cy="108000"/>
          </a:xfrm>
          <a:prstGeom prst="homePlate">
            <a:avLst/>
          </a:prstGeom>
          <a:solidFill>
            <a:schemeClr val="bg1">
              <a:lumMod val="75000"/>
            </a:schemeClr>
          </a:solidFill>
          <a:ln w="9525" cap="flat" cmpd="sng" algn="ctr">
            <a:solidFill>
              <a:schemeClr val="tx1"/>
            </a:solidFill>
            <a:prstDash val="sysDash"/>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700" b="1" dirty="0" smtClean="0">
                <a:solidFill>
                  <a:srgbClr val="646464"/>
                </a:solidFill>
              </a:rPr>
              <a:t>Release 2 May/August 2013 Go Live – TBD in August 2012 </a:t>
            </a:r>
            <a:endParaRPr lang="en-GB" sz="700" b="1" dirty="0">
              <a:solidFill>
                <a:srgbClr val="646464"/>
              </a:solidFill>
            </a:endParaRPr>
          </a:p>
        </p:txBody>
      </p:sp>
      <p:sp>
        <p:nvSpPr>
          <p:cNvPr id="239" name="Text Box 126"/>
          <p:cNvSpPr txBox="1">
            <a:spLocks noChangeArrowheads="1"/>
          </p:cNvSpPr>
          <p:nvPr/>
        </p:nvSpPr>
        <p:spPr bwMode="gray">
          <a:xfrm>
            <a:off x="719572" y="6705654"/>
            <a:ext cx="396044"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May</a:t>
            </a:r>
            <a:endParaRPr lang="en-US" sz="700" dirty="0">
              <a:solidFill>
                <a:srgbClr val="646464"/>
              </a:solidFill>
              <a:latin typeface="EYInterstate" pitchFamily="2" charset="0"/>
            </a:endParaRPr>
          </a:p>
        </p:txBody>
      </p:sp>
      <p:sp>
        <p:nvSpPr>
          <p:cNvPr id="243" name="Text Box 126"/>
          <p:cNvSpPr txBox="1">
            <a:spLocks noChangeArrowheads="1"/>
          </p:cNvSpPr>
          <p:nvPr/>
        </p:nvSpPr>
        <p:spPr bwMode="gray">
          <a:xfrm>
            <a:off x="1007604" y="6705654"/>
            <a:ext cx="396044"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June</a:t>
            </a:r>
            <a:endParaRPr lang="en-US" sz="700" dirty="0">
              <a:solidFill>
                <a:srgbClr val="646464"/>
              </a:solidFill>
              <a:latin typeface="EYInterstate" pitchFamily="2" charset="0"/>
            </a:endParaRPr>
          </a:p>
        </p:txBody>
      </p:sp>
      <p:sp>
        <p:nvSpPr>
          <p:cNvPr id="244" name="Text Box 126"/>
          <p:cNvSpPr txBox="1">
            <a:spLocks noChangeArrowheads="1"/>
          </p:cNvSpPr>
          <p:nvPr/>
        </p:nvSpPr>
        <p:spPr bwMode="gray">
          <a:xfrm>
            <a:off x="1763688" y="6705654"/>
            <a:ext cx="360040"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Aug </a:t>
            </a:r>
            <a:endParaRPr lang="en-US" sz="700" dirty="0">
              <a:solidFill>
                <a:srgbClr val="646464"/>
              </a:solidFill>
              <a:latin typeface="EYInterstate" pitchFamily="2" charset="0"/>
            </a:endParaRPr>
          </a:p>
        </p:txBody>
      </p:sp>
      <p:sp>
        <p:nvSpPr>
          <p:cNvPr id="245" name="Text Box 126"/>
          <p:cNvSpPr txBox="1">
            <a:spLocks noChangeArrowheads="1"/>
          </p:cNvSpPr>
          <p:nvPr/>
        </p:nvSpPr>
        <p:spPr bwMode="gray">
          <a:xfrm>
            <a:off x="2087724" y="6705654"/>
            <a:ext cx="360040"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Sept </a:t>
            </a:r>
            <a:endParaRPr lang="en-US" sz="700" dirty="0">
              <a:solidFill>
                <a:srgbClr val="646464"/>
              </a:solidFill>
              <a:latin typeface="EYInterstate" pitchFamily="2" charset="0"/>
            </a:endParaRPr>
          </a:p>
        </p:txBody>
      </p:sp>
      <p:sp>
        <p:nvSpPr>
          <p:cNvPr id="248" name="Text Box 126"/>
          <p:cNvSpPr txBox="1">
            <a:spLocks noChangeArrowheads="1"/>
          </p:cNvSpPr>
          <p:nvPr/>
        </p:nvSpPr>
        <p:spPr bwMode="gray">
          <a:xfrm>
            <a:off x="2843808" y="6705654"/>
            <a:ext cx="432048"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Nov </a:t>
            </a:r>
            <a:endParaRPr lang="en-US" sz="700" dirty="0">
              <a:solidFill>
                <a:srgbClr val="646464"/>
              </a:solidFill>
              <a:latin typeface="EYInterstate" pitchFamily="2" charset="0"/>
            </a:endParaRPr>
          </a:p>
        </p:txBody>
      </p:sp>
      <p:sp>
        <p:nvSpPr>
          <p:cNvPr id="249" name="Text Box 126"/>
          <p:cNvSpPr txBox="1">
            <a:spLocks noChangeArrowheads="1"/>
          </p:cNvSpPr>
          <p:nvPr/>
        </p:nvSpPr>
        <p:spPr bwMode="gray">
          <a:xfrm>
            <a:off x="3131840" y="6705654"/>
            <a:ext cx="432048"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Dec</a:t>
            </a:r>
            <a:endParaRPr lang="en-US" sz="700" dirty="0">
              <a:solidFill>
                <a:srgbClr val="646464"/>
              </a:solidFill>
              <a:latin typeface="EYInterstate" pitchFamily="2" charset="0"/>
            </a:endParaRPr>
          </a:p>
        </p:txBody>
      </p:sp>
      <p:sp>
        <p:nvSpPr>
          <p:cNvPr id="250" name="Text Box 126"/>
          <p:cNvSpPr txBox="1">
            <a:spLocks noChangeArrowheads="1"/>
          </p:cNvSpPr>
          <p:nvPr/>
        </p:nvSpPr>
        <p:spPr bwMode="gray">
          <a:xfrm>
            <a:off x="3923928" y="6705654"/>
            <a:ext cx="504056"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Feb</a:t>
            </a:r>
            <a:endParaRPr lang="en-US" sz="700" dirty="0">
              <a:solidFill>
                <a:srgbClr val="646464"/>
              </a:solidFill>
              <a:latin typeface="EYInterstate" pitchFamily="2" charset="0"/>
            </a:endParaRPr>
          </a:p>
        </p:txBody>
      </p:sp>
      <p:sp>
        <p:nvSpPr>
          <p:cNvPr id="252" name="Text Box 126"/>
          <p:cNvSpPr txBox="1">
            <a:spLocks noChangeArrowheads="1"/>
          </p:cNvSpPr>
          <p:nvPr/>
        </p:nvSpPr>
        <p:spPr bwMode="gray">
          <a:xfrm>
            <a:off x="4283968" y="6705654"/>
            <a:ext cx="432048"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Mar</a:t>
            </a:r>
            <a:endParaRPr lang="en-US" sz="700" dirty="0">
              <a:solidFill>
                <a:srgbClr val="646464"/>
              </a:solidFill>
              <a:latin typeface="EYInterstate" pitchFamily="2" charset="0"/>
            </a:endParaRPr>
          </a:p>
        </p:txBody>
      </p:sp>
      <p:sp>
        <p:nvSpPr>
          <p:cNvPr id="259" name="Text Box 126"/>
          <p:cNvSpPr txBox="1">
            <a:spLocks noChangeArrowheads="1"/>
          </p:cNvSpPr>
          <p:nvPr/>
        </p:nvSpPr>
        <p:spPr bwMode="gray">
          <a:xfrm>
            <a:off x="5004048" y="6705654"/>
            <a:ext cx="504056"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May</a:t>
            </a:r>
            <a:endParaRPr lang="en-US" sz="700" dirty="0">
              <a:solidFill>
                <a:srgbClr val="646464"/>
              </a:solidFill>
              <a:latin typeface="EYInterstate" pitchFamily="2" charset="0"/>
            </a:endParaRPr>
          </a:p>
        </p:txBody>
      </p:sp>
      <p:sp>
        <p:nvSpPr>
          <p:cNvPr id="270" name="Text Box 126"/>
          <p:cNvSpPr txBox="1">
            <a:spLocks noChangeArrowheads="1"/>
          </p:cNvSpPr>
          <p:nvPr/>
        </p:nvSpPr>
        <p:spPr bwMode="gray">
          <a:xfrm>
            <a:off x="5364088" y="6705364"/>
            <a:ext cx="504056"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June</a:t>
            </a:r>
            <a:endParaRPr lang="en-US" sz="700" dirty="0">
              <a:solidFill>
                <a:srgbClr val="646464"/>
              </a:solidFill>
              <a:latin typeface="EYInterstate" pitchFamily="2" charset="0"/>
            </a:endParaRPr>
          </a:p>
        </p:txBody>
      </p:sp>
      <p:sp>
        <p:nvSpPr>
          <p:cNvPr id="271" name="Text Box 126"/>
          <p:cNvSpPr txBox="1">
            <a:spLocks noChangeArrowheads="1"/>
          </p:cNvSpPr>
          <p:nvPr/>
        </p:nvSpPr>
        <p:spPr bwMode="gray">
          <a:xfrm>
            <a:off x="6084168" y="6705364"/>
            <a:ext cx="504056"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Aug</a:t>
            </a:r>
            <a:endParaRPr lang="en-US" sz="700" dirty="0">
              <a:solidFill>
                <a:srgbClr val="646464"/>
              </a:solidFill>
              <a:latin typeface="EYInterstate" pitchFamily="2" charset="0"/>
            </a:endParaRPr>
          </a:p>
        </p:txBody>
      </p:sp>
      <p:sp>
        <p:nvSpPr>
          <p:cNvPr id="280" name="Text Box 126"/>
          <p:cNvSpPr txBox="1">
            <a:spLocks noChangeArrowheads="1"/>
          </p:cNvSpPr>
          <p:nvPr/>
        </p:nvSpPr>
        <p:spPr bwMode="gray">
          <a:xfrm>
            <a:off x="6444208" y="6705654"/>
            <a:ext cx="504056"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Sept</a:t>
            </a:r>
            <a:endParaRPr lang="en-US" sz="700" dirty="0">
              <a:solidFill>
                <a:srgbClr val="646464"/>
              </a:solidFill>
              <a:latin typeface="EYInterstate" pitchFamily="2" charset="0"/>
            </a:endParaRPr>
          </a:p>
        </p:txBody>
      </p:sp>
      <p:sp>
        <p:nvSpPr>
          <p:cNvPr id="282" name="Text Box 126"/>
          <p:cNvSpPr txBox="1">
            <a:spLocks noChangeArrowheads="1"/>
          </p:cNvSpPr>
          <p:nvPr/>
        </p:nvSpPr>
        <p:spPr bwMode="gray">
          <a:xfrm>
            <a:off x="7164288" y="6705654"/>
            <a:ext cx="504056"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Nov</a:t>
            </a:r>
            <a:endParaRPr lang="en-US" sz="700" dirty="0">
              <a:solidFill>
                <a:srgbClr val="646464"/>
              </a:solidFill>
              <a:latin typeface="EYInterstate" pitchFamily="2" charset="0"/>
            </a:endParaRPr>
          </a:p>
        </p:txBody>
      </p:sp>
      <p:sp>
        <p:nvSpPr>
          <p:cNvPr id="285" name="Text Box 126"/>
          <p:cNvSpPr txBox="1">
            <a:spLocks noChangeArrowheads="1"/>
          </p:cNvSpPr>
          <p:nvPr/>
        </p:nvSpPr>
        <p:spPr bwMode="gray">
          <a:xfrm>
            <a:off x="7524328" y="6705654"/>
            <a:ext cx="504056"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Dec</a:t>
            </a:r>
            <a:endParaRPr lang="en-US" sz="700" dirty="0">
              <a:solidFill>
                <a:srgbClr val="646464"/>
              </a:solidFill>
              <a:latin typeface="EYInterstate" pitchFamily="2" charset="0"/>
            </a:endParaRPr>
          </a:p>
        </p:txBody>
      </p:sp>
      <p:sp>
        <p:nvSpPr>
          <p:cNvPr id="288" name="Text Box 126"/>
          <p:cNvSpPr txBox="1">
            <a:spLocks noChangeArrowheads="1"/>
          </p:cNvSpPr>
          <p:nvPr/>
        </p:nvSpPr>
        <p:spPr bwMode="gray">
          <a:xfrm>
            <a:off x="8244408" y="6705654"/>
            <a:ext cx="504056" cy="107722"/>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Feb</a:t>
            </a:r>
            <a:endParaRPr lang="en-US" sz="700" dirty="0">
              <a:solidFill>
                <a:srgbClr val="646464"/>
              </a:solidFill>
              <a:latin typeface="EYInterstate" pitchFamily="2" charset="0"/>
            </a:endParaRPr>
          </a:p>
        </p:txBody>
      </p:sp>
      <p:sp>
        <p:nvSpPr>
          <p:cNvPr id="296" name="Text Box 126"/>
          <p:cNvSpPr txBox="1">
            <a:spLocks noChangeArrowheads="1"/>
          </p:cNvSpPr>
          <p:nvPr/>
        </p:nvSpPr>
        <p:spPr bwMode="gray">
          <a:xfrm>
            <a:off x="8684840" y="6705600"/>
            <a:ext cx="351656" cy="107776"/>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Mar</a:t>
            </a:r>
            <a:endParaRPr lang="en-US" sz="700" dirty="0">
              <a:solidFill>
                <a:srgbClr val="646464"/>
              </a:solidFill>
              <a:latin typeface="EYInterstate" pitchFamily="2" charset="0"/>
            </a:endParaRPr>
          </a:p>
        </p:txBody>
      </p:sp>
      <p:sp>
        <p:nvSpPr>
          <p:cNvPr id="298" name="5-Point Star 297"/>
          <p:cNvSpPr/>
          <p:nvPr/>
        </p:nvSpPr>
        <p:spPr bwMode="auto">
          <a:xfrm>
            <a:off x="1331640" y="6484839"/>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cxnSp>
        <p:nvCxnSpPr>
          <p:cNvPr id="309" name="Straight Connector 308"/>
          <p:cNvCxnSpPr/>
          <p:nvPr/>
        </p:nvCxnSpPr>
        <p:spPr bwMode="auto">
          <a:xfrm>
            <a:off x="1403648" y="6231796"/>
            <a:ext cx="0" cy="293548"/>
          </a:xfrm>
          <a:prstGeom prst="line">
            <a:avLst/>
          </a:prstGeom>
          <a:solidFill>
            <a:srgbClr val="FF0000"/>
          </a:solidFill>
          <a:ln w="6350" cap="flat" cmpd="sng" algn="ctr">
            <a:solidFill>
              <a:srgbClr val="FF0000"/>
            </a:solidFill>
            <a:prstDash val="solid"/>
            <a:round/>
            <a:headEnd type="none" w="med" len="med"/>
            <a:tailEnd type="none"/>
          </a:ln>
          <a:effectLst/>
        </p:spPr>
      </p:cxnSp>
      <p:sp>
        <p:nvSpPr>
          <p:cNvPr id="312" name="5-Point Star 311"/>
          <p:cNvSpPr/>
          <p:nvPr/>
        </p:nvSpPr>
        <p:spPr bwMode="auto">
          <a:xfrm>
            <a:off x="2267744" y="6484839"/>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cxnSp>
        <p:nvCxnSpPr>
          <p:cNvPr id="315" name="Straight Connector 314"/>
          <p:cNvCxnSpPr/>
          <p:nvPr/>
        </p:nvCxnSpPr>
        <p:spPr bwMode="auto">
          <a:xfrm>
            <a:off x="2339752" y="6231796"/>
            <a:ext cx="0" cy="293548"/>
          </a:xfrm>
          <a:prstGeom prst="line">
            <a:avLst/>
          </a:prstGeom>
          <a:solidFill>
            <a:srgbClr val="FF0000"/>
          </a:solidFill>
          <a:ln w="6350" cap="flat" cmpd="sng" algn="ctr">
            <a:solidFill>
              <a:srgbClr val="FF0000"/>
            </a:solidFill>
            <a:prstDash val="solid"/>
            <a:round/>
            <a:headEnd type="none" w="med" len="med"/>
            <a:tailEnd type="none"/>
          </a:ln>
          <a:effectLst/>
        </p:spPr>
      </p:cxnSp>
      <p:sp>
        <p:nvSpPr>
          <p:cNvPr id="323" name="Pentagon 322"/>
          <p:cNvSpPr/>
          <p:nvPr/>
        </p:nvSpPr>
        <p:spPr bwMode="auto">
          <a:xfrm>
            <a:off x="107504" y="3537012"/>
            <a:ext cx="1152128"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QA Build</a:t>
            </a:r>
            <a:endParaRPr lang="en-GB" sz="800" b="1" dirty="0">
              <a:solidFill>
                <a:srgbClr val="646464"/>
              </a:solidFill>
            </a:endParaRPr>
          </a:p>
        </p:txBody>
      </p:sp>
      <p:sp>
        <p:nvSpPr>
          <p:cNvPr id="325" name="Line 125"/>
          <p:cNvSpPr>
            <a:spLocks noChangeShapeType="1"/>
          </p:cNvSpPr>
          <p:nvPr/>
        </p:nvSpPr>
        <p:spPr bwMode="gray">
          <a:xfrm flipV="1">
            <a:off x="2915816" y="2509156"/>
            <a:ext cx="0" cy="468052"/>
          </a:xfrm>
          <a:prstGeom prst="line">
            <a:avLst/>
          </a:prstGeom>
          <a:noFill/>
          <a:ln w="6350">
            <a:solidFill>
              <a:schemeClr val="accent1"/>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10" name="Pentagon 209"/>
          <p:cNvSpPr/>
          <p:nvPr/>
        </p:nvSpPr>
        <p:spPr bwMode="auto">
          <a:xfrm>
            <a:off x="2915816" y="2869196"/>
            <a:ext cx="360040" cy="28803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600" b="1" dirty="0" smtClean="0">
                <a:solidFill>
                  <a:srgbClr val="646464"/>
                </a:solidFill>
              </a:rPr>
              <a:t>Plug In </a:t>
            </a:r>
          </a:p>
          <a:p>
            <a:pPr algn="ctr" fontAlgn="base">
              <a:spcBef>
                <a:spcPct val="0"/>
              </a:spcBef>
              <a:spcAft>
                <a:spcPct val="0"/>
              </a:spcAft>
            </a:pPr>
            <a:r>
              <a:rPr lang="en-GB" sz="600" b="1" dirty="0" smtClean="0">
                <a:solidFill>
                  <a:srgbClr val="646464"/>
                </a:solidFill>
              </a:rPr>
              <a:t>testing</a:t>
            </a:r>
            <a:endParaRPr lang="en-GB" sz="800" b="1" dirty="0">
              <a:solidFill>
                <a:srgbClr val="646464"/>
              </a:solidFill>
            </a:endParaRPr>
          </a:p>
        </p:txBody>
      </p:sp>
      <p:sp>
        <p:nvSpPr>
          <p:cNvPr id="339" name="5-Point Star 338"/>
          <p:cNvSpPr/>
          <p:nvPr/>
        </p:nvSpPr>
        <p:spPr bwMode="auto">
          <a:xfrm>
            <a:off x="3635896" y="2941204"/>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sp>
        <p:nvSpPr>
          <p:cNvPr id="343" name="Rectangle 342"/>
          <p:cNvSpPr/>
          <p:nvPr/>
        </p:nvSpPr>
        <p:spPr bwMode="auto">
          <a:xfrm>
            <a:off x="4211960" y="2492896"/>
            <a:ext cx="720080" cy="1080120"/>
          </a:xfrm>
          <a:prstGeom prst="rect">
            <a:avLst/>
          </a:prstGeom>
          <a:solidFill>
            <a:schemeClr val="accent2">
              <a:lumMod val="40000"/>
              <a:lumOff val="60000"/>
            </a:schemeClr>
          </a:solidFill>
          <a:ln w="9525" cap="flat" cmpd="sng" algn="ctr">
            <a:noFill/>
            <a:prstDash val="solid"/>
            <a:round/>
            <a:headEnd type="none" w="med" len="med"/>
            <a:tailEnd type="none" w="med" len="med"/>
          </a:ln>
          <a:effectLst/>
        </p:spPr>
        <p:txBody>
          <a:bodyPr vert="horz" wrap="none" lIns="91440" tIns="36000" rIns="36000" bIns="45720" numCol="1" rtlCol="0" anchor="t" anchorCtr="0" compatLnSpc="1">
            <a:prstTxWarp prst="textNoShape">
              <a:avLst/>
            </a:prstTxWarp>
          </a:bodyPr>
          <a:lstStyle/>
          <a:p>
            <a:pPr algn="ctr" fontAlgn="base">
              <a:spcBef>
                <a:spcPct val="0"/>
              </a:spcBef>
              <a:spcAft>
                <a:spcPct val="0"/>
              </a:spcAft>
            </a:pPr>
            <a:endParaRPr lang="en-GB" sz="800" b="1" dirty="0" smtClean="0">
              <a:latin typeface="Arial" charset="0"/>
            </a:endParaRPr>
          </a:p>
          <a:p>
            <a:pPr algn="ctr" fontAlgn="base">
              <a:spcBef>
                <a:spcPct val="0"/>
              </a:spcBef>
              <a:spcAft>
                <a:spcPct val="0"/>
              </a:spcAft>
            </a:pPr>
            <a:endParaRPr lang="en-GB" sz="800" b="1" dirty="0" smtClean="0">
              <a:latin typeface="Arial" charset="0"/>
            </a:endParaRPr>
          </a:p>
          <a:p>
            <a:pPr algn="ctr" fontAlgn="base">
              <a:spcBef>
                <a:spcPct val="0"/>
              </a:spcBef>
              <a:spcAft>
                <a:spcPct val="0"/>
              </a:spcAft>
            </a:pPr>
            <a:endParaRPr lang="en-GB" sz="800" b="1" dirty="0" smtClean="0"/>
          </a:p>
          <a:p>
            <a:pPr algn="ctr" fontAlgn="base">
              <a:spcBef>
                <a:spcPct val="0"/>
              </a:spcBef>
              <a:spcAft>
                <a:spcPct val="0"/>
              </a:spcAft>
            </a:pPr>
            <a:endParaRPr lang="en-GB" sz="800" b="1" dirty="0" smtClean="0">
              <a:latin typeface="Arial" charset="0"/>
            </a:endParaRPr>
          </a:p>
          <a:p>
            <a:pPr algn="ctr" fontAlgn="base">
              <a:spcBef>
                <a:spcPct val="0"/>
              </a:spcBef>
              <a:spcAft>
                <a:spcPct val="0"/>
              </a:spcAft>
            </a:pPr>
            <a:endParaRPr lang="en-GB" sz="800" b="1" dirty="0" smtClean="0">
              <a:latin typeface="Arial" charset="0"/>
            </a:endParaRPr>
          </a:p>
          <a:p>
            <a:pPr algn="ctr" fontAlgn="base">
              <a:spcBef>
                <a:spcPct val="0"/>
              </a:spcBef>
              <a:spcAft>
                <a:spcPct val="0"/>
              </a:spcAft>
            </a:pPr>
            <a:r>
              <a:rPr lang="en-GB" sz="800" b="1" dirty="0" smtClean="0">
                <a:latin typeface="Arial" charset="0"/>
              </a:rPr>
              <a:t>Pilot</a:t>
            </a:r>
          </a:p>
        </p:txBody>
      </p:sp>
      <p:sp>
        <p:nvSpPr>
          <p:cNvPr id="164" name="Text Box 126"/>
          <p:cNvSpPr txBox="1">
            <a:spLocks noChangeArrowheads="1"/>
          </p:cNvSpPr>
          <p:nvPr/>
        </p:nvSpPr>
        <p:spPr bwMode="gray">
          <a:xfrm>
            <a:off x="4283968" y="2780928"/>
            <a:ext cx="720080" cy="323165"/>
          </a:xfrm>
          <a:prstGeom prst="rect">
            <a:avLst/>
          </a:prstGeom>
          <a:noFill/>
          <a:ln w="9525" algn="ctr">
            <a:noFill/>
            <a:miter lim="800000"/>
            <a:headEnd type="none" w="sm" len="sm"/>
            <a:tailEnd type="none" w="sm" len="sm"/>
          </a:ln>
        </p:spPr>
        <p:txBody>
          <a:bodyPr wrap="square" lIns="26118" tIns="0" rIns="0" bIns="0" anchor="ctr" anchorCtr="0">
            <a:spAutoFit/>
          </a:bodyPr>
          <a:lstStyle/>
          <a:p>
            <a:pPr algn="l" defTabSz="514230" eaLnBrk="0" fontAlgn="base" hangingPunct="0">
              <a:spcBef>
                <a:spcPct val="0"/>
              </a:spcBef>
              <a:spcAft>
                <a:spcPct val="0"/>
              </a:spcAft>
            </a:pPr>
            <a:r>
              <a:rPr lang="en-US" sz="700" dirty="0" smtClean="0">
                <a:solidFill>
                  <a:srgbClr val="646464"/>
                </a:solidFill>
                <a:latin typeface="EYInterstate" pitchFamily="2" charset="0"/>
              </a:rPr>
              <a:t>Pilot Go / </a:t>
            </a:r>
          </a:p>
          <a:p>
            <a:pPr algn="l" defTabSz="514230" eaLnBrk="0" fontAlgn="base" hangingPunct="0">
              <a:spcBef>
                <a:spcPct val="0"/>
              </a:spcBef>
              <a:spcAft>
                <a:spcPct val="0"/>
              </a:spcAft>
            </a:pPr>
            <a:r>
              <a:rPr lang="en-US" sz="700" dirty="0" smtClean="0">
                <a:solidFill>
                  <a:srgbClr val="646464"/>
                </a:solidFill>
                <a:latin typeface="EYInterstate" pitchFamily="2" charset="0"/>
              </a:rPr>
              <a:t>No Go</a:t>
            </a:r>
          </a:p>
          <a:p>
            <a:pPr algn="l" defTabSz="514230" eaLnBrk="0" fontAlgn="base" hangingPunct="0">
              <a:spcBef>
                <a:spcPct val="0"/>
              </a:spcBef>
              <a:spcAft>
                <a:spcPct val="0"/>
              </a:spcAft>
            </a:pPr>
            <a:r>
              <a:rPr lang="en-US" sz="700" dirty="0" smtClean="0">
                <a:solidFill>
                  <a:srgbClr val="646464"/>
                </a:solidFill>
                <a:latin typeface="EYInterstate" pitchFamily="2" charset="0"/>
              </a:rPr>
              <a:t>28</a:t>
            </a:r>
            <a:r>
              <a:rPr lang="en-US" sz="700" baseline="30000" dirty="0" smtClean="0">
                <a:solidFill>
                  <a:srgbClr val="646464"/>
                </a:solidFill>
                <a:latin typeface="EYInterstate" pitchFamily="2" charset="0"/>
              </a:rPr>
              <a:t>th</a:t>
            </a:r>
            <a:r>
              <a:rPr lang="en-US" sz="700" dirty="0" smtClean="0">
                <a:solidFill>
                  <a:srgbClr val="646464"/>
                </a:solidFill>
                <a:latin typeface="EYInterstate" pitchFamily="2" charset="0"/>
              </a:rPr>
              <a:t> Feb </a:t>
            </a:r>
            <a:endParaRPr lang="en-US" sz="700" dirty="0">
              <a:solidFill>
                <a:srgbClr val="646464"/>
              </a:solidFill>
              <a:latin typeface="EYInterstate" pitchFamily="2" charset="0"/>
            </a:endParaRPr>
          </a:p>
        </p:txBody>
      </p:sp>
      <p:sp>
        <p:nvSpPr>
          <p:cNvPr id="174" name="Pentagon 173"/>
          <p:cNvSpPr/>
          <p:nvPr/>
        </p:nvSpPr>
        <p:spPr bwMode="auto">
          <a:xfrm>
            <a:off x="4211960" y="3537012"/>
            <a:ext cx="720080"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Pilot</a:t>
            </a:r>
            <a:endParaRPr lang="en-GB" sz="800" b="1" dirty="0">
              <a:solidFill>
                <a:srgbClr val="646464"/>
              </a:solidFill>
            </a:endParaRPr>
          </a:p>
        </p:txBody>
      </p:sp>
      <p:sp>
        <p:nvSpPr>
          <p:cNvPr id="342" name="Rectangle 341"/>
          <p:cNvSpPr/>
          <p:nvPr/>
        </p:nvSpPr>
        <p:spPr bwMode="auto">
          <a:xfrm>
            <a:off x="4211960" y="3645024"/>
            <a:ext cx="720080" cy="1008112"/>
          </a:xfrm>
          <a:prstGeom prst="rect">
            <a:avLst/>
          </a:prstGeom>
          <a:solidFill>
            <a:schemeClr val="accent2">
              <a:lumMod val="40000"/>
              <a:lumOff val="60000"/>
            </a:schemeClr>
          </a:solidFill>
          <a:ln w="9525" cap="flat" cmpd="sng" algn="ctr">
            <a:noFill/>
            <a:prstDash val="solid"/>
            <a:round/>
            <a:headEnd type="none" w="med" len="med"/>
            <a:tailEnd type="none" w="med" len="med"/>
          </a:ln>
          <a:effectLst/>
        </p:spPr>
        <p:txBody>
          <a:bodyPr vert="horz" wrap="none" lIns="91440" tIns="36000" rIns="36000" bIns="45720" numCol="1" rtlCol="0" anchor="t" anchorCtr="0" compatLnSpc="1">
            <a:prstTxWarp prst="textNoShape">
              <a:avLst/>
            </a:prstTxWarp>
          </a:bodyPr>
          <a:lstStyle/>
          <a:p>
            <a:pPr algn="ctr" fontAlgn="base">
              <a:spcBef>
                <a:spcPct val="0"/>
              </a:spcBef>
              <a:spcAft>
                <a:spcPct val="0"/>
              </a:spcAft>
            </a:pPr>
            <a:endParaRPr lang="en-GB" sz="800" b="1" dirty="0" smtClean="0">
              <a:latin typeface="Arial" charset="0"/>
            </a:endParaRPr>
          </a:p>
          <a:p>
            <a:pPr algn="ctr" fontAlgn="base">
              <a:spcBef>
                <a:spcPct val="0"/>
              </a:spcBef>
              <a:spcAft>
                <a:spcPct val="0"/>
              </a:spcAft>
            </a:pPr>
            <a:endParaRPr lang="en-GB" sz="800" b="1" dirty="0" smtClean="0"/>
          </a:p>
          <a:p>
            <a:pPr algn="ctr" fontAlgn="base">
              <a:spcBef>
                <a:spcPct val="0"/>
              </a:spcBef>
              <a:spcAft>
                <a:spcPct val="0"/>
              </a:spcAft>
            </a:pPr>
            <a:endParaRPr lang="en-GB" sz="800" b="1" dirty="0" smtClean="0">
              <a:latin typeface="Arial" charset="0"/>
            </a:endParaRPr>
          </a:p>
        </p:txBody>
      </p:sp>
      <p:sp>
        <p:nvSpPr>
          <p:cNvPr id="177" name="5-Point Star 176"/>
          <p:cNvSpPr/>
          <p:nvPr/>
        </p:nvSpPr>
        <p:spPr bwMode="auto">
          <a:xfrm>
            <a:off x="4860032" y="2941204"/>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sp>
        <p:nvSpPr>
          <p:cNvPr id="340" name="5-Point Star 339"/>
          <p:cNvSpPr/>
          <p:nvPr/>
        </p:nvSpPr>
        <p:spPr bwMode="auto">
          <a:xfrm>
            <a:off x="4139952" y="2941204"/>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sp>
        <p:nvSpPr>
          <p:cNvPr id="229" name="5-Point Star 228"/>
          <p:cNvSpPr/>
          <p:nvPr/>
        </p:nvSpPr>
        <p:spPr bwMode="auto">
          <a:xfrm>
            <a:off x="4860032" y="4581128"/>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sp>
        <p:nvSpPr>
          <p:cNvPr id="206" name="5-Point Star 205"/>
          <p:cNvSpPr/>
          <p:nvPr/>
        </p:nvSpPr>
        <p:spPr bwMode="auto">
          <a:xfrm>
            <a:off x="4139952" y="4581128"/>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cxnSp>
        <p:nvCxnSpPr>
          <p:cNvPr id="336" name="Straight Connector 335"/>
          <p:cNvCxnSpPr>
            <a:endCxn id="206" idx="0"/>
          </p:cNvCxnSpPr>
          <p:nvPr/>
        </p:nvCxnSpPr>
        <p:spPr bwMode="auto">
          <a:xfrm>
            <a:off x="4211960" y="2533401"/>
            <a:ext cx="0" cy="2047727"/>
          </a:xfrm>
          <a:prstGeom prst="line">
            <a:avLst/>
          </a:prstGeom>
          <a:solidFill>
            <a:srgbClr val="FF0000"/>
          </a:solidFill>
          <a:ln w="12700" cap="flat" cmpd="sng" algn="ctr">
            <a:solidFill>
              <a:srgbClr val="FF0000"/>
            </a:solidFill>
            <a:prstDash val="solid"/>
            <a:round/>
            <a:headEnd type="none" w="med" len="med"/>
            <a:tailEnd type="none"/>
          </a:ln>
          <a:effectLst/>
        </p:spPr>
      </p:cxnSp>
      <p:cxnSp>
        <p:nvCxnSpPr>
          <p:cNvPr id="227" name="Straight Connector 226"/>
          <p:cNvCxnSpPr>
            <a:endCxn id="229" idx="0"/>
          </p:cNvCxnSpPr>
          <p:nvPr/>
        </p:nvCxnSpPr>
        <p:spPr bwMode="auto">
          <a:xfrm>
            <a:off x="4932040" y="2533401"/>
            <a:ext cx="0" cy="2047727"/>
          </a:xfrm>
          <a:prstGeom prst="line">
            <a:avLst/>
          </a:prstGeom>
          <a:solidFill>
            <a:srgbClr val="FF0000"/>
          </a:solidFill>
          <a:ln w="12700" cap="flat" cmpd="sng" algn="ctr">
            <a:solidFill>
              <a:srgbClr val="FF0000"/>
            </a:solidFill>
            <a:prstDash val="solid"/>
            <a:round/>
            <a:headEnd type="none" w="med" len="med"/>
            <a:tailEnd type="none"/>
          </a:ln>
          <a:effectLst/>
        </p:spPr>
      </p:cxnSp>
      <p:cxnSp>
        <p:nvCxnSpPr>
          <p:cNvPr id="228" name="Straight Connector 227"/>
          <p:cNvCxnSpPr/>
          <p:nvPr/>
        </p:nvCxnSpPr>
        <p:spPr bwMode="auto">
          <a:xfrm flipV="1">
            <a:off x="35496" y="2977208"/>
            <a:ext cx="9108504" cy="36004"/>
          </a:xfrm>
          <a:prstGeom prst="line">
            <a:avLst/>
          </a:prstGeom>
          <a:solidFill>
            <a:schemeClr val="accent2"/>
          </a:solidFill>
          <a:ln w="15875" cap="flat" cmpd="sng" algn="ctr">
            <a:solidFill>
              <a:schemeClr val="bg2"/>
            </a:solidFill>
            <a:prstDash val="dash"/>
            <a:round/>
            <a:headEnd type="none" w="med" len="med"/>
            <a:tailEnd type="none"/>
          </a:ln>
          <a:effectLst/>
        </p:spPr>
      </p:cxnSp>
      <p:sp>
        <p:nvSpPr>
          <p:cNvPr id="346" name="Text Box 126"/>
          <p:cNvSpPr txBox="1">
            <a:spLocks noChangeArrowheads="1"/>
          </p:cNvSpPr>
          <p:nvPr/>
        </p:nvSpPr>
        <p:spPr bwMode="gray">
          <a:xfrm>
            <a:off x="3275856" y="2672480"/>
            <a:ext cx="576064" cy="430887"/>
          </a:xfrm>
          <a:prstGeom prst="rect">
            <a:avLst/>
          </a:prstGeom>
          <a:noFill/>
          <a:ln w="9525" algn="ctr">
            <a:noFill/>
            <a:miter lim="800000"/>
            <a:headEnd type="none" w="sm" len="sm"/>
            <a:tailEnd type="none" w="sm" len="sm"/>
          </a:ln>
        </p:spPr>
        <p:txBody>
          <a:bodyPr wrap="square" lIns="26118" tIns="0" rIns="0" bIns="0" anchor="ctr" anchorCtr="0">
            <a:spAutoFit/>
          </a:bodyPr>
          <a:lstStyle/>
          <a:p>
            <a:pPr defTabSz="514230" eaLnBrk="0" fontAlgn="base" hangingPunct="0">
              <a:spcBef>
                <a:spcPct val="0"/>
              </a:spcBef>
              <a:spcAft>
                <a:spcPct val="0"/>
              </a:spcAft>
            </a:pPr>
            <a:r>
              <a:rPr lang="en-US" sz="700" dirty="0" smtClean="0">
                <a:solidFill>
                  <a:srgbClr val="646464"/>
                </a:solidFill>
                <a:latin typeface="EYInterstate" pitchFamily="2" charset="0"/>
              </a:rPr>
              <a:t>Plug In </a:t>
            </a:r>
          </a:p>
          <a:p>
            <a:pPr defTabSz="514230" eaLnBrk="0" fontAlgn="base" hangingPunct="0">
              <a:spcBef>
                <a:spcPct val="0"/>
              </a:spcBef>
              <a:spcAft>
                <a:spcPct val="0"/>
              </a:spcAft>
            </a:pPr>
            <a:r>
              <a:rPr lang="en-US" sz="700" dirty="0" smtClean="0">
                <a:solidFill>
                  <a:srgbClr val="646464"/>
                </a:solidFill>
                <a:latin typeface="EYInterstate" pitchFamily="2" charset="0"/>
              </a:rPr>
              <a:t>Testing</a:t>
            </a:r>
          </a:p>
          <a:p>
            <a:pPr defTabSz="514230" eaLnBrk="0" fontAlgn="base" hangingPunct="0">
              <a:spcBef>
                <a:spcPct val="0"/>
              </a:spcBef>
              <a:spcAft>
                <a:spcPct val="0"/>
              </a:spcAft>
            </a:pPr>
            <a:r>
              <a:rPr lang="en-US" sz="700" dirty="0" smtClean="0">
                <a:solidFill>
                  <a:srgbClr val="646464"/>
                </a:solidFill>
                <a:latin typeface="EYInterstate" pitchFamily="2" charset="0"/>
              </a:rPr>
              <a:t>Comp.</a:t>
            </a:r>
          </a:p>
          <a:p>
            <a:pPr defTabSz="514230" eaLnBrk="0" fontAlgn="base" hangingPunct="0">
              <a:spcBef>
                <a:spcPct val="0"/>
              </a:spcBef>
              <a:spcAft>
                <a:spcPct val="0"/>
              </a:spcAft>
            </a:pPr>
            <a:r>
              <a:rPr lang="en-US" sz="700" dirty="0" smtClean="0">
                <a:solidFill>
                  <a:srgbClr val="646464"/>
                </a:solidFill>
                <a:latin typeface="EYInterstate" pitchFamily="2" charset="0"/>
              </a:rPr>
              <a:t>13</a:t>
            </a:r>
            <a:r>
              <a:rPr lang="en-US" sz="700" baseline="30000" dirty="0" smtClean="0">
                <a:solidFill>
                  <a:srgbClr val="646464"/>
                </a:solidFill>
                <a:latin typeface="EYInterstate" pitchFamily="2" charset="0"/>
              </a:rPr>
              <a:t>th</a:t>
            </a:r>
            <a:r>
              <a:rPr lang="en-US" sz="700" dirty="0" smtClean="0">
                <a:solidFill>
                  <a:srgbClr val="646464"/>
                </a:solidFill>
                <a:latin typeface="EYInterstate" pitchFamily="2" charset="0"/>
              </a:rPr>
              <a:t> Dec</a:t>
            </a:r>
            <a:endParaRPr lang="en-US" sz="700" dirty="0">
              <a:solidFill>
                <a:srgbClr val="646464"/>
              </a:solidFill>
              <a:latin typeface="EYInterstate" pitchFamily="2" charset="0"/>
            </a:endParaRPr>
          </a:p>
        </p:txBody>
      </p:sp>
      <p:sp>
        <p:nvSpPr>
          <p:cNvPr id="311" name="TextBox 310"/>
          <p:cNvSpPr txBox="1"/>
          <p:nvPr/>
        </p:nvSpPr>
        <p:spPr>
          <a:xfrm>
            <a:off x="2885497" y="2453698"/>
            <a:ext cx="1758511" cy="200055"/>
          </a:xfrm>
          <a:prstGeom prst="rect">
            <a:avLst/>
          </a:prstGeom>
          <a:noFill/>
        </p:spPr>
        <p:txBody>
          <a:bodyPr wrap="square" rtlCol="0">
            <a:spAutoFit/>
          </a:bodyPr>
          <a:lstStyle/>
          <a:p>
            <a:r>
              <a:rPr lang="en-GB" sz="700" dirty="0" smtClean="0"/>
              <a:t>Build Complete 13</a:t>
            </a:r>
            <a:r>
              <a:rPr lang="en-GB" sz="700" baseline="30000" dirty="0" smtClean="0"/>
              <a:t>th</a:t>
            </a:r>
            <a:r>
              <a:rPr lang="en-GB" sz="700" dirty="0" smtClean="0"/>
              <a:t> Nov</a:t>
            </a:r>
            <a:endParaRPr lang="en-GB" sz="700" dirty="0"/>
          </a:p>
        </p:txBody>
      </p:sp>
      <p:sp>
        <p:nvSpPr>
          <p:cNvPr id="205" name="Line 125"/>
          <p:cNvSpPr>
            <a:spLocks noChangeShapeType="1"/>
          </p:cNvSpPr>
          <p:nvPr/>
        </p:nvSpPr>
        <p:spPr bwMode="gray">
          <a:xfrm flipH="1" flipV="1">
            <a:off x="971600" y="116632"/>
            <a:ext cx="0" cy="6624736"/>
          </a:xfrm>
          <a:prstGeom prst="line">
            <a:avLst/>
          </a:prstGeom>
          <a:noFill/>
          <a:ln w="9525">
            <a:solidFill>
              <a:srgbClr val="0070C0"/>
            </a:solidFill>
            <a:prstDash val="lgDash"/>
            <a:round/>
            <a:headEnd type="triangle" w="lg" len="sm"/>
            <a:tailEnd type="triangle" w="lg"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18" name="TextBox 217"/>
          <p:cNvSpPr txBox="1"/>
          <p:nvPr/>
        </p:nvSpPr>
        <p:spPr>
          <a:xfrm>
            <a:off x="251520" y="75982"/>
            <a:ext cx="736099" cy="184666"/>
          </a:xfrm>
          <a:prstGeom prst="rect">
            <a:avLst/>
          </a:prstGeom>
          <a:noFill/>
        </p:spPr>
        <p:txBody>
          <a:bodyPr wrap="none" rtlCol="0">
            <a:spAutoFit/>
          </a:bodyPr>
          <a:lstStyle/>
          <a:p>
            <a:pPr algn="ctr"/>
            <a:r>
              <a:rPr lang="en-GB" sz="600" b="1" dirty="0" smtClean="0"/>
              <a:t>Today 31</a:t>
            </a:r>
            <a:r>
              <a:rPr lang="en-GB" sz="600" b="1" baseline="30000" dirty="0" smtClean="0"/>
              <a:t>st</a:t>
            </a:r>
            <a:r>
              <a:rPr lang="en-GB" sz="600" b="1" dirty="0" smtClean="0"/>
              <a:t> May</a:t>
            </a:r>
            <a:endParaRPr lang="en-GB" sz="600" b="1" dirty="0"/>
          </a:p>
        </p:txBody>
      </p:sp>
      <p:sp>
        <p:nvSpPr>
          <p:cNvPr id="223" name="TextBox 222"/>
          <p:cNvSpPr txBox="1"/>
          <p:nvPr/>
        </p:nvSpPr>
        <p:spPr>
          <a:xfrm rot="21049535">
            <a:off x="-386412" y="5129604"/>
            <a:ext cx="5703258" cy="584775"/>
          </a:xfrm>
          <a:prstGeom prst="rect">
            <a:avLst/>
          </a:prstGeom>
          <a:noFill/>
        </p:spPr>
        <p:txBody>
          <a:bodyPr wrap="square" rtlCol="0">
            <a:spAutoFit/>
          </a:bodyPr>
          <a:lstStyle/>
          <a:p>
            <a:pPr algn="ctr"/>
            <a:r>
              <a:rPr lang="en-GB" sz="3200" dirty="0" smtClean="0">
                <a:solidFill>
                  <a:srgbClr val="FF0000"/>
                </a:solidFill>
              </a:rPr>
              <a:t>SP TO BE CONFIRMED</a:t>
            </a:r>
            <a:endParaRPr lang="en-GB" sz="3200" dirty="0">
              <a:solidFill>
                <a:srgbClr val="FF0000"/>
              </a:solidFill>
            </a:endParaRPr>
          </a:p>
        </p:txBody>
      </p:sp>
      <p:sp>
        <p:nvSpPr>
          <p:cNvPr id="304" name="Pentagon 303"/>
          <p:cNvSpPr/>
          <p:nvPr/>
        </p:nvSpPr>
        <p:spPr bwMode="auto">
          <a:xfrm>
            <a:off x="107504" y="3212976"/>
            <a:ext cx="2088232" cy="108000"/>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700" b="1" dirty="0" smtClean="0">
                <a:solidFill>
                  <a:srgbClr val="646464"/>
                </a:solidFill>
              </a:rPr>
              <a:t>Service Trans. Design</a:t>
            </a:r>
            <a:endParaRPr lang="en-GB" sz="700" b="1" dirty="0">
              <a:solidFill>
                <a:srgbClr val="646464"/>
              </a:solidFill>
            </a:endParaRPr>
          </a:p>
        </p:txBody>
      </p:sp>
      <p:sp>
        <p:nvSpPr>
          <p:cNvPr id="310" name="Pentagon 309"/>
          <p:cNvSpPr/>
          <p:nvPr/>
        </p:nvSpPr>
        <p:spPr bwMode="auto">
          <a:xfrm>
            <a:off x="1763688" y="3356992"/>
            <a:ext cx="4320480" cy="108000"/>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700" b="1" dirty="0" smtClean="0">
                <a:solidFill>
                  <a:srgbClr val="646464"/>
                </a:solidFill>
              </a:rPr>
              <a:t>IT Service Transition (People, Processes, Products, Partners)</a:t>
            </a:r>
            <a:endParaRPr lang="en-GB" sz="700" b="1" dirty="0">
              <a:solidFill>
                <a:srgbClr val="646464"/>
              </a:solidFill>
            </a:endParaRPr>
          </a:p>
        </p:txBody>
      </p:sp>
      <p:sp>
        <p:nvSpPr>
          <p:cNvPr id="326" name="Pentagon 325"/>
          <p:cNvSpPr/>
          <p:nvPr/>
        </p:nvSpPr>
        <p:spPr bwMode="auto">
          <a:xfrm>
            <a:off x="107504" y="1268760"/>
            <a:ext cx="1728192" cy="72008"/>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700" b="1" dirty="0" smtClean="0">
                <a:solidFill>
                  <a:srgbClr val="646464"/>
                </a:solidFill>
              </a:rPr>
              <a:t>Service Trans. Design</a:t>
            </a:r>
            <a:endParaRPr lang="en-GB" sz="700" b="1" dirty="0">
              <a:solidFill>
                <a:srgbClr val="646464"/>
              </a:solidFill>
            </a:endParaRPr>
          </a:p>
        </p:txBody>
      </p:sp>
      <p:sp>
        <p:nvSpPr>
          <p:cNvPr id="327" name="Pentagon 326"/>
          <p:cNvSpPr/>
          <p:nvPr/>
        </p:nvSpPr>
        <p:spPr bwMode="auto">
          <a:xfrm>
            <a:off x="1763688" y="1412776"/>
            <a:ext cx="4320480" cy="72008"/>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700" b="1" dirty="0" smtClean="0">
                <a:solidFill>
                  <a:srgbClr val="646464"/>
                </a:solidFill>
              </a:rPr>
              <a:t>IT Service Transition(People, Processes, Products, Partners)</a:t>
            </a:r>
            <a:endParaRPr lang="en-GB" sz="700" b="1" dirty="0">
              <a:solidFill>
                <a:srgbClr val="646464"/>
              </a:solidFill>
            </a:endParaRPr>
          </a:p>
        </p:txBody>
      </p:sp>
      <p:sp>
        <p:nvSpPr>
          <p:cNvPr id="328" name="Line 125"/>
          <p:cNvSpPr>
            <a:spLocks noChangeShapeType="1"/>
          </p:cNvSpPr>
          <p:nvPr/>
        </p:nvSpPr>
        <p:spPr bwMode="gray">
          <a:xfrm flipV="1">
            <a:off x="1331640" y="620688"/>
            <a:ext cx="0" cy="324036"/>
          </a:xfrm>
          <a:prstGeom prst="line">
            <a:avLst/>
          </a:prstGeom>
          <a:noFill/>
          <a:ln w="6350">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74" name="Pentagon 273"/>
          <p:cNvSpPr/>
          <p:nvPr/>
        </p:nvSpPr>
        <p:spPr bwMode="auto">
          <a:xfrm>
            <a:off x="4283968" y="368660"/>
            <a:ext cx="464451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Benefits Realisation Tracking</a:t>
            </a:r>
            <a:endParaRPr lang="en-GB" sz="800" b="1" dirty="0">
              <a:solidFill>
                <a:srgbClr val="646464"/>
              </a:solidFill>
            </a:endParaRPr>
          </a:p>
        </p:txBody>
      </p:sp>
      <p:grpSp>
        <p:nvGrpSpPr>
          <p:cNvPr id="12" name="Group 281"/>
          <p:cNvGrpSpPr/>
          <p:nvPr/>
        </p:nvGrpSpPr>
        <p:grpSpPr>
          <a:xfrm>
            <a:off x="3131840" y="1825660"/>
            <a:ext cx="1440159" cy="523220"/>
            <a:chOff x="3815916" y="1650141"/>
            <a:chExt cx="1440159" cy="523220"/>
          </a:xfrm>
        </p:grpSpPr>
        <p:cxnSp>
          <p:nvCxnSpPr>
            <p:cNvPr id="331" name="Straight Connector 330"/>
            <p:cNvCxnSpPr>
              <a:endCxn id="333" idx="0"/>
            </p:cNvCxnSpPr>
            <p:nvPr/>
          </p:nvCxnSpPr>
          <p:spPr bwMode="auto">
            <a:xfrm>
              <a:off x="3887924" y="1741313"/>
              <a:ext cx="0" cy="319535"/>
            </a:xfrm>
            <a:prstGeom prst="line">
              <a:avLst/>
            </a:prstGeom>
            <a:solidFill>
              <a:srgbClr val="FF0000"/>
            </a:solidFill>
            <a:ln w="12700" cap="flat" cmpd="sng" algn="ctr">
              <a:solidFill>
                <a:srgbClr val="FF0000"/>
              </a:solidFill>
              <a:prstDash val="solid"/>
              <a:round/>
              <a:headEnd type="none" w="med" len="med"/>
              <a:tailEnd type="none"/>
            </a:ln>
            <a:effectLst/>
          </p:spPr>
        </p:cxnSp>
        <p:sp>
          <p:nvSpPr>
            <p:cNvPr id="333" name="5-Point Star 332"/>
            <p:cNvSpPr/>
            <p:nvPr/>
          </p:nvSpPr>
          <p:spPr bwMode="auto">
            <a:xfrm>
              <a:off x="3815916" y="2060848"/>
              <a:ext cx="144016" cy="112513"/>
            </a:xfrm>
            <a:prstGeom prst="star5">
              <a:avLst/>
            </a:prstGeom>
            <a:solidFill>
              <a:srgbClr val="FF0000"/>
            </a:solidFill>
            <a:ln w="952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700" b="0" i="0" u="none" strike="noStrike" cap="none" normalizeH="0" baseline="0" dirty="0" smtClean="0">
                <a:ln>
                  <a:noFill/>
                </a:ln>
                <a:solidFill>
                  <a:schemeClr val="tx1"/>
                </a:solidFill>
                <a:effectLst/>
                <a:latin typeface="Arial" charset="0"/>
              </a:endParaRPr>
            </a:p>
          </p:txBody>
        </p:sp>
        <p:sp>
          <p:nvSpPr>
            <p:cNvPr id="334" name="TextBox 333"/>
            <p:cNvSpPr txBox="1"/>
            <p:nvPr/>
          </p:nvSpPr>
          <p:spPr>
            <a:xfrm>
              <a:off x="3815916" y="1650141"/>
              <a:ext cx="1440159" cy="415498"/>
            </a:xfrm>
            <a:prstGeom prst="rect">
              <a:avLst/>
            </a:prstGeom>
            <a:noFill/>
          </p:spPr>
          <p:txBody>
            <a:bodyPr wrap="square" rtlCol="0">
              <a:spAutoFit/>
            </a:bodyPr>
            <a:lstStyle/>
            <a:p>
              <a:pPr algn="l"/>
              <a:r>
                <a:rPr lang="en-GB" sz="700" dirty="0" smtClean="0"/>
                <a:t>UAT Go / No Go</a:t>
              </a:r>
            </a:p>
            <a:p>
              <a:pPr algn="l"/>
              <a:r>
                <a:rPr lang="en-GB" sz="700" dirty="0" smtClean="0"/>
                <a:t>21</a:t>
              </a:r>
              <a:r>
                <a:rPr lang="en-GB" sz="700" baseline="30000" dirty="0" smtClean="0"/>
                <a:t>st</a:t>
              </a:r>
              <a:r>
                <a:rPr lang="en-GB" sz="700" dirty="0" smtClean="0"/>
                <a:t> Dec</a:t>
              </a:r>
            </a:p>
            <a:p>
              <a:pPr algn="l"/>
              <a:endParaRPr lang="en-GB" sz="700" dirty="0"/>
            </a:p>
          </p:txBody>
        </p:sp>
      </p:grpSp>
      <p:sp>
        <p:nvSpPr>
          <p:cNvPr id="345" name="Line 125"/>
          <p:cNvSpPr>
            <a:spLocks noChangeShapeType="1"/>
          </p:cNvSpPr>
          <p:nvPr/>
        </p:nvSpPr>
        <p:spPr bwMode="gray">
          <a:xfrm flipV="1">
            <a:off x="3275856" y="2528900"/>
            <a:ext cx="0" cy="2124236"/>
          </a:xfrm>
          <a:prstGeom prst="line">
            <a:avLst/>
          </a:prstGeom>
          <a:noFill/>
          <a:ln w="15875">
            <a:solidFill>
              <a:schemeClr val="accent2"/>
            </a:solidFill>
            <a:round/>
            <a:headEnd type="diamond" w="lg" len="lg"/>
            <a:tailEnd type="none" w="sm" len="sm"/>
          </a:ln>
        </p:spPr>
        <p:txBody>
          <a:bodyPr wrap="square" lIns="92075" tIns="46038" rIns="92075" bIns="46038" anchor="ctr" anchorCtr="0">
            <a:spAutoFit/>
          </a:bodyPr>
          <a:lstStyle/>
          <a:p>
            <a:pPr algn="ctr" fontAlgn="base">
              <a:spcBef>
                <a:spcPct val="0"/>
              </a:spcBef>
              <a:spcAft>
                <a:spcPct val="0"/>
              </a:spcAft>
            </a:pPr>
            <a:endParaRPr lang="en-GB" sz="1200" dirty="0">
              <a:solidFill>
                <a:srgbClr val="646464"/>
              </a:solidFill>
            </a:endParaRPr>
          </a:p>
        </p:txBody>
      </p:sp>
      <p:sp>
        <p:nvSpPr>
          <p:cNvPr id="269" name="Pentagon 268"/>
          <p:cNvSpPr/>
          <p:nvPr/>
        </p:nvSpPr>
        <p:spPr bwMode="auto">
          <a:xfrm>
            <a:off x="179512" y="368660"/>
            <a:ext cx="4104456" cy="108012"/>
          </a:xfrm>
          <a:prstGeom prst="homePlate">
            <a:avLst/>
          </a:prstGeom>
          <a:solidFill>
            <a:schemeClr val="accent2"/>
          </a:solidFill>
          <a:ln w="9525" cap="flat" cmpd="sng" algn="ctr">
            <a:noFill/>
            <a:prstDash val="solid"/>
            <a:round/>
            <a:headEnd type="none" w="med" len="med"/>
            <a:tailEnd type="none" w="med" len="med"/>
          </a:ln>
          <a:effectLst/>
        </p:spPr>
        <p:txBody>
          <a:bodyPr vert="horz" wrap="none" lIns="91418" tIns="45709" rIns="91418" bIns="45709" numCol="1" rtlCol="0" anchor="ctr" anchorCtr="0" compatLnSpc="1">
            <a:prstTxWarp prst="textNoShape">
              <a:avLst/>
            </a:prstTxWarp>
          </a:bodyPr>
          <a:lstStyle/>
          <a:p>
            <a:pPr algn="ctr" fontAlgn="base">
              <a:spcBef>
                <a:spcPct val="0"/>
              </a:spcBef>
              <a:spcAft>
                <a:spcPct val="0"/>
              </a:spcAft>
            </a:pPr>
            <a:r>
              <a:rPr lang="en-GB" sz="800" b="1" dirty="0" smtClean="0">
                <a:solidFill>
                  <a:srgbClr val="646464"/>
                </a:solidFill>
              </a:rPr>
              <a:t>Benefits Realisation</a:t>
            </a:r>
            <a:endParaRPr lang="en-GB" sz="800" b="1" dirty="0">
              <a:solidFill>
                <a:srgbClr val="646464"/>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984885"/>
          </a:xfrm>
          <a:prstGeom prst="rect">
            <a:avLst/>
          </a:prstGeom>
        </p:spPr>
        <p:txBody>
          <a:bodyPr>
            <a:spAutoFit/>
          </a:bodyPr>
          <a:lstStyle/>
          <a:p>
            <a:pPr algn="l" defTabSz="955675" eaLnBrk="0" hangingPunct="0">
              <a:spcAft>
                <a:spcPts val="0"/>
              </a:spcAft>
              <a:defRPr/>
            </a:pPr>
            <a:r>
              <a:rPr lang="en-US" sz="1600" b="1" kern="0" dirty="0" smtClean="0">
                <a:solidFill>
                  <a:srgbClr val="646464"/>
                </a:solidFill>
              </a:rPr>
              <a:t>4. Scope and Change Requests.</a:t>
            </a:r>
            <a:endParaRPr lang="en-US" sz="1600" b="1" kern="0" dirty="0" smtClean="0">
              <a:solidFill>
                <a:srgbClr val="646464"/>
              </a:solidFill>
              <a:latin typeface="EYInterstate"/>
            </a:endParaRPr>
          </a:p>
          <a:p>
            <a:pPr defTabSz="955675" eaLnBrk="0" hangingPunct="0">
              <a:spcAft>
                <a:spcPts val="0"/>
              </a:spcAft>
              <a:defRPr/>
            </a:pPr>
            <a:endParaRPr lang="en-US" sz="1400" b="1" kern="0" dirty="0" smtClean="0">
              <a:solidFill>
                <a:srgbClr val="646464"/>
              </a:solidFill>
              <a:latin typeface="EYInterstate"/>
            </a:endParaRPr>
          </a:p>
          <a:p>
            <a:pPr lvl="0" defTabSz="955675" eaLnBrk="0" hangingPunct="0">
              <a:spcAft>
                <a:spcPts val="0"/>
              </a:spcAft>
              <a:defRPr/>
            </a:pPr>
            <a:endParaRPr lang="en-US" sz="1400" kern="0" dirty="0" smtClean="0">
              <a:solidFill>
                <a:srgbClr val="646464"/>
              </a:solidFill>
            </a:endParaRPr>
          </a:p>
          <a:p>
            <a:pPr defTabSz="955675" eaLnBrk="0" hangingPunct="0">
              <a:spcAft>
                <a:spcPts val="0"/>
              </a:spcAft>
              <a:defRPr/>
            </a:pPr>
            <a:endParaRPr lang="en-US" sz="1400" kern="0" dirty="0">
              <a:solidFill>
                <a:srgbClr val="646464"/>
              </a:solidFill>
              <a:latin typeface="EYInterstate"/>
            </a:endParaRPr>
          </a:p>
        </p:txBody>
      </p:sp>
      <p:graphicFrame>
        <p:nvGraphicFramePr>
          <p:cNvPr id="8" name="Group 270"/>
          <p:cNvGraphicFramePr>
            <a:graphicFrameLocks noGrp="1"/>
          </p:cNvGraphicFramePr>
          <p:nvPr/>
        </p:nvGraphicFramePr>
        <p:xfrm>
          <a:off x="76201" y="1048766"/>
          <a:ext cx="8972582" cy="4647880"/>
        </p:xfrm>
        <a:graphic>
          <a:graphicData uri="http://schemas.openxmlformats.org/drawingml/2006/table">
            <a:tbl>
              <a:tblPr/>
              <a:tblGrid>
                <a:gridCol w="741285"/>
                <a:gridCol w="610119"/>
                <a:gridCol w="610119"/>
                <a:gridCol w="924346"/>
                <a:gridCol w="924346"/>
                <a:gridCol w="655535"/>
                <a:gridCol w="655535"/>
                <a:gridCol w="849788"/>
                <a:gridCol w="1187947"/>
                <a:gridCol w="876536"/>
                <a:gridCol w="937026"/>
              </a:tblGrid>
              <a:tr h="144016">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gridSpan="4">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Approved change</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GB"/>
                    </a:p>
                  </a:txBody>
                  <a:tcPr/>
                </a:tc>
                <a:tc hMerge="1">
                  <a:txBody>
                    <a:bodyPr/>
                    <a:lstStyle/>
                    <a:p>
                      <a:endParaRPr lang="en-GB"/>
                    </a:p>
                  </a:txBody>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endParaRPr kumimoji="0" lang="en-US" sz="700" b="0" i="0" u="none" strike="noStrike" cap="none" normalizeH="0" baseline="0" dirty="0" smtClean="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rowSpan="13">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kern="1200" cap="none" normalizeH="0" baseline="0" dirty="0">
                        <a:ln>
                          <a:noFill/>
                        </a:ln>
                        <a:solidFill>
                          <a:schemeClr val="tx1">
                            <a:lumMod val="75000"/>
                          </a:schemeClr>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1">
                        <a:lumMod val="60000"/>
                        <a:lumOff val="40000"/>
                      </a:schemeClr>
                    </a:solidFill>
                  </a:tcPr>
                </a:tc>
                <a:tc gridSpan="4">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Pending Change</a:t>
                      </a:r>
                      <a:endParaRPr kumimoji="0" lang="en-US" sz="700" b="1"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651918">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1" i="0" u="none" strike="noStrike" cap="none" normalizeH="0" baseline="0" dirty="0" smtClean="0">
                          <a:ln>
                            <a:noFill/>
                          </a:ln>
                          <a:solidFill>
                            <a:srgbClr val="000000"/>
                          </a:solidFill>
                          <a:effectLst/>
                          <a:latin typeface="EYInterstate Light" pitchFamily="2" charset="0"/>
                        </a:rPr>
                        <a:t>Program/</a:t>
                      </a:r>
                    </a:p>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1" i="0" u="none" strike="noStrike" cap="none" normalizeH="0" baseline="0" dirty="0" err="1" smtClean="0">
                          <a:ln>
                            <a:noFill/>
                          </a:ln>
                          <a:solidFill>
                            <a:srgbClr val="000000"/>
                          </a:solidFill>
                          <a:effectLst/>
                          <a:latin typeface="EYInterstate Light" pitchFamily="2" charset="0"/>
                        </a:rPr>
                        <a:t>Workstream</a:t>
                      </a:r>
                      <a:endParaRPr kumimoji="0" lang="en-US" sz="9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1" i="0" u="none" strike="noStrike" cap="none" normalizeH="0" baseline="0" dirty="0" smtClean="0">
                          <a:ln>
                            <a:noFill/>
                          </a:ln>
                          <a:solidFill>
                            <a:srgbClr val="000000"/>
                          </a:solidFill>
                          <a:effectLst/>
                          <a:latin typeface="EYInterstate Light" pitchFamily="2" charset="0"/>
                        </a:rPr>
                        <a:t>Approved (Number)</a:t>
                      </a:r>
                      <a:endParaRPr kumimoji="0" lang="en-US" sz="9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1" i="0" u="none" strike="noStrike" cap="none" normalizeH="0" baseline="0" dirty="0" smtClean="0">
                          <a:ln>
                            <a:noFill/>
                          </a:ln>
                          <a:solidFill>
                            <a:srgbClr val="000000"/>
                          </a:solidFill>
                          <a:effectLst/>
                          <a:latin typeface="EYInterstate Light" pitchFamily="2" charset="0"/>
                        </a:rPr>
                        <a:t>Cost Impact (cumulative $)</a:t>
                      </a:r>
                      <a:endParaRPr kumimoji="0" lang="en-US" sz="9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1" i="0" u="none" strike="noStrike" cap="none" normalizeH="0" baseline="0" dirty="0" smtClean="0">
                          <a:ln>
                            <a:noFill/>
                          </a:ln>
                          <a:solidFill>
                            <a:srgbClr val="000000"/>
                          </a:solidFill>
                          <a:effectLst/>
                          <a:latin typeface="EYInterstate Light" pitchFamily="2" charset="0"/>
                        </a:rPr>
                        <a:t>Schedule Impact (cumulative time)</a:t>
                      </a:r>
                      <a:endParaRPr kumimoji="0" lang="en-US" sz="9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900" b="1" i="0" u="none" strike="noStrike" cap="none" normalizeH="0" baseline="0" dirty="0" smtClean="0">
                          <a:ln>
                            <a:noFill/>
                          </a:ln>
                          <a:solidFill>
                            <a:srgbClr val="000000"/>
                          </a:solidFill>
                          <a:effectLst/>
                          <a:latin typeface="EYInterstate Light" pitchFamily="2" charset="0"/>
                        </a:rPr>
                        <a:t>Scope Impact</a:t>
                      </a:r>
                      <a:endParaRPr kumimoji="0" lang="en-US" sz="9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1" i="0" u="none" strike="noStrike" cap="none" normalizeH="0" baseline="0" dirty="0" smtClean="0">
                          <a:ln>
                            <a:noFill/>
                          </a:ln>
                          <a:solidFill>
                            <a:srgbClr val="000000"/>
                          </a:solidFill>
                          <a:effectLst/>
                          <a:latin typeface="EYInterstate Light" pitchFamily="2" charset="0"/>
                        </a:rPr>
                        <a:t>Approval Status.</a:t>
                      </a:r>
                      <a:endParaRPr kumimoji="0" lang="en-US" sz="9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vMerge="1">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9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900" b="1" i="0" u="none" strike="noStrike" cap="none" normalizeH="0" baseline="0" dirty="0" smtClean="0">
                          <a:ln>
                            <a:noFill/>
                          </a:ln>
                          <a:solidFill>
                            <a:srgbClr val="000000"/>
                          </a:solidFill>
                          <a:effectLst/>
                          <a:latin typeface="EYInterstate Light" pitchFamily="2" charset="0"/>
                        </a:rPr>
                        <a:t>Pending (Number)</a:t>
                      </a:r>
                      <a:endParaRPr kumimoji="0" lang="en-US" sz="9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defRPr/>
                      </a:pPr>
                      <a:r>
                        <a:rPr kumimoji="0" lang="en-US" sz="900" b="1" i="0" u="none" strike="noStrike" cap="none" normalizeH="0" baseline="0" dirty="0" smtClean="0">
                          <a:ln>
                            <a:noFill/>
                          </a:ln>
                          <a:solidFill>
                            <a:srgbClr val="000000"/>
                          </a:solidFill>
                          <a:effectLst/>
                          <a:latin typeface="EYInterstate Light" pitchFamily="2" charset="0"/>
                        </a:rPr>
                        <a:t>Cost Impact (cumulative $)</a:t>
                      </a:r>
                    </a:p>
                    <a:p>
                      <a:pPr marL="0" marR="0" lvl="0" indent="0" algn="ctr" defTabSz="947738" rtl="0" eaLnBrk="0" fontAlgn="base" latinLnBrk="0" hangingPunct="0">
                        <a:lnSpc>
                          <a:spcPct val="100000"/>
                        </a:lnSpc>
                        <a:spcBef>
                          <a:spcPct val="0"/>
                        </a:spcBef>
                        <a:spcAft>
                          <a:spcPct val="10000"/>
                        </a:spcAft>
                        <a:buClr>
                          <a:schemeClr val="hlink"/>
                        </a:buClr>
                        <a:buSzTx/>
                        <a:buFontTx/>
                        <a:buNone/>
                        <a:tabLst/>
                      </a:pPr>
                      <a:endParaRPr kumimoji="0" lang="en-US" sz="9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1" i="0" u="none" strike="noStrike" cap="none" normalizeH="0" baseline="0" dirty="0" smtClean="0">
                          <a:ln>
                            <a:noFill/>
                          </a:ln>
                          <a:solidFill>
                            <a:srgbClr val="000000"/>
                          </a:solidFill>
                          <a:effectLst/>
                          <a:latin typeface="EYInterstate Light" pitchFamily="2" charset="0"/>
                        </a:rPr>
                        <a:t>Schedule Impact (cumulative time)</a:t>
                      </a:r>
                      <a:endParaRPr kumimoji="0" lang="en-US" sz="9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900" b="1" i="0" u="none" strike="noStrike" cap="none" normalizeH="0" baseline="0" dirty="0" smtClean="0">
                          <a:ln>
                            <a:noFill/>
                          </a:ln>
                          <a:solidFill>
                            <a:srgbClr val="000000"/>
                          </a:solidFill>
                          <a:effectLst/>
                          <a:latin typeface="EYInterstate Light" pitchFamily="2" charset="0"/>
                        </a:rPr>
                        <a:t>Scope Impact</a:t>
                      </a:r>
                      <a:endParaRPr kumimoji="0" lang="en-US" sz="900" b="1" i="0" u="none" strike="noStrike" cap="none" normalizeH="0" baseline="0" dirty="0">
                        <a:ln>
                          <a:noFill/>
                        </a:ln>
                        <a:solidFill>
                          <a:srgbClr val="000000"/>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68960">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MMD</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CR75</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$102,00</a:t>
                      </a:r>
                      <a:endParaRPr kumimoji="0" lang="en-US" sz="70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5 weeks additional time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Approved</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vMerge="1">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a:solidFill>
                          <a:schemeClr val="bg2">
                            <a:lumMod val="75000"/>
                          </a:schemeClr>
                        </a:solidFill>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dirty="0">
                        <a:solidFill>
                          <a:schemeClr val="bg2">
                            <a:lumMod val="75000"/>
                          </a:schemeClr>
                        </a:solidFill>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dirty="0">
                        <a:solidFill>
                          <a:schemeClr val="bg2">
                            <a:lumMod val="75000"/>
                          </a:schemeClr>
                        </a:solidFill>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dirty="0">
                        <a:solidFill>
                          <a:schemeClr val="bg2">
                            <a:lumMod val="75000"/>
                          </a:schemeClr>
                        </a:solidFill>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68960">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O365  Domain controllers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CR76</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$312,000</a:t>
                      </a:r>
                      <a:endParaRPr kumimoji="0" lang="en-US" sz="70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Additional 4 paid for physical servers.</a:t>
                      </a:r>
                    </a:p>
                    <a:p>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Plus</a:t>
                      </a:r>
                    </a:p>
                    <a:p>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42 EY-hosted domain controllers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Approved</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vMerge="1">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dirty="0">
                        <a:solidFill>
                          <a:schemeClr val="bg2">
                            <a:lumMod val="75000"/>
                          </a:schemeClr>
                        </a:solidFill>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a:solidFill>
                          <a:schemeClr val="bg2">
                            <a:lumMod val="75000"/>
                          </a:schemeClr>
                        </a:solidFill>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a:solidFill>
                          <a:schemeClr val="bg2">
                            <a:lumMod val="75000"/>
                          </a:schemeClr>
                        </a:solidFill>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68960">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Blueprint User validation Tax</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CR77</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$56,200 (plus expenses)</a:t>
                      </a:r>
                      <a:endParaRPr kumimoji="0" lang="en-US" sz="70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none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Approved</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vMerge="1">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dirty="0">
                        <a:solidFill>
                          <a:schemeClr val="bg2">
                            <a:lumMod val="75000"/>
                          </a:schemeClr>
                        </a:solidFill>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a:solidFill>
                          <a:schemeClr val="bg2">
                            <a:lumMod val="75000"/>
                          </a:schemeClr>
                        </a:solidFill>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a:solidFill>
                          <a:schemeClr val="bg2">
                            <a:lumMod val="75000"/>
                          </a:schemeClr>
                        </a:solidFill>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68960">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MMD AMT </a:t>
                      </a:r>
                      <a:r>
                        <a:rPr kumimoji="0" lang="en-GB" sz="700" b="0" i="0" u="none" strike="noStrike" kern="1200" cap="none" normalizeH="0" baseline="0" dirty="0" err="1" smtClean="0">
                          <a:ln>
                            <a:noFill/>
                          </a:ln>
                          <a:solidFill>
                            <a:schemeClr val="bg2">
                              <a:lumMod val="75000"/>
                            </a:schemeClr>
                          </a:solidFill>
                          <a:effectLst/>
                          <a:latin typeface="EYInterstate Light" pitchFamily="2" charset="0"/>
                          <a:ea typeface="+mn-ea"/>
                          <a:cs typeface="+mn-cs"/>
                        </a:rPr>
                        <a:t>descope</a:t>
                      </a:r>
                      <a:endPar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CR78</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None</a:t>
                      </a:r>
                      <a:endParaRPr kumimoji="0" lang="en-US" sz="70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r>
                        <a:rPr kumimoji="0" lang="en-US" sz="700" b="0" i="0" u="none" strike="noStrike" kern="1200" cap="none" normalizeH="0" baseline="0" dirty="0" err="1" smtClean="0">
                          <a:ln>
                            <a:noFill/>
                          </a:ln>
                          <a:solidFill>
                            <a:schemeClr val="bg2">
                              <a:lumMod val="75000"/>
                            </a:schemeClr>
                          </a:solidFill>
                          <a:effectLst/>
                          <a:latin typeface="EYInterstate Light" pitchFamily="2" charset="0"/>
                          <a:ea typeface="+mn-ea"/>
                          <a:cs typeface="+mn-cs"/>
                        </a:rPr>
                        <a:t>DeScope</a:t>
                      </a: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 of Binary Tree Advanced Migration Toolset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Approved</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vMerge="1">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dirty="0">
                        <a:solidFill>
                          <a:schemeClr val="bg2">
                            <a:lumMod val="75000"/>
                          </a:schemeClr>
                        </a:solidFill>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a:solidFill>
                          <a:schemeClr val="bg2">
                            <a:lumMod val="75000"/>
                          </a:schemeClr>
                        </a:solidFill>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a:solidFill>
                          <a:schemeClr val="bg2">
                            <a:lumMod val="75000"/>
                          </a:schemeClr>
                        </a:solidFill>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68960">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Lync – Proof of concept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CR79</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$4,800</a:t>
                      </a:r>
                      <a:endParaRPr kumimoji="0" lang="en-US" sz="70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Additional of Proof of concept.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Approved</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vMerge="1">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dirty="0">
                        <a:solidFill>
                          <a:schemeClr val="bg2">
                            <a:lumMod val="75000"/>
                          </a:schemeClr>
                        </a:solidFill>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a:solidFill>
                          <a:schemeClr val="bg2">
                            <a:lumMod val="75000"/>
                          </a:schemeClr>
                        </a:solidFill>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a:solidFill>
                          <a:schemeClr val="bg2">
                            <a:lumMod val="75000"/>
                          </a:schemeClr>
                        </a:solidFill>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68960">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Lync – interim SOW</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CR81</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$170,000</a:t>
                      </a:r>
                      <a:endParaRPr kumimoji="0" lang="en-US" sz="70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dirty="0">
                        <a:solidFill>
                          <a:schemeClr val="bg2">
                            <a:lumMod val="75000"/>
                          </a:schemeClr>
                        </a:solidFill>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normalizeH="0" baseline="0" dirty="0" smtClean="0">
                          <a:ln>
                            <a:noFill/>
                          </a:ln>
                          <a:solidFill>
                            <a:schemeClr val="bg2">
                              <a:lumMod val="75000"/>
                            </a:schemeClr>
                          </a:solidFill>
                          <a:effectLst/>
                          <a:latin typeface="EYInterstate Light" pitchFamily="2" charset="0"/>
                          <a:ea typeface="+mn-ea"/>
                          <a:cs typeface="+mn-cs"/>
                        </a:rPr>
                        <a:t>ATT have been selected as the </a:t>
                      </a:r>
                      <a:r>
                        <a:rPr kumimoji="0" lang="en-US" sz="800" b="0" i="0" u="none" strike="noStrike" kern="1200" cap="none" normalizeH="0" baseline="0" dirty="0" err="1" smtClean="0">
                          <a:ln>
                            <a:noFill/>
                          </a:ln>
                          <a:solidFill>
                            <a:schemeClr val="bg2">
                              <a:lumMod val="75000"/>
                            </a:schemeClr>
                          </a:solidFill>
                          <a:effectLst/>
                          <a:latin typeface="EYInterstate Light" pitchFamily="2" charset="0"/>
                          <a:ea typeface="+mn-ea"/>
                          <a:cs typeface="+mn-cs"/>
                        </a:rPr>
                        <a:t>Lync</a:t>
                      </a:r>
                      <a:r>
                        <a:rPr kumimoji="0" lang="en-US" sz="800" b="0" i="0" u="none" strike="noStrike" kern="1200" cap="none" normalizeH="0" baseline="0" dirty="0" smtClean="0">
                          <a:ln>
                            <a:noFill/>
                          </a:ln>
                          <a:solidFill>
                            <a:schemeClr val="bg2">
                              <a:lumMod val="75000"/>
                            </a:schemeClr>
                          </a:solidFill>
                          <a:effectLst/>
                          <a:latin typeface="EYInterstate Light" pitchFamily="2" charset="0"/>
                          <a:ea typeface="+mn-ea"/>
                          <a:cs typeface="+mn-cs"/>
                        </a:rPr>
                        <a:t> preferred vendor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Approved</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vMerge="1">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a:endParaRPr lang="en-GB" sz="1600" dirty="0">
                        <a:solidFill>
                          <a:schemeClr val="bg2">
                            <a:lumMod val="75000"/>
                          </a:schemeClr>
                        </a:solidFill>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dirty="0">
                        <a:solidFill>
                          <a:schemeClr val="bg2">
                            <a:lumMod val="75000"/>
                          </a:schemeClr>
                        </a:solidFill>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68960">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Business Change - Benefits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CR82</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0</a:t>
                      </a:r>
                      <a:endParaRPr kumimoji="0" lang="en-US" sz="70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Critical Milestone impact</a:t>
                      </a:r>
                      <a:endParaRPr kumimoji="0" lang="en-GB" sz="70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None</a:t>
                      </a:r>
                      <a:endParaRPr kumimoji="0" lang="en-GB" sz="70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Approved</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vMerge="1">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a:endParaRPr lang="en-GB" sz="1600" dirty="0">
                        <a:solidFill>
                          <a:schemeClr val="bg2">
                            <a:lumMod val="75000"/>
                          </a:schemeClr>
                        </a:solidFill>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dirty="0">
                        <a:solidFill>
                          <a:schemeClr val="bg2">
                            <a:lumMod val="75000"/>
                          </a:schemeClr>
                        </a:solidFill>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68960">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SP Enablement</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CR83</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0</a:t>
                      </a:r>
                      <a:endParaRPr kumimoji="0" lang="en-US" sz="70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2 week extension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None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Approved</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vMerge="1">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a:endParaRPr lang="en-GB" sz="1600" dirty="0">
                        <a:solidFill>
                          <a:schemeClr val="bg2">
                            <a:lumMod val="75000"/>
                          </a:schemeClr>
                        </a:solidFill>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dirty="0">
                        <a:solidFill>
                          <a:schemeClr val="bg2">
                            <a:lumMod val="75000"/>
                          </a:schemeClr>
                        </a:solidFill>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60732">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Business Change - Comms</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CR84</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0</a:t>
                      </a:r>
                      <a:endParaRPr kumimoji="0" lang="en-US" sz="70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Critical Milestone impact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Approved</a:t>
                      </a: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vMerge="1">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ctr"/>
                      <a:endParaRPr kumimoji="0" lang="en-GB" sz="70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dirty="0">
                        <a:solidFill>
                          <a:schemeClr val="bg2">
                            <a:lumMod val="75000"/>
                          </a:schemeClr>
                        </a:solidFill>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GB" sz="70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60732">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Business Change</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vMerge="1">
                  <a:txBody>
                    <a:bodyPr/>
                    <a:lstStyle/>
                    <a:p>
                      <a:endParaRPr lang="en-GB"/>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CR86</a:t>
                      </a:r>
                    </a:p>
                    <a:p>
                      <a:pPr algn="ctr"/>
                      <a:endParaRPr kumimoji="0" lang="en-GB" sz="70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r>
                        <a:rPr lang="en-GB" sz="700" dirty="0" smtClean="0">
                          <a:solidFill>
                            <a:schemeClr val="bg2">
                              <a:lumMod val="75000"/>
                            </a:schemeClr>
                          </a:solidFill>
                        </a:rPr>
                        <a:t>None</a:t>
                      </a:r>
                      <a:endParaRPr lang="en-GB" sz="1600" dirty="0">
                        <a:solidFill>
                          <a:schemeClr val="bg2">
                            <a:lumMod val="75000"/>
                          </a:schemeClr>
                        </a:solidFill>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Umbrella Change request for realignment of program activities. </a:t>
                      </a:r>
                      <a:endParaRPr kumimoji="0" lang="en-GB" sz="70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 None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60732">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chemeClr val="tx1">
                              <a:lumMod val="50000"/>
                            </a:schemeClr>
                          </a:solidFill>
                          <a:effectLst/>
                          <a:latin typeface="EYInterstate Light" pitchFamily="2" charset="0"/>
                          <a:ea typeface="+mn-ea"/>
                          <a:cs typeface="+mn-cs"/>
                        </a:rPr>
                        <a:t>Total</a:t>
                      </a: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smtClean="0">
                          <a:ln>
                            <a:noFill/>
                          </a:ln>
                          <a:solidFill>
                            <a:schemeClr val="bg2">
                              <a:lumMod val="75000"/>
                            </a:schemeClr>
                          </a:solidFill>
                          <a:effectLst/>
                          <a:latin typeface="EYInterstate Light" pitchFamily="2" charset="0"/>
                          <a:ea typeface="+mn-ea"/>
                          <a:cs typeface="+mn-cs"/>
                        </a:rPr>
                        <a:t>$543,000</a:t>
                      </a:r>
                      <a:endParaRPr kumimoji="0" lang="en-US" sz="70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2">
                        <a:lumMod val="60000"/>
                        <a:lumOff val="40000"/>
                      </a:schemeClr>
                    </a:solidFill>
                  </a:tcPr>
                </a:tc>
                <a:tc vMerge="1">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0" marR="0" marT="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algn="ctr"/>
                      <a:r>
                        <a:rPr kumimoji="0" lang="en-GB" sz="700" b="0" i="0" u="none" strike="noStrike" kern="1200" cap="none" normalizeH="0" baseline="0" dirty="0" smtClean="0">
                          <a:ln>
                            <a:noFill/>
                          </a:ln>
                          <a:solidFill>
                            <a:schemeClr val="tx1">
                              <a:lumMod val="50000"/>
                            </a:schemeClr>
                          </a:solidFill>
                          <a:effectLst/>
                          <a:latin typeface="EYInterstate Light" pitchFamily="2" charset="0"/>
                          <a:ea typeface="+mn-ea"/>
                          <a:cs typeface="+mn-cs"/>
                        </a:rPr>
                        <a:t>Total</a:t>
                      </a:r>
                      <a:endParaRPr kumimoji="0" lang="en-GB" sz="700" b="0" i="0" u="none" strike="noStrike" kern="1200" cap="none" normalizeH="0" baseline="0" dirty="0">
                        <a:ln>
                          <a:noFill/>
                        </a:ln>
                        <a:solidFill>
                          <a:schemeClr val="tx1">
                            <a:lumMod val="50000"/>
                          </a:schemeClr>
                        </a:solidFill>
                        <a:effectLst/>
                        <a:latin typeface="EYInterstate Light" pitchFamily="2" charset="0"/>
                        <a:ea typeface="+mn-ea"/>
                        <a:cs typeface="+mn-cs"/>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endParaRPr lang="en-GB" sz="1600" dirty="0">
                        <a:solidFill>
                          <a:schemeClr val="bg2">
                            <a:lumMod val="75000"/>
                          </a:schemeClr>
                        </a:solidFill>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GB" sz="70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2">
                        <a:lumMod val="60000"/>
                        <a:lumOff val="40000"/>
                      </a:schemeClr>
                    </a:solidFill>
                  </a:tcPr>
                </a:tc>
              </a:tr>
            </a:tbl>
          </a:graphicData>
        </a:graphic>
      </p:graphicFrame>
      <p:graphicFrame>
        <p:nvGraphicFramePr>
          <p:cNvPr id="5" name="Group 852"/>
          <p:cNvGraphicFramePr>
            <a:graphicFrameLocks noGrp="1"/>
          </p:cNvGraphicFramePr>
          <p:nvPr/>
        </p:nvGraphicFramePr>
        <p:xfrm>
          <a:off x="76201" y="5850768"/>
          <a:ext cx="8821488" cy="854832"/>
        </p:xfrm>
        <a:graphic>
          <a:graphicData uri="http://schemas.openxmlformats.org/drawingml/2006/table">
            <a:tbl>
              <a:tblPr/>
              <a:tblGrid>
                <a:gridCol w="8821488"/>
              </a:tblGrid>
              <a:tr h="0">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bg2">
                              <a:lumMod val="75000"/>
                            </a:schemeClr>
                          </a:solidFill>
                          <a:effectLst/>
                          <a:latin typeface="EYInterstate" pitchFamily="2" charset="0"/>
                        </a:rPr>
                        <a:t>PMO Narrative.</a:t>
                      </a:r>
                      <a:endParaRPr kumimoji="0" lang="en-US" sz="700" b="1" i="0" u="none" strike="noStrike" cap="none" normalizeH="0" baseline="0" dirty="0">
                        <a:ln>
                          <a:noFill/>
                        </a:ln>
                        <a:solidFill>
                          <a:schemeClr val="bg2">
                            <a:lumMod val="75000"/>
                          </a:schemeClr>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45674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smtClean="0">
                          <a:ln>
                            <a:noFill/>
                          </a:ln>
                          <a:solidFill>
                            <a:schemeClr val="bg2">
                              <a:lumMod val="75000"/>
                            </a:schemeClr>
                          </a:solidFill>
                          <a:effectLst/>
                          <a:latin typeface="EYInterstate Light" pitchFamily="2" charset="0"/>
                        </a:rPr>
                        <a:t>CR62 - B</a:t>
                      </a:r>
                      <a:r>
                        <a:rPr kumimoji="0" lang="en-GB" sz="600" b="0" i="0" u="none" strike="noStrike" cap="none" normalizeH="0" baseline="0" dirty="0" smtClean="0">
                          <a:ln>
                            <a:noFill/>
                          </a:ln>
                          <a:solidFill>
                            <a:schemeClr val="bg2">
                              <a:lumMod val="75000"/>
                            </a:schemeClr>
                          </a:solidFill>
                          <a:effectLst/>
                          <a:latin typeface="EYInterstate Light" pitchFamily="2" charset="0"/>
                        </a:rPr>
                        <a:t>l</a:t>
                      </a:r>
                      <a:r>
                        <a:rPr kumimoji="0" lang="en-GB" sz="700" b="0" i="0" u="none" strike="noStrike" cap="none" normalizeH="0" baseline="0" dirty="0" smtClean="0">
                          <a:ln>
                            <a:noFill/>
                          </a:ln>
                          <a:solidFill>
                            <a:schemeClr val="bg2">
                              <a:lumMod val="75000"/>
                            </a:schemeClr>
                          </a:solidFill>
                          <a:effectLst/>
                          <a:latin typeface="EYInterstate Light" pitchFamily="2" charset="0"/>
                        </a:rPr>
                        <a:t>ueprint – Approved by Alan/Bob, exact FY12 budget </a:t>
                      </a:r>
                      <a:r>
                        <a:rPr kumimoji="0" lang="en-GB" sz="700" b="0" i="0" u="none" strike="noStrike" cap="none" normalizeH="0" baseline="0" dirty="0" err="1" smtClean="0">
                          <a:ln>
                            <a:noFill/>
                          </a:ln>
                          <a:solidFill>
                            <a:schemeClr val="bg2">
                              <a:lumMod val="75000"/>
                            </a:schemeClr>
                          </a:solidFill>
                          <a:effectLst/>
                          <a:latin typeface="EYInterstate Light" pitchFamily="2" charset="0"/>
                        </a:rPr>
                        <a:t>tbc</a:t>
                      </a:r>
                      <a:endParaRPr kumimoji="0" lang="en-GB" sz="700" b="0" i="0" u="none" strike="noStrike" cap="none" normalizeH="0" baseline="0" dirty="0" smtClean="0">
                        <a:ln>
                          <a:noFill/>
                        </a:ln>
                        <a:solidFill>
                          <a:schemeClr val="bg2">
                            <a:lumMod val="75000"/>
                          </a:schemeClr>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smtClean="0">
                          <a:ln>
                            <a:noFill/>
                          </a:ln>
                          <a:solidFill>
                            <a:schemeClr val="bg2">
                              <a:lumMod val="75000"/>
                            </a:schemeClr>
                          </a:solidFill>
                          <a:effectLst/>
                          <a:latin typeface="EYInterstate Light" pitchFamily="2" charset="0"/>
                        </a:rPr>
                        <a:t>CR77 – Approved at CCB – to be removed from approved Blueprint budget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CR81 – </a:t>
                      </a:r>
                      <a:r>
                        <a:rPr kumimoji="0" lang="en-GB" sz="700" b="0" i="0" u="none" strike="noStrike" cap="none" normalizeH="0" baseline="0" dirty="0" smtClean="0">
                          <a:ln>
                            <a:noFill/>
                          </a:ln>
                          <a:solidFill>
                            <a:schemeClr val="bg2">
                              <a:lumMod val="75000"/>
                            </a:schemeClr>
                          </a:solidFill>
                          <a:effectLst/>
                          <a:latin typeface="EYInterstate Light" pitchFamily="2" charset="0"/>
                        </a:rPr>
                        <a:t>Approved at CCB</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CR82 – </a:t>
                      </a:r>
                      <a:r>
                        <a:rPr kumimoji="0" lang="en-GB" sz="700" b="0" i="0" u="none" strike="noStrike" cap="none" normalizeH="0" baseline="0" dirty="0" smtClean="0">
                          <a:ln>
                            <a:noFill/>
                          </a:ln>
                          <a:solidFill>
                            <a:schemeClr val="bg2">
                              <a:lumMod val="75000"/>
                            </a:schemeClr>
                          </a:solidFill>
                          <a:effectLst/>
                          <a:latin typeface="EYInterstate Light" pitchFamily="2" charset="0"/>
                        </a:rPr>
                        <a:t>Approved at CCB</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CR84 – Approved.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bg2">
                              <a:lumMod val="75000"/>
                            </a:schemeClr>
                          </a:solidFill>
                          <a:effectLst/>
                          <a:latin typeface="EYInterstate Light" pitchFamily="2" charset="0"/>
                          <a:ea typeface="+mn-ea"/>
                          <a:cs typeface="+mn-cs"/>
                        </a:rPr>
                        <a:t>CR85 – </a:t>
                      </a:r>
                      <a:r>
                        <a:rPr kumimoji="0" lang="en-GB" sz="700" b="0" i="0" u="none" strike="noStrike" cap="none" normalizeH="0" baseline="0" dirty="0" smtClean="0">
                          <a:ln>
                            <a:noFill/>
                          </a:ln>
                          <a:solidFill>
                            <a:schemeClr val="bg2">
                              <a:lumMod val="75000"/>
                            </a:schemeClr>
                          </a:solidFill>
                          <a:effectLst/>
                          <a:latin typeface="EYInterstate Light" pitchFamily="2" charset="0"/>
                        </a:rPr>
                        <a:t>Approved at CCB</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pic>
        <p:nvPicPr>
          <p:cNvPr id="6" name="Picture 5" descr="C:\Documents and Settings\liangli1\Desktop\ScopeTimeCost.png"/>
          <p:cNvPicPr/>
          <p:nvPr/>
        </p:nvPicPr>
        <p:blipFill>
          <a:blip r:embed="rId2" cstate="print"/>
          <a:srcRect/>
          <a:stretch>
            <a:fillRect/>
          </a:stretch>
        </p:blipFill>
        <p:spPr bwMode="auto">
          <a:xfrm>
            <a:off x="8190185" y="50304"/>
            <a:ext cx="877615" cy="86409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3" name="Rectangle 183"/>
          <p:cNvSpPr txBox="1">
            <a:spLocks noChangeArrowheads="1"/>
          </p:cNvSpPr>
          <p:nvPr/>
        </p:nvSpPr>
        <p:spPr bwMode="gray">
          <a:xfrm>
            <a:off x="2" y="0"/>
            <a:ext cx="7729904" cy="984885"/>
          </a:xfrm>
          <a:prstGeom prst="rect">
            <a:avLst/>
          </a:prstGeom>
        </p:spPr>
        <p:txBody>
          <a:bodyPr>
            <a:spAutoFit/>
          </a:bodyPr>
          <a:lstStyle/>
          <a:p>
            <a:pPr algn="l" defTabSz="955675" eaLnBrk="0" hangingPunct="0">
              <a:spcAft>
                <a:spcPts val="0"/>
              </a:spcAft>
              <a:defRPr/>
            </a:pPr>
            <a:r>
              <a:rPr lang="en-US" sz="1600" b="1" kern="0" dirty="0" smtClean="0">
                <a:solidFill>
                  <a:srgbClr val="646464"/>
                </a:solidFill>
              </a:rPr>
              <a:t>5. Resource management</a:t>
            </a:r>
            <a:endParaRPr lang="en-US" sz="1600" b="1" kern="0" dirty="0" smtClean="0">
              <a:solidFill>
                <a:srgbClr val="646464"/>
              </a:solidFill>
              <a:latin typeface="EYInterstate"/>
            </a:endParaRPr>
          </a:p>
          <a:p>
            <a:pPr defTabSz="955675" eaLnBrk="0" hangingPunct="0">
              <a:spcAft>
                <a:spcPts val="0"/>
              </a:spcAft>
              <a:defRPr/>
            </a:pPr>
            <a:endParaRPr lang="en-US" sz="1400" b="1" kern="0" dirty="0" smtClean="0">
              <a:solidFill>
                <a:srgbClr val="646464"/>
              </a:solidFill>
              <a:latin typeface="EYInterstate"/>
            </a:endParaRPr>
          </a:p>
          <a:p>
            <a:pPr lvl="0" defTabSz="955675" eaLnBrk="0" hangingPunct="0">
              <a:spcAft>
                <a:spcPts val="0"/>
              </a:spcAft>
              <a:defRPr/>
            </a:pPr>
            <a:endParaRPr lang="en-US" sz="1400" kern="0" dirty="0" smtClean="0">
              <a:solidFill>
                <a:srgbClr val="646464"/>
              </a:solidFill>
            </a:endParaRPr>
          </a:p>
          <a:p>
            <a:pPr defTabSz="955675" eaLnBrk="0" hangingPunct="0">
              <a:spcAft>
                <a:spcPts val="0"/>
              </a:spcAft>
              <a:defRPr/>
            </a:pPr>
            <a:endParaRPr lang="en-US" sz="1400" kern="0" dirty="0">
              <a:solidFill>
                <a:srgbClr val="646464"/>
              </a:solidFill>
              <a:latin typeface="EYInterstate"/>
            </a:endParaRPr>
          </a:p>
        </p:txBody>
      </p:sp>
      <p:graphicFrame>
        <p:nvGraphicFramePr>
          <p:cNvPr id="4" name="Group 852"/>
          <p:cNvGraphicFramePr>
            <a:graphicFrameLocks noGrp="1"/>
          </p:cNvGraphicFramePr>
          <p:nvPr/>
        </p:nvGraphicFramePr>
        <p:xfrm>
          <a:off x="228600" y="4114800"/>
          <a:ext cx="8458200" cy="1371600"/>
        </p:xfrm>
        <a:graphic>
          <a:graphicData uri="http://schemas.openxmlformats.org/drawingml/2006/table">
            <a:tbl>
              <a:tblPr/>
              <a:tblGrid>
                <a:gridCol w="8458200"/>
              </a:tblGrid>
              <a:tr h="290973">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EYInterstate" pitchFamily="2" charset="0"/>
                        </a:rPr>
                        <a:t>PMO Narrative</a:t>
                      </a:r>
                      <a:endParaRPr kumimoji="0" lang="en-US" sz="12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080627">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900" b="1" i="0" u="none" strike="noStrike" cap="none" normalizeH="0" baseline="0" dirty="0" smtClean="0">
                          <a:ln>
                            <a:noFill/>
                          </a:ln>
                          <a:solidFill>
                            <a:schemeClr val="tx1">
                              <a:lumMod val="50000"/>
                            </a:schemeClr>
                          </a:solidFill>
                          <a:effectLst/>
                          <a:latin typeface="EYInterstate Light" pitchFamily="2" charset="0"/>
                        </a:rPr>
                        <a:t>Operations hours for interlock are higher than expected and we need to find the best way to include these in resource forecasts</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900" b="1" i="0" u="none" strike="noStrike" cap="none" normalizeH="0" baseline="0" dirty="0" smtClean="0">
                          <a:ln>
                            <a:noFill/>
                          </a:ln>
                          <a:solidFill>
                            <a:schemeClr val="tx1">
                              <a:lumMod val="50000"/>
                            </a:schemeClr>
                          </a:solidFill>
                          <a:effectLst/>
                          <a:latin typeface="EYInterstate Light" pitchFamily="2" charset="0"/>
                        </a:rPr>
                        <a:t>David and Alan to confirm whether MCS can provide some SME support for test activities</a:t>
                      </a:r>
                      <a:endParaRPr kumimoji="0" lang="en-US" sz="800" b="0" i="0" u="none" strike="noStrike" cap="none" normalizeH="0" baseline="0" dirty="0" smtClean="0">
                        <a:ln>
                          <a:noFill/>
                        </a:ln>
                        <a:solidFill>
                          <a:schemeClr val="tx1">
                            <a:lumMod val="50000"/>
                          </a:schemeClr>
                        </a:solidFill>
                        <a:effectLst/>
                        <a:latin typeface="EYInterstate Light" pitchFamily="2" charset="0"/>
                      </a:endParaRPr>
                    </a:p>
                    <a:p>
                      <a:pPr marL="542925" marR="0" lvl="1" indent="-85725" algn="l" defTabSz="947738" rtl="0" eaLnBrk="0" fontAlgn="base" latinLnBrk="0" hangingPunct="0">
                        <a:lnSpc>
                          <a:spcPct val="100000"/>
                        </a:lnSpc>
                        <a:spcBef>
                          <a:spcPct val="0"/>
                        </a:spcBef>
                        <a:spcAft>
                          <a:spcPct val="10000"/>
                        </a:spcAft>
                        <a:buClrTx/>
                        <a:buSzTx/>
                        <a:buFont typeface="Arial" pitchFamily="34" charset="0"/>
                        <a:buNone/>
                        <a:tabLst/>
                      </a:pPr>
                      <a:endParaRPr kumimoji="0" lang="en-US" sz="1200" b="0" i="0" u="none" strike="noStrike" cap="none" normalizeH="0" baseline="0" dirty="0" smtClean="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5" name="Table 4"/>
          <p:cNvGraphicFramePr>
            <a:graphicFrameLocks noGrp="1"/>
          </p:cNvGraphicFramePr>
          <p:nvPr/>
        </p:nvGraphicFramePr>
        <p:xfrm>
          <a:off x="228600" y="1168384"/>
          <a:ext cx="8458199" cy="2827346"/>
        </p:xfrm>
        <a:graphic>
          <a:graphicData uri="http://schemas.openxmlformats.org/drawingml/2006/table">
            <a:tbl>
              <a:tblPr/>
              <a:tblGrid>
                <a:gridCol w="1257299"/>
                <a:gridCol w="1257299"/>
                <a:gridCol w="5943601"/>
              </a:tblGrid>
              <a:tr h="185322">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0780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000" b="1" i="0" u="none" strike="noStrike" cap="none" normalizeH="0" baseline="0" dirty="0" smtClean="0">
                          <a:ln>
                            <a:noFill/>
                          </a:ln>
                          <a:solidFill>
                            <a:schemeClr val="tx1"/>
                          </a:solidFill>
                          <a:effectLst/>
                          <a:latin typeface="EYInterstate Light" pitchFamily="2" charset="0"/>
                        </a:rPr>
                        <a:t>Program</a:t>
                      </a:r>
                      <a:endParaRPr kumimoji="0" lang="en-US" sz="10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000" b="1" i="0" u="none" strike="noStrike" cap="none" normalizeH="0" baseline="0" dirty="0" smtClean="0">
                          <a:ln>
                            <a:noFill/>
                          </a:ln>
                          <a:solidFill>
                            <a:schemeClr val="tx1"/>
                          </a:solidFill>
                          <a:effectLst/>
                          <a:latin typeface="EYInterstate Light" pitchFamily="2" charset="0"/>
                        </a:rPr>
                        <a:t>RAG</a:t>
                      </a:r>
                      <a:endParaRPr kumimoji="0" lang="en-US" sz="10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000" b="1" i="0" u="none" strike="noStrike" cap="none" normalizeH="0" baseline="0" dirty="0" smtClean="0">
                          <a:ln>
                            <a:noFill/>
                          </a:ln>
                          <a:solidFill>
                            <a:schemeClr val="tx1"/>
                          </a:solidFill>
                          <a:effectLst/>
                          <a:latin typeface="EYInterstate Light" pitchFamily="2" charset="0"/>
                        </a:rPr>
                        <a:t>Commentary</a:t>
                      </a:r>
                      <a:endParaRPr kumimoji="0" lang="en-US" sz="10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92674">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kern="1200" cap="none" normalizeH="0" baseline="0" dirty="0" smtClean="0">
                          <a:ln>
                            <a:noFill/>
                          </a:ln>
                          <a:solidFill>
                            <a:schemeClr val="tx1"/>
                          </a:solidFill>
                          <a:effectLst/>
                          <a:latin typeface="EYInterstate Light" pitchFamily="2" charset="0"/>
                          <a:ea typeface="+mn-ea"/>
                          <a:cs typeface="+mn-cs"/>
                        </a:rPr>
                        <a:t>Collaboration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800" dirty="0" smtClean="0">
                          <a:solidFill>
                            <a:schemeClr val="tx1"/>
                          </a:solidFill>
                          <a:latin typeface="EYInterstate Light" pitchFamily="2" charset="0"/>
                        </a:rPr>
                        <a:t>AMBER</a:t>
                      </a:r>
                      <a:endParaRPr lang="en-GB" sz="800" dirty="0">
                        <a:solidFill>
                          <a:schemeClr val="tx1"/>
                        </a:solidFill>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kern="1200" cap="none" normalizeH="0" baseline="0" dirty="0" smtClean="0">
                          <a:ln>
                            <a:noFill/>
                          </a:ln>
                          <a:solidFill>
                            <a:schemeClr val="tx1"/>
                          </a:solidFill>
                          <a:effectLst/>
                          <a:latin typeface="EYInterstate Light" pitchFamily="2" charset="0"/>
                          <a:ea typeface="+mn-ea"/>
                          <a:cs typeface="+mn-cs"/>
                        </a:rPr>
                        <a:t>New plan to be available June 15</a:t>
                      </a:r>
                      <a:r>
                        <a:rPr kumimoji="0" lang="en-US" sz="800" b="0" i="0" u="none" strike="noStrike" kern="1200" cap="none" normalizeH="0" baseline="30000" dirty="0" smtClean="0">
                          <a:ln>
                            <a:noFill/>
                          </a:ln>
                          <a:solidFill>
                            <a:schemeClr val="tx1"/>
                          </a:solidFill>
                          <a:effectLst/>
                          <a:latin typeface="EYInterstate Light" pitchFamily="2" charset="0"/>
                          <a:ea typeface="+mn-ea"/>
                          <a:cs typeface="+mn-cs"/>
                        </a:rPr>
                        <a:t>th</a:t>
                      </a:r>
                      <a:r>
                        <a:rPr kumimoji="0" lang="en-US" sz="800" b="0" i="0" u="none" strike="noStrike" kern="1200" cap="none" normalizeH="0" baseline="0" dirty="0" smtClean="0">
                          <a:ln>
                            <a:noFill/>
                          </a:ln>
                          <a:solidFill>
                            <a:schemeClr val="tx1"/>
                          </a:solidFill>
                          <a:effectLst/>
                          <a:latin typeface="EYInterstate Light" pitchFamily="2" charset="0"/>
                          <a:ea typeface="+mn-ea"/>
                          <a:cs typeface="+mn-cs"/>
                        </a:rPr>
                        <a:t>.  I&amp;O resources well covered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355616">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kern="1200" cap="none" normalizeH="0" baseline="0" dirty="0" err="1" smtClean="0">
                          <a:ln>
                            <a:noFill/>
                          </a:ln>
                          <a:solidFill>
                            <a:schemeClr val="tx1"/>
                          </a:solidFill>
                          <a:effectLst/>
                          <a:latin typeface="EYInterstate Light" pitchFamily="2" charset="0"/>
                          <a:ea typeface="+mn-ea"/>
                          <a:cs typeface="+mn-cs"/>
                        </a:rPr>
                        <a:t>App&amp;Data</a:t>
                      </a:r>
                      <a:endParaRPr kumimoji="0" lang="en-US" sz="800" b="0" i="0" u="none" strike="noStrike" kern="1200" cap="none" normalizeH="0" baseline="0" dirty="0" smtClean="0">
                        <a:ln>
                          <a:noFill/>
                        </a:ln>
                        <a:solidFill>
                          <a:schemeClr val="tx1"/>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normalizeH="0" baseline="0" dirty="0" smtClean="0">
                          <a:ln>
                            <a:noFill/>
                          </a:ln>
                          <a:solidFill>
                            <a:schemeClr val="tx1"/>
                          </a:solidFill>
                          <a:effectLst/>
                          <a:latin typeface="EYInterstate Light" pitchFamily="2" charset="0"/>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kern="1200" cap="none" normalizeH="0" baseline="0" dirty="0" smtClean="0">
                          <a:ln>
                            <a:noFill/>
                          </a:ln>
                          <a:solidFill>
                            <a:schemeClr val="tx1"/>
                          </a:solidFill>
                          <a:effectLst/>
                          <a:latin typeface="EYInterstate Light" pitchFamily="2" charset="0"/>
                          <a:ea typeface="+mn-ea"/>
                          <a:cs typeface="+mn-cs"/>
                        </a:rPr>
                        <a:t>Need to confirm CBS and Markets will approve extensions of their resources into FY13. </a:t>
                      </a:r>
                      <a:r>
                        <a:rPr kumimoji="0" lang="en-US" sz="800" b="0" i="0" u="none" strike="noStrike" kern="1200" cap="none" normalizeH="0" baseline="0" smtClean="0">
                          <a:ln>
                            <a:noFill/>
                          </a:ln>
                          <a:solidFill>
                            <a:schemeClr val="tx1"/>
                          </a:solidFill>
                          <a:effectLst/>
                          <a:latin typeface="EYInterstate Light" pitchFamily="2" charset="0"/>
                          <a:ea typeface="+mn-ea"/>
                          <a:cs typeface="+mn-cs"/>
                        </a:rPr>
                        <a:t>May be able to </a:t>
                      </a:r>
                      <a:r>
                        <a:rPr kumimoji="0" lang="en-US" sz="800" b="0" i="0" u="none" strike="noStrike" kern="1200" cap="none" normalizeH="0" baseline="0" dirty="0" smtClean="0">
                          <a:ln>
                            <a:noFill/>
                          </a:ln>
                          <a:solidFill>
                            <a:schemeClr val="tx1"/>
                          </a:solidFill>
                          <a:effectLst/>
                          <a:latin typeface="EYInterstate Light" pitchFamily="2" charset="0"/>
                          <a:ea typeface="+mn-ea"/>
                          <a:cs typeface="+mn-cs"/>
                        </a:rPr>
                        <a:t>leverage MMD test lead into test lead role on AMI and EYEA</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609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kern="1200" cap="none" normalizeH="0" baseline="0" dirty="0" smtClean="0">
                          <a:ln>
                            <a:noFill/>
                          </a:ln>
                          <a:solidFill>
                            <a:schemeClr val="tx1"/>
                          </a:solidFill>
                          <a:effectLst/>
                          <a:latin typeface="EYInterstate Light" pitchFamily="2" charset="0"/>
                          <a:ea typeface="+mn-ea"/>
                          <a:cs typeface="+mn-cs"/>
                        </a:rPr>
                        <a:t>Messaging - Outlook</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800" dirty="0" smtClean="0">
                          <a:solidFill>
                            <a:schemeClr val="tx1"/>
                          </a:solidFill>
                          <a:latin typeface="EYInterstate Light" pitchFamily="2" charset="0"/>
                        </a:rPr>
                        <a:t>RED</a:t>
                      </a:r>
                      <a:endParaRPr lang="en-GB" sz="800" dirty="0">
                        <a:solidFill>
                          <a:schemeClr val="tx1"/>
                        </a:solidFill>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kern="1200" cap="none" normalizeH="0" baseline="0" dirty="0" smtClean="0">
                          <a:ln>
                            <a:noFill/>
                          </a:ln>
                          <a:solidFill>
                            <a:schemeClr val="tx1"/>
                          </a:solidFill>
                          <a:effectLst/>
                          <a:latin typeface="EYInterstate Light" pitchFamily="2" charset="0"/>
                          <a:ea typeface="+mn-ea"/>
                          <a:cs typeface="+mn-cs"/>
                        </a:rPr>
                        <a:t>Working with </a:t>
                      </a:r>
                      <a:r>
                        <a:rPr kumimoji="0" lang="en-US" sz="800" b="0" i="0" u="none" strike="noStrike" kern="1200" cap="none" normalizeH="0" baseline="0" dirty="0" err="1" smtClean="0">
                          <a:ln>
                            <a:noFill/>
                          </a:ln>
                          <a:solidFill>
                            <a:schemeClr val="tx1"/>
                          </a:solidFill>
                          <a:effectLst/>
                          <a:latin typeface="EYInterstate Light" pitchFamily="2" charset="0"/>
                          <a:ea typeface="+mn-ea"/>
                          <a:cs typeface="+mn-cs"/>
                        </a:rPr>
                        <a:t>Hexaware</a:t>
                      </a:r>
                      <a:r>
                        <a:rPr kumimoji="0" lang="en-US" sz="800" b="0" i="0" u="none" strike="noStrike" kern="1200" cap="none" normalizeH="0" baseline="0" dirty="0" smtClean="0">
                          <a:ln>
                            <a:noFill/>
                          </a:ln>
                          <a:solidFill>
                            <a:schemeClr val="tx1"/>
                          </a:solidFill>
                          <a:effectLst/>
                          <a:latin typeface="EYInterstate Light" pitchFamily="2" charset="0"/>
                          <a:ea typeface="+mn-ea"/>
                          <a:cs typeface="+mn-cs"/>
                        </a:rPr>
                        <a:t> and external sourcing to find testers with correct skill set for Outlook Exchange testing. No suitable candidates for lead roles as yet though may be able to leverage resource from Collaboration program.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kern="1200" cap="none" normalizeH="0" baseline="0" dirty="0" smtClean="0">
                          <a:ln>
                            <a:noFill/>
                          </a:ln>
                          <a:solidFill>
                            <a:schemeClr val="tx1"/>
                          </a:solidFill>
                          <a:effectLst/>
                          <a:latin typeface="EYInterstate Light" pitchFamily="2" charset="0"/>
                          <a:ea typeface="+mn-ea"/>
                          <a:cs typeface="+mn-cs"/>
                        </a:rPr>
                        <a:t>Messaging - </a:t>
                      </a:r>
                      <a:r>
                        <a:rPr kumimoji="0" lang="en-US" sz="800" b="0" i="0" u="none" strike="noStrike" kern="1200" cap="none" normalizeH="0" baseline="0" dirty="0" err="1" smtClean="0">
                          <a:ln>
                            <a:noFill/>
                          </a:ln>
                          <a:solidFill>
                            <a:schemeClr val="tx1"/>
                          </a:solidFill>
                          <a:effectLst/>
                          <a:latin typeface="EYInterstate Light" pitchFamily="2" charset="0"/>
                          <a:ea typeface="+mn-ea"/>
                          <a:cs typeface="+mn-cs"/>
                        </a:rPr>
                        <a:t>Lync</a:t>
                      </a:r>
                      <a:endParaRPr kumimoji="0" lang="en-US" sz="800" b="0" i="0" u="none" strike="noStrike" kern="1200" cap="none" normalizeH="0" baseline="0" dirty="0" smtClean="0">
                        <a:ln>
                          <a:noFill/>
                        </a:ln>
                        <a:solidFill>
                          <a:schemeClr val="tx1"/>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800" dirty="0" smtClean="0">
                          <a:solidFill>
                            <a:schemeClr val="tx1"/>
                          </a:solidFill>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kern="1200" cap="none" normalizeH="0" baseline="0" dirty="0" smtClean="0">
                          <a:ln>
                            <a:noFill/>
                          </a:ln>
                          <a:solidFill>
                            <a:schemeClr val="tx1"/>
                          </a:solidFill>
                          <a:effectLst/>
                          <a:latin typeface="EYInterstate Light" pitchFamily="2" charset="0"/>
                          <a:ea typeface="+mn-ea"/>
                          <a:cs typeface="+mn-cs"/>
                        </a:rPr>
                        <a:t>Working with </a:t>
                      </a:r>
                      <a:r>
                        <a:rPr kumimoji="0" lang="en-US" sz="800" b="0" i="0" u="none" strike="noStrike" kern="1200" cap="none" normalizeH="0" baseline="0" dirty="0" err="1" smtClean="0">
                          <a:ln>
                            <a:noFill/>
                          </a:ln>
                          <a:solidFill>
                            <a:schemeClr val="tx1"/>
                          </a:solidFill>
                          <a:effectLst/>
                          <a:latin typeface="EYInterstate Light" pitchFamily="2" charset="0"/>
                          <a:ea typeface="+mn-ea"/>
                          <a:cs typeface="+mn-cs"/>
                        </a:rPr>
                        <a:t>Hexaware</a:t>
                      </a:r>
                      <a:r>
                        <a:rPr kumimoji="0" lang="en-US" sz="800" b="0" i="0" u="none" strike="noStrike" kern="1200" cap="none" normalizeH="0" baseline="0" dirty="0" smtClean="0">
                          <a:ln>
                            <a:noFill/>
                          </a:ln>
                          <a:solidFill>
                            <a:schemeClr val="tx1"/>
                          </a:solidFill>
                          <a:effectLst/>
                          <a:latin typeface="EYInterstate Light" pitchFamily="2" charset="0"/>
                          <a:ea typeface="+mn-ea"/>
                          <a:cs typeface="+mn-cs"/>
                        </a:rPr>
                        <a:t> and external sourcing to find testers with correct skill sets.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kern="1200" cap="none" normalizeH="0" baseline="0" dirty="0" smtClean="0">
                          <a:ln>
                            <a:noFill/>
                          </a:ln>
                          <a:solidFill>
                            <a:schemeClr val="tx1"/>
                          </a:solidFill>
                          <a:effectLst/>
                          <a:latin typeface="EYInterstate Light" pitchFamily="2" charset="0"/>
                          <a:ea typeface="+mn-ea"/>
                          <a:cs typeface="+mn-cs"/>
                        </a:rPr>
                        <a:t>Transition Management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800" dirty="0" smtClean="0">
                          <a:solidFill>
                            <a:schemeClr val="tx1"/>
                          </a:solidFill>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800" b="0" i="0" u="none" strike="noStrike" kern="1200" cap="none" normalizeH="0" baseline="0" dirty="0" smtClean="0">
                          <a:ln>
                            <a:noFill/>
                          </a:ln>
                          <a:solidFill>
                            <a:schemeClr val="tx1"/>
                          </a:solidFill>
                          <a:effectLst/>
                          <a:latin typeface="EYInterstate Light" pitchFamily="2" charset="0"/>
                          <a:ea typeface="+mn-ea"/>
                          <a:cs typeface="+mn-cs"/>
                        </a:rPr>
                        <a:t>Still trying to progress move of Rocco Sung from CBS Finance and Krista </a:t>
                      </a:r>
                      <a:r>
                        <a:rPr kumimoji="0" lang="en-GB" sz="800" b="0" i="0" u="none" strike="noStrike" kern="1200" cap="none" normalizeH="0" baseline="0" dirty="0" err="1" smtClean="0">
                          <a:ln>
                            <a:noFill/>
                          </a:ln>
                          <a:solidFill>
                            <a:schemeClr val="tx1"/>
                          </a:solidFill>
                          <a:effectLst/>
                          <a:latin typeface="EYInterstate Light" pitchFamily="2" charset="0"/>
                          <a:ea typeface="+mn-ea"/>
                          <a:cs typeface="+mn-cs"/>
                        </a:rPr>
                        <a:t>Jacobitz</a:t>
                      </a:r>
                      <a:r>
                        <a:rPr kumimoji="0" lang="en-GB" sz="800" b="0" i="0" u="none" strike="noStrike" kern="1200" cap="none" normalizeH="0" baseline="0" dirty="0" smtClean="0">
                          <a:ln>
                            <a:noFill/>
                          </a:ln>
                          <a:solidFill>
                            <a:schemeClr val="tx1"/>
                          </a:solidFill>
                          <a:effectLst/>
                          <a:latin typeface="EYInterstate Light" pitchFamily="2" charset="0"/>
                          <a:ea typeface="+mn-ea"/>
                          <a:cs typeface="+mn-cs"/>
                        </a:rPr>
                        <a:t> from Tax. CBS PMO involved. Hoping to secure 2 resources from GSS but these will require some support. Buenos Aires candidate is promising, progressing</a:t>
                      </a:r>
                    </a:p>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800" b="0" i="0" u="none" strike="noStrike" kern="1200" cap="none" normalizeH="0" baseline="0" dirty="0" smtClean="0">
                        <a:ln>
                          <a:noFill/>
                        </a:ln>
                        <a:solidFill>
                          <a:schemeClr val="tx1"/>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kern="1200" cap="none" normalizeH="0" baseline="0" dirty="0" smtClean="0">
                          <a:ln>
                            <a:noFill/>
                          </a:ln>
                          <a:solidFill>
                            <a:schemeClr val="tx1"/>
                          </a:solidFill>
                          <a:effectLst/>
                          <a:latin typeface="EYInterstate Light" pitchFamily="2" charset="0"/>
                          <a:ea typeface="+mn-ea"/>
                          <a:cs typeface="+mn-cs"/>
                        </a:rPr>
                        <a:t>Business Deployment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800" dirty="0" smtClean="0">
                          <a:solidFill>
                            <a:schemeClr val="tx1"/>
                          </a:solidFill>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kern="1200" cap="none" normalizeH="0" baseline="0" dirty="0" smtClean="0">
                          <a:ln>
                            <a:noFill/>
                          </a:ln>
                          <a:solidFill>
                            <a:schemeClr val="tx1"/>
                          </a:solidFill>
                          <a:effectLst/>
                          <a:latin typeface="EYInterstate Light" pitchFamily="2" charset="0"/>
                          <a:ea typeface="+mn-ea"/>
                          <a:cs typeface="+mn-cs"/>
                        </a:rPr>
                        <a:t>Transfer of Iain </a:t>
                      </a:r>
                      <a:r>
                        <a:rPr kumimoji="0" lang="en-US" sz="800" b="0" i="0" u="none" strike="noStrike" kern="1200" cap="none" normalizeH="0" baseline="0" dirty="0" err="1" smtClean="0">
                          <a:ln>
                            <a:noFill/>
                          </a:ln>
                          <a:solidFill>
                            <a:schemeClr val="tx1"/>
                          </a:solidFill>
                          <a:effectLst/>
                          <a:latin typeface="EYInterstate Light" pitchFamily="2" charset="0"/>
                          <a:ea typeface="+mn-ea"/>
                          <a:cs typeface="+mn-cs"/>
                        </a:rPr>
                        <a:t>Willetts</a:t>
                      </a:r>
                      <a:r>
                        <a:rPr kumimoji="0" lang="en-US" sz="800" b="0" i="0" u="none" strike="noStrike" kern="1200" cap="none" normalizeH="0" baseline="0" dirty="0" smtClean="0">
                          <a:ln>
                            <a:noFill/>
                          </a:ln>
                          <a:solidFill>
                            <a:schemeClr val="tx1"/>
                          </a:solidFill>
                          <a:effectLst/>
                          <a:latin typeface="EYInterstate Light" pitchFamily="2" charset="0"/>
                          <a:ea typeface="+mn-ea"/>
                          <a:cs typeface="+mn-cs"/>
                        </a:rPr>
                        <a:t> into Cross Org confirmed from July. Will need one additional resource, investigating options. M </a:t>
                      </a:r>
                      <a:r>
                        <a:rPr kumimoji="0" lang="en-US" sz="800" b="0" i="0" u="none" strike="noStrike" kern="1200" cap="none" normalizeH="0" baseline="0" dirty="0" err="1" smtClean="0">
                          <a:ln>
                            <a:noFill/>
                          </a:ln>
                          <a:solidFill>
                            <a:schemeClr val="tx1"/>
                          </a:solidFill>
                          <a:effectLst/>
                          <a:latin typeface="EYInterstate Light" pitchFamily="2" charset="0"/>
                          <a:ea typeface="+mn-ea"/>
                          <a:cs typeface="+mn-cs"/>
                        </a:rPr>
                        <a:t>Attaar</a:t>
                      </a:r>
                      <a:r>
                        <a:rPr kumimoji="0" lang="en-US" sz="800" b="0" i="0" u="none" strike="noStrike" kern="1200" cap="none" normalizeH="0" baseline="0" dirty="0" smtClean="0">
                          <a:ln>
                            <a:noFill/>
                          </a:ln>
                          <a:solidFill>
                            <a:schemeClr val="tx1"/>
                          </a:solidFill>
                          <a:effectLst/>
                          <a:latin typeface="EYInterstate Light" pitchFamily="2" charset="0"/>
                          <a:ea typeface="+mn-ea"/>
                          <a:cs typeface="+mn-cs"/>
                        </a:rPr>
                        <a:t> to speak with Martin next week</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2860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kern="1200" cap="none" normalizeH="0" baseline="0" dirty="0" smtClean="0">
                          <a:ln>
                            <a:noFill/>
                          </a:ln>
                          <a:solidFill>
                            <a:schemeClr val="tx1"/>
                          </a:solidFill>
                          <a:effectLst/>
                          <a:latin typeface="EYInterstate Light" pitchFamily="2" charset="0"/>
                          <a:ea typeface="+mn-ea"/>
                          <a:cs typeface="+mn-cs"/>
                        </a:rPr>
                        <a:t>Change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800" dirty="0" smtClean="0">
                          <a:solidFill>
                            <a:schemeClr val="tx1"/>
                          </a:solidFill>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kern="1200" cap="none" normalizeH="0" baseline="0" dirty="0" smtClean="0">
                          <a:ln>
                            <a:noFill/>
                          </a:ln>
                          <a:solidFill>
                            <a:schemeClr val="tx1"/>
                          </a:solidFill>
                          <a:effectLst/>
                          <a:latin typeface="EYInterstate Light" pitchFamily="2" charset="0"/>
                          <a:ea typeface="+mn-ea"/>
                          <a:cs typeface="+mn-cs"/>
                        </a:rPr>
                        <a:t>Fully resourced, looking to secure 50 hours a week GSS Support from July. Need description from program of what this GSS resource is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pic>
        <p:nvPicPr>
          <p:cNvPr id="6" name="Picture 5" descr="C:\Documents and Settings\liangli1\Desktop\ScopeTimeCost.png"/>
          <p:cNvPicPr/>
          <p:nvPr/>
        </p:nvPicPr>
        <p:blipFill>
          <a:blip r:embed="rId2" cstate="print"/>
          <a:srcRect/>
          <a:stretch>
            <a:fillRect/>
          </a:stretch>
        </p:blipFill>
        <p:spPr bwMode="auto">
          <a:xfrm>
            <a:off x="8190185" y="76200"/>
            <a:ext cx="877615" cy="864096"/>
          </a:xfrm>
          <a:prstGeom prst="rect">
            <a:avLst/>
          </a:prstGeom>
          <a:noFill/>
          <a:ln w="9525">
            <a:noFill/>
            <a:miter lim="800000"/>
            <a:headEnd/>
            <a:tailEnd/>
          </a:ln>
        </p:spPr>
      </p:pic>
      <p:sp>
        <p:nvSpPr>
          <p:cNvPr id="7" name="TextBox 6"/>
          <p:cNvSpPr txBox="1"/>
          <p:nvPr/>
        </p:nvSpPr>
        <p:spPr bwMode="gray">
          <a:xfrm>
            <a:off x="1522910" y="6309320"/>
            <a:ext cx="2425262" cy="446276"/>
          </a:xfrm>
          <a:prstGeom prst="rect">
            <a:avLst/>
          </a:prstGeom>
        </p:spPr>
        <p:txBody>
          <a:bodyPr wrap="square" rtlCol="0">
            <a:spAutoFit/>
          </a:bodyPr>
          <a:lstStyle/>
          <a:p>
            <a:pPr algn="ctr" defTabSz="955675" eaLnBrk="0" fontAlgn="base" hangingPunct="0">
              <a:spcBef>
                <a:spcPct val="0"/>
              </a:spcBef>
              <a:spcAft>
                <a:spcPct val="0"/>
              </a:spcAft>
            </a:pPr>
            <a:endParaRPr lang="en-GB" sz="500" b="1" dirty="0">
              <a:solidFill>
                <a:srgbClr val="646464"/>
              </a:solidFill>
              <a:latin typeface="EYInterstate Light" pitchFamily="2" charset="0"/>
            </a:endParaRPr>
          </a:p>
          <a:p>
            <a:pPr algn="l" defTabSz="955675" eaLnBrk="0" hangingPunct="0"/>
            <a:r>
              <a:rPr lang="en-GB" sz="600" b="1" dirty="0" smtClean="0">
                <a:solidFill>
                  <a:srgbClr val="646464"/>
                </a:solidFill>
                <a:latin typeface="EYInterstate Light" pitchFamily="2" charset="0"/>
              </a:rPr>
              <a:t>Recruitment or rotation is causing a significant impact on the schedule or budget, e.g. Likely to impact the critical path or compromise ability to deliver as per the agreed schedule.</a:t>
            </a:r>
            <a:endParaRPr lang="en-GB" sz="600" b="1" dirty="0">
              <a:solidFill>
                <a:srgbClr val="646464"/>
              </a:solidFill>
              <a:latin typeface="EYInterstate Light" pitchFamily="2" charset="0"/>
            </a:endParaRPr>
          </a:p>
        </p:txBody>
      </p:sp>
      <p:sp>
        <p:nvSpPr>
          <p:cNvPr id="8" name="TextBox 7"/>
          <p:cNvSpPr txBox="1"/>
          <p:nvPr/>
        </p:nvSpPr>
        <p:spPr bwMode="gray">
          <a:xfrm>
            <a:off x="961335" y="6165304"/>
            <a:ext cx="3826689" cy="200055"/>
          </a:xfrm>
          <a:prstGeom prst="rect">
            <a:avLst/>
          </a:prstGeom>
        </p:spPr>
        <p:txBody>
          <a:bodyPr wrap="none" rtlCol="0">
            <a:spAutoFit/>
          </a:bodyPr>
          <a:lstStyle/>
          <a:p>
            <a:pPr algn="ctr" defTabSz="955675" eaLnBrk="0" fontAlgn="base" hangingPunct="0">
              <a:spcBef>
                <a:spcPct val="0"/>
              </a:spcBef>
              <a:spcAft>
                <a:spcPct val="0"/>
              </a:spcAft>
            </a:pPr>
            <a:r>
              <a:rPr lang="en-US" sz="700" dirty="0">
                <a:solidFill>
                  <a:srgbClr val="646464"/>
                </a:solidFill>
                <a:latin typeface="EYInterstate Light" pitchFamily="2" charset="0"/>
              </a:rPr>
              <a:t>The overall initiative status is governed by the RAG Status Guidance, summarized below. </a:t>
            </a:r>
            <a:r>
              <a:rPr lang="en-US" sz="700" dirty="0" smtClean="0">
                <a:solidFill>
                  <a:srgbClr val="646464"/>
                </a:solidFill>
                <a:latin typeface="EYInterstate Light" pitchFamily="2" charset="0"/>
              </a:rPr>
              <a:t> </a:t>
            </a:r>
            <a:endParaRPr lang="en-GB" sz="700" kern="0" dirty="0">
              <a:solidFill>
                <a:srgbClr val="646464"/>
              </a:solidFill>
              <a:latin typeface="EYInterstate Light" pitchFamily="2" charset="0"/>
            </a:endParaRPr>
          </a:p>
        </p:txBody>
      </p:sp>
      <p:sp>
        <p:nvSpPr>
          <p:cNvPr id="9" name="TextBox 8"/>
          <p:cNvSpPr txBox="1"/>
          <p:nvPr/>
        </p:nvSpPr>
        <p:spPr bwMode="gray">
          <a:xfrm>
            <a:off x="6894530" y="6295092"/>
            <a:ext cx="2125347" cy="446276"/>
          </a:xfrm>
          <a:prstGeom prst="rect">
            <a:avLst/>
          </a:prstGeom>
        </p:spPr>
        <p:txBody>
          <a:bodyPr wrap="square" rtlCol="0">
            <a:spAutoFit/>
          </a:bodyPr>
          <a:lstStyle/>
          <a:p>
            <a:pPr algn="ctr" defTabSz="955675" eaLnBrk="0" fontAlgn="base" hangingPunct="0">
              <a:spcBef>
                <a:spcPct val="0"/>
              </a:spcBef>
              <a:spcAft>
                <a:spcPct val="0"/>
              </a:spcAft>
            </a:pPr>
            <a:endParaRPr lang="en-GB" sz="500" b="1" dirty="0">
              <a:solidFill>
                <a:srgbClr val="646464"/>
              </a:solidFill>
              <a:latin typeface="EYInterstate Light" pitchFamily="2" charset="0"/>
            </a:endParaRPr>
          </a:p>
          <a:p>
            <a:pPr algn="l" defTabSz="955675" eaLnBrk="0" hangingPunct="0"/>
            <a:r>
              <a:rPr lang="en-GB" sz="600" b="1" dirty="0" smtClean="0">
                <a:solidFill>
                  <a:srgbClr val="646464"/>
                </a:solidFill>
                <a:latin typeface="EYInterstate Light" pitchFamily="2" charset="0"/>
              </a:rPr>
              <a:t>There are no resourcing issues or they are being managed so as the project schedule and budget are still viable.</a:t>
            </a:r>
            <a:endParaRPr lang="en-GB" sz="600" b="1" dirty="0">
              <a:solidFill>
                <a:srgbClr val="646464"/>
              </a:solidFill>
              <a:latin typeface="EYInterstate Light" pitchFamily="2" charset="0"/>
            </a:endParaRPr>
          </a:p>
        </p:txBody>
      </p:sp>
      <p:sp>
        <p:nvSpPr>
          <p:cNvPr id="10" name="TextBox 9"/>
          <p:cNvSpPr txBox="1"/>
          <p:nvPr/>
        </p:nvSpPr>
        <p:spPr bwMode="gray">
          <a:xfrm>
            <a:off x="4503769" y="6309320"/>
            <a:ext cx="1835350" cy="538609"/>
          </a:xfrm>
          <a:prstGeom prst="rect">
            <a:avLst/>
          </a:prstGeom>
        </p:spPr>
        <p:txBody>
          <a:bodyPr wrap="square" rtlCol="0">
            <a:spAutoFit/>
          </a:bodyPr>
          <a:lstStyle/>
          <a:p>
            <a:pPr algn="l" defTabSz="955675" eaLnBrk="0" fontAlgn="base" hangingPunct="0">
              <a:spcBef>
                <a:spcPct val="0"/>
              </a:spcBef>
              <a:spcAft>
                <a:spcPct val="0"/>
              </a:spcAft>
            </a:pPr>
            <a:endParaRPr lang="en-GB" sz="500" b="1" dirty="0">
              <a:solidFill>
                <a:srgbClr val="646464"/>
              </a:solidFill>
              <a:latin typeface="EYInterstate Light" pitchFamily="2" charset="0"/>
            </a:endParaRPr>
          </a:p>
          <a:p>
            <a:pPr algn="l" defTabSz="955675" eaLnBrk="0" hangingPunct="0"/>
            <a:r>
              <a:rPr lang="en-GB" sz="600" b="1" dirty="0" smtClean="0">
                <a:solidFill>
                  <a:srgbClr val="646464"/>
                </a:solidFill>
                <a:latin typeface="EYInterstate Light" pitchFamily="2" charset="0"/>
              </a:rPr>
              <a:t>There are resource challenges but where the Project/Program is able to maintain tactical/remediation activities to mitigate the risk to the project.</a:t>
            </a:r>
            <a:endParaRPr lang="en-GB" sz="600" b="1" dirty="0">
              <a:solidFill>
                <a:srgbClr val="646464"/>
              </a:solidFill>
              <a:latin typeface="EYInterstate Light" pitchFamily="2" charset="0"/>
            </a:endParaRPr>
          </a:p>
        </p:txBody>
      </p:sp>
      <p:graphicFrame>
        <p:nvGraphicFramePr>
          <p:cNvPr id="11" name="Group 270"/>
          <p:cNvGraphicFramePr>
            <a:graphicFrameLocks noGrp="1"/>
          </p:cNvGraphicFramePr>
          <p:nvPr/>
        </p:nvGraphicFramePr>
        <p:xfrm>
          <a:off x="3979855" y="6453336"/>
          <a:ext cx="523914" cy="217956"/>
        </p:xfrm>
        <a:graphic>
          <a:graphicData uri="http://schemas.openxmlformats.org/drawingml/2006/table">
            <a:tbl>
              <a:tblPr/>
              <a:tblGrid>
                <a:gridCol w="523914"/>
              </a:tblGrid>
              <a:tr h="217956">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600" b="0" i="0" u="none" strike="noStrike" cap="none" normalizeH="0" baseline="0" dirty="0">
                          <a:ln>
                            <a:noFill/>
                          </a:ln>
                          <a:solidFill>
                            <a:schemeClr val="tx1"/>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12" name="Group 270"/>
          <p:cNvGraphicFramePr>
            <a:graphicFrameLocks noGrp="1"/>
          </p:cNvGraphicFramePr>
          <p:nvPr/>
        </p:nvGraphicFramePr>
        <p:xfrm>
          <a:off x="1043608" y="6453336"/>
          <a:ext cx="523914" cy="217956"/>
        </p:xfrm>
        <a:graphic>
          <a:graphicData uri="http://schemas.openxmlformats.org/drawingml/2006/table">
            <a:tbl>
              <a:tblPr/>
              <a:tblGrid>
                <a:gridCol w="523914"/>
              </a:tblGrid>
              <a:tr h="217956">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600" b="0" i="0" u="none" strike="noStrike" cap="none" normalizeH="0" baseline="0" dirty="0" smtClean="0">
                          <a:ln>
                            <a:noFill/>
                          </a:ln>
                          <a:solidFill>
                            <a:schemeClr val="tx1"/>
                          </a:solidFill>
                          <a:effectLst/>
                          <a:latin typeface="EYInterstate Light" pitchFamily="2" charset="0"/>
                        </a:rPr>
                        <a:t>RED</a:t>
                      </a:r>
                      <a:endParaRPr kumimoji="0" lang="en-US" sz="600" b="0"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13" name="Group 270"/>
          <p:cNvGraphicFramePr>
            <a:graphicFrameLocks noGrp="1"/>
          </p:cNvGraphicFramePr>
          <p:nvPr/>
        </p:nvGraphicFramePr>
        <p:xfrm>
          <a:off x="6424350" y="6451404"/>
          <a:ext cx="523914" cy="217956"/>
        </p:xfrm>
        <a:graphic>
          <a:graphicData uri="http://schemas.openxmlformats.org/drawingml/2006/table">
            <a:tbl>
              <a:tblPr/>
              <a:tblGrid>
                <a:gridCol w="523914"/>
              </a:tblGrid>
              <a:tr h="217956">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600" b="0" i="0" u="none" strike="noStrike" cap="none" normalizeH="0" baseline="0" dirty="0" smtClean="0">
                          <a:ln>
                            <a:noFill/>
                          </a:ln>
                          <a:solidFill>
                            <a:schemeClr val="tx1"/>
                          </a:solidFill>
                          <a:effectLst/>
                          <a:latin typeface="EYInterstate Light" pitchFamily="2" charset="0"/>
                        </a:rPr>
                        <a:t>GREEN</a:t>
                      </a:r>
                      <a:endParaRPr kumimoji="0" lang="en-US" sz="600" b="0"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l" defTabSz="955675" eaLnBrk="0" hangingPunct="0">
              <a:spcAft>
                <a:spcPts val="0"/>
              </a:spcAft>
              <a:defRPr/>
            </a:pPr>
            <a:r>
              <a:rPr lang="en-US" sz="1600" b="1" kern="0" dirty="0" smtClean="0">
                <a:solidFill>
                  <a:srgbClr val="646464"/>
                </a:solidFill>
              </a:rPr>
              <a:t>6. RAID trends and observations</a:t>
            </a:r>
            <a:endParaRPr lang="en-US" sz="1600" b="1" kern="0" dirty="0" smtClean="0">
              <a:solidFill>
                <a:srgbClr val="646464"/>
              </a:solidFill>
              <a:latin typeface="EYInterstate"/>
            </a:endParaRPr>
          </a:p>
        </p:txBody>
      </p:sp>
      <p:pic>
        <p:nvPicPr>
          <p:cNvPr id="5" name="Picture 4" descr="C:\Documents and Settings\liangli1\Desktop\ScopeTimeCost.png"/>
          <p:cNvPicPr/>
          <p:nvPr/>
        </p:nvPicPr>
        <p:blipFill>
          <a:blip r:embed="rId3" cstate="print"/>
          <a:srcRect/>
          <a:stretch>
            <a:fillRect/>
          </a:stretch>
        </p:blipFill>
        <p:spPr bwMode="auto">
          <a:xfrm>
            <a:off x="8190185" y="76200"/>
            <a:ext cx="877615" cy="864096"/>
          </a:xfrm>
          <a:prstGeom prst="rect">
            <a:avLst/>
          </a:prstGeom>
          <a:noFill/>
          <a:ln w="9525">
            <a:noFill/>
            <a:miter lim="800000"/>
            <a:headEnd/>
            <a:tailEnd/>
          </a:ln>
        </p:spPr>
      </p:pic>
      <p:graphicFrame>
        <p:nvGraphicFramePr>
          <p:cNvPr id="9" name="Group 270"/>
          <p:cNvGraphicFramePr>
            <a:graphicFrameLocks noGrp="1"/>
          </p:cNvGraphicFramePr>
          <p:nvPr/>
        </p:nvGraphicFramePr>
        <p:xfrm>
          <a:off x="323528" y="4077072"/>
          <a:ext cx="3960440" cy="1512110"/>
        </p:xfrm>
        <a:graphic>
          <a:graphicData uri="http://schemas.openxmlformats.org/drawingml/2006/table">
            <a:tbl>
              <a:tblPr/>
              <a:tblGrid>
                <a:gridCol w="428154"/>
                <a:gridCol w="2164134"/>
                <a:gridCol w="1368152"/>
              </a:tblGrid>
              <a:tr h="216024">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8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kern="1200" cap="none" normalizeH="0" baseline="0" dirty="0" smtClean="0">
                          <a:ln>
                            <a:noFill/>
                          </a:ln>
                          <a:solidFill>
                            <a:schemeClr val="tx1"/>
                          </a:solidFill>
                          <a:effectLst/>
                          <a:latin typeface="EYInterstate" pitchFamily="2" charset="0"/>
                          <a:ea typeface="+mn-ea"/>
                          <a:cs typeface="+mn-cs"/>
                        </a:rPr>
                        <a:t>Top Critical  Risks</a:t>
                      </a:r>
                      <a:endParaRPr kumimoji="0" lang="en-US" sz="8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8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97516">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000" b="1" i="0" u="none" strike="noStrike" cap="none" normalizeH="0" baseline="0" dirty="0" smtClean="0">
                          <a:ln>
                            <a:noFill/>
                          </a:ln>
                          <a:solidFill>
                            <a:schemeClr val="tx1"/>
                          </a:solidFill>
                          <a:effectLst/>
                          <a:latin typeface="EYInterstate Light" pitchFamily="2" charset="0"/>
                        </a:rPr>
                        <a:t>Item</a:t>
                      </a:r>
                      <a:endParaRPr kumimoji="0" lang="en-US" sz="10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000" b="1" i="0" u="none" strike="noStrike" cap="none" normalizeH="0" baseline="0" dirty="0" smtClean="0">
                          <a:ln>
                            <a:noFill/>
                          </a:ln>
                          <a:solidFill>
                            <a:schemeClr val="tx1"/>
                          </a:solidFill>
                          <a:effectLst/>
                          <a:latin typeface="EYInterstate Light" pitchFamily="2" charset="0"/>
                        </a:rPr>
                        <a:t>Description</a:t>
                      </a:r>
                      <a:endParaRPr kumimoji="0" lang="en-US" sz="10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000" b="1" i="0" u="none" strike="noStrike" cap="none" normalizeH="0" baseline="0" dirty="0" smtClean="0">
                          <a:ln>
                            <a:noFill/>
                          </a:ln>
                          <a:solidFill>
                            <a:schemeClr val="tx1"/>
                          </a:solidFill>
                          <a:effectLst/>
                          <a:latin typeface="EYInterstate Light" pitchFamily="2" charset="0"/>
                        </a:rPr>
                        <a:t>Action</a:t>
                      </a:r>
                      <a:endParaRPr kumimoji="0" lang="en-US" sz="10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522564">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900" b="0" i="0" u="none" strike="noStrike" kern="1200" cap="none" normalizeH="0" baseline="0" dirty="0" smtClean="0">
                          <a:ln>
                            <a:noFill/>
                          </a:ln>
                          <a:solidFill>
                            <a:srgbClr val="000000"/>
                          </a:solidFill>
                          <a:effectLst/>
                          <a:latin typeface="EYInterstate Light" pitchFamily="2" charset="0"/>
                          <a:ea typeface="+mn-ea"/>
                          <a:cs typeface="+mn-cs"/>
                        </a:rPr>
                        <a:t>32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r>
                        <a:rPr kumimoji="0" lang="en-US" sz="900" b="0" i="0" u="none" strike="noStrike" kern="1200" cap="none" normalizeH="0" baseline="0" dirty="0" smtClean="0">
                          <a:ln>
                            <a:noFill/>
                          </a:ln>
                          <a:solidFill>
                            <a:srgbClr val="000000"/>
                          </a:solidFill>
                          <a:effectLst/>
                          <a:latin typeface="EYInterstate Light" pitchFamily="2" charset="0"/>
                          <a:ea typeface="+mn-ea"/>
                          <a:cs typeface="+mn-cs"/>
                        </a:rPr>
                        <a:t>Mechanisms for creating, storing and reusing components and other assets do not exist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r>
                        <a:rPr kumimoji="0" lang="en-US" sz="900" b="0" i="0" u="none" strike="noStrike" kern="1200" cap="none" normalizeH="0" baseline="0" dirty="0" smtClean="0">
                          <a:ln>
                            <a:noFill/>
                          </a:ln>
                          <a:solidFill>
                            <a:srgbClr val="000000"/>
                          </a:solidFill>
                          <a:effectLst/>
                          <a:latin typeface="EYInterstate Light" pitchFamily="2" charset="0"/>
                          <a:ea typeface="+mn-ea"/>
                          <a:cs typeface="+mn-cs"/>
                        </a:rPr>
                        <a:t>This has been escalated to Alan and is being managed through the Program Wall.</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522564">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9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r>
                        <a:rPr kumimoji="0" lang="en-US" sz="900" b="0" i="0" u="none" strike="noStrike" kern="1200" cap="none" normalizeH="0" baseline="0" dirty="0" smtClean="0">
                          <a:ln>
                            <a:noFill/>
                          </a:ln>
                          <a:solidFill>
                            <a:srgbClr val="000000"/>
                          </a:solidFill>
                          <a:effectLst/>
                          <a:latin typeface="EYInterstate Light" pitchFamily="2" charset="0"/>
                          <a:ea typeface="+mn-ea"/>
                          <a:cs typeface="+mn-cs"/>
                        </a:rPr>
                        <a:t>*Additional critical-priority risks being addressed as part of the biweekly Wall meetings.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endParaRPr kumimoji="0" lang="en-US" sz="9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7" name="Group 270"/>
          <p:cNvGraphicFramePr>
            <a:graphicFrameLocks noGrp="1"/>
          </p:cNvGraphicFramePr>
          <p:nvPr/>
        </p:nvGraphicFramePr>
        <p:xfrm>
          <a:off x="4572000" y="4077072"/>
          <a:ext cx="4320478" cy="1759030"/>
        </p:xfrm>
        <a:graphic>
          <a:graphicData uri="http://schemas.openxmlformats.org/drawingml/2006/table">
            <a:tbl>
              <a:tblPr/>
              <a:tblGrid>
                <a:gridCol w="402854"/>
                <a:gridCol w="2333450"/>
                <a:gridCol w="1584174"/>
              </a:tblGrid>
              <a:tr h="216024">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8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kern="1200" cap="none" normalizeH="0" baseline="0" dirty="0" smtClean="0">
                          <a:ln>
                            <a:noFill/>
                          </a:ln>
                          <a:solidFill>
                            <a:schemeClr val="tx1"/>
                          </a:solidFill>
                          <a:effectLst/>
                          <a:latin typeface="EYInterstate" pitchFamily="2" charset="0"/>
                          <a:ea typeface="+mn-ea"/>
                          <a:cs typeface="+mn-cs"/>
                        </a:rPr>
                        <a:t>Top Critical Issues</a:t>
                      </a:r>
                      <a:endParaRPr kumimoji="0" lang="en-US" sz="8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8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9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000" b="1" i="0" u="none" strike="noStrike" cap="none" normalizeH="0" baseline="0" dirty="0" smtClean="0">
                          <a:ln>
                            <a:noFill/>
                          </a:ln>
                          <a:solidFill>
                            <a:schemeClr val="tx1"/>
                          </a:solidFill>
                          <a:effectLst/>
                          <a:latin typeface="EYInterstate Light" pitchFamily="2" charset="0"/>
                        </a:rPr>
                        <a:t>Item</a:t>
                      </a:r>
                      <a:endParaRPr kumimoji="0" lang="en-US" sz="10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000" b="1" i="0" u="none" strike="noStrike" cap="none" normalizeH="0" baseline="0" dirty="0" smtClean="0">
                          <a:ln>
                            <a:noFill/>
                          </a:ln>
                          <a:solidFill>
                            <a:schemeClr val="tx1"/>
                          </a:solidFill>
                          <a:effectLst/>
                          <a:latin typeface="EYInterstate Light" pitchFamily="2" charset="0"/>
                        </a:rPr>
                        <a:t>Description</a:t>
                      </a:r>
                      <a:endParaRPr kumimoji="0" lang="en-US" sz="10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1000" b="1" i="0" u="none" strike="noStrike" cap="none" normalizeH="0" baseline="0" dirty="0" smtClean="0">
                          <a:ln>
                            <a:noFill/>
                          </a:ln>
                          <a:solidFill>
                            <a:schemeClr val="tx1"/>
                          </a:solidFill>
                          <a:effectLst/>
                          <a:latin typeface="EYInterstate Light" pitchFamily="2" charset="0"/>
                        </a:rPr>
                        <a:t>Action</a:t>
                      </a:r>
                      <a:endParaRPr kumimoji="0" lang="en-US" sz="10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37722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900" b="0" i="0" u="none" strike="noStrike" kern="1200" cap="none" normalizeH="0" baseline="0" dirty="0" smtClean="0">
                          <a:ln>
                            <a:noFill/>
                          </a:ln>
                          <a:solidFill>
                            <a:srgbClr val="000000"/>
                          </a:solidFill>
                          <a:effectLst/>
                          <a:latin typeface="EYInterstate Light" pitchFamily="2" charset="0"/>
                          <a:ea typeface="+mn-ea"/>
                          <a:cs typeface="+mn-cs"/>
                        </a:rPr>
                        <a:t>22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r>
                        <a:rPr kumimoji="0" lang="en-US" sz="900" b="0" i="0" u="none" strike="noStrike" kern="1200" cap="none" normalizeH="0" baseline="0" dirty="0" smtClean="0">
                          <a:ln>
                            <a:noFill/>
                          </a:ln>
                          <a:solidFill>
                            <a:srgbClr val="000000"/>
                          </a:solidFill>
                          <a:effectLst/>
                          <a:latin typeface="EYInterstate Light" pitchFamily="2" charset="0"/>
                          <a:ea typeface="+mn-ea"/>
                          <a:cs typeface="+mn-cs"/>
                        </a:rPr>
                        <a:t>GAAIT replacement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900" b="0" i="0" u="none" strike="noStrike" kern="1200" cap="none" normalizeH="0" baseline="0" dirty="0" smtClean="0">
                          <a:ln>
                            <a:noFill/>
                          </a:ln>
                          <a:solidFill>
                            <a:srgbClr val="000000"/>
                          </a:solidFill>
                          <a:effectLst/>
                          <a:latin typeface="EYInterstate Light" pitchFamily="2" charset="0"/>
                          <a:ea typeface="+mn-ea"/>
                          <a:cs typeface="+mn-cs"/>
                        </a:rPr>
                        <a:t>This has been escalated to Alan  for resolution ASAP.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37722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900" b="0" i="0" u="none" strike="noStrike" kern="1200" cap="none" normalizeH="0" baseline="0" dirty="0" smtClean="0">
                          <a:ln>
                            <a:noFill/>
                          </a:ln>
                          <a:solidFill>
                            <a:srgbClr val="000000"/>
                          </a:solidFill>
                          <a:effectLst/>
                          <a:latin typeface="EYInterstate Light" pitchFamily="2" charset="0"/>
                          <a:ea typeface="+mn-ea"/>
                          <a:cs typeface="+mn-cs"/>
                        </a:rPr>
                        <a:t>27</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r>
                        <a:rPr kumimoji="0" lang="en-US" sz="900" b="0" i="0" u="none" strike="noStrike" kern="1200" cap="none" normalizeH="0" baseline="0" dirty="0" smtClean="0">
                          <a:ln>
                            <a:noFill/>
                          </a:ln>
                          <a:solidFill>
                            <a:srgbClr val="000000"/>
                          </a:solidFill>
                          <a:effectLst/>
                          <a:latin typeface="EYInterstate Light" pitchFamily="2" charset="0"/>
                          <a:ea typeface="+mn-ea"/>
                          <a:cs typeface="+mn-cs"/>
                        </a:rPr>
                        <a:t>The integrity of the program finances is suspect.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900" b="0" i="0" u="none" strike="noStrike" kern="1200" cap="none" normalizeH="0" baseline="0" dirty="0" smtClean="0">
                          <a:ln>
                            <a:noFill/>
                          </a:ln>
                          <a:solidFill>
                            <a:srgbClr val="000000"/>
                          </a:solidFill>
                          <a:effectLst/>
                          <a:latin typeface="EYInterstate Light" pitchFamily="2" charset="0"/>
                          <a:ea typeface="+mn-ea"/>
                          <a:cs typeface="+mn-cs"/>
                        </a:rPr>
                        <a:t>Ian  actively managing this; it is progressing.</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484456">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9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r>
                        <a:rPr kumimoji="0" lang="en-US" sz="900" b="0" i="0" u="none" strike="noStrike" kern="1200" cap="none" normalizeH="0" baseline="0" dirty="0" smtClean="0">
                          <a:ln>
                            <a:noFill/>
                          </a:ln>
                          <a:solidFill>
                            <a:srgbClr val="000000"/>
                          </a:solidFill>
                          <a:effectLst/>
                          <a:latin typeface="EYInterstate Light" pitchFamily="2" charset="0"/>
                          <a:ea typeface="+mn-ea"/>
                          <a:cs typeface="+mn-cs"/>
                        </a:rPr>
                        <a:t>*Additional critical-priority issues being addressed as part of the biweekly Wall meetings. </a:t>
                      </a:r>
                    </a:p>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endParaRPr kumimoji="0" lang="en-US" sz="9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900" b="0" i="0" u="none" strike="noStrike" kern="1200" cap="none" normalizeH="0" baseline="0" dirty="0" smtClean="0">
                        <a:ln>
                          <a:noFill/>
                        </a:ln>
                        <a:solidFill>
                          <a:srgbClr val="000000"/>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sp>
        <p:nvSpPr>
          <p:cNvPr id="11" name="TextBox 10"/>
          <p:cNvSpPr txBox="1"/>
          <p:nvPr/>
        </p:nvSpPr>
        <p:spPr>
          <a:xfrm>
            <a:off x="7092280" y="980729"/>
            <a:ext cx="1656184" cy="2277547"/>
          </a:xfrm>
          <a:prstGeom prst="rect">
            <a:avLst/>
          </a:prstGeom>
          <a:noFill/>
          <a:ln>
            <a:noFill/>
          </a:ln>
        </p:spPr>
        <p:txBody>
          <a:bodyPr wrap="square" rtlCol="0">
            <a:spAutoFit/>
          </a:bodyPr>
          <a:lstStyle/>
          <a:p>
            <a:pPr marL="85725" lvl="0" indent="-85725" defTabSz="947738" eaLnBrk="0" fontAlgn="base" hangingPunct="0">
              <a:spcBef>
                <a:spcPct val="0"/>
              </a:spcBef>
              <a:spcAft>
                <a:spcPct val="10000"/>
              </a:spcAft>
              <a:buSzPct val="59000"/>
              <a:defRPr/>
            </a:pPr>
            <a:r>
              <a:rPr lang="en-US" sz="1000" b="1" dirty="0" smtClean="0">
                <a:solidFill>
                  <a:srgbClr val="000000"/>
                </a:solidFill>
                <a:latin typeface="EYInterstate Light" pitchFamily="2" charset="0"/>
              </a:rPr>
              <a:t>Post SharePoint migration:</a:t>
            </a:r>
          </a:p>
          <a:p>
            <a:pPr marL="85725" lvl="0" indent="-85725" defTabSz="947738" eaLnBrk="0" fontAlgn="base" hangingPunct="0">
              <a:spcBef>
                <a:spcPct val="0"/>
              </a:spcBef>
              <a:spcAft>
                <a:spcPct val="10000"/>
              </a:spcAft>
              <a:buSzPct val="59000"/>
              <a:buFont typeface="Wingdings" pitchFamily="2" charset="2"/>
              <a:buChar char="Ø"/>
              <a:defRPr/>
            </a:pPr>
            <a:r>
              <a:rPr lang="en-US" sz="1000" i="1" dirty="0" smtClean="0">
                <a:solidFill>
                  <a:srgbClr val="000000"/>
                </a:solidFill>
                <a:latin typeface="EYInterstate Light" pitchFamily="2" charset="0"/>
              </a:rPr>
              <a:t>Validated</a:t>
            </a:r>
            <a:r>
              <a:rPr lang="en-US" sz="1000" dirty="0" smtClean="0">
                <a:solidFill>
                  <a:srgbClr val="000000"/>
                </a:solidFill>
                <a:latin typeface="EYInterstate Light" pitchFamily="2" charset="0"/>
              </a:rPr>
              <a:t>, as opposed to </a:t>
            </a:r>
            <a:r>
              <a:rPr lang="en-US" sz="1000" i="1" dirty="0" smtClean="0">
                <a:solidFill>
                  <a:srgbClr val="000000"/>
                </a:solidFill>
                <a:latin typeface="EYInterstate Light" pitchFamily="2" charset="0"/>
              </a:rPr>
              <a:t>Total</a:t>
            </a:r>
            <a:r>
              <a:rPr lang="en-US" sz="1000" dirty="0" smtClean="0">
                <a:solidFill>
                  <a:srgbClr val="000000"/>
                </a:solidFill>
                <a:latin typeface="EYInterstate Light" pitchFamily="2" charset="0"/>
              </a:rPr>
              <a:t>, Decisions and Assumptions now tracked, which is why this metric shows a large drop between 9 and 16-May.</a:t>
            </a:r>
          </a:p>
          <a:p>
            <a:pPr marL="85725" lvl="0" indent="-85725" defTabSz="947738" eaLnBrk="0" fontAlgn="base" hangingPunct="0">
              <a:spcBef>
                <a:spcPct val="0"/>
              </a:spcBef>
              <a:spcAft>
                <a:spcPct val="10000"/>
              </a:spcAft>
              <a:buSzPct val="59000"/>
              <a:buFont typeface="Wingdings" pitchFamily="2" charset="2"/>
              <a:buChar char="Ø"/>
              <a:defRPr/>
            </a:pPr>
            <a:r>
              <a:rPr lang="en-US" sz="1000" dirty="0" smtClean="0">
                <a:solidFill>
                  <a:srgbClr val="000000"/>
                </a:solidFill>
                <a:latin typeface="EYInterstate Light" pitchFamily="2" charset="0"/>
              </a:rPr>
              <a:t>Risk priority is now a numerical value calculated based on Impact and Probability selections.</a:t>
            </a:r>
          </a:p>
        </p:txBody>
      </p:sp>
      <p:graphicFrame>
        <p:nvGraphicFramePr>
          <p:cNvPr id="8" name="Chart 7"/>
          <p:cNvGraphicFramePr/>
          <p:nvPr/>
        </p:nvGraphicFramePr>
        <p:xfrm>
          <a:off x="1" y="548681"/>
          <a:ext cx="6948264" cy="3384376"/>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p:cNvSpPr txBox="1"/>
          <p:nvPr/>
        </p:nvSpPr>
        <p:spPr bwMode="gray">
          <a:xfrm>
            <a:off x="1522910" y="6309320"/>
            <a:ext cx="2425262" cy="446276"/>
          </a:xfrm>
          <a:prstGeom prst="rect">
            <a:avLst/>
          </a:prstGeom>
        </p:spPr>
        <p:txBody>
          <a:bodyPr wrap="square" rtlCol="0">
            <a:spAutoFit/>
          </a:bodyPr>
          <a:lstStyle/>
          <a:p>
            <a:pPr algn="ctr" defTabSz="955675" eaLnBrk="0" fontAlgn="base" hangingPunct="0">
              <a:spcBef>
                <a:spcPct val="0"/>
              </a:spcBef>
              <a:spcAft>
                <a:spcPct val="0"/>
              </a:spcAft>
            </a:pPr>
            <a:endParaRPr lang="en-GB" sz="500" b="1" dirty="0">
              <a:solidFill>
                <a:srgbClr val="646464"/>
              </a:solidFill>
              <a:latin typeface="EYInterstate Light" pitchFamily="2" charset="0"/>
            </a:endParaRPr>
          </a:p>
          <a:p>
            <a:pPr defTabSz="955675" eaLnBrk="0" hangingPunct="0"/>
            <a:r>
              <a:rPr lang="en-GB" sz="600" b="1" dirty="0" smtClean="0">
                <a:solidFill>
                  <a:srgbClr val="646464"/>
                </a:solidFill>
                <a:latin typeface="EYInterstate Light" pitchFamily="2" charset="0"/>
              </a:rPr>
              <a:t>There are one or more Critical (High Probability and High Impact) RAID items that have passed their target required by/resolution/mitigation date. </a:t>
            </a:r>
            <a:r>
              <a:rPr lang="en-GB" sz="500" b="1" dirty="0">
                <a:solidFill>
                  <a:srgbClr val="646464"/>
                </a:solidFill>
                <a:latin typeface="EYInterstate Light" pitchFamily="2" charset="0"/>
              </a:rPr>
              <a:t>	</a:t>
            </a:r>
          </a:p>
        </p:txBody>
      </p:sp>
      <p:sp>
        <p:nvSpPr>
          <p:cNvPr id="12" name="TextBox 11"/>
          <p:cNvSpPr txBox="1"/>
          <p:nvPr/>
        </p:nvSpPr>
        <p:spPr bwMode="gray">
          <a:xfrm>
            <a:off x="357127" y="6237312"/>
            <a:ext cx="3292889" cy="184666"/>
          </a:xfrm>
          <a:prstGeom prst="rect">
            <a:avLst/>
          </a:prstGeom>
        </p:spPr>
        <p:txBody>
          <a:bodyPr wrap="none" rtlCol="0">
            <a:spAutoFit/>
          </a:bodyPr>
          <a:lstStyle/>
          <a:p>
            <a:pPr algn="ctr" defTabSz="955675" eaLnBrk="0" fontAlgn="base" hangingPunct="0">
              <a:spcBef>
                <a:spcPct val="0"/>
              </a:spcBef>
              <a:spcAft>
                <a:spcPct val="0"/>
              </a:spcAft>
            </a:pPr>
            <a:r>
              <a:rPr lang="en-US" sz="600" dirty="0">
                <a:solidFill>
                  <a:srgbClr val="646464"/>
                </a:solidFill>
                <a:latin typeface="EYInterstate Light" pitchFamily="2" charset="0"/>
              </a:rPr>
              <a:t>The overall initiative status is governed by the RAG Status Guidance, summarized below. </a:t>
            </a:r>
            <a:r>
              <a:rPr lang="en-US" sz="600" dirty="0" smtClean="0">
                <a:solidFill>
                  <a:srgbClr val="646464"/>
                </a:solidFill>
                <a:latin typeface="EYInterstate Light" pitchFamily="2" charset="0"/>
              </a:rPr>
              <a:t> </a:t>
            </a:r>
            <a:endParaRPr lang="en-GB" sz="600" kern="0" dirty="0">
              <a:solidFill>
                <a:srgbClr val="646464"/>
              </a:solidFill>
              <a:latin typeface="EYInterstate Light" pitchFamily="2" charset="0"/>
            </a:endParaRPr>
          </a:p>
        </p:txBody>
      </p:sp>
      <p:sp>
        <p:nvSpPr>
          <p:cNvPr id="13" name="TextBox 12"/>
          <p:cNvSpPr txBox="1"/>
          <p:nvPr/>
        </p:nvSpPr>
        <p:spPr bwMode="gray">
          <a:xfrm>
            <a:off x="6894530" y="6309320"/>
            <a:ext cx="2125347" cy="446276"/>
          </a:xfrm>
          <a:prstGeom prst="rect">
            <a:avLst/>
          </a:prstGeom>
        </p:spPr>
        <p:txBody>
          <a:bodyPr wrap="square" rtlCol="0">
            <a:spAutoFit/>
          </a:bodyPr>
          <a:lstStyle/>
          <a:p>
            <a:pPr algn="ctr" defTabSz="955675" eaLnBrk="0" fontAlgn="base" hangingPunct="0">
              <a:spcBef>
                <a:spcPct val="0"/>
              </a:spcBef>
              <a:spcAft>
                <a:spcPct val="0"/>
              </a:spcAft>
            </a:pPr>
            <a:endParaRPr lang="en-GB" sz="500" b="1" dirty="0">
              <a:solidFill>
                <a:srgbClr val="646464"/>
              </a:solidFill>
              <a:latin typeface="EYInterstate Light" pitchFamily="2" charset="0"/>
            </a:endParaRPr>
          </a:p>
          <a:p>
            <a:pPr defTabSz="955675" eaLnBrk="0" hangingPunct="0"/>
            <a:r>
              <a:rPr lang="en-GB" sz="600" b="1" dirty="0" smtClean="0">
                <a:solidFill>
                  <a:srgbClr val="646464"/>
                </a:solidFill>
                <a:latin typeface="EYInterstate Light" pitchFamily="2" charset="0"/>
              </a:rPr>
              <a:t>There may be RAID items, but these are being pro-actively managed or within a manageable tolerance of the target dates.</a:t>
            </a:r>
            <a:endParaRPr lang="en-GB" sz="600" b="1" dirty="0">
              <a:solidFill>
                <a:srgbClr val="646464"/>
              </a:solidFill>
              <a:latin typeface="EYInterstate Light" pitchFamily="2" charset="0"/>
            </a:endParaRPr>
          </a:p>
        </p:txBody>
      </p:sp>
      <p:sp>
        <p:nvSpPr>
          <p:cNvPr id="14" name="TextBox 13"/>
          <p:cNvSpPr txBox="1"/>
          <p:nvPr/>
        </p:nvSpPr>
        <p:spPr bwMode="gray">
          <a:xfrm>
            <a:off x="4503769" y="6381328"/>
            <a:ext cx="1835350" cy="538609"/>
          </a:xfrm>
          <a:prstGeom prst="rect">
            <a:avLst/>
          </a:prstGeom>
        </p:spPr>
        <p:txBody>
          <a:bodyPr wrap="square" rtlCol="0">
            <a:spAutoFit/>
          </a:bodyPr>
          <a:lstStyle/>
          <a:p>
            <a:pPr algn="ctr" defTabSz="955675" eaLnBrk="0" fontAlgn="base" hangingPunct="0">
              <a:spcBef>
                <a:spcPct val="0"/>
              </a:spcBef>
              <a:spcAft>
                <a:spcPct val="0"/>
              </a:spcAft>
            </a:pPr>
            <a:endParaRPr lang="en-GB" sz="500" b="1" dirty="0">
              <a:solidFill>
                <a:srgbClr val="646464"/>
              </a:solidFill>
              <a:latin typeface="EYInterstate Light" pitchFamily="2" charset="0"/>
            </a:endParaRPr>
          </a:p>
          <a:p>
            <a:pPr defTabSz="955675" eaLnBrk="0" hangingPunct="0"/>
            <a:r>
              <a:rPr lang="en-GB" sz="600" b="1" dirty="0" smtClean="0">
                <a:solidFill>
                  <a:srgbClr val="646464"/>
                </a:solidFill>
                <a:latin typeface="EYInterstate Light" pitchFamily="2" charset="0"/>
              </a:rPr>
              <a:t>There are a significant number (&gt;5) of priority (but not Critical) items that are beyond their target required by/resolution/mitigation date. </a:t>
            </a:r>
            <a:r>
              <a:rPr lang="en-GB" sz="600" b="1" dirty="0">
                <a:solidFill>
                  <a:srgbClr val="646464"/>
                </a:solidFill>
                <a:latin typeface="EYInterstate Light" pitchFamily="2" charset="0"/>
              </a:rPr>
              <a:t>	</a:t>
            </a:r>
          </a:p>
        </p:txBody>
      </p:sp>
      <p:graphicFrame>
        <p:nvGraphicFramePr>
          <p:cNvPr id="15" name="Group 270"/>
          <p:cNvGraphicFramePr>
            <a:graphicFrameLocks noGrp="1"/>
          </p:cNvGraphicFramePr>
          <p:nvPr/>
        </p:nvGraphicFramePr>
        <p:xfrm>
          <a:off x="6515865" y="6381328"/>
          <a:ext cx="381000" cy="190533"/>
        </p:xfrm>
        <a:graphic>
          <a:graphicData uri="http://schemas.openxmlformats.org/drawingml/2006/table">
            <a:tbl>
              <a:tblPr/>
              <a:tblGrid>
                <a:gridCol w="381000"/>
              </a:tblGrid>
              <a:tr h="19053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600" b="0" i="0" u="none" strike="noStrike" cap="none" normalizeH="0" baseline="0" dirty="0">
                          <a:ln>
                            <a:noFill/>
                          </a:ln>
                          <a:solidFill>
                            <a:schemeClr val="tx1"/>
                          </a:solidFill>
                          <a:effectLst/>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16" name="Group 270"/>
          <p:cNvGraphicFramePr>
            <a:graphicFrameLocks noGrp="1"/>
          </p:cNvGraphicFramePr>
          <p:nvPr/>
        </p:nvGraphicFramePr>
        <p:xfrm>
          <a:off x="1187624" y="6381328"/>
          <a:ext cx="381000" cy="190533"/>
        </p:xfrm>
        <a:graphic>
          <a:graphicData uri="http://schemas.openxmlformats.org/drawingml/2006/table">
            <a:tbl>
              <a:tblPr/>
              <a:tblGrid>
                <a:gridCol w="381000"/>
              </a:tblGrid>
              <a:tr h="19053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600" b="0" i="0" u="none" strike="noStrike" cap="none" normalizeH="0" baseline="0" dirty="0" smtClean="0">
                          <a:ln>
                            <a:noFill/>
                          </a:ln>
                          <a:solidFill>
                            <a:schemeClr val="tx1"/>
                          </a:solidFill>
                          <a:effectLst/>
                          <a:latin typeface="EYInterstate Light" pitchFamily="2" charset="0"/>
                        </a:rPr>
                        <a:t>RED</a:t>
                      </a:r>
                      <a:endParaRPr kumimoji="0" lang="en-US" sz="600" b="0"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17" name="Group 270"/>
          <p:cNvGraphicFramePr>
            <a:graphicFrameLocks noGrp="1"/>
          </p:cNvGraphicFramePr>
          <p:nvPr/>
        </p:nvGraphicFramePr>
        <p:xfrm>
          <a:off x="4139952" y="6381328"/>
          <a:ext cx="381000" cy="190533"/>
        </p:xfrm>
        <a:graphic>
          <a:graphicData uri="http://schemas.openxmlformats.org/drawingml/2006/table">
            <a:tbl>
              <a:tblPr/>
              <a:tblGrid>
                <a:gridCol w="381000"/>
              </a:tblGrid>
              <a:tr h="19053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600" b="0" i="0" u="none" strike="noStrike" cap="none" normalizeH="0" baseline="0" dirty="0" smtClean="0">
                          <a:ln>
                            <a:noFill/>
                          </a:ln>
                          <a:solidFill>
                            <a:schemeClr val="tx1"/>
                          </a:solidFill>
                          <a:effectLst/>
                          <a:latin typeface="EYInterstate Light" pitchFamily="2" charset="0"/>
                        </a:rPr>
                        <a:t>AMBER</a:t>
                      </a:r>
                      <a:endParaRPr kumimoji="0" lang="en-US" sz="600" b="0"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Appendix A – M&amp;C Reports.</a:t>
            </a:r>
            <a:endParaRPr 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272"/>
          <p:cNvGraphicFramePr>
            <a:graphicFrameLocks noGrp="1"/>
          </p:cNvGraphicFramePr>
          <p:nvPr/>
        </p:nvGraphicFramePr>
        <p:xfrm>
          <a:off x="76200" y="3852936"/>
          <a:ext cx="4528122" cy="2799324"/>
        </p:xfrm>
        <a:graphic>
          <a:graphicData uri="http://schemas.openxmlformats.org/drawingml/2006/table">
            <a:tbl>
              <a:tblPr/>
              <a:tblGrid>
                <a:gridCol w="4528122"/>
              </a:tblGrid>
              <a:tr h="116267">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a:ln>
                            <a:noFill/>
                          </a:ln>
                          <a:solidFill>
                            <a:schemeClr val="tx1"/>
                          </a:solidFill>
                          <a:effectLst/>
                          <a:latin typeface="EYInterstate" pitchFamily="2" charset="0"/>
                        </a:rPr>
                        <a:t>C.  ACTIVITIES BEHIND SCHEDULE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01183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solidFill>
                          <a:effectLst/>
                          <a:latin typeface="EYInterstate Light" pitchFamily="2" charset="0"/>
                          <a:ea typeface="+mn-ea"/>
                          <a:cs typeface="+mn-cs"/>
                        </a:rPr>
                        <a:t>Application &amp; Data:</a:t>
                      </a: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EYAA development resource contention has been alleviated, however we still remain tracking behind original plan.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solidFill>
                          <a:effectLst/>
                          <a:latin typeface="EYInterstate Light" pitchFamily="2" charset="0"/>
                          <a:ea typeface="+mn-ea"/>
                          <a:cs typeface="+mn-cs"/>
                        </a:rPr>
                        <a:t>Collaboration</a:t>
                      </a: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Infra: Proposal for Simulated Cloud </a:t>
                      </a:r>
                      <a:r>
                        <a:rPr kumimoji="0" lang="en-US" sz="650" b="0" i="0" u="none" strike="noStrike" kern="1200" cap="none" normalizeH="0" baseline="0" noProof="0" dirty="0" err="1" smtClean="0">
                          <a:ln>
                            <a:noFill/>
                          </a:ln>
                          <a:solidFill>
                            <a:schemeClr val="bg2"/>
                          </a:solidFill>
                          <a:effectLst/>
                          <a:latin typeface="EYInterstate Light" pitchFamily="2" charset="0"/>
                          <a:ea typeface="+mn-ea"/>
                          <a:cs typeface="+mn-cs"/>
                        </a:rPr>
                        <a:t>Env</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 – (proposal complete but stuck in </a:t>
                      </a:r>
                      <a:r>
                        <a:rPr kumimoji="0" lang="en-US" sz="650" b="0" i="0" u="none" strike="noStrike" kern="1200" cap="none" normalizeH="0" baseline="0" noProof="0" dirty="0" err="1" smtClean="0">
                          <a:ln>
                            <a:noFill/>
                          </a:ln>
                          <a:solidFill>
                            <a:schemeClr val="bg2"/>
                          </a:solidFill>
                          <a:effectLst/>
                          <a:latin typeface="EYInterstate Light" pitchFamily="2" charset="0"/>
                          <a:ea typeface="+mn-ea"/>
                          <a:cs typeface="+mn-cs"/>
                        </a:rPr>
                        <a:t>InfoSec</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 review) – 30 Apr 12. Communities and People: Scope Lock – (contingent on Social decision) – 01 May 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noProof="0" dirty="0" smtClean="0">
                          <a:ln>
                            <a:noFill/>
                          </a:ln>
                          <a:solidFill>
                            <a:schemeClr val="bg2"/>
                          </a:solidFill>
                          <a:effectLst/>
                          <a:latin typeface="EYInterstate Light" pitchFamily="2" charset="0"/>
                          <a:ea typeface="+mn-ea"/>
                          <a:cs typeface="+mn-cs"/>
                        </a:rPr>
                        <a:t>Lync:</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 Signing the interim SOW – expected 15 Jun 12. Finalizing AT&amp;T questionnaire – 12 Jun 12. Slide deck for management regarding the </a:t>
                      </a: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decision re.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delivery of Lync voice to countries that have existing soft phones 15 Jun 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solidFill>
                          <a:effectLst/>
                          <a:latin typeface="EYInterstate Light" pitchFamily="2" charset="0"/>
                        </a:rPr>
                        <a:t>Outlook/Exchange:</a:t>
                      </a:r>
                      <a:r>
                        <a:rPr kumimoji="0" lang="en-US" sz="650" b="0" i="0" u="none" strike="noStrike" cap="none" normalizeH="0" baseline="0" dirty="0" smtClean="0">
                          <a:ln>
                            <a:noFill/>
                          </a:ln>
                          <a:solidFill>
                            <a:schemeClr val="bg2"/>
                          </a:solidFill>
                          <a:effectLst/>
                          <a:latin typeface="EYInterstate Light" pitchFamily="2" charset="0"/>
                        </a:rPr>
                        <a:t>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Decision on On-Prem countries, DR sites, and DCC schedule still outstanding, with CLT. Completion of MMD - 29 Jun 12. Complete PMP – 15 Jun 12. Outlook Dormant Deployment – 30 Nov 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solidFill>
                          <a:effectLst/>
                          <a:latin typeface="EYInterstate Light" pitchFamily="2" charset="0"/>
                          <a:ea typeface="+mn-ea"/>
                          <a:cs typeface="+mn-cs"/>
                        </a:rPr>
                        <a:t>Change Management:</a:t>
                      </a: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None reported.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650" b="0" i="0" u="sng" strike="noStrike" kern="1200" cap="none" normalizeH="0" baseline="0" dirty="0" smtClean="0">
                          <a:ln>
                            <a:noFill/>
                          </a:ln>
                          <a:solidFill>
                            <a:schemeClr val="bg2"/>
                          </a:solidFill>
                          <a:effectLst/>
                          <a:latin typeface="EYInterstate Light" pitchFamily="2" charset="0"/>
                          <a:ea typeface="+mn-ea"/>
                          <a:cs typeface="+mn-cs"/>
                        </a:rPr>
                        <a:t>IT Transition Management:</a:t>
                      </a:r>
                      <a:r>
                        <a:rPr kumimoji="0" lang="en-GB" sz="650" b="0" i="0" u="none" strike="noStrike" kern="1200" cap="none" normalizeH="0" baseline="0" dirty="0" smtClean="0">
                          <a:ln>
                            <a:noFill/>
                          </a:ln>
                          <a:solidFill>
                            <a:schemeClr val="bg2"/>
                          </a:solidFill>
                          <a:effectLst/>
                          <a:latin typeface="EYInterstate Light" pitchFamily="2" charset="0"/>
                          <a:ea typeface="+mn-ea"/>
                          <a:cs typeface="+mn-cs"/>
                        </a:rPr>
                        <a:t>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Recruitment of TM resources:  No progress made against this activity this period.  Raised to “High” from “Low” priority on the M&amp;C RAID - 7 May 2012.  Raise to “Critical” on 31 May 12 if no progress made.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16267">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D.  </a:t>
                      </a:r>
                      <a:r>
                        <a:rPr kumimoji="0" lang="en-US" sz="700" b="1" i="0" u="none" strike="noStrike" cap="none" normalizeH="0" baseline="0" dirty="0">
                          <a:ln>
                            <a:noFill/>
                          </a:ln>
                          <a:solidFill>
                            <a:schemeClr val="tx1"/>
                          </a:solidFill>
                          <a:effectLst/>
                          <a:latin typeface="EYInterstate" pitchFamily="2" charset="0"/>
                        </a:rPr>
                        <a:t>KEY ACTIVITIES PLANNED NEXT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09775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solidFill>
                          <a:effectLst/>
                          <a:latin typeface="EYInterstate Light" pitchFamily="2" charset="0"/>
                        </a:rPr>
                        <a:t>Application Data Migration:</a:t>
                      </a:r>
                      <a:r>
                        <a:rPr kumimoji="0" lang="en-US" sz="650" b="0" i="0" u="none" strike="noStrike" cap="none" normalizeH="0" baseline="0" dirty="0" smtClean="0">
                          <a:ln>
                            <a:noFill/>
                          </a:ln>
                          <a:solidFill>
                            <a:schemeClr val="bg2"/>
                          </a:solidFill>
                          <a:effectLst/>
                          <a:latin typeface="EYInterstate Light" pitchFamily="2" charset="0"/>
                        </a:rPr>
                        <a:t>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Progress with updating the Phase 1 project deliverables ready for </a:t>
                      </a: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handover</a:t>
                      </a:r>
                      <a:r>
                        <a:rPr kumimoji="0" lang="en-US" sz="650" b="0" i="0" u="none" strike="noStrike" kern="1200" cap="none" normalizeH="0" baseline="0" noProof="0" dirty="0" smtClean="0">
                          <a:ln>
                            <a:noFill/>
                          </a:ln>
                          <a:solidFill>
                            <a:srgbClr val="FF0000"/>
                          </a:solidFill>
                          <a:effectLst/>
                          <a:latin typeface="EYInterstate Light" pitchFamily="2" charset="0"/>
                          <a:ea typeface="+mn-ea"/>
                          <a:cs typeface="+mn-cs"/>
                        </a:rPr>
                        <a:t>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to the IT SD teams by 15 Jun 12. Progress with testing of AMI Ph4a. Progress Design work AMI Phase 5. Progress with development of EYAA.</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noProof="0" dirty="0" smtClean="0">
                          <a:ln>
                            <a:noFill/>
                          </a:ln>
                          <a:solidFill>
                            <a:schemeClr val="bg2"/>
                          </a:solidFill>
                          <a:effectLst/>
                          <a:latin typeface="EYInterstate Light" pitchFamily="2" charset="0"/>
                          <a:ea typeface="+mn-ea"/>
                          <a:cs typeface="+mn-cs"/>
                        </a:rPr>
                        <a:t>Collaboration:</a:t>
                      </a:r>
                      <a:r>
                        <a:rPr kumimoji="0" lang="en-GB" sz="650" b="0" i="0" u="none" strike="noStrike" kern="1200" cap="none" normalizeH="0" baseline="0" noProof="0" dirty="0" smtClean="0">
                          <a:ln>
                            <a:noFill/>
                          </a:ln>
                          <a:solidFill>
                            <a:schemeClr val="bg2"/>
                          </a:solidFill>
                          <a:effectLst/>
                          <a:latin typeface="EYInterstate Light" pitchFamily="2" charset="0"/>
                          <a:ea typeface="+mn-ea"/>
                          <a:cs typeface="+mn-cs"/>
                        </a:rPr>
                        <a:t> Baselined  FY13 Plans and Resource Model for  R1 SP 15 delivery - 15 Jun 12. Refreshed Level 2 and 3 plans. Updated milestones for tracking in this weekly report - 15 Jun 12.</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sng" strike="noStrike" cap="none" normalizeH="0" baseline="0" dirty="0" smtClean="0">
                          <a:ln>
                            <a:noFill/>
                          </a:ln>
                          <a:solidFill>
                            <a:schemeClr val="bg2"/>
                          </a:solidFill>
                          <a:effectLst/>
                          <a:latin typeface="EYInterstate Light" pitchFamily="2" charset="0"/>
                        </a:rPr>
                        <a:t>Lync:</a:t>
                      </a:r>
                      <a:r>
                        <a:rPr kumimoji="0" lang="en-US" sz="600" b="0" i="0" u="none" strike="noStrike" kern="1200" cap="none" normalizeH="0" baseline="0" dirty="0" smtClean="0">
                          <a:ln>
                            <a:noFill/>
                          </a:ln>
                          <a:solidFill>
                            <a:schemeClr val="tx1"/>
                          </a:solidFill>
                          <a:effectLst/>
                          <a:latin typeface="EYInterstate Light" pitchFamily="2" charset="0"/>
                          <a:ea typeface="+mn-ea"/>
                          <a:cs typeface="+mn-cs"/>
                        </a:rPr>
                        <a:t>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Two more workshops with AT&amp;T scheduled for voice infrastructure – 13 &amp; 14 June 12. Submit completed questionnaire to AT&amp;T – 12 Jun 12. Confirmation of correct version of Lync Silverlight GCL5 loadset – 13 Jun 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solidFill>
                          <a:effectLst/>
                          <a:latin typeface="EYInterstate Light" pitchFamily="2" charset="0"/>
                        </a:rPr>
                        <a:t>Outlook/Exchange:</a:t>
                      </a:r>
                      <a:r>
                        <a:rPr kumimoji="0" lang="en-US" sz="650" b="0" i="0" u="none" strike="noStrike" cap="none" normalizeH="0" baseline="0" dirty="0" smtClean="0">
                          <a:ln>
                            <a:noFill/>
                          </a:ln>
                          <a:solidFill>
                            <a:schemeClr val="bg2"/>
                          </a:solidFill>
                          <a:effectLst/>
                          <a:latin typeface="EYInterstate Light" pitchFamily="2" charset="0"/>
                        </a:rPr>
                        <a:t> </a:t>
                      </a: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Approve functional specification for O365. DA Approval for SAN to DAS design change. Confirm On-Prem vs Cloud country list and user numbers.</a:t>
                      </a:r>
                      <a:endPar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650" b="0" i="0" u="sng" strike="noStrike" kern="1200" cap="none" normalizeH="0" baseline="0" dirty="0" smtClean="0">
                          <a:ln>
                            <a:noFill/>
                          </a:ln>
                          <a:solidFill>
                            <a:schemeClr val="bg2"/>
                          </a:solidFill>
                          <a:effectLst/>
                          <a:latin typeface="EYInterstate Light" pitchFamily="2" charset="0"/>
                          <a:ea typeface="+mn-ea"/>
                          <a:cs typeface="+mn-cs"/>
                        </a:rPr>
                        <a:t>Change Management:</a:t>
                      </a: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Benefits: </a:t>
                      </a:r>
                      <a:r>
                        <a:rPr kumimoji="0" lang="en-GB" sz="650" b="0" i="0" u="none" strike="noStrike" kern="1200" cap="none" normalizeH="0" baseline="0" noProof="0" dirty="0" smtClean="0">
                          <a:ln>
                            <a:noFill/>
                          </a:ln>
                          <a:solidFill>
                            <a:schemeClr val="bg2"/>
                          </a:solidFill>
                          <a:effectLst/>
                          <a:latin typeface="EYInterstate Light" pitchFamily="2" charset="0"/>
                          <a:ea typeface="+mn-ea"/>
                          <a:cs typeface="+mn-cs"/>
                        </a:rPr>
                        <a:t>Prepare for rescheduled M&amp;C Business Case checkpoint with Execs– 8 Jun 12.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Comms: Second draft of one-pager update back from GSS for comments 8 Jun 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solidFill>
                          <a:effectLst/>
                          <a:latin typeface="EYInterstate Light" pitchFamily="2" charset="0"/>
                          <a:ea typeface="+mn-ea"/>
                          <a:cs typeface="+mn-cs"/>
                        </a:rPr>
                        <a:t>IT </a:t>
                      </a:r>
                      <a:r>
                        <a:rPr kumimoji="0" lang="en-US" sz="650" b="0" i="0" u="sng" strike="noStrike" kern="1200" cap="none" normalizeH="0" baseline="0" dirty="0">
                          <a:ln>
                            <a:noFill/>
                          </a:ln>
                          <a:solidFill>
                            <a:schemeClr val="bg2"/>
                          </a:solidFill>
                          <a:effectLst/>
                          <a:latin typeface="EYInterstate Light" pitchFamily="2" charset="0"/>
                          <a:ea typeface="+mn-ea"/>
                          <a:cs typeface="+mn-cs"/>
                        </a:rPr>
                        <a:t>Transition </a:t>
                      </a:r>
                      <a:r>
                        <a:rPr kumimoji="0" lang="en-US" sz="650" b="0" i="0" u="sng" strike="noStrike" kern="1200" cap="none" normalizeH="0" baseline="0" dirty="0" smtClean="0">
                          <a:ln>
                            <a:noFill/>
                          </a:ln>
                          <a:solidFill>
                            <a:schemeClr val="bg2"/>
                          </a:solidFill>
                          <a:effectLst/>
                          <a:latin typeface="EYInterstate Light" pitchFamily="2" charset="0"/>
                          <a:ea typeface="+mn-ea"/>
                          <a:cs typeface="+mn-cs"/>
                        </a:rPr>
                        <a:t>Management:</a:t>
                      </a: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 Call with CLT to discuss strategic design  and governance principles associated with the TOM for SharePoint and other enterprise applications.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 name="Group 852"/>
          <p:cNvGraphicFramePr>
            <a:graphicFrameLocks noGrp="1"/>
          </p:cNvGraphicFramePr>
          <p:nvPr/>
        </p:nvGraphicFramePr>
        <p:xfrm>
          <a:off x="4724400" y="3824597"/>
          <a:ext cx="4343399" cy="1585603"/>
        </p:xfrm>
        <a:graphic>
          <a:graphicData uri="http://schemas.openxmlformats.org/drawingml/2006/table">
            <a:tbl>
              <a:tblPr/>
              <a:tblGrid>
                <a:gridCol w="1483429"/>
                <a:gridCol w="1564570"/>
                <a:gridCol w="621543"/>
                <a:gridCol w="673857"/>
              </a:tblGrid>
              <a:tr h="160473">
                <a:tc gridSpan="4">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G. </a:t>
                      </a:r>
                      <a:r>
                        <a:rPr kumimoji="0" lang="en-US" sz="700" b="1" i="0" u="none" strike="noStrike" cap="none" normalizeH="0" baseline="0" dirty="0" smtClean="0">
                          <a:ln>
                            <a:noFill/>
                          </a:ln>
                          <a:solidFill>
                            <a:schemeClr val="tx1"/>
                          </a:solidFill>
                          <a:effectLst/>
                          <a:latin typeface="EYInterstate" pitchFamily="2" charset="0"/>
                        </a:rPr>
                        <a:t>MAT&amp;TERS </a:t>
                      </a:r>
                      <a:r>
                        <a:rPr kumimoji="0" lang="en-US" sz="700" b="1" i="0" u="none" strike="noStrike" cap="none" normalizeH="0" baseline="0" dirty="0">
                          <a:ln>
                            <a:noFill/>
                          </a:ln>
                          <a:solidFill>
                            <a:schemeClr val="tx1"/>
                          </a:solidFill>
                          <a:effectLst/>
                          <a:latin typeface="EYInterstate" pitchFamily="2" charset="0"/>
                        </a:rPr>
                        <a:t>FOR IMMEDIATE </a:t>
                      </a:r>
                      <a:r>
                        <a:rPr kumimoji="0" lang="en-US" sz="700" b="1" i="0" u="none" strike="noStrike" cap="none" normalizeH="0" baseline="0" dirty="0" smtClean="0">
                          <a:ln>
                            <a:noFill/>
                          </a:ln>
                          <a:solidFill>
                            <a:schemeClr val="tx1"/>
                          </a:solidFill>
                          <a:effectLst/>
                          <a:latin typeface="EYInterstate" pitchFamily="2" charset="0"/>
                        </a:rPr>
                        <a:t>AT&amp;TENTION </a:t>
                      </a:r>
                      <a:r>
                        <a:rPr kumimoji="0" lang="en-US" sz="700" b="1" i="0" u="none" strike="noStrike" cap="none" normalizeH="0" baseline="0" dirty="0">
                          <a:ln>
                            <a:noFill/>
                          </a:ln>
                          <a:solidFill>
                            <a:schemeClr val="tx1"/>
                          </a:solidFill>
                          <a:effectLst/>
                          <a:latin typeface="EYInterstate" pitchFamily="2" charset="0"/>
                        </a:rPr>
                        <a:t>– typically </a:t>
                      </a:r>
                      <a:r>
                        <a:rPr kumimoji="0" lang="en-US" sz="700" b="1" i="0" u="none" strike="noStrike" cap="none" normalizeH="0" baseline="0" dirty="0" smtClean="0">
                          <a:ln>
                            <a:noFill/>
                          </a:ln>
                          <a:solidFill>
                            <a:schemeClr val="tx1"/>
                          </a:solidFill>
                          <a:effectLst/>
                          <a:latin typeface="EYInterstate" pitchFamily="2" charset="0"/>
                        </a:rPr>
                        <a:t>specific current </a:t>
                      </a:r>
                      <a:r>
                        <a:rPr kumimoji="0" lang="en-US" sz="700" b="1" i="0" u="none" strike="noStrike" cap="none" normalizeH="0" baseline="0" dirty="0">
                          <a:ln>
                            <a:noFill/>
                          </a:ln>
                          <a:solidFill>
                            <a:schemeClr val="tx1"/>
                          </a:solidFill>
                          <a:effectLst/>
                          <a:latin typeface="EYInterstate" pitchFamily="2" charset="0"/>
                        </a:rPr>
                        <a:t>issues or scope changes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hMerge="1">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06748">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Issues to be resolved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Recommended Action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bg2"/>
                          </a:solidFill>
                          <a:effectLst/>
                          <a:latin typeface="EYInterstate Light" pitchFamily="2" charset="0"/>
                          <a:ea typeface="+mn-ea"/>
                          <a:cs typeface="+mn-cs"/>
                        </a:rPr>
                        <a:t>Target Date</a:t>
                      </a:r>
                      <a:endParaRPr kumimoji="0" lang="en-US" sz="700" b="1"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bg2"/>
                          </a:solidFill>
                          <a:effectLst/>
                          <a:latin typeface="EYInterstate Light" pitchFamily="2" charset="0"/>
                          <a:ea typeface="+mn-ea"/>
                          <a:cs typeface="+mn-cs"/>
                        </a:rPr>
                        <a:t>Completed By</a:t>
                      </a:r>
                      <a:endParaRPr kumimoji="0" lang="en-US" sz="700" b="1"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59766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I22 - Decision GAAIT and M&amp;C inter-program  tasks, roles and responsibilities need to be determined and reflect in the plan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Options being evaluated with recommendation tabled for early June by ITS &amp; Assurance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08 Jun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Alan Guthrie</a:t>
                      </a:r>
                      <a:endParaRPr kumimoji="0" lang="en-US" sz="65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32885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650" b="0" i="0" u="none" strike="noStrike" kern="1200" cap="none" normalizeH="0" baseline="0" dirty="0" smtClean="0">
                          <a:ln>
                            <a:noFill/>
                          </a:ln>
                          <a:solidFill>
                            <a:schemeClr val="bg2"/>
                          </a:solidFill>
                          <a:effectLst/>
                          <a:latin typeface="EYInterstate Light" pitchFamily="2" charset="0"/>
                          <a:ea typeface="+mn-ea"/>
                          <a:cs typeface="+mn-cs"/>
                        </a:rPr>
                        <a:t>I23 Need to recruit a significant number of additional resources into the program (Transition). Recruitment of skilled staff proving very difficult and will impact schedules.​</a:t>
                      </a:r>
                      <a:endParaRPr kumimoji="0" lang="en-GB" sz="650" b="0" i="0" u="none" strike="noStrike" kern="1200" cap="none" normalizeH="0" baseline="0" dirty="0">
                        <a:ln>
                          <a:noFill/>
                        </a:ln>
                        <a:solidFill>
                          <a:schemeClr val="bg2"/>
                        </a:solidFill>
                        <a:effectLst/>
                        <a:latin typeface="EYInterstate Light" pitchFamily="2" charset="0"/>
                        <a:ea typeface="+mn-ea"/>
                        <a:cs typeface="+mn-cs"/>
                      </a:endParaRP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650" b="0" i="0" u="none" strike="noStrike" kern="1200" cap="none" normalizeH="0" baseline="0" dirty="0" smtClean="0">
                          <a:ln>
                            <a:noFill/>
                          </a:ln>
                          <a:solidFill>
                            <a:schemeClr val="bg2"/>
                          </a:solidFill>
                          <a:effectLst/>
                          <a:latin typeface="EYInterstate Light" pitchFamily="2" charset="0"/>
                          <a:ea typeface="+mn-ea"/>
                          <a:cs typeface="+mn-cs"/>
                        </a:rPr>
                        <a:t>10-May migration note: changed workstream from M&amp;C Program to Transition. 7-May: No progress has been made with External candidates.  This will be come critical over the next 8 weeks as we get closer to 1 July with no progress being made.</a:t>
                      </a:r>
                      <a:endParaRPr kumimoji="0" lang="en-GB" sz="650" b="0" i="0" u="none" strike="noStrike" kern="1200" cap="none" normalizeH="0" baseline="0" dirty="0">
                        <a:ln>
                          <a:noFill/>
                        </a:ln>
                        <a:solidFill>
                          <a:schemeClr val="bg2"/>
                        </a:solidFill>
                        <a:effectLst/>
                        <a:latin typeface="EYInterstate Light" pitchFamily="2" charset="0"/>
                        <a:ea typeface="+mn-ea"/>
                        <a:cs typeface="+mn-cs"/>
                      </a:endParaRP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30 Jun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Nick Coburn</a:t>
                      </a:r>
                      <a:endParaRPr kumimoji="0" lang="en-US" sz="65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4" name="Group 270"/>
          <p:cNvGraphicFramePr>
            <a:graphicFrameLocks noGrp="1"/>
          </p:cNvGraphicFramePr>
          <p:nvPr/>
        </p:nvGraphicFramePr>
        <p:xfrm>
          <a:off x="7391400" y="36991"/>
          <a:ext cx="1628477" cy="535063"/>
        </p:xfrm>
        <a:graphic>
          <a:graphicData uri="http://schemas.openxmlformats.org/drawingml/2006/table">
            <a:tbl>
              <a:tblPr/>
              <a:tblGrid>
                <a:gridCol w="814238"/>
                <a:gridCol w="814239"/>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5" name="Table 4"/>
          <p:cNvGraphicFramePr>
            <a:graphicFrameLocks noGrp="1"/>
          </p:cNvGraphicFramePr>
          <p:nvPr/>
        </p:nvGraphicFramePr>
        <p:xfrm>
          <a:off x="4724400" y="2210192"/>
          <a:ext cx="4343399" cy="1394068"/>
        </p:xfrm>
        <a:graphic>
          <a:graphicData uri="http://schemas.openxmlformats.org/drawingml/2006/table">
            <a:tbl>
              <a:tblPr/>
              <a:tblGrid>
                <a:gridCol w="1295400"/>
                <a:gridCol w="1752600"/>
                <a:gridCol w="609600"/>
                <a:gridCol w="685799"/>
              </a:tblGrid>
              <a:tr h="78080">
                <a:tc gridSpan="4">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F. </a:t>
                      </a:r>
                      <a:r>
                        <a:rPr kumimoji="0" lang="en-US" sz="700" b="1" i="0" u="none" strike="noStrike" cap="none" normalizeH="0" baseline="0" dirty="0" smtClean="0">
                          <a:ln>
                            <a:noFill/>
                          </a:ln>
                          <a:solidFill>
                            <a:schemeClr val="tx1"/>
                          </a:solidFill>
                          <a:effectLst/>
                          <a:latin typeface="EYInterstate" pitchFamily="2" charset="0"/>
                        </a:rPr>
                        <a:t> KEY </a:t>
                      </a:r>
                      <a:r>
                        <a:rPr kumimoji="0" lang="en-US" sz="700" b="1" i="0" u="none" strike="noStrike" cap="none" normalizeH="0" baseline="0" dirty="0">
                          <a:ln>
                            <a:noFill/>
                          </a:ln>
                          <a:solidFill>
                            <a:schemeClr val="tx1"/>
                          </a:solidFill>
                          <a:effectLst/>
                          <a:latin typeface="EYInterstate" pitchFamily="2" charset="0"/>
                        </a:rPr>
                        <a:t>RISKS – typically future challenges or external circumstances that may affect the initiative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hMerge="1">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78080">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Risks to be addressed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Mitigating Action</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bg2"/>
                          </a:solidFill>
                          <a:effectLst/>
                          <a:latin typeface="EYInterstate Light" pitchFamily="2" charset="0"/>
                          <a:ea typeface="+mn-ea"/>
                          <a:cs typeface="+mn-cs"/>
                        </a:rPr>
                        <a:t>Target Date</a:t>
                      </a:r>
                      <a:endParaRPr kumimoji="0" lang="en-US" sz="700" b="1"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bg2"/>
                          </a:solidFill>
                          <a:effectLst/>
                          <a:latin typeface="EYInterstate Light" pitchFamily="2" charset="0"/>
                          <a:ea typeface="+mn-ea"/>
                          <a:cs typeface="+mn-cs"/>
                        </a:rPr>
                        <a:t>Completed By</a:t>
                      </a:r>
                      <a:endParaRPr kumimoji="0" lang="en-US" sz="700" b="1"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36791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R105, R143 Blackout period impact on velocity</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Revised deployment plan published – to be reviewed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08 Jun 12</a:t>
                      </a:r>
                      <a:endParaRPr kumimoji="0" lang="en-US" sz="650" b="0" i="0" u="none" strike="noStrike" kern="1200" cap="none" normalizeH="0" baseline="0" dirty="0">
                        <a:ln>
                          <a:noFill/>
                        </a:ln>
                        <a:solidFill>
                          <a:schemeClr val="bg2"/>
                        </a:solidFill>
                        <a:effectLst/>
                        <a:latin typeface="EYInterstate Light" pitchFamily="2" charset="0"/>
                        <a:ea typeface="+mn-ea"/>
                        <a:cs typeface="+mn-cs"/>
                      </a:endParaRPr>
                    </a:p>
                  </a:txBody>
                  <a:tcPr marL="34219" marR="34219"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M Kremmer</a:t>
                      </a:r>
                      <a:endParaRPr kumimoji="0" lang="en-US" sz="650" b="0" i="0" u="none" strike="noStrike" kern="1200" cap="none" normalizeH="0" baseline="0" dirty="0">
                        <a:ln>
                          <a:noFill/>
                        </a:ln>
                        <a:solidFill>
                          <a:schemeClr val="bg2"/>
                        </a:solidFill>
                        <a:effectLst/>
                        <a:latin typeface="EYInterstate Light" pitchFamily="2" charset="0"/>
                        <a:ea typeface="+mn-ea"/>
                        <a:cs typeface="+mn-cs"/>
                      </a:endParaRPr>
                    </a:p>
                  </a:txBody>
                  <a:tcPr marL="34219" marR="34219"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5957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650" b="0" i="0" u="none" strike="noStrike" kern="1200" cap="none" normalizeH="0" baseline="0" noProof="0" dirty="0" smtClean="0">
                          <a:ln>
                            <a:noFill/>
                          </a:ln>
                          <a:solidFill>
                            <a:schemeClr val="bg2"/>
                          </a:solidFill>
                          <a:effectLst/>
                          <a:latin typeface="EYInterstate Light" pitchFamily="2" charset="0"/>
                          <a:ea typeface="+mn-ea"/>
                          <a:cs typeface="+mn-cs"/>
                        </a:rPr>
                        <a:t>R17 – E</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nd user community's capacity for change may be limited</a:t>
                      </a:r>
                      <a:endParaRPr kumimoji="0" lang="en-GB" sz="650" b="0" i="0" u="none" strike="noStrike" kern="1200" cap="none" normalizeH="0" baseline="0" noProof="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Use  Change Networks for assessment. Being discussed as part of change n/w discussion. Reqd. resolution date moved to  align with deployment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15 Aug 12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Sophie Boiron</a:t>
                      </a:r>
                      <a:endParaRPr kumimoji="0" lang="en-US" sz="650" b="0" i="0" u="none" strike="noStrike" kern="1200" cap="none" normalizeH="0" baseline="0" noProof="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9481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R9 - Independence Issue with RFP – remaining vendors are tier 1 customer</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Independence have approved the interim SoW.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Work still ongoing on the overall MSA.</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06 Jul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Ana Buron</a:t>
                      </a:r>
                      <a:endParaRPr kumimoji="0" lang="en-US" sz="65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6" name="Group 270"/>
          <p:cNvGraphicFramePr>
            <a:graphicFrameLocks noGrp="1"/>
          </p:cNvGraphicFramePr>
          <p:nvPr/>
        </p:nvGraphicFramePr>
        <p:xfrm>
          <a:off x="1195546" y="6553106"/>
          <a:ext cx="381000" cy="88326"/>
        </p:xfrm>
        <a:graphic>
          <a:graphicData uri="http://schemas.openxmlformats.org/drawingml/2006/table">
            <a:tbl>
              <a:tblPr/>
              <a:tblGrid>
                <a:gridCol w="381000"/>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7" name="Group 270"/>
          <p:cNvGraphicFramePr>
            <a:graphicFrameLocks noGrp="1"/>
          </p:cNvGraphicFramePr>
          <p:nvPr/>
        </p:nvGraphicFramePr>
        <p:xfrm>
          <a:off x="3979855" y="6582966"/>
          <a:ext cx="523914" cy="88326"/>
        </p:xfrm>
        <a:graphic>
          <a:graphicData uri="http://schemas.openxmlformats.org/drawingml/2006/table">
            <a:tbl>
              <a:tblPr/>
              <a:tblGrid>
                <a:gridCol w="523914"/>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8" name="Group 270"/>
          <p:cNvGraphicFramePr>
            <a:graphicFrameLocks noGrp="1"/>
          </p:cNvGraphicFramePr>
          <p:nvPr/>
        </p:nvGraphicFramePr>
        <p:xfrm>
          <a:off x="6515865" y="6550835"/>
          <a:ext cx="381000" cy="90597"/>
        </p:xfrm>
        <a:graphic>
          <a:graphicData uri="http://schemas.openxmlformats.org/drawingml/2006/table">
            <a:tbl>
              <a:tblPr/>
              <a:tblGrid>
                <a:gridCol w="381000"/>
              </a:tblGrid>
              <a:tr h="90597">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pSp>
        <p:nvGrpSpPr>
          <p:cNvPr id="9" name="Group 27"/>
          <p:cNvGrpSpPr/>
          <p:nvPr/>
        </p:nvGrpSpPr>
        <p:grpSpPr>
          <a:xfrm>
            <a:off x="285595" y="6477000"/>
            <a:ext cx="8734282" cy="494922"/>
            <a:chOff x="307495" y="6550829"/>
            <a:chExt cx="9404036" cy="494922"/>
          </a:xfrm>
        </p:grpSpPr>
        <p:sp>
          <p:nvSpPr>
            <p:cNvPr id="11" name="TextBox 10"/>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12" name="TextBox 11"/>
            <p:cNvSpPr txBox="1"/>
            <p:nvPr/>
          </p:nvSpPr>
          <p:spPr bwMode="gray">
            <a:xfrm>
              <a:off x="674554" y="6657945"/>
              <a:ext cx="612668"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latin typeface="EYInterstate Light" pitchFamily="2" charset="0"/>
              </a:endParaRPr>
            </a:p>
          </p:txBody>
        </p:sp>
        <p:sp>
          <p:nvSpPr>
            <p:cNvPr id="13" name="TextBox 12"/>
            <p:cNvSpPr txBox="1"/>
            <p:nvPr/>
          </p:nvSpPr>
          <p:spPr bwMode="gray">
            <a:xfrm>
              <a:off x="307495" y="6550829"/>
              <a:ext cx="4541628"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latin typeface="EYInterstate Light" pitchFamily="2" charset="0"/>
              </a:endParaRPr>
            </a:p>
          </p:txBody>
        </p:sp>
        <p:sp>
          <p:nvSpPr>
            <p:cNvPr id="14" name="TextBox 13"/>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15" name="TextBox 14"/>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16" name="Freeform 94"/>
          <p:cNvSpPr>
            <a:spLocks/>
          </p:cNvSpPr>
          <p:nvPr/>
        </p:nvSpPr>
        <p:spPr bwMode="gray">
          <a:xfrm>
            <a:off x="0" y="0"/>
            <a:ext cx="6706365"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700" dirty="0">
              <a:solidFill>
                <a:srgbClr val="000000"/>
              </a:solidFill>
              <a:latin typeface="EYInterstate Light" pitchFamily="2" charset="0"/>
            </a:endParaRPr>
          </a:p>
        </p:txBody>
      </p:sp>
      <p:sp>
        <p:nvSpPr>
          <p:cNvPr id="17" name="Rectangle 183"/>
          <p:cNvSpPr txBox="1">
            <a:spLocks noChangeArrowheads="1"/>
          </p:cNvSpPr>
          <p:nvPr/>
        </p:nvSpPr>
        <p:spPr bwMode="gray">
          <a:xfrm>
            <a:off x="1" y="-34669"/>
            <a:ext cx="7086599" cy="553998"/>
          </a:xfrm>
          <a:prstGeom prst="rect">
            <a:avLst/>
          </a:prstGeom>
        </p:spPr>
        <p:txBody>
          <a:bodyPr wrap="square">
            <a:spAutoFit/>
          </a:bodyPr>
          <a:lstStyle/>
          <a:p>
            <a:pPr algn="l" defTabSz="955675" eaLnBrk="0" hangingPunct="0">
              <a:defRPr/>
            </a:pPr>
            <a:r>
              <a:rPr lang="en-US" sz="1600" b="1" kern="0" dirty="0" smtClean="0">
                <a:solidFill>
                  <a:srgbClr val="646464"/>
                </a:solidFill>
              </a:rPr>
              <a:t>Messaging </a:t>
            </a:r>
            <a:r>
              <a:rPr lang="en-US" sz="1600" b="1" kern="0" dirty="0">
                <a:solidFill>
                  <a:srgbClr val="646464"/>
                </a:solidFill>
              </a:rPr>
              <a:t>&amp; Collaboration </a:t>
            </a:r>
            <a:r>
              <a:rPr lang="en-US" sz="1600" b="1" kern="0" dirty="0" smtClean="0">
                <a:solidFill>
                  <a:srgbClr val="646464"/>
                </a:solidFill>
              </a:rPr>
              <a:t>– 08 Jun 12</a:t>
            </a:r>
            <a:endParaRPr lang="en-US" sz="1600" b="1" kern="0" dirty="0">
              <a:solidFill>
                <a:srgbClr val="646464"/>
              </a:solidFill>
            </a:endParaRPr>
          </a:p>
          <a:p>
            <a:pPr algn="l" defTabSz="955675" eaLnBrk="0" hangingPunct="0">
              <a:defRPr/>
            </a:pPr>
            <a:r>
              <a:rPr lang="en-US" sz="1400" kern="0" dirty="0" smtClean="0">
                <a:solidFill>
                  <a:srgbClr val="646464"/>
                </a:solidFill>
              </a:rPr>
              <a:t>Alan Guthrie/David Bingham</a:t>
            </a:r>
            <a:endParaRPr lang="en-US" sz="1400" kern="0" dirty="0">
              <a:solidFill>
                <a:srgbClr val="646464"/>
              </a:solidFill>
            </a:endParaRPr>
          </a:p>
        </p:txBody>
      </p:sp>
      <p:graphicFrame>
        <p:nvGraphicFramePr>
          <p:cNvPr id="18" name="Table 17"/>
          <p:cNvGraphicFramePr>
            <a:graphicFrameLocks noGrp="1"/>
          </p:cNvGraphicFramePr>
          <p:nvPr/>
        </p:nvGraphicFramePr>
        <p:xfrm>
          <a:off x="4724400" y="5572638"/>
          <a:ext cx="4343399" cy="904362"/>
        </p:xfrm>
        <a:graphic>
          <a:graphicData uri="http://schemas.openxmlformats.org/drawingml/2006/table">
            <a:tbl>
              <a:tblPr/>
              <a:tblGrid>
                <a:gridCol w="4343399"/>
              </a:tblGrid>
              <a:tr h="100163">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H.  GENERAL COMMENTS – must include reasoning for an overall Red or Amber Status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57559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none" strike="noStrike" cap="none" normalizeH="0" baseline="0" dirty="0" smtClean="0">
                          <a:ln>
                            <a:noFill/>
                          </a:ln>
                          <a:solidFill>
                            <a:schemeClr val="bg2"/>
                          </a:solidFill>
                          <a:effectLst/>
                          <a:latin typeface="EYInterstate Light" pitchFamily="2" charset="0"/>
                        </a:rPr>
                        <a:t>Overall </a:t>
                      </a:r>
                      <a:r>
                        <a:rPr kumimoji="0" lang="en-US" sz="650" b="0" i="0" u="none" strike="noStrike" cap="none" normalizeH="0" baseline="0" dirty="0">
                          <a:ln>
                            <a:noFill/>
                          </a:ln>
                          <a:solidFill>
                            <a:schemeClr val="bg2"/>
                          </a:solidFill>
                          <a:effectLst/>
                          <a:latin typeface="EYInterstate Light" pitchFamily="2" charset="0"/>
                        </a:rPr>
                        <a:t>Program status </a:t>
                      </a:r>
                      <a:r>
                        <a:rPr kumimoji="0" lang="en-US" sz="650" b="0" i="0" u="none" strike="noStrike" cap="none" normalizeH="0" baseline="0" dirty="0" smtClean="0">
                          <a:ln>
                            <a:noFill/>
                          </a:ln>
                          <a:solidFill>
                            <a:schemeClr val="bg2"/>
                          </a:solidFill>
                          <a:effectLst/>
                          <a:latin typeface="EYInterstate Light" pitchFamily="2" charset="0"/>
                        </a:rPr>
                        <a:t>is RED due to risks and issue with the Messaging in and A&amp;DM workstreams. Financials are the same as previous week due to WIPS cycle not in sync with earlier report deadline.</a:t>
                      </a:r>
                      <a:endParaRPr kumimoji="0" lang="en-US" sz="650" b="0" i="0" u="none" strike="noStrike" kern="1200" cap="none" normalizeH="0" baseline="0" dirty="0">
                        <a:ln>
                          <a:noFill/>
                        </a:ln>
                        <a:solidFill>
                          <a:schemeClr val="bg2"/>
                        </a:solidFill>
                        <a:effectLst/>
                        <a:latin typeface="EYInterstate Light" pitchFamily="2" charset="0"/>
                        <a:ea typeface="+mn-ea"/>
                        <a:cs typeface="+mn-cs"/>
                      </a:endParaRPr>
                    </a:p>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a:ln>
                            <a:noFill/>
                          </a:ln>
                          <a:solidFill>
                            <a:schemeClr val="bg2"/>
                          </a:solidFill>
                          <a:effectLst/>
                          <a:latin typeface="EYInterstate Light" pitchFamily="2" charset="0"/>
                          <a:ea typeface="+mn-ea"/>
                          <a:cs typeface="+mn-cs"/>
                        </a:rPr>
                        <a:t>FY12 Budget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                                                        $46,000,000</a:t>
                      </a:r>
                      <a:endParaRPr kumimoji="0" lang="en-US" sz="650" b="0" i="0" u="none" strike="noStrike" kern="1200" cap="none" normalizeH="0" baseline="0" noProof="0" dirty="0">
                        <a:ln>
                          <a:noFill/>
                        </a:ln>
                        <a:solidFill>
                          <a:schemeClr val="bg2"/>
                        </a:solidFill>
                        <a:effectLst/>
                        <a:latin typeface="EYInterstate Light" pitchFamily="2" charset="0"/>
                        <a:ea typeface="+mn-ea"/>
                        <a:cs typeface="+mn-cs"/>
                      </a:endParaRPr>
                    </a:p>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a:ln>
                            <a:noFill/>
                          </a:ln>
                          <a:solidFill>
                            <a:schemeClr val="bg2"/>
                          </a:solidFill>
                          <a:effectLst/>
                          <a:latin typeface="EYInterstate Light" pitchFamily="2" charset="0"/>
                          <a:ea typeface="+mn-ea"/>
                          <a:cs typeface="+mn-cs"/>
                        </a:rPr>
                        <a:t>Current Budget (Baseline + Approved CRs)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$ 33.7M</a:t>
                      </a:r>
                      <a:endParaRPr kumimoji="0" lang="en-US" sz="650" b="0" i="0" u="none" strike="noStrike" kern="1200" cap="none" normalizeH="0" baseline="0" noProof="0" dirty="0">
                        <a:ln>
                          <a:noFill/>
                        </a:ln>
                        <a:solidFill>
                          <a:schemeClr val="bg2"/>
                        </a:solidFill>
                        <a:effectLst/>
                        <a:latin typeface="EYInterstate Light" pitchFamily="2" charset="0"/>
                        <a:ea typeface="+mn-ea"/>
                        <a:cs typeface="+mn-cs"/>
                      </a:endParaRPr>
                    </a:p>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a:ln>
                            <a:noFill/>
                          </a:ln>
                          <a:solidFill>
                            <a:schemeClr val="bg2"/>
                          </a:solidFill>
                          <a:effectLst/>
                          <a:latin typeface="EYInterstate Light" pitchFamily="2" charset="0"/>
                          <a:ea typeface="+mn-ea"/>
                          <a:cs typeface="+mn-cs"/>
                        </a:rPr>
                        <a:t>Spend to Date		$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30.0M</a:t>
                      </a:r>
                      <a:endParaRPr kumimoji="0" lang="en-US" sz="650" b="0" i="0" u="sng" strike="noStrike" kern="1200" cap="none" normalizeH="0" baseline="0" noProof="0" dirty="0">
                        <a:ln>
                          <a:noFill/>
                        </a:ln>
                        <a:solidFill>
                          <a:schemeClr val="bg2"/>
                        </a:solidFill>
                        <a:effectLst/>
                        <a:latin typeface="EYInterstate Light" pitchFamily="2" charset="0"/>
                        <a:ea typeface="+mn-ea"/>
                        <a:cs typeface="+mn-cs"/>
                      </a:endParaRPr>
                    </a:p>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a:ln>
                            <a:noFill/>
                          </a:ln>
                          <a:solidFill>
                            <a:schemeClr val="bg2"/>
                          </a:solidFill>
                          <a:effectLst/>
                          <a:latin typeface="EYInterstate Light" pitchFamily="2" charset="0"/>
                          <a:ea typeface="+mn-ea"/>
                          <a:cs typeface="+mn-cs"/>
                        </a:rPr>
                        <a:t>ETC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$ 5.3M</a:t>
                      </a:r>
                      <a:endParaRPr kumimoji="0" lang="en-US" sz="650" b="0" i="0" u="none" strike="noStrike" kern="1200" cap="none" normalizeH="0" baseline="0" noProof="0" dirty="0">
                        <a:ln>
                          <a:noFill/>
                        </a:ln>
                        <a:solidFill>
                          <a:schemeClr val="bg2"/>
                        </a:solidFill>
                        <a:effectLst/>
                        <a:latin typeface="EYInterstate Light" pitchFamily="2" charset="0"/>
                        <a:ea typeface="+mn-ea"/>
                        <a:cs typeface="+mn-cs"/>
                      </a:endParaRPr>
                    </a:p>
                    <a:p>
                      <a:pPr marL="0" marR="0" lvl="0" indent="90488" algn="l" defTabSz="947738" rtl="0" eaLnBrk="0" fontAlgn="base" latinLnBrk="0" hangingPunct="0">
                        <a:lnSpc>
                          <a:spcPct val="100000"/>
                        </a:lnSpc>
                        <a:spcBef>
                          <a:spcPct val="0"/>
                        </a:spcBef>
                        <a:spcAft>
                          <a:spcPct val="10000"/>
                        </a:spcAft>
                        <a:buClrTx/>
                        <a:buSzTx/>
                        <a:buFontTx/>
                        <a:buNone/>
                        <a:tabLst/>
                      </a:pPr>
                      <a:r>
                        <a:rPr kumimoji="0" lang="en-US" sz="650" b="0" i="0" u="none" strike="noStrike" cap="none" normalizeH="0" baseline="0" dirty="0">
                          <a:ln>
                            <a:noFill/>
                          </a:ln>
                          <a:solidFill>
                            <a:schemeClr val="bg2"/>
                          </a:solidFill>
                          <a:effectLst/>
                          <a:latin typeface="EYInterstate Light" pitchFamily="2" charset="0"/>
                        </a:rPr>
                        <a:t>Variances		</a:t>
                      </a:r>
                      <a:r>
                        <a:rPr kumimoji="0" lang="en-US" sz="650" b="0" i="0" u="none" strike="noStrike" cap="none" normalizeH="0" baseline="0" dirty="0" smtClean="0">
                          <a:ln>
                            <a:noFill/>
                          </a:ln>
                          <a:solidFill>
                            <a:schemeClr val="bg2"/>
                          </a:solidFill>
                          <a:effectLst/>
                          <a:latin typeface="EYInterstate Light" pitchFamily="2" charset="0"/>
                        </a:rPr>
                        <a:t>$ 1.6M</a:t>
                      </a:r>
                      <a:endParaRPr kumimoji="0" lang="en-US" sz="650" b="0"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9" name="Group 272"/>
          <p:cNvGraphicFramePr>
            <a:graphicFrameLocks noGrp="1"/>
          </p:cNvGraphicFramePr>
          <p:nvPr/>
        </p:nvGraphicFramePr>
        <p:xfrm>
          <a:off x="76200" y="533400"/>
          <a:ext cx="4528122" cy="3294624"/>
        </p:xfrm>
        <a:graphic>
          <a:graphicData uri="http://schemas.openxmlformats.org/drawingml/2006/table">
            <a:tbl>
              <a:tblPr/>
              <a:tblGrid>
                <a:gridCol w="4528122"/>
              </a:tblGrid>
              <a:tr h="117811">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j-lt"/>
                        </a:rPr>
                        <a:t>A.  </a:t>
                      </a:r>
                      <a:r>
                        <a:rPr kumimoji="0" lang="en-GB" sz="700" b="1" i="0" u="none" strike="noStrike" cap="none" normalizeH="0" baseline="0" dirty="0" smtClean="0">
                          <a:ln>
                            <a:noFill/>
                          </a:ln>
                          <a:solidFill>
                            <a:schemeClr val="tx1"/>
                          </a:solidFill>
                          <a:effectLst/>
                          <a:latin typeface="+mj-lt"/>
                        </a:rPr>
                        <a:t>EXECUTIVE SUMMARY – a summary of the progress for this period (not of the initiative)</a:t>
                      </a:r>
                      <a:endParaRPr kumimoji="0" lang="en-US" sz="700" b="1" i="0" u="none" strike="noStrike" cap="none" normalizeH="0" baseline="0" dirty="0">
                        <a:ln>
                          <a:noFill/>
                        </a:ln>
                        <a:solidFill>
                          <a:schemeClr val="tx1"/>
                        </a:solidFill>
                        <a:effectLst/>
                        <a:latin typeface="+mj-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460583">
                <a:tc>
                  <a:txBody>
                    <a:bodyPr/>
                    <a:lstStyle/>
                    <a:p>
                      <a:pPr marL="88900" marR="0" lvl="0" indent="-8890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650" b="0" i="0" u="sng" strike="noStrike" kern="1200" cap="none" normalizeH="0" baseline="0" noProof="0" dirty="0" smtClean="0">
                          <a:ln>
                            <a:noFill/>
                          </a:ln>
                          <a:solidFill>
                            <a:schemeClr val="bg2"/>
                          </a:solidFill>
                          <a:effectLst/>
                          <a:latin typeface="EYInterstate Light" pitchFamily="2" charset="0"/>
                          <a:ea typeface="+mn-ea"/>
                          <a:cs typeface="+mn-cs"/>
                        </a:rPr>
                        <a:t>Application &amp; Data Migration:</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 </a:t>
                      </a: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All in-flight and planned efforts to replatform applications has been deferred to FY14.  As a result the </a:t>
                      </a:r>
                      <a:r>
                        <a:rPr kumimoji="0" lang="en-GB" sz="650" b="0" i="0" u="none" strike="noStrike" kern="1200" cap="none" normalizeH="0" baseline="0" noProof="0" dirty="0" smtClean="0">
                          <a:ln>
                            <a:noFill/>
                          </a:ln>
                          <a:solidFill>
                            <a:schemeClr val="bg2"/>
                          </a:solidFill>
                          <a:effectLst/>
                          <a:latin typeface="EYInterstate Light" pitchFamily="2" charset="0"/>
                          <a:ea typeface="+mn-ea"/>
                          <a:cs typeface="+mn-cs"/>
                        </a:rPr>
                        <a:t>A&amp;DM Phase 1 project team (who were already replatforming the first few applications) are in the process of </a:t>
                      </a:r>
                      <a:r>
                        <a:rPr kumimoji="0" lang="en-GB" sz="650" b="0" i="0" u="none" strike="noStrike" kern="1200" cap="none" normalizeH="0" baseline="0" noProof="0" dirty="0" smtClean="0">
                          <a:ln>
                            <a:noFill/>
                          </a:ln>
                          <a:solidFill>
                            <a:schemeClr val="tx1"/>
                          </a:solidFill>
                          <a:effectLst/>
                          <a:latin typeface="EYInterstate Light" pitchFamily="2" charset="0"/>
                          <a:ea typeface="+mn-ea"/>
                          <a:cs typeface="+mn-cs"/>
                        </a:rPr>
                        <a:t>completing</a:t>
                      </a:r>
                      <a:r>
                        <a:rPr kumimoji="0" lang="en-GB" sz="650" b="0" i="0" u="none" strike="noStrike" kern="1200" cap="none" normalizeH="0" baseline="0" noProof="0" dirty="0" smtClean="0">
                          <a:ln>
                            <a:noFill/>
                          </a:ln>
                          <a:solidFill>
                            <a:schemeClr val="bg2"/>
                          </a:solidFill>
                          <a:effectLst/>
                          <a:latin typeface="EYInterstate Light" pitchFamily="2" charset="0"/>
                          <a:ea typeface="+mn-ea"/>
                          <a:cs typeface="+mn-cs"/>
                        </a:rPr>
                        <a:t> their 'in-flight' deliverables before moving onto new opportunities during Jun 12.</a:t>
                      </a:r>
                      <a:endPar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noProof="0" dirty="0" smtClean="0">
                          <a:ln>
                            <a:noFill/>
                          </a:ln>
                          <a:solidFill>
                            <a:schemeClr val="bg2"/>
                          </a:solidFill>
                          <a:effectLst/>
                          <a:latin typeface="EYInterstate Light" pitchFamily="2" charset="0"/>
                          <a:ea typeface="+mn-ea"/>
                          <a:cs typeface="+mn-cs"/>
                        </a:rPr>
                        <a:t>Outlook/Exchange:</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 Checkpoint 1 completed for planning of O365. Costs for O365 still under investigation; costs need to be understood before a CR can be raised. Presently, costs are expected to exceed $6m. Additional </a:t>
                      </a: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information</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 is pending from Information Security and the GNP program. CR for decision on storage design change (SAN to DAS) to be reviewed by DA 08/06, then raised to CCB.</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solidFill>
                          <a:effectLst/>
                          <a:latin typeface="EYInterstate Light" pitchFamily="2" charset="0"/>
                          <a:ea typeface="+mn-ea"/>
                          <a:cs typeface="+mn-cs"/>
                        </a:rPr>
                        <a:t>Lync:</a:t>
                      </a: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 </a:t>
                      </a:r>
                      <a:r>
                        <a:rPr kumimoji="0" lang="en-GB" sz="650" b="0" i="0" u="none" strike="noStrike" kern="1200" cap="none" normalizeH="0" baseline="0" noProof="0" dirty="0" smtClean="0">
                          <a:ln>
                            <a:noFill/>
                          </a:ln>
                          <a:solidFill>
                            <a:schemeClr val="bg2"/>
                          </a:solidFill>
                          <a:effectLst/>
                          <a:latin typeface="EYInterstate Light" pitchFamily="2" charset="0"/>
                          <a:ea typeface="+mn-ea"/>
                          <a:cs typeface="+mn-cs"/>
                        </a:rPr>
                        <a:t>Workshops held so far have been successful, with information flowing in both directions between E&amp;Y and AT&amp;T. Further responses on the </a:t>
                      </a:r>
                      <a:r>
                        <a:rPr kumimoji="0" lang="en-GB" sz="650" b="0" i="0" u="none" strike="noStrike" kern="1200" cap="none" normalizeH="0" baseline="0" noProof="0" dirty="0" smtClean="0">
                          <a:ln>
                            <a:noFill/>
                          </a:ln>
                          <a:solidFill>
                            <a:schemeClr val="tx1">
                              <a:lumMod val="50000"/>
                            </a:schemeClr>
                          </a:solidFill>
                          <a:effectLst/>
                          <a:latin typeface="EYInterstate Light" pitchFamily="2" charset="0"/>
                          <a:ea typeface="+mn-ea"/>
                          <a:cs typeface="+mn-cs"/>
                        </a:rPr>
                        <a:t>AT&amp;T questionnaire </a:t>
                      </a:r>
                      <a:r>
                        <a:rPr kumimoji="0" lang="en-GB" sz="650" b="0" i="0" u="none" strike="noStrike" kern="1200" cap="none" normalizeH="0" baseline="0" noProof="0" dirty="0" smtClean="0">
                          <a:ln>
                            <a:noFill/>
                          </a:ln>
                          <a:solidFill>
                            <a:schemeClr val="bg2"/>
                          </a:solidFill>
                          <a:effectLst/>
                          <a:latin typeface="EYInterstate Light" pitchFamily="2" charset="0"/>
                          <a:ea typeface="+mn-ea"/>
                          <a:cs typeface="+mn-cs"/>
                        </a:rPr>
                        <a:t>have been received and passed on.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solidFill>
                          <a:effectLst/>
                          <a:latin typeface="EYInterstate Light" pitchFamily="2" charset="0"/>
                        </a:rPr>
                        <a:t>Collaboration:</a:t>
                      </a:r>
                      <a:r>
                        <a:rPr kumimoji="0" lang="en-US" sz="650" b="0" i="0" u="none" strike="noStrike" cap="none" normalizeH="0" baseline="0" dirty="0" smtClean="0">
                          <a:ln>
                            <a:noFill/>
                          </a:ln>
                          <a:solidFill>
                            <a:schemeClr val="bg2"/>
                          </a:solidFill>
                          <a:effectLst/>
                          <a:latin typeface="EYInterstate Light" pitchFamily="2" charset="0"/>
                        </a:rPr>
                        <a:t> </a:t>
                      </a:r>
                      <a:r>
                        <a:rPr kumimoji="0" lang="en-GB" sz="650" b="0" i="0" u="none" strike="noStrike" kern="1200" cap="none" normalizeH="0" baseline="0" noProof="0" dirty="0" smtClean="0">
                          <a:ln>
                            <a:noFill/>
                          </a:ln>
                          <a:solidFill>
                            <a:schemeClr val="bg2"/>
                          </a:solidFill>
                          <a:effectLst/>
                          <a:latin typeface="EYInterstate Light" pitchFamily="2" charset="0"/>
                          <a:ea typeface="+mn-ea"/>
                          <a:cs typeface="+mn-cs"/>
                        </a:rPr>
                        <a:t>SP15 plans and approach are in final phase of review and approval with the business and BPOs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solidFill>
                          <a:effectLst/>
                          <a:latin typeface="EYInterstate Light" pitchFamily="2" charset="0"/>
                          <a:ea typeface="+mn-ea"/>
                          <a:cs typeface="+mn-cs"/>
                        </a:rPr>
                        <a:t>Change Management:</a:t>
                      </a: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Comms: Developing M&amp;C CHS for preview at deep dive session on 12 Jun 12. Full launch proposed for 1 August.  </a:t>
                      </a:r>
                      <a:r>
                        <a:rPr kumimoji="0" lang="en-GB" sz="650" b="0" i="0" u="none" strike="noStrike" kern="1200" cap="none" normalizeH="0" baseline="0" noProof="0" dirty="0" smtClean="0">
                          <a:ln>
                            <a:noFill/>
                          </a:ln>
                          <a:solidFill>
                            <a:schemeClr val="bg2"/>
                          </a:solidFill>
                          <a:effectLst/>
                          <a:latin typeface="EYInterstate Light" pitchFamily="2" charset="0"/>
                          <a:ea typeface="+mn-ea"/>
                          <a:cs typeface="+mn-cs"/>
                        </a:rPr>
                        <a:t>Change/deployment: Outlook and Lync Strategy finalised and sent to the program. Budget and plan finalised – awaiting for approval.</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solidFill>
                          <a:effectLst/>
                          <a:latin typeface="EYInterstate Light" pitchFamily="2" charset="0"/>
                          <a:ea typeface="+mn-ea"/>
                          <a:cs typeface="+mn-cs"/>
                        </a:rPr>
                        <a:t>IT Transition Management:</a:t>
                      </a: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Some progress is being made with Service Design but, overall, it is slow progress. We expect this to ramp up once discussions with AT&amp;T and Microland have been completed.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17811">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B.  KEY ACCOMPLISHMENTS THIS PERIOD</a:t>
                      </a:r>
                      <a:endParaRPr kumimoji="0" lang="en-CA"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19939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noProof="0" dirty="0" smtClean="0">
                          <a:ln>
                            <a:noFill/>
                          </a:ln>
                          <a:solidFill>
                            <a:schemeClr val="bg2"/>
                          </a:solidFill>
                          <a:effectLst/>
                          <a:latin typeface="EYInterstate Light" pitchFamily="2" charset="0"/>
                          <a:ea typeface="+mn-ea"/>
                          <a:cs typeface="+mn-cs"/>
                        </a:rPr>
                        <a:t>Application &amp; Data Migration:</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 </a:t>
                      </a:r>
                      <a:r>
                        <a:rPr kumimoji="0" lang="en-GB" sz="650" b="0" i="0" u="none" strike="noStrike" kern="1200" cap="none" normalizeH="0" baseline="0" noProof="0" dirty="0" smtClean="0">
                          <a:ln>
                            <a:noFill/>
                          </a:ln>
                          <a:solidFill>
                            <a:schemeClr val="bg2"/>
                          </a:solidFill>
                          <a:effectLst/>
                          <a:latin typeface="EYInterstate Light" pitchFamily="2" charset="0"/>
                          <a:ea typeface="+mn-ea"/>
                          <a:cs typeface="+mn-cs"/>
                        </a:rPr>
                        <a:t>Phase 1 - Based on the decision to defer the application replatforming efforts to FY14 the Phase 1 team have agreed with their stakeholder group the deliverables for each application which will be passed across to the respective IT SD teams by Friday 15 Jun 12.</a:t>
                      </a:r>
                      <a:endPar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noProof="0" dirty="0" smtClean="0">
                          <a:ln>
                            <a:noFill/>
                          </a:ln>
                          <a:solidFill>
                            <a:schemeClr val="bg2"/>
                          </a:solidFill>
                          <a:effectLst/>
                          <a:latin typeface="EYInterstate Light" pitchFamily="2" charset="0"/>
                          <a:ea typeface="+mn-ea"/>
                          <a:cs typeface="+mn-cs"/>
                        </a:rPr>
                        <a:t>Outlook/Exchange:</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 Infrastructure O365: </a:t>
                      </a:r>
                      <a:r>
                        <a:rPr kumimoji="0" lang="en-GB" sz="650" b="0" i="0" u="none" strike="noStrike" kern="1200" cap="none" normalizeH="0" baseline="0" noProof="0" dirty="0" smtClean="0">
                          <a:ln>
                            <a:noFill/>
                          </a:ln>
                          <a:solidFill>
                            <a:schemeClr val="bg2"/>
                          </a:solidFill>
                          <a:effectLst/>
                          <a:latin typeface="EYInterstate Light" pitchFamily="2" charset="0"/>
                          <a:ea typeface="+mn-ea"/>
                          <a:cs typeface="+mn-cs"/>
                        </a:rPr>
                        <a:t>VPN connectivity issues resolved allowing validation </a:t>
                      </a:r>
                      <a:r>
                        <a:rPr kumimoji="0" lang="en-GB" sz="650" b="0" i="0" u="none" strike="noStrike" kern="1200" cap="none" normalizeH="0" baseline="0" noProof="0" dirty="0" smtClean="0">
                          <a:ln>
                            <a:noFill/>
                          </a:ln>
                          <a:solidFill>
                            <a:schemeClr val="tx1">
                              <a:lumMod val="50000"/>
                            </a:schemeClr>
                          </a:solidFill>
                          <a:effectLst/>
                          <a:latin typeface="EYInterstate Light" pitchFamily="2" charset="0"/>
                          <a:ea typeface="+mn-ea"/>
                          <a:cs typeface="+mn-cs"/>
                        </a:rPr>
                        <a:t>of Forrest trust </a:t>
                      </a:r>
                      <a:r>
                        <a:rPr kumimoji="0" lang="en-GB" sz="650" b="0" i="0" u="none" strike="noStrike" kern="1200" cap="none" normalizeH="0" baseline="0" noProof="0" dirty="0" smtClean="0">
                          <a:ln>
                            <a:noFill/>
                          </a:ln>
                          <a:solidFill>
                            <a:schemeClr val="bg2"/>
                          </a:solidFill>
                          <a:effectLst/>
                          <a:latin typeface="EYInterstate Light" pitchFamily="2" charset="0"/>
                          <a:ea typeface="+mn-ea"/>
                          <a:cs typeface="+mn-cs"/>
                        </a:rPr>
                        <a:t>setup. </a:t>
                      </a:r>
                      <a:endPar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solidFill>
                          <a:effectLst/>
                          <a:latin typeface="EYInterstate Light" pitchFamily="2" charset="0"/>
                        </a:rPr>
                        <a:t>Lync:</a:t>
                      </a:r>
                      <a:r>
                        <a:rPr kumimoji="0" lang="en-US" sz="650" b="0" i="0" u="none" strike="noStrike" cap="none" normalizeH="0" baseline="0" dirty="0" smtClean="0">
                          <a:ln>
                            <a:noFill/>
                          </a:ln>
                          <a:solidFill>
                            <a:schemeClr val="bg2"/>
                          </a:solidFill>
                          <a:effectLst/>
                          <a:latin typeface="EYInterstate Light" pitchFamily="2" charset="0"/>
                        </a:rPr>
                        <a:t> </a:t>
                      </a:r>
                      <a:r>
                        <a:rPr kumimoji="0" lang="en-GB" sz="650" b="0" i="0" u="none" strike="noStrike" kern="1200" cap="none" normalizeH="0" baseline="0" noProof="0" dirty="0" smtClean="0">
                          <a:ln>
                            <a:noFill/>
                          </a:ln>
                          <a:solidFill>
                            <a:schemeClr val="bg2"/>
                          </a:solidFill>
                          <a:effectLst/>
                          <a:latin typeface="EYInterstate Light" pitchFamily="2" charset="0"/>
                          <a:ea typeface="+mn-ea"/>
                          <a:cs typeface="+mn-cs"/>
                        </a:rPr>
                        <a:t>Core Design and Data Centre workshops with AT&amp;T have been held – 6/7 Jun 12. QA environment build is progressing, core Lync components installed by 15 Jun 2012. Lync headset commercial contract is close to being signed with the vendors- final review is being conducted with the legal team – 07 Jun 12</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sng" strike="noStrike" kern="1200" cap="none" normalizeH="0" baseline="0" dirty="0" smtClean="0">
                          <a:ln>
                            <a:noFill/>
                          </a:ln>
                          <a:solidFill>
                            <a:schemeClr val="bg2"/>
                          </a:solidFill>
                          <a:effectLst/>
                          <a:latin typeface="EYInterstate Light" pitchFamily="2" charset="0"/>
                          <a:ea typeface="+mn-ea"/>
                          <a:cs typeface="+mn-cs"/>
                        </a:rPr>
                        <a:t>Collaboration</a:t>
                      </a: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Agreement on SP15 for Release 1. Re-aligning project plans, approach, resource models and teams to execute against revised plans.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solidFill>
                          <a:effectLst/>
                          <a:latin typeface="EYInterstate Light" pitchFamily="2" charset="0"/>
                          <a:ea typeface="+mn-ea"/>
                          <a:cs typeface="+mn-cs"/>
                        </a:rPr>
                        <a:t>Change Management:</a:t>
                      </a:r>
                      <a:r>
                        <a:rPr kumimoji="0" lang="en-US" sz="650" b="0" i="0" u="none" strike="noStrike" kern="1200" cap="none" normalizeH="0" baseline="0" dirty="0" smtClean="0">
                          <a:ln>
                            <a:noFill/>
                          </a:ln>
                          <a:solidFill>
                            <a:schemeClr val="bg2"/>
                          </a:solidFill>
                          <a:effectLst/>
                          <a:latin typeface="EYInterstate Light" pitchFamily="2" charset="0"/>
                          <a:ea typeface="+mn-ea"/>
                          <a:cs typeface="+mn-cs"/>
                        </a:rPr>
                        <a:t>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CommsFirst draft of one-pager update back from GSS for comments – 15 Jun 12 (distribution 19 Jun 12) Benefits: M&amp;C Business Case refreshed based upon updated resource estimates ahead of meeting with Mo Osborne and Global IT Services PMO - 08 Jun 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noProof="0" dirty="0" smtClean="0">
                          <a:ln>
                            <a:noFill/>
                          </a:ln>
                          <a:solidFill>
                            <a:schemeClr val="bg2"/>
                          </a:solidFill>
                          <a:effectLst/>
                          <a:latin typeface="EYInterstate Light" pitchFamily="2" charset="0"/>
                          <a:ea typeface="+mn-ea"/>
                          <a:cs typeface="+mn-cs"/>
                        </a:rPr>
                        <a:t>I</a:t>
                      </a:r>
                      <a:r>
                        <a:rPr kumimoji="0" lang="en-GB" sz="650" b="0" i="0" u="sng" strike="noStrike" kern="1200" cap="none" normalizeH="0" baseline="0" dirty="0" smtClean="0">
                          <a:ln>
                            <a:noFill/>
                          </a:ln>
                          <a:solidFill>
                            <a:schemeClr val="bg2"/>
                          </a:solidFill>
                          <a:effectLst/>
                          <a:latin typeface="EYInterstate Light" pitchFamily="2" charset="0"/>
                          <a:ea typeface="+mn-ea"/>
                          <a:cs typeface="+mn-cs"/>
                        </a:rPr>
                        <a:t>T Transition Management:</a:t>
                      </a:r>
                      <a:r>
                        <a:rPr kumimoji="0" lang="en-GB" sz="650" b="0" i="0" u="none" strike="noStrike" kern="1200" cap="none" normalizeH="0" baseline="0" dirty="0" smtClean="0">
                          <a:ln>
                            <a:noFill/>
                          </a:ln>
                          <a:solidFill>
                            <a:schemeClr val="bg2"/>
                          </a:solidFill>
                          <a:effectLst/>
                          <a:latin typeface="EYInterstate Light" pitchFamily="2" charset="0"/>
                          <a:ea typeface="+mn-ea"/>
                          <a:cs typeface="+mn-cs"/>
                        </a:rPr>
                        <a:t> </a:t>
                      </a: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Successful meeting with CLT to discuss I/O governance and representation on the M&amp;C program – action with NC / BP to propose the governance model.</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20" name="Table 19"/>
          <p:cNvGraphicFramePr>
            <a:graphicFrameLocks noGrp="1"/>
          </p:cNvGraphicFramePr>
          <p:nvPr/>
        </p:nvGraphicFramePr>
        <p:xfrm>
          <a:off x="4724401" y="609600"/>
          <a:ext cx="4343399" cy="1568333"/>
        </p:xfrm>
        <a:graphic>
          <a:graphicData uri="http://schemas.openxmlformats.org/drawingml/2006/table">
            <a:tbl>
              <a:tblPr/>
              <a:tblGrid>
                <a:gridCol w="1293671"/>
                <a:gridCol w="631492"/>
                <a:gridCol w="757251"/>
                <a:gridCol w="518025"/>
                <a:gridCol w="609560"/>
                <a:gridCol w="533400"/>
              </a:tblGrid>
              <a:tr h="144450">
                <a:tc gridSpan="6">
                  <a:txBody>
                    <a:bodyPr/>
                    <a:lstStyle/>
                    <a:p>
                      <a:pPr marL="228600" marR="0" lvl="0" indent="-22860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E.  MILESTONES</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R w="6350" cap="flat" cmpd="sng" algn="ctr">
                      <a:solidFill>
                        <a:schemeClr val="accent2"/>
                      </a:solidFill>
                      <a:prstDash val="solid"/>
                      <a:round/>
                      <a:headEnd type="none" w="med" len="med"/>
                      <a:tailEnd type="none" w="med" len="med"/>
                    </a:lnR>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222267">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Individual Milestone Name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Planned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Projected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Conf</a:t>
                      </a: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99659">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Lync - Sign Interim SOW</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02 Apr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15 Jun 12 – RED due to missed baseline date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Estimated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08195">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AD&amp;M - Identify 1st batch of decomm candidates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24  May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18 Jun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Committed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AMBER</a:t>
                      </a:r>
                      <a:endParaRPr kumimoji="0" lang="en-US" sz="650" b="0" i="0" u="none" strike="noStrike" kern="1200" cap="none" normalizeH="0" baseline="0" noProof="0" dirty="0">
                        <a:ln>
                          <a:noFill/>
                        </a:ln>
                        <a:solidFill>
                          <a:schemeClr val="tx1"/>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RED</a:t>
                      </a:r>
                      <a:endParaRPr kumimoji="0" lang="en-US" sz="650" b="0" i="0" u="none" strike="noStrike" kern="1200" cap="none" normalizeH="0" baseline="0" noProof="0" dirty="0">
                        <a:ln>
                          <a:noFill/>
                        </a:ln>
                        <a:solidFill>
                          <a:schemeClr val="tx1"/>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82153">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Lync - Scope Lock</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28 May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10 Jul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Target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08195">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O/E - Exchange requirements complete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29 Jun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29 Aug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bg2"/>
                          </a:solidFill>
                          <a:effectLst/>
                          <a:latin typeface="EYInterstate Light" pitchFamily="2" charset="0"/>
                          <a:ea typeface="+mn-ea"/>
                          <a:cs typeface="+mn-cs"/>
                        </a:rPr>
                        <a:t>Target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08195">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Business Change - Sign-off final change approach and structure </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25 May 12</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03 Jul 12</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Estimated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GREEN</a:t>
                      </a:r>
                      <a:endParaRPr kumimoji="0" lang="en-US" sz="650" b="0" i="0" u="none" strike="noStrike" kern="1200" cap="none" normalizeH="0" baseline="0" noProof="0" dirty="0">
                        <a:ln>
                          <a:noFill/>
                        </a:ln>
                        <a:solidFill>
                          <a:schemeClr val="tx1"/>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smtClean="0">
                          <a:ln>
                            <a:noFill/>
                          </a:ln>
                          <a:solidFill>
                            <a:schemeClr val="tx1"/>
                          </a:solidFill>
                          <a:effectLst/>
                          <a:latin typeface="EYInterstate Light" pitchFamily="2" charset="0"/>
                          <a:ea typeface="+mn-ea"/>
                          <a:cs typeface="+mn-cs"/>
                        </a:rPr>
                        <a:t>AMBER</a:t>
                      </a:r>
                      <a:endParaRPr kumimoji="0" lang="en-US" sz="650" b="0" i="0" u="none" strike="noStrike" kern="1200" cap="none" normalizeH="0" baseline="0" noProof="0" dirty="0">
                        <a:ln>
                          <a:noFill/>
                        </a:ln>
                        <a:solidFill>
                          <a:schemeClr val="tx1"/>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p:cNvGraphicFramePr>
            <a:graphicFrameLocks noGrp="1"/>
          </p:cNvGraphicFramePr>
          <p:nvPr/>
        </p:nvGraphicFramePr>
        <p:xfrm>
          <a:off x="4752531" y="609601"/>
          <a:ext cx="4391470" cy="1437303"/>
        </p:xfrm>
        <a:graphic>
          <a:graphicData uri="http://schemas.openxmlformats.org/drawingml/2006/table">
            <a:tbl>
              <a:tblPr/>
              <a:tblGrid>
                <a:gridCol w="1343469"/>
                <a:gridCol w="685800"/>
                <a:gridCol w="682831"/>
                <a:gridCol w="612569"/>
                <a:gridCol w="533400"/>
                <a:gridCol w="533401"/>
              </a:tblGrid>
              <a:tr h="111008">
                <a:tc gridSpan="6">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EYInterstate" pitchFamily="2" charset="0"/>
                          <a:ea typeface="+mn-ea"/>
                          <a:cs typeface="+mn-cs"/>
                        </a:rPr>
                        <a:t>E.  </a:t>
                      </a:r>
                      <a:r>
                        <a:rPr kumimoji="0" lang="en-US" sz="700" b="1" i="0" u="none" strike="noStrike" kern="1200" cap="none" normalizeH="0" baseline="0" dirty="0" smtClean="0">
                          <a:ln>
                            <a:noFill/>
                          </a:ln>
                          <a:solidFill>
                            <a:schemeClr val="tx1"/>
                          </a:solidFill>
                          <a:effectLst/>
                          <a:latin typeface="EYInterstate" pitchFamily="2" charset="0"/>
                          <a:ea typeface="+mn-ea"/>
                          <a:cs typeface="+mn-cs"/>
                        </a:rPr>
                        <a:t>MILESTONES </a:t>
                      </a:r>
                      <a:endParaRPr kumimoji="0" lang="en-US" sz="700" b="1"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7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GB"/>
                    </a:p>
                  </a:txBody>
                  <a:tcPr/>
                </a:tc>
              </a:tr>
              <a:tr h="199353">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Individual Milestone Name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Planned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bg2"/>
                          </a:solidFill>
                          <a:effectLst/>
                          <a:latin typeface="EYInterstate Light" pitchFamily="2" charset="0"/>
                          <a:ea typeface="+mn-ea"/>
                          <a:cs typeface="+mn-cs"/>
                        </a:rPr>
                        <a:t>Projected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bg2"/>
                          </a:solidFill>
                          <a:effectLst/>
                          <a:latin typeface="EYInterstate Light" pitchFamily="2" charset="0"/>
                          <a:ea typeface="+mn-ea"/>
                          <a:cs typeface="+mn-cs"/>
                        </a:rPr>
                        <a:t>Confidence</a:t>
                      </a:r>
                      <a:endParaRPr kumimoji="0" lang="en-US" sz="700" b="1"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11008">
                <a:tc gridSpan="6">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OUTLOOK EXCHANGE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hMerge="1">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9935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Exchange requirements complete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29 Jun12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800" b="0" i="0" u="none" strike="noStrike" kern="1200" cap="none" normalizeH="0" baseline="0" noProof="0" dirty="0" smtClean="0">
                          <a:ln>
                            <a:noFill/>
                          </a:ln>
                          <a:solidFill>
                            <a:schemeClr val="bg2"/>
                          </a:solidFill>
                          <a:effectLst/>
                          <a:latin typeface="EYInterstate Light" pitchFamily="2" charset="0"/>
                          <a:ea typeface="+mn-ea"/>
                          <a:cs typeface="+mn-cs"/>
                        </a:rPr>
                        <a:t>29 Aug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ESTIMATED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accent4"/>
                          </a:solidFill>
                          <a:effectLst/>
                          <a:latin typeface="EYInterstate Light" pitchFamily="2" charset="0"/>
                          <a:ea typeface="+mn-ea"/>
                          <a:cs typeface="+mn-cs"/>
                        </a:rPr>
                        <a:t>RED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accent4"/>
                          </a:solidFill>
                          <a:effectLst/>
                          <a:latin typeface="EYInterstate Light" pitchFamily="2" charset="0"/>
                          <a:ea typeface="+mn-ea"/>
                          <a:cs typeface="+mn-cs"/>
                        </a:rPr>
                        <a:t>RED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6827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accent4"/>
                          </a:solidFill>
                          <a:effectLst/>
                          <a:latin typeface="EYInterstate Light" pitchFamily="2" charset="0"/>
                          <a:ea typeface="+mn-ea"/>
                          <a:cs typeface="+mn-cs"/>
                        </a:rPr>
                        <a:t>O365 Service Ready</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accent4"/>
                          </a:solidFill>
                          <a:effectLst/>
                          <a:latin typeface="EYInterstate Light" pitchFamily="2" charset="0"/>
                          <a:ea typeface="+mn-ea"/>
                          <a:cs typeface="+mn-cs"/>
                        </a:rPr>
                        <a:t>13-NOV-12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accent4"/>
                          </a:solidFill>
                          <a:effectLst/>
                          <a:latin typeface="EYInterstate Light" pitchFamily="2" charset="0"/>
                          <a:ea typeface="+mn-ea"/>
                          <a:cs typeface="+mn-cs"/>
                        </a:rPr>
                        <a:t>13-NOV-12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accent4"/>
                          </a:solidFill>
                          <a:effectLst/>
                          <a:latin typeface="EYInterstate Light" pitchFamily="2" charset="0"/>
                          <a:ea typeface="+mn-ea"/>
                          <a:cs typeface="+mn-cs"/>
                        </a:rPr>
                        <a:t>TARGET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accent4"/>
                          </a:solidFill>
                          <a:effectLst/>
                          <a:latin typeface="EYInterstate Light" pitchFamily="2" charset="0"/>
                          <a:ea typeface="+mn-ea"/>
                          <a:cs typeface="+mn-cs"/>
                        </a:rPr>
                        <a:t>AMBER</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accent4"/>
                          </a:solidFill>
                          <a:effectLst/>
                          <a:latin typeface="EYInterstate Light" pitchFamily="2" charset="0"/>
                          <a:ea typeface="+mn-ea"/>
                          <a:cs typeface="+mn-cs"/>
                        </a:rPr>
                        <a:t>AMBER</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111008">
                <a:tc gridSpan="6">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accent4"/>
                          </a:solidFill>
                          <a:effectLst/>
                          <a:latin typeface="EYInterstate Light" pitchFamily="2" charset="0"/>
                          <a:ea typeface="+mn-ea"/>
                          <a:cs typeface="+mn-cs"/>
                        </a:rPr>
                        <a:t>LYNC</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smtClean="0">
                        <a:ln>
                          <a:noFill/>
                        </a:ln>
                        <a:solidFill>
                          <a:schemeClr val="tx1"/>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smtClean="0">
                        <a:ln>
                          <a:noFill/>
                        </a:ln>
                        <a:solidFill>
                          <a:schemeClr val="tx1"/>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hMerge="1">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11008">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Sign Interim SOW</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02 Apr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15 Jun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ESTIMATED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noProof="0" dirty="0" smtClean="0">
                          <a:ln>
                            <a:noFill/>
                          </a:ln>
                          <a:solidFill>
                            <a:schemeClr val="accent4"/>
                          </a:solidFill>
                          <a:effectLst/>
                          <a:latin typeface="EYInterstate Light" pitchFamily="2" charset="0"/>
                          <a:ea typeface="+mn-ea"/>
                          <a:cs typeface="+mn-cs"/>
                        </a:rPr>
                        <a:t>RED</a:t>
                      </a:r>
                      <a:endParaRPr kumimoji="0" lang="en-US" sz="700" b="0" i="0" u="none" strike="noStrike" kern="1200" cap="none" normalizeH="0" baseline="0" dirty="0" smtClean="0">
                        <a:ln>
                          <a:noFill/>
                        </a:ln>
                        <a:solidFill>
                          <a:schemeClr val="accent4"/>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accent4"/>
                          </a:solidFill>
                          <a:effectLst/>
                          <a:latin typeface="EYInterstate Light" pitchFamily="2" charset="0"/>
                          <a:ea typeface="+mn-ea"/>
                          <a:cs typeface="+mn-cs"/>
                        </a:rPr>
                        <a:t>RED</a:t>
                      </a:r>
                      <a:endParaRPr kumimoji="0" lang="en-US" sz="700" b="0" i="0" u="none" strike="noStrike" kern="1200" cap="none" normalizeH="0" baseline="0" dirty="0" smtClean="0">
                        <a:ln>
                          <a:noFill/>
                        </a:ln>
                        <a:solidFill>
                          <a:schemeClr val="accent4"/>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08188">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Scope Lock</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28 May 12</a:t>
                      </a:r>
                    </a:p>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10 Jul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TARGET</a:t>
                      </a:r>
                      <a:endParaRPr kumimoji="0" lang="en-US" sz="700" b="0" i="0" u="none" strike="noStrike" kern="1200" cap="none" normalizeH="0" baseline="0" dirty="0">
                        <a:ln>
                          <a:noFill/>
                        </a:ln>
                        <a:solidFill>
                          <a:schemeClr val="tx1"/>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accent4"/>
                          </a:solidFill>
                          <a:effectLst/>
                          <a:latin typeface="EYInterstate Light" pitchFamily="2" charset="0"/>
                          <a:ea typeface="+mn-ea"/>
                          <a:cs typeface="+mn-cs"/>
                        </a:rPr>
                        <a:t>RED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accent4"/>
                          </a:solidFill>
                          <a:effectLst/>
                          <a:latin typeface="EYInterstate Light" pitchFamily="2" charset="0"/>
                          <a:ea typeface="+mn-ea"/>
                          <a:cs typeface="+mn-cs"/>
                        </a:rPr>
                        <a:t>RED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3" name="Group 852"/>
          <p:cNvGraphicFramePr>
            <a:graphicFrameLocks noGrp="1"/>
          </p:cNvGraphicFramePr>
          <p:nvPr/>
        </p:nvGraphicFramePr>
        <p:xfrm>
          <a:off x="4752530" y="3962400"/>
          <a:ext cx="4391470" cy="1034346"/>
        </p:xfrm>
        <a:graphic>
          <a:graphicData uri="http://schemas.openxmlformats.org/drawingml/2006/table">
            <a:tbl>
              <a:tblPr/>
              <a:tblGrid>
                <a:gridCol w="1763686"/>
                <a:gridCol w="1440160"/>
                <a:gridCol w="648071"/>
                <a:gridCol w="539553"/>
              </a:tblGrid>
              <a:tr h="121898">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G. MATTERS FOR IMMEDIATE ATTENTION – typically specific current issues or scope changes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9267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Issues to be resolved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Recommended Action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Target Date</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Completed By</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6022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I69 Migration schedule remains unknown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Revised deployment plan published – to be reviewed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08 Jun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tx1"/>
                          </a:solidFill>
                          <a:effectLst/>
                          <a:latin typeface="EYInterstate Light" pitchFamily="2" charset="0"/>
                        </a:rPr>
                        <a:t>M Kremmer</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8831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I33 &amp; I75 DCC schedule remains unknown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Meeting with J Lawler on 08/06/12 to progress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08 Jun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tx1"/>
                          </a:solidFill>
                          <a:effectLst/>
                          <a:latin typeface="EYInterstate Light" pitchFamily="2" charset="0"/>
                        </a:rPr>
                        <a:t>C Burnside</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4" name="Group 270"/>
          <p:cNvGraphicFramePr>
            <a:graphicFrameLocks noGrp="1"/>
          </p:cNvGraphicFramePr>
          <p:nvPr/>
        </p:nvGraphicFramePr>
        <p:xfrm>
          <a:off x="7391400" y="36991"/>
          <a:ext cx="1628477" cy="535063"/>
        </p:xfrm>
        <a:graphic>
          <a:graphicData uri="http://schemas.openxmlformats.org/drawingml/2006/table">
            <a:tbl>
              <a:tblPr/>
              <a:tblGrid>
                <a:gridCol w="814238"/>
                <a:gridCol w="814239"/>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5" name="Table 4"/>
          <p:cNvGraphicFramePr>
            <a:graphicFrameLocks noGrp="1"/>
          </p:cNvGraphicFramePr>
          <p:nvPr/>
        </p:nvGraphicFramePr>
        <p:xfrm>
          <a:off x="4752531" y="2286000"/>
          <a:ext cx="4391469" cy="1337676"/>
        </p:xfrm>
        <a:graphic>
          <a:graphicData uri="http://schemas.openxmlformats.org/drawingml/2006/table">
            <a:tbl>
              <a:tblPr/>
              <a:tblGrid>
                <a:gridCol w="1763685"/>
                <a:gridCol w="1440160"/>
                <a:gridCol w="648072"/>
                <a:gridCol w="539552"/>
              </a:tblGrid>
              <a:tr h="83970">
                <a:tc gridSpan="4">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F.  KEY RISKS – typically future challenges or external circumstances that may affect the initiative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hMerge="1">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83970">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Risks to be addressed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Mitigating Action</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Target Date</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Completed By</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8397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R108 Lack of Business Deployment Resource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Business deployment plan to be modified to accommodate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08 Jun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tx1"/>
                          </a:solidFill>
                          <a:effectLst/>
                          <a:latin typeface="EYInterstate Light" pitchFamily="2" charset="0"/>
                        </a:rPr>
                        <a:t>M Kremmer</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585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R90  Test Environment Readiness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Progress environments build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13 Jul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tx1"/>
                          </a:solidFill>
                          <a:effectLst/>
                          <a:latin typeface="EYInterstate Light" pitchFamily="2" charset="0"/>
                        </a:rPr>
                        <a:t>S Bhor</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585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R9 - Independence Issue with RFP – remaining vendors are tier 1 customer</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Interim SoW approved. Work ongoing on the overall MSA.</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06 Jul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tx2"/>
                          </a:solidFill>
                          <a:effectLst/>
                          <a:latin typeface="EYInterstate Light" pitchFamily="2" charset="0"/>
                        </a:rPr>
                        <a:t>A Buron</a:t>
                      </a: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585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R7- Interoperability issues between Lync  and other softphone clients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tx2"/>
                          </a:solidFill>
                          <a:effectLst/>
                          <a:latin typeface="EYInterstate Light" pitchFamily="2" charset="0"/>
                          <a:ea typeface="+mn-ea"/>
                          <a:cs typeface="+mn-cs"/>
                        </a:rPr>
                        <a:t>Test compatibility, report to DA, consider not deploying voice to softphone countries</a:t>
                      </a:r>
                      <a:endParaRPr kumimoji="0" lang="en-US" sz="700" b="0" i="0" u="none" strike="noStrike" kern="1200" cap="none" normalizeH="0" baseline="0" noProof="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2"/>
                          </a:solidFill>
                          <a:effectLst/>
                          <a:latin typeface="EYInterstate Light" pitchFamily="2" charset="0"/>
                        </a:rPr>
                        <a:t>08 Jun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tx2"/>
                          </a:solidFill>
                          <a:effectLst/>
                          <a:latin typeface="EYInterstate Light" pitchFamily="2" charset="0"/>
                        </a:rPr>
                        <a:t>S Cevallos </a:t>
                      </a: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6" name="Group 270"/>
          <p:cNvGraphicFramePr>
            <a:graphicFrameLocks noGrp="1"/>
          </p:cNvGraphicFramePr>
          <p:nvPr/>
        </p:nvGraphicFramePr>
        <p:xfrm>
          <a:off x="1195546" y="6553106"/>
          <a:ext cx="381000" cy="88326"/>
        </p:xfrm>
        <a:graphic>
          <a:graphicData uri="http://schemas.openxmlformats.org/drawingml/2006/table">
            <a:tbl>
              <a:tblPr/>
              <a:tblGrid>
                <a:gridCol w="381000"/>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7" name="Group 270"/>
          <p:cNvGraphicFramePr>
            <a:graphicFrameLocks noGrp="1"/>
          </p:cNvGraphicFramePr>
          <p:nvPr/>
        </p:nvGraphicFramePr>
        <p:xfrm>
          <a:off x="3979855" y="6582966"/>
          <a:ext cx="523914" cy="88326"/>
        </p:xfrm>
        <a:graphic>
          <a:graphicData uri="http://schemas.openxmlformats.org/drawingml/2006/table">
            <a:tbl>
              <a:tblPr/>
              <a:tblGrid>
                <a:gridCol w="523914"/>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8" name="Group 270"/>
          <p:cNvGraphicFramePr>
            <a:graphicFrameLocks noGrp="1"/>
          </p:cNvGraphicFramePr>
          <p:nvPr/>
        </p:nvGraphicFramePr>
        <p:xfrm>
          <a:off x="6515865" y="6550835"/>
          <a:ext cx="381000" cy="90597"/>
        </p:xfrm>
        <a:graphic>
          <a:graphicData uri="http://schemas.openxmlformats.org/drawingml/2006/table">
            <a:tbl>
              <a:tblPr/>
              <a:tblGrid>
                <a:gridCol w="381000"/>
              </a:tblGrid>
              <a:tr h="90597">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pSp>
        <p:nvGrpSpPr>
          <p:cNvPr id="9" name="Group 27"/>
          <p:cNvGrpSpPr/>
          <p:nvPr/>
        </p:nvGrpSpPr>
        <p:grpSpPr>
          <a:xfrm>
            <a:off x="285595" y="6400800"/>
            <a:ext cx="8734282" cy="494922"/>
            <a:chOff x="307495" y="6550829"/>
            <a:chExt cx="9404036" cy="494922"/>
          </a:xfrm>
        </p:grpSpPr>
        <p:sp>
          <p:nvSpPr>
            <p:cNvPr id="10" name="TextBox 9"/>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11" name="TextBox 10"/>
            <p:cNvSpPr txBox="1"/>
            <p:nvPr/>
          </p:nvSpPr>
          <p:spPr bwMode="gray">
            <a:xfrm>
              <a:off x="674554" y="6657945"/>
              <a:ext cx="612668"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latin typeface="EYInterstate Light" pitchFamily="2" charset="0"/>
              </a:endParaRPr>
            </a:p>
          </p:txBody>
        </p:sp>
        <p:sp>
          <p:nvSpPr>
            <p:cNvPr id="12" name="TextBox 11"/>
            <p:cNvSpPr txBox="1"/>
            <p:nvPr/>
          </p:nvSpPr>
          <p:spPr bwMode="gray">
            <a:xfrm>
              <a:off x="307495" y="6550829"/>
              <a:ext cx="4541628"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latin typeface="EYInterstate Light" pitchFamily="2" charset="0"/>
              </a:endParaRPr>
            </a:p>
          </p:txBody>
        </p:sp>
        <p:sp>
          <p:nvSpPr>
            <p:cNvPr id="13" name="TextBox 12"/>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14" name="TextBox 13"/>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15" name="Freeform 94"/>
          <p:cNvSpPr>
            <a:spLocks/>
          </p:cNvSpPr>
          <p:nvPr/>
        </p:nvSpPr>
        <p:spPr bwMode="gray">
          <a:xfrm>
            <a:off x="0" y="0"/>
            <a:ext cx="6706365"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700" dirty="0">
              <a:solidFill>
                <a:srgbClr val="000000"/>
              </a:solidFill>
              <a:latin typeface="EYInterstate Light" pitchFamily="2" charset="0"/>
            </a:endParaRPr>
          </a:p>
        </p:txBody>
      </p:sp>
      <p:sp>
        <p:nvSpPr>
          <p:cNvPr id="16" name="Rectangle 183"/>
          <p:cNvSpPr txBox="1">
            <a:spLocks noChangeArrowheads="1"/>
          </p:cNvSpPr>
          <p:nvPr/>
        </p:nvSpPr>
        <p:spPr bwMode="gray">
          <a:xfrm>
            <a:off x="1" y="-34669"/>
            <a:ext cx="7086599" cy="553998"/>
          </a:xfrm>
          <a:prstGeom prst="rect">
            <a:avLst/>
          </a:prstGeom>
        </p:spPr>
        <p:txBody>
          <a:bodyPr wrap="square">
            <a:spAutoFit/>
          </a:bodyPr>
          <a:lstStyle/>
          <a:p>
            <a:pPr lvl="0" algn="l" defTabSz="955675" eaLnBrk="0" hangingPunct="0">
              <a:spcAft>
                <a:spcPts val="0"/>
              </a:spcAft>
              <a:defRPr/>
            </a:pPr>
            <a:r>
              <a:rPr lang="en-US" sz="1600" b="1" kern="0" dirty="0" smtClean="0">
                <a:solidFill>
                  <a:srgbClr val="646464"/>
                </a:solidFill>
              </a:rPr>
              <a:t>M&amp;C – Messaging – Weekly Status Report – 08 Jun 12</a:t>
            </a:r>
          </a:p>
          <a:p>
            <a:pPr lvl="0" algn="l" defTabSz="955675" eaLnBrk="0" hangingPunct="0">
              <a:spcAft>
                <a:spcPts val="0"/>
              </a:spcAft>
              <a:defRPr/>
            </a:pPr>
            <a:r>
              <a:rPr lang="en-US" sz="1400" kern="0" dirty="0" smtClean="0">
                <a:solidFill>
                  <a:srgbClr val="646464"/>
                </a:solidFill>
              </a:rPr>
              <a:t>David Bingham/Craig Burnside</a:t>
            </a:r>
            <a:endParaRPr lang="en-US" sz="1400" kern="0" dirty="0">
              <a:solidFill>
                <a:srgbClr val="646464"/>
              </a:solidFill>
            </a:endParaRPr>
          </a:p>
        </p:txBody>
      </p:sp>
      <p:graphicFrame>
        <p:nvGraphicFramePr>
          <p:cNvPr id="17" name="Table 16"/>
          <p:cNvGraphicFramePr>
            <a:graphicFrameLocks noGrp="1"/>
          </p:cNvGraphicFramePr>
          <p:nvPr/>
        </p:nvGraphicFramePr>
        <p:xfrm>
          <a:off x="4752531" y="5132898"/>
          <a:ext cx="4391469" cy="1150554"/>
        </p:xfrm>
        <a:graphic>
          <a:graphicData uri="http://schemas.openxmlformats.org/drawingml/2006/table">
            <a:tbl>
              <a:tblPr/>
              <a:tblGrid>
                <a:gridCol w="4391469"/>
              </a:tblGrid>
              <a:tr h="15240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H.  GENERAL COMMENTS – must include reasoning for an overall Red or Amber Status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59026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Outlook Exchange remains RED. Additional ~$6m to be absorbed by program for O365 network costs not in FY13 budget. Budget cuts impacting business deployment managers; lack of capacity to support Outlook Exchange. No clear environment strategy and test resources severely constrained. IAM program has insufficient resources DC build (CR to be raised). Lack of TM resource and visibility of future service design/TOM means process design cannot start. Lack of DCC roll out schedule for Data Centre Build impacting build and deployment plans. Risk that migration velocity for Cloud will not be achieved due to blackout periods and network capacity.</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Lync status is Red because we have not completed the Vendor discovery phase and until this has happened we will not have a confirmed plan we can report against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2"/>
          <p:cNvGraphicFramePr>
            <a:graphicFrameLocks noGrp="1"/>
          </p:cNvGraphicFramePr>
          <p:nvPr/>
        </p:nvGraphicFramePr>
        <p:xfrm>
          <a:off x="0" y="544489"/>
          <a:ext cx="4648200" cy="3071085"/>
        </p:xfrm>
        <a:graphic>
          <a:graphicData uri="http://schemas.openxmlformats.org/drawingml/2006/table">
            <a:tbl>
              <a:tblPr/>
              <a:tblGrid>
                <a:gridCol w="4648200"/>
              </a:tblGrid>
              <a:tr h="103273">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j-lt"/>
                        </a:rPr>
                        <a:t>A.  </a:t>
                      </a:r>
                      <a:r>
                        <a:rPr kumimoji="0" lang="en-GB" sz="700" b="1" i="0" u="none" strike="noStrike" cap="none" normalizeH="0" baseline="0" dirty="0" smtClean="0">
                          <a:ln>
                            <a:noFill/>
                          </a:ln>
                          <a:solidFill>
                            <a:schemeClr val="tx1"/>
                          </a:solidFill>
                          <a:effectLst/>
                          <a:latin typeface="+mj-lt"/>
                        </a:rPr>
                        <a:t>EXECUTIVE SUMMARY – a summary of the progress for this period (not of the initiative)</a:t>
                      </a:r>
                      <a:endParaRPr kumimoji="0" lang="en-US" sz="700" b="1" i="0" u="none" strike="noStrike" cap="none" normalizeH="0" baseline="0" dirty="0">
                        <a:ln>
                          <a:noFill/>
                        </a:ln>
                        <a:solidFill>
                          <a:schemeClr val="tx1"/>
                        </a:solidFill>
                        <a:effectLst/>
                        <a:latin typeface="+mj-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88711">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lang="en-US" sz="700" b="1" i="0" kern="1200" baseline="0" dirty="0" smtClean="0">
                          <a:solidFill>
                            <a:schemeClr val="tx1"/>
                          </a:solidFill>
                          <a:latin typeface="EYInterstate Light" pitchFamily="2" charset="0"/>
                          <a:ea typeface="+mn-ea"/>
                          <a:cs typeface="+mn-cs"/>
                        </a:rPr>
                        <a:t>Outlook Exchange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Checkpoint 1 completed for planning of O365</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Costs for O365 link still under investigation; costs need to be understood before a CR can be raised to add the costs to the FY13 budget for Outlook Exchange. At present the costs are expected to exceed $6m. Additional information is pending from Information Security and the GNP program and should be available by the middle of next week</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CR for decision on storage design change (SAN to DAS) to be reviewed by DA 08/06, then raised to CCB</a:t>
                      </a:r>
                    </a:p>
                    <a:p>
                      <a:pPr marL="85725" marR="0" lvl="0" indent="-85725" algn="l" defTabSz="947738" rtl="0" eaLnBrk="0" fontAlgn="base" latinLnBrk="0" hangingPunct="0">
                        <a:lnSpc>
                          <a:spcPct val="100000"/>
                        </a:lnSpc>
                        <a:spcBef>
                          <a:spcPct val="0"/>
                        </a:spcBef>
                        <a:spcAft>
                          <a:spcPct val="10000"/>
                        </a:spcAft>
                        <a:buClrTx/>
                        <a:buSzTx/>
                        <a:buFontTx/>
                        <a:buNone/>
                        <a:tabLst/>
                        <a:defRPr/>
                      </a:pPr>
                      <a:r>
                        <a:rPr lang="en-GB" sz="700" b="1" i="0" kern="1200" baseline="0" dirty="0" smtClean="0">
                          <a:solidFill>
                            <a:schemeClr val="tx1"/>
                          </a:solidFill>
                          <a:latin typeface="EYInterstate Light" pitchFamily="2" charset="0"/>
                          <a:ea typeface="+mn-ea"/>
                          <a:cs typeface="+mn-cs"/>
                        </a:rPr>
                        <a:t>Lync</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rPr>
                        <a:t>Workshops held so far have been successful, with information flowing in both directions between E&amp;Y and AT&amp;T.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rPr>
                        <a:t>Further responses on the ATT questionnaire have been received, and passed on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03273">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B.  KEY ACCOMPLISHMENTS THIS PERIOD</a:t>
                      </a:r>
                      <a:endParaRPr kumimoji="0" lang="en-CA"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084454">
                <a:tc>
                  <a:txBody>
                    <a:bodyPr/>
                    <a:lstStyle/>
                    <a:p>
                      <a:pPr marL="85725" marR="0" lvl="0" indent="-85725" algn="l" defTabSz="914400" rtl="0" eaLnBrk="1" fontAlgn="base" latinLnBrk="0" hangingPunct="1">
                        <a:lnSpc>
                          <a:spcPct val="100000"/>
                        </a:lnSpc>
                        <a:spcBef>
                          <a:spcPct val="0"/>
                        </a:spcBef>
                        <a:spcAft>
                          <a:spcPts val="200"/>
                        </a:spcAft>
                        <a:buClrTx/>
                        <a:buSzTx/>
                        <a:buFont typeface="Arial" pitchFamily="34" charset="0"/>
                        <a:buNone/>
                        <a:tabLst/>
                        <a:defRPr/>
                      </a:pPr>
                      <a:r>
                        <a:rPr lang="en-US" sz="700" b="1" i="0" kern="1200" baseline="0" dirty="0" smtClean="0">
                          <a:solidFill>
                            <a:schemeClr val="tx1"/>
                          </a:solidFill>
                          <a:latin typeface="EYInterstate Light" pitchFamily="2" charset="0"/>
                          <a:ea typeface="+mn-ea"/>
                          <a:cs typeface="+mn-cs"/>
                        </a:rPr>
                        <a:t>Outlook Exchange</a:t>
                      </a:r>
                      <a:endParaRPr lang="en-US" sz="700" b="0" i="0" kern="1200" dirty="0" smtClean="0">
                        <a:solidFill>
                          <a:schemeClr val="tx1"/>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Program: Budget under review for I&amp;O costs as likely to need increase FY13 provision</a:t>
                      </a:r>
                    </a:p>
                    <a:p>
                      <a:pPr marL="85725" marR="0" lvl="1"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Infrastructure O365: </a:t>
                      </a:r>
                      <a:r>
                        <a:rPr lang="en-GB" sz="700" i="0" kern="1200" baseline="0" dirty="0" smtClean="0">
                          <a:solidFill>
                            <a:schemeClr val="tx1"/>
                          </a:solidFill>
                          <a:latin typeface="EYInterstate Light" pitchFamily="2" charset="0"/>
                          <a:ea typeface="+mn-ea"/>
                          <a:cs typeface="+mn-cs"/>
                        </a:rPr>
                        <a:t>VPN connectivity issues were resolved allowing the validation of the Forrest trust setup and the beginning of the domain controller build out. DCCID document for US delivered and reviewed. More hardware items are required than the original business case envisaged.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GB" sz="700" i="0" kern="1200" baseline="0" dirty="0" smtClean="0">
                          <a:solidFill>
                            <a:schemeClr val="tx1"/>
                          </a:solidFill>
                          <a:latin typeface="EYInterstate Light" pitchFamily="2" charset="0"/>
                          <a:ea typeface="+mn-ea"/>
                          <a:cs typeface="+mn-cs"/>
                        </a:rPr>
                        <a:t>Infrastructure On-Prem: Revised </a:t>
                      </a:r>
                      <a:r>
                        <a:rPr lang="en-AU" sz="700" i="0" kern="1200" baseline="0" dirty="0" smtClean="0">
                          <a:solidFill>
                            <a:schemeClr val="tx1"/>
                          </a:solidFill>
                          <a:latin typeface="EYInterstate Light" pitchFamily="2" charset="0"/>
                          <a:ea typeface="+mn-ea"/>
                          <a:cs typeface="+mn-cs"/>
                        </a:rPr>
                        <a:t>Migration and coexistence docs expected, Functional spec awaiting DA signoff. DCC schedule still unknown. Proceeding on assumed list of on-prem countries.</a:t>
                      </a: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1" i="0" u="none" strike="noStrike" cap="none" normalizeH="0" baseline="0" dirty="0" smtClean="0">
                          <a:ln>
                            <a:noFill/>
                          </a:ln>
                          <a:solidFill>
                            <a:srgbClr val="646464"/>
                          </a:solidFill>
                          <a:effectLst/>
                          <a:latin typeface="EYInterstate Light" pitchFamily="2" charset="0"/>
                        </a:rPr>
                        <a:t>Lync</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rPr>
                        <a:t>Core Design and Data Centre workshops with AT&amp;T have been held – 6 &amp; 7 Jun 2012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rPr>
                        <a:t>QA environment build is progressing well, aiming to have the core Lync components installed by 15 Jun 2012.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rPr>
                        <a:t>Meetings held with I&amp;O to discuss effort estimates for Lync Interlock submission -  31 May 2012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rPr>
                        <a:t>Lync headset commercial contract is close to being signed with the vendors- final review is being conducted with the legal team – 07 Jun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2" name="Group 272"/>
          <p:cNvGraphicFramePr>
            <a:graphicFrameLocks noGrp="1"/>
          </p:cNvGraphicFramePr>
          <p:nvPr/>
        </p:nvGraphicFramePr>
        <p:xfrm>
          <a:off x="0" y="3581400"/>
          <a:ext cx="4680520" cy="2871200"/>
        </p:xfrm>
        <a:graphic>
          <a:graphicData uri="http://schemas.openxmlformats.org/drawingml/2006/table">
            <a:tbl>
              <a:tblPr/>
              <a:tblGrid>
                <a:gridCol w="4680520"/>
              </a:tblGrid>
              <a:tr h="138742">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a:ln>
                            <a:noFill/>
                          </a:ln>
                          <a:solidFill>
                            <a:schemeClr val="tx1"/>
                          </a:solidFill>
                          <a:effectLst/>
                          <a:latin typeface="EYInterstate" pitchFamily="2" charset="0"/>
                        </a:rPr>
                        <a:t>C.  ACTIVITIES BEHIND SCHEDULE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918105">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700" b="1" i="0" u="none" strike="noStrike" kern="1200" cap="none" normalizeH="0" baseline="0" dirty="0" smtClean="0">
                          <a:ln>
                            <a:noFill/>
                          </a:ln>
                          <a:solidFill>
                            <a:schemeClr val="tx1"/>
                          </a:solidFill>
                          <a:effectLst/>
                          <a:latin typeface="EYInterstate Light" pitchFamily="2" charset="0"/>
                          <a:ea typeface="+mn-ea"/>
                          <a:cs typeface="+mn-cs"/>
                        </a:rPr>
                        <a:t>Outlook Exchange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Decision on On-Prem countries, DR sites, and DCC schedule still outstanding – resolution date unknown, with AG</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Completion of MMD now due 29/06</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Complete PMP for Outlook Exchange – 15/06</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Outlook Dormant Deployment – 30/11/12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Recruitment of 2 PMs for Application Delivery Workstream – cannot occur until FY13</a:t>
                      </a:r>
                    </a:p>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700" b="1" i="0" u="none" strike="noStrike" kern="1200" cap="none" normalizeH="0" baseline="0" dirty="0" smtClean="0">
                          <a:ln>
                            <a:noFill/>
                          </a:ln>
                          <a:solidFill>
                            <a:schemeClr val="tx1"/>
                          </a:solidFill>
                          <a:effectLst/>
                          <a:latin typeface="EYInterstate Light" pitchFamily="2" charset="0"/>
                          <a:ea typeface="+mn-ea"/>
                          <a:cs typeface="+mn-cs"/>
                        </a:rPr>
                        <a:t>Lync</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Signing  the interim  SoW – expected 15 Jun 2012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Finalizing the AT&amp;T questionnaire – the vast majority of questions have now been submitted, and we are going through these in the workshops, but we will be sending them a final copy – 12 Jun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38742">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D.  </a:t>
                      </a:r>
                      <a:r>
                        <a:rPr kumimoji="0" lang="en-US" sz="700" b="1" i="0" u="none" strike="noStrike" cap="none" normalizeH="0" baseline="0" dirty="0">
                          <a:ln>
                            <a:noFill/>
                          </a:ln>
                          <a:solidFill>
                            <a:schemeClr val="tx1"/>
                          </a:solidFill>
                          <a:effectLst/>
                          <a:latin typeface="EYInterstate" pitchFamily="2" charset="0"/>
                        </a:rPr>
                        <a:t>KEY ACTIVITIES PLANNED NEXT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13182">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700" b="1" i="0" u="none" strike="noStrike" kern="1200" cap="none" normalizeH="0" baseline="0" dirty="0" smtClean="0">
                          <a:ln>
                            <a:noFill/>
                          </a:ln>
                          <a:solidFill>
                            <a:schemeClr val="tx1"/>
                          </a:solidFill>
                          <a:effectLst/>
                          <a:latin typeface="EYInterstate Light" pitchFamily="2" charset="0"/>
                          <a:ea typeface="+mn-ea"/>
                          <a:cs typeface="+mn-cs"/>
                        </a:rPr>
                        <a:t>Outlook Exchange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Approve functional specification for O365</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DA Approval for SAN to DAS design change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Confirm On-Prem vs Cloud country list and user numbers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Review Business Deployment strategy and agree options given busy period/black out constraint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Confirm MIA approach for engagement with ITSDs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Finalize budget figures for I&amp;O and costs for O365 network link build and raise CRs</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1" i="0" u="none" strike="noStrike" kern="1200" cap="none" normalizeH="0" baseline="0" dirty="0" smtClean="0">
                          <a:ln>
                            <a:noFill/>
                          </a:ln>
                          <a:solidFill>
                            <a:schemeClr val="tx1"/>
                          </a:solidFill>
                          <a:effectLst/>
                          <a:latin typeface="EYInterstate Light" pitchFamily="2" charset="0"/>
                          <a:ea typeface="+mn-ea"/>
                          <a:cs typeface="+mn-cs"/>
                        </a:rPr>
                        <a:t>Lync</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Two more workshops with AT&amp;T scheduled to discuss the voice infrastructure – 13 &amp; 14 June 2012</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Submit completed questionnaire to AT&amp;T – 12 Jun 2012</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Completion of slide deck for Management re decision on delivery of Lync voice functionality to existing soft phone users – 15 Jun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272"/>
          <p:cNvGraphicFramePr>
            <a:graphicFrameLocks noGrp="1"/>
          </p:cNvGraphicFramePr>
          <p:nvPr/>
        </p:nvGraphicFramePr>
        <p:xfrm>
          <a:off x="0" y="3717032"/>
          <a:ext cx="4680520" cy="2288398"/>
        </p:xfrm>
        <a:graphic>
          <a:graphicData uri="http://schemas.openxmlformats.org/drawingml/2006/table">
            <a:tbl>
              <a:tblPr/>
              <a:tblGrid>
                <a:gridCol w="4680520"/>
              </a:tblGrid>
              <a:tr h="116652">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a:ln>
                            <a:noFill/>
                          </a:ln>
                          <a:solidFill>
                            <a:schemeClr val="tx1"/>
                          </a:solidFill>
                          <a:effectLst/>
                          <a:latin typeface="EYInterstate" pitchFamily="2" charset="0"/>
                        </a:rPr>
                        <a:t>C.  ACTIVITIES BEHIND SCHEDULE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07549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EYAA development resource contention has been alleviated, however we still remain tracking behind original plan.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16652">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D.  </a:t>
                      </a:r>
                      <a:r>
                        <a:rPr kumimoji="0" lang="en-US" sz="700" b="1" i="0" u="none" strike="noStrike" cap="none" normalizeH="0" baseline="0" dirty="0">
                          <a:ln>
                            <a:noFill/>
                          </a:ln>
                          <a:solidFill>
                            <a:schemeClr val="tx1"/>
                          </a:solidFill>
                          <a:effectLst/>
                          <a:latin typeface="EYInterstate" pitchFamily="2" charset="0"/>
                        </a:rPr>
                        <a:t>KEY ACTIVITIES PLANNED NEXT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92345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Progress with updating the Phase 1 project deliverables ready for handing-over to the IT SD teams by Friday 15</a:t>
                      </a:r>
                      <a:r>
                        <a:rPr kumimoji="0" lang="en-US" sz="700" b="0" i="0" u="none" strike="noStrike" kern="1200" cap="none" normalizeH="0" baseline="30000" dirty="0" smtClean="0">
                          <a:ln>
                            <a:noFill/>
                          </a:ln>
                          <a:solidFill>
                            <a:schemeClr val="tx2"/>
                          </a:solidFill>
                          <a:effectLst/>
                          <a:latin typeface="EYInterstate Light" pitchFamily="2" charset="0"/>
                          <a:ea typeface="+mn-ea"/>
                          <a:cs typeface="+mn-cs"/>
                        </a:rPr>
                        <a:t>th</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Jun’12.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Progress with testing of AMI Ph4a</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Progress Design work AMI Phase 5</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Progress with development of EYAA</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 name="Group 852"/>
          <p:cNvGraphicFramePr>
            <a:graphicFrameLocks noGrp="1"/>
          </p:cNvGraphicFramePr>
          <p:nvPr/>
        </p:nvGraphicFramePr>
        <p:xfrm>
          <a:off x="4752530" y="2996952"/>
          <a:ext cx="4391470" cy="2039283"/>
        </p:xfrm>
        <a:graphic>
          <a:graphicData uri="http://schemas.openxmlformats.org/drawingml/2006/table">
            <a:tbl>
              <a:tblPr/>
              <a:tblGrid>
                <a:gridCol w="1348673"/>
                <a:gridCol w="1783164"/>
                <a:gridCol w="720080"/>
                <a:gridCol w="539553"/>
              </a:tblGrid>
              <a:tr h="328348">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G. MATTERS FOR IMMEDIATE ATTENTION – typically specific current issues or scope changes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342449">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Issues to be resolved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Recommended Action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Target Date</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Completed By</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20141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chemeClr val="tx1"/>
                          </a:solidFill>
                          <a:effectLst/>
                          <a:latin typeface="EYInterstate Light" pitchFamily="2" charset="0"/>
                        </a:rPr>
                        <a:t>I14 - </a:t>
                      </a:r>
                      <a:r>
                        <a:rPr lang="en-GB" sz="800" dirty="0" smtClean="0"/>
                        <a:t>Most resources from functions outside of x-org (i.e. developers from the IT SD teams) are often unable to complete their assigned work packages as per the agreed schedule as they are part-time and therefore meeting demand from multiple clients.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800" b="1" i="0" u="none" strike="noStrike" cap="none" normalizeH="0" baseline="0" dirty="0" smtClean="0">
                          <a:ln>
                            <a:noFill/>
                          </a:ln>
                          <a:solidFill>
                            <a:schemeClr val="tx1"/>
                          </a:solidFill>
                          <a:effectLst/>
                          <a:latin typeface="EYInterstate Light" pitchFamily="2" charset="0"/>
                        </a:rPr>
                        <a:t>Secure dedicated full-time development resources – being progressed by CLT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1"/>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2"/>
                          </a:solidFill>
                          <a:effectLst/>
                          <a:latin typeface="EYInterstate Light" pitchFamily="2" charset="0"/>
                        </a:rPr>
                        <a:t>1</a:t>
                      </a:r>
                      <a:r>
                        <a:rPr kumimoji="0" lang="en-US" sz="700" b="0" i="0" u="none" strike="noStrike" cap="none" normalizeH="0" baseline="30000" dirty="0" smtClean="0">
                          <a:ln>
                            <a:noFill/>
                          </a:ln>
                          <a:solidFill>
                            <a:schemeClr val="tx2"/>
                          </a:solidFill>
                          <a:effectLst/>
                          <a:latin typeface="EYInterstate Light" pitchFamily="2" charset="0"/>
                        </a:rPr>
                        <a:t>st</a:t>
                      </a:r>
                      <a:r>
                        <a:rPr kumimoji="0" lang="en-US" sz="700" b="0" i="0" u="none" strike="noStrike" cap="none" normalizeH="0" baseline="0" dirty="0" smtClean="0">
                          <a:ln>
                            <a:noFill/>
                          </a:ln>
                          <a:solidFill>
                            <a:schemeClr val="tx2"/>
                          </a:solidFill>
                          <a:effectLst/>
                          <a:latin typeface="EYInterstate Light" pitchFamily="2" charset="0"/>
                        </a:rPr>
                        <a:t> Jun’12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2"/>
                          </a:solidFill>
                          <a:effectLst/>
                          <a:latin typeface="EYInterstate Light" pitchFamily="2" charset="0"/>
                        </a:rPr>
                        <a:t>Neil Sahdev</a:t>
                      </a: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4" name="Group 270"/>
          <p:cNvGraphicFramePr>
            <a:graphicFrameLocks noGrp="1"/>
          </p:cNvGraphicFramePr>
          <p:nvPr/>
        </p:nvGraphicFramePr>
        <p:xfrm>
          <a:off x="7391400" y="44624"/>
          <a:ext cx="1628477" cy="535063"/>
        </p:xfrm>
        <a:graphic>
          <a:graphicData uri="http://schemas.openxmlformats.org/drawingml/2006/table">
            <a:tbl>
              <a:tblPr/>
              <a:tblGrid>
                <a:gridCol w="814238"/>
                <a:gridCol w="814239"/>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5" name="Table 4"/>
          <p:cNvGraphicFramePr>
            <a:graphicFrameLocks noGrp="1"/>
          </p:cNvGraphicFramePr>
          <p:nvPr/>
        </p:nvGraphicFramePr>
        <p:xfrm>
          <a:off x="4752531" y="2060848"/>
          <a:ext cx="4391469" cy="726196"/>
        </p:xfrm>
        <a:graphic>
          <a:graphicData uri="http://schemas.openxmlformats.org/drawingml/2006/table">
            <a:tbl>
              <a:tblPr/>
              <a:tblGrid>
                <a:gridCol w="1109946"/>
                <a:gridCol w="2021892"/>
                <a:gridCol w="504056"/>
                <a:gridCol w="755575"/>
              </a:tblGrid>
              <a:tr h="164045">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F.  KEY RISKS – typically future challenges or external circumstances that may affect the initiative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64045">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Risks to be addressed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Mitigating Action</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Target Date</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Completed By</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4474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kern="1200" cap="none" normalizeH="0" baseline="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noProof="0" dirty="0" smtClean="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6" name="Group 270"/>
          <p:cNvGraphicFramePr>
            <a:graphicFrameLocks noGrp="1"/>
          </p:cNvGraphicFramePr>
          <p:nvPr/>
        </p:nvGraphicFramePr>
        <p:xfrm>
          <a:off x="1195546" y="6553106"/>
          <a:ext cx="381000" cy="88326"/>
        </p:xfrm>
        <a:graphic>
          <a:graphicData uri="http://schemas.openxmlformats.org/drawingml/2006/table">
            <a:tbl>
              <a:tblPr/>
              <a:tblGrid>
                <a:gridCol w="381000"/>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7" name="Group 270"/>
          <p:cNvGraphicFramePr>
            <a:graphicFrameLocks noGrp="1"/>
          </p:cNvGraphicFramePr>
          <p:nvPr/>
        </p:nvGraphicFramePr>
        <p:xfrm>
          <a:off x="3979855" y="6582966"/>
          <a:ext cx="523914" cy="88326"/>
        </p:xfrm>
        <a:graphic>
          <a:graphicData uri="http://schemas.openxmlformats.org/drawingml/2006/table">
            <a:tbl>
              <a:tblPr/>
              <a:tblGrid>
                <a:gridCol w="523914"/>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8" name="Group 270"/>
          <p:cNvGraphicFramePr>
            <a:graphicFrameLocks noGrp="1"/>
          </p:cNvGraphicFramePr>
          <p:nvPr/>
        </p:nvGraphicFramePr>
        <p:xfrm>
          <a:off x="6515865" y="6550835"/>
          <a:ext cx="381000" cy="90597"/>
        </p:xfrm>
        <a:graphic>
          <a:graphicData uri="http://schemas.openxmlformats.org/drawingml/2006/table">
            <a:tbl>
              <a:tblPr/>
              <a:tblGrid>
                <a:gridCol w="381000"/>
              </a:tblGrid>
              <a:tr h="90597">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pSp>
        <p:nvGrpSpPr>
          <p:cNvPr id="9" name="Group 27"/>
          <p:cNvGrpSpPr/>
          <p:nvPr/>
        </p:nvGrpSpPr>
        <p:grpSpPr>
          <a:xfrm>
            <a:off x="285595" y="6400800"/>
            <a:ext cx="8734282" cy="494922"/>
            <a:chOff x="307495" y="6550829"/>
            <a:chExt cx="9404036" cy="494922"/>
          </a:xfrm>
        </p:grpSpPr>
        <p:sp>
          <p:nvSpPr>
            <p:cNvPr id="10" name="TextBox 9"/>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11" name="TextBox 10"/>
            <p:cNvSpPr txBox="1"/>
            <p:nvPr/>
          </p:nvSpPr>
          <p:spPr bwMode="gray">
            <a:xfrm>
              <a:off x="674554" y="6657945"/>
              <a:ext cx="612668"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latin typeface="EYInterstate Light" pitchFamily="2" charset="0"/>
              </a:endParaRPr>
            </a:p>
          </p:txBody>
        </p:sp>
        <p:sp>
          <p:nvSpPr>
            <p:cNvPr id="12" name="TextBox 11"/>
            <p:cNvSpPr txBox="1"/>
            <p:nvPr/>
          </p:nvSpPr>
          <p:spPr bwMode="gray">
            <a:xfrm>
              <a:off x="307495" y="6550829"/>
              <a:ext cx="4541628"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latin typeface="EYInterstate Light" pitchFamily="2" charset="0"/>
              </a:endParaRPr>
            </a:p>
          </p:txBody>
        </p:sp>
        <p:sp>
          <p:nvSpPr>
            <p:cNvPr id="13" name="TextBox 12"/>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14" name="TextBox 13"/>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15" name="Freeform 94"/>
          <p:cNvSpPr>
            <a:spLocks/>
          </p:cNvSpPr>
          <p:nvPr/>
        </p:nvSpPr>
        <p:spPr bwMode="gray">
          <a:xfrm>
            <a:off x="0" y="0"/>
            <a:ext cx="6706365"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700" dirty="0">
              <a:solidFill>
                <a:srgbClr val="000000"/>
              </a:solidFill>
              <a:latin typeface="EYInterstate Light" pitchFamily="2" charset="0"/>
            </a:endParaRPr>
          </a:p>
        </p:txBody>
      </p:sp>
      <p:sp>
        <p:nvSpPr>
          <p:cNvPr id="16" name="Rectangle 183"/>
          <p:cNvSpPr txBox="1">
            <a:spLocks noChangeArrowheads="1"/>
          </p:cNvSpPr>
          <p:nvPr/>
        </p:nvSpPr>
        <p:spPr bwMode="gray">
          <a:xfrm>
            <a:off x="1" y="-34669"/>
            <a:ext cx="7391399" cy="553998"/>
          </a:xfrm>
          <a:prstGeom prst="rect">
            <a:avLst/>
          </a:prstGeom>
        </p:spPr>
        <p:txBody>
          <a:bodyPr wrap="square">
            <a:spAutoFit/>
          </a:bodyPr>
          <a:lstStyle/>
          <a:p>
            <a:pPr lvl="0" algn="l" defTabSz="955675" eaLnBrk="0" hangingPunct="0">
              <a:spcAft>
                <a:spcPts val="0"/>
              </a:spcAft>
              <a:defRPr/>
            </a:pPr>
            <a:r>
              <a:rPr lang="en-US" sz="1600" b="1" kern="0" dirty="0" smtClean="0">
                <a:solidFill>
                  <a:srgbClr val="646464"/>
                </a:solidFill>
              </a:rPr>
              <a:t>M&amp;C Application &amp; Data Migration – Weekly status report – 08 Jun 2012</a:t>
            </a:r>
          </a:p>
          <a:p>
            <a:pPr lvl="0" algn="l" defTabSz="955675" eaLnBrk="0" hangingPunct="0">
              <a:spcAft>
                <a:spcPts val="0"/>
              </a:spcAft>
              <a:defRPr/>
            </a:pPr>
            <a:r>
              <a:rPr lang="en-US" sz="1400" kern="0" dirty="0" smtClean="0">
                <a:solidFill>
                  <a:srgbClr val="646464"/>
                </a:solidFill>
              </a:rPr>
              <a:t>David Bingham/Neil Sahdev</a:t>
            </a:r>
            <a:endParaRPr lang="en-US" sz="1400" kern="0" dirty="0">
              <a:solidFill>
                <a:srgbClr val="646464"/>
              </a:solidFill>
            </a:endParaRPr>
          </a:p>
        </p:txBody>
      </p:sp>
      <p:graphicFrame>
        <p:nvGraphicFramePr>
          <p:cNvPr id="17" name="Table 16"/>
          <p:cNvGraphicFramePr>
            <a:graphicFrameLocks noGrp="1"/>
          </p:cNvGraphicFramePr>
          <p:nvPr/>
        </p:nvGraphicFramePr>
        <p:xfrm>
          <a:off x="4752531" y="5373216"/>
          <a:ext cx="4391469" cy="465517"/>
        </p:xfrm>
        <a:graphic>
          <a:graphicData uri="http://schemas.openxmlformats.org/drawingml/2006/table">
            <a:tbl>
              <a:tblPr/>
              <a:tblGrid>
                <a:gridCol w="4391469"/>
              </a:tblGrid>
              <a:tr h="64645">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H.  GENERAL COMMENTS – must include reasoning for an overall Red or Amber Status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33147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Workstream RAG status – AMBER due to the following reasons :</a:t>
                      </a:r>
                    </a:p>
                    <a:p>
                      <a:pPr marL="542925" marR="0" lvl="1"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The issue outlined above which has impacted key milestones.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2"/>
          <p:cNvGraphicFramePr>
            <a:graphicFrameLocks noGrp="1"/>
          </p:cNvGraphicFramePr>
          <p:nvPr/>
        </p:nvGraphicFramePr>
        <p:xfrm>
          <a:off x="2" y="609600"/>
          <a:ext cx="4680520" cy="3053832"/>
        </p:xfrm>
        <a:graphic>
          <a:graphicData uri="http://schemas.openxmlformats.org/drawingml/2006/table">
            <a:tbl>
              <a:tblPr/>
              <a:tblGrid>
                <a:gridCol w="4680520"/>
              </a:tblGrid>
              <a:tr h="122306">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j-lt"/>
                        </a:rPr>
                        <a:t>A.  </a:t>
                      </a:r>
                      <a:r>
                        <a:rPr kumimoji="0" lang="en-GB" sz="700" b="1" i="0" u="none" strike="noStrike" cap="none" normalizeH="0" baseline="0" dirty="0" smtClean="0">
                          <a:ln>
                            <a:noFill/>
                          </a:ln>
                          <a:solidFill>
                            <a:schemeClr val="tx1"/>
                          </a:solidFill>
                          <a:effectLst/>
                          <a:latin typeface="+mj-lt"/>
                        </a:rPr>
                        <a:t>EXECUTIVE SUMMARY – a summary of the progress for this period (not of the initiative)</a:t>
                      </a:r>
                      <a:endParaRPr kumimoji="0" lang="en-US" sz="700" b="1" i="0" u="none" strike="noStrike" cap="none" normalizeH="0" baseline="0" dirty="0">
                        <a:ln>
                          <a:noFill/>
                        </a:ln>
                        <a:solidFill>
                          <a:schemeClr val="tx1"/>
                        </a:solidFill>
                        <a:effectLst/>
                        <a:latin typeface="+mj-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41678">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Namely due to budget constraints the scope of the Program’s deliveries for FY13 has been scaled-back to the following three activities:</a:t>
                      </a:r>
                    </a:p>
                    <a:p>
                      <a:pPr marL="457200" marR="0" lvl="1"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Completing the analysis of the Lotus Notes application estate</a:t>
                      </a:r>
                    </a:p>
                    <a:p>
                      <a:pPr marL="457200" marR="0" lvl="1"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Decommissioning or archiving those applications no longer required by the business</a:t>
                      </a:r>
                    </a:p>
                    <a:p>
                      <a:pPr marL="457200" marR="0" lvl="1"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Facilitating any data migration activities (once the SharePoint platform is available)</a:t>
                      </a: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All in-flight and planned efforts to replatform applications has been deferred to FY14.  As a result the </a:t>
                      </a: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A&amp;DM Phase 1 project team (who were already replatforming the first few applications) are in the process of competing their 'in-flight' deliverables before moving onto new opportunities during Jun'12.</a:t>
                      </a: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CLT confirmed the Lotus Notes D&amp;A project is a key priority for FY13 and as a result the Markets and CBS IT SD teams are going to provide resources to support this activity.</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2306">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B.  KEY ACCOMPLISHMENTS THIS PERIOD</a:t>
                      </a:r>
                      <a:endParaRPr kumimoji="0" lang="en-CA"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56910">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GB" sz="700" b="1" i="0" u="none" strike="noStrike" kern="1200" cap="none" normalizeH="0" baseline="0" dirty="0" smtClean="0">
                          <a:ln>
                            <a:noFill/>
                          </a:ln>
                          <a:solidFill>
                            <a:schemeClr val="tx2"/>
                          </a:solidFill>
                          <a:effectLst/>
                          <a:latin typeface="EYInterstate Light" pitchFamily="2" charset="0"/>
                          <a:ea typeface="+mn-ea"/>
                          <a:cs typeface="+mn-cs"/>
                        </a:rPr>
                        <a:t>Phase 1</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Based on the decision to defer the application replatforming efforts to FY14 the Phase 1 team have agreed with their stakeholder group the deliverables for each application which will be passed across to the respective IT SD teams by Friday 15</a:t>
                      </a:r>
                      <a:r>
                        <a:rPr kumimoji="0" lang="en-GB" sz="700" b="0" i="0" u="none" strike="noStrike" kern="1200" cap="none" normalizeH="0" baseline="30000" dirty="0" smtClean="0">
                          <a:ln>
                            <a:noFill/>
                          </a:ln>
                          <a:solidFill>
                            <a:schemeClr val="tx2"/>
                          </a:solidFill>
                          <a:effectLst/>
                          <a:latin typeface="EYInterstate Light" pitchFamily="2" charset="0"/>
                          <a:ea typeface="+mn-ea"/>
                          <a:cs typeface="+mn-cs"/>
                        </a:rPr>
                        <a:t>th</a:t>
                      </a: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 Jun’12.</a:t>
                      </a: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GB" sz="700" b="1" i="0" u="none" strike="noStrike" kern="1200" cap="none" normalizeH="0" baseline="0" dirty="0" smtClean="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GB" sz="700" b="1" i="0" u="none" strike="noStrike" kern="1200" cap="none" normalizeH="0" baseline="0" dirty="0" smtClean="0">
                          <a:ln>
                            <a:noFill/>
                          </a:ln>
                          <a:solidFill>
                            <a:schemeClr val="tx2"/>
                          </a:solidFill>
                          <a:effectLst/>
                          <a:latin typeface="EYInterstate Light" pitchFamily="2" charset="0"/>
                          <a:ea typeface="+mn-ea"/>
                          <a:cs typeface="+mn-cs"/>
                        </a:rPr>
                        <a:t>Discovery &amp; Assessment</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Commenced AMI Phase 4a testing – 1st round completed </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AMI Phase 5 Requirements Draft Circulated</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Secure Key QA resource for AMI Phase 5 testing </a:t>
                      </a:r>
                      <a:endParaRPr kumimoji="0" lang="en-GB" sz="700" b="0" i="0" u="none" strike="noStrike" kern="1200" cap="none" normalizeH="0" baseline="0" dirty="0" smtClean="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EYAA (EY Application Analyser) SDD Ready for Review</a:t>
                      </a:r>
                      <a:endParaRPr kumimoji="0" lang="en-GB" sz="700" b="1" i="0" u="none" strike="noStrike" kern="1200" cap="none" normalizeH="0" baseline="0" dirty="0" smtClean="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GB" sz="700" b="1" i="0" u="none" strike="noStrike" kern="1200" cap="none" normalizeH="0" baseline="0" dirty="0" smtClean="0">
                          <a:ln>
                            <a:noFill/>
                          </a:ln>
                          <a:solidFill>
                            <a:schemeClr val="tx2"/>
                          </a:solidFill>
                          <a:effectLst/>
                          <a:latin typeface="EYInterstate Light" pitchFamily="2" charset="0"/>
                          <a:ea typeface="+mn-ea"/>
                          <a:cs typeface="+mn-cs"/>
                        </a:rPr>
                        <a:t>Data Migration</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700" b="0" i="0" u="none" strike="noStrike" kern="1200" cap="none" normalizeH="0" baseline="0" dirty="0" smtClean="0">
                          <a:ln>
                            <a:noFill/>
                          </a:ln>
                          <a:solidFill>
                            <a:schemeClr val="tx2"/>
                          </a:solidFill>
                          <a:effectLst/>
                          <a:latin typeface="EYInterstate Light" pitchFamily="2" charset="0"/>
                          <a:ea typeface="+mn-ea"/>
                          <a:cs typeface="+mn-cs"/>
                        </a:rPr>
                        <a:t>Plans and estimates updated in-line with decision to move application replatforming efforts out of A&amp;DM</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9" name="Table 18"/>
          <p:cNvGraphicFramePr>
            <a:graphicFrameLocks noGrp="1"/>
          </p:cNvGraphicFramePr>
          <p:nvPr/>
        </p:nvGraphicFramePr>
        <p:xfrm>
          <a:off x="4752531" y="609600"/>
          <a:ext cx="4391471" cy="1263000"/>
        </p:xfrm>
        <a:graphic>
          <a:graphicData uri="http://schemas.openxmlformats.org/drawingml/2006/table">
            <a:tbl>
              <a:tblPr/>
              <a:tblGrid>
                <a:gridCol w="1403645"/>
                <a:gridCol w="648072"/>
                <a:gridCol w="660384"/>
                <a:gridCol w="523759"/>
                <a:gridCol w="523759"/>
                <a:gridCol w="631852"/>
              </a:tblGrid>
              <a:tr h="123744">
                <a:tc gridSpan="6">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EYInterstate" pitchFamily="2" charset="0"/>
                          <a:ea typeface="+mn-ea"/>
                          <a:cs typeface="+mn-cs"/>
                        </a:rPr>
                        <a:t>E.  </a:t>
                      </a:r>
                      <a:r>
                        <a:rPr kumimoji="0" lang="en-US" sz="700" b="1" i="0" u="none" strike="noStrike" kern="1200" cap="none" normalizeH="0" baseline="0" dirty="0" smtClean="0">
                          <a:ln>
                            <a:noFill/>
                          </a:ln>
                          <a:solidFill>
                            <a:schemeClr val="tx1"/>
                          </a:solidFill>
                          <a:effectLst/>
                          <a:latin typeface="EYInterstate" pitchFamily="2" charset="0"/>
                          <a:ea typeface="+mn-ea"/>
                          <a:cs typeface="+mn-cs"/>
                        </a:rPr>
                        <a:t>MILESTONES </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R w="6350" cap="flat" cmpd="sng" algn="ctr">
                      <a:solidFill>
                        <a:schemeClr val="accent2"/>
                      </a:solidFill>
                      <a:prstDash val="solid"/>
                      <a:round/>
                      <a:headEnd type="none" w="med" len="med"/>
                      <a:tailEnd type="none" w="med" len="med"/>
                    </a:lnR>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63297">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Individual Milestone Name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Planned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Projected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Conf</a:t>
                      </a: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57944">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chemeClr val="tx1"/>
                          </a:solidFill>
                          <a:effectLst/>
                          <a:latin typeface="EYInterstate Light" pitchFamily="2" charset="0"/>
                        </a:rPr>
                        <a:t>Deploy EYAA Ph1 (usage info)</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17</a:t>
                      </a:r>
                      <a:r>
                        <a:rPr kumimoji="0" lang="en-US" sz="700" b="0" i="0" u="none" strike="noStrike" cap="none" normalizeH="0" baseline="30000" dirty="0" smtClean="0">
                          <a:ln>
                            <a:noFill/>
                          </a:ln>
                          <a:solidFill>
                            <a:schemeClr val="tx1"/>
                          </a:solidFill>
                          <a:effectLst/>
                          <a:latin typeface="EYInterstate Light" pitchFamily="2" charset="0"/>
                        </a:rPr>
                        <a:t> </a:t>
                      </a:r>
                      <a:r>
                        <a:rPr kumimoji="0" lang="en-US" sz="700" b="0" i="0" u="none" strike="noStrike" cap="none" normalizeH="0" baseline="0" dirty="0" smtClean="0">
                          <a:ln>
                            <a:noFill/>
                          </a:ln>
                          <a:solidFill>
                            <a:schemeClr val="tx1"/>
                          </a:solidFill>
                          <a:effectLst/>
                          <a:latin typeface="EYInterstate Light" pitchFamily="2" charset="0"/>
                        </a:rPr>
                        <a:t>May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18</a:t>
                      </a:r>
                      <a:r>
                        <a:rPr kumimoji="0" lang="en-US" sz="700" b="0" i="0" u="none" strike="noStrike" cap="none" normalizeH="0" baseline="30000" dirty="0" smtClean="0">
                          <a:ln>
                            <a:noFill/>
                          </a:ln>
                          <a:solidFill>
                            <a:schemeClr val="tx1"/>
                          </a:solidFill>
                          <a:effectLst/>
                          <a:latin typeface="EYInterstate Light" pitchFamily="2" charset="0"/>
                        </a:rPr>
                        <a:t> </a:t>
                      </a:r>
                      <a:r>
                        <a:rPr kumimoji="0" lang="en-US" sz="700" b="0" i="0" u="none" strike="noStrike" cap="none" normalizeH="0" baseline="0" dirty="0" smtClean="0">
                          <a:ln>
                            <a:noFill/>
                          </a:ln>
                          <a:solidFill>
                            <a:schemeClr val="tx1"/>
                          </a:solidFill>
                          <a:effectLst/>
                          <a:latin typeface="EYInterstate Light" pitchFamily="2" charset="0"/>
                        </a:rPr>
                        <a:t>Jun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Committed</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57944">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chemeClr val="tx1"/>
                          </a:solidFill>
                          <a:effectLst/>
                          <a:latin typeface="EYInterstate Light" pitchFamily="2" charset="0"/>
                        </a:rPr>
                        <a:t>Identify 1</a:t>
                      </a:r>
                      <a:r>
                        <a:rPr kumimoji="0" lang="en-US" sz="700" b="0" i="0" u="none" strike="noStrike" cap="none" normalizeH="0" baseline="30000" dirty="0" smtClean="0">
                          <a:ln>
                            <a:noFill/>
                          </a:ln>
                          <a:solidFill>
                            <a:schemeClr val="tx1"/>
                          </a:solidFill>
                          <a:effectLst/>
                          <a:latin typeface="EYInterstate Light" pitchFamily="2" charset="0"/>
                        </a:rPr>
                        <a:t>st</a:t>
                      </a:r>
                      <a:r>
                        <a:rPr kumimoji="0" lang="en-US" sz="700" b="0" i="0" u="none" strike="noStrike" cap="none" normalizeH="0" baseline="0" dirty="0" smtClean="0">
                          <a:ln>
                            <a:noFill/>
                          </a:ln>
                          <a:solidFill>
                            <a:schemeClr val="tx1"/>
                          </a:solidFill>
                          <a:effectLst/>
                          <a:latin typeface="EYInterstate Light" pitchFamily="2" charset="0"/>
                        </a:rPr>
                        <a:t> batch of decomm candidates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24</a:t>
                      </a:r>
                      <a:r>
                        <a:rPr kumimoji="0" lang="en-US" sz="700" b="0" i="0" u="none" strike="noStrike" cap="none" normalizeH="0" baseline="30000" dirty="0" smtClean="0">
                          <a:ln>
                            <a:noFill/>
                          </a:ln>
                          <a:solidFill>
                            <a:schemeClr val="tx1"/>
                          </a:solidFill>
                          <a:effectLst/>
                          <a:latin typeface="EYInterstate Light" pitchFamily="2" charset="0"/>
                        </a:rPr>
                        <a:t> </a:t>
                      </a:r>
                      <a:r>
                        <a:rPr kumimoji="0" lang="en-US" sz="700" b="0" i="0" u="none" strike="noStrike" cap="none" normalizeH="0" baseline="0" dirty="0" smtClean="0">
                          <a:ln>
                            <a:noFill/>
                          </a:ln>
                          <a:solidFill>
                            <a:schemeClr val="tx1"/>
                          </a:solidFill>
                          <a:effectLst/>
                          <a:latin typeface="EYInterstate Light" pitchFamily="2" charset="0"/>
                        </a:rPr>
                        <a:t>May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18 Jun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Committed</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67914">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chemeClr val="tx1"/>
                          </a:solidFill>
                          <a:effectLst/>
                          <a:latin typeface="EYInterstate Light" pitchFamily="2" charset="0"/>
                        </a:rPr>
                        <a:t>Handover packs complete for Phase 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15</a:t>
                      </a:r>
                      <a:r>
                        <a:rPr kumimoji="0" lang="en-US" sz="700" b="0" i="0" u="none" strike="noStrike" cap="none" normalizeH="0" baseline="30000" dirty="0" smtClean="0">
                          <a:ln>
                            <a:noFill/>
                          </a:ln>
                          <a:solidFill>
                            <a:schemeClr val="tx1"/>
                          </a:solidFill>
                          <a:effectLst/>
                          <a:latin typeface="EYInterstate Light" pitchFamily="2" charset="0"/>
                        </a:rPr>
                        <a:t> </a:t>
                      </a:r>
                      <a:r>
                        <a:rPr kumimoji="0" lang="en-US" sz="700" b="0" i="0" u="none" strike="noStrike" cap="none" normalizeH="0" baseline="0" dirty="0" smtClean="0">
                          <a:ln>
                            <a:noFill/>
                          </a:ln>
                          <a:solidFill>
                            <a:schemeClr val="tx1"/>
                          </a:solidFill>
                          <a:effectLst/>
                          <a:latin typeface="EYInterstate Light" pitchFamily="2" charset="0"/>
                        </a:rPr>
                        <a:t>Jun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15  Jun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Committed</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67914">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EYInterstate Light" pitchFamily="2" charset="0"/>
                        </a:rPr>
                        <a:t>Identify DBs with no usage and standard databases</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27</a:t>
                      </a:r>
                      <a:r>
                        <a:rPr kumimoji="0" lang="en-US" sz="700" b="0" i="0" u="none" strike="noStrike" kern="1200" cap="none" normalizeH="0" baseline="30000" dirty="0" smtClean="0">
                          <a:ln>
                            <a:noFill/>
                          </a:ln>
                          <a:solidFill>
                            <a:schemeClr val="tx1"/>
                          </a:solidFill>
                          <a:effectLst/>
                          <a:latin typeface="EYInterstate Light" pitchFamily="2" charset="0"/>
                          <a:ea typeface="+mn-ea"/>
                          <a:cs typeface="+mn-cs"/>
                        </a:rPr>
                        <a:t> </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Aug 12</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GB" sz="700" b="0" i="0" u="none" strike="noStrike" kern="1200" cap="none" normalizeH="0" baseline="0" dirty="0" smtClean="0">
                          <a:ln>
                            <a:noFill/>
                          </a:ln>
                          <a:solidFill>
                            <a:srgbClr val="646464"/>
                          </a:solidFill>
                          <a:effectLst/>
                          <a:latin typeface="EYInterstate Light" pitchFamily="2" charset="0"/>
                          <a:ea typeface="+mn-ea"/>
                          <a:cs typeface="+mn-cs"/>
                        </a:rPr>
                        <a:t>27 Aug 12</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Committed</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endParaRPr kumimoji="0" lang="en-US" sz="700" b="0" i="0" u="none" strike="noStrike" kern="1200" cap="none" normalizeH="0" baseline="0" dirty="0" smtClean="0">
                        <a:ln>
                          <a:noFill/>
                        </a:ln>
                        <a:solidFill>
                          <a:srgbClr val="646464"/>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272"/>
          <p:cNvGraphicFramePr>
            <a:graphicFrameLocks noGrp="1"/>
          </p:cNvGraphicFramePr>
          <p:nvPr/>
        </p:nvGraphicFramePr>
        <p:xfrm>
          <a:off x="0" y="3528195"/>
          <a:ext cx="4680520" cy="2565101"/>
        </p:xfrm>
        <a:graphic>
          <a:graphicData uri="http://schemas.openxmlformats.org/drawingml/2006/table">
            <a:tbl>
              <a:tblPr/>
              <a:tblGrid>
                <a:gridCol w="4680520"/>
              </a:tblGrid>
              <a:tr h="127853">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a:ln>
                            <a:noFill/>
                          </a:ln>
                          <a:solidFill>
                            <a:schemeClr val="tx1"/>
                          </a:solidFill>
                          <a:effectLst/>
                          <a:latin typeface="EYInterstate" pitchFamily="2" charset="0"/>
                        </a:rPr>
                        <a:t>C.  ACTIVITIES BEHIND SCHEDULE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3586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Communities and People: Scope Lock – (contingent on Social decision) – 01 May 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CMS Prototyping Design Start - (at risk owing to likely outcome of re-plan) – 21 May 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Infra: Proposal for Simulated Cloud Env – (proposal complete but stuck in InfoSec review) – 30 Apr 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GB" sz="700" b="0" i="0" u="none" strike="noStrike" kern="1200" cap="none" normalizeH="0" baseline="0" dirty="0" smtClean="0">
                        <a:ln>
                          <a:noFill/>
                        </a:ln>
                        <a:solidFill>
                          <a:schemeClr val="tx1"/>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Note that work on evaluating scope and delivery options will impact shape of Release 1 plan, resulting in changes to underlying milestones, deliverables and critical path activities. </a:t>
                      </a:r>
                      <a:endParaRPr kumimoji="0" lang="en-US" sz="700" b="0" i="0" u="none" strike="noStrike" kern="1200" cap="none" normalizeH="0" baseline="0" dirty="0" smtClean="0">
                        <a:ln>
                          <a:noFill/>
                        </a:ln>
                        <a:solidFill>
                          <a:schemeClr val="tx1"/>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7853">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D.  </a:t>
                      </a:r>
                      <a:r>
                        <a:rPr kumimoji="0" lang="en-US" sz="700" b="1" i="0" u="none" strike="noStrike" cap="none" normalizeH="0" baseline="0" dirty="0">
                          <a:ln>
                            <a:noFill/>
                          </a:ln>
                          <a:solidFill>
                            <a:schemeClr val="tx1"/>
                          </a:solidFill>
                          <a:effectLst/>
                          <a:latin typeface="EYInterstate" pitchFamily="2" charset="0"/>
                        </a:rPr>
                        <a:t>KEY ACTIVITIES PLANNED NEXT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06114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15 Jun 12 – Baselined  FY13 Plans and Resource Model for  R1 SP 15 delivery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15 Jun 12 – Refreshed Level 2 and 3 plans. Updated milestones for tracking in this weekly report.</a:t>
                      </a:r>
                      <a:endParaRPr kumimoji="0" lang="en-US" sz="700" b="0" i="0" u="none" strike="noStrike" kern="1200" cap="none" normalizeH="0" baseline="0" dirty="0" smtClean="0">
                        <a:ln>
                          <a:noFill/>
                        </a:ln>
                        <a:solidFill>
                          <a:schemeClr val="tx1"/>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 name="Group 852"/>
          <p:cNvGraphicFramePr>
            <a:graphicFrameLocks noGrp="1"/>
          </p:cNvGraphicFramePr>
          <p:nvPr/>
        </p:nvGraphicFramePr>
        <p:xfrm>
          <a:off x="4716016" y="4273920"/>
          <a:ext cx="4319462" cy="1747368"/>
        </p:xfrm>
        <a:graphic>
          <a:graphicData uri="http://schemas.openxmlformats.org/drawingml/2006/table">
            <a:tbl>
              <a:tblPr/>
              <a:tblGrid>
                <a:gridCol w="1943198"/>
                <a:gridCol w="1152128"/>
                <a:gridCol w="551776"/>
                <a:gridCol w="672360"/>
              </a:tblGrid>
              <a:tr h="121898">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G. MATTERS FOR IMMEDIATE ATTENTION – typically specific current issues or scope changes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5106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Issues to be resolved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Recommended Action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Target Date</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Completed By</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4110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solidFill>
                          <a:effectLst/>
                          <a:latin typeface="EYInterstate Light" pitchFamily="2" charset="0"/>
                        </a:rPr>
                        <a:t>TBC – SP15 dependency on GCL5 impacts when SP15 features available to business for Release 1</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solidFill>
                          <a:effectLst/>
                          <a:latin typeface="EYInterstate Light" pitchFamily="2" charset="0"/>
                        </a:rPr>
                        <a:t>Explore option of accelerating GCL5 rollout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2"/>
                          </a:solidFill>
                          <a:effectLst/>
                          <a:latin typeface="EYInterstate Light" pitchFamily="2" charset="0"/>
                        </a:rPr>
                        <a:t>29 Jun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2"/>
                          </a:solidFill>
                          <a:effectLst/>
                          <a:latin typeface="EYInterstate Light" pitchFamily="2" charset="0"/>
                        </a:rPr>
                        <a:t>Andy Ioannou</a:t>
                      </a: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41105">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tx1"/>
                          </a:solidFill>
                          <a:effectLst/>
                          <a:latin typeface="EYInterstate Light" pitchFamily="2" charset="0"/>
                        </a:rPr>
                        <a:t>I22 - Decision GAAIT and M&amp;C inter-program  tasks, roles and responsibilities need to be determined and reflect in the plan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solidFill>
                          <a:effectLst/>
                          <a:latin typeface="EYInterstate Light" pitchFamily="2" charset="0"/>
                        </a:rPr>
                        <a:t>Options being evaluated with recommendation tabled for early June by ITS &amp; Assurance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2"/>
                          </a:solidFill>
                          <a:effectLst/>
                          <a:latin typeface="EYInterstate Light" pitchFamily="2" charset="0"/>
                        </a:rPr>
                        <a:t>08 Jun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2"/>
                          </a:solidFill>
                          <a:effectLst/>
                          <a:latin typeface="EYInterstate Light" pitchFamily="2" charset="0"/>
                        </a:rPr>
                        <a:t>Alan Guthrie</a:t>
                      </a: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41105">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tx1"/>
                          </a:solidFill>
                          <a:effectLst/>
                          <a:latin typeface="EYInterstate Light" pitchFamily="2" charset="0"/>
                        </a:rPr>
                        <a:t>I57 - Need decision on the Plan for FY13,SP15 or SP10 and how the reduced budget will be reflected in workstream scope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solidFill>
                          <a:effectLst/>
                          <a:latin typeface="EYInterstate Light" pitchFamily="2" charset="0"/>
                        </a:rPr>
                        <a:t>Closed (decision made)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2"/>
                          </a:solidFill>
                          <a:effectLst/>
                          <a:latin typeface="EYInterstate Light" pitchFamily="2" charset="0"/>
                        </a:rPr>
                        <a:t>06 Jun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2"/>
                          </a:solidFill>
                          <a:effectLst/>
                          <a:latin typeface="EYInterstate Light" pitchFamily="2" charset="0"/>
                        </a:rPr>
                        <a:t>Bob Reiner</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2"/>
                          </a:solidFill>
                          <a:effectLst/>
                          <a:latin typeface="EYInterstate Light" pitchFamily="2" charset="0"/>
                        </a:rPr>
                        <a:t>Alan Guthrie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4" name="Group 270"/>
          <p:cNvGraphicFramePr>
            <a:graphicFrameLocks noGrp="1"/>
          </p:cNvGraphicFramePr>
          <p:nvPr/>
        </p:nvGraphicFramePr>
        <p:xfrm>
          <a:off x="7391400" y="44624"/>
          <a:ext cx="1628477" cy="535063"/>
        </p:xfrm>
        <a:graphic>
          <a:graphicData uri="http://schemas.openxmlformats.org/drawingml/2006/table">
            <a:tbl>
              <a:tblPr/>
              <a:tblGrid>
                <a:gridCol w="814238"/>
                <a:gridCol w="814239"/>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5" name="Table 4"/>
          <p:cNvGraphicFramePr>
            <a:graphicFrameLocks noGrp="1"/>
          </p:cNvGraphicFramePr>
          <p:nvPr/>
        </p:nvGraphicFramePr>
        <p:xfrm>
          <a:off x="4716016" y="2348880"/>
          <a:ext cx="4391469" cy="1827012"/>
        </p:xfrm>
        <a:graphic>
          <a:graphicData uri="http://schemas.openxmlformats.org/drawingml/2006/table">
            <a:tbl>
              <a:tblPr/>
              <a:tblGrid>
                <a:gridCol w="1224136"/>
                <a:gridCol w="1907702"/>
                <a:gridCol w="504056"/>
                <a:gridCol w="755575"/>
              </a:tblGrid>
              <a:tr h="127484">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F.  KEY RISKS – typically future challenges or external circumstances that may affect the initiative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51247">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Risks to be addressed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Mitigating Action</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Target Date</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Completed By</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9525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TBC - Demands from external programs on Collaboration team resources risk impacting M&amp;C delivery</a:t>
                      </a:r>
                      <a:endParaRPr kumimoji="0" lang="en-US" sz="700" b="0" i="0" u="none" strike="noStrike" kern="1200" cap="none" normalizeH="0" baseline="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tx2"/>
                          </a:solidFill>
                          <a:effectLst/>
                          <a:latin typeface="EYInterstate Light" pitchFamily="2" charset="0"/>
                          <a:ea typeface="+mn-ea"/>
                          <a:cs typeface="+mn-cs"/>
                        </a:rPr>
                        <a:t>Introduction of Dependency Mgt role within Collaboration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tx2"/>
                          </a:solidFill>
                          <a:effectLst/>
                          <a:latin typeface="EYInterstate Light" pitchFamily="2" charset="0"/>
                          <a:ea typeface="+mn-ea"/>
                          <a:cs typeface="+mn-cs"/>
                        </a:rPr>
                        <a:t>Prioritization of portfolio to inform focus of constrained resource groups (I&amp;O primarily)</a:t>
                      </a:r>
                      <a:endParaRPr kumimoji="0" lang="en-US" sz="700" b="0" i="0" u="none" strike="noStrike" kern="1200" cap="none" normalizeH="0" baseline="0" noProof="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2"/>
                          </a:solidFill>
                          <a:effectLst/>
                          <a:latin typeface="EYInterstate Light" pitchFamily="2" charset="0"/>
                        </a:rPr>
                        <a:t>29 Jun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2"/>
                          </a:solidFill>
                          <a:effectLst/>
                          <a:latin typeface="EYInterstate Light" pitchFamily="2" charset="0"/>
                        </a:rPr>
                        <a:t>David Bingham</a:t>
                      </a: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9525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TBC – Assumptions made on functional/technical delta between SP15 Beta and Gold prove inaccurate and drives greater than expected regression test overhead</a:t>
                      </a:r>
                      <a:endParaRPr kumimoji="0" lang="en-US" sz="700" b="0" i="0" u="none" strike="noStrike" kern="1200" cap="none" normalizeH="0" baseline="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tx2"/>
                          </a:solidFill>
                          <a:effectLst/>
                          <a:latin typeface="EYInterstate Light" pitchFamily="2" charset="0"/>
                          <a:ea typeface="+mn-ea"/>
                          <a:cs typeface="+mn-cs"/>
                        </a:rPr>
                        <a:t>Continually monitor with MSFT and assess likely delta</a:t>
                      </a:r>
                      <a:endParaRPr kumimoji="0" lang="en-US" sz="700" b="0" i="0" u="none" strike="noStrike" kern="1200" cap="none" normalizeH="0" baseline="0" noProof="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2"/>
                          </a:solidFill>
                          <a:effectLst/>
                          <a:latin typeface="EYInterstate Light" pitchFamily="2" charset="0"/>
                        </a:rPr>
                        <a:t>14 Jul</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2"/>
                          </a:solidFill>
                          <a:effectLst/>
                          <a:latin typeface="EYInterstate Light" pitchFamily="2" charset="0"/>
                        </a:rPr>
                        <a:t>Andy Ioannou</a:t>
                      </a: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6" name="Group 270"/>
          <p:cNvGraphicFramePr>
            <a:graphicFrameLocks noGrp="1"/>
          </p:cNvGraphicFramePr>
          <p:nvPr/>
        </p:nvGraphicFramePr>
        <p:xfrm>
          <a:off x="1195546" y="6553106"/>
          <a:ext cx="381000" cy="88326"/>
        </p:xfrm>
        <a:graphic>
          <a:graphicData uri="http://schemas.openxmlformats.org/drawingml/2006/table">
            <a:tbl>
              <a:tblPr/>
              <a:tblGrid>
                <a:gridCol w="381000"/>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7" name="Group 270"/>
          <p:cNvGraphicFramePr>
            <a:graphicFrameLocks noGrp="1"/>
          </p:cNvGraphicFramePr>
          <p:nvPr/>
        </p:nvGraphicFramePr>
        <p:xfrm>
          <a:off x="3979855" y="6582966"/>
          <a:ext cx="523914" cy="88326"/>
        </p:xfrm>
        <a:graphic>
          <a:graphicData uri="http://schemas.openxmlformats.org/drawingml/2006/table">
            <a:tbl>
              <a:tblPr/>
              <a:tblGrid>
                <a:gridCol w="523914"/>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8" name="Group 270"/>
          <p:cNvGraphicFramePr>
            <a:graphicFrameLocks noGrp="1"/>
          </p:cNvGraphicFramePr>
          <p:nvPr/>
        </p:nvGraphicFramePr>
        <p:xfrm>
          <a:off x="6515865" y="6550835"/>
          <a:ext cx="381000" cy="90597"/>
        </p:xfrm>
        <a:graphic>
          <a:graphicData uri="http://schemas.openxmlformats.org/drawingml/2006/table">
            <a:tbl>
              <a:tblPr/>
              <a:tblGrid>
                <a:gridCol w="381000"/>
              </a:tblGrid>
              <a:tr h="90597">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pSp>
        <p:nvGrpSpPr>
          <p:cNvPr id="9" name="Group 27"/>
          <p:cNvGrpSpPr/>
          <p:nvPr/>
        </p:nvGrpSpPr>
        <p:grpSpPr>
          <a:xfrm>
            <a:off x="285595" y="6400800"/>
            <a:ext cx="8734282" cy="494922"/>
            <a:chOff x="307495" y="6550829"/>
            <a:chExt cx="9404036" cy="494922"/>
          </a:xfrm>
        </p:grpSpPr>
        <p:sp>
          <p:nvSpPr>
            <p:cNvPr id="10" name="TextBox 9"/>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11" name="TextBox 10"/>
            <p:cNvSpPr txBox="1"/>
            <p:nvPr/>
          </p:nvSpPr>
          <p:spPr bwMode="gray">
            <a:xfrm>
              <a:off x="674554" y="6657945"/>
              <a:ext cx="612668"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latin typeface="EYInterstate Light" pitchFamily="2" charset="0"/>
              </a:endParaRPr>
            </a:p>
          </p:txBody>
        </p:sp>
        <p:sp>
          <p:nvSpPr>
            <p:cNvPr id="12" name="TextBox 11"/>
            <p:cNvSpPr txBox="1"/>
            <p:nvPr/>
          </p:nvSpPr>
          <p:spPr bwMode="gray">
            <a:xfrm>
              <a:off x="307495" y="6550829"/>
              <a:ext cx="4541628"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latin typeface="EYInterstate Light" pitchFamily="2" charset="0"/>
              </a:endParaRPr>
            </a:p>
          </p:txBody>
        </p:sp>
        <p:sp>
          <p:nvSpPr>
            <p:cNvPr id="13" name="TextBox 12"/>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14" name="TextBox 13"/>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15" name="Freeform 94"/>
          <p:cNvSpPr>
            <a:spLocks/>
          </p:cNvSpPr>
          <p:nvPr/>
        </p:nvSpPr>
        <p:spPr bwMode="gray">
          <a:xfrm>
            <a:off x="0" y="0"/>
            <a:ext cx="6706365"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700" dirty="0">
              <a:solidFill>
                <a:srgbClr val="000000"/>
              </a:solidFill>
              <a:latin typeface="EYInterstate Light" pitchFamily="2" charset="0"/>
            </a:endParaRPr>
          </a:p>
        </p:txBody>
      </p:sp>
      <p:sp>
        <p:nvSpPr>
          <p:cNvPr id="16" name="Rectangle 183"/>
          <p:cNvSpPr txBox="1">
            <a:spLocks noChangeArrowheads="1"/>
          </p:cNvSpPr>
          <p:nvPr/>
        </p:nvSpPr>
        <p:spPr bwMode="gray">
          <a:xfrm>
            <a:off x="1" y="-34669"/>
            <a:ext cx="7086599" cy="553998"/>
          </a:xfrm>
          <a:prstGeom prst="rect">
            <a:avLst/>
          </a:prstGeom>
        </p:spPr>
        <p:txBody>
          <a:bodyPr wrap="square">
            <a:spAutoFit/>
          </a:bodyPr>
          <a:lstStyle/>
          <a:p>
            <a:pPr lvl="0" algn="l" defTabSz="955675" eaLnBrk="0" hangingPunct="0">
              <a:spcAft>
                <a:spcPts val="0"/>
              </a:spcAft>
              <a:defRPr/>
            </a:pPr>
            <a:r>
              <a:rPr lang="en-US" sz="1600" b="1" kern="0" dirty="0" smtClean="0">
                <a:solidFill>
                  <a:srgbClr val="646464"/>
                </a:solidFill>
              </a:rPr>
              <a:t>M&amp;C – Collaboration – 08 June 2012</a:t>
            </a:r>
          </a:p>
          <a:p>
            <a:pPr lvl="0" algn="l" defTabSz="955675" eaLnBrk="0" hangingPunct="0">
              <a:spcAft>
                <a:spcPts val="0"/>
              </a:spcAft>
              <a:defRPr/>
            </a:pPr>
            <a:r>
              <a:rPr lang="en-US" sz="1400" kern="0" dirty="0" smtClean="0">
                <a:solidFill>
                  <a:srgbClr val="646464"/>
                </a:solidFill>
              </a:rPr>
              <a:t>David Bingham/Andy Ioannou</a:t>
            </a:r>
            <a:endParaRPr lang="en-US" sz="1400" kern="0" dirty="0">
              <a:solidFill>
                <a:srgbClr val="646464"/>
              </a:solidFill>
            </a:endParaRPr>
          </a:p>
        </p:txBody>
      </p:sp>
      <p:graphicFrame>
        <p:nvGraphicFramePr>
          <p:cNvPr id="17" name="Table 16"/>
          <p:cNvGraphicFramePr>
            <a:graphicFrameLocks noGrp="1"/>
          </p:cNvGraphicFramePr>
          <p:nvPr/>
        </p:nvGraphicFramePr>
        <p:xfrm>
          <a:off x="4752531" y="6048551"/>
          <a:ext cx="4211957" cy="476793"/>
        </p:xfrm>
        <a:graphic>
          <a:graphicData uri="http://schemas.openxmlformats.org/drawingml/2006/table">
            <a:tbl>
              <a:tblPr/>
              <a:tblGrid>
                <a:gridCol w="4211957"/>
              </a:tblGrid>
              <a:tr h="89301">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H.  GENERAL COMMENTS – must include reasoning for an overall Red or Amber Status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342747">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Red as the revised scope, schedule and budget need to be reviewed with the BPOs, approved and baselined.</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2"/>
          <p:cNvGraphicFramePr>
            <a:graphicFrameLocks noGrp="1"/>
          </p:cNvGraphicFramePr>
          <p:nvPr/>
        </p:nvGraphicFramePr>
        <p:xfrm>
          <a:off x="2" y="609600"/>
          <a:ext cx="4680520" cy="2766680"/>
        </p:xfrm>
        <a:graphic>
          <a:graphicData uri="http://schemas.openxmlformats.org/drawingml/2006/table">
            <a:tbl>
              <a:tblPr/>
              <a:tblGrid>
                <a:gridCol w="4680520"/>
              </a:tblGrid>
              <a:tr h="122306">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j-lt"/>
                        </a:rPr>
                        <a:t>A.  </a:t>
                      </a:r>
                      <a:r>
                        <a:rPr kumimoji="0" lang="en-GB" sz="700" b="1" i="0" u="none" strike="noStrike" cap="none" normalizeH="0" baseline="0" dirty="0" smtClean="0">
                          <a:ln>
                            <a:noFill/>
                          </a:ln>
                          <a:solidFill>
                            <a:schemeClr val="tx1"/>
                          </a:solidFill>
                          <a:effectLst/>
                          <a:latin typeface="+mj-lt"/>
                        </a:rPr>
                        <a:t>EXECUTIVE SUMMARY – a summary of the progress for this period (not of the initiative)</a:t>
                      </a:r>
                      <a:endParaRPr kumimoji="0" lang="en-US" sz="700" b="1" i="0" u="none" strike="noStrike" cap="none" normalizeH="0" baseline="0" dirty="0">
                        <a:ln>
                          <a:noFill/>
                        </a:ln>
                        <a:solidFill>
                          <a:schemeClr val="tx1"/>
                        </a:solidFill>
                        <a:effectLst/>
                        <a:latin typeface="+mj-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41678">
                <a:tc>
                  <a:txBody>
                    <a:bodyPr/>
                    <a:lstStyle/>
                    <a:p>
                      <a:r>
                        <a:rPr lang="en-GB" sz="700" i="0" kern="1200" baseline="0" dirty="0" smtClean="0">
                          <a:solidFill>
                            <a:schemeClr val="tx1"/>
                          </a:solidFill>
                          <a:latin typeface="EYInterstate Light" pitchFamily="2" charset="0"/>
                          <a:ea typeface="+mn-ea"/>
                          <a:cs typeface="+mn-cs"/>
                        </a:rPr>
                        <a:t>Team continues to execute against plan with the following notable activities progressed/outstanding:</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SP15 plans and approach are in final phase of review and approval with Bob, Jeremy and BPOs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Target date for baselining FY13 plans and Release 1 SP15 approach is now 15</a:t>
                      </a:r>
                      <a:r>
                        <a:rPr kumimoji="0" lang="en-GB" sz="700" b="0" i="0" u="none" strike="noStrike" kern="1200" cap="none" normalizeH="0" baseline="30000" dirty="0" smtClean="0">
                          <a:ln>
                            <a:noFill/>
                          </a:ln>
                          <a:solidFill>
                            <a:schemeClr val="tx1"/>
                          </a:solidFill>
                          <a:effectLst/>
                          <a:latin typeface="EYInterstate Light" pitchFamily="2" charset="0"/>
                          <a:ea typeface="+mn-ea"/>
                          <a:cs typeface="+mn-cs"/>
                        </a:rPr>
                        <a:t> </a:t>
                      </a: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Jun 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Collaboration engagement with FROG being wound up; review of key deliverables and outputs scheduled 08 Jun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2306">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B.  KEY ACCOMPLISHMENTS THIS PERIOD</a:t>
                      </a:r>
                      <a:endParaRPr kumimoji="0" lang="en-CA"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5691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solidFill>
                          <a:effectLst/>
                          <a:latin typeface="EYInterstate Light" pitchFamily="2" charset="0"/>
                        </a:rPr>
                        <a:t>Agreement on SP15 for Release 1</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solidFill>
                          <a:effectLst/>
                          <a:latin typeface="EYInterstate Light" pitchFamily="2" charset="0"/>
                        </a:rPr>
                        <a:t>Re-aligning project plans, approach, resource models and teams to execute against revised plans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GB" sz="700" b="0" i="0" u="none" strike="noStrike" kern="1200" cap="none" normalizeH="0" baseline="0" noProof="0" dirty="0">
                        <a:ln>
                          <a:noFill/>
                        </a:ln>
                        <a:solidFill>
                          <a:srgbClr val="646464"/>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9" name="Table 18"/>
          <p:cNvGraphicFramePr>
            <a:graphicFrameLocks noGrp="1"/>
          </p:cNvGraphicFramePr>
          <p:nvPr/>
        </p:nvGraphicFramePr>
        <p:xfrm>
          <a:off x="4752531" y="662782"/>
          <a:ext cx="4391468" cy="1578402"/>
        </p:xfrm>
        <a:graphic>
          <a:graphicData uri="http://schemas.openxmlformats.org/drawingml/2006/table">
            <a:tbl>
              <a:tblPr/>
              <a:tblGrid>
                <a:gridCol w="1239708"/>
                <a:gridCol w="605150"/>
                <a:gridCol w="638907"/>
                <a:gridCol w="812419"/>
                <a:gridCol w="496417"/>
                <a:gridCol w="598867"/>
              </a:tblGrid>
              <a:tr h="123744">
                <a:tc gridSpan="6">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EYInterstate" pitchFamily="2" charset="0"/>
                          <a:ea typeface="+mn-ea"/>
                          <a:cs typeface="+mn-cs"/>
                        </a:rPr>
                        <a:t>E.  </a:t>
                      </a:r>
                      <a:r>
                        <a:rPr kumimoji="0" lang="en-US" sz="700" b="1" i="0" u="none" strike="noStrike" kern="1200" cap="none" normalizeH="0" baseline="0" dirty="0" smtClean="0">
                          <a:ln>
                            <a:noFill/>
                          </a:ln>
                          <a:solidFill>
                            <a:schemeClr val="tx1"/>
                          </a:solidFill>
                          <a:effectLst/>
                          <a:latin typeface="EYInterstate" pitchFamily="2" charset="0"/>
                          <a:ea typeface="+mn-ea"/>
                          <a:cs typeface="+mn-cs"/>
                        </a:rPr>
                        <a:t>MILESTONES </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R w="6350" cap="flat" cmpd="sng" algn="ctr">
                      <a:solidFill>
                        <a:schemeClr val="accent2"/>
                      </a:solidFill>
                      <a:prstDash val="solid"/>
                      <a:round/>
                      <a:headEnd type="none" w="med" len="med"/>
                      <a:tailEnd type="none" w="med" len="med"/>
                    </a:lnR>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83900">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Individual Milestone Name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Planned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Projected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Conf</a:t>
                      </a: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59857">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Workstream</a:t>
                      </a:r>
                      <a:r>
                        <a:rPr kumimoji="0" lang="en-US" sz="700" b="0" i="0" u="none" strike="noStrike" cap="none" normalizeH="0" baseline="0" dirty="0" smtClean="0">
                          <a:ln>
                            <a:noFill/>
                          </a:ln>
                          <a:solidFill>
                            <a:schemeClr val="tx1"/>
                          </a:solidFill>
                          <a:effectLst/>
                          <a:latin typeface="EYInterstate Light" pitchFamily="2" charset="0"/>
                        </a:rPr>
                        <a:t> Vision and </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Scopes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01 May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15 Aug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Target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118864">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CMS: I1 Development Complete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29 Jun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29 Jun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Target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67914">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Communities &amp; People: Scope Lock</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01 May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TBC</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Target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76530">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Search: Requirements Complete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18 May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TBC</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Target</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76530">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Infra: Proposal for Simulated Cloud Env</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30 April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TBC</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Target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oup 852"/>
          <p:cNvGraphicFramePr>
            <a:graphicFrameLocks noGrp="1"/>
          </p:cNvGraphicFramePr>
          <p:nvPr/>
        </p:nvGraphicFramePr>
        <p:xfrm>
          <a:off x="4752530" y="4131018"/>
          <a:ext cx="4391470" cy="1126782"/>
        </p:xfrm>
        <a:graphic>
          <a:graphicData uri="http://schemas.openxmlformats.org/drawingml/2006/table">
            <a:tbl>
              <a:tblPr/>
              <a:tblGrid>
                <a:gridCol w="1763686"/>
                <a:gridCol w="1440160"/>
                <a:gridCol w="648071"/>
                <a:gridCol w="539553"/>
              </a:tblGrid>
              <a:tr h="121898">
                <a:tc gridSpan="4">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G. MATTERS FOR IMMEDIATE ATTENTION – typically specific current issues or scope changes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hMerge="1">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5106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Issues to be resolved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Recommended Action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Target Date</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Completed By</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6022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I69 Migration schedule remains unknown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Revised deployment plan published – to be reviewed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08/06/12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tx1"/>
                          </a:solidFill>
                          <a:effectLst/>
                          <a:latin typeface="EYInterstate Light" pitchFamily="2" charset="0"/>
                        </a:rPr>
                        <a:t>M </a:t>
                      </a:r>
                      <a:r>
                        <a:rPr kumimoji="0" lang="en-US" sz="700" b="0" i="0" u="none" strike="noStrike" cap="none" normalizeH="0" baseline="0" dirty="0" err="1" smtClean="0">
                          <a:ln>
                            <a:noFill/>
                          </a:ln>
                          <a:solidFill>
                            <a:schemeClr val="tx1"/>
                          </a:solidFill>
                          <a:effectLst/>
                          <a:latin typeface="EYInterstate Light" pitchFamily="2" charset="0"/>
                        </a:rPr>
                        <a:t>Kremmer</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8831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I33 &amp; I75 DCC schedule remains unknown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Meeting with J Lawler on 08/06/12 to progress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08/06/12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tx1"/>
                          </a:solidFill>
                          <a:effectLst/>
                          <a:latin typeface="EYInterstate Light" pitchFamily="2" charset="0"/>
                        </a:rPr>
                        <a:t>C Burnside</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8831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I60 Test resource constraints will impact ability to complete testing</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Discussions underway with QA and </a:t>
                      </a:r>
                      <a:r>
                        <a:rPr kumimoji="0" lang="en-US" sz="700" b="0" i="0" u="none" strike="noStrike" kern="1200" cap="none" normalizeH="0" baseline="0" dirty="0" err="1" smtClean="0">
                          <a:ln>
                            <a:noFill/>
                          </a:ln>
                          <a:solidFill>
                            <a:schemeClr val="tx1"/>
                          </a:solidFill>
                          <a:effectLst/>
                          <a:latin typeface="EYInterstate Light" pitchFamily="2" charset="0"/>
                          <a:ea typeface="+mn-ea"/>
                          <a:cs typeface="+mn-cs"/>
                        </a:rPr>
                        <a:t>Hexaware</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 and MSFT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15/06/12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tx1"/>
                          </a:solidFill>
                          <a:effectLst/>
                          <a:latin typeface="EYInterstate Light" pitchFamily="2" charset="0"/>
                        </a:rPr>
                        <a:t>S </a:t>
                      </a:r>
                      <a:r>
                        <a:rPr kumimoji="0" lang="en-US" sz="700" b="0" i="0" u="none" strike="noStrike" cap="none" normalizeH="0" baseline="0" dirty="0" err="1" smtClean="0">
                          <a:ln>
                            <a:noFill/>
                          </a:ln>
                          <a:solidFill>
                            <a:schemeClr val="tx1"/>
                          </a:solidFill>
                          <a:effectLst/>
                          <a:latin typeface="EYInterstate Light" pitchFamily="2" charset="0"/>
                        </a:rPr>
                        <a:t>Bhor</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4" name="Group 270"/>
          <p:cNvGraphicFramePr>
            <a:graphicFrameLocks noGrp="1"/>
          </p:cNvGraphicFramePr>
          <p:nvPr/>
        </p:nvGraphicFramePr>
        <p:xfrm>
          <a:off x="7391400" y="36991"/>
          <a:ext cx="1628477" cy="535063"/>
        </p:xfrm>
        <a:graphic>
          <a:graphicData uri="http://schemas.openxmlformats.org/drawingml/2006/table">
            <a:tbl>
              <a:tblPr/>
              <a:tblGrid>
                <a:gridCol w="814238"/>
                <a:gridCol w="814239"/>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5" name="Table 4"/>
          <p:cNvGraphicFramePr>
            <a:graphicFrameLocks noGrp="1"/>
          </p:cNvGraphicFramePr>
          <p:nvPr/>
        </p:nvGraphicFramePr>
        <p:xfrm>
          <a:off x="4752531" y="2682570"/>
          <a:ext cx="4391469" cy="1444356"/>
        </p:xfrm>
        <a:graphic>
          <a:graphicData uri="http://schemas.openxmlformats.org/drawingml/2006/table">
            <a:tbl>
              <a:tblPr/>
              <a:tblGrid>
                <a:gridCol w="1763685"/>
                <a:gridCol w="1440160"/>
                <a:gridCol w="648072"/>
                <a:gridCol w="539552"/>
              </a:tblGrid>
              <a:tr h="83970">
                <a:tc gridSpan="4">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F.  KEY RISKS – typically future challenges or external circumstances that may affect the initiative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hMerge="1">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83970">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Risks to be addressed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Mitigating Action</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Target Date</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Completed By</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2814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R105, R143 Blackout period impact on velocity</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Revised deployment plan published – to be reviewed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08/06/12</a:t>
                      </a:r>
                      <a:endParaRPr kumimoji="0" lang="en-US" sz="700" b="0" i="0" u="none" strike="noStrike" cap="none" normalizeH="0" baseline="0" dirty="0">
                        <a:ln>
                          <a:noFill/>
                        </a:ln>
                        <a:solidFill>
                          <a:schemeClr val="tx1"/>
                        </a:solidFill>
                        <a:effectLst/>
                        <a:latin typeface="EYInterstate Light" pitchFamily="2" charset="0"/>
                      </a:endParaRPr>
                    </a:p>
                  </a:txBody>
                  <a:tcPr marL="34219" marR="34219"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tx1"/>
                          </a:solidFill>
                          <a:effectLst/>
                          <a:latin typeface="EYInterstate Light" pitchFamily="2" charset="0"/>
                        </a:rPr>
                        <a:t>M Kremmer</a:t>
                      </a:r>
                      <a:endParaRPr kumimoji="0" lang="en-US" sz="700" b="0" i="0" u="none" strike="noStrike" cap="none" normalizeH="0" baseline="0" dirty="0">
                        <a:ln>
                          <a:noFill/>
                        </a:ln>
                        <a:solidFill>
                          <a:schemeClr val="tx1"/>
                        </a:solidFill>
                        <a:effectLst/>
                        <a:latin typeface="EYInterstate Light" pitchFamily="2" charset="0"/>
                      </a:endParaRPr>
                    </a:p>
                  </a:txBody>
                  <a:tcPr marL="34219" marR="34219"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585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R108 Lack of Business Deployment Resource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Business deployment plan to be modified to accommodate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08/06/12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tx1"/>
                          </a:solidFill>
                          <a:effectLst/>
                          <a:latin typeface="EYInterstate Light" pitchFamily="2" charset="0"/>
                        </a:rPr>
                        <a:t>M </a:t>
                      </a:r>
                      <a:r>
                        <a:rPr kumimoji="0" lang="en-US" sz="700" b="0" i="0" u="none" strike="noStrike" cap="none" normalizeH="0" baseline="0" dirty="0" err="1" smtClean="0">
                          <a:ln>
                            <a:noFill/>
                          </a:ln>
                          <a:solidFill>
                            <a:schemeClr val="tx1"/>
                          </a:solidFill>
                          <a:effectLst/>
                          <a:latin typeface="EYInterstate Light" pitchFamily="2" charset="0"/>
                        </a:rPr>
                        <a:t>Kremmer</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585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R90  Test Environment Readiness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Progress environments build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13/07/12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tx1"/>
                          </a:solidFill>
                          <a:effectLst/>
                          <a:latin typeface="EYInterstate Light" pitchFamily="2" charset="0"/>
                        </a:rPr>
                        <a:t>S </a:t>
                      </a:r>
                      <a:r>
                        <a:rPr kumimoji="0" lang="en-US" sz="700" b="0" i="0" u="none" strike="noStrike" cap="none" normalizeH="0" baseline="0" dirty="0" err="1" smtClean="0">
                          <a:ln>
                            <a:noFill/>
                          </a:ln>
                          <a:solidFill>
                            <a:schemeClr val="tx1"/>
                          </a:solidFill>
                          <a:effectLst/>
                          <a:latin typeface="EYInterstate Light" pitchFamily="2" charset="0"/>
                        </a:rPr>
                        <a:t>Bhor</a:t>
                      </a:r>
                      <a:endParaRPr kumimoji="0" lang="en-US" sz="700" b="0" i="0" u="none" strike="noStrike" cap="none" normalizeH="0" baseline="0" dirty="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585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lang="en-GB" sz="700" dirty="0" smtClean="0">
                          <a:latin typeface="EYInterstate Light" pitchFamily="2" charset="0"/>
                        </a:rPr>
                        <a:t>R114 Potential delay to Outlook</a:t>
                      </a:r>
                      <a:r>
                        <a:rPr lang="en-GB" sz="700" baseline="0" dirty="0" smtClean="0">
                          <a:latin typeface="EYInterstate Light" pitchFamily="2" charset="0"/>
                        </a:rPr>
                        <a:t> Dormant deployment </a:t>
                      </a:r>
                      <a:r>
                        <a:rPr lang="en-GB" sz="700" dirty="0" smtClean="0">
                          <a:latin typeface="EYInterstate Light" pitchFamily="2" charset="0"/>
                        </a:rPr>
                        <a:t>as a result of IT SD Leads engagement in QA effort</a:t>
                      </a:r>
                      <a:endParaRPr kumimoji="0" lang="en-US" sz="700" b="0" i="0" u="none" strike="noStrike" kern="1200" cap="none" normalizeH="0" baseline="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tx2"/>
                          </a:solidFill>
                          <a:effectLst/>
                          <a:latin typeface="EYInterstate Light" pitchFamily="2" charset="0"/>
                          <a:ea typeface="+mn-ea"/>
                          <a:cs typeface="+mn-cs"/>
                        </a:rPr>
                        <a:t>Ensure expectation is set by the project re. impact of missing the July ending deadline for test completion</a:t>
                      </a:r>
                      <a:endParaRPr kumimoji="0" lang="en-US" sz="700" b="0" i="0" u="none" strike="noStrike" kern="1200" cap="none" normalizeH="0" baseline="0" noProof="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27/07/12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tx2"/>
                          </a:solidFill>
                          <a:effectLst/>
                          <a:latin typeface="EYInterstate Light" pitchFamily="2" charset="0"/>
                        </a:rPr>
                        <a:t>Lynn </a:t>
                      </a:r>
                      <a:r>
                        <a:rPr kumimoji="0" lang="en-US" sz="700" b="0" i="0" u="none" strike="noStrike" cap="none" normalizeH="0" baseline="0" dirty="0" err="1" smtClean="0">
                          <a:ln>
                            <a:noFill/>
                          </a:ln>
                          <a:solidFill>
                            <a:schemeClr val="tx2"/>
                          </a:solidFill>
                          <a:effectLst/>
                          <a:latin typeface="EYInterstate Light" pitchFamily="2" charset="0"/>
                        </a:rPr>
                        <a:t>Agoye</a:t>
                      </a: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6" name="Group 270"/>
          <p:cNvGraphicFramePr>
            <a:graphicFrameLocks noGrp="1"/>
          </p:cNvGraphicFramePr>
          <p:nvPr/>
        </p:nvGraphicFramePr>
        <p:xfrm>
          <a:off x="1195546" y="6553106"/>
          <a:ext cx="381000" cy="88326"/>
        </p:xfrm>
        <a:graphic>
          <a:graphicData uri="http://schemas.openxmlformats.org/drawingml/2006/table">
            <a:tbl>
              <a:tblPr/>
              <a:tblGrid>
                <a:gridCol w="381000"/>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7" name="Group 270"/>
          <p:cNvGraphicFramePr>
            <a:graphicFrameLocks noGrp="1"/>
          </p:cNvGraphicFramePr>
          <p:nvPr/>
        </p:nvGraphicFramePr>
        <p:xfrm>
          <a:off x="3979855" y="6582966"/>
          <a:ext cx="523914" cy="88326"/>
        </p:xfrm>
        <a:graphic>
          <a:graphicData uri="http://schemas.openxmlformats.org/drawingml/2006/table">
            <a:tbl>
              <a:tblPr/>
              <a:tblGrid>
                <a:gridCol w="523914"/>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8" name="Group 270"/>
          <p:cNvGraphicFramePr>
            <a:graphicFrameLocks noGrp="1"/>
          </p:cNvGraphicFramePr>
          <p:nvPr/>
        </p:nvGraphicFramePr>
        <p:xfrm>
          <a:off x="6515865" y="6550835"/>
          <a:ext cx="381000" cy="90597"/>
        </p:xfrm>
        <a:graphic>
          <a:graphicData uri="http://schemas.openxmlformats.org/drawingml/2006/table">
            <a:tbl>
              <a:tblPr/>
              <a:tblGrid>
                <a:gridCol w="381000"/>
              </a:tblGrid>
              <a:tr h="90597">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pSp>
        <p:nvGrpSpPr>
          <p:cNvPr id="9" name="Group 27"/>
          <p:cNvGrpSpPr/>
          <p:nvPr/>
        </p:nvGrpSpPr>
        <p:grpSpPr>
          <a:xfrm>
            <a:off x="285595" y="6400800"/>
            <a:ext cx="8734282" cy="494922"/>
            <a:chOff x="307495" y="6550829"/>
            <a:chExt cx="9404036" cy="494922"/>
          </a:xfrm>
        </p:grpSpPr>
        <p:sp>
          <p:nvSpPr>
            <p:cNvPr id="10" name="TextBox 9"/>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11" name="TextBox 10"/>
            <p:cNvSpPr txBox="1"/>
            <p:nvPr/>
          </p:nvSpPr>
          <p:spPr bwMode="gray">
            <a:xfrm>
              <a:off x="674554" y="6657945"/>
              <a:ext cx="612668"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latin typeface="EYInterstate Light" pitchFamily="2" charset="0"/>
              </a:endParaRPr>
            </a:p>
          </p:txBody>
        </p:sp>
        <p:sp>
          <p:nvSpPr>
            <p:cNvPr id="12" name="TextBox 11"/>
            <p:cNvSpPr txBox="1"/>
            <p:nvPr/>
          </p:nvSpPr>
          <p:spPr bwMode="gray">
            <a:xfrm>
              <a:off x="307495" y="6550829"/>
              <a:ext cx="4541628"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latin typeface="EYInterstate Light" pitchFamily="2" charset="0"/>
              </a:endParaRPr>
            </a:p>
          </p:txBody>
        </p:sp>
        <p:sp>
          <p:nvSpPr>
            <p:cNvPr id="13" name="TextBox 12"/>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14" name="TextBox 13"/>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15" name="Freeform 94"/>
          <p:cNvSpPr>
            <a:spLocks/>
          </p:cNvSpPr>
          <p:nvPr/>
        </p:nvSpPr>
        <p:spPr bwMode="gray">
          <a:xfrm>
            <a:off x="0" y="0"/>
            <a:ext cx="6706365"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700" dirty="0">
              <a:solidFill>
                <a:srgbClr val="000000"/>
              </a:solidFill>
              <a:latin typeface="EYInterstate Light" pitchFamily="2" charset="0"/>
            </a:endParaRPr>
          </a:p>
        </p:txBody>
      </p:sp>
      <p:sp>
        <p:nvSpPr>
          <p:cNvPr id="16" name="Rectangle 183"/>
          <p:cNvSpPr txBox="1">
            <a:spLocks noChangeArrowheads="1"/>
          </p:cNvSpPr>
          <p:nvPr/>
        </p:nvSpPr>
        <p:spPr bwMode="gray">
          <a:xfrm>
            <a:off x="1" y="-34669"/>
            <a:ext cx="7086599" cy="553998"/>
          </a:xfrm>
          <a:prstGeom prst="rect">
            <a:avLst/>
          </a:prstGeom>
        </p:spPr>
        <p:txBody>
          <a:bodyPr wrap="square">
            <a:spAutoFit/>
          </a:bodyPr>
          <a:lstStyle/>
          <a:p>
            <a:pPr lvl="0" algn="l" defTabSz="955675" eaLnBrk="0" hangingPunct="0">
              <a:spcAft>
                <a:spcPts val="0"/>
              </a:spcAft>
              <a:defRPr/>
            </a:pPr>
            <a:r>
              <a:rPr lang="en-US" sz="1600" b="1" kern="0" dirty="0" smtClean="0">
                <a:solidFill>
                  <a:srgbClr val="646464"/>
                </a:solidFill>
              </a:rPr>
              <a:t>Outlook Exchange Program Summary – 08 Jun 2012</a:t>
            </a:r>
          </a:p>
          <a:p>
            <a:pPr lvl="0" algn="l" defTabSz="955675" eaLnBrk="0" hangingPunct="0">
              <a:spcAft>
                <a:spcPts val="0"/>
              </a:spcAft>
              <a:defRPr/>
            </a:pPr>
            <a:r>
              <a:rPr lang="en-US" sz="1400" kern="0" dirty="0" smtClean="0">
                <a:solidFill>
                  <a:srgbClr val="646464"/>
                </a:solidFill>
              </a:rPr>
              <a:t>David Bingham/ Rewa Bouji</a:t>
            </a:r>
            <a:endParaRPr lang="en-US" sz="1400" kern="0" dirty="0">
              <a:solidFill>
                <a:srgbClr val="646464"/>
              </a:solidFill>
            </a:endParaRPr>
          </a:p>
        </p:txBody>
      </p:sp>
      <p:graphicFrame>
        <p:nvGraphicFramePr>
          <p:cNvPr id="17" name="Table 16"/>
          <p:cNvGraphicFramePr>
            <a:graphicFrameLocks noGrp="1"/>
          </p:cNvGraphicFramePr>
          <p:nvPr/>
        </p:nvGraphicFramePr>
        <p:xfrm>
          <a:off x="4752531" y="5257800"/>
          <a:ext cx="4391469" cy="1099482"/>
        </p:xfrm>
        <a:graphic>
          <a:graphicData uri="http://schemas.openxmlformats.org/drawingml/2006/table">
            <a:tbl>
              <a:tblPr/>
              <a:tblGrid>
                <a:gridCol w="4391469"/>
              </a:tblGrid>
              <a:tr h="14400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H.  GENERAL COMMENTS – must include reasoning for an overall Red or Amber Status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59026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Program remains RED.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Additional ~$6m to be absorbed by program for O365 network costs not in FY13 budget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Budget cuts impacting business deployment managers; lack of capacity to support Outlook Exchange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No clear environment strategy and test resources severely constrained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IAM program has insufficient resources DC build (CR to be raised)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Lack of TM resource and visibility of future service design/TOM means process design cannot start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Lack of DCC roll out schedule for Data Centre Build impacting build and deployment plans.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Risk that migration velocity for Cloud will not be achieved due to blackout periods and network capacity</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2"/>
          <p:cNvGraphicFramePr>
            <a:graphicFrameLocks noGrp="1"/>
          </p:cNvGraphicFramePr>
          <p:nvPr/>
        </p:nvGraphicFramePr>
        <p:xfrm>
          <a:off x="0" y="620689"/>
          <a:ext cx="4680520" cy="3997038"/>
        </p:xfrm>
        <a:graphic>
          <a:graphicData uri="http://schemas.openxmlformats.org/drawingml/2006/table">
            <a:tbl>
              <a:tblPr/>
              <a:tblGrid>
                <a:gridCol w="4680520"/>
              </a:tblGrid>
              <a:tr h="129789">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j-lt"/>
                        </a:rPr>
                        <a:t>A.  </a:t>
                      </a:r>
                      <a:r>
                        <a:rPr kumimoji="0" lang="en-GB" sz="700" b="1" i="0" u="none" strike="noStrike" cap="none" normalizeH="0" baseline="0" dirty="0" smtClean="0">
                          <a:ln>
                            <a:noFill/>
                          </a:ln>
                          <a:solidFill>
                            <a:schemeClr val="tx1"/>
                          </a:solidFill>
                          <a:effectLst/>
                          <a:latin typeface="+mj-lt"/>
                        </a:rPr>
                        <a:t>EXECUTIVE SUMMARY – a summary of the progress for this period (not of the initiative)</a:t>
                      </a:r>
                      <a:endParaRPr kumimoji="0" lang="en-US" sz="700" b="1" i="0" u="none" strike="noStrike" cap="none" normalizeH="0" baseline="0" dirty="0">
                        <a:ln>
                          <a:noFill/>
                        </a:ln>
                        <a:solidFill>
                          <a:schemeClr val="tx1"/>
                        </a:solidFill>
                        <a:effectLst/>
                        <a:latin typeface="+mj-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7280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Checkpoint 1 completed for planning of O365</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Costs for O365 link still under investigation; costs need to be understood before a CR can be raised to add the costs to the FY13 budget for Outlook Exchange. At present the costs are expected to exceed $6m. Additional information is pending from Information Security and the GNP program and should be available by the middle of next week</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CR for decision on storage design change (SAN to DAS) to be reviewed by DA 08/06, then raised to CCB</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MSFT Trust fix Investigations completed and link established for temporary VPN continue. Impacting DC build.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Lack of business deployment focus on Outlook Exchange due to resource constraint; risk of further impact to Outlook Exchange deployment due to FY13 cuts in budget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Test resources now being considered from MSFT/contract market to mitigate risk of delay to on-boarding test resource and increase SME capability with previous experience of Outlook Exchange.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Outlook Dormant Deployment approach to deploy on both GCL4 and GCL5 awaiting agreement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GB" sz="700" i="0" kern="1200" baseline="0" dirty="0" smtClean="0">
                          <a:solidFill>
                            <a:schemeClr val="tx1"/>
                          </a:solidFill>
                          <a:latin typeface="EYInterstate Light" pitchFamily="2" charset="0"/>
                          <a:ea typeface="+mn-ea"/>
                          <a:cs typeface="+mn-cs"/>
                        </a:rPr>
                        <a:t>Still no decision on </a:t>
                      </a:r>
                      <a:r>
                        <a:rPr lang="en-GB" sz="700" i="0" kern="1200" baseline="0" dirty="0" err="1" smtClean="0">
                          <a:solidFill>
                            <a:schemeClr val="tx1"/>
                          </a:solidFill>
                          <a:latin typeface="EYInterstate Light" pitchFamily="2" charset="0"/>
                          <a:ea typeface="+mn-ea"/>
                          <a:cs typeface="+mn-cs"/>
                        </a:rPr>
                        <a:t>on</a:t>
                      </a:r>
                      <a:r>
                        <a:rPr lang="en-GB" sz="700" i="0" kern="1200" baseline="0" dirty="0" smtClean="0">
                          <a:solidFill>
                            <a:schemeClr val="tx1"/>
                          </a:solidFill>
                          <a:latin typeface="EYInterstate Light" pitchFamily="2" charset="0"/>
                          <a:ea typeface="+mn-ea"/>
                          <a:cs typeface="+mn-cs"/>
                        </a:rPr>
                        <a:t>-</a:t>
                      </a:r>
                      <a:r>
                        <a:rPr lang="en-GB" sz="700" i="0" kern="1200" baseline="0" dirty="0" err="1" smtClean="0">
                          <a:solidFill>
                            <a:schemeClr val="tx1"/>
                          </a:solidFill>
                          <a:latin typeface="EYInterstate Light" pitchFamily="2" charset="0"/>
                          <a:ea typeface="+mn-ea"/>
                          <a:cs typeface="+mn-cs"/>
                        </a:rPr>
                        <a:t>prem</a:t>
                      </a:r>
                      <a:r>
                        <a:rPr lang="en-GB" sz="700" i="0" kern="1200" baseline="0" dirty="0" smtClean="0">
                          <a:solidFill>
                            <a:schemeClr val="tx1"/>
                          </a:solidFill>
                          <a:latin typeface="EYInterstate Light" pitchFamily="2" charset="0"/>
                          <a:ea typeface="+mn-ea"/>
                          <a:cs typeface="+mn-cs"/>
                        </a:rPr>
                        <a:t> countries or countries where a proportion of users would stay on-prem. Guidance is to continue to proceed on basis of assumptions but we are reaching the point where this is no longer adequate and will impact discussions with </a:t>
                      </a:r>
                      <a:r>
                        <a:rPr lang="en-GB" sz="700" i="0" kern="1200" baseline="0" dirty="0" err="1" smtClean="0">
                          <a:solidFill>
                            <a:schemeClr val="tx1"/>
                          </a:solidFill>
                          <a:latin typeface="EYInterstate Light" pitchFamily="2" charset="0"/>
                          <a:ea typeface="+mn-ea"/>
                          <a:cs typeface="+mn-cs"/>
                        </a:rPr>
                        <a:t>Microland</a:t>
                      </a:r>
                      <a:r>
                        <a:rPr lang="en-GB" sz="700" i="0" kern="1200" baseline="0" dirty="0" smtClean="0">
                          <a:solidFill>
                            <a:schemeClr val="tx1"/>
                          </a:solidFill>
                          <a:latin typeface="EYInterstate Light" pitchFamily="2" charset="0"/>
                          <a:ea typeface="+mn-ea"/>
                          <a:cs typeface="+mn-cs"/>
                        </a:rPr>
                        <a:t> and Binary Tree</a:t>
                      </a:r>
                      <a:endParaRPr lang="en-US" sz="700" i="0" kern="1200" baseline="0" dirty="0" smtClean="0">
                        <a:solidFill>
                          <a:schemeClr val="tx1"/>
                        </a:solidFill>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9789">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B.  KEY ACCOMPLISHMENTS THIS PERIOD</a:t>
                      </a:r>
                      <a:endParaRPr kumimoji="0" lang="en-CA"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343703">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Program: Budget under review for I&amp;O costs as likely to need increase FY13 provision</a:t>
                      </a:r>
                    </a:p>
                    <a:p>
                      <a:pPr marL="85725" marR="0" lvl="1"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Infrastructure O365: </a:t>
                      </a:r>
                      <a:r>
                        <a:rPr lang="en-GB" sz="700" i="0" kern="1200" baseline="0" dirty="0" smtClean="0">
                          <a:solidFill>
                            <a:schemeClr val="tx1"/>
                          </a:solidFill>
                          <a:latin typeface="EYInterstate Light" pitchFamily="2" charset="0"/>
                          <a:ea typeface="+mn-ea"/>
                          <a:cs typeface="+mn-cs"/>
                        </a:rPr>
                        <a:t>VPN connectivity issues were resolved allowing the validation of the Forrest trust setup and the beginning of the domain controller build out. DCCID document for US delivered and reviewed. More hardware items are required than the original business case envisaged.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GB" sz="700" i="0" kern="1200" baseline="0" dirty="0" smtClean="0">
                          <a:solidFill>
                            <a:schemeClr val="tx1"/>
                          </a:solidFill>
                          <a:latin typeface="EYInterstate Light" pitchFamily="2" charset="0"/>
                          <a:ea typeface="+mn-ea"/>
                          <a:cs typeface="+mn-cs"/>
                        </a:rPr>
                        <a:t>Infrastructure On-Prem: Revised </a:t>
                      </a:r>
                      <a:r>
                        <a:rPr lang="en-AU" sz="700" i="0" kern="1200" baseline="0" dirty="0" smtClean="0">
                          <a:solidFill>
                            <a:schemeClr val="tx1"/>
                          </a:solidFill>
                          <a:latin typeface="EYInterstate Light" pitchFamily="2" charset="0"/>
                          <a:ea typeface="+mn-ea"/>
                          <a:cs typeface="+mn-cs"/>
                        </a:rPr>
                        <a:t>Migration and coexistence docs expected, Functional spec awaiting DA signoff. DCC schedule still unknown. Proceeding on assumed list of on-prem countries.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Application Delivery: MIA engagement approach delayed due to sickness and vacation. J Hartley on leave for 3 weeks so progress on hold. Dormant deployment approach to engage ITSDs a significant risk to progress. Outlook client requirements being circulated with L&amp;O Governance </a:t>
                      </a:r>
                      <a:r>
                        <a:rPr lang="en-US" sz="700" i="0" kern="1200" baseline="0" dirty="0" err="1" smtClean="0">
                          <a:solidFill>
                            <a:schemeClr val="tx1"/>
                          </a:solidFill>
                          <a:latin typeface="EYInterstate Light" pitchFamily="2" charset="0"/>
                          <a:ea typeface="+mn-ea"/>
                          <a:cs typeface="+mn-cs"/>
                        </a:rPr>
                        <a:t>Grp</a:t>
                      </a:r>
                      <a:r>
                        <a:rPr lang="en-US" sz="700" i="0" kern="1200" baseline="0" dirty="0" smtClean="0">
                          <a:solidFill>
                            <a:schemeClr val="tx1"/>
                          </a:solidFill>
                          <a:latin typeface="EYInterstate Light" pitchFamily="2" charset="0"/>
                          <a:ea typeface="+mn-ea"/>
                          <a:cs typeface="+mn-cs"/>
                        </a:rPr>
                        <a:t>. Exchange </a:t>
                      </a:r>
                      <a:r>
                        <a:rPr lang="en-US" sz="700" i="0" kern="1200" baseline="0" dirty="0" err="1" smtClean="0">
                          <a:solidFill>
                            <a:schemeClr val="tx1"/>
                          </a:solidFill>
                          <a:latin typeface="EYInterstate Light" pitchFamily="2" charset="0"/>
                          <a:ea typeface="+mn-ea"/>
                          <a:cs typeface="+mn-cs"/>
                        </a:rPr>
                        <a:t>reqs</a:t>
                      </a:r>
                      <a:r>
                        <a:rPr lang="en-US" sz="700" i="0" kern="1200" baseline="0" dirty="0" smtClean="0">
                          <a:solidFill>
                            <a:schemeClr val="tx1"/>
                          </a:solidFill>
                          <a:latin typeface="EYInterstate Light" pitchFamily="2" charset="0"/>
                          <a:ea typeface="+mn-ea"/>
                          <a:cs typeface="+mn-cs"/>
                        </a:rPr>
                        <a:t> due to complete in Aug</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Migration &amp; Scheduling: Functional testers have commenced system integration testing and have started late due to access and availability of the right tools but this does not affect the critical path as performance testing is being run in parallel. Migration process design continues. Revised deployment schedule circulated by Business Deployment for review and discussion</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lang="en-US" sz="700" i="0" kern="1200" baseline="0" dirty="0" smtClean="0">
                          <a:solidFill>
                            <a:schemeClr val="tx1"/>
                          </a:solidFill>
                          <a:latin typeface="EYInterstate Light" pitchFamily="2" charset="0"/>
                          <a:ea typeface="+mn-ea"/>
                          <a:cs typeface="+mn-cs"/>
                        </a:rPr>
                        <a:t>Testing: Test Level3 </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plan amended to incorporate additional activities &amp; deliverables. Produced the ROM estimates &amp; resource forecast for FY13. Amended Job Descriptions to add Outlook/Exchange related skills and sent to </a:t>
                      </a:r>
                      <a:r>
                        <a:rPr kumimoji="0" lang="en-US" sz="700" b="0" i="0" u="none" strike="noStrike" kern="1200" cap="none" normalizeH="0" baseline="0" dirty="0" err="1" smtClean="0">
                          <a:ln>
                            <a:noFill/>
                          </a:ln>
                          <a:solidFill>
                            <a:schemeClr val="tx1"/>
                          </a:solidFill>
                          <a:effectLst/>
                          <a:latin typeface="EYInterstate Light" pitchFamily="2" charset="0"/>
                          <a:ea typeface="+mn-ea"/>
                          <a:cs typeface="+mn-cs"/>
                        </a:rPr>
                        <a:t>Hexaware</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 and Resource Planning to look at options for securing resources from the contract market if </a:t>
                      </a:r>
                      <a:r>
                        <a:rPr kumimoji="0" lang="en-US" sz="700" b="0" i="0" u="none" strike="noStrike" kern="1200" cap="none" normalizeH="0" baseline="0" dirty="0" err="1" smtClean="0">
                          <a:ln>
                            <a:noFill/>
                          </a:ln>
                          <a:solidFill>
                            <a:schemeClr val="tx1"/>
                          </a:solidFill>
                          <a:effectLst/>
                          <a:latin typeface="EYInterstate Light" pitchFamily="2" charset="0"/>
                          <a:ea typeface="+mn-ea"/>
                          <a:cs typeface="+mn-cs"/>
                        </a:rPr>
                        <a:t>Hexaware</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/GSS cannot fulfill. Discussions also to be held with Microsoft to determine whether specialist testing assistance can be brought on to assist with test planning and validation of risk-based testing approach</a:t>
                      </a:r>
                      <a:endParaRPr lang="en-US" sz="700" i="0" kern="1200" baseline="0" dirty="0" smtClean="0">
                        <a:solidFill>
                          <a:srgbClr val="FF0000"/>
                        </a:solidFill>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9" name="Table 18"/>
          <p:cNvGraphicFramePr>
            <a:graphicFrameLocks noGrp="1"/>
          </p:cNvGraphicFramePr>
          <p:nvPr/>
        </p:nvGraphicFramePr>
        <p:xfrm>
          <a:off x="4752531" y="609600"/>
          <a:ext cx="4391470" cy="2075094"/>
        </p:xfrm>
        <a:graphic>
          <a:graphicData uri="http://schemas.openxmlformats.org/drawingml/2006/table">
            <a:tbl>
              <a:tblPr/>
              <a:tblGrid>
                <a:gridCol w="1426495"/>
                <a:gridCol w="697618"/>
                <a:gridCol w="587987"/>
                <a:gridCol w="612569"/>
                <a:gridCol w="533400"/>
                <a:gridCol w="533401"/>
              </a:tblGrid>
              <a:tr h="123744">
                <a:tc gridSpan="6">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EYInterstate" pitchFamily="2" charset="0"/>
                          <a:ea typeface="+mn-ea"/>
                          <a:cs typeface="+mn-cs"/>
                        </a:rPr>
                        <a:t>E.  </a:t>
                      </a:r>
                      <a:r>
                        <a:rPr kumimoji="0" lang="en-US" sz="700" b="1" i="0" u="none" strike="noStrike" kern="1200" cap="none" normalizeH="0" baseline="0" dirty="0" smtClean="0">
                          <a:ln>
                            <a:noFill/>
                          </a:ln>
                          <a:solidFill>
                            <a:schemeClr val="tx1"/>
                          </a:solidFill>
                          <a:effectLst/>
                          <a:latin typeface="EYInterstate" pitchFamily="2" charset="0"/>
                          <a:ea typeface="+mn-ea"/>
                          <a:cs typeface="+mn-cs"/>
                        </a:rPr>
                        <a:t>MILESTONES </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R w="6350" cap="flat" cmpd="sng" algn="ctr">
                      <a:solidFill>
                        <a:schemeClr val="accent2"/>
                      </a:solidFill>
                      <a:prstDash val="solid"/>
                      <a:round/>
                      <a:headEnd type="none" w="med" len="med"/>
                      <a:tailEnd type="none" w="med" len="med"/>
                    </a:lnR>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63297">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Individual Milestone Name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Planned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Projected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Confidence</a:t>
                      </a: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7653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Outlook &amp; Exchange requirements complete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29-JUN-12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29-AUG-12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TARGET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46502">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Migration DB &amp; Portal Ready</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29-JUN-12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29-JUN-12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COMMITTED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GREEN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GREEN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7653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O365 Service Ready</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13-NOV-12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13-NOV-12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TARGET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AMBER</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AMBER</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64404">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Dormant Deployment complete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09-OCT-12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30-NOV-12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TARGET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AMBER</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64404">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On-premises infrastructure Ready (pending DCC schedule)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TBD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TBD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TBD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N/A</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N/A</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6315">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O365 Customer Validation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12-DEC-12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12-DEC-12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TARGET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AMBER</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AMBER</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126315">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UAT complete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25-FEB-13</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25-FEB-13</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TARGET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GREEN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GREEN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26315">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Pilot go-live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04-MAR-13</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04-MAR-13</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TARGET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GREEN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GREEN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26315">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Pilot end (incl. Go No Go prep)</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12-APR-13</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12-APR-13</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TARGET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GREEN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GREEN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26315">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Live deployment Go No Go</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17-APR-13</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17-APR-13</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TARGET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GREEN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GREEN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26315">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Live deployment start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22-APR-13</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22-APR-13</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TARGET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GREEN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GREEN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 name="Group 272"/>
          <p:cNvGraphicFramePr>
            <a:graphicFrameLocks noGrp="1"/>
          </p:cNvGraphicFramePr>
          <p:nvPr/>
        </p:nvGraphicFramePr>
        <p:xfrm>
          <a:off x="0" y="4686300"/>
          <a:ext cx="4680520" cy="1663542"/>
        </p:xfrm>
        <a:graphic>
          <a:graphicData uri="http://schemas.openxmlformats.org/drawingml/2006/table">
            <a:tbl>
              <a:tblPr/>
              <a:tblGrid>
                <a:gridCol w="4680520"/>
              </a:tblGrid>
              <a:tr h="169659">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lang="en-CA" sz="700" b="1" i="0" kern="1200" baseline="0" dirty="0">
                          <a:solidFill>
                            <a:schemeClr val="tx1"/>
                          </a:solidFill>
                          <a:latin typeface="EYInterstate Light" pitchFamily="2" charset="0"/>
                          <a:ea typeface="+mn-ea"/>
                          <a:cs typeface="+mn-cs"/>
                        </a:rPr>
                        <a:t>C.  ACTIVITIES BEHIND SCHEDULE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5760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Decision on On-Prem countries, DR sites, and DCC schedule still outstanding – resolution date unknown, with AG</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Completion of MMD now due 29/06</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Complete PMP for Outlook Exchange – 15/06</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Outlook Dormant Deployment – 30/11/12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Recruitment of 2 PMs for Application Delivery Workstream – cannot occur until FY13</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69659">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lang="en-US" sz="700" b="1" i="0" kern="1200" baseline="0" dirty="0" smtClean="0">
                          <a:solidFill>
                            <a:schemeClr val="tx1"/>
                          </a:solidFill>
                          <a:latin typeface="EYInterstate Light" pitchFamily="2" charset="0"/>
                          <a:ea typeface="+mn-ea"/>
                          <a:cs typeface="+mn-cs"/>
                        </a:rPr>
                        <a:t>D.  </a:t>
                      </a:r>
                      <a:r>
                        <a:rPr lang="en-US" sz="700" b="1" i="0" kern="1200" baseline="0" dirty="0">
                          <a:solidFill>
                            <a:schemeClr val="tx1"/>
                          </a:solidFill>
                          <a:latin typeface="EYInterstate Light" pitchFamily="2" charset="0"/>
                          <a:ea typeface="+mn-ea"/>
                          <a:cs typeface="+mn-cs"/>
                        </a:rPr>
                        <a:t>KEY ACTIVITIES PLANNED NEXT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677396">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Approve functional specification for O365</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DA Approval for SAN to DAS design change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Confirm On-Prem vs Cloud country list and user numbers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Review Business Deployment strategy and agree options given busy period/black out constraint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Confirm MIA approach for engagement with ITSDs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lang="en-US" sz="700" i="0" kern="1200" baseline="0" dirty="0" smtClean="0">
                          <a:solidFill>
                            <a:schemeClr val="tx1"/>
                          </a:solidFill>
                          <a:latin typeface="EYInterstate Light" pitchFamily="2" charset="0"/>
                          <a:ea typeface="+mn-ea"/>
                          <a:cs typeface="+mn-cs"/>
                        </a:rPr>
                        <a:t>Finalise budget figures for I&amp;O and costs for O365 network link build and raise CRs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272"/>
          <p:cNvGraphicFramePr>
            <a:graphicFrameLocks noGrp="1"/>
          </p:cNvGraphicFramePr>
          <p:nvPr/>
        </p:nvGraphicFramePr>
        <p:xfrm>
          <a:off x="0" y="3429000"/>
          <a:ext cx="4680520" cy="3096344"/>
        </p:xfrm>
        <a:graphic>
          <a:graphicData uri="http://schemas.openxmlformats.org/drawingml/2006/table">
            <a:tbl>
              <a:tblPr/>
              <a:tblGrid>
                <a:gridCol w="4680520"/>
              </a:tblGrid>
              <a:tr h="161808">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a:ln>
                            <a:noFill/>
                          </a:ln>
                          <a:solidFill>
                            <a:schemeClr val="tx1"/>
                          </a:solidFill>
                          <a:effectLst/>
                          <a:latin typeface="EYInterstate" pitchFamily="2" charset="0"/>
                        </a:rPr>
                        <a:t>C.  ACTIVITIES BEHIND SCHEDULE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49181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Signing  the interim  </a:t>
                      </a:r>
                      <a:r>
                        <a:rPr kumimoji="0" lang="en-US" sz="700" b="0" i="0" u="none" strike="noStrike" kern="1200" cap="none" normalizeH="0" baseline="0" dirty="0" err="1" smtClean="0">
                          <a:ln>
                            <a:noFill/>
                          </a:ln>
                          <a:solidFill>
                            <a:schemeClr val="tx2"/>
                          </a:solidFill>
                          <a:effectLst/>
                          <a:latin typeface="EYInterstate Light" pitchFamily="2" charset="0"/>
                          <a:ea typeface="+mn-ea"/>
                          <a:cs typeface="+mn-cs"/>
                        </a:rPr>
                        <a:t>SoW</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 expected 15 Jun 2012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Finalizing the AT&amp;T questionnaire – the vast majority of questions have now been submitted, and we are going through these in the workshops, but we will be sending them a final copy – 12 Jun 2012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Slide deck for management  regarding the decision re. delivery of Lync voice to countries that have existing soft phones is overdue, this is now due to complete by 15</a:t>
                      </a:r>
                      <a:r>
                        <a:rPr kumimoji="0" lang="en-US" sz="700" b="0" i="0" u="none" strike="noStrike" kern="1200" cap="none" normalizeH="0" baseline="30000" dirty="0" smtClean="0">
                          <a:ln>
                            <a:noFill/>
                          </a:ln>
                          <a:solidFill>
                            <a:schemeClr val="tx2"/>
                          </a:solidFill>
                          <a:effectLst/>
                          <a:latin typeface="EYInterstate Light" pitchFamily="2" charset="0"/>
                          <a:ea typeface="+mn-ea"/>
                          <a:cs typeface="+mn-cs"/>
                        </a:rPr>
                        <a:t>th</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June  - 15 Jun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61808">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D.  </a:t>
                      </a:r>
                      <a:r>
                        <a:rPr kumimoji="0" lang="en-US" sz="700" b="1" i="0" u="none" strike="noStrike" cap="none" normalizeH="0" baseline="0" dirty="0">
                          <a:ln>
                            <a:noFill/>
                          </a:ln>
                          <a:solidFill>
                            <a:schemeClr val="tx1"/>
                          </a:solidFill>
                          <a:effectLst/>
                          <a:latin typeface="EYInterstate" pitchFamily="2" charset="0"/>
                        </a:rPr>
                        <a:t>KEY ACTIVITIES PLANNED NEXT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80917">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Two more workshops with AT&amp;T scheduled to discuss the voice infrastructure – 13 &amp; 14 June 2012</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Submit completed questionnaire to AT&amp;T – 12 Jun 2012</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Completion of slide deck for Management re decision on delivery of </a:t>
                      </a:r>
                      <a:r>
                        <a:rPr kumimoji="0" lang="en-US" sz="700" b="0" i="0" u="none" strike="noStrike" kern="1200" cap="none" normalizeH="0" baseline="0" dirty="0" err="1" smtClean="0">
                          <a:ln>
                            <a:noFill/>
                          </a:ln>
                          <a:solidFill>
                            <a:schemeClr val="tx1"/>
                          </a:solidFill>
                          <a:effectLst/>
                          <a:latin typeface="EYInterstate Light" pitchFamily="2" charset="0"/>
                          <a:ea typeface="+mn-ea"/>
                          <a:cs typeface="+mn-cs"/>
                        </a:rPr>
                        <a:t>Lync</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 voice functionality to existing soft phone users – 15 Jun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Lync Device Contract to </a:t>
                      </a:r>
                      <a:r>
                        <a:rPr kumimoji="0" lang="en-US" sz="700" b="0" i="0" u="none" strike="noStrike" kern="1200" cap="none" normalizeH="0" baseline="0" smtClean="0">
                          <a:ln>
                            <a:noFill/>
                          </a:ln>
                          <a:solidFill>
                            <a:schemeClr val="tx1"/>
                          </a:solidFill>
                          <a:effectLst/>
                          <a:latin typeface="EYInterstate Light" pitchFamily="2" charset="0"/>
                          <a:ea typeface="+mn-ea"/>
                          <a:cs typeface="+mn-cs"/>
                        </a:rPr>
                        <a:t>b finalized </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and signed – 15 </a:t>
                      </a:r>
                      <a:r>
                        <a:rPr kumimoji="0" lang="en-US" sz="700" b="0" i="0" u="none" strike="noStrike" kern="1200" cap="none" normalizeH="0" baseline="0" dirty="0" err="1" smtClean="0">
                          <a:ln>
                            <a:noFill/>
                          </a:ln>
                          <a:solidFill>
                            <a:schemeClr val="tx1"/>
                          </a:solidFill>
                          <a:effectLst/>
                          <a:latin typeface="EYInterstate Light" pitchFamily="2" charset="0"/>
                          <a:ea typeface="+mn-ea"/>
                          <a:cs typeface="+mn-cs"/>
                        </a:rPr>
                        <a:t>jun</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 12</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Confirmation to be given from Microsoft of the correct version of </a:t>
                      </a:r>
                      <a:r>
                        <a:rPr kumimoji="0" lang="en-US" sz="700" b="0" i="0" u="none" strike="noStrike" kern="1200" cap="none" normalizeH="0" baseline="0" dirty="0" err="1" smtClean="0">
                          <a:ln>
                            <a:noFill/>
                          </a:ln>
                          <a:solidFill>
                            <a:schemeClr val="tx1"/>
                          </a:solidFill>
                          <a:effectLst/>
                          <a:latin typeface="EYInterstate Light" pitchFamily="2" charset="0"/>
                          <a:ea typeface="+mn-ea"/>
                          <a:cs typeface="+mn-cs"/>
                        </a:rPr>
                        <a:t>Lync</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 Silverlight to be included in GCL5 &amp; GCL5  </a:t>
                      </a:r>
                      <a:r>
                        <a:rPr kumimoji="0" lang="en-US" sz="700" b="0" i="0" u="none" strike="noStrike" kern="1200" cap="none" normalizeH="0" baseline="0" dirty="0" err="1" smtClean="0">
                          <a:ln>
                            <a:noFill/>
                          </a:ln>
                          <a:solidFill>
                            <a:schemeClr val="tx1"/>
                          </a:solidFill>
                          <a:effectLst/>
                          <a:latin typeface="EYInterstate Light" pitchFamily="2" charset="0"/>
                          <a:ea typeface="+mn-ea"/>
                          <a:cs typeface="+mn-cs"/>
                        </a:rPr>
                        <a:t>loadset</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 – 13 Jun 12</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Requirements review between BA team &amp; James </a:t>
                      </a:r>
                      <a:r>
                        <a:rPr kumimoji="0" lang="en-US" sz="700" b="0" i="0" u="none" strike="noStrike" kern="1200" cap="none" normalizeH="0" baseline="0" dirty="0" err="1" smtClean="0">
                          <a:ln>
                            <a:noFill/>
                          </a:ln>
                          <a:solidFill>
                            <a:schemeClr val="tx1"/>
                          </a:solidFill>
                          <a:effectLst/>
                          <a:latin typeface="EYInterstate Light" pitchFamily="2" charset="0"/>
                          <a:ea typeface="+mn-ea"/>
                          <a:cs typeface="+mn-cs"/>
                        </a:rPr>
                        <a:t>Memmott</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 – 15 Jun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 name="Group 852"/>
          <p:cNvGraphicFramePr>
            <a:graphicFrameLocks noGrp="1"/>
          </p:cNvGraphicFramePr>
          <p:nvPr/>
        </p:nvGraphicFramePr>
        <p:xfrm>
          <a:off x="4716016" y="4760382"/>
          <a:ext cx="4391470" cy="803010"/>
        </p:xfrm>
        <a:graphic>
          <a:graphicData uri="http://schemas.openxmlformats.org/drawingml/2006/table">
            <a:tbl>
              <a:tblPr/>
              <a:tblGrid>
                <a:gridCol w="1348673"/>
                <a:gridCol w="1783164"/>
                <a:gridCol w="720080"/>
                <a:gridCol w="539553"/>
              </a:tblGrid>
              <a:tr h="222815">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G. MATTERS FOR IMMEDIATE ATTENTION – typically specific current issues or scope changes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22815">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Issues to be resolved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Recommended Action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Target Date</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Completed By</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32155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smtClean="0">
                        <a:ln>
                          <a:noFill/>
                        </a:ln>
                        <a:solidFill>
                          <a:schemeClr val="tx1"/>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smtClean="0">
                        <a:ln>
                          <a:noFill/>
                        </a:ln>
                        <a:solidFill>
                          <a:schemeClr val="tx1"/>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4" name="Group 270"/>
          <p:cNvGraphicFramePr>
            <a:graphicFrameLocks noGrp="1"/>
          </p:cNvGraphicFramePr>
          <p:nvPr/>
        </p:nvGraphicFramePr>
        <p:xfrm>
          <a:off x="7391400" y="36991"/>
          <a:ext cx="1628477" cy="535063"/>
        </p:xfrm>
        <a:graphic>
          <a:graphicData uri="http://schemas.openxmlformats.org/drawingml/2006/table">
            <a:tbl>
              <a:tblPr/>
              <a:tblGrid>
                <a:gridCol w="814238"/>
                <a:gridCol w="814239"/>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5" name="Table 4"/>
          <p:cNvGraphicFramePr>
            <a:graphicFrameLocks noGrp="1"/>
          </p:cNvGraphicFramePr>
          <p:nvPr/>
        </p:nvGraphicFramePr>
        <p:xfrm>
          <a:off x="4716016" y="2132855"/>
          <a:ext cx="4391469" cy="2628579"/>
        </p:xfrm>
        <a:graphic>
          <a:graphicData uri="http://schemas.openxmlformats.org/drawingml/2006/table">
            <a:tbl>
              <a:tblPr/>
              <a:tblGrid>
                <a:gridCol w="1619669"/>
                <a:gridCol w="1512169"/>
                <a:gridCol w="504056"/>
                <a:gridCol w="755575"/>
              </a:tblGrid>
              <a:tr h="263824">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F.  KEY RISKS – typically future challenges or external circumstances that may affect the initiative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63824">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Risks to be addressed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Mitigating Action</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Target Date</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Completed By</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73148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R78 - Network bandwidth impact on migration velocity and likely Lync performance will result in significant impact to current migration planning assumptions and end user experience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Target areas with sufficient bandwidth for pilot, then use that data to calculate suitability of other sites.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2"/>
                          </a:solidFill>
                          <a:effectLst/>
                          <a:latin typeface="EYInterstate Light" pitchFamily="2" charset="0"/>
                        </a:rPr>
                        <a:t>Oct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2"/>
                          </a:solidFill>
                          <a:effectLst/>
                          <a:latin typeface="EYInterstate Light" pitchFamily="2" charset="0"/>
                        </a:rPr>
                        <a:t>Stephen McCartney</a:t>
                      </a: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63795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R77 - Independence Issue with RFP – remaining vendors are tier 1 customer</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Independence have approved the interim </a:t>
                      </a:r>
                      <a:r>
                        <a:rPr kumimoji="0" lang="en-US" sz="700" b="0" i="0" u="none" strike="noStrike" kern="1200" cap="none" normalizeH="0" baseline="0" dirty="0" err="1" smtClean="0">
                          <a:ln>
                            <a:noFill/>
                          </a:ln>
                          <a:solidFill>
                            <a:schemeClr val="tx1"/>
                          </a:solidFill>
                          <a:effectLst/>
                          <a:latin typeface="EYInterstate Light" pitchFamily="2" charset="0"/>
                          <a:ea typeface="+mn-ea"/>
                          <a:cs typeface="+mn-cs"/>
                        </a:rPr>
                        <a:t>SoW.</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Work still ongoing on the overall MSA.</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noProof="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2"/>
                          </a:solidFill>
                          <a:effectLst/>
                          <a:latin typeface="EYInterstate Light" pitchFamily="2" charset="0"/>
                        </a:rPr>
                        <a:t>06 Jul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2"/>
                          </a:solidFill>
                          <a:effectLst/>
                          <a:latin typeface="EYInterstate Light" pitchFamily="2" charset="0"/>
                        </a:rPr>
                        <a:t>Ana Buron</a:t>
                      </a: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73148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R74 - Interoperability issues between Lync  and other </a:t>
                      </a:r>
                      <a:r>
                        <a:rPr kumimoji="0" lang="en-US" sz="700" b="0" i="0" u="none" strike="noStrike" kern="1200" cap="none" normalizeH="0" baseline="0" noProof="0" dirty="0" err="1" smtClean="0">
                          <a:ln>
                            <a:noFill/>
                          </a:ln>
                          <a:solidFill>
                            <a:schemeClr val="tx1"/>
                          </a:solidFill>
                          <a:effectLst/>
                          <a:latin typeface="EYInterstate Light" pitchFamily="2" charset="0"/>
                          <a:ea typeface="+mn-ea"/>
                          <a:cs typeface="+mn-cs"/>
                        </a:rPr>
                        <a:t>softphone</a:t>
                      </a:r>
                      <a:r>
                        <a:rPr kumimoji="0" lang="en-US" sz="700" b="0" i="0" u="none" strike="noStrike" kern="1200" cap="none" normalizeH="0" baseline="0" noProof="0" dirty="0" smtClean="0">
                          <a:ln>
                            <a:noFill/>
                          </a:ln>
                          <a:solidFill>
                            <a:schemeClr val="tx1"/>
                          </a:solidFill>
                          <a:effectLst/>
                          <a:latin typeface="EYInterstate Light" pitchFamily="2" charset="0"/>
                          <a:ea typeface="+mn-ea"/>
                          <a:cs typeface="+mn-cs"/>
                        </a:rPr>
                        <a:t> clients  - this may also have an impact on current Lync devices that have been evaluated and selected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tx2"/>
                          </a:solidFill>
                          <a:effectLst/>
                          <a:latin typeface="EYInterstate Light" pitchFamily="2" charset="0"/>
                          <a:ea typeface="+mn-ea"/>
                          <a:cs typeface="+mn-cs"/>
                        </a:rPr>
                        <a:t>Test compatibility of </a:t>
                      </a:r>
                      <a:r>
                        <a:rPr kumimoji="0" lang="en-US" sz="700" b="0" i="0" u="none" strike="noStrike" kern="1200" cap="none" normalizeH="0" baseline="0" noProof="0" dirty="0" err="1" smtClean="0">
                          <a:ln>
                            <a:noFill/>
                          </a:ln>
                          <a:solidFill>
                            <a:schemeClr val="tx2"/>
                          </a:solidFill>
                          <a:effectLst/>
                          <a:latin typeface="EYInterstate Light" pitchFamily="2" charset="0"/>
                          <a:ea typeface="+mn-ea"/>
                          <a:cs typeface="+mn-cs"/>
                        </a:rPr>
                        <a:t>Lync</a:t>
                      </a:r>
                      <a:r>
                        <a:rPr kumimoji="0" lang="en-US" sz="700" b="0" i="0" u="none" strike="noStrike" kern="1200" cap="none" normalizeH="0" baseline="0" noProof="0" dirty="0" smtClean="0">
                          <a:ln>
                            <a:noFill/>
                          </a:ln>
                          <a:solidFill>
                            <a:schemeClr val="tx2"/>
                          </a:solidFill>
                          <a:effectLst/>
                          <a:latin typeface="EYInterstate Light" pitchFamily="2" charset="0"/>
                          <a:ea typeface="+mn-ea"/>
                          <a:cs typeface="+mn-cs"/>
                        </a:rPr>
                        <a:t>, Cisco and Alcatel and feed back results to DA, decision may be to not deploy </a:t>
                      </a:r>
                      <a:r>
                        <a:rPr kumimoji="0" lang="en-US" sz="700" b="0" i="0" u="none" strike="noStrike" kern="1200" cap="none" normalizeH="0" baseline="0" noProof="0" dirty="0" err="1" smtClean="0">
                          <a:ln>
                            <a:noFill/>
                          </a:ln>
                          <a:solidFill>
                            <a:schemeClr val="tx2"/>
                          </a:solidFill>
                          <a:effectLst/>
                          <a:latin typeface="EYInterstate Light" pitchFamily="2" charset="0"/>
                          <a:ea typeface="+mn-ea"/>
                          <a:cs typeface="+mn-cs"/>
                        </a:rPr>
                        <a:t>Lync</a:t>
                      </a:r>
                      <a:r>
                        <a:rPr kumimoji="0" lang="en-US" sz="700" b="0" i="0" u="none" strike="noStrike" kern="1200" cap="none" normalizeH="0" baseline="0" noProof="0" dirty="0" smtClean="0">
                          <a:ln>
                            <a:noFill/>
                          </a:ln>
                          <a:solidFill>
                            <a:schemeClr val="tx2"/>
                          </a:solidFill>
                          <a:effectLst/>
                          <a:latin typeface="EYInterstate Light" pitchFamily="2" charset="0"/>
                          <a:ea typeface="+mn-ea"/>
                          <a:cs typeface="+mn-cs"/>
                        </a:rPr>
                        <a:t> Voice functionality to countries that already have </a:t>
                      </a:r>
                      <a:r>
                        <a:rPr kumimoji="0" lang="en-US" sz="700" b="0" i="0" u="none" strike="noStrike" kern="1200" cap="none" normalizeH="0" baseline="0" noProof="0" dirty="0" err="1" smtClean="0">
                          <a:ln>
                            <a:noFill/>
                          </a:ln>
                          <a:solidFill>
                            <a:schemeClr val="tx2"/>
                          </a:solidFill>
                          <a:effectLst/>
                          <a:latin typeface="EYInterstate Light" pitchFamily="2" charset="0"/>
                          <a:ea typeface="+mn-ea"/>
                          <a:cs typeface="+mn-cs"/>
                        </a:rPr>
                        <a:t>softphone</a:t>
                      </a:r>
                      <a:r>
                        <a:rPr kumimoji="0" lang="en-US" sz="700" b="0" i="0" u="none" strike="noStrike" kern="1200" cap="none" normalizeH="0" baseline="0" noProof="0" dirty="0" smtClean="0">
                          <a:ln>
                            <a:noFill/>
                          </a:ln>
                          <a:solidFill>
                            <a:schemeClr val="tx2"/>
                          </a:solidFill>
                          <a:effectLst/>
                          <a:latin typeface="EYInterstate Light" pitchFamily="2" charset="0"/>
                          <a:ea typeface="+mn-ea"/>
                          <a:cs typeface="+mn-cs"/>
                        </a:rPr>
                        <a:t> clients installed</a:t>
                      </a:r>
                      <a:endParaRPr kumimoji="0" lang="en-US" sz="700" b="0" i="0" u="none" strike="noStrike" kern="1200" cap="none" normalizeH="0" baseline="0" noProof="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2"/>
                          </a:solidFill>
                          <a:effectLst/>
                          <a:latin typeface="EYInterstate Light" pitchFamily="2" charset="0"/>
                        </a:rPr>
                        <a:t>7 June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2"/>
                          </a:solidFill>
                          <a:effectLst/>
                          <a:latin typeface="EYInterstate Light" pitchFamily="2" charset="0"/>
                        </a:rPr>
                        <a:t>Sandra </a:t>
                      </a:r>
                      <a:r>
                        <a:rPr kumimoji="0" lang="en-US" sz="700" b="0" i="0" u="none" strike="noStrike" cap="none" normalizeH="0" baseline="0" dirty="0" err="1" smtClean="0">
                          <a:ln>
                            <a:noFill/>
                          </a:ln>
                          <a:solidFill>
                            <a:schemeClr val="tx2"/>
                          </a:solidFill>
                          <a:effectLst/>
                          <a:latin typeface="EYInterstate Light" pitchFamily="2" charset="0"/>
                        </a:rPr>
                        <a:t>Cevallos</a:t>
                      </a:r>
                      <a:r>
                        <a:rPr kumimoji="0" lang="en-US" sz="700" b="0" i="0" u="none" strike="noStrike" cap="none" normalizeH="0" baseline="0" dirty="0" smtClean="0">
                          <a:ln>
                            <a:noFill/>
                          </a:ln>
                          <a:solidFill>
                            <a:schemeClr val="tx2"/>
                          </a:solidFill>
                          <a:effectLst/>
                          <a:latin typeface="EYInterstate Light" pitchFamily="2" charset="0"/>
                        </a:rPr>
                        <a:t> </a:t>
                      </a: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6" name="Group 270"/>
          <p:cNvGraphicFramePr>
            <a:graphicFrameLocks noGrp="1"/>
          </p:cNvGraphicFramePr>
          <p:nvPr/>
        </p:nvGraphicFramePr>
        <p:xfrm>
          <a:off x="1195546" y="6553106"/>
          <a:ext cx="381000" cy="88326"/>
        </p:xfrm>
        <a:graphic>
          <a:graphicData uri="http://schemas.openxmlformats.org/drawingml/2006/table">
            <a:tbl>
              <a:tblPr/>
              <a:tblGrid>
                <a:gridCol w="381000"/>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7" name="Group 270"/>
          <p:cNvGraphicFramePr>
            <a:graphicFrameLocks noGrp="1"/>
          </p:cNvGraphicFramePr>
          <p:nvPr/>
        </p:nvGraphicFramePr>
        <p:xfrm>
          <a:off x="3979855" y="6582966"/>
          <a:ext cx="523914" cy="88326"/>
        </p:xfrm>
        <a:graphic>
          <a:graphicData uri="http://schemas.openxmlformats.org/drawingml/2006/table">
            <a:tbl>
              <a:tblPr/>
              <a:tblGrid>
                <a:gridCol w="523914"/>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8" name="Group 270"/>
          <p:cNvGraphicFramePr>
            <a:graphicFrameLocks noGrp="1"/>
          </p:cNvGraphicFramePr>
          <p:nvPr/>
        </p:nvGraphicFramePr>
        <p:xfrm>
          <a:off x="6515865" y="6550835"/>
          <a:ext cx="381000" cy="90597"/>
        </p:xfrm>
        <a:graphic>
          <a:graphicData uri="http://schemas.openxmlformats.org/drawingml/2006/table">
            <a:tbl>
              <a:tblPr/>
              <a:tblGrid>
                <a:gridCol w="381000"/>
              </a:tblGrid>
              <a:tr h="90597">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pSp>
        <p:nvGrpSpPr>
          <p:cNvPr id="9" name="Group 27"/>
          <p:cNvGrpSpPr/>
          <p:nvPr/>
        </p:nvGrpSpPr>
        <p:grpSpPr>
          <a:xfrm>
            <a:off x="285595" y="6400800"/>
            <a:ext cx="8734282" cy="494922"/>
            <a:chOff x="307495" y="6550829"/>
            <a:chExt cx="9404036" cy="494922"/>
          </a:xfrm>
        </p:grpSpPr>
        <p:sp>
          <p:nvSpPr>
            <p:cNvPr id="10" name="TextBox 9"/>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11" name="TextBox 10"/>
            <p:cNvSpPr txBox="1"/>
            <p:nvPr/>
          </p:nvSpPr>
          <p:spPr bwMode="gray">
            <a:xfrm>
              <a:off x="674554" y="6657945"/>
              <a:ext cx="612668"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latin typeface="EYInterstate Light" pitchFamily="2" charset="0"/>
              </a:endParaRPr>
            </a:p>
          </p:txBody>
        </p:sp>
        <p:sp>
          <p:nvSpPr>
            <p:cNvPr id="12" name="TextBox 11"/>
            <p:cNvSpPr txBox="1"/>
            <p:nvPr/>
          </p:nvSpPr>
          <p:spPr bwMode="gray">
            <a:xfrm>
              <a:off x="307495" y="6550829"/>
              <a:ext cx="4541628"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latin typeface="EYInterstate Light" pitchFamily="2" charset="0"/>
              </a:endParaRPr>
            </a:p>
          </p:txBody>
        </p:sp>
        <p:sp>
          <p:nvSpPr>
            <p:cNvPr id="13" name="TextBox 12"/>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14" name="TextBox 13"/>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15" name="Freeform 94"/>
          <p:cNvSpPr>
            <a:spLocks/>
          </p:cNvSpPr>
          <p:nvPr/>
        </p:nvSpPr>
        <p:spPr bwMode="gray">
          <a:xfrm>
            <a:off x="0" y="0"/>
            <a:ext cx="6706365"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700" dirty="0">
              <a:solidFill>
                <a:srgbClr val="000000"/>
              </a:solidFill>
              <a:latin typeface="EYInterstate Light" pitchFamily="2" charset="0"/>
            </a:endParaRPr>
          </a:p>
        </p:txBody>
      </p:sp>
      <p:sp>
        <p:nvSpPr>
          <p:cNvPr id="16" name="Rectangle 183"/>
          <p:cNvSpPr txBox="1">
            <a:spLocks noChangeArrowheads="1"/>
          </p:cNvSpPr>
          <p:nvPr/>
        </p:nvSpPr>
        <p:spPr bwMode="gray">
          <a:xfrm>
            <a:off x="1" y="-34669"/>
            <a:ext cx="7086599" cy="553998"/>
          </a:xfrm>
          <a:prstGeom prst="rect">
            <a:avLst/>
          </a:prstGeom>
        </p:spPr>
        <p:txBody>
          <a:bodyPr wrap="square">
            <a:spAutoFit/>
          </a:bodyPr>
          <a:lstStyle/>
          <a:p>
            <a:pPr lvl="0" algn="l" defTabSz="955675" eaLnBrk="0" hangingPunct="0">
              <a:spcAft>
                <a:spcPts val="0"/>
              </a:spcAft>
              <a:defRPr/>
            </a:pPr>
            <a:r>
              <a:rPr lang="en-US" sz="1600" b="1" kern="0" dirty="0" smtClean="0">
                <a:solidFill>
                  <a:srgbClr val="646464"/>
                </a:solidFill>
              </a:rPr>
              <a:t>Lync Weekly status report 08 June 2012</a:t>
            </a:r>
          </a:p>
          <a:p>
            <a:pPr lvl="0" algn="l" defTabSz="955675" eaLnBrk="0" hangingPunct="0">
              <a:spcAft>
                <a:spcPts val="0"/>
              </a:spcAft>
              <a:defRPr/>
            </a:pPr>
            <a:r>
              <a:rPr lang="en-US" sz="1400" kern="0" dirty="0" smtClean="0">
                <a:solidFill>
                  <a:srgbClr val="646464"/>
                </a:solidFill>
              </a:rPr>
              <a:t>David Bingham/Craig Burnside</a:t>
            </a:r>
            <a:endParaRPr lang="en-US" sz="1400" kern="0" dirty="0">
              <a:solidFill>
                <a:srgbClr val="646464"/>
              </a:solidFill>
            </a:endParaRPr>
          </a:p>
        </p:txBody>
      </p:sp>
      <p:graphicFrame>
        <p:nvGraphicFramePr>
          <p:cNvPr id="18" name="Group 272"/>
          <p:cNvGraphicFramePr>
            <a:graphicFrameLocks noGrp="1"/>
          </p:cNvGraphicFramePr>
          <p:nvPr/>
        </p:nvGraphicFramePr>
        <p:xfrm>
          <a:off x="2" y="620583"/>
          <a:ext cx="4680520" cy="2755698"/>
        </p:xfrm>
        <a:graphic>
          <a:graphicData uri="http://schemas.openxmlformats.org/drawingml/2006/table">
            <a:tbl>
              <a:tblPr/>
              <a:tblGrid>
                <a:gridCol w="4680520"/>
              </a:tblGrid>
              <a:tr h="133994">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GB" sz="700" b="1" i="0" u="none" strike="noStrike" cap="none" normalizeH="0" baseline="0" noProof="0" dirty="0" smtClean="0">
                          <a:ln>
                            <a:noFill/>
                          </a:ln>
                          <a:solidFill>
                            <a:schemeClr val="tx1"/>
                          </a:solidFill>
                          <a:effectLst/>
                          <a:latin typeface="+mj-lt"/>
                        </a:rPr>
                        <a:t>A.  EXECUTIVE SUMMARY – a summary of the progress for this period (not of the initiative)</a:t>
                      </a:r>
                      <a:endParaRPr kumimoji="0" lang="en-GB" sz="700" b="1" i="0" u="none" strike="noStrike" cap="none" normalizeH="0" baseline="0" noProof="0" dirty="0">
                        <a:ln>
                          <a:noFill/>
                        </a:ln>
                        <a:solidFill>
                          <a:schemeClr val="tx1"/>
                        </a:solidFill>
                        <a:effectLst/>
                        <a:latin typeface="+mj-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3622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rPr>
                        <a:t>In the middle of the workshop period of the discovery phase.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rPr>
                        <a:t>Workshops held so far have been successful, with information flowing in both directions between E&amp;Y and AT&amp;T.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rPr>
                        <a:t>Further responses on the ATT questionnaire have been received, and passed on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rPr>
                        <a:t>Planning re. the activation approach for the </a:t>
                      </a:r>
                      <a:r>
                        <a:rPr kumimoji="0" lang="en-GB" sz="700" b="0" i="0" u="none" strike="noStrike" kern="1200" cap="none" normalizeH="0" baseline="0" noProof="0" dirty="0" err="1" smtClean="0">
                          <a:ln>
                            <a:noFill/>
                          </a:ln>
                          <a:solidFill>
                            <a:schemeClr val="tx2"/>
                          </a:solidFill>
                          <a:effectLst/>
                          <a:latin typeface="EYInterstate Light" pitchFamily="2" charset="0"/>
                          <a:ea typeface="+mn-ea"/>
                          <a:cs typeface="+mn-cs"/>
                        </a:rPr>
                        <a:t>Lync</a:t>
                      </a:r>
                      <a:r>
                        <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rPr>
                        <a:t> deployment is in progress, the team have decided to go-live with CU5 but the feasibility of this will need to be weighed up with Microsoft and escalated to program Management for them to agree – once this is agreed test resource can be requested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33994">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GB" sz="700" b="1" i="0" u="none" strike="noStrike" cap="none" normalizeH="0" baseline="0" noProof="0" dirty="0" smtClean="0">
                          <a:ln>
                            <a:noFill/>
                          </a:ln>
                          <a:solidFill>
                            <a:schemeClr val="tx1"/>
                          </a:solidFill>
                          <a:effectLst/>
                          <a:latin typeface="EYInterstate" pitchFamily="2" charset="0"/>
                        </a:rPr>
                        <a:t>B.  KEY ACCOMPLISHMENTS THIS PERIOD</a:t>
                      </a:r>
                      <a:endParaRPr kumimoji="0" lang="en-GB" sz="700" b="1" i="0" u="none" strike="noStrike" cap="none" normalizeH="0" baseline="0" noProof="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5138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rPr>
                        <a:t>Core Design and Data Centre workshops with AT&amp;T have been held – 6 &amp; 7 Jun 2012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rPr>
                        <a:t>QA environment build is progressing well, aiming to have the core Lync components installed by 15 Jun 2012.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rPr>
                        <a:t>Meetings held with I&amp;O to discuss effort estimates for Lync Interlock submission -  31 May 2012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err="1" smtClean="0">
                          <a:ln>
                            <a:noFill/>
                          </a:ln>
                          <a:solidFill>
                            <a:schemeClr val="tx2"/>
                          </a:solidFill>
                          <a:effectLst/>
                          <a:latin typeface="EYInterstate Light" pitchFamily="2" charset="0"/>
                          <a:ea typeface="+mn-ea"/>
                          <a:cs typeface="+mn-cs"/>
                        </a:rPr>
                        <a:t>Lync</a:t>
                      </a:r>
                      <a:r>
                        <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rPr>
                        <a:t> headset commercial contract is </a:t>
                      </a:r>
                      <a:r>
                        <a:rPr kumimoji="0" lang="en-GB" sz="700" b="0" i="0" u="none" strike="noStrike" kern="1200" cap="none" normalizeH="0" baseline="0" noProof="0" dirty="0" err="1" smtClean="0">
                          <a:ln>
                            <a:noFill/>
                          </a:ln>
                          <a:solidFill>
                            <a:schemeClr val="tx2"/>
                          </a:solidFill>
                          <a:effectLst/>
                          <a:latin typeface="EYInterstate Light" pitchFamily="2" charset="0"/>
                          <a:ea typeface="+mn-ea"/>
                          <a:cs typeface="+mn-cs"/>
                        </a:rPr>
                        <a:t>cllose</a:t>
                      </a:r>
                      <a:r>
                        <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rPr>
                        <a:t> to being signed with the vendors- final review is being conducted with the legal team – 07 Jun 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GB" sz="700" b="0" i="0" u="none" strike="noStrike" kern="1200" cap="none" normalizeH="0" baseline="0" noProof="0" dirty="0" smtClean="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20" name="Group 270"/>
          <p:cNvGraphicFramePr>
            <a:graphicFrameLocks noGrp="1"/>
          </p:cNvGraphicFramePr>
          <p:nvPr/>
        </p:nvGraphicFramePr>
        <p:xfrm>
          <a:off x="4716016" y="607182"/>
          <a:ext cx="4320479" cy="1146345"/>
        </p:xfrm>
        <a:graphic>
          <a:graphicData uri="http://schemas.openxmlformats.org/drawingml/2006/table">
            <a:tbl>
              <a:tblPr/>
              <a:tblGrid>
                <a:gridCol w="1200080"/>
                <a:gridCol w="592269"/>
                <a:gridCol w="629519"/>
                <a:gridCol w="1034516"/>
                <a:gridCol w="432048"/>
                <a:gridCol w="432047"/>
              </a:tblGrid>
              <a:tr h="187771">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EYInterstate" pitchFamily="2" charset="0"/>
                          <a:ea typeface="+mn-ea"/>
                          <a:cs typeface="+mn-cs"/>
                        </a:rPr>
                        <a:t>E.  MILESTONES</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34393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bg2"/>
                          </a:solidFill>
                          <a:effectLst/>
                          <a:latin typeface="EYInterstate Light" pitchFamily="2" charset="0"/>
                          <a:ea typeface="+mn-ea"/>
                          <a:cs typeface="+mn-cs"/>
                        </a:rPr>
                        <a:t>Individual Milestone Name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bg2"/>
                          </a:solidFill>
                          <a:effectLst/>
                          <a:latin typeface="EYInterstate Light" pitchFamily="2" charset="0"/>
                          <a:ea typeface="+mn-ea"/>
                          <a:cs typeface="+mn-cs"/>
                        </a:rPr>
                        <a:t>Planned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bg2"/>
                          </a:solidFill>
                          <a:effectLst/>
                          <a:latin typeface="EYInterstate Light" pitchFamily="2" charset="0"/>
                          <a:ea typeface="+mn-ea"/>
                          <a:cs typeface="+mn-cs"/>
                        </a:rPr>
                        <a:t>Projected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kern="1200" cap="none" normalizeH="0" baseline="0" dirty="0" smtClean="0">
                          <a:ln>
                            <a:noFill/>
                          </a:ln>
                          <a:solidFill>
                            <a:schemeClr val="bg2"/>
                          </a:solidFill>
                          <a:effectLst/>
                          <a:latin typeface="EYInterstate Light" pitchFamily="2" charset="0"/>
                          <a:ea typeface="+mn-ea"/>
                          <a:cs typeface="+mn-cs"/>
                        </a:rPr>
                        <a:t>Conf</a:t>
                      </a:r>
                      <a:endParaRPr kumimoji="0" lang="en-US" sz="700" b="1"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kern="1200" cap="none" normalizeH="0" baseline="0" dirty="0">
                          <a:ln>
                            <a:noFill/>
                          </a:ln>
                          <a:solidFill>
                            <a:schemeClr val="bg2"/>
                          </a:solidFill>
                          <a:effectLst/>
                          <a:latin typeface="EYInterstate Light" pitchFamily="2" charset="0"/>
                          <a:ea typeface="+mn-ea"/>
                          <a:cs typeface="+mn-cs"/>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kern="1200" cap="none" normalizeH="0" baseline="0" dirty="0">
                          <a:ln>
                            <a:noFill/>
                          </a:ln>
                          <a:solidFill>
                            <a:schemeClr val="bg2"/>
                          </a:solidFill>
                          <a:effectLst/>
                          <a:latin typeface="EYInterstate Light" pitchFamily="2" charset="0"/>
                          <a:ea typeface="+mn-ea"/>
                          <a:cs typeface="+mn-cs"/>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307321">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600" b="0" i="0" u="none" strike="noStrike" kern="1200" cap="none" normalizeH="0" baseline="0" dirty="0" smtClean="0">
                          <a:ln>
                            <a:noFill/>
                          </a:ln>
                          <a:solidFill>
                            <a:schemeClr val="tx1"/>
                          </a:solidFill>
                          <a:effectLst/>
                          <a:latin typeface="EYInterstate Light" pitchFamily="2" charset="0"/>
                          <a:ea typeface="+mn-ea"/>
                          <a:cs typeface="+mn-cs"/>
                        </a:rPr>
                        <a:t>Sign Interim SOW</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0" i="0" u="none" strike="noStrike" kern="1200" cap="none" normalizeH="0" baseline="0" dirty="0" smtClean="0">
                          <a:ln>
                            <a:noFill/>
                          </a:ln>
                          <a:solidFill>
                            <a:schemeClr val="tx1"/>
                          </a:solidFill>
                          <a:effectLst/>
                          <a:latin typeface="EYInterstate Light" pitchFamily="2" charset="0"/>
                          <a:ea typeface="+mn-ea"/>
                          <a:cs typeface="+mn-cs"/>
                        </a:rPr>
                        <a:t>02 Apr 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0" i="0" u="none" strike="noStrike" kern="1200" cap="none" normalizeH="0" baseline="0" dirty="0" smtClean="0">
                          <a:ln>
                            <a:noFill/>
                          </a:ln>
                          <a:solidFill>
                            <a:schemeClr val="tx1"/>
                          </a:solidFill>
                          <a:effectLst/>
                          <a:latin typeface="EYInterstate Light" pitchFamily="2" charset="0"/>
                          <a:ea typeface="+mn-ea"/>
                          <a:cs typeface="+mn-cs"/>
                        </a:rPr>
                        <a:t>15 Jun 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600" b="0" i="0" u="none" strike="noStrike" kern="1200" cap="none" normalizeH="0" baseline="0" dirty="0" smtClean="0">
                          <a:ln>
                            <a:noFill/>
                          </a:ln>
                          <a:solidFill>
                            <a:srgbClr val="000000"/>
                          </a:solidFill>
                          <a:effectLst/>
                          <a:latin typeface="EYInterstate Light" pitchFamily="2" charset="0"/>
                          <a:ea typeface="+mn-ea"/>
                          <a:cs typeface="+mn-cs"/>
                        </a:rPr>
                        <a:t>Estimated</a:t>
                      </a:r>
                    </a:p>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endParaRPr kumimoji="0" lang="en-US" sz="600" b="0" i="0" u="none" strike="noStrike" kern="1200" cap="none" normalizeH="0" baseline="0" dirty="0" smtClean="0">
                        <a:ln>
                          <a:noFill/>
                        </a:ln>
                        <a:solidFill>
                          <a:srgbClr val="000000"/>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pPr>
                      <a:r>
                        <a:rPr kumimoji="0" lang="en-US" sz="600" b="0" i="0" u="none" strike="noStrike" kern="1200" cap="none" normalizeH="0" baseline="0" dirty="0" smtClean="0">
                          <a:ln>
                            <a:noFill/>
                          </a:ln>
                          <a:solidFill>
                            <a:schemeClr val="tx1"/>
                          </a:solidFill>
                          <a:effectLst/>
                          <a:latin typeface="EYInterstate Light" pitchFamily="2" charset="0"/>
                          <a:ea typeface="+mn-ea"/>
                          <a:cs typeface="+mn-cs"/>
                        </a:rPr>
                        <a:t>Red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0" i="0" u="none" strike="noStrike" kern="1200" cap="none" normalizeH="0" baseline="0" dirty="0" smtClean="0">
                          <a:ln>
                            <a:noFill/>
                          </a:ln>
                          <a:solidFill>
                            <a:schemeClr val="tx1"/>
                          </a:solidFill>
                          <a:effectLst/>
                          <a:latin typeface="EYInterstate Light" pitchFamily="2" charset="0"/>
                          <a:ea typeface="+mn-ea"/>
                          <a:cs typeface="+mn-cs"/>
                        </a:rPr>
                        <a:t>Red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307321">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600" b="0" i="0" u="none" strike="noStrike" kern="1200" cap="none" normalizeH="0" baseline="0" noProof="0" dirty="0" smtClean="0">
                          <a:ln>
                            <a:noFill/>
                          </a:ln>
                          <a:solidFill>
                            <a:schemeClr val="tx1"/>
                          </a:solidFill>
                          <a:effectLst/>
                          <a:latin typeface="EYInterstate Light" pitchFamily="2" charset="0"/>
                          <a:ea typeface="+mn-ea"/>
                          <a:cs typeface="+mn-cs"/>
                        </a:rPr>
                        <a:t>Scope Lock</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0" i="0" u="none" strike="noStrike" kern="1200" cap="none" normalizeH="0" baseline="0" noProof="0" dirty="0" smtClean="0">
                          <a:ln>
                            <a:noFill/>
                          </a:ln>
                          <a:solidFill>
                            <a:schemeClr val="tx1"/>
                          </a:solidFill>
                          <a:effectLst/>
                          <a:latin typeface="EYInterstate Light" pitchFamily="2" charset="0"/>
                          <a:ea typeface="+mn-ea"/>
                          <a:cs typeface="+mn-cs"/>
                        </a:rPr>
                        <a:t>28 May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0" i="0" u="none" strike="noStrike" kern="1200" cap="none" normalizeH="0" baseline="0" noProof="0" dirty="0" smtClean="0">
                          <a:ln>
                            <a:noFill/>
                          </a:ln>
                          <a:solidFill>
                            <a:schemeClr val="tx1"/>
                          </a:solidFill>
                          <a:effectLst/>
                          <a:latin typeface="EYInterstate Light" pitchFamily="2" charset="0"/>
                          <a:ea typeface="+mn-ea"/>
                          <a:cs typeface="+mn-cs"/>
                        </a:rPr>
                        <a:t>10 Jul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600" b="0" i="0" u="none" strike="noStrike" kern="1200" cap="none" normalizeH="0" baseline="0" dirty="0" smtClean="0">
                          <a:ln>
                            <a:noFill/>
                          </a:ln>
                          <a:solidFill>
                            <a:srgbClr val="000000"/>
                          </a:solidFill>
                          <a:effectLst/>
                          <a:latin typeface="EYInterstate Light" pitchFamily="2" charset="0"/>
                          <a:ea typeface="+mn-ea"/>
                          <a:cs typeface="+mn-cs"/>
                        </a:rPr>
                        <a:t>Target</a:t>
                      </a:r>
                    </a:p>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endParaRPr kumimoji="0" lang="en-US" sz="600" b="0" i="0" u="none" strike="noStrike" kern="1200" cap="none" normalizeH="0" baseline="0" noProof="0" dirty="0" smtClean="0">
                        <a:ln>
                          <a:noFill/>
                        </a:ln>
                        <a:solidFill>
                          <a:srgbClr val="000000"/>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0" i="0" u="none" strike="noStrike" kern="1200" cap="none" normalizeH="0" baseline="0" noProof="0" dirty="0" smtClean="0">
                          <a:ln>
                            <a:noFill/>
                          </a:ln>
                          <a:solidFill>
                            <a:schemeClr val="tx1"/>
                          </a:solidFill>
                          <a:effectLst/>
                          <a:latin typeface="EYInterstate Light" pitchFamily="2" charset="0"/>
                          <a:ea typeface="+mn-ea"/>
                          <a:cs typeface="+mn-cs"/>
                        </a:rPr>
                        <a:t>Red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22" name="Table 21"/>
          <p:cNvGraphicFramePr>
            <a:graphicFrameLocks noGrp="1"/>
          </p:cNvGraphicFramePr>
          <p:nvPr/>
        </p:nvGraphicFramePr>
        <p:xfrm>
          <a:off x="4717035" y="5589240"/>
          <a:ext cx="4391469" cy="1149650"/>
        </p:xfrm>
        <a:graphic>
          <a:graphicData uri="http://schemas.openxmlformats.org/drawingml/2006/table">
            <a:tbl>
              <a:tblPr/>
              <a:tblGrid>
                <a:gridCol w="4391469"/>
              </a:tblGrid>
              <a:tr h="144268">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H.  GENERAL COMMENTS – must include reasoning for an overall Red or Amber Status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00538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Workstream RAG status –  work stream status is Red because we have not completed the Vendor discovery phase and until this has happened we will not have a confirmed plan we can report against.</a:t>
                      </a:r>
                    </a:p>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272"/>
          <p:cNvGraphicFramePr>
            <a:graphicFrameLocks noGrp="1"/>
          </p:cNvGraphicFramePr>
          <p:nvPr/>
        </p:nvGraphicFramePr>
        <p:xfrm>
          <a:off x="35496" y="3501008"/>
          <a:ext cx="4680520" cy="2621158"/>
        </p:xfrm>
        <a:graphic>
          <a:graphicData uri="http://schemas.openxmlformats.org/drawingml/2006/table">
            <a:tbl>
              <a:tblPr/>
              <a:tblGrid>
                <a:gridCol w="4680520"/>
              </a:tblGrid>
              <a:tr h="140593">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a:ln>
                            <a:noFill/>
                          </a:ln>
                          <a:solidFill>
                            <a:schemeClr val="tx1"/>
                          </a:solidFill>
                          <a:effectLst/>
                          <a:latin typeface="EYInterstate" pitchFamily="2" charset="0"/>
                        </a:rPr>
                        <a:t>C.  ACTIVITIES BEHIND </a:t>
                      </a:r>
                      <a:r>
                        <a:rPr kumimoji="0" lang="en-CA" sz="700" b="1" i="0" u="none" strike="noStrike" cap="none" normalizeH="0" baseline="0" dirty="0" smtClean="0">
                          <a:ln>
                            <a:noFill/>
                          </a:ln>
                          <a:solidFill>
                            <a:schemeClr val="tx1"/>
                          </a:solidFill>
                          <a:effectLst/>
                          <a:latin typeface="EYInterstate" pitchFamily="2" charset="0"/>
                        </a:rPr>
                        <a:t>SCHEDULE </a:t>
                      </a:r>
                      <a:endParaRPr kumimoji="0" lang="en-CA"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40593">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0593">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D.  </a:t>
                      </a:r>
                      <a:r>
                        <a:rPr kumimoji="0" lang="en-US" sz="700" b="1" i="0" u="none" strike="noStrike" cap="none" normalizeH="0" baseline="0" dirty="0">
                          <a:ln>
                            <a:noFill/>
                          </a:ln>
                          <a:solidFill>
                            <a:schemeClr val="tx1"/>
                          </a:solidFill>
                          <a:effectLst/>
                          <a:latin typeface="EYInterstate" pitchFamily="2" charset="0"/>
                        </a:rPr>
                        <a:t>KEY ACTIVITIES PLANNED NEXT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199379">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sng" strike="noStrike" kern="1200" cap="none" normalizeH="0" baseline="0" dirty="0" smtClean="0">
                          <a:ln>
                            <a:noFill/>
                          </a:ln>
                          <a:solidFill>
                            <a:schemeClr val="bg2"/>
                          </a:solidFill>
                          <a:effectLst/>
                          <a:latin typeface="EYInterstate Light" pitchFamily="2" charset="0"/>
                          <a:ea typeface="+mn-ea"/>
                          <a:cs typeface="+mn-cs"/>
                        </a:rPr>
                        <a:t>Benefits</a:t>
                      </a: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 : </a:t>
                      </a:r>
                      <a:r>
                        <a:rPr kumimoji="0" lang="en-GB" sz="700" b="0" i="0" u="none" strike="noStrike" kern="1200" cap="none" normalizeH="0" baseline="0" dirty="0" smtClean="0">
                          <a:ln>
                            <a:noFill/>
                          </a:ln>
                          <a:solidFill>
                            <a:schemeClr val="bg2"/>
                          </a:solidFill>
                          <a:effectLst/>
                          <a:latin typeface="EYInterstate Light" pitchFamily="2" charset="0"/>
                          <a:ea typeface="+mn-ea"/>
                          <a:cs typeface="+mn-cs"/>
                        </a:rPr>
                        <a:t>(1) Continue measure identification activities for Lync &amp; Outlook  - 5 Oct 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bg2"/>
                          </a:solidFill>
                          <a:effectLst/>
                          <a:latin typeface="EYInterstate Light" pitchFamily="2" charset="0"/>
                          <a:ea typeface="+mn-ea"/>
                          <a:cs typeface="+mn-cs"/>
                        </a:rPr>
                        <a:t>Prepare for rescheduled M&amp;C Business Case checkpoint with Mo Osborne – 8 June 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bg2"/>
                          </a:solidFill>
                          <a:effectLst/>
                          <a:latin typeface="EYInterstate Light" pitchFamily="2" charset="0"/>
                          <a:ea typeface="+mn-ea"/>
                          <a:cs typeface="+mn-cs"/>
                        </a:rPr>
                        <a:t>Discuss SharePoint benefits with SharePoint Lead and align with latest view of Release 1 scope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bg2"/>
                          </a:solidFill>
                          <a:effectLst/>
                          <a:latin typeface="EYInterstate Light" pitchFamily="2" charset="0"/>
                          <a:ea typeface="+mn-ea"/>
                          <a:cs typeface="+mn-cs"/>
                        </a:rPr>
                        <a:t>Discuss benefits tracking reporting requirements with Lync </a:t>
                      </a:r>
                      <a:r>
                        <a:rPr kumimoji="0" lang="en-GB" sz="700" b="0" i="0" u="none" strike="noStrike" kern="1200" cap="none" normalizeH="0" baseline="0" dirty="0" err="1" smtClean="0">
                          <a:ln>
                            <a:noFill/>
                          </a:ln>
                          <a:solidFill>
                            <a:schemeClr val="bg2"/>
                          </a:solidFill>
                          <a:effectLst/>
                          <a:latin typeface="EYInterstate Light" pitchFamily="2" charset="0"/>
                          <a:ea typeface="+mn-ea"/>
                          <a:cs typeface="+mn-cs"/>
                        </a:rPr>
                        <a:t>workstream</a:t>
                      </a:r>
                      <a:r>
                        <a:rPr kumimoji="0" lang="en-GB" sz="700" b="0" i="0" u="none" strike="noStrike" kern="1200" cap="none" normalizeH="0" baseline="0" dirty="0" smtClean="0">
                          <a:ln>
                            <a:noFill/>
                          </a:ln>
                          <a:solidFill>
                            <a:schemeClr val="bg2"/>
                          </a:solidFill>
                          <a:effectLst/>
                          <a:latin typeface="EYInterstate Light" pitchFamily="2" charset="0"/>
                          <a:ea typeface="+mn-ea"/>
                          <a:cs typeface="+mn-cs"/>
                        </a:rPr>
                        <a:t> and People function</a:t>
                      </a: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sng" strike="noStrike" kern="1200" cap="none" normalizeH="0" baseline="0" dirty="0" smtClean="0">
                          <a:ln>
                            <a:noFill/>
                          </a:ln>
                          <a:solidFill>
                            <a:schemeClr val="bg2"/>
                          </a:solidFill>
                          <a:effectLst/>
                          <a:latin typeface="EYInterstate Light" pitchFamily="2" charset="0"/>
                          <a:ea typeface="+mn-ea"/>
                          <a:cs typeface="+mn-cs"/>
                        </a:rPr>
                        <a:t>Comms</a:t>
                      </a: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 Second draft of one-pager update back from GSS for comments (8 June)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Refresh comms strategy and plan (29 June)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Develop Lync and Outlook comms plans (29 June)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Agree launch dates for M&amp;C CHS with Alan Guthrie (7 June)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Work on M&amp;C CHS content, design etc (proposed launch 1 August)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Agree next steps and launch dates for M&amp;C CHS -1 Jun 12</a:t>
                      </a: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sng" strike="noStrike" kern="1200" cap="none" normalizeH="0" baseline="0" noProof="0" dirty="0" smtClean="0">
                          <a:ln>
                            <a:noFill/>
                          </a:ln>
                          <a:solidFill>
                            <a:schemeClr val="bg2"/>
                          </a:solidFill>
                          <a:effectLst/>
                          <a:latin typeface="EYInterstate Light" pitchFamily="2" charset="0"/>
                          <a:ea typeface="+mn-ea"/>
                          <a:cs typeface="+mn-cs"/>
                        </a:rPr>
                        <a:t>Lync &amp; Outlook</a:t>
                      </a: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 Review project level change impact assessment with communications and learning leads to identify required mitigations. - 15 Jun 2012.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Hold remaining meetings with the Lync and Outlook governance group to review the L&amp;O specifications.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Create Outlook change toolkit. – 31 Aug 12</a:t>
                      </a: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sng" strike="noStrike" kern="1200" cap="none" normalizeH="0" baseline="0" dirty="0" smtClean="0">
                          <a:ln>
                            <a:noFill/>
                          </a:ln>
                          <a:solidFill>
                            <a:schemeClr val="bg2"/>
                          </a:solidFill>
                          <a:effectLst/>
                          <a:latin typeface="EYInterstate Light" pitchFamily="2" charset="0"/>
                          <a:ea typeface="+mn-ea"/>
                          <a:cs typeface="+mn-cs"/>
                        </a:rPr>
                        <a:t>SharePoint</a:t>
                      </a: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 Continue to develop major milestones for SP Change Management -  Dt. TBC Meet with Andy </a:t>
                      </a:r>
                      <a:r>
                        <a:rPr kumimoji="0" lang="en-US" sz="700" b="0" i="0" u="none" strike="noStrike" kern="1200" cap="none" normalizeH="0" baseline="0" dirty="0" err="1" smtClean="0">
                          <a:ln>
                            <a:noFill/>
                          </a:ln>
                          <a:solidFill>
                            <a:schemeClr val="bg2"/>
                          </a:solidFill>
                          <a:effectLst/>
                          <a:latin typeface="EYInterstate Light" pitchFamily="2" charset="0"/>
                          <a:ea typeface="+mn-ea"/>
                          <a:cs typeface="+mn-cs"/>
                        </a:rPr>
                        <a:t>Ioannou</a:t>
                      </a: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  at Cleveland to get status on Scope and dates surrounding the implementation of Release one. Collect activities for SP change management.</a:t>
                      </a: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sng" strike="noStrike" kern="1200" cap="none" normalizeH="0" baseline="0" dirty="0" smtClean="0">
                          <a:ln>
                            <a:noFill/>
                          </a:ln>
                          <a:solidFill>
                            <a:schemeClr val="bg2"/>
                          </a:solidFill>
                          <a:effectLst/>
                          <a:latin typeface="EYInterstate Light" pitchFamily="2" charset="0"/>
                          <a:ea typeface="+mn-ea"/>
                          <a:cs typeface="+mn-cs"/>
                        </a:rPr>
                        <a:t>Change/deployment:</a:t>
                      </a: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  </a:t>
                      </a:r>
                      <a:r>
                        <a:rPr kumimoji="0" lang="en-US" sz="700" b="0" i="0" u="none" strike="noStrike" kern="1200" cap="none" normalizeH="0" baseline="0" dirty="0" smtClean="0">
                          <a:ln>
                            <a:noFill/>
                          </a:ln>
                          <a:solidFill>
                            <a:schemeClr val="bg1">
                              <a:lumMod val="50000"/>
                            </a:schemeClr>
                          </a:solidFill>
                          <a:effectLst/>
                          <a:latin typeface="EYInterstate Light" pitchFamily="2" charset="0"/>
                          <a:ea typeface="+mn-ea"/>
                          <a:cs typeface="+mn-cs"/>
                        </a:rPr>
                        <a:t>Continue refining the plan for Messaging.</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 name="Group 852"/>
          <p:cNvGraphicFramePr>
            <a:graphicFrameLocks noGrp="1"/>
          </p:cNvGraphicFramePr>
          <p:nvPr/>
        </p:nvGraphicFramePr>
        <p:xfrm>
          <a:off x="4752530" y="4149080"/>
          <a:ext cx="4391470" cy="935538"/>
        </p:xfrm>
        <a:graphic>
          <a:graphicData uri="http://schemas.openxmlformats.org/drawingml/2006/table">
            <a:tbl>
              <a:tblPr/>
              <a:tblGrid>
                <a:gridCol w="1619670"/>
                <a:gridCol w="1584176"/>
                <a:gridCol w="504056"/>
                <a:gridCol w="683568"/>
              </a:tblGrid>
              <a:tr h="121898">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G. MATTERS FOR IMMEDIATE ATTENTION – typically specific current issues or scope changes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91322">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Issues to be resolved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Recommended Action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Target Date</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Completed By</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8831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bg2"/>
                          </a:solidFill>
                          <a:effectLst/>
                          <a:latin typeface="EYInterstate Light" pitchFamily="2" charset="0"/>
                          <a:ea typeface="+mn-ea"/>
                          <a:cs typeface="+mn-cs"/>
                        </a:rPr>
                        <a:t>I52 – </a:t>
                      </a: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With moving to Outlook, Issues with shared mailboxes as they have no SMTP style addresses and  the shared mailboxes are not in DNAB</a:t>
                      </a:r>
                      <a:endParaRPr kumimoji="0" lang="en-GB" sz="70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Action with Neil Langston to ensure all issues are resolved and resolution understood by Operations. </a:t>
                      </a:r>
                      <a:endParaRPr kumimoji="0" lang="en-GB" sz="70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18 Aug 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Rachel Phillips</a:t>
                      </a:r>
                      <a:endParaRPr kumimoji="0" lang="en-US" sz="70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5" name="Table 4"/>
          <p:cNvGraphicFramePr>
            <a:graphicFrameLocks noGrp="1"/>
          </p:cNvGraphicFramePr>
          <p:nvPr/>
        </p:nvGraphicFramePr>
        <p:xfrm>
          <a:off x="4752531" y="2463420"/>
          <a:ext cx="4391469" cy="1613652"/>
        </p:xfrm>
        <a:graphic>
          <a:graphicData uri="http://schemas.openxmlformats.org/drawingml/2006/table">
            <a:tbl>
              <a:tblPr/>
              <a:tblGrid>
                <a:gridCol w="1547662"/>
                <a:gridCol w="1656183"/>
                <a:gridCol w="576064"/>
                <a:gridCol w="611560"/>
              </a:tblGrid>
              <a:tr h="127484">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F.  KEY RISKS – typically future challenges or external circumstances that may affect the initiative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51247">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Risks to be addressed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Mitigating Action</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Target Date</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Completed By</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80476">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bg2"/>
                          </a:solidFill>
                          <a:effectLst/>
                          <a:latin typeface="EYInterstate Light" pitchFamily="2" charset="0"/>
                          <a:ea typeface="+mn-ea"/>
                          <a:cs typeface="+mn-cs"/>
                        </a:rPr>
                        <a:t>R17 – E</a:t>
                      </a: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nd user community's capacity for change may be limited</a:t>
                      </a:r>
                      <a:endParaRPr kumimoji="0" lang="en-GB" sz="700" b="0" i="0" u="none" strike="noStrike" kern="1200" cap="none" normalizeH="0" baseline="0" noProof="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Use  Change Networks for assessment. Being discussed as part of change n/w discussion. Reqd. resolution date moved to  align with deployment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15 Aug 12 (Revised)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Sophie Boiron</a:t>
                      </a:r>
                      <a:endParaRPr kumimoji="0" lang="en-US" sz="700" b="0" i="0" u="none" strike="noStrike" kern="1200" cap="none" normalizeH="0" baseline="0" noProof="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6656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R16 – Collab approach not well defined at M&amp;C level. Users should change working behaviors sufficiently to realize expected benefits.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Need FSG SharePoint/key leaders/new focus group to agree on collaboration approach</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To be addressed as a part of the biz. planning event in autumn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15 Nov 12 </a:t>
                      </a: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(Revised </a:t>
                      </a:r>
                      <a:r>
                        <a:rPr kumimoji="0" lang="en-US" sz="700" b="0" i="0" u="none" strike="noStrike" kern="1200" cap="none" normalizeH="0" baseline="0" dirty="0" err="1" smtClean="0">
                          <a:ln>
                            <a:noFill/>
                          </a:ln>
                          <a:solidFill>
                            <a:schemeClr val="bg2"/>
                          </a:solidFill>
                          <a:effectLst/>
                          <a:latin typeface="EYInterstate Light" pitchFamily="2" charset="0"/>
                          <a:ea typeface="+mn-ea"/>
                          <a:cs typeface="+mn-cs"/>
                        </a:rPr>
                        <a:t>dt</a:t>
                      </a: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Sophie Boiron</a:t>
                      </a:r>
                      <a:endParaRPr kumimoji="0" lang="en-US" sz="70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6" name="Group 270"/>
          <p:cNvGraphicFramePr>
            <a:graphicFrameLocks noGrp="1"/>
          </p:cNvGraphicFramePr>
          <p:nvPr/>
        </p:nvGraphicFramePr>
        <p:xfrm>
          <a:off x="1195546" y="6553106"/>
          <a:ext cx="381000" cy="88326"/>
        </p:xfrm>
        <a:graphic>
          <a:graphicData uri="http://schemas.openxmlformats.org/drawingml/2006/table">
            <a:tbl>
              <a:tblPr/>
              <a:tblGrid>
                <a:gridCol w="381000"/>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7" name="Group 270"/>
          <p:cNvGraphicFramePr>
            <a:graphicFrameLocks noGrp="1"/>
          </p:cNvGraphicFramePr>
          <p:nvPr/>
        </p:nvGraphicFramePr>
        <p:xfrm>
          <a:off x="3979855" y="6582966"/>
          <a:ext cx="523914" cy="88326"/>
        </p:xfrm>
        <a:graphic>
          <a:graphicData uri="http://schemas.openxmlformats.org/drawingml/2006/table">
            <a:tbl>
              <a:tblPr/>
              <a:tblGrid>
                <a:gridCol w="523914"/>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8" name="Group 270"/>
          <p:cNvGraphicFramePr>
            <a:graphicFrameLocks noGrp="1"/>
          </p:cNvGraphicFramePr>
          <p:nvPr/>
        </p:nvGraphicFramePr>
        <p:xfrm>
          <a:off x="6515865" y="6550835"/>
          <a:ext cx="381000" cy="90597"/>
        </p:xfrm>
        <a:graphic>
          <a:graphicData uri="http://schemas.openxmlformats.org/drawingml/2006/table">
            <a:tbl>
              <a:tblPr/>
              <a:tblGrid>
                <a:gridCol w="381000"/>
              </a:tblGrid>
              <a:tr h="90597">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pSp>
        <p:nvGrpSpPr>
          <p:cNvPr id="9" name="Group 27"/>
          <p:cNvGrpSpPr/>
          <p:nvPr/>
        </p:nvGrpSpPr>
        <p:grpSpPr>
          <a:xfrm>
            <a:off x="285595" y="6400800"/>
            <a:ext cx="8734282" cy="494922"/>
            <a:chOff x="307495" y="6550829"/>
            <a:chExt cx="9404036" cy="494922"/>
          </a:xfrm>
        </p:grpSpPr>
        <p:sp>
          <p:nvSpPr>
            <p:cNvPr id="10" name="TextBox 9"/>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11" name="TextBox 10"/>
            <p:cNvSpPr txBox="1"/>
            <p:nvPr/>
          </p:nvSpPr>
          <p:spPr bwMode="gray">
            <a:xfrm>
              <a:off x="674554" y="6657945"/>
              <a:ext cx="612668"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latin typeface="EYInterstate Light" pitchFamily="2" charset="0"/>
              </a:endParaRPr>
            </a:p>
          </p:txBody>
        </p:sp>
        <p:sp>
          <p:nvSpPr>
            <p:cNvPr id="12" name="TextBox 11"/>
            <p:cNvSpPr txBox="1"/>
            <p:nvPr/>
          </p:nvSpPr>
          <p:spPr bwMode="gray">
            <a:xfrm>
              <a:off x="307495" y="6550829"/>
              <a:ext cx="4541628"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latin typeface="EYInterstate Light" pitchFamily="2" charset="0"/>
              </a:endParaRPr>
            </a:p>
          </p:txBody>
        </p:sp>
        <p:sp>
          <p:nvSpPr>
            <p:cNvPr id="13" name="TextBox 12"/>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14" name="TextBox 13"/>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15" name="Freeform 94"/>
          <p:cNvSpPr>
            <a:spLocks/>
          </p:cNvSpPr>
          <p:nvPr/>
        </p:nvSpPr>
        <p:spPr bwMode="gray">
          <a:xfrm>
            <a:off x="0" y="0"/>
            <a:ext cx="6706365"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700" dirty="0">
              <a:solidFill>
                <a:srgbClr val="000000"/>
              </a:solidFill>
              <a:latin typeface="EYInterstate Light" pitchFamily="2" charset="0"/>
            </a:endParaRPr>
          </a:p>
        </p:txBody>
      </p:sp>
      <p:sp>
        <p:nvSpPr>
          <p:cNvPr id="16" name="Rectangle 183"/>
          <p:cNvSpPr txBox="1">
            <a:spLocks noChangeArrowheads="1"/>
          </p:cNvSpPr>
          <p:nvPr/>
        </p:nvSpPr>
        <p:spPr bwMode="gray">
          <a:xfrm>
            <a:off x="1" y="-34669"/>
            <a:ext cx="7086599" cy="553998"/>
          </a:xfrm>
          <a:prstGeom prst="rect">
            <a:avLst/>
          </a:prstGeom>
        </p:spPr>
        <p:txBody>
          <a:bodyPr wrap="square">
            <a:spAutoFit/>
          </a:bodyPr>
          <a:lstStyle/>
          <a:p>
            <a:pPr lvl="0" algn="l" defTabSz="955675" eaLnBrk="0" hangingPunct="0">
              <a:spcAft>
                <a:spcPts val="0"/>
              </a:spcAft>
              <a:defRPr/>
            </a:pPr>
            <a:r>
              <a:rPr lang="en-US" sz="1600" b="1" kern="0" dirty="0" smtClean="0">
                <a:solidFill>
                  <a:srgbClr val="646464"/>
                </a:solidFill>
              </a:rPr>
              <a:t>M&amp;C Business Change– Weekly status report – 08 JUN 2012</a:t>
            </a:r>
          </a:p>
          <a:p>
            <a:pPr lvl="0" algn="l" defTabSz="955675" eaLnBrk="0" hangingPunct="0">
              <a:spcAft>
                <a:spcPts val="0"/>
              </a:spcAft>
              <a:defRPr/>
            </a:pPr>
            <a:r>
              <a:rPr lang="en-US" sz="1400" kern="0" dirty="0" smtClean="0">
                <a:solidFill>
                  <a:srgbClr val="646464"/>
                </a:solidFill>
              </a:rPr>
              <a:t>David Bingham/Sophie Boiron</a:t>
            </a:r>
            <a:endParaRPr lang="en-US" sz="1400" kern="0" dirty="0">
              <a:solidFill>
                <a:srgbClr val="646464"/>
              </a:solidFill>
            </a:endParaRPr>
          </a:p>
        </p:txBody>
      </p:sp>
      <p:graphicFrame>
        <p:nvGraphicFramePr>
          <p:cNvPr id="17" name="Table 16"/>
          <p:cNvGraphicFramePr>
            <a:graphicFrameLocks noGrp="1"/>
          </p:cNvGraphicFramePr>
          <p:nvPr/>
        </p:nvGraphicFramePr>
        <p:xfrm>
          <a:off x="4752528" y="5622225"/>
          <a:ext cx="4391472" cy="513819"/>
        </p:xfrm>
        <a:graphic>
          <a:graphicData uri="http://schemas.openxmlformats.org/drawingml/2006/table">
            <a:tbl>
              <a:tblPr/>
              <a:tblGrid>
                <a:gridCol w="4391472"/>
              </a:tblGrid>
              <a:tr h="117265">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H.  GENERAL COMMENTS – must include reasoning for an overall Red or Amber Status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379773">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sng" strike="noStrike" kern="1200" cap="none" normalizeH="0" baseline="0" noProof="0" dirty="0" smtClean="0">
                          <a:ln>
                            <a:noFill/>
                          </a:ln>
                          <a:solidFill>
                            <a:schemeClr val="bg2"/>
                          </a:solidFill>
                          <a:effectLst/>
                          <a:latin typeface="EYInterstate Light" pitchFamily="2" charset="0"/>
                          <a:ea typeface="+mn-ea"/>
                          <a:cs typeface="+mn-cs"/>
                        </a:rPr>
                        <a:t>Change/deployment: </a:t>
                      </a: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At a program level the deliverable called ‘change approach and structure aligned with deployment approach’ is moving to the right (3rd July) as alignment is only possible when deployment approach is finalized (date TBC). Change request has been submitted.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2"/>
          <p:cNvGraphicFramePr>
            <a:graphicFrameLocks noGrp="1"/>
          </p:cNvGraphicFramePr>
          <p:nvPr/>
        </p:nvGraphicFramePr>
        <p:xfrm>
          <a:off x="35496" y="548681"/>
          <a:ext cx="4680520" cy="2854647"/>
        </p:xfrm>
        <a:graphic>
          <a:graphicData uri="http://schemas.openxmlformats.org/drawingml/2006/table">
            <a:tbl>
              <a:tblPr/>
              <a:tblGrid>
                <a:gridCol w="4680520"/>
              </a:tblGrid>
              <a:tr h="128674">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j-lt"/>
                        </a:rPr>
                        <a:t>A.  </a:t>
                      </a:r>
                      <a:r>
                        <a:rPr kumimoji="0" lang="en-GB" sz="700" b="1" i="0" u="none" strike="noStrike" cap="none" normalizeH="0" baseline="0" dirty="0" smtClean="0">
                          <a:ln>
                            <a:noFill/>
                          </a:ln>
                          <a:solidFill>
                            <a:schemeClr val="tx1"/>
                          </a:solidFill>
                          <a:effectLst/>
                          <a:latin typeface="+mj-lt"/>
                        </a:rPr>
                        <a:t>EXECUTIVE SUMMARY – a summary of the progress for this period (not of the initiative)</a:t>
                      </a:r>
                      <a:endParaRPr kumimoji="0" lang="en-US" sz="700" b="1" i="0" u="none" strike="noStrike" cap="none" normalizeH="0" baseline="0" dirty="0">
                        <a:ln>
                          <a:noFill/>
                        </a:ln>
                        <a:solidFill>
                          <a:schemeClr val="tx1"/>
                        </a:solidFill>
                        <a:effectLst/>
                        <a:latin typeface="+mj-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19368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kern="1200" cap="none" normalizeH="0" baseline="0" dirty="0" smtClean="0">
                          <a:ln>
                            <a:noFill/>
                          </a:ln>
                          <a:solidFill>
                            <a:schemeClr val="bg2"/>
                          </a:solidFill>
                          <a:effectLst/>
                          <a:latin typeface="EYInterstate Light" pitchFamily="2" charset="0"/>
                          <a:ea typeface="+mn-ea"/>
                          <a:cs typeface="+mn-cs"/>
                        </a:rPr>
                        <a:t>Comms</a:t>
                      </a: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 </a:t>
                      </a: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 </a:t>
                      </a: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Developing M&amp;C CHS for preview at deep dive session on 12 June. Full launch proposed for 1 August. Developing updateable one-pager for 15 June. Next phase for comms is to focus on comms strategy and plan – and specific comms plans for Lync and Outlook (29 Jun 12)</a:t>
                      </a:r>
                      <a:endParaRPr kumimoji="0" lang="en-GB" sz="700" b="0" i="0" u="none" strike="noStrike" kern="1200" cap="none" normalizeH="0" baseline="0" dirty="0" smtClean="0">
                        <a:ln>
                          <a:noFill/>
                        </a:ln>
                        <a:solidFill>
                          <a:schemeClr val="bg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kern="1200" cap="none" normalizeH="0" baseline="0" noProof="0" dirty="0" smtClean="0">
                          <a:ln>
                            <a:noFill/>
                          </a:ln>
                          <a:solidFill>
                            <a:schemeClr val="bg2"/>
                          </a:solidFill>
                          <a:effectLst/>
                          <a:latin typeface="EYInterstate Light" pitchFamily="2" charset="0"/>
                          <a:ea typeface="+mn-ea"/>
                          <a:cs typeface="+mn-cs"/>
                        </a:rPr>
                        <a:t>Lync &amp; Outlook</a:t>
                      </a: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  Continued L&amp;O specification reviews with L&amp;O governance group (Americas, Markets, Communications, EMEIA, Knowledge, People).  Commenced creation of L&amp;O Change Toolkit. Continued work to establish an EA and end user review group for learning needs analysis and learning topics.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sng" strike="noStrike" kern="1200" cap="none" normalizeH="0" baseline="0" noProof="0" dirty="0" smtClean="0">
                          <a:ln>
                            <a:noFill/>
                          </a:ln>
                          <a:solidFill>
                            <a:schemeClr val="bg2"/>
                          </a:solidFill>
                          <a:effectLst/>
                          <a:latin typeface="EYInterstate Light" pitchFamily="2" charset="0"/>
                          <a:ea typeface="+mn-ea"/>
                          <a:cs typeface="+mn-cs"/>
                        </a:rPr>
                        <a:t>Benefits</a:t>
                      </a:r>
                      <a:r>
                        <a:rPr kumimoji="0" lang="en-GB" sz="700" b="0" i="0" u="none" strike="noStrike" kern="1200" cap="none" normalizeH="0" baseline="0" noProof="0" dirty="0" smtClean="0">
                          <a:ln>
                            <a:noFill/>
                          </a:ln>
                          <a:solidFill>
                            <a:schemeClr val="bg2"/>
                          </a:solidFill>
                          <a:effectLst/>
                          <a:latin typeface="EYInterstate Light" pitchFamily="2" charset="0"/>
                          <a:ea typeface="+mn-ea"/>
                          <a:cs typeface="+mn-cs"/>
                        </a:rPr>
                        <a:t>:</a:t>
                      </a: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 M&amp;C Business Case refreshed based upon updated resource estimates ahead of meeting with Mo Osborne and Global IT Services PMO on 8th June. </a:t>
                      </a:r>
                      <a:endParaRPr kumimoji="0" lang="en-GB" sz="700" b="0" i="0" u="none" strike="noStrike" kern="1200" cap="none" normalizeH="0" baseline="0" noProof="0" dirty="0" smtClean="0">
                        <a:ln>
                          <a:noFill/>
                        </a:ln>
                        <a:solidFill>
                          <a:schemeClr val="bg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bg2"/>
                          </a:solidFill>
                          <a:effectLst/>
                          <a:latin typeface="EYInterstate Light" pitchFamily="2" charset="0"/>
                          <a:ea typeface="+mn-ea"/>
                          <a:cs typeface="+mn-cs"/>
                        </a:rPr>
                        <a:t>Change/deployment: Outlook and </a:t>
                      </a:r>
                      <a:r>
                        <a:rPr kumimoji="0" lang="en-GB" sz="700" b="0" i="0" u="none" strike="noStrike" kern="1200" cap="none" normalizeH="0" baseline="0" noProof="0" dirty="0" err="1" smtClean="0">
                          <a:ln>
                            <a:noFill/>
                          </a:ln>
                          <a:solidFill>
                            <a:schemeClr val="bg2"/>
                          </a:solidFill>
                          <a:effectLst/>
                          <a:latin typeface="EYInterstate Light" pitchFamily="2" charset="0"/>
                          <a:ea typeface="+mn-ea"/>
                          <a:cs typeface="+mn-cs"/>
                        </a:rPr>
                        <a:t>Lync</a:t>
                      </a:r>
                      <a:r>
                        <a:rPr kumimoji="0" lang="en-GB" sz="700" b="0" i="0" u="none" strike="noStrike" kern="1200" cap="none" normalizeH="0" baseline="0" noProof="0" dirty="0" smtClean="0">
                          <a:ln>
                            <a:noFill/>
                          </a:ln>
                          <a:solidFill>
                            <a:schemeClr val="bg2"/>
                          </a:solidFill>
                          <a:effectLst/>
                          <a:latin typeface="EYInterstate Light" pitchFamily="2" charset="0"/>
                          <a:ea typeface="+mn-ea"/>
                          <a:cs typeface="+mn-cs"/>
                        </a:rPr>
                        <a:t> Strategy finalised and sent to the program. Budget and plan finalised – awaiting for approval</a:t>
                      </a:r>
                      <a:endPar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8674">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B.  KEY ACCOMPLISHMENTS THIS PERIOD</a:t>
                      </a:r>
                      <a:endParaRPr kumimoji="0" lang="en-CA"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357278">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sng" strike="noStrike" kern="1200" cap="none" normalizeH="0" baseline="0" dirty="0" smtClean="0">
                          <a:ln>
                            <a:noFill/>
                          </a:ln>
                          <a:solidFill>
                            <a:schemeClr val="bg2"/>
                          </a:solidFill>
                          <a:effectLst/>
                          <a:latin typeface="EYInterstate Light" pitchFamily="2" charset="0"/>
                          <a:ea typeface="+mn-ea"/>
                          <a:cs typeface="+mn-cs"/>
                        </a:rPr>
                        <a:t>Benefits</a:t>
                      </a: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 M&amp;C Business Case refreshed based upon updated resource estimates ahead of meeting with Mo Osborne and Global IT Services PMO - 8 June 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Measurement identification  activities  -  meetings scheduled for Lync and Outlook – 05 Oct 12</a:t>
                      </a: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sng" strike="noStrike" kern="1200" cap="none" normalizeH="0" baseline="0" dirty="0" smtClean="0">
                          <a:ln>
                            <a:noFill/>
                          </a:ln>
                          <a:solidFill>
                            <a:schemeClr val="bg2"/>
                          </a:solidFill>
                          <a:effectLst/>
                          <a:latin typeface="EYInterstate Light" pitchFamily="2" charset="0"/>
                          <a:ea typeface="+mn-ea"/>
                          <a:cs typeface="+mn-cs"/>
                        </a:rPr>
                        <a:t>Comms</a:t>
                      </a: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 Preparation for M&amp;C CHS preview - deep dive with Mo on M&amp;C CHS plan – 12th June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First draft of one-pager update back from GSS for comments – returned with comments (overall deadline 15th June – for distribution 19th June)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Developed one pager update for Mo for the Global Advisory council focusing on Messaging.</a:t>
                      </a: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sng" strike="noStrike" kern="1200" cap="none" normalizeH="0" baseline="0" noProof="0" dirty="0" smtClean="0">
                          <a:ln>
                            <a:noFill/>
                          </a:ln>
                          <a:solidFill>
                            <a:schemeClr val="bg2"/>
                          </a:solidFill>
                          <a:effectLst/>
                          <a:latin typeface="EYInterstate Light" pitchFamily="2" charset="0"/>
                          <a:ea typeface="+mn-ea"/>
                          <a:cs typeface="+mn-cs"/>
                        </a:rPr>
                        <a:t>Lync &amp; Outlook</a:t>
                      </a:r>
                      <a:r>
                        <a:rPr kumimoji="0" lang="en-GB" sz="700" b="0" i="0" u="none" strike="noStrike" kern="1200" cap="none" normalizeH="0" baseline="0" dirty="0" smtClean="0">
                          <a:ln>
                            <a:noFill/>
                          </a:ln>
                          <a:solidFill>
                            <a:schemeClr val="bg2"/>
                          </a:solidFill>
                          <a:effectLst/>
                          <a:latin typeface="EYInterstate Light" pitchFamily="2" charset="0"/>
                          <a:ea typeface="+mn-ea"/>
                          <a:cs typeface="+mn-cs"/>
                        </a:rPr>
                        <a:t>:</a:t>
                      </a: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Continued reviews of L&amp;O specifications, documented outputs of L&amp;O specification review sessions and scheduled follow ups where appropriate.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Commenced work on Outlook change toolkit - 31 Aug 12</a:t>
                      </a: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sng" strike="noStrike" kern="1200" cap="none" normalizeH="0" baseline="0" dirty="0" smtClean="0">
                          <a:ln>
                            <a:noFill/>
                          </a:ln>
                          <a:solidFill>
                            <a:schemeClr val="bg2"/>
                          </a:solidFill>
                          <a:effectLst/>
                          <a:latin typeface="EYInterstate Light" pitchFamily="2" charset="0"/>
                          <a:ea typeface="+mn-ea"/>
                          <a:cs typeface="+mn-cs"/>
                        </a:rPr>
                        <a:t>SharePoint</a:t>
                      </a: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  Met with L&amp;O and Comms work stream leads to discuss L&amp;O Strategy. </a:t>
                      </a: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sng" strike="noStrike" kern="1200" cap="none" normalizeH="0" baseline="0" dirty="0" smtClean="0">
                          <a:ln>
                            <a:noFill/>
                          </a:ln>
                          <a:solidFill>
                            <a:schemeClr val="bg2"/>
                          </a:solidFill>
                          <a:effectLst/>
                          <a:latin typeface="EYInterstate Light" pitchFamily="2" charset="0"/>
                          <a:ea typeface="+mn-ea"/>
                          <a:cs typeface="+mn-cs"/>
                        </a:rPr>
                        <a:t>Change/Deployment: </a:t>
                      </a:r>
                      <a:r>
                        <a:rPr kumimoji="0" lang="en-US" sz="700" b="0" i="0" u="none" strike="noStrike" kern="1200" cap="none" normalizeH="0" baseline="0" dirty="0" smtClean="0">
                          <a:ln>
                            <a:noFill/>
                          </a:ln>
                          <a:solidFill>
                            <a:schemeClr val="bg1">
                              <a:lumMod val="50000"/>
                            </a:schemeClr>
                          </a:solidFill>
                          <a:effectLst/>
                          <a:latin typeface="EYInterstate Light" pitchFamily="2" charset="0"/>
                          <a:ea typeface="+mn-ea"/>
                          <a:cs typeface="+mn-cs"/>
                        </a:rPr>
                        <a:t>More detailed plan developed at area and country level</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9" name="Table 18"/>
          <p:cNvGraphicFramePr>
            <a:graphicFrameLocks noGrp="1"/>
          </p:cNvGraphicFramePr>
          <p:nvPr/>
        </p:nvGraphicFramePr>
        <p:xfrm>
          <a:off x="4752531" y="548680"/>
          <a:ext cx="4391468" cy="1872207"/>
        </p:xfrm>
        <a:graphic>
          <a:graphicData uri="http://schemas.openxmlformats.org/drawingml/2006/table">
            <a:tbl>
              <a:tblPr/>
              <a:tblGrid>
                <a:gridCol w="1386202"/>
                <a:gridCol w="616284"/>
                <a:gridCol w="633007"/>
                <a:gridCol w="928392"/>
                <a:gridCol w="432048"/>
                <a:gridCol w="395535"/>
              </a:tblGrid>
              <a:tr h="158997">
                <a:tc gridSpan="6">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EYInterstate" pitchFamily="2" charset="0"/>
                          <a:ea typeface="+mn-ea"/>
                          <a:cs typeface="+mn-cs"/>
                        </a:rPr>
                        <a:t>E.  </a:t>
                      </a:r>
                      <a:r>
                        <a:rPr kumimoji="0" lang="en-US" sz="700" b="1" i="0" u="none" strike="noStrike" kern="1200" cap="none" normalizeH="0" baseline="0" dirty="0" smtClean="0">
                          <a:ln>
                            <a:noFill/>
                          </a:ln>
                          <a:solidFill>
                            <a:schemeClr val="tx1"/>
                          </a:solidFill>
                          <a:effectLst/>
                          <a:latin typeface="EYInterstate" pitchFamily="2" charset="0"/>
                          <a:ea typeface="+mn-ea"/>
                          <a:cs typeface="+mn-cs"/>
                        </a:rPr>
                        <a:t>MILESTONES </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R w="6350" cap="flat" cmpd="sng" algn="ctr">
                      <a:solidFill>
                        <a:schemeClr val="accent2"/>
                      </a:solidFill>
                      <a:prstDash val="solid"/>
                      <a:round/>
                      <a:headEnd type="none" w="med" len="med"/>
                      <a:tailEnd type="none" w="med" len="med"/>
                    </a:lnR>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285535">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Individual Milestone Name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Planned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Projected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Conf</a:t>
                      </a: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85535">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Sign-off final change approach and structure </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25 May 12</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3 July12</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bg2"/>
                          </a:solidFill>
                          <a:effectLst/>
                          <a:latin typeface="EYInterstate Light" pitchFamily="2" charset="0"/>
                        </a:rPr>
                        <a:t>Estimated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158997">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Learning and Comms Strategy</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29 Jun 12</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29 Jun 12</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bg2"/>
                          </a:solidFill>
                          <a:effectLst/>
                          <a:latin typeface="EYInterstate Light" pitchFamily="2" charset="0"/>
                        </a:rPr>
                        <a:t>Target</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41207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Behavioral change approach &amp; plan – linked to benefits but SP driven</a:t>
                      </a:r>
                      <a:endParaRPr kumimoji="0" lang="en-US" sz="70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29 Jun 12</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29 Jun 12</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bg2"/>
                          </a:solidFill>
                          <a:effectLst/>
                          <a:latin typeface="EYInterstate Light" pitchFamily="2" charset="0"/>
                        </a:rPr>
                        <a:t>Target</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285535">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Sign-off HL Impact assessment for Lync</a:t>
                      </a:r>
                      <a:endParaRPr kumimoji="0" lang="en-US" sz="70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09 Jul 12</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09 Jul 12</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bg2"/>
                          </a:solidFill>
                          <a:effectLst/>
                          <a:latin typeface="EYInterstate Light" pitchFamily="2" charset="0"/>
                        </a:rPr>
                        <a:t>Target</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285535">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Identify Lync/Outlook Change network</a:t>
                      </a:r>
                      <a:endParaRPr kumimoji="0" lang="en-US" sz="70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20 Jul 12</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20 Jul 12</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bg2"/>
                          </a:solidFill>
                          <a:effectLst/>
                          <a:latin typeface="EYInterstate Light" pitchFamily="2" charset="0"/>
                        </a:rPr>
                        <a:t>Target</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4" name="Group 270"/>
          <p:cNvGraphicFramePr>
            <a:graphicFrameLocks noGrp="1"/>
          </p:cNvGraphicFramePr>
          <p:nvPr/>
        </p:nvGraphicFramePr>
        <p:xfrm>
          <a:off x="7391400" y="13617"/>
          <a:ext cx="1628477" cy="535063"/>
        </p:xfrm>
        <a:graphic>
          <a:graphicData uri="http://schemas.openxmlformats.org/drawingml/2006/table">
            <a:tbl>
              <a:tblPr/>
              <a:tblGrid>
                <a:gridCol w="814238"/>
                <a:gridCol w="814239"/>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272"/>
          <p:cNvGraphicFramePr>
            <a:graphicFrameLocks noGrp="1"/>
          </p:cNvGraphicFramePr>
          <p:nvPr/>
        </p:nvGraphicFramePr>
        <p:xfrm>
          <a:off x="0" y="3528195"/>
          <a:ext cx="4680520" cy="2565101"/>
        </p:xfrm>
        <a:graphic>
          <a:graphicData uri="http://schemas.openxmlformats.org/drawingml/2006/table">
            <a:tbl>
              <a:tblPr/>
              <a:tblGrid>
                <a:gridCol w="4680520"/>
              </a:tblGrid>
              <a:tr h="127853">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a:ln>
                            <a:noFill/>
                          </a:ln>
                          <a:solidFill>
                            <a:schemeClr val="tx1"/>
                          </a:solidFill>
                          <a:effectLst/>
                          <a:latin typeface="EYInterstate" pitchFamily="2" charset="0"/>
                        </a:rPr>
                        <a:t>C.  ACTIVITIES BEHIND SCHEDULE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3586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7853">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D.  </a:t>
                      </a:r>
                      <a:r>
                        <a:rPr kumimoji="0" lang="en-US" sz="700" b="1" i="0" u="none" strike="noStrike" cap="none" normalizeH="0" baseline="0" dirty="0">
                          <a:ln>
                            <a:noFill/>
                          </a:ln>
                          <a:solidFill>
                            <a:schemeClr val="tx1"/>
                          </a:solidFill>
                          <a:effectLst/>
                          <a:latin typeface="EYInterstate" pitchFamily="2" charset="0"/>
                        </a:rPr>
                        <a:t>KEY ACTIVITIES PLANNED NEXT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06114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rgbClr val="FF0000"/>
                          </a:solidFill>
                          <a:effectLst/>
                          <a:latin typeface="EYInterstate Light" pitchFamily="2" charset="0"/>
                          <a:ea typeface="+mn-ea"/>
                          <a:cs typeface="+mn-cs"/>
                        </a:rPr>
                        <a:t>Build Subscriptions functions in </a:t>
                      </a:r>
                      <a:r>
                        <a:rPr kumimoji="0" lang="en-US" sz="700" b="0" i="0" u="none" strike="noStrike" kern="1200" cap="none" normalizeH="0" baseline="0" dirty="0" err="1" smtClean="0">
                          <a:ln>
                            <a:noFill/>
                          </a:ln>
                          <a:solidFill>
                            <a:srgbClr val="FF0000"/>
                          </a:solidFill>
                          <a:effectLst/>
                          <a:latin typeface="EYInterstate Light" pitchFamily="2" charset="0"/>
                          <a:ea typeface="+mn-ea"/>
                          <a:cs typeface="+mn-cs"/>
                        </a:rPr>
                        <a:t>PoC</a:t>
                      </a:r>
                      <a:r>
                        <a:rPr kumimoji="0" lang="en-US" sz="700" b="0" i="0" u="none" strike="noStrike" kern="1200" cap="none" normalizeH="0" baseline="0" dirty="0" smtClean="0">
                          <a:ln>
                            <a:noFill/>
                          </a:ln>
                          <a:solidFill>
                            <a:srgbClr val="FF0000"/>
                          </a:solidFill>
                          <a:effectLst/>
                          <a:latin typeface="EYInterstate Light" pitchFamily="2" charset="0"/>
                          <a:ea typeface="+mn-ea"/>
                          <a:cs typeface="+mn-cs"/>
                        </a:rPr>
                        <a:t> – 15 June 2012</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rgbClr val="FF0000"/>
                          </a:solidFill>
                          <a:effectLst/>
                          <a:latin typeface="EYInterstate Light" pitchFamily="2" charset="0"/>
                          <a:ea typeface="+mn-ea"/>
                          <a:cs typeface="+mn-cs"/>
                        </a:rPr>
                        <a:t>Publish draft vision content for Subscriptions – 15 June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 name="Group 852"/>
          <p:cNvGraphicFramePr>
            <a:graphicFrameLocks noGrp="1"/>
          </p:cNvGraphicFramePr>
          <p:nvPr/>
        </p:nvGraphicFramePr>
        <p:xfrm>
          <a:off x="4752531" y="3203810"/>
          <a:ext cx="4391470" cy="1417316"/>
        </p:xfrm>
        <a:graphic>
          <a:graphicData uri="http://schemas.openxmlformats.org/drawingml/2006/table">
            <a:tbl>
              <a:tblPr/>
              <a:tblGrid>
                <a:gridCol w="1348673"/>
                <a:gridCol w="1783164"/>
                <a:gridCol w="720080"/>
                <a:gridCol w="539553"/>
              </a:tblGrid>
              <a:tr h="205526">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G. MATTERS FOR IMMEDIATE ATTENTION – typically specific current issues or scope changes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14352">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Issues to be resolved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Recommended Action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Target Date</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Completed By</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0584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smtClean="0">
                        <a:ln>
                          <a:noFill/>
                        </a:ln>
                        <a:solidFill>
                          <a:schemeClr val="tx1"/>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smtClean="0">
                        <a:ln>
                          <a:noFill/>
                        </a:ln>
                        <a:solidFill>
                          <a:schemeClr val="tx1"/>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2216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1"/>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1"/>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1444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1"/>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1"/>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69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smtClean="0">
                        <a:ln>
                          <a:noFill/>
                        </a:ln>
                        <a:solidFill>
                          <a:schemeClr val="tx1"/>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1"/>
                          </a:solidFill>
                          <a:effectLst/>
                          <a:latin typeface="EYInterstate Light" pitchFamily="2" charset="0"/>
                        </a:rPr>
                        <a:t>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69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4" name="Group 270"/>
          <p:cNvGraphicFramePr>
            <a:graphicFrameLocks noGrp="1"/>
          </p:cNvGraphicFramePr>
          <p:nvPr/>
        </p:nvGraphicFramePr>
        <p:xfrm>
          <a:off x="7391400" y="36991"/>
          <a:ext cx="1628477" cy="535063"/>
        </p:xfrm>
        <a:graphic>
          <a:graphicData uri="http://schemas.openxmlformats.org/drawingml/2006/table">
            <a:tbl>
              <a:tblPr/>
              <a:tblGrid>
                <a:gridCol w="814238"/>
                <a:gridCol w="814239"/>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r>
            </a:tbl>
          </a:graphicData>
        </a:graphic>
      </p:graphicFrame>
      <p:graphicFrame>
        <p:nvGraphicFramePr>
          <p:cNvPr id="5" name="Table 4"/>
          <p:cNvGraphicFramePr>
            <a:graphicFrameLocks noGrp="1"/>
          </p:cNvGraphicFramePr>
          <p:nvPr/>
        </p:nvGraphicFramePr>
        <p:xfrm>
          <a:off x="4752530" y="2060848"/>
          <a:ext cx="4391469" cy="1030458"/>
        </p:xfrm>
        <a:graphic>
          <a:graphicData uri="http://schemas.openxmlformats.org/drawingml/2006/table">
            <a:tbl>
              <a:tblPr/>
              <a:tblGrid>
                <a:gridCol w="1109946"/>
                <a:gridCol w="2021892"/>
                <a:gridCol w="504056"/>
                <a:gridCol w="755575"/>
              </a:tblGrid>
              <a:tr h="229553">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F.  KEY RISKS – typically future challenges or external circumstances that may affect the initiative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29553">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Risks to be addressed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Mitigating Action</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Target Date</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Completed By</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8154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kern="1200" cap="none" normalizeH="0" baseline="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noProof="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6745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kern="1200" cap="none" normalizeH="0" baseline="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noProof="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6" name="Group 270"/>
          <p:cNvGraphicFramePr>
            <a:graphicFrameLocks noGrp="1"/>
          </p:cNvGraphicFramePr>
          <p:nvPr/>
        </p:nvGraphicFramePr>
        <p:xfrm>
          <a:off x="1195546" y="6553106"/>
          <a:ext cx="381000" cy="88326"/>
        </p:xfrm>
        <a:graphic>
          <a:graphicData uri="http://schemas.openxmlformats.org/drawingml/2006/table">
            <a:tbl>
              <a:tblPr/>
              <a:tblGrid>
                <a:gridCol w="381000"/>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7" name="Group 270"/>
          <p:cNvGraphicFramePr>
            <a:graphicFrameLocks noGrp="1"/>
          </p:cNvGraphicFramePr>
          <p:nvPr/>
        </p:nvGraphicFramePr>
        <p:xfrm>
          <a:off x="3979855" y="6582966"/>
          <a:ext cx="523914" cy="88326"/>
        </p:xfrm>
        <a:graphic>
          <a:graphicData uri="http://schemas.openxmlformats.org/drawingml/2006/table">
            <a:tbl>
              <a:tblPr/>
              <a:tblGrid>
                <a:gridCol w="523914"/>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8" name="Group 270"/>
          <p:cNvGraphicFramePr>
            <a:graphicFrameLocks noGrp="1"/>
          </p:cNvGraphicFramePr>
          <p:nvPr/>
        </p:nvGraphicFramePr>
        <p:xfrm>
          <a:off x="6515865" y="6550835"/>
          <a:ext cx="381000" cy="90597"/>
        </p:xfrm>
        <a:graphic>
          <a:graphicData uri="http://schemas.openxmlformats.org/drawingml/2006/table">
            <a:tbl>
              <a:tblPr/>
              <a:tblGrid>
                <a:gridCol w="381000"/>
              </a:tblGrid>
              <a:tr h="90597">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pSp>
        <p:nvGrpSpPr>
          <p:cNvPr id="9" name="Group 27"/>
          <p:cNvGrpSpPr/>
          <p:nvPr/>
        </p:nvGrpSpPr>
        <p:grpSpPr>
          <a:xfrm>
            <a:off x="285595" y="6400800"/>
            <a:ext cx="8734282" cy="494922"/>
            <a:chOff x="307495" y="6550829"/>
            <a:chExt cx="9404036" cy="494922"/>
          </a:xfrm>
        </p:grpSpPr>
        <p:sp>
          <p:nvSpPr>
            <p:cNvPr id="10" name="TextBox 9"/>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11" name="TextBox 10"/>
            <p:cNvSpPr txBox="1"/>
            <p:nvPr/>
          </p:nvSpPr>
          <p:spPr bwMode="gray">
            <a:xfrm>
              <a:off x="674554" y="6657945"/>
              <a:ext cx="612668"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latin typeface="EYInterstate Light" pitchFamily="2" charset="0"/>
              </a:endParaRPr>
            </a:p>
          </p:txBody>
        </p:sp>
        <p:sp>
          <p:nvSpPr>
            <p:cNvPr id="12" name="TextBox 11"/>
            <p:cNvSpPr txBox="1"/>
            <p:nvPr/>
          </p:nvSpPr>
          <p:spPr bwMode="gray">
            <a:xfrm>
              <a:off x="307495" y="6550829"/>
              <a:ext cx="4541628"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latin typeface="EYInterstate Light" pitchFamily="2" charset="0"/>
              </a:endParaRPr>
            </a:p>
          </p:txBody>
        </p:sp>
        <p:sp>
          <p:nvSpPr>
            <p:cNvPr id="13" name="TextBox 12"/>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14" name="TextBox 13"/>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15" name="Freeform 94"/>
          <p:cNvSpPr>
            <a:spLocks/>
          </p:cNvSpPr>
          <p:nvPr/>
        </p:nvSpPr>
        <p:spPr bwMode="gray">
          <a:xfrm>
            <a:off x="0" y="0"/>
            <a:ext cx="6706365"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700" dirty="0">
              <a:solidFill>
                <a:srgbClr val="000000"/>
              </a:solidFill>
              <a:latin typeface="EYInterstate Light" pitchFamily="2" charset="0"/>
            </a:endParaRPr>
          </a:p>
        </p:txBody>
      </p:sp>
      <p:sp>
        <p:nvSpPr>
          <p:cNvPr id="16" name="Rectangle 183"/>
          <p:cNvSpPr txBox="1">
            <a:spLocks noChangeArrowheads="1"/>
          </p:cNvSpPr>
          <p:nvPr/>
        </p:nvSpPr>
        <p:spPr bwMode="gray">
          <a:xfrm>
            <a:off x="1" y="-34669"/>
            <a:ext cx="7086599" cy="553998"/>
          </a:xfrm>
          <a:prstGeom prst="rect">
            <a:avLst/>
          </a:prstGeom>
        </p:spPr>
        <p:txBody>
          <a:bodyPr wrap="square">
            <a:spAutoFit/>
          </a:bodyPr>
          <a:lstStyle/>
          <a:p>
            <a:pPr lvl="0" algn="l" defTabSz="955675" eaLnBrk="0" hangingPunct="0">
              <a:spcAft>
                <a:spcPts val="0"/>
              </a:spcAft>
              <a:defRPr/>
            </a:pPr>
            <a:r>
              <a:rPr lang="en-US" sz="1600" b="1" kern="0" dirty="0" smtClean="0">
                <a:solidFill>
                  <a:srgbClr val="646464"/>
                </a:solidFill>
              </a:rPr>
              <a:t>Blueprint– Weekly status report – 08 JUN 2012</a:t>
            </a:r>
          </a:p>
          <a:p>
            <a:pPr lvl="0" algn="l" defTabSz="955675" eaLnBrk="0" hangingPunct="0">
              <a:spcAft>
                <a:spcPts val="0"/>
              </a:spcAft>
              <a:defRPr/>
            </a:pPr>
            <a:r>
              <a:rPr lang="en-US" sz="1400" kern="0" dirty="0" smtClean="0">
                <a:solidFill>
                  <a:srgbClr val="646464"/>
                </a:solidFill>
              </a:rPr>
              <a:t>David Bingham/ Fareed Naeem</a:t>
            </a:r>
            <a:endParaRPr lang="en-US" sz="1400" kern="0" dirty="0">
              <a:solidFill>
                <a:srgbClr val="646464"/>
              </a:solidFill>
            </a:endParaRPr>
          </a:p>
        </p:txBody>
      </p:sp>
      <p:graphicFrame>
        <p:nvGraphicFramePr>
          <p:cNvPr id="17" name="Table 16"/>
          <p:cNvGraphicFramePr>
            <a:graphicFrameLocks noGrp="1"/>
          </p:cNvGraphicFramePr>
          <p:nvPr/>
        </p:nvGraphicFramePr>
        <p:xfrm>
          <a:off x="4752531" y="4943646"/>
          <a:ext cx="4391469" cy="1149650"/>
        </p:xfrm>
        <a:graphic>
          <a:graphicData uri="http://schemas.openxmlformats.org/drawingml/2006/table">
            <a:tbl>
              <a:tblPr/>
              <a:tblGrid>
                <a:gridCol w="4391469"/>
              </a:tblGrid>
              <a:tr h="144268">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H.  GENERAL COMMENTS – must include reasoning for an overall Red or Amber Status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00538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noProof="0" dirty="0">
                          <a:ln>
                            <a:noFill/>
                          </a:ln>
                          <a:solidFill>
                            <a:schemeClr val="bg2"/>
                          </a:solidFill>
                          <a:effectLst/>
                          <a:latin typeface="EYInterstate Light" pitchFamily="2" charset="0"/>
                          <a:ea typeface="+mn-ea"/>
                          <a:cs typeface="+mn-cs"/>
                        </a:rPr>
                        <a:t>FY12 Budget </a:t>
                      </a: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                                                      $ N/A – based on CR</a:t>
                      </a:r>
                    </a:p>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Current </a:t>
                      </a:r>
                      <a:r>
                        <a:rPr kumimoji="0" lang="en-US" sz="700" b="0" i="0" u="none" strike="noStrike" kern="1200" cap="none" normalizeH="0" baseline="0" noProof="0" dirty="0">
                          <a:ln>
                            <a:noFill/>
                          </a:ln>
                          <a:solidFill>
                            <a:schemeClr val="bg2"/>
                          </a:solidFill>
                          <a:effectLst/>
                          <a:latin typeface="EYInterstate Light" pitchFamily="2" charset="0"/>
                          <a:ea typeface="+mn-ea"/>
                          <a:cs typeface="+mn-cs"/>
                        </a:rPr>
                        <a:t>Budget (Baseline + Approved CRs)	</a:t>
                      </a: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 $</a:t>
                      </a:r>
                      <a:endParaRPr kumimoji="0" lang="en-US" sz="700" b="0" i="0" u="none" strike="noStrike" kern="1200" cap="none" normalizeH="0" baseline="0" noProof="0" dirty="0">
                        <a:ln>
                          <a:noFill/>
                        </a:ln>
                        <a:solidFill>
                          <a:schemeClr val="bg2"/>
                        </a:solidFill>
                        <a:effectLst/>
                        <a:latin typeface="EYInterstate Light" pitchFamily="2" charset="0"/>
                        <a:ea typeface="+mn-ea"/>
                        <a:cs typeface="+mn-cs"/>
                      </a:endParaRPr>
                    </a:p>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noProof="0" dirty="0">
                          <a:ln>
                            <a:noFill/>
                          </a:ln>
                          <a:solidFill>
                            <a:schemeClr val="bg2"/>
                          </a:solidFill>
                          <a:effectLst/>
                          <a:latin typeface="EYInterstate Light" pitchFamily="2" charset="0"/>
                          <a:ea typeface="+mn-ea"/>
                          <a:cs typeface="+mn-cs"/>
                        </a:rPr>
                        <a:t>Spend to Date		</a:t>
                      </a: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 $</a:t>
                      </a:r>
                      <a:endParaRPr kumimoji="0" lang="en-US" sz="700" b="0" i="0" u="sng" strike="noStrike" kern="1200" cap="none" normalizeH="0" baseline="0" noProof="0" dirty="0">
                        <a:ln>
                          <a:noFill/>
                        </a:ln>
                        <a:solidFill>
                          <a:schemeClr val="bg2"/>
                        </a:solidFill>
                        <a:effectLst/>
                        <a:latin typeface="EYInterstate Light" pitchFamily="2" charset="0"/>
                        <a:ea typeface="+mn-ea"/>
                        <a:cs typeface="+mn-cs"/>
                      </a:endParaRPr>
                    </a:p>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noProof="0" dirty="0">
                          <a:ln>
                            <a:noFill/>
                          </a:ln>
                          <a:solidFill>
                            <a:schemeClr val="bg2"/>
                          </a:solidFill>
                          <a:effectLst/>
                          <a:latin typeface="EYInterstate Light" pitchFamily="2" charset="0"/>
                          <a:ea typeface="+mn-ea"/>
                          <a:cs typeface="+mn-cs"/>
                        </a:rPr>
                        <a:t>ETC		</a:t>
                      </a: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 $</a:t>
                      </a:r>
                      <a:endParaRPr kumimoji="0" lang="en-US" sz="700" b="0" i="0" u="none" strike="noStrike" kern="1200" cap="none" normalizeH="0" baseline="0" noProof="0" dirty="0">
                        <a:ln>
                          <a:noFill/>
                        </a:ln>
                        <a:solidFill>
                          <a:schemeClr val="bg2"/>
                        </a:solidFill>
                        <a:effectLst/>
                        <a:latin typeface="EYInterstate Light" pitchFamily="2" charset="0"/>
                        <a:ea typeface="+mn-ea"/>
                        <a:cs typeface="+mn-cs"/>
                      </a:endParaRPr>
                    </a:p>
                    <a:p>
                      <a:pPr marL="0" marR="0" lvl="0" indent="90488" algn="l"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EYInterstate Light" pitchFamily="2" charset="0"/>
                        </a:rPr>
                        <a:t>Variances		</a:t>
                      </a:r>
                      <a:r>
                        <a:rPr kumimoji="0" lang="en-US" sz="700" b="0" i="0" u="none" strike="noStrike" cap="none" normalizeH="0" baseline="0" dirty="0" smtClean="0">
                          <a:ln>
                            <a:noFill/>
                          </a:ln>
                          <a:solidFill>
                            <a:srgbClr val="646464"/>
                          </a:solidFill>
                          <a:effectLst/>
                          <a:latin typeface="EYInterstate Light" pitchFamily="2" charset="0"/>
                        </a:rPr>
                        <a:t> $</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2"/>
          <p:cNvGraphicFramePr>
            <a:graphicFrameLocks noGrp="1"/>
          </p:cNvGraphicFramePr>
          <p:nvPr/>
        </p:nvGraphicFramePr>
        <p:xfrm>
          <a:off x="2" y="609600"/>
          <a:ext cx="4680520" cy="2766680"/>
        </p:xfrm>
        <a:graphic>
          <a:graphicData uri="http://schemas.openxmlformats.org/drawingml/2006/table">
            <a:tbl>
              <a:tblPr/>
              <a:tblGrid>
                <a:gridCol w="4680520"/>
              </a:tblGrid>
              <a:tr h="122306">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j-lt"/>
                        </a:rPr>
                        <a:t>A.  </a:t>
                      </a:r>
                      <a:r>
                        <a:rPr kumimoji="0" lang="en-GB" sz="700" b="1" i="0" u="none" strike="noStrike" cap="none" normalizeH="0" baseline="0" dirty="0" smtClean="0">
                          <a:ln>
                            <a:noFill/>
                          </a:ln>
                          <a:solidFill>
                            <a:schemeClr val="tx1"/>
                          </a:solidFill>
                          <a:effectLst/>
                          <a:latin typeface="+mj-lt"/>
                        </a:rPr>
                        <a:t>EXECUTIVE SUMMARY – a summary of the progress for this period (not of the initiative)</a:t>
                      </a:r>
                      <a:endParaRPr kumimoji="0" lang="en-US" sz="700" b="1" i="0" u="none" strike="noStrike" cap="none" normalizeH="0" baseline="0" dirty="0">
                        <a:ln>
                          <a:noFill/>
                        </a:ln>
                        <a:solidFill>
                          <a:schemeClr val="tx1"/>
                        </a:solidFill>
                        <a:effectLst/>
                        <a:latin typeface="+mj-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41678">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lang="en-GB" sz="700" i="1" kern="1200" dirty="0" smtClean="0">
                          <a:solidFill>
                            <a:schemeClr val="tx1"/>
                          </a:solidFill>
                          <a:latin typeface="EYInterstate Light" pitchFamily="2" charset="0"/>
                          <a:ea typeface="+mn-ea"/>
                          <a:cs typeface="+mn-cs"/>
                        </a:rPr>
                        <a:t>This week the team completed the POC requirements related to the Content Management</a:t>
                      </a:r>
                      <a:r>
                        <a:rPr lang="en-GB" sz="700" i="1" kern="1200" baseline="0" dirty="0" smtClean="0">
                          <a:solidFill>
                            <a:schemeClr val="tx1"/>
                          </a:solidFill>
                          <a:latin typeface="EYInterstate Light" pitchFamily="2" charset="0"/>
                          <a:ea typeface="+mn-ea"/>
                          <a:cs typeface="+mn-cs"/>
                        </a:rPr>
                        <a:t> of DTU articles. The POC is being developed in tandem and the first drop for business review is targeted for Monday morning, June 11.</a:t>
                      </a:r>
                      <a:endParaRPr lang="en-GB" sz="700" i="1" kern="1200" dirty="0" smtClean="0">
                        <a:solidFill>
                          <a:schemeClr val="tx1"/>
                        </a:solidFill>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2306">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B.  KEY ACCOMPLISHMENTS THIS PERIOD</a:t>
                      </a:r>
                      <a:endParaRPr kumimoji="0" lang="en-CA"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5691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rgbClr val="646464"/>
                          </a:solidFill>
                          <a:effectLst/>
                          <a:latin typeface="EYInterstate Light" pitchFamily="2" charset="0"/>
                          <a:ea typeface="+mn-ea"/>
                          <a:cs typeface="+mn-cs"/>
                        </a:rPr>
                        <a:t>Published draft vision content for Content Management – 07 June 2012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rgbClr val="646464"/>
                          </a:solidFill>
                          <a:effectLst/>
                          <a:latin typeface="EYInterstate Light" pitchFamily="2" charset="0"/>
                          <a:ea typeface="+mn-ea"/>
                          <a:cs typeface="+mn-cs"/>
                        </a:rPr>
                        <a:t>Build Content Management functions in POC – 08 June 2012</a:t>
                      </a:r>
                      <a:endParaRPr kumimoji="0" lang="en-GB" sz="700" b="0" i="0" u="none" strike="noStrike" kern="1200" cap="none" normalizeH="0" baseline="0" noProof="0" dirty="0">
                        <a:ln>
                          <a:noFill/>
                        </a:ln>
                        <a:solidFill>
                          <a:srgbClr val="646464"/>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9" name="Table 18"/>
          <p:cNvGraphicFramePr>
            <a:graphicFrameLocks noGrp="1"/>
          </p:cNvGraphicFramePr>
          <p:nvPr/>
        </p:nvGraphicFramePr>
        <p:xfrm>
          <a:off x="4752531" y="609600"/>
          <a:ext cx="4366269" cy="936767"/>
        </p:xfrm>
        <a:graphic>
          <a:graphicData uri="http://schemas.openxmlformats.org/drawingml/2006/table">
            <a:tbl>
              <a:tblPr/>
              <a:tblGrid>
                <a:gridCol w="1238527"/>
                <a:gridCol w="583557"/>
                <a:gridCol w="724972"/>
                <a:gridCol w="724972"/>
                <a:gridCol w="495944"/>
                <a:gridCol w="598297"/>
              </a:tblGrid>
              <a:tr h="123744">
                <a:tc gridSpan="6">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EYInterstate" pitchFamily="2" charset="0"/>
                          <a:ea typeface="+mn-ea"/>
                          <a:cs typeface="+mn-cs"/>
                        </a:rPr>
                        <a:t>E.  </a:t>
                      </a:r>
                      <a:r>
                        <a:rPr kumimoji="0" lang="en-US" sz="700" b="1" i="0" u="none" strike="noStrike" kern="1200" cap="none" normalizeH="0" baseline="0" dirty="0" smtClean="0">
                          <a:ln>
                            <a:noFill/>
                          </a:ln>
                          <a:solidFill>
                            <a:schemeClr val="tx1"/>
                          </a:solidFill>
                          <a:effectLst/>
                          <a:latin typeface="EYInterstate" pitchFamily="2" charset="0"/>
                          <a:ea typeface="+mn-ea"/>
                          <a:cs typeface="+mn-cs"/>
                        </a:rPr>
                        <a:t>MILESTONES </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R w="6350" cap="flat" cmpd="sng" algn="ctr">
                      <a:solidFill>
                        <a:schemeClr val="accent2"/>
                      </a:solidFill>
                      <a:prstDash val="solid"/>
                      <a:round/>
                      <a:headEnd type="none" w="med" len="med"/>
                      <a:tailEnd type="none" w="med" len="med"/>
                    </a:lnR>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63297">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Individual Milestone Name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Planned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Projected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Conf</a:t>
                      </a: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59857">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chemeClr val="tx1"/>
                          </a:solidFill>
                          <a:effectLst/>
                          <a:latin typeface="EYInterstate Light" pitchFamily="2" charset="0"/>
                        </a:rPr>
                        <a:t>Kick-off for Tax</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12 Apr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21 May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Committed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r>
              <a:tr h="57944">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chemeClr val="tx1"/>
                          </a:solidFill>
                          <a:effectLst/>
                          <a:latin typeface="EYInterstate Light" pitchFamily="2" charset="0"/>
                        </a:rPr>
                        <a:t>Kick-off for Advisory</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26 Apr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9 Jul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Target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r>
              <a:tr h="67914">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chemeClr val="tx1"/>
                          </a:solidFill>
                          <a:effectLst/>
                          <a:latin typeface="EYInterstate Light" pitchFamily="2" charset="0"/>
                        </a:rPr>
                        <a:t>Kick-off for Markets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26 Apr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23 Jul 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Target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r>
              <a:tr h="7653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Kick-off for Assurance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26 Apr 12</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6 Aug 12</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chemeClr val="tx1"/>
                          </a:solidFill>
                          <a:effectLst/>
                          <a:latin typeface="EYInterstate Light" pitchFamily="2" charset="0"/>
                        </a:rPr>
                        <a:t>Target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272"/>
          <p:cNvGraphicFramePr>
            <a:graphicFrameLocks noGrp="1"/>
          </p:cNvGraphicFramePr>
          <p:nvPr/>
        </p:nvGraphicFramePr>
        <p:xfrm>
          <a:off x="0" y="3717032"/>
          <a:ext cx="4680520" cy="2717333"/>
        </p:xfrm>
        <a:graphic>
          <a:graphicData uri="http://schemas.openxmlformats.org/drawingml/2006/table">
            <a:tbl>
              <a:tblPr/>
              <a:tblGrid>
                <a:gridCol w="4680520"/>
              </a:tblGrid>
              <a:tr h="127853">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a:ln>
                            <a:noFill/>
                          </a:ln>
                          <a:solidFill>
                            <a:schemeClr val="tx1"/>
                          </a:solidFill>
                          <a:effectLst/>
                          <a:latin typeface="EYInterstate" pitchFamily="2" charset="0"/>
                        </a:rPr>
                        <a:t>C.  ACTIVITIES BEHIND SCHEDULE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3586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28Feb2012: </a:t>
                      </a:r>
                      <a:r>
                        <a:rPr kumimoji="0" lang="en-US" sz="700" b="1" i="0" u="none" strike="noStrike" kern="1200" cap="none" normalizeH="0" baseline="0" dirty="0" smtClean="0">
                          <a:ln>
                            <a:noFill/>
                          </a:ln>
                          <a:solidFill>
                            <a:schemeClr val="tx2"/>
                          </a:solidFill>
                          <a:effectLst/>
                          <a:latin typeface="EYInterstate Light" pitchFamily="2" charset="0"/>
                          <a:ea typeface="+mn-ea"/>
                          <a:cs typeface="+mn-cs"/>
                        </a:rPr>
                        <a:t>Recruitment of TM resources</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  No progress maid against this activity this period.  Raised to “High” from “Low” priority on the M&amp;C Raid (7 May 2012).  Will raise to “Critical” on 31 May if no progress has been made.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Service Design overall is behind schedule and we will not hit our projected dates. We are currently working to determine an appropriate timeline for </a:t>
                      </a:r>
                      <a:r>
                        <a:rPr kumimoji="0" lang="en-US" sz="700" b="0" i="0" u="none" strike="noStrike" kern="1200" cap="none" normalizeH="0" baseline="0" dirty="0" err="1" smtClean="0">
                          <a:ln>
                            <a:noFill/>
                          </a:ln>
                          <a:solidFill>
                            <a:schemeClr val="tx1"/>
                          </a:solidFill>
                          <a:effectLst/>
                          <a:latin typeface="EYInterstate Light" pitchFamily="2" charset="0"/>
                          <a:ea typeface="+mn-ea"/>
                          <a:cs typeface="+mn-cs"/>
                        </a:rPr>
                        <a:t>Lync</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 and Outlook Exchange. SharePoint and A&amp;DM are both TBD.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Service Transition planning is behind schedule as it is dependant upon completion of the Service Design activities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The overall TOM work is behind schedule but will now begin to ramp up given increased clarity around the scope and design principles associated with this work</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86278">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D.  </a:t>
                      </a:r>
                      <a:r>
                        <a:rPr kumimoji="0" lang="en-US" sz="700" b="1" i="0" u="none" strike="noStrike" cap="none" normalizeH="0" baseline="0" dirty="0">
                          <a:ln>
                            <a:noFill/>
                          </a:ln>
                          <a:solidFill>
                            <a:schemeClr val="tx1"/>
                          </a:solidFill>
                          <a:effectLst/>
                          <a:latin typeface="EYInterstate" pitchFamily="2" charset="0"/>
                        </a:rPr>
                        <a:t>KEY ACTIVITIES PLANNED NEXT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06114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Call with CLT to discuss strategic design  and governance principles associated with the TOM for SharePoint and other enterprise applications</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Above has been partially completed with Margaret and Chris but follow up calls are now required with </a:t>
                      </a:r>
                      <a:r>
                        <a:rPr kumimoji="0" lang="en-US" sz="700" b="0" i="0" u="none" strike="noStrike" kern="1200" cap="none" normalizeH="0" baseline="0" smtClean="0">
                          <a:ln>
                            <a:noFill/>
                          </a:ln>
                          <a:solidFill>
                            <a:schemeClr val="tx2"/>
                          </a:solidFill>
                          <a:effectLst/>
                          <a:latin typeface="EYInterstate Light" pitchFamily="2" charset="0"/>
                          <a:ea typeface="+mn-ea"/>
                          <a:cs typeface="+mn-cs"/>
                        </a:rPr>
                        <a:t>John Costello </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and </a:t>
                      </a:r>
                      <a:r>
                        <a:rPr kumimoji="0" lang="en-US" sz="700" b="0" i="0" u="none" strike="noStrike" kern="1200" cap="none" normalizeH="0" baseline="0" dirty="0" err="1" smtClean="0">
                          <a:ln>
                            <a:noFill/>
                          </a:ln>
                          <a:solidFill>
                            <a:schemeClr val="tx2"/>
                          </a:solidFill>
                          <a:effectLst/>
                          <a:latin typeface="EYInterstate Light" pitchFamily="2" charset="0"/>
                          <a:ea typeface="+mn-ea"/>
                          <a:cs typeface="+mn-cs"/>
                        </a:rPr>
                        <a:t>Siggi</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a:t>
                      </a:r>
                      <a:r>
                        <a:rPr kumimoji="0" lang="en-US" sz="700" b="0" i="0" u="none" strike="noStrike" kern="1200" cap="none" normalizeH="0" baseline="0" dirty="0" err="1" smtClean="0">
                          <a:ln>
                            <a:noFill/>
                          </a:ln>
                          <a:solidFill>
                            <a:schemeClr val="tx2"/>
                          </a:solidFill>
                          <a:effectLst/>
                          <a:latin typeface="EYInterstate Light" pitchFamily="2" charset="0"/>
                          <a:ea typeface="+mn-ea"/>
                          <a:cs typeface="+mn-cs"/>
                        </a:rPr>
                        <a:t>Hauer</a:t>
                      </a: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a:t>
                      </a:r>
                    </a:p>
                    <a:p>
                      <a:pPr marL="85725" marR="0" lvl="0" indent="-85725" algn="l" defTabSz="947738" rtl="0" eaLnBrk="0" fontAlgn="base" latinLnBrk="0" hangingPunct="0">
                        <a:lnSpc>
                          <a:spcPct val="100000"/>
                        </a:lnSpc>
                        <a:spcBef>
                          <a:spcPct val="0"/>
                        </a:spcBef>
                        <a:spcAft>
                          <a:spcPct val="10000"/>
                        </a:spcAft>
                        <a:buClrTx/>
                        <a:buSzTx/>
                        <a:buFontTx/>
                        <a:buNone/>
                        <a:tabLst/>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 name="Group 852"/>
          <p:cNvGraphicFramePr>
            <a:graphicFrameLocks noGrp="1"/>
          </p:cNvGraphicFramePr>
          <p:nvPr/>
        </p:nvGraphicFramePr>
        <p:xfrm>
          <a:off x="4716016" y="4119099"/>
          <a:ext cx="4392491" cy="1700652"/>
        </p:xfrm>
        <a:graphic>
          <a:graphicData uri="http://schemas.openxmlformats.org/drawingml/2006/table">
            <a:tbl>
              <a:tblPr/>
              <a:tblGrid>
                <a:gridCol w="1368152"/>
                <a:gridCol w="1800202"/>
                <a:gridCol w="504056"/>
                <a:gridCol w="720081"/>
              </a:tblGrid>
              <a:tr h="173997">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G. MATTERS FOR IMMEDIATE ATTENTION – typically specific current issues or scope changes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97651">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Issues to be resolved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Recommended Action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Target Date</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Completed By</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64794">
                <a:tc>
                  <a:txBody>
                    <a:bodyPr/>
                    <a:lstStyle/>
                    <a:p>
                      <a:r>
                        <a:rPr lang="en-GB" sz="500" dirty="0" smtClean="0"/>
                        <a:t>I23 Need to recruit a significant number of additional resources into the program (Transition).</a:t>
                      </a:r>
                    </a:p>
                    <a:p>
                      <a:r>
                        <a:rPr lang="en-GB" sz="500" dirty="0" smtClean="0"/>
                        <a:t>Recruitment of skilled staff proving very difficult and will impact schedules.​</a:t>
                      </a:r>
                      <a:endParaRPr lang="en-GB" sz="500" dirty="0"/>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r>
                        <a:rPr lang="en-GB" sz="500" dirty="0" smtClean="0"/>
                        <a:t>Planned</a:t>
                      </a:r>
                      <a:r>
                        <a:rPr lang="en-GB" sz="500" baseline="0" dirty="0" smtClean="0"/>
                        <a:t> interview with external candidate for Transition Manager role and a number of internal candidates may be available to support Transition Deployment activity. </a:t>
                      </a:r>
                      <a:endParaRPr lang="en-GB" sz="800" dirty="0"/>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500" b="0" i="0" u="none" strike="noStrike" cap="none" normalizeH="0" baseline="0" dirty="0" smtClean="0">
                          <a:ln>
                            <a:noFill/>
                          </a:ln>
                          <a:solidFill>
                            <a:schemeClr val="tx2"/>
                          </a:solidFill>
                          <a:effectLst/>
                          <a:latin typeface="EYInterstate Light" pitchFamily="2" charset="0"/>
                        </a:rPr>
                        <a:t>30JUN12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500" b="0" i="0" u="none" strike="noStrike" cap="none" normalizeH="0" baseline="0" dirty="0" err="1" smtClean="0">
                          <a:ln>
                            <a:noFill/>
                          </a:ln>
                          <a:solidFill>
                            <a:schemeClr val="tx2"/>
                          </a:solidFill>
                          <a:effectLst/>
                          <a:latin typeface="EYInterstate Light" pitchFamily="2" charset="0"/>
                        </a:rPr>
                        <a:t>N.Coburn</a:t>
                      </a:r>
                      <a:endParaRPr kumimoji="0" lang="en-US" sz="5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64794">
                <a:tc>
                  <a:txBody>
                    <a:bodyPr/>
                    <a:lstStyle/>
                    <a:p>
                      <a:r>
                        <a:rPr lang="en-GB" sz="500" dirty="0" smtClean="0"/>
                        <a:t>I59 There is a lack of I/O leadership representation on the M&amp;C programme. This issue means that it is difficult to have an appropriate level of input into decisions which either impact I/O as a result of the programme of vice versa. Recent examples of the difficulties this is causing are the large inconsistencies between I/O and M&amp;C resource estimates and possible and the hesitation from I/O perspective to support project go live dates without significant input in to the planning process.</a:t>
                      </a:r>
                      <a:endParaRPr lang="en-GB" sz="500" dirty="0"/>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r>
                        <a:rPr lang="en-GB" sz="500" dirty="0" smtClean="0"/>
                        <a:t>Formalise steering group remit for M&amp;C and involve an appropriate level of representation from I/O</a:t>
                      </a:r>
                    </a:p>
                    <a:p>
                      <a:r>
                        <a:rPr lang="en-GB" sz="500" dirty="0" smtClean="0"/>
                        <a:t>Formalise I/O involvement in planning - primarily via Transition but not exclusively </a:t>
                      </a:r>
                    </a:p>
                    <a:p>
                      <a:r>
                        <a:rPr lang="en-GB" sz="500" dirty="0" smtClean="0"/>
                        <a:t>Formalise appropriate I/O representation across the programme</a:t>
                      </a:r>
                    </a:p>
                    <a:p>
                      <a:r>
                        <a:rPr lang="en-GB" sz="500" dirty="0" smtClean="0"/>
                        <a:t>Resolve budget issues identified via interlock</a:t>
                      </a:r>
                    </a:p>
                    <a:p>
                      <a:endParaRPr lang="en-GB" sz="800" dirty="0"/>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500" b="0" i="0" u="none" strike="noStrike" cap="none" normalizeH="0" baseline="0" dirty="0" smtClean="0">
                          <a:ln>
                            <a:noFill/>
                          </a:ln>
                          <a:solidFill>
                            <a:schemeClr val="tx2"/>
                          </a:solidFill>
                          <a:effectLst/>
                          <a:latin typeface="EYInterstate Light" pitchFamily="2" charset="0"/>
                        </a:rPr>
                        <a:t>01JUN12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500" b="0" i="0" u="none" strike="noStrike" cap="none" normalizeH="0" baseline="0" dirty="0" err="1" smtClean="0">
                          <a:ln>
                            <a:noFill/>
                          </a:ln>
                          <a:solidFill>
                            <a:schemeClr val="tx2"/>
                          </a:solidFill>
                          <a:effectLst/>
                          <a:latin typeface="EYInterstate Light" pitchFamily="2" charset="0"/>
                        </a:rPr>
                        <a:t>N.Coburn</a:t>
                      </a:r>
                      <a:endParaRPr kumimoji="0" lang="en-US" sz="5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4" name="Group 270"/>
          <p:cNvGraphicFramePr>
            <a:graphicFrameLocks noGrp="1"/>
          </p:cNvGraphicFramePr>
          <p:nvPr/>
        </p:nvGraphicFramePr>
        <p:xfrm>
          <a:off x="7391400" y="36991"/>
          <a:ext cx="1628477" cy="535063"/>
        </p:xfrm>
        <a:graphic>
          <a:graphicData uri="http://schemas.openxmlformats.org/drawingml/2006/table">
            <a:tbl>
              <a:tblPr/>
              <a:tblGrid>
                <a:gridCol w="814238"/>
                <a:gridCol w="814239"/>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5" name="Table 4"/>
          <p:cNvGraphicFramePr>
            <a:graphicFrameLocks noGrp="1"/>
          </p:cNvGraphicFramePr>
          <p:nvPr/>
        </p:nvGraphicFramePr>
        <p:xfrm>
          <a:off x="4716016" y="1484784"/>
          <a:ext cx="4392491" cy="2611603"/>
        </p:xfrm>
        <a:graphic>
          <a:graphicData uri="http://schemas.openxmlformats.org/drawingml/2006/table">
            <a:tbl>
              <a:tblPr/>
              <a:tblGrid>
                <a:gridCol w="1800200"/>
                <a:gridCol w="1368152"/>
                <a:gridCol w="504056"/>
                <a:gridCol w="720083"/>
              </a:tblGrid>
              <a:tr h="159876">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F.  KEY RISKS – typically future challenges or external circumstances that may affect the initiative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91322">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Risks to be addressed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Mitigating Action</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Target Date</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Completed By</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443278">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Tx/>
                        <a:buNone/>
                        <a:tabLst/>
                      </a:pPr>
                      <a:r>
                        <a:rPr kumimoji="0" lang="en-GB" sz="500" b="0" i="0" u="none" strike="noStrike" kern="1200" cap="none" normalizeH="0" baseline="0" dirty="0" smtClean="0">
                          <a:ln>
                            <a:noFill/>
                          </a:ln>
                          <a:solidFill>
                            <a:schemeClr val="tx1"/>
                          </a:solidFill>
                          <a:effectLst/>
                          <a:latin typeface="EYInterstate Light" pitchFamily="2" charset="0"/>
                          <a:ea typeface="+mn-ea"/>
                          <a:cs typeface="+mn-cs"/>
                        </a:rPr>
                        <a:t>R47 Complex deployment</a:t>
                      </a:r>
                    </a:p>
                    <a:p>
                      <a:pPr marL="0" marR="0" lvl="0" indent="0" algn="l" defTabSz="947738" rtl="0" eaLnBrk="0" fontAlgn="base" latinLnBrk="0" hangingPunct="0">
                        <a:lnSpc>
                          <a:spcPct val="100000"/>
                        </a:lnSpc>
                        <a:spcBef>
                          <a:spcPct val="0"/>
                        </a:spcBef>
                        <a:spcAft>
                          <a:spcPct val="10000"/>
                        </a:spcAft>
                        <a:buClr>
                          <a:schemeClr val="hlink"/>
                        </a:buClr>
                        <a:buSzTx/>
                        <a:buFontTx/>
                        <a:buNone/>
                        <a:tabLst/>
                      </a:pPr>
                      <a:r>
                        <a:rPr kumimoji="0" lang="en-GB" sz="500" b="0" i="0" u="none" strike="noStrike" kern="1200" cap="none" normalizeH="0" baseline="0" dirty="0" smtClean="0">
                          <a:ln>
                            <a:noFill/>
                          </a:ln>
                          <a:solidFill>
                            <a:schemeClr val="tx1"/>
                          </a:solidFill>
                          <a:effectLst/>
                          <a:latin typeface="EYInterstate Light" pitchFamily="2" charset="0"/>
                          <a:ea typeface="+mn-ea"/>
                          <a:cs typeface="+mn-cs"/>
                        </a:rPr>
                        <a:t>The deployment approach for Outlook and SharePoint could significantly increased the cost associated with both internal and external support. </a:t>
                      </a:r>
                      <a:r>
                        <a:rPr lang="en-GB" sz="500" dirty="0" smtClean="0"/>
                        <a:t>We will need to support Lotus Notes for a significant period of time following deployment of Exchange and SharePoint and this will potentially increase support costs for FY13. </a:t>
                      </a:r>
                      <a:endParaRPr kumimoji="0" lang="en-GB" sz="500" b="0" i="0" u="none" strike="noStrike" kern="1200" cap="none" normalizeH="0" baseline="0" dirty="0" smtClean="0">
                        <a:ln>
                          <a:noFill/>
                        </a:ln>
                        <a:solidFill>
                          <a:schemeClr val="tx1"/>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r>
                        <a:rPr lang="en-GB" sz="500" dirty="0" smtClean="0"/>
                        <a:t>Will be validated via Service Design approach and better understanding of external support costs from external vendors for Cloud and On Premise.​</a:t>
                      </a:r>
                      <a:endParaRPr lang="en-GB" sz="500"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500" b="0" i="0" u="none" strike="noStrike" cap="none" normalizeH="0" baseline="0" dirty="0" smtClean="0">
                          <a:ln>
                            <a:noFill/>
                          </a:ln>
                          <a:solidFill>
                            <a:schemeClr val="tx2"/>
                          </a:solidFill>
                          <a:effectLst/>
                          <a:latin typeface="EYInterstate Light" pitchFamily="2" charset="0"/>
                        </a:rPr>
                        <a:t>01JUN12</a:t>
                      </a: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US" sz="500" b="0" i="0" u="none" strike="noStrike" cap="none" normalizeH="0" baseline="0" dirty="0" smtClean="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500" b="0" i="0" u="none" strike="noStrike" cap="none" normalizeH="0" baseline="0" dirty="0" smtClean="0">
                          <a:ln>
                            <a:noFill/>
                          </a:ln>
                          <a:solidFill>
                            <a:schemeClr val="tx2"/>
                          </a:solidFill>
                          <a:effectLst/>
                          <a:latin typeface="EYInterstate Light" pitchFamily="2" charset="0"/>
                        </a:rPr>
                        <a:t>N. Coburn</a:t>
                      </a:r>
                      <a:endParaRPr kumimoji="0" lang="en-US" sz="5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72667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500" b="0" i="0" u="none" strike="noStrike" cap="none" normalizeH="0" baseline="0" dirty="0" smtClean="0">
                          <a:ln>
                            <a:noFill/>
                          </a:ln>
                          <a:solidFill>
                            <a:schemeClr val="tx1"/>
                          </a:solidFill>
                          <a:effectLst/>
                          <a:latin typeface="EYInterstate Light" pitchFamily="2" charset="0"/>
                        </a:rPr>
                        <a:t>R87 </a:t>
                      </a:r>
                      <a:r>
                        <a:rPr lang="en-GB" sz="500" dirty="0" smtClean="0"/>
                        <a:t>There is  a risk that I/O will not formally agree to the proposed go live dates and deployment schedule for Exchange and </a:t>
                      </a:r>
                      <a:r>
                        <a:rPr lang="en-GB" sz="500" dirty="0" err="1" smtClean="0"/>
                        <a:t>Lync</a:t>
                      </a:r>
                      <a:r>
                        <a:rPr lang="en-GB" sz="500" dirty="0" smtClean="0"/>
                        <a:t>. Without I/O input to the planning process, particularly around service design, service transition and deployment, I/O may not be able to prepare for and ramp up appropriately to meet the support requirements.</a:t>
                      </a:r>
                    </a:p>
                    <a:p>
                      <a:endParaRPr lang="en-GB" sz="500"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r>
                        <a:rPr lang="en-GB" sz="500" dirty="0" smtClean="0"/>
                        <a:t>To be defined but interim:</a:t>
                      </a:r>
                    </a:p>
                    <a:p>
                      <a:r>
                        <a:rPr lang="en-GB" sz="500" dirty="0" smtClean="0"/>
                        <a:t>1. Prepare alternative support model </a:t>
                      </a:r>
                    </a:p>
                    <a:p>
                      <a:r>
                        <a:rPr lang="en-GB" sz="500" dirty="0" smtClean="0"/>
                        <a:t>2. Delay go live and deployment ​</a:t>
                      </a:r>
                    </a:p>
                    <a:p>
                      <a:endParaRPr lang="en-GB" sz="5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sz="500" dirty="0" smtClean="0"/>
                        <a:t>Involve I/O in detailed planning, particularly around transition and deployment and ensure that I/O signs off the plans and commits to the dates.​</a:t>
                      </a:r>
                    </a:p>
                    <a:p>
                      <a:endParaRPr lang="en-GB" sz="500"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500" b="0" i="0" u="none" strike="noStrike" cap="none" normalizeH="0" baseline="0" dirty="0" smtClean="0">
                          <a:ln>
                            <a:noFill/>
                          </a:ln>
                          <a:solidFill>
                            <a:schemeClr val="tx2"/>
                          </a:solidFill>
                          <a:effectLst/>
                          <a:latin typeface="EYInterstate Light" pitchFamily="2" charset="0"/>
                        </a:rPr>
                        <a:t>29JUN12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500" b="0" i="0" u="none" strike="noStrike" cap="none" normalizeH="0" baseline="0" dirty="0" smtClean="0">
                          <a:ln>
                            <a:noFill/>
                          </a:ln>
                          <a:solidFill>
                            <a:schemeClr val="tx2"/>
                          </a:solidFill>
                          <a:effectLst/>
                          <a:latin typeface="EYInterstate Light" pitchFamily="2" charset="0"/>
                        </a:rPr>
                        <a:t>N. Coburn</a:t>
                      </a:r>
                      <a:endParaRPr kumimoji="0" lang="en-US" sz="5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72667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800" dirty="0" smtClean="0"/>
                        <a:t>​</a:t>
                      </a:r>
                      <a:r>
                        <a:rPr lang="en-GB" sz="500" dirty="0" smtClean="0"/>
                        <a:t>R86</a:t>
                      </a:r>
                      <a:r>
                        <a:rPr lang="en-GB" sz="800" dirty="0" smtClean="0"/>
                        <a:t> </a:t>
                      </a:r>
                      <a:r>
                        <a:rPr lang="en-GB" sz="500" dirty="0" smtClean="0"/>
                        <a:t>There is a risk that different SharePoint projects e.g. M&amp;C, EY Delivers, FAST may end up with differing, core elements as common design principles are not in place. This may result in a non-standard approach to Search and Taxonomy for example. As a result, this will mean that the user experience for SharePoint is not standard and this may reduce adoption and lead to proliferation to meet user requirements.​</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500" dirty="0" smtClean="0"/>
                    </a:p>
                    <a:p>
                      <a:endParaRPr lang="en-GB" sz="500"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r>
                        <a:rPr lang="en-GB" sz="500" dirty="0" smtClean="0"/>
                        <a:t>No contingency plan agreed as yet. Approach to common design is to be reviewed and implemented as part of the Target Operating Model work.</a:t>
                      </a:r>
                      <a:endParaRPr lang="en-GB" sz="500" dirty="0"/>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500" b="0" i="0" u="none" strike="noStrike" cap="none" normalizeH="0" baseline="0" dirty="0" smtClean="0">
                          <a:ln>
                            <a:noFill/>
                          </a:ln>
                          <a:solidFill>
                            <a:schemeClr val="tx2"/>
                          </a:solidFill>
                          <a:effectLst/>
                          <a:latin typeface="EYInterstate Light" pitchFamily="2" charset="0"/>
                        </a:rPr>
                        <a:t>27JUL12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500" b="0" i="0" u="none" strike="noStrike" cap="none" normalizeH="0" baseline="0" dirty="0" err="1" smtClean="0">
                          <a:ln>
                            <a:noFill/>
                          </a:ln>
                          <a:solidFill>
                            <a:schemeClr val="tx2"/>
                          </a:solidFill>
                          <a:effectLst/>
                          <a:latin typeface="EYInterstate Light" pitchFamily="2" charset="0"/>
                        </a:rPr>
                        <a:t>N.Coburn</a:t>
                      </a:r>
                      <a:endParaRPr kumimoji="0" lang="en-US" sz="5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6" name="Group 270"/>
          <p:cNvGraphicFramePr>
            <a:graphicFrameLocks noGrp="1"/>
          </p:cNvGraphicFramePr>
          <p:nvPr/>
        </p:nvGraphicFramePr>
        <p:xfrm>
          <a:off x="1195546" y="6695190"/>
          <a:ext cx="381000" cy="88326"/>
        </p:xfrm>
        <a:graphic>
          <a:graphicData uri="http://schemas.openxmlformats.org/drawingml/2006/table">
            <a:tbl>
              <a:tblPr/>
              <a:tblGrid>
                <a:gridCol w="381000"/>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7" name="Group 270"/>
          <p:cNvGraphicFramePr>
            <a:graphicFrameLocks noGrp="1"/>
          </p:cNvGraphicFramePr>
          <p:nvPr/>
        </p:nvGraphicFramePr>
        <p:xfrm>
          <a:off x="3979855" y="6725050"/>
          <a:ext cx="523914" cy="88326"/>
        </p:xfrm>
        <a:graphic>
          <a:graphicData uri="http://schemas.openxmlformats.org/drawingml/2006/table">
            <a:tbl>
              <a:tblPr/>
              <a:tblGrid>
                <a:gridCol w="523914"/>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8" name="Group 270"/>
          <p:cNvGraphicFramePr>
            <a:graphicFrameLocks noGrp="1"/>
          </p:cNvGraphicFramePr>
          <p:nvPr/>
        </p:nvGraphicFramePr>
        <p:xfrm>
          <a:off x="6515865" y="6692919"/>
          <a:ext cx="381000" cy="90597"/>
        </p:xfrm>
        <a:graphic>
          <a:graphicData uri="http://schemas.openxmlformats.org/drawingml/2006/table">
            <a:tbl>
              <a:tblPr/>
              <a:tblGrid>
                <a:gridCol w="381000"/>
              </a:tblGrid>
              <a:tr h="90597">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pSp>
        <p:nvGrpSpPr>
          <p:cNvPr id="9" name="Group 27"/>
          <p:cNvGrpSpPr/>
          <p:nvPr/>
        </p:nvGrpSpPr>
        <p:grpSpPr>
          <a:xfrm>
            <a:off x="285595" y="6453336"/>
            <a:ext cx="8734282" cy="504056"/>
            <a:chOff x="307495" y="6603365"/>
            <a:chExt cx="9404036" cy="504056"/>
          </a:xfrm>
        </p:grpSpPr>
        <p:sp>
          <p:nvSpPr>
            <p:cNvPr id="10" name="TextBox 9"/>
            <p:cNvSpPr txBox="1"/>
            <p:nvPr/>
          </p:nvSpPr>
          <p:spPr bwMode="gray">
            <a:xfrm>
              <a:off x="1639689" y="6635303"/>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11" name="TextBox 10"/>
            <p:cNvSpPr txBox="1"/>
            <p:nvPr/>
          </p:nvSpPr>
          <p:spPr bwMode="gray">
            <a:xfrm>
              <a:off x="674554" y="6794128"/>
              <a:ext cx="612668"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latin typeface="EYInterstate Light" pitchFamily="2" charset="0"/>
              </a:endParaRPr>
            </a:p>
          </p:txBody>
        </p:sp>
        <p:sp>
          <p:nvSpPr>
            <p:cNvPr id="12" name="TextBox 11"/>
            <p:cNvSpPr txBox="1"/>
            <p:nvPr/>
          </p:nvSpPr>
          <p:spPr bwMode="gray">
            <a:xfrm>
              <a:off x="307495" y="6603365"/>
              <a:ext cx="4541628"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latin typeface="EYInterstate Light" pitchFamily="2" charset="0"/>
              </a:endParaRPr>
            </a:p>
          </p:txBody>
        </p:sp>
        <p:sp>
          <p:nvSpPr>
            <p:cNvPr id="13" name="TextBox 12"/>
            <p:cNvSpPr txBox="1"/>
            <p:nvPr/>
          </p:nvSpPr>
          <p:spPr bwMode="gray">
            <a:xfrm>
              <a:off x="7423210" y="6635303"/>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14" name="TextBox 13"/>
            <p:cNvSpPr txBox="1"/>
            <p:nvPr/>
          </p:nvSpPr>
          <p:spPr bwMode="gray">
            <a:xfrm>
              <a:off x="4849123" y="663036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15" name="Freeform 94"/>
          <p:cNvSpPr>
            <a:spLocks/>
          </p:cNvSpPr>
          <p:nvPr/>
        </p:nvSpPr>
        <p:spPr bwMode="gray">
          <a:xfrm>
            <a:off x="0" y="0"/>
            <a:ext cx="6706365"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700" dirty="0">
              <a:solidFill>
                <a:srgbClr val="000000"/>
              </a:solidFill>
              <a:latin typeface="EYInterstate Light" pitchFamily="2" charset="0"/>
            </a:endParaRPr>
          </a:p>
        </p:txBody>
      </p:sp>
      <p:sp>
        <p:nvSpPr>
          <p:cNvPr id="16" name="Rectangle 183"/>
          <p:cNvSpPr txBox="1">
            <a:spLocks noChangeArrowheads="1"/>
          </p:cNvSpPr>
          <p:nvPr/>
        </p:nvSpPr>
        <p:spPr bwMode="gray">
          <a:xfrm>
            <a:off x="1" y="-34669"/>
            <a:ext cx="7086599" cy="553998"/>
          </a:xfrm>
          <a:prstGeom prst="rect">
            <a:avLst/>
          </a:prstGeom>
        </p:spPr>
        <p:txBody>
          <a:bodyPr wrap="square">
            <a:spAutoFit/>
          </a:bodyPr>
          <a:lstStyle/>
          <a:p>
            <a:pPr lvl="0" algn="l" defTabSz="955675" eaLnBrk="0" hangingPunct="0">
              <a:spcAft>
                <a:spcPts val="0"/>
              </a:spcAft>
              <a:defRPr/>
            </a:pPr>
            <a:r>
              <a:rPr lang="en-US" sz="1600" b="1" kern="0" dirty="0" smtClean="0">
                <a:solidFill>
                  <a:srgbClr val="646464"/>
                </a:solidFill>
              </a:rPr>
              <a:t>M&amp;C IT Transition- Weekly status report – 08 June 2012</a:t>
            </a:r>
          </a:p>
          <a:p>
            <a:pPr lvl="0" algn="l" defTabSz="955675" eaLnBrk="0" hangingPunct="0">
              <a:spcAft>
                <a:spcPts val="0"/>
              </a:spcAft>
              <a:defRPr/>
            </a:pPr>
            <a:r>
              <a:rPr lang="en-US" sz="1400" kern="0" dirty="0" smtClean="0">
                <a:solidFill>
                  <a:srgbClr val="646464"/>
                </a:solidFill>
              </a:rPr>
              <a:t>David Bingham / Nick Coburn / Mike </a:t>
            </a:r>
            <a:r>
              <a:rPr lang="en-US" sz="1400" kern="0" dirty="0" err="1" smtClean="0">
                <a:solidFill>
                  <a:srgbClr val="646464"/>
                </a:solidFill>
              </a:rPr>
              <a:t>Laci</a:t>
            </a:r>
            <a:endParaRPr lang="en-US" sz="1400" kern="0" dirty="0">
              <a:solidFill>
                <a:srgbClr val="646464"/>
              </a:solidFill>
            </a:endParaRPr>
          </a:p>
        </p:txBody>
      </p:sp>
      <p:graphicFrame>
        <p:nvGraphicFramePr>
          <p:cNvPr id="17" name="Table 16"/>
          <p:cNvGraphicFramePr>
            <a:graphicFrameLocks noGrp="1"/>
          </p:cNvGraphicFramePr>
          <p:nvPr/>
        </p:nvGraphicFramePr>
        <p:xfrm>
          <a:off x="4717035" y="6165304"/>
          <a:ext cx="4391469" cy="432048"/>
        </p:xfrm>
        <a:graphic>
          <a:graphicData uri="http://schemas.openxmlformats.org/drawingml/2006/table">
            <a:tbl>
              <a:tblPr/>
              <a:tblGrid>
                <a:gridCol w="4391469"/>
              </a:tblGrid>
              <a:tr h="109214">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H.  GENERAL COMMENTS – must include reasoning for an overall Red or Amber Status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98002">
                <a:tc>
                  <a:txBody>
                    <a:bodyPr/>
                    <a:lstStyle/>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500" b="0" i="0" u="none" strike="noStrike" kern="1200" cap="none" normalizeH="0" baseline="0" noProof="0" dirty="0" smtClean="0">
                          <a:ln>
                            <a:noFill/>
                          </a:ln>
                          <a:solidFill>
                            <a:schemeClr val="bg2"/>
                          </a:solidFill>
                          <a:effectLst/>
                          <a:latin typeface="EYInterstate Light" pitchFamily="2" charset="0"/>
                          <a:ea typeface="+mn-ea"/>
                          <a:cs typeface="+mn-cs"/>
                        </a:rPr>
                        <a:t>The IT Transition </a:t>
                      </a:r>
                      <a:r>
                        <a:rPr kumimoji="0" lang="en-US" sz="500" b="0" i="0" u="none" strike="noStrike" kern="1200" cap="none" normalizeH="0" baseline="0" noProof="0" dirty="0" err="1" smtClean="0">
                          <a:ln>
                            <a:noFill/>
                          </a:ln>
                          <a:solidFill>
                            <a:schemeClr val="bg2"/>
                          </a:solidFill>
                          <a:effectLst/>
                          <a:latin typeface="EYInterstate Light" pitchFamily="2" charset="0"/>
                          <a:ea typeface="+mn-ea"/>
                          <a:cs typeface="+mn-cs"/>
                        </a:rPr>
                        <a:t>worktream</a:t>
                      </a:r>
                      <a:r>
                        <a:rPr kumimoji="0" lang="en-US" sz="500" b="0" i="0" u="none" strike="noStrike" kern="1200" cap="none" normalizeH="0" baseline="0" noProof="0" dirty="0" smtClean="0">
                          <a:ln>
                            <a:noFill/>
                          </a:ln>
                          <a:solidFill>
                            <a:schemeClr val="bg2"/>
                          </a:solidFill>
                          <a:effectLst/>
                          <a:latin typeface="EYInterstate Light" pitchFamily="2" charset="0"/>
                          <a:ea typeface="+mn-ea"/>
                          <a:cs typeface="+mn-cs"/>
                        </a:rPr>
                        <a:t> is RED due to budget and resource constraints impacting the delivery of the TOM model and Transition Plans and overall slippage of dates for Service Design completion.</a:t>
                      </a:r>
                      <a:endParaRPr kumimoji="0" lang="en-US" sz="500" b="0" i="0" u="none" strike="noStrike" cap="none" normalizeH="0" baseline="0" dirty="0">
                        <a:ln>
                          <a:noFill/>
                        </a:ln>
                        <a:solidFill>
                          <a:srgbClr val="646464"/>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2"/>
          <p:cNvGraphicFramePr>
            <a:graphicFrameLocks noGrp="1"/>
          </p:cNvGraphicFramePr>
          <p:nvPr/>
        </p:nvGraphicFramePr>
        <p:xfrm>
          <a:off x="2" y="620689"/>
          <a:ext cx="4680520" cy="3096343"/>
        </p:xfrm>
        <a:graphic>
          <a:graphicData uri="http://schemas.openxmlformats.org/drawingml/2006/table">
            <a:tbl>
              <a:tblPr/>
              <a:tblGrid>
                <a:gridCol w="4680520"/>
              </a:tblGrid>
              <a:tr h="136951">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j-lt"/>
                        </a:rPr>
                        <a:t>A.  </a:t>
                      </a:r>
                      <a:r>
                        <a:rPr kumimoji="0" lang="en-GB" sz="700" b="1" i="0" u="none" strike="noStrike" cap="none" normalizeH="0" baseline="0" dirty="0" smtClean="0">
                          <a:ln>
                            <a:noFill/>
                          </a:ln>
                          <a:solidFill>
                            <a:schemeClr val="tx1"/>
                          </a:solidFill>
                          <a:effectLst/>
                          <a:latin typeface="+mj-lt"/>
                        </a:rPr>
                        <a:t>EXECUTIVE SUMMARY – a summary of the progress for this period (not of the initiative)</a:t>
                      </a:r>
                      <a:endParaRPr kumimoji="0" lang="en-US" sz="700" b="1" i="0" u="none" strike="noStrike" cap="none" normalizeH="0" baseline="0" dirty="0">
                        <a:ln>
                          <a:noFill/>
                        </a:ln>
                        <a:solidFill>
                          <a:schemeClr val="tx1"/>
                        </a:solidFill>
                        <a:effectLst/>
                        <a:latin typeface="+mj-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68591">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Overall, limited progress this week due to public holiday and annual leave (Nick and Blaine) </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 We are still tracking service design completion dates of end of July, hence Red status. However, it is unlikely that we will complete service design in this timeframe and, therefore, we will need to extend the completion dates for these activities.</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endParaRPr kumimoji="0" lang="en-US" sz="700" b="0" i="0" u="none" strike="noStrike" kern="1200" cap="none" normalizeH="0" baseline="0" dirty="0" smtClean="0">
                        <a:ln>
                          <a:noFill/>
                        </a:ln>
                        <a:solidFill>
                          <a:schemeClr val="tx2"/>
                        </a:solidFill>
                        <a:effectLst/>
                        <a:latin typeface="EYInterstate Light" pitchFamily="2" charset="0"/>
                        <a:ea typeface="+mn-ea"/>
                        <a:cs typeface="+mn-cs"/>
                      </a:endParaRP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endParaRPr kumimoji="0" lang="en-US" sz="700" b="0" i="0" u="none" strike="noStrike" kern="1200" cap="none" normalizeH="0" baseline="0" dirty="0">
                        <a:ln>
                          <a:noFill/>
                        </a:ln>
                        <a:solidFill>
                          <a:schemeClr val="tx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36951">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B.  KEY ACCOMPLISHMENTS THIS PERIOD</a:t>
                      </a:r>
                      <a:endParaRPr kumimoji="0" lang="en-CA"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55385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kern="1200" cap="none" normalizeH="0" baseline="0" dirty="0" smtClean="0">
                        <a:ln>
                          <a:noFill/>
                        </a:ln>
                        <a:solidFill>
                          <a:schemeClr val="tx1"/>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Overall, limited progress this week due to public holiday and annual leave (Nick and Blaine) </a:t>
                      </a:r>
                      <a:endParaRPr kumimoji="0" lang="en-US" sz="700" b="0" i="0" u="none" strike="noStrike" kern="1200" cap="none" normalizeH="0" baseline="0" dirty="0" smtClean="0">
                        <a:ln>
                          <a:noFill/>
                        </a:ln>
                        <a:solidFill>
                          <a:schemeClr val="tx1"/>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tx1"/>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Successful call with Margaret Walsh, Chris Hall and Alan Guthrie to agree upon some of the key principles associated with SharePoint TOM.</a:t>
                      </a:r>
                    </a:p>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kern="1200" cap="none" normalizeH="0" baseline="0" dirty="0" smtClean="0">
                        <a:ln>
                          <a:noFill/>
                        </a:ln>
                        <a:solidFill>
                          <a:schemeClr val="tx1"/>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9" name="Table 18"/>
          <p:cNvGraphicFramePr>
            <a:graphicFrameLocks noGrp="1"/>
          </p:cNvGraphicFramePr>
          <p:nvPr/>
        </p:nvGraphicFramePr>
        <p:xfrm>
          <a:off x="4716016" y="620688"/>
          <a:ext cx="4391469" cy="862153"/>
        </p:xfrm>
        <a:graphic>
          <a:graphicData uri="http://schemas.openxmlformats.org/drawingml/2006/table">
            <a:tbl>
              <a:tblPr/>
              <a:tblGrid>
                <a:gridCol w="1485114"/>
                <a:gridCol w="724942"/>
                <a:gridCol w="869312"/>
                <a:gridCol w="594685"/>
                <a:gridCol w="717416"/>
              </a:tblGrid>
              <a:tr h="123744">
                <a:tc gridSpan="5">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EYInterstate" pitchFamily="2" charset="0"/>
                          <a:ea typeface="+mn-ea"/>
                          <a:cs typeface="+mn-cs"/>
                        </a:rPr>
                        <a:t>E.  </a:t>
                      </a:r>
                      <a:r>
                        <a:rPr kumimoji="0" lang="en-US" sz="700" b="1" i="0" u="none" strike="noStrike" kern="1200" cap="none" normalizeH="0" baseline="0" dirty="0" smtClean="0">
                          <a:ln>
                            <a:noFill/>
                          </a:ln>
                          <a:solidFill>
                            <a:schemeClr val="tx1"/>
                          </a:solidFill>
                          <a:effectLst/>
                          <a:latin typeface="EYInterstate" pitchFamily="2" charset="0"/>
                          <a:ea typeface="+mn-ea"/>
                          <a:cs typeface="+mn-cs"/>
                        </a:rPr>
                        <a:t>MILESTONES </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R w="6350" cap="flat" cmpd="sng" algn="ctr">
                      <a:solidFill>
                        <a:schemeClr val="accent2"/>
                      </a:solidFill>
                      <a:prstDash val="solid"/>
                      <a:round/>
                      <a:headEnd type="none" w="med" len="med"/>
                      <a:tailEnd type="none" w="med" len="med"/>
                    </a:lnR>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53986">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Individual Milestone Name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Planned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Projected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59857">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500" b="0" i="0" u="none" strike="noStrike" cap="none" normalizeH="0" baseline="0" dirty="0" smtClean="0">
                          <a:ln>
                            <a:noFill/>
                          </a:ln>
                          <a:solidFill>
                            <a:srgbClr val="646464"/>
                          </a:solidFill>
                          <a:effectLst/>
                          <a:latin typeface="EYInterstate Light" pitchFamily="2" charset="0"/>
                        </a:rPr>
                        <a:t>Service Design completed </a:t>
                      </a:r>
                      <a:endParaRPr kumimoji="0" lang="en-US" sz="500" b="0" i="0" u="none" strike="noStrike" cap="none" normalizeH="0" baseline="0" dirty="0">
                        <a:ln>
                          <a:noFill/>
                        </a:ln>
                        <a:solidFill>
                          <a:srgbClr val="646464"/>
                        </a:solidFill>
                        <a:effectLst/>
                        <a:latin typeface="EYInterstate Light" pitchFamily="2" charset="0"/>
                      </a:endParaRPr>
                    </a:p>
                  </a:txBody>
                  <a:tcPr marL="37059" marR="37059"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500" b="0" i="0" u="none" strike="noStrike" cap="none" normalizeH="0" baseline="0" dirty="0" smtClean="0">
                          <a:ln>
                            <a:noFill/>
                          </a:ln>
                          <a:solidFill>
                            <a:srgbClr val="646464"/>
                          </a:solidFill>
                          <a:effectLst/>
                          <a:latin typeface="EYInterstate Light" pitchFamily="2" charset="0"/>
                        </a:rPr>
                        <a:t>16 Jul 12</a:t>
                      </a:r>
                      <a:endParaRPr kumimoji="0" lang="en-US" sz="500" b="0" i="0" u="none" strike="noStrike" cap="none" normalizeH="0" baseline="0" dirty="0">
                        <a:ln>
                          <a:noFill/>
                        </a:ln>
                        <a:solidFill>
                          <a:srgbClr val="646464"/>
                        </a:solidFill>
                        <a:effectLst/>
                        <a:latin typeface="EYInterstate Light" pitchFamily="2" charset="0"/>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500" b="0" i="0" u="none" strike="noStrike" cap="none" normalizeH="0" baseline="0" dirty="0" smtClean="0">
                          <a:ln>
                            <a:noFill/>
                          </a:ln>
                          <a:solidFill>
                            <a:srgbClr val="646464"/>
                          </a:solidFill>
                          <a:effectLst/>
                          <a:latin typeface="EYInterstate Light" pitchFamily="2" charset="0"/>
                        </a:rPr>
                        <a:t>16 </a:t>
                      </a:r>
                      <a:r>
                        <a:rPr kumimoji="0" lang="en-US" sz="500" b="0" i="0" u="none" strike="noStrike" cap="none" normalizeH="0" baseline="0" dirty="0" err="1" smtClean="0">
                          <a:ln>
                            <a:noFill/>
                          </a:ln>
                          <a:solidFill>
                            <a:srgbClr val="646464"/>
                          </a:solidFill>
                          <a:effectLst/>
                          <a:latin typeface="EYInterstate Light" pitchFamily="2" charset="0"/>
                        </a:rPr>
                        <a:t>JuL</a:t>
                      </a:r>
                      <a:r>
                        <a:rPr kumimoji="0" lang="en-US" sz="500" b="0" i="0" u="none" strike="noStrike" cap="none" normalizeH="0" baseline="0" dirty="0" smtClean="0">
                          <a:ln>
                            <a:noFill/>
                          </a:ln>
                          <a:solidFill>
                            <a:srgbClr val="646464"/>
                          </a:solidFill>
                          <a:effectLst/>
                          <a:latin typeface="EYInterstate Light" pitchFamily="2" charset="0"/>
                        </a:rPr>
                        <a:t> 12</a:t>
                      </a:r>
                      <a:endParaRPr kumimoji="0" lang="en-US" sz="500" b="0" i="0" u="none" strike="noStrike" cap="none" normalizeH="0" baseline="0" dirty="0">
                        <a:ln>
                          <a:noFill/>
                        </a:ln>
                        <a:solidFill>
                          <a:srgbClr val="646464"/>
                        </a:solidFill>
                        <a:effectLst/>
                        <a:latin typeface="EYInterstate Light" pitchFamily="2" charset="0"/>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500" b="0" i="0" u="none" strike="noStrike" cap="none" normalizeH="0" baseline="0" dirty="0" smtClean="0">
                          <a:ln>
                            <a:noFill/>
                          </a:ln>
                          <a:solidFill>
                            <a:srgbClr val="646464"/>
                          </a:solidFill>
                          <a:effectLst/>
                          <a:latin typeface="EYInterstate Light" pitchFamily="2" charset="0"/>
                        </a:rPr>
                        <a:t>RED</a:t>
                      </a:r>
                      <a:endParaRPr kumimoji="0" lang="en-US" sz="5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500" b="0" i="0" u="none" strike="noStrike" cap="none" normalizeH="0" baseline="0" dirty="0" smtClean="0">
                          <a:ln>
                            <a:noFill/>
                          </a:ln>
                          <a:solidFill>
                            <a:srgbClr val="646464"/>
                          </a:solidFill>
                          <a:effectLst/>
                          <a:latin typeface="EYInterstate Light" pitchFamily="2" charset="0"/>
                        </a:rPr>
                        <a:t>RED</a:t>
                      </a:r>
                      <a:endParaRPr kumimoji="0" lang="en-US" sz="5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57944">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500" b="0" i="0" u="none" strike="noStrike" cap="none" normalizeH="0" baseline="0" dirty="0" smtClean="0">
                          <a:ln>
                            <a:noFill/>
                          </a:ln>
                          <a:solidFill>
                            <a:srgbClr val="646464"/>
                          </a:solidFill>
                          <a:effectLst/>
                          <a:latin typeface="EYInterstate Light" pitchFamily="2" charset="0"/>
                        </a:rPr>
                        <a:t>Confirmed IT </a:t>
                      </a:r>
                      <a:r>
                        <a:rPr kumimoji="0" lang="en-US" sz="500" b="0" i="0" u="none" strike="noStrike" cap="none" normalizeH="0" baseline="0" dirty="0">
                          <a:ln>
                            <a:noFill/>
                          </a:ln>
                          <a:solidFill>
                            <a:srgbClr val="646464"/>
                          </a:solidFill>
                          <a:effectLst/>
                          <a:latin typeface="EYInterstate Light" pitchFamily="2" charset="0"/>
                        </a:rPr>
                        <a:t>Transition </a:t>
                      </a:r>
                      <a:r>
                        <a:rPr kumimoji="0" lang="en-US" sz="500" b="0" i="0" u="none" strike="noStrike" cap="none" normalizeH="0" baseline="0" dirty="0" smtClean="0">
                          <a:ln>
                            <a:noFill/>
                          </a:ln>
                          <a:solidFill>
                            <a:srgbClr val="646464"/>
                          </a:solidFill>
                          <a:effectLst/>
                          <a:latin typeface="EYInterstate Light" pitchFamily="2" charset="0"/>
                        </a:rPr>
                        <a:t>Plans </a:t>
                      </a:r>
                      <a:r>
                        <a:rPr kumimoji="0" lang="en-US" sz="500" b="0" i="0" u="none" strike="noStrike" cap="none" normalizeH="0" baseline="0" dirty="0">
                          <a:ln>
                            <a:noFill/>
                          </a:ln>
                          <a:solidFill>
                            <a:srgbClr val="646464"/>
                          </a:solidFill>
                          <a:effectLst/>
                          <a:latin typeface="EYInterstate Light" pitchFamily="2" charset="0"/>
                        </a:rPr>
                        <a:t>for </a:t>
                      </a:r>
                      <a:r>
                        <a:rPr kumimoji="0" lang="en-US" sz="500" b="0" i="0" u="none" strike="noStrike" cap="none" normalizeH="0" baseline="0" dirty="0" err="1" smtClean="0">
                          <a:ln>
                            <a:noFill/>
                          </a:ln>
                          <a:solidFill>
                            <a:srgbClr val="646464"/>
                          </a:solidFill>
                          <a:effectLst/>
                          <a:latin typeface="EYInterstate Light" pitchFamily="2" charset="0"/>
                        </a:rPr>
                        <a:t>Lync</a:t>
                      </a:r>
                      <a:endParaRPr kumimoji="0" lang="en-US" sz="500" b="0" i="0" u="none" strike="noStrike" cap="none" normalizeH="0" baseline="0" dirty="0">
                        <a:ln>
                          <a:noFill/>
                        </a:ln>
                        <a:solidFill>
                          <a:srgbClr val="646464"/>
                        </a:solidFill>
                        <a:effectLst/>
                        <a:latin typeface="EYInterstate Light" pitchFamily="2" charset="0"/>
                      </a:endParaRPr>
                    </a:p>
                  </a:txBody>
                  <a:tcPr marL="37059" marR="37059"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500" b="0" i="0" u="none" strike="noStrike" cap="none" normalizeH="0" baseline="0" dirty="0" smtClean="0">
                          <a:ln>
                            <a:noFill/>
                          </a:ln>
                          <a:solidFill>
                            <a:srgbClr val="646464"/>
                          </a:solidFill>
                          <a:effectLst/>
                          <a:latin typeface="EYInterstate Light" pitchFamily="2" charset="0"/>
                        </a:rPr>
                        <a:t>30 Jul 12</a:t>
                      </a:r>
                      <a:endParaRPr kumimoji="0" lang="en-US" sz="500" b="0" i="0" u="none" strike="noStrike" cap="none" normalizeH="0" baseline="0" dirty="0">
                        <a:ln>
                          <a:noFill/>
                        </a:ln>
                        <a:solidFill>
                          <a:srgbClr val="646464"/>
                        </a:solidFill>
                        <a:effectLst/>
                        <a:latin typeface="EYInterstate Light" pitchFamily="2" charset="0"/>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500" b="0" i="0" u="none" strike="noStrike" cap="none" normalizeH="0" baseline="0" dirty="0" smtClean="0">
                          <a:ln>
                            <a:noFill/>
                          </a:ln>
                          <a:solidFill>
                            <a:srgbClr val="646464"/>
                          </a:solidFill>
                          <a:effectLst/>
                          <a:latin typeface="EYInterstate Light" pitchFamily="2" charset="0"/>
                        </a:rPr>
                        <a:t>30 Jul 12</a:t>
                      </a:r>
                      <a:endParaRPr kumimoji="0" lang="en-US" sz="500" b="0" i="0" u="none" strike="noStrike" cap="none" normalizeH="0" baseline="0" dirty="0">
                        <a:ln>
                          <a:noFill/>
                        </a:ln>
                        <a:solidFill>
                          <a:srgbClr val="646464"/>
                        </a:solidFill>
                        <a:effectLst/>
                        <a:latin typeface="EYInterstate Light" pitchFamily="2" charset="0"/>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500" b="0" i="0" u="none" strike="noStrike" cap="none" normalizeH="0" baseline="0" dirty="0" smtClean="0">
                          <a:ln>
                            <a:noFill/>
                          </a:ln>
                          <a:solidFill>
                            <a:srgbClr val="646464"/>
                          </a:solidFill>
                          <a:effectLst/>
                          <a:latin typeface="EYInterstate Light" pitchFamily="2" charset="0"/>
                        </a:rPr>
                        <a:t>RED</a:t>
                      </a:r>
                      <a:endParaRPr kumimoji="0" lang="en-US" sz="5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500" b="0" i="0" u="none" strike="noStrike" kern="1200" cap="none" normalizeH="0" baseline="0" dirty="0" smtClean="0">
                          <a:ln>
                            <a:noFill/>
                          </a:ln>
                          <a:solidFill>
                            <a:srgbClr val="646464"/>
                          </a:solidFill>
                          <a:effectLst/>
                          <a:latin typeface="EYInterstate Light" pitchFamily="2" charset="0"/>
                          <a:ea typeface="+mn-ea"/>
                          <a:cs typeface="+mn-cs"/>
                        </a:rPr>
                        <a:t>RED</a:t>
                      </a:r>
                      <a:endParaRPr kumimoji="0" lang="en-US" sz="500" b="0" i="0" u="none" strike="noStrike" kern="1200" cap="none" normalizeH="0" baseline="0" dirty="0">
                        <a:ln>
                          <a:noFill/>
                        </a:ln>
                        <a:solidFill>
                          <a:srgbClr val="646464"/>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67914">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500" b="0" i="0" u="none" strike="noStrike" cap="none" normalizeH="0" baseline="0" dirty="0" smtClean="0">
                          <a:ln>
                            <a:noFill/>
                          </a:ln>
                          <a:solidFill>
                            <a:srgbClr val="646464"/>
                          </a:solidFill>
                          <a:effectLst/>
                          <a:latin typeface="EYInterstate Light" pitchFamily="2" charset="0"/>
                        </a:rPr>
                        <a:t>Confirmed IT </a:t>
                      </a:r>
                      <a:r>
                        <a:rPr kumimoji="0" lang="en-US" sz="500" b="0" i="0" u="none" strike="noStrike" cap="none" normalizeH="0" baseline="0" dirty="0">
                          <a:ln>
                            <a:noFill/>
                          </a:ln>
                          <a:solidFill>
                            <a:srgbClr val="646464"/>
                          </a:solidFill>
                          <a:effectLst/>
                          <a:latin typeface="EYInterstate Light" pitchFamily="2" charset="0"/>
                        </a:rPr>
                        <a:t>Transition Plan for </a:t>
                      </a:r>
                      <a:r>
                        <a:rPr kumimoji="0" lang="en-US" sz="500" b="0" i="0" u="none" strike="noStrike" cap="none" normalizeH="0" baseline="0" dirty="0" smtClean="0">
                          <a:ln>
                            <a:noFill/>
                          </a:ln>
                          <a:solidFill>
                            <a:srgbClr val="646464"/>
                          </a:solidFill>
                          <a:effectLst/>
                          <a:latin typeface="EYInterstate Light" pitchFamily="2" charset="0"/>
                        </a:rPr>
                        <a:t>Exchange</a:t>
                      </a:r>
                      <a:endParaRPr kumimoji="0" lang="en-US" sz="500" b="0" i="0" u="none" strike="noStrike" cap="none" normalizeH="0" baseline="0" dirty="0">
                        <a:ln>
                          <a:noFill/>
                        </a:ln>
                        <a:solidFill>
                          <a:srgbClr val="646464"/>
                        </a:solidFill>
                        <a:effectLst/>
                        <a:latin typeface="EYInterstate Light" pitchFamily="2" charset="0"/>
                      </a:endParaRPr>
                    </a:p>
                  </a:txBody>
                  <a:tcPr marL="37059" marR="37059"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500" b="0" i="0" u="none" strike="noStrike" cap="none" normalizeH="0" baseline="0" dirty="0" smtClean="0">
                          <a:ln>
                            <a:noFill/>
                          </a:ln>
                          <a:solidFill>
                            <a:srgbClr val="646464"/>
                          </a:solidFill>
                          <a:effectLst/>
                          <a:latin typeface="EYInterstate Light" pitchFamily="2" charset="0"/>
                        </a:rPr>
                        <a:t>30 Jul 12</a:t>
                      </a:r>
                      <a:endParaRPr kumimoji="0" lang="en-US" sz="500" b="0" i="0" u="none" strike="noStrike" cap="none" normalizeH="0" baseline="0" dirty="0">
                        <a:ln>
                          <a:noFill/>
                        </a:ln>
                        <a:solidFill>
                          <a:srgbClr val="646464"/>
                        </a:solidFill>
                        <a:effectLst/>
                        <a:latin typeface="EYInterstate Light" pitchFamily="2" charset="0"/>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500" b="0" i="0" u="none" strike="noStrike" cap="none" normalizeH="0" baseline="0" dirty="0" smtClean="0">
                          <a:ln>
                            <a:noFill/>
                          </a:ln>
                          <a:solidFill>
                            <a:srgbClr val="646464"/>
                          </a:solidFill>
                          <a:effectLst/>
                          <a:latin typeface="EYInterstate Light" pitchFamily="2" charset="0"/>
                        </a:rPr>
                        <a:t>30 Jul 12</a:t>
                      </a:r>
                      <a:endParaRPr kumimoji="0" lang="en-US" sz="500" b="0" i="0" u="none" strike="noStrike" cap="none" normalizeH="0" baseline="0" dirty="0">
                        <a:ln>
                          <a:noFill/>
                        </a:ln>
                        <a:solidFill>
                          <a:srgbClr val="646464"/>
                        </a:solidFill>
                        <a:effectLst/>
                        <a:latin typeface="EYInterstate Light" pitchFamily="2" charset="0"/>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500" b="0" i="0" u="none" strike="noStrike" cap="none" normalizeH="0" baseline="0" dirty="0" smtClean="0">
                          <a:ln>
                            <a:noFill/>
                          </a:ln>
                          <a:solidFill>
                            <a:srgbClr val="646464"/>
                          </a:solidFill>
                          <a:effectLst/>
                          <a:latin typeface="EYInterstate Light" pitchFamily="2" charset="0"/>
                        </a:rPr>
                        <a:t>RED</a:t>
                      </a:r>
                      <a:endParaRPr kumimoji="0" lang="en-US" sz="5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500" b="0" i="0" u="none" strike="noStrike" kern="1200" cap="none" normalizeH="0" baseline="0" dirty="0" smtClean="0">
                          <a:ln>
                            <a:noFill/>
                          </a:ln>
                          <a:solidFill>
                            <a:srgbClr val="646464"/>
                          </a:solidFill>
                          <a:effectLst/>
                          <a:latin typeface="EYInterstate Light" pitchFamily="2" charset="0"/>
                          <a:ea typeface="+mn-ea"/>
                          <a:cs typeface="+mn-cs"/>
                        </a:rPr>
                        <a:t>RED</a:t>
                      </a:r>
                      <a:endParaRPr kumimoji="0" lang="en-US" sz="500" b="0" i="0" u="none" strike="noStrike" kern="1200" cap="none" normalizeH="0" baseline="0" dirty="0">
                        <a:ln>
                          <a:noFill/>
                        </a:ln>
                        <a:solidFill>
                          <a:srgbClr val="646464"/>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76530">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500" b="0" i="0" u="none" strike="noStrike" cap="none" normalizeH="0" baseline="0" dirty="0" smtClean="0">
                          <a:ln>
                            <a:noFill/>
                          </a:ln>
                          <a:solidFill>
                            <a:srgbClr val="646464"/>
                          </a:solidFill>
                          <a:effectLst/>
                          <a:latin typeface="EYInterstate Light" pitchFamily="2" charset="0"/>
                        </a:rPr>
                        <a:t>Confirmed IT </a:t>
                      </a:r>
                      <a:r>
                        <a:rPr kumimoji="0" lang="en-US" sz="500" b="0" i="0" u="none" strike="noStrike" cap="none" normalizeH="0" baseline="0" dirty="0">
                          <a:ln>
                            <a:noFill/>
                          </a:ln>
                          <a:solidFill>
                            <a:srgbClr val="646464"/>
                          </a:solidFill>
                          <a:effectLst/>
                          <a:latin typeface="EYInterstate Light" pitchFamily="2" charset="0"/>
                        </a:rPr>
                        <a:t>Transition Plan for </a:t>
                      </a:r>
                      <a:r>
                        <a:rPr kumimoji="0" lang="en-US" sz="500" b="0" i="0" u="none" strike="noStrike" cap="none" normalizeH="0" baseline="0" dirty="0" err="1" smtClean="0">
                          <a:ln>
                            <a:noFill/>
                          </a:ln>
                          <a:solidFill>
                            <a:srgbClr val="646464"/>
                          </a:solidFill>
                          <a:effectLst/>
                          <a:latin typeface="EYInterstate Light" pitchFamily="2" charset="0"/>
                        </a:rPr>
                        <a:t>Sharepoint</a:t>
                      </a:r>
                      <a:endParaRPr kumimoji="0" lang="en-US" sz="500" b="0" i="0" u="none" strike="noStrike" cap="none" normalizeH="0" baseline="0" dirty="0">
                        <a:ln>
                          <a:noFill/>
                        </a:ln>
                        <a:solidFill>
                          <a:srgbClr val="646464"/>
                        </a:solidFill>
                        <a:effectLst/>
                        <a:latin typeface="EYInterstate Light" pitchFamily="2" charset="0"/>
                      </a:endParaRPr>
                    </a:p>
                  </a:txBody>
                  <a:tcPr marL="37059" marR="37059"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500" b="0" i="0" u="none" strike="noStrike" cap="none" normalizeH="0" baseline="0" dirty="0" smtClean="0">
                          <a:ln>
                            <a:noFill/>
                          </a:ln>
                          <a:solidFill>
                            <a:srgbClr val="646464"/>
                          </a:solidFill>
                          <a:effectLst/>
                          <a:latin typeface="EYInterstate Light" pitchFamily="2" charset="0"/>
                        </a:rPr>
                        <a:t>30 Jul 12</a:t>
                      </a:r>
                      <a:endParaRPr kumimoji="0" lang="en-US" sz="500" b="0" i="0" u="none" strike="noStrike" cap="none" normalizeH="0" baseline="0" dirty="0">
                        <a:ln>
                          <a:noFill/>
                        </a:ln>
                        <a:solidFill>
                          <a:srgbClr val="646464"/>
                        </a:solidFill>
                        <a:effectLst/>
                        <a:latin typeface="EYInterstate Light" pitchFamily="2" charset="0"/>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500" b="0" i="0" u="none" strike="noStrike" cap="none" normalizeH="0" baseline="0" dirty="0" smtClean="0">
                          <a:ln>
                            <a:noFill/>
                          </a:ln>
                          <a:solidFill>
                            <a:srgbClr val="646464"/>
                          </a:solidFill>
                          <a:effectLst/>
                          <a:latin typeface="EYInterstate Light" pitchFamily="2" charset="0"/>
                        </a:rPr>
                        <a:t>30 Jul 12</a:t>
                      </a:r>
                      <a:endParaRPr kumimoji="0" lang="en-US" sz="500" b="0" i="0" u="none" strike="noStrike" cap="none" normalizeH="0" baseline="0" dirty="0">
                        <a:ln>
                          <a:noFill/>
                        </a:ln>
                        <a:solidFill>
                          <a:srgbClr val="646464"/>
                        </a:solidFill>
                        <a:effectLst/>
                        <a:latin typeface="EYInterstate Light" pitchFamily="2" charset="0"/>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500" b="0" i="0" u="none" strike="noStrike" cap="none" normalizeH="0" baseline="0" dirty="0" smtClean="0">
                          <a:ln>
                            <a:noFill/>
                          </a:ln>
                          <a:solidFill>
                            <a:srgbClr val="646464"/>
                          </a:solidFill>
                          <a:effectLst/>
                          <a:latin typeface="EYInterstate Light" pitchFamily="2" charset="0"/>
                        </a:rPr>
                        <a:t>RED</a:t>
                      </a:r>
                      <a:endParaRPr kumimoji="0" lang="en-US" sz="5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500" b="0" i="0" u="none" strike="noStrike" cap="none" normalizeH="0" baseline="0" dirty="0" smtClean="0">
                          <a:ln>
                            <a:noFill/>
                          </a:ln>
                          <a:solidFill>
                            <a:srgbClr val="646464"/>
                          </a:solidFill>
                          <a:effectLst/>
                          <a:latin typeface="EYInterstate Light" pitchFamily="2" charset="0"/>
                        </a:rPr>
                        <a:t>RED</a:t>
                      </a:r>
                      <a:endParaRPr kumimoji="0" lang="en-US" sz="5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64404">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500" b="0" i="0" u="none" strike="noStrike" cap="none" normalizeH="0" baseline="0" dirty="0" smtClean="0">
                          <a:ln>
                            <a:noFill/>
                          </a:ln>
                          <a:solidFill>
                            <a:srgbClr val="646464"/>
                          </a:solidFill>
                          <a:effectLst/>
                          <a:latin typeface="EYInterstate Light" pitchFamily="2" charset="0"/>
                        </a:rPr>
                        <a:t>Confirmed IT Transition Plan for A&amp;DM</a:t>
                      </a:r>
                      <a:endParaRPr kumimoji="0" lang="en-US" sz="500" b="0" i="0" u="none" strike="noStrike" cap="none" normalizeH="0" baseline="0" dirty="0">
                        <a:ln>
                          <a:noFill/>
                        </a:ln>
                        <a:solidFill>
                          <a:srgbClr val="646464"/>
                        </a:solidFill>
                        <a:effectLst/>
                        <a:latin typeface="EYInterstate Light" pitchFamily="2" charset="0"/>
                      </a:endParaRPr>
                    </a:p>
                  </a:txBody>
                  <a:tcPr marL="37059" marR="37059"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500" b="0" i="0" u="none" strike="noStrike" cap="none" normalizeH="0" baseline="0" dirty="0">
                          <a:ln>
                            <a:noFill/>
                          </a:ln>
                          <a:solidFill>
                            <a:srgbClr val="646464"/>
                          </a:solidFill>
                          <a:effectLst/>
                          <a:latin typeface="EYInterstate Light" pitchFamily="2" charset="0"/>
                        </a:rPr>
                        <a:t>TBD</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500" b="0" i="0" u="none" strike="noStrike" cap="none" normalizeH="0" baseline="0" dirty="0">
                          <a:ln>
                            <a:noFill/>
                          </a:ln>
                          <a:solidFill>
                            <a:srgbClr val="646464"/>
                          </a:solidFill>
                          <a:effectLst/>
                          <a:latin typeface="EYInterstate Light" pitchFamily="2" charset="0"/>
                        </a:rPr>
                        <a:t>TBD</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500" b="0" i="0" u="none" strike="noStrike" cap="none" normalizeH="0" baseline="0" dirty="0" smtClean="0">
                          <a:ln>
                            <a:noFill/>
                          </a:ln>
                          <a:solidFill>
                            <a:srgbClr val="646464"/>
                          </a:solidFill>
                          <a:effectLst/>
                          <a:latin typeface="EYInterstate Light" pitchFamily="2" charset="0"/>
                        </a:rPr>
                        <a:t>AMBER</a:t>
                      </a:r>
                      <a:endParaRPr kumimoji="0" lang="en-US" sz="5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500" b="0" i="0" u="none" strike="noStrike" cap="none" normalizeH="0" baseline="0" dirty="0" smtClean="0">
                          <a:ln>
                            <a:noFill/>
                          </a:ln>
                          <a:solidFill>
                            <a:srgbClr val="646464"/>
                          </a:solidFill>
                          <a:effectLst/>
                          <a:latin typeface="EYInterstate Light" pitchFamily="2" charset="0"/>
                        </a:rPr>
                        <a:t>GREEN</a:t>
                      </a:r>
                      <a:endParaRPr kumimoji="0" lang="en-US" sz="5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272"/>
          <p:cNvGraphicFramePr>
            <a:graphicFrameLocks noGrp="1"/>
          </p:cNvGraphicFramePr>
          <p:nvPr/>
        </p:nvGraphicFramePr>
        <p:xfrm>
          <a:off x="0" y="3429000"/>
          <a:ext cx="4680520" cy="2369992"/>
        </p:xfrm>
        <a:graphic>
          <a:graphicData uri="http://schemas.openxmlformats.org/drawingml/2006/table">
            <a:tbl>
              <a:tblPr/>
              <a:tblGrid>
                <a:gridCol w="4680520"/>
              </a:tblGrid>
              <a:tr h="123589">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noProof="0" dirty="0" smtClean="0">
                          <a:ln>
                            <a:noFill/>
                          </a:ln>
                          <a:solidFill>
                            <a:schemeClr val="tx1"/>
                          </a:solidFill>
                          <a:effectLst/>
                          <a:latin typeface="EYInterstate" pitchFamily="2" charset="0"/>
                        </a:rPr>
                        <a:t>C.  ACTIVITIES BEHIND SCHEDULE</a:t>
                      </a:r>
                      <a:endParaRPr kumimoji="0" lang="en-US" sz="700" b="1" i="0" u="none" strike="noStrike" cap="none" normalizeH="0" baseline="0" noProof="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84720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Messaging deployment plan and approach has gone from completed to RED due to budget cuts.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3589">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noProof="0" dirty="0" smtClean="0">
                          <a:ln>
                            <a:noFill/>
                          </a:ln>
                          <a:solidFill>
                            <a:schemeClr val="tx1"/>
                          </a:solidFill>
                          <a:effectLst/>
                          <a:latin typeface="EYInterstate" pitchFamily="2" charset="0"/>
                        </a:rPr>
                        <a:t>D.  </a:t>
                      </a:r>
                      <a:r>
                        <a:rPr kumimoji="0" lang="en-US" sz="700" b="1" i="0" u="none" strike="noStrike" cap="none" normalizeH="0" baseline="0" noProof="0" dirty="0">
                          <a:ln>
                            <a:noFill/>
                          </a:ln>
                          <a:solidFill>
                            <a:schemeClr val="tx1"/>
                          </a:solidFill>
                          <a:effectLst/>
                          <a:latin typeface="EYInterstate" pitchFamily="2" charset="0"/>
                        </a:rPr>
                        <a:t>KEY ACTIVITIES PLANNED NEXT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5469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Presentation of deployment approach to executive sponsors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Presentation to EMEIA COO group to be held on program</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Continue work on deployment deliverables for Messaging including Outlook deployment kit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Configure InterAction to handle the stakeholder engagement touch points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None/>
                        <a:tabLst/>
                      </a:pPr>
                      <a:endParaRPr kumimoji="0" lang="en-US" sz="700" b="0" i="0" u="none" strike="noStrike" kern="1200" cap="none" normalizeH="0" baseline="0" noProof="0" dirty="0">
                        <a:ln>
                          <a:noFill/>
                        </a:ln>
                        <a:solidFill>
                          <a:srgbClr val="FF0000"/>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 name="Group 852"/>
          <p:cNvGraphicFramePr>
            <a:graphicFrameLocks noGrp="1"/>
          </p:cNvGraphicFramePr>
          <p:nvPr/>
        </p:nvGraphicFramePr>
        <p:xfrm>
          <a:off x="4752530" y="4725144"/>
          <a:ext cx="4391470" cy="916164"/>
        </p:xfrm>
        <a:graphic>
          <a:graphicData uri="http://schemas.openxmlformats.org/drawingml/2006/table">
            <a:tbl>
              <a:tblPr/>
              <a:tblGrid>
                <a:gridCol w="1619670"/>
                <a:gridCol w="1584176"/>
                <a:gridCol w="504056"/>
                <a:gridCol w="683568"/>
              </a:tblGrid>
              <a:tr h="121898">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G. MATTERS FOR IMMEDIATE ATTENTION – typically specific current issues or scope changes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5106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Issues to be resolved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Recommended Action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Target Date</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Completed By</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5628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GB" sz="700" b="0" i="0" u="none" strike="noStrike" kern="1200" cap="none" normalizeH="0" baseline="0" noProof="0" dirty="0" smtClean="0">
                        <a:ln>
                          <a:noFill/>
                        </a:ln>
                        <a:solidFill>
                          <a:schemeClr val="bg2"/>
                        </a:solidFill>
                        <a:effectLst/>
                        <a:latin typeface="EYInterstate Light" pitchFamily="2" charset="0"/>
                        <a:ea typeface="+mn-ea"/>
                        <a:cs typeface="+mn-cs"/>
                      </a:endParaRPr>
                    </a:p>
                  </a:txBody>
                  <a:tcPr marL="34219" marR="34219"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GB" sz="700" b="0" i="0" u="none" strike="noStrike" kern="1200" cap="none" normalizeH="0" baseline="0" noProof="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8831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GB" sz="70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GB" sz="70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8831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GB" sz="70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4" name="Group 270"/>
          <p:cNvGraphicFramePr>
            <a:graphicFrameLocks noGrp="1"/>
          </p:cNvGraphicFramePr>
          <p:nvPr/>
        </p:nvGraphicFramePr>
        <p:xfrm>
          <a:off x="7391400" y="36991"/>
          <a:ext cx="1628477" cy="535063"/>
        </p:xfrm>
        <a:graphic>
          <a:graphicData uri="http://schemas.openxmlformats.org/drawingml/2006/table">
            <a:tbl>
              <a:tblPr/>
              <a:tblGrid>
                <a:gridCol w="814238"/>
                <a:gridCol w="814239"/>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bl>
          </a:graphicData>
        </a:graphic>
      </p:graphicFrame>
      <p:graphicFrame>
        <p:nvGraphicFramePr>
          <p:cNvPr id="5" name="Table 4"/>
          <p:cNvGraphicFramePr>
            <a:graphicFrameLocks noGrp="1"/>
          </p:cNvGraphicFramePr>
          <p:nvPr/>
        </p:nvGraphicFramePr>
        <p:xfrm>
          <a:off x="4752531" y="2348880"/>
          <a:ext cx="4391469" cy="2576926"/>
        </p:xfrm>
        <a:graphic>
          <a:graphicData uri="http://schemas.openxmlformats.org/drawingml/2006/table">
            <a:tbl>
              <a:tblPr/>
              <a:tblGrid>
                <a:gridCol w="1547662"/>
                <a:gridCol w="1656183"/>
                <a:gridCol w="504056"/>
                <a:gridCol w="683568"/>
              </a:tblGrid>
              <a:tr h="127484">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F.  KEY RISKS – typically future challenges or external circumstances that may affect the initiative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51247">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Risks to be addressed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Mitigating Action</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Target Date</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Completed By</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95252">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GB" sz="700" b="0" i="0" u="none" strike="noStrike" kern="1200" cap="none" normalizeH="0" baseline="0" noProof="0" dirty="0" smtClean="0">
                          <a:ln>
                            <a:noFill/>
                          </a:ln>
                          <a:solidFill>
                            <a:schemeClr val="bg2"/>
                          </a:solidFill>
                          <a:effectLst/>
                          <a:latin typeface="EYInterstate Light" pitchFamily="2" charset="0"/>
                          <a:ea typeface="+mn-ea"/>
                          <a:cs typeface="+mn-cs"/>
                        </a:rPr>
                        <a:t>Cut in number of planned (program sponsored) deployment resources to assist countries with deployments will reduce our ability to step in and proactively provide assistance to countries who are missing milestones in the T-minus plan. This might lead to delays in overall timeline</a:t>
                      </a:r>
                      <a:endParaRPr kumimoji="0" lang="en-GB" sz="700" b="0" i="0" u="none" strike="noStrike" kern="1200" cap="none" normalizeH="0" baseline="0" noProof="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noProof="0" dirty="0" smtClean="0">
                          <a:ln>
                            <a:noFill/>
                          </a:ln>
                          <a:solidFill>
                            <a:schemeClr val="bg2"/>
                          </a:solidFill>
                          <a:effectLst/>
                          <a:latin typeface="EYInterstate Light" pitchFamily="2" charset="0"/>
                          <a:ea typeface="+mn-ea"/>
                          <a:cs typeface="+mn-cs"/>
                        </a:rPr>
                        <a:t>Ensure adequate involvement from ITRMs and early engagement subarea leadership to secure sponsorship.</a:t>
                      </a:r>
                      <a:endParaRPr kumimoji="0" lang="en-GB" sz="700" b="0" i="0" u="none" strike="noStrike" kern="1200" cap="none" normalizeH="0" baseline="0" noProof="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01-07-12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80476">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GB" sz="700" b="0" i="0" u="none" strike="noStrike" kern="1200" cap="none" normalizeH="0" baseline="0" noProof="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GB" sz="700" b="0" i="0" u="none" strike="noStrike" kern="1200" cap="none" normalizeH="0" baseline="0" noProof="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6656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80476">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80476">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noProof="0" dirty="0">
                        <a:ln>
                          <a:noFill/>
                        </a:ln>
                        <a:solidFill>
                          <a:schemeClr val="bg2"/>
                        </a:solidFill>
                        <a:effectLst/>
                        <a:latin typeface="EYInterstate Light" pitchFamily="2" charset="0"/>
                        <a:ea typeface="+mn-ea"/>
                        <a:cs typeface="+mn-cs"/>
                      </a:endParaRPr>
                    </a:p>
                  </a:txBody>
                  <a:tcPr marL="34219" marR="34219"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noProof="0" dirty="0">
                        <a:ln>
                          <a:noFill/>
                        </a:ln>
                        <a:solidFill>
                          <a:schemeClr val="bg2"/>
                        </a:solidFill>
                        <a:effectLst/>
                        <a:latin typeface="EYInterstate Light" pitchFamily="2" charset="0"/>
                        <a:ea typeface="+mn-ea"/>
                        <a:cs typeface="+mn-cs"/>
                      </a:endParaRPr>
                    </a:p>
                  </a:txBody>
                  <a:tcPr marL="34219" marR="34219"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6" name="Group 270"/>
          <p:cNvGraphicFramePr>
            <a:graphicFrameLocks noGrp="1"/>
          </p:cNvGraphicFramePr>
          <p:nvPr/>
        </p:nvGraphicFramePr>
        <p:xfrm>
          <a:off x="1195546" y="6553106"/>
          <a:ext cx="381000" cy="88326"/>
        </p:xfrm>
        <a:graphic>
          <a:graphicData uri="http://schemas.openxmlformats.org/drawingml/2006/table">
            <a:tbl>
              <a:tblPr/>
              <a:tblGrid>
                <a:gridCol w="381000"/>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7" name="Group 270"/>
          <p:cNvGraphicFramePr>
            <a:graphicFrameLocks noGrp="1"/>
          </p:cNvGraphicFramePr>
          <p:nvPr/>
        </p:nvGraphicFramePr>
        <p:xfrm>
          <a:off x="3979855" y="6582966"/>
          <a:ext cx="523914" cy="88326"/>
        </p:xfrm>
        <a:graphic>
          <a:graphicData uri="http://schemas.openxmlformats.org/drawingml/2006/table">
            <a:tbl>
              <a:tblPr/>
              <a:tblGrid>
                <a:gridCol w="523914"/>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8" name="Group 270"/>
          <p:cNvGraphicFramePr>
            <a:graphicFrameLocks noGrp="1"/>
          </p:cNvGraphicFramePr>
          <p:nvPr/>
        </p:nvGraphicFramePr>
        <p:xfrm>
          <a:off x="6515865" y="6550835"/>
          <a:ext cx="381000" cy="90597"/>
        </p:xfrm>
        <a:graphic>
          <a:graphicData uri="http://schemas.openxmlformats.org/drawingml/2006/table">
            <a:tbl>
              <a:tblPr/>
              <a:tblGrid>
                <a:gridCol w="381000"/>
              </a:tblGrid>
              <a:tr h="90597">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pSp>
        <p:nvGrpSpPr>
          <p:cNvPr id="9" name="Group 27"/>
          <p:cNvGrpSpPr/>
          <p:nvPr/>
        </p:nvGrpSpPr>
        <p:grpSpPr>
          <a:xfrm>
            <a:off x="285595" y="6400800"/>
            <a:ext cx="8734282" cy="494922"/>
            <a:chOff x="307495" y="6550829"/>
            <a:chExt cx="9404036" cy="494922"/>
          </a:xfrm>
        </p:grpSpPr>
        <p:sp>
          <p:nvSpPr>
            <p:cNvPr id="10" name="TextBox 9"/>
            <p:cNvSpPr txBox="1"/>
            <p:nvPr/>
          </p:nvSpPr>
          <p:spPr bwMode="gray">
            <a:xfrm>
              <a:off x="1639689" y="6576570"/>
              <a:ext cx="2611234" cy="400110"/>
            </a:xfrm>
            <a:prstGeom prst="rect">
              <a:avLst/>
            </a:prstGeom>
          </p:spPr>
          <p:txBody>
            <a:bodyPr wrap="square" rtlCol="0">
              <a:spAutoFit/>
            </a:bodyPr>
            <a:lstStyle/>
            <a:p>
              <a:pPr algn="ctr" defTabSz="955675" eaLnBrk="0" fontAlgn="base" hangingPunct="0">
                <a:spcBef>
                  <a:spcPct val="0"/>
                </a:spcBef>
                <a:spcAft>
                  <a:spcPct val="0"/>
                </a:spcAft>
              </a:pPr>
              <a:endParaRPr lang="en-GB" sz="500" b="1" dirty="0">
                <a:solidFill>
                  <a:srgbClr val="646464"/>
                </a:solidFill>
                <a:latin typeface="EYInterstate Light" pitchFamily="2" charset="0"/>
              </a:endParaRPr>
            </a:p>
            <a:p>
              <a:pPr algn="ctr" defTabSz="955675" eaLnBrk="0" fontAlgn="base" hangingPunct="0">
                <a:spcBef>
                  <a:spcPct val="0"/>
                </a:spcBef>
                <a:spcAft>
                  <a:spcPct val="0"/>
                </a:spcAft>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11" name="TextBox 10"/>
            <p:cNvSpPr txBox="1"/>
            <p:nvPr/>
          </p:nvSpPr>
          <p:spPr bwMode="gray">
            <a:xfrm>
              <a:off x="674554" y="6657945"/>
              <a:ext cx="612668" cy="169277"/>
            </a:xfrm>
            <a:prstGeom prst="rect">
              <a:avLst/>
            </a:prstGeom>
          </p:spPr>
          <p:txBody>
            <a:bodyPr wrap="none" rtlCol="0">
              <a:spAutoFit/>
            </a:bodyPr>
            <a:lstStyle/>
            <a:p>
              <a:pPr algn="ctr" defTabSz="955675" eaLnBrk="0" fontAlgn="base" hangingPunct="0">
                <a:spcBef>
                  <a:spcPct val="0"/>
                </a:spcBef>
                <a:spcAft>
                  <a:spcPct val="0"/>
                </a:spcAft>
              </a:pPr>
              <a:r>
                <a:rPr lang="en-US" sz="500" b="1" dirty="0">
                  <a:solidFill>
                    <a:srgbClr val="646464"/>
                  </a:solidFill>
                  <a:latin typeface="EYInterstate Light" pitchFamily="2" charset="0"/>
                </a:rPr>
                <a:t>Fully achieved</a:t>
              </a:r>
              <a:endParaRPr lang="en-GB" sz="500" b="1" kern="0" dirty="0">
                <a:solidFill>
                  <a:srgbClr val="646464"/>
                </a:solidFill>
                <a:latin typeface="EYInterstate Light" pitchFamily="2" charset="0"/>
              </a:endParaRPr>
            </a:p>
          </p:txBody>
        </p:sp>
        <p:sp>
          <p:nvSpPr>
            <p:cNvPr id="12" name="TextBox 11"/>
            <p:cNvSpPr txBox="1"/>
            <p:nvPr/>
          </p:nvSpPr>
          <p:spPr bwMode="gray">
            <a:xfrm>
              <a:off x="307495" y="6550829"/>
              <a:ext cx="4541628" cy="169277"/>
            </a:xfrm>
            <a:prstGeom prst="rect">
              <a:avLst/>
            </a:prstGeom>
          </p:spPr>
          <p:txBody>
            <a:bodyPr wrap="none" rtlCol="0">
              <a:spAutoFit/>
            </a:bodyPr>
            <a:lstStyle/>
            <a:p>
              <a:pPr algn="ctr" defTabSz="955675" eaLnBrk="0" fontAlgn="base" hangingPunct="0">
                <a:spcBef>
                  <a:spcPct val="0"/>
                </a:spcBef>
                <a:spcAft>
                  <a:spcPct val="0"/>
                </a:spcAft>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latin typeface="EYInterstate Light" pitchFamily="2" charset="0"/>
              </a:endParaRPr>
            </a:p>
          </p:txBody>
        </p:sp>
        <p:sp>
          <p:nvSpPr>
            <p:cNvPr id="13" name="TextBox 12"/>
            <p:cNvSpPr txBox="1"/>
            <p:nvPr/>
          </p:nvSpPr>
          <p:spPr bwMode="gray">
            <a:xfrm>
              <a:off x="7423210" y="6564722"/>
              <a:ext cx="2288321" cy="400110"/>
            </a:xfrm>
            <a:prstGeom prst="rect">
              <a:avLst/>
            </a:prstGeom>
          </p:spPr>
          <p:txBody>
            <a:bodyPr wrap="square" rtlCol="0">
              <a:spAutoFit/>
            </a:bodyPr>
            <a:lstStyle/>
            <a:p>
              <a:pPr algn="ctr" defTabSz="955675" eaLnBrk="0" fontAlgn="base" hangingPunct="0">
                <a:spcBef>
                  <a:spcPct val="0"/>
                </a:spcBef>
                <a:spcAft>
                  <a:spcPct val="0"/>
                </a:spcAft>
              </a:pPr>
              <a:endParaRPr lang="en-GB" sz="500" b="1" dirty="0">
                <a:solidFill>
                  <a:srgbClr val="646464"/>
                </a:solidFill>
                <a:latin typeface="EYInterstate Light" pitchFamily="2" charset="0"/>
              </a:endParaRPr>
            </a:p>
            <a:p>
              <a:pPr algn="ctr" defTabSz="955675" eaLnBrk="0" fontAlgn="base" hangingPunct="0">
                <a:spcBef>
                  <a:spcPct val="0"/>
                </a:spcBef>
                <a:spcAft>
                  <a:spcPct val="0"/>
                </a:spcAft>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14" name="TextBox 13"/>
            <p:cNvSpPr txBox="1"/>
            <p:nvPr/>
          </p:nvSpPr>
          <p:spPr bwMode="gray">
            <a:xfrm>
              <a:off x="4849123" y="6568697"/>
              <a:ext cx="1976087" cy="477054"/>
            </a:xfrm>
            <a:prstGeom prst="rect">
              <a:avLst/>
            </a:prstGeom>
          </p:spPr>
          <p:txBody>
            <a:bodyPr wrap="square" rtlCol="0">
              <a:spAutoFit/>
            </a:bodyPr>
            <a:lstStyle/>
            <a:p>
              <a:pPr algn="ctr" defTabSz="955675" eaLnBrk="0" fontAlgn="base" hangingPunct="0">
                <a:spcBef>
                  <a:spcPct val="0"/>
                </a:spcBef>
                <a:spcAft>
                  <a:spcPct val="0"/>
                </a:spcAft>
              </a:pPr>
              <a:endParaRPr lang="en-GB" sz="500" b="1" dirty="0">
                <a:solidFill>
                  <a:srgbClr val="646464"/>
                </a:solidFill>
                <a:latin typeface="EYInterstate Light" pitchFamily="2" charset="0"/>
              </a:endParaRPr>
            </a:p>
            <a:p>
              <a:pPr algn="ctr" defTabSz="955675" eaLnBrk="0" fontAlgn="base" hangingPunct="0">
                <a:spcBef>
                  <a:spcPct val="0"/>
                </a:spcBef>
                <a:spcAft>
                  <a:spcPct val="0"/>
                </a:spcAft>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15" name="Freeform 94"/>
          <p:cNvSpPr>
            <a:spLocks/>
          </p:cNvSpPr>
          <p:nvPr/>
        </p:nvSpPr>
        <p:spPr bwMode="gray">
          <a:xfrm>
            <a:off x="0" y="0"/>
            <a:ext cx="6706365"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700" dirty="0">
              <a:solidFill>
                <a:srgbClr val="000000"/>
              </a:solidFill>
              <a:latin typeface="EYInterstate Light" pitchFamily="2" charset="0"/>
            </a:endParaRPr>
          </a:p>
        </p:txBody>
      </p:sp>
      <p:sp>
        <p:nvSpPr>
          <p:cNvPr id="16" name="Rectangle 183"/>
          <p:cNvSpPr txBox="1">
            <a:spLocks noChangeArrowheads="1"/>
          </p:cNvSpPr>
          <p:nvPr/>
        </p:nvSpPr>
        <p:spPr bwMode="gray">
          <a:xfrm>
            <a:off x="1" y="-34669"/>
            <a:ext cx="7086599" cy="553998"/>
          </a:xfrm>
          <a:prstGeom prst="rect">
            <a:avLst/>
          </a:prstGeom>
        </p:spPr>
        <p:txBody>
          <a:bodyPr wrap="square">
            <a:spAutoFit/>
          </a:bodyPr>
          <a:lstStyle/>
          <a:p>
            <a:pPr algn="l" defTabSz="955675" eaLnBrk="0" fontAlgn="base" hangingPunct="0">
              <a:spcBef>
                <a:spcPct val="0"/>
              </a:spcBef>
              <a:defRPr/>
            </a:pPr>
            <a:r>
              <a:rPr lang="en-US" sz="1600" b="1" kern="0" dirty="0">
                <a:solidFill>
                  <a:srgbClr val="646464"/>
                </a:solidFill>
              </a:rPr>
              <a:t>M&amp;C Business </a:t>
            </a:r>
            <a:r>
              <a:rPr lang="en-US" sz="1600" b="1" kern="0" dirty="0" smtClean="0">
                <a:solidFill>
                  <a:srgbClr val="646464"/>
                </a:solidFill>
              </a:rPr>
              <a:t>Deployment – </a:t>
            </a:r>
            <a:r>
              <a:rPr lang="en-US" sz="1600" b="1" kern="0" dirty="0">
                <a:solidFill>
                  <a:srgbClr val="646464"/>
                </a:solidFill>
              </a:rPr>
              <a:t>Weekly status report – </a:t>
            </a:r>
            <a:r>
              <a:rPr lang="en-US" sz="1600" b="1" kern="0" dirty="0" smtClean="0">
                <a:solidFill>
                  <a:srgbClr val="646464"/>
                </a:solidFill>
              </a:rPr>
              <a:t>8</a:t>
            </a:r>
            <a:r>
              <a:rPr lang="en-US" sz="1600" b="1" kern="0" baseline="30000" dirty="0" smtClean="0">
                <a:solidFill>
                  <a:srgbClr val="646464"/>
                </a:solidFill>
              </a:rPr>
              <a:t>th</a:t>
            </a:r>
            <a:r>
              <a:rPr lang="en-US" sz="1600" b="1" kern="0" dirty="0" smtClean="0">
                <a:solidFill>
                  <a:srgbClr val="646464"/>
                </a:solidFill>
              </a:rPr>
              <a:t> June </a:t>
            </a:r>
            <a:r>
              <a:rPr lang="en-US" sz="1600" b="1" kern="0" dirty="0">
                <a:solidFill>
                  <a:srgbClr val="646464"/>
                </a:solidFill>
              </a:rPr>
              <a:t>2012</a:t>
            </a:r>
          </a:p>
          <a:p>
            <a:pPr algn="l" defTabSz="955675" eaLnBrk="0" fontAlgn="base" hangingPunct="0">
              <a:spcBef>
                <a:spcPct val="0"/>
              </a:spcBef>
              <a:defRPr/>
            </a:pPr>
            <a:r>
              <a:rPr lang="en-US" sz="1400" kern="0" dirty="0" smtClean="0">
                <a:solidFill>
                  <a:srgbClr val="646464"/>
                </a:solidFill>
              </a:rPr>
              <a:t>David Bingham/Martin Kremmer</a:t>
            </a:r>
            <a:endParaRPr lang="en-US" sz="1400" kern="0" dirty="0">
              <a:solidFill>
                <a:srgbClr val="646464"/>
              </a:solidFill>
            </a:endParaRPr>
          </a:p>
        </p:txBody>
      </p:sp>
      <p:graphicFrame>
        <p:nvGraphicFramePr>
          <p:cNvPr id="17" name="Table 16"/>
          <p:cNvGraphicFramePr>
            <a:graphicFrameLocks noGrp="1"/>
          </p:cNvGraphicFramePr>
          <p:nvPr/>
        </p:nvGraphicFramePr>
        <p:xfrm>
          <a:off x="35496" y="5877272"/>
          <a:ext cx="4680520" cy="432048"/>
        </p:xfrm>
        <a:graphic>
          <a:graphicData uri="http://schemas.openxmlformats.org/drawingml/2006/table">
            <a:tbl>
              <a:tblPr/>
              <a:tblGrid>
                <a:gridCol w="4680520"/>
              </a:tblGrid>
              <a:tr h="150255">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noProof="0" dirty="0">
                          <a:ln>
                            <a:noFill/>
                          </a:ln>
                          <a:solidFill>
                            <a:schemeClr val="tx1"/>
                          </a:solidFill>
                          <a:effectLst/>
                          <a:latin typeface="EYInterstate" pitchFamily="2" charset="0"/>
                        </a:rPr>
                        <a:t>H.  GENERAL COMMENTS – must include reasoning for an overall Red or Amber Status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81793">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Budget cuts forcing us to redo approach for deployment of messaging</a:t>
                      </a:r>
                    </a:p>
                    <a:p>
                      <a:pPr marL="0" marR="0" lvl="0" indent="90488" algn="l"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noProof="0" dirty="0">
                        <a:ln>
                          <a:noFill/>
                        </a:ln>
                        <a:solidFill>
                          <a:srgbClr val="646464"/>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2"/>
          <p:cNvGraphicFramePr>
            <a:graphicFrameLocks noGrp="1"/>
          </p:cNvGraphicFramePr>
          <p:nvPr/>
        </p:nvGraphicFramePr>
        <p:xfrm>
          <a:off x="2" y="609600"/>
          <a:ext cx="4680520" cy="2482164"/>
        </p:xfrm>
        <a:graphic>
          <a:graphicData uri="http://schemas.openxmlformats.org/drawingml/2006/table">
            <a:tbl>
              <a:tblPr/>
              <a:tblGrid>
                <a:gridCol w="4680520"/>
              </a:tblGrid>
              <a:tr h="122306">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j-lt"/>
                        </a:rPr>
                        <a:t>A.  EXECUTIVE SUMMARY – a summary of the progress for this period (not of the initiative)</a:t>
                      </a:r>
                      <a:endParaRPr kumimoji="0" lang="en-US" sz="700" b="1" i="0" u="none" strike="noStrike" cap="none" normalizeH="0" baseline="0" dirty="0">
                        <a:ln>
                          <a:noFill/>
                        </a:ln>
                        <a:solidFill>
                          <a:schemeClr val="tx1"/>
                        </a:solidFill>
                        <a:effectLst/>
                        <a:latin typeface="+mj-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95716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Reshaping deployment approach, plan and budget for Messaging</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bg2"/>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2306">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B.  KEY ACCOMPLISHMENTS THIS PERIOD</a:t>
                      </a: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5691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EYInterstate Light" pitchFamily="2" charset="0"/>
                          <a:ea typeface="+mn-ea"/>
                          <a:cs typeface="+mn-cs"/>
                        </a:rPr>
                        <a:t>Updates continued for the Messaging approach</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Outlook deployment kit contents and updates to deliverables continued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9" name="Table 18"/>
          <p:cNvGraphicFramePr>
            <a:graphicFrameLocks noGrp="1"/>
          </p:cNvGraphicFramePr>
          <p:nvPr/>
        </p:nvGraphicFramePr>
        <p:xfrm>
          <a:off x="4752531" y="609600"/>
          <a:ext cx="4391469" cy="1660830"/>
        </p:xfrm>
        <a:graphic>
          <a:graphicData uri="http://schemas.openxmlformats.org/drawingml/2006/table">
            <a:tbl>
              <a:tblPr/>
              <a:tblGrid>
                <a:gridCol w="1485114"/>
                <a:gridCol w="724942"/>
                <a:gridCol w="869312"/>
                <a:gridCol w="594685"/>
                <a:gridCol w="717416"/>
              </a:tblGrid>
              <a:tr h="123744">
                <a:tc gridSpan="5">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EYInterstate" pitchFamily="2" charset="0"/>
                          <a:ea typeface="+mn-ea"/>
                          <a:cs typeface="+mn-cs"/>
                        </a:rPr>
                        <a:t>E.  </a:t>
                      </a:r>
                      <a:r>
                        <a:rPr kumimoji="0" lang="en-US" sz="700" b="1" i="0" u="none" strike="noStrike" kern="1200" cap="none" normalizeH="0" baseline="0" dirty="0" smtClean="0">
                          <a:ln>
                            <a:noFill/>
                          </a:ln>
                          <a:solidFill>
                            <a:schemeClr val="tx1"/>
                          </a:solidFill>
                          <a:effectLst/>
                          <a:latin typeface="EYInterstate" pitchFamily="2" charset="0"/>
                          <a:ea typeface="+mn-ea"/>
                          <a:cs typeface="+mn-cs"/>
                        </a:rPr>
                        <a:t>MILESTONES </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R w="6350" cap="flat" cmpd="sng" algn="ctr">
                      <a:solidFill>
                        <a:schemeClr val="accent2"/>
                      </a:solidFill>
                      <a:prstDash val="solid"/>
                      <a:round/>
                      <a:headEnd type="none" w="med" len="med"/>
                      <a:tailEnd type="none" w="med" len="med"/>
                    </a:lnR>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63297">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Individual Milestone Name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Planned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Projected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59857">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Outlook plan and approach</a:t>
                      </a:r>
                    </a:p>
                  </a:txBody>
                  <a:tcPr marL="37059" marR="37059"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30/04/12</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TBD</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67914">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A&amp;DM Deployment Framework completed</a:t>
                      </a:r>
                    </a:p>
                  </a:txBody>
                  <a:tcPr marL="37059" marR="37059"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Cancelled</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Cancelled</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Canceled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Canceled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76530">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SharePoint Deployment Framework completed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22/05/12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10/10/12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GREEN</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AMBER</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64404">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Final M&amp;C Deployment framework completed</a:t>
                      </a:r>
                    </a:p>
                  </a:txBody>
                  <a:tcPr marL="37059" marR="37059"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Cancelled</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Cancelled</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Canceled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Canceled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26315">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Area Deployment Consultants identified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28/05/12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03/08/12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126315">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Outlook Deployment Plan confirmation</a:t>
                      </a:r>
                      <a:endParaRPr kumimoji="0" lang="en-US" sz="700" b="0" i="0" u="none" strike="noStrike" kern="1200" cap="none" normalizeH="0" baseline="0" dirty="0">
                        <a:ln>
                          <a:noFill/>
                        </a:ln>
                        <a:solidFill>
                          <a:schemeClr val="bg2"/>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15/10/12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bg2"/>
                          </a:solidFill>
                          <a:effectLst/>
                          <a:latin typeface="EYInterstate Light" pitchFamily="2" charset="0"/>
                          <a:ea typeface="+mn-ea"/>
                          <a:cs typeface="+mn-cs"/>
                        </a:rPr>
                        <a:t>15/10/12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67000" y="3457575"/>
            <a:ext cx="5934075" cy="908050"/>
          </a:xfrm>
        </p:spPr>
        <p:txBody>
          <a:bodyPr/>
          <a:lstStyle/>
          <a:p>
            <a:r>
              <a:rPr lang="en-GB" dirty="0" smtClean="0"/>
              <a:t>Appendix B. Microsoft Reports.</a:t>
            </a:r>
            <a:endParaRPr lang="en-GB"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272"/>
          <p:cNvGraphicFramePr>
            <a:graphicFrameLocks noGrp="1"/>
          </p:cNvGraphicFramePr>
          <p:nvPr>
            <p:extLst>
              <p:ext uri="{D42A27DB-BD31-4B8C-83A1-F6EECF244321}">
                <p14:modId xmlns="" xmlns:p14="http://schemas.microsoft.com/office/powerpoint/2010/main" val="32146945"/>
              </p:ext>
            </p:extLst>
          </p:nvPr>
        </p:nvGraphicFramePr>
        <p:xfrm>
          <a:off x="54422" y="3212976"/>
          <a:ext cx="4680520" cy="2083044"/>
        </p:xfrm>
        <a:graphic>
          <a:graphicData uri="http://schemas.openxmlformats.org/drawingml/2006/table">
            <a:tbl>
              <a:tblPr/>
              <a:tblGrid>
                <a:gridCol w="4680520"/>
              </a:tblGrid>
              <a:tr h="12228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a:ln>
                            <a:noFill/>
                          </a:ln>
                          <a:solidFill>
                            <a:schemeClr val="tx1"/>
                          </a:solidFill>
                          <a:effectLst/>
                          <a:latin typeface="EYInterstate" pitchFamily="2" charset="0"/>
                        </a:rPr>
                        <a:t>C.  ACTIVITIES BEHIND SCHEDULE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51703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Messaging - -Completing the Operations Consulting 160 hour assistance will exceed the current project completion date of 2 July requested by the EY PMO. This is due to the delays in MS receiving authorization to proceed on the task. In this period, </a:t>
                      </a:r>
                      <a:r>
                        <a:rPr kumimoji="0" lang="en-US" sz="700" b="0" i="0" u="none" strike="noStrike" kern="1200" cap="none" normalizeH="0" baseline="0" dirty="0" err="1" smtClean="0">
                          <a:ln>
                            <a:noFill/>
                          </a:ln>
                          <a:solidFill>
                            <a:schemeClr val="tx1"/>
                          </a:solidFill>
                          <a:effectLst/>
                          <a:latin typeface="EYInterstate Light" pitchFamily="2" charset="0"/>
                          <a:ea typeface="+mn-ea"/>
                          <a:cs typeface="+mn-cs"/>
                        </a:rPr>
                        <a:t>Jeroen</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 Shoemaker requested a delay of this effort until late July or August. A separate CR033 has been created and will be submitted to EY to create a new milestone and invoice for this effort.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O365 - Europe portion of DCCID – rescheduled to 15 Jun 2012.  Circuit ordering delayed – rescheduled for 15 Jun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228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D.  </a:t>
                      </a:r>
                      <a:r>
                        <a:rPr kumimoji="0" lang="en-US" sz="700" b="1" i="0" u="none" strike="noStrike" cap="none" normalizeH="0" baseline="0" dirty="0">
                          <a:ln>
                            <a:noFill/>
                          </a:ln>
                          <a:solidFill>
                            <a:schemeClr val="tx1"/>
                          </a:solidFill>
                          <a:effectLst/>
                          <a:latin typeface="EYInterstate" pitchFamily="2" charset="0"/>
                        </a:rPr>
                        <a:t>KEY ACTIVITIES PLANNED NEXT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968003">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SharePoint - Continued work on O365 Architecture and Design Updates. Continued work on SharePoint 2010 Build Automation, Validation scripts, and Server-role templates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SharePoint Enablement – Re-planning efforts to incorporate Wave 15 underway, new plan to be finalized by 22 June 2012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Messaging - The MS team will submit the Final  Functional Specification on 11 June.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O365 - Continue configuration changes as per SharePoint Technical Requirements document – E&amp;Y.  Build and configure of </a:t>
                      </a:r>
                      <a:r>
                        <a:rPr kumimoji="0" lang="en-US" sz="700" b="0" i="0" u="none" strike="noStrike" kern="1200" cap="none" normalizeH="0" baseline="0" dirty="0" err="1" smtClean="0">
                          <a:ln>
                            <a:noFill/>
                          </a:ln>
                          <a:solidFill>
                            <a:schemeClr val="tx1"/>
                          </a:solidFill>
                          <a:effectLst/>
                          <a:latin typeface="EYInterstate Light" pitchFamily="2" charset="0"/>
                          <a:ea typeface="+mn-ea"/>
                          <a:cs typeface="+mn-cs"/>
                        </a:rPr>
                        <a:t>CoLo</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 domain controllers – E&amp;Y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err="1" smtClean="0">
                          <a:ln>
                            <a:noFill/>
                          </a:ln>
                          <a:solidFill>
                            <a:schemeClr val="tx1"/>
                          </a:solidFill>
                          <a:effectLst/>
                          <a:latin typeface="EYInterstate Light" pitchFamily="2" charset="0"/>
                          <a:ea typeface="+mn-ea"/>
                          <a:cs typeface="+mn-cs"/>
                        </a:rPr>
                        <a:t>Lync</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 - Early </a:t>
                      </a:r>
                      <a:r>
                        <a:rPr kumimoji="0" lang="en-US" sz="700" b="0" i="0" u="none" strike="noStrike" kern="1200" cap="none" normalizeH="0" baseline="0" dirty="0" err="1" smtClean="0">
                          <a:ln>
                            <a:noFill/>
                          </a:ln>
                          <a:solidFill>
                            <a:schemeClr val="tx1"/>
                          </a:solidFill>
                          <a:effectLst/>
                          <a:latin typeface="EYInterstate Light" pitchFamily="2" charset="0"/>
                          <a:ea typeface="+mn-ea"/>
                          <a:cs typeface="+mn-cs"/>
                        </a:rPr>
                        <a:t>PoC</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 planning with Telco / SMRs; Validation of Test Plan strategy (scope of work with PG, AT&amp;T, MCS,  O365 and EY)</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 name="Group 852"/>
          <p:cNvGraphicFramePr>
            <a:graphicFrameLocks noGrp="1"/>
          </p:cNvGraphicFramePr>
          <p:nvPr>
            <p:extLst>
              <p:ext uri="{D42A27DB-BD31-4B8C-83A1-F6EECF244321}">
                <p14:modId xmlns="" xmlns:p14="http://schemas.microsoft.com/office/powerpoint/2010/main" val="1418970667"/>
              </p:ext>
            </p:extLst>
          </p:nvPr>
        </p:nvGraphicFramePr>
        <p:xfrm>
          <a:off x="4716016" y="3717032"/>
          <a:ext cx="4391470" cy="1191240"/>
        </p:xfrm>
        <a:graphic>
          <a:graphicData uri="http://schemas.openxmlformats.org/drawingml/2006/table">
            <a:tbl>
              <a:tblPr/>
              <a:tblGrid>
                <a:gridCol w="1475653"/>
                <a:gridCol w="1620691"/>
                <a:gridCol w="648072"/>
                <a:gridCol w="647054"/>
              </a:tblGrid>
              <a:tr h="121898">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G. MATTERS FOR IMMEDIATE ATTENTION – typically specific current issues or scope changes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5106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Issues to be resolved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Recommended Action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Target Date</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Completed By</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4110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Messaging - CR033 will be submitted to EY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1"/>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1"/>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Identity – need CR25 signed</a:t>
                      </a:r>
                      <a:endParaRPr kumimoji="0" lang="en-US" sz="700" b="1" i="0" u="none" strike="noStrike" cap="none" normalizeH="0" baseline="0" dirty="0" smtClean="0">
                        <a:ln>
                          <a:noFill/>
                        </a:ln>
                        <a:solidFill>
                          <a:schemeClr val="tx1"/>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EY approval of this CR by 8 June is critical to ensuring the continued assistance of MS technical leads through June.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Get CR25 signed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2"/>
                          </a:solidFill>
                          <a:effectLst/>
                          <a:latin typeface="EYInterstate Light" pitchFamily="2" charset="0"/>
                        </a:rPr>
                        <a:t>11 June 2012</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2"/>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2"/>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2"/>
                          </a:solidFill>
                          <a:effectLst/>
                          <a:latin typeface="EYInterstate Light" pitchFamily="2" charset="0"/>
                        </a:rPr>
                        <a:t>11 June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4" name="Group 270"/>
          <p:cNvGraphicFramePr>
            <a:graphicFrameLocks noGrp="1"/>
          </p:cNvGraphicFramePr>
          <p:nvPr>
            <p:extLst>
              <p:ext uri="{D42A27DB-BD31-4B8C-83A1-F6EECF244321}">
                <p14:modId xmlns="" xmlns:p14="http://schemas.microsoft.com/office/powerpoint/2010/main" val="973583421"/>
              </p:ext>
            </p:extLst>
          </p:nvPr>
        </p:nvGraphicFramePr>
        <p:xfrm>
          <a:off x="7391400" y="36991"/>
          <a:ext cx="1628477" cy="535063"/>
        </p:xfrm>
        <a:graphic>
          <a:graphicData uri="http://schemas.openxmlformats.org/drawingml/2006/table">
            <a:tbl>
              <a:tblPr/>
              <a:tblGrid>
                <a:gridCol w="814238"/>
                <a:gridCol w="814239"/>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5" name="Table 4"/>
          <p:cNvGraphicFramePr>
            <a:graphicFrameLocks noGrp="1"/>
          </p:cNvGraphicFramePr>
          <p:nvPr>
            <p:extLst>
              <p:ext uri="{D42A27DB-BD31-4B8C-83A1-F6EECF244321}">
                <p14:modId xmlns="" xmlns:p14="http://schemas.microsoft.com/office/powerpoint/2010/main" val="3731438220"/>
              </p:ext>
            </p:extLst>
          </p:nvPr>
        </p:nvGraphicFramePr>
        <p:xfrm>
          <a:off x="4716016" y="2492896"/>
          <a:ext cx="4391469" cy="1159566"/>
        </p:xfrm>
        <a:graphic>
          <a:graphicData uri="http://schemas.openxmlformats.org/drawingml/2006/table">
            <a:tbl>
              <a:tblPr/>
              <a:tblGrid>
                <a:gridCol w="1835694"/>
                <a:gridCol w="1296144"/>
                <a:gridCol w="504056"/>
                <a:gridCol w="755575"/>
              </a:tblGrid>
              <a:tr h="240726">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F.  KEY RISKS – typically future challenges or external circumstances that may affect the initiative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51247">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Risks to be addressed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Mitigating Action</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Target Date</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0" i="0" u="none" strike="noStrike" cap="none" normalizeH="0" baseline="0" dirty="0" smtClean="0">
                          <a:ln>
                            <a:noFill/>
                          </a:ln>
                          <a:solidFill>
                            <a:schemeClr val="bg2"/>
                          </a:solidFill>
                          <a:effectLst/>
                          <a:latin typeface="EYInterstate Light" pitchFamily="2" charset="0"/>
                        </a:rPr>
                        <a:t>Completed By</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9525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2"/>
                          </a:solidFill>
                          <a:effectLst/>
                          <a:latin typeface="EYInterstate Light" pitchFamily="2" charset="0"/>
                          <a:ea typeface="+mn-ea"/>
                          <a:cs typeface="+mn-cs"/>
                        </a:rPr>
                        <a:t>Messaging - Completing the Operations Consulting 160 hour assistance might go beyond the current project completion date due to the delays in MS receiving authorization to proceed on the task.</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tx2"/>
                          </a:solidFill>
                          <a:effectLst/>
                          <a:latin typeface="EYInterstate Light" pitchFamily="2" charset="0"/>
                          <a:ea typeface="+mn-ea"/>
                          <a:cs typeface="+mn-cs"/>
                        </a:rPr>
                        <a:t>The MS PMO will create a Change Request, CR033, and WO Amendment that creates a new milestone and a separate invoice for this effort.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2"/>
                          </a:solidFill>
                          <a:effectLst/>
                          <a:latin typeface="EYInterstate Light" pitchFamily="2" charset="0"/>
                        </a:rPr>
                        <a:t>CR033 will be submitted on 5 June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chemeClr val="tx2"/>
                          </a:solidFill>
                          <a:effectLst/>
                          <a:latin typeface="EYInterstate Light" pitchFamily="2" charset="0"/>
                        </a:rPr>
                        <a:t>MS PMO</a:t>
                      </a:r>
                      <a:endParaRPr kumimoji="0" lang="en-US" sz="700" b="0" i="0" u="none" strike="noStrike" cap="none" normalizeH="0" baseline="0" dirty="0">
                        <a:ln>
                          <a:noFill/>
                        </a:ln>
                        <a:solidFill>
                          <a:schemeClr val="tx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6" name="Group 270"/>
          <p:cNvGraphicFramePr>
            <a:graphicFrameLocks noGrp="1"/>
          </p:cNvGraphicFramePr>
          <p:nvPr/>
        </p:nvGraphicFramePr>
        <p:xfrm>
          <a:off x="1195546" y="6553106"/>
          <a:ext cx="381000" cy="88326"/>
        </p:xfrm>
        <a:graphic>
          <a:graphicData uri="http://schemas.openxmlformats.org/drawingml/2006/table">
            <a:tbl>
              <a:tblPr/>
              <a:tblGrid>
                <a:gridCol w="381000"/>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7" name="Group 270"/>
          <p:cNvGraphicFramePr>
            <a:graphicFrameLocks noGrp="1"/>
          </p:cNvGraphicFramePr>
          <p:nvPr/>
        </p:nvGraphicFramePr>
        <p:xfrm>
          <a:off x="3979855" y="6582966"/>
          <a:ext cx="523914" cy="88326"/>
        </p:xfrm>
        <a:graphic>
          <a:graphicData uri="http://schemas.openxmlformats.org/drawingml/2006/table">
            <a:tbl>
              <a:tblPr/>
              <a:tblGrid>
                <a:gridCol w="523914"/>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8" name="Group 270"/>
          <p:cNvGraphicFramePr>
            <a:graphicFrameLocks noGrp="1"/>
          </p:cNvGraphicFramePr>
          <p:nvPr/>
        </p:nvGraphicFramePr>
        <p:xfrm>
          <a:off x="6515865" y="6550835"/>
          <a:ext cx="381000" cy="90597"/>
        </p:xfrm>
        <a:graphic>
          <a:graphicData uri="http://schemas.openxmlformats.org/drawingml/2006/table">
            <a:tbl>
              <a:tblPr/>
              <a:tblGrid>
                <a:gridCol w="381000"/>
              </a:tblGrid>
              <a:tr h="90597">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pSp>
        <p:nvGrpSpPr>
          <p:cNvPr id="9" name="Group 27"/>
          <p:cNvGrpSpPr/>
          <p:nvPr/>
        </p:nvGrpSpPr>
        <p:grpSpPr>
          <a:xfrm>
            <a:off x="285595" y="6400800"/>
            <a:ext cx="8734282" cy="494922"/>
            <a:chOff x="307495" y="6550829"/>
            <a:chExt cx="9404036" cy="494922"/>
          </a:xfrm>
        </p:grpSpPr>
        <p:sp>
          <p:nvSpPr>
            <p:cNvPr id="10" name="TextBox 9"/>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11" name="TextBox 10"/>
            <p:cNvSpPr txBox="1"/>
            <p:nvPr/>
          </p:nvSpPr>
          <p:spPr bwMode="gray">
            <a:xfrm>
              <a:off x="674554" y="6657945"/>
              <a:ext cx="612668"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latin typeface="EYInterstate Light" pitchFamily="2" charset="0"/>
              </a:endParaRPr>
            </a:p>
          </p:txBody>
        </p:sp>
        <p:sp>
          <p:nvSpPr>
            <p:cNvPr id="12" name="TextBox 11"/>
            <p:cNvSpPr txBox="1"/>
            <p:nvPr/>
          </p:nvSpPr>
          <p:spPr bwMode="gray">
            <a:xfrm>
              <a:off x="307495" y="6550829"/>
              <a:ext cx="4541628"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latin typeface="EYInterstate Light" pitchFamily="2" charset="0"/>
              </a:endParaRPr>
            </a:p>
          </p:txBody>
        </p:sp>
        <p:sp>
          <p:nvSpPr>
            <p:cNvPr id="13" name="TextBox 12"/>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14" name="TextBox 13"/>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15" name="Freeform 94"/>
          <p:cNvSpPr>
            <a:spLocks/>
          </p:cNvSpPr>
          <p:nvPr/>
        </p:nvSpPr>
        <p:spPr bwMode="gray">
          <a:xfrm>
            <a:off x="0" y="0"/>
            <a:ext cx="6706365"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700" dirty="0">
              <a:solidFill>
                <a:srgbClr val="000000"/>
              </a:solidFill>
              <a:latin typeface="EYInterstate Light" pitchFamily="2" charset="0"/>
            </a:endParaRPr>
          </a:p>
        </p:txBody>
      </p:sp>
      <p:sp>
        <p:nvSpPr>
          <p:cNvPr id="16" name="Rectangle 183"/>
          <p:cNvSpPr txBox="1">
            <a:spLocks noChangeArrowheads="1"/>
          </p:cNvSpPr>
          <p:nvPr/>
        </p:nvSpPr>
        <p:spPr bwMode="gray">
          <a:xfrm>
            <a:off x="1" y="-34669"/>
            <a:ext cx="7086599" cy="553998"/>
          </a:xfrm>
          <a:prstGeom prst="rect">
            <a:avLst/>
          </a:prstGeom>
        </p:spPr>
        <p:txBody>
          <a:bodyPr wrap="square">
            <a:spAutoFit/>
          </a:bodyPr>
          <a:lstStyle/>
          <a:p>
            <a:pPr algn="l" defTabSz="955675" eaLnBrk="0" hangingPunct="0">
              <a:spcAft>
                <a:spcPts val="0"/>
              </a:spcAft>
              <a:defRPr/>
            </a:pPr>
            <a:r>
              <a:rPr lang="en-US" sz="1600" b="1" kern="0" dirty="0">
                <a:solidFill>
                  <a:srgbClr val="646464"/>
                </a:solidFill>
                <a:latin typeface="EYInterstate"/>
              </a:rPr>
              <a:t>EY Messaging &amp; Collaboration Program </a:t>
            </a:r>
            <a:r>
              <a:rPr lang="en-US" sz="1600" b="1" kern="0" dirty="0" smtClean="0">
                <a:solidFill>
                  <a:srgbClr val="646464"/>
                </a:solidFill>
                <a:latin typeface="EYInterstate"/>
              </a:rPr>
              <a:t>–June 6</a:t>
            </a:r>
            <a:r>
              <a:rPr lang="en-US" sz="1600" b="1" kern="0" baseline="30000" dirty="0" smtClean="0">
                <a:solidFill>
                  <a:srgbClr val="646464"/>
                </a:solidFill>
                <a:latin typeface="EYInterstate"/>
              </a:rPr>
              <a:t>th</a:t>
            </a:r>
            <a:r>
              <a:rPr lang="en-US" sz="1600" b="1" kern="0" dirty="0" smtClean="0">
                <a:solidFill>
                  <a:srgbClr val="646464"/>
                </a:solidFill>
                <a:latin typeface="EYInterstate"/>
              </a:rPr>
              <a:t>, </a:t>
            </a:r>
            <a:r>
              <a:rPr lang="en-US" sz="1600" b="1" kern="0" dirty="0">
                <a:solidFill>
                  <a:srgbClr val="646464"/>
                </a:solidFill>
                <a:latin typeface="EYInterstate"/>
              </a:rPr>
              <a:t>2012 PMO</a:t>
            </a:r>
          </a:p>
          <a:p>
            <a:pPr algn="l" defTabSz="955675" eaLnBrk="0" hangingPunct="0">
              <a:spcAft>
                <a:spcPts val="0"/>
              </a:spcAft>
              <a:defRPr/>
            </a:pPr>
            <a:r>
              <a:rPr lang="en-US" sz="1400" kern="0" dirty="0" smtClean="0">
                <a:solidFill>
                  <a:srgbClr val="646464"/>
                </a:solidFill>
                <a:latin typeface="EYInterstate"/>
              </a:rPr>
              <a:t>Jason </a:t>
            </a:r>
            <a:r>
              <a:rPr lang="en-US" sz="1400" kern="0" dirty="0">
                <a:solidFill>
                  <a:srgbClr val="646464"/>
                </a:solidFill>
                <a:latin typeface="EYInterstate"/>
              </a:rPr>
              <a:t>Ritchie, Howard </a:t>
            </a:r>
            <a:r>
              <a:rPr lang="en-US" sz="1400" kern="0" dirty="0" smtClean="0">
                <a:solidFill>
                  <a:srgbClr val="646464"/>
                </a:solidFill>
                <a:latin typeface="EYInterstate"/>
              </a:rPr>
              <a:t>Jones, Dave </a:t>
            </a:r>
            <a:r>
              <a:rPr lang="en-US" sz="1400" kern="0" dirty="0">
                <a:solidFill>
                  <a:srgbClr val="646464"/>
                </a:solidFill>
                <a:latin typeface="EYInterstate"/>
              </a:rPr>
              <a:t>Fraser</a:t>
            </a:r>
          </a:p>
        </p:txBody>
      </p:sp>
      <p:graphicFrame>
        <p:nvGraphicFramePr>
          <p:cNvPr id="17" name="Table 16"/>
          <p:cNvGraphicFramePr>
            <a:graphicFrameLocks noGrp="1"/>
          </p:cNvGraphicFramePr>
          <p:nvPr>
            <p:extLst>
              <p:ext uri="{D42A27DB-BD31-4B8C-83A1-F6EECF244321}">
                <p14:modId xmlns="" xmlns:p14="http://schemas.microsoft.com/office/powerpoint/2010/main" val="299511095"/>
              </p:ext>
            </p:extLst>
          </p:nvPr>
        </p:nvGraphicFramePr>
        <p:xfrm>
          <a:off x="4698795" y="5013176"/>
          <a:ext cx="4391469" cy="1013484"/>
        </p:xfrm>
        <a:graphic>
          <a:graphicData uri="http://schemas.openxmlformats.org/drawingml/2006/table">
            <a:tbl>
              <a:tblPr/>
              <a:tblGrid>
                <a:gridCol w="4391469"/>
              </a:tblGrid>
              <a:tr h="126196">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H.  GENERAL COMMENTS – must include reasoning for an overall Red or Amber Status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87943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SharePoint - Project is now AMBER due O365 Environments design is taking a long time process through InfoSec because of key security concerns, and the re-planning efforts for incorporation of Wave 15 is taking longer than expected.</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Identity is still red awaiting approval of CR 25</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2"/>
          <p:cNvGraphicFramePr>
            <a:graphicFrameLocks noGrp="1"/>
          </p:cNvGraphicFramePr>
          <p:nvPr>
            <p:extLst>
              <p:ext uri="{D42A27DB-BD31-4B8C-83A1-F6EECF244321}">
                <p14:modId xmlns="" xmlns:p14="http://schemas.microsoft.com/office/powerpoint/2010/main" val="4165557770"/>
              </p:ext>
            </p:extLst>
          </p:nvPr>
        </p:nvGraphicFramePr>
        <p:xfrm>
          <a:off x="35496" y="620688"/>
          <a:ext cx="4680520" cy="2334031"/>
        </p:xfrm>
        <a:graphic>
          <a:graphicData uri="http://schemas.openxmlformats.org/drawingml/2006/table">
            <a:tbl>
              <a:tblPr/>
              <a:tblGrid>
                <a:gridCol w="4680520"/>
              </a:tblGrid>
              <a:tr h="125195">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j-lt"/>
                        </a:rPr>
                        <a:t>A.  </a:t>
                      </a:r>
                      <a:r>
                        <a:rPr kumimoji="0" lang="en-GB" sz="700" b="1" i="0" u="none" strike="noStrike" cap="none" normalizeH="0" baseline="0" dirty="0" smtClean="0">
                          <a:ln>
                            <a:noFill/>
                          </a:ln>
                          <a:solidFill>
                            <a:schemeClr val="tx1"/>
                          </a:solidFill>
                          <a:effectLst/>
                          <a:latin typeface="+mj-lt"/>
                        </a:rPr>
                        <a:t>EXECUTIVE SUMMARY – a summary of the progress for this period (not of the initiative)</a:t>
                      </a:r>
                      <a:endParaRPr kumimoji="0" lang="en-US" sz="700" b="1" i="0" u="none" strike="noStrike" cap="none" normalizeH="0" baseline="0" dirty="0">
                        <a:ln>
                          <a:noFill/>
                        </a:ln>
                        <a:solidFill>
                          <a:schemeClr val="tx1"/>
                        </a:solidFill>
                        <a:effectLst/>
                        <a:latin typeface="+mj-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09009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SharePoint - Working on O365 Architecture and Design Updates.  Continued build out of SharePoint Environments. Wave 15 replanning activities.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SharePoint Enablement – Re-planning efforts underway to incorporate Wave 15</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Messaging - Technical work focused on reviewing the final draft of the Coexistence &amp; Migration Strategy document. This version was submitted to EY project managers on 1 June.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O365 - Project activities are experiencing slight delays.  However, delays are taking place with activities outside of critical path and do not affect the overall project end date. VPN connectivity issues were resolved allowing the validation of the Forrest trust setup and the beginning of the domain controller build out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err="1" smtClean="0">
                          <a:ln>
                            <a:noFill/>
                          </a:ln>
                          <a:solidFill>
                            <a:schemeClr val="tx1"/>
                          </a:solidFill>
                          <a:effectLst/>
                          <a:latin typeface="EYInterstate Light" pitchFamily="2" charset="0"/>
                          <a:ea typeface="+mn-ea"/>
                          <a:cs typeface="+mn-cs"/>
                        </a:rPr>
                        <a:t>Lync</a:t>
                      </a:r>
                      <a:r>
                        <a:rPr kumimoji="0" lang="en-GB" sz="700" b="0" i="0" u="none" strike="noStrike" kern="1200" cap="none" normalizeH="0" baseline="0" dirty="0" smtClean="0">
                          <a:ln>
                            <a:noFill/>
                          </a:ln>
                          <a:solidFill>
                            <a:schemeClr val="tx1"/>
                          </a:solidFill>
                          <a:effectLst/>
                          <a:latin typeface="EYInterstate Light" pitchFamily="2" charset="0"/>
                          <a:ea typeface="+mn-ea"/>
                          <a:cs typeface="+mn-cs"/>
                        </a:rPr>
                        <a:t> - </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Continued work across all aspects of Lync work streams; Participated in early planning sessions with E&amp;Y and AT&amp;T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5195">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B.  KEY ACCOMPLISHMENTS THIS PERIOD</a:t>
                      </a:r>
                      <a:endParaRPr kumimoji="0" lang="en-CA"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92910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SharePoint – Continued O365 updates for SharePoint Online operations, Governance plan, and FAST Search.</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Messaging - The MS project manager submitted CR033 to the EY project managers. EY requested a CR for extending services of the MS Exchange lead to 29 June. CR033 also addresses an EY request for a credit for the Business Authority workshop and a delay of the Operations Consulting assistance.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O365 – CECI document configurations completed.  VPN issues resolved.  DNS &amp; Trust validated and complete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err="1" smtClean="0">
                          <a:ln>
                            <a:noFill/>
                          </a:ln>
                          <a:solidFill>
                            <a:schemeClr val="tx1"/>
                          </a:solidFill>
                          <a:effectLst/>
                          <a:latin typeface="EYInterstate Light" pitchFamily="2" charset="0"/>
                          <a:ea typeface="+mn-ea"/>
                          <a:cs typeface="+mn-cs"/>
                        </a:rPr>
                        <a:t>Lync</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 - Review of Telephony / Client settings for deployment (options for configuration “flavors”).  Review of BE and Scope for </a:t>
                      </a:r>
                      <a:r>
                        <a:rPr kumimoji="0" lang="en-US" sz="700" b="0" i="0" u="none" strike="noStrike" kern="1200" cap="none" normalizeH="0" baseline="0" dirty="0" err="1" smtClean="0">
                          <a:ln>
                            <a:noFill/>
                          </a:ln>
                          <a:solidFill>
                            <a:schemeClr val="tx1"/>
                          </a:solidFill>
                          <a:effectLst/>
                          <a:latin typeface="EYInterstate Light" pitchFamily="2" charset="0"/>
                          <a:ea typeface="+mn-ea"/>
                          <a:cs typeface="+mn-cs"/>
                        </a:rPr>
                        <a:t>PoC</a:t>
                      </a:r>
                      <a:r>
                        <a:rPr kumimoji="0" lang="en-US" sz="700" b="0" i="0" u="none" strike="noStrike" kern="1200" cap="none" normalizeH="0" baseline="0" dirty="0" smtClean="0">
                          <a:ln>
                            <a:noFill/>
                          </a:ln>
                          <a:solidFill>
                            <a:schemeClr val="tx1"/>
                          </a:solidFill>
                          <a:effectLst/>
                          <a:latin typeface="EYInterstate Light" pitchFamily="2" charset="0"/>
                          <a:ea typeface="+mn-ea"/>
                          <a:cs typeface="+mn-cs"/>
                        </a:rPr>
                        <a:t> with AT&amp;T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9" name="Table 18"/>
          <p:cNvGraphicFramePr>
            <a:graphicFrameLocks noGrp="1"/>
          </p:cNvGraphicFramePr>
          <p:nvPr>
            <p:extLst>
              <p:ext uri="{D42A27DB-BD31-4B8C-83A1-F6EECF244321}">
                <p14:modId xmlns="" xmlns:p14="http://schemas.microsoft.com/office/powerpoint/2010/main" val="1301313234"/>
              </p:ext>
            </p:extLst>
          </p:nvPr>
        </p:nvGraphicFramePr>
        <p:xfrm>
          <a:off x="4716016" y="620688"/>
          <a:ext cx="4392488" cy="1819776"/>
        </p:xfrm>
        <a:graphic>
          <a:graphicData uri="http://schemas.openxmlformats.org/drawingml/2006/table">
            <a:tbl>
              <a:tblPr/>
              <a:tblGrid>
                <a:gridCol w="899674"/>
                <a:gridCol w="733346"/>
                <a:gridCol w="798618"/>
                <a:gridCol w="653414"/>
                <a:gridCol w="611549"/>
                <a:gridCol w="695887"/>
              </a:tblGrid>
              <a:tr h="132651">
                <a:tc gridSpan="6">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EYInterstate" pitchFamily="2" charset="0"/>
                          <a:ea typeface="+mn-ea"/>
                          <a:cs typeface="+mn-cs"/>
                        </a:rPr>
                        <a:t>E.  </a:t>
                      </a:r>
                      <a:r>
                        <a:rPr kumimoji="0" lang="en-US" sz="700" b="1" i="0" u="none" strike="noStrike" kern="1200" cap="none" normalizeH="0" baseline="0" dirty="0" smtClean="0">
                          <a:ln>
                            <a:noFill/>
                          </a:ln>
                          <a:solidFill>
                            <a:schemeClr val="tx1"/>
                          </a:solidFill>
                          <a:effectLst/>
                          <a:latin typeface="EYInterstate" pitchFamily="2" charset="0"/>
                          <a:ea typeface="+mn-ea"/>
                          <a:cs typeface="+mn-cs"/>
                        </a:rPr>
                        <a:t>MILESTONES </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R w="6350" cap="flat" cmpd="sng" algn="ctr">
                      <a:solidFill>
                        <a:schemeClr val="accent2"/>
                      </a:solidFill>
                      <a:prstDash val="solid"/>
                      <a:round/>
                      <a:headEnd type="none" w="med" len="med"/>
                      <a:tailEnd type="none" w="med" len="med"/>
                    </a:lnR>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238221">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Individual Milestone Name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Planned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Projected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EYInterstate Light" pitchFamily="2" charset="0"/>
                        </a:rPr>
                        <a:t>Confidence</a:t>
                      </a: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38221">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chemeClr val="tx1"/>
                          </a:solidFill>
                          <a:effectLst/>
                          <a:latin typeface="EYInterstate Light" pitchFamily="2" charset="0"/>
                        </a:rPr>
                        <a:t>SharePoint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13 Apr 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19 Apr 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Target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38221">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chemeClr val="tx1"/>
                          </a:solidFill>
                          <a:effectLst/>
                          <a:latin typeface="EYInterstate Light" pitchFamily="2" charset="0"/>
                        </a:rPr>
                        <a:t>Messaging</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01 Jul 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01 Jul 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Committed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r>
              <a:tr h="238221">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chemeClr val="tx1"/>
                          </a:solidFill>
                          <a:effectLst/>
                          <a:latin typeface="EYInterstate Light" pitchFamily="2" charset="0"/>
                        </a:rPr>
                        <a:t>O365</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14 Jun 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14 Jun 2014</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Target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EYInterstate Light" pitchFamily="2" charset="0"/>
                        </a:rPr>
                        <a:t>Green</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r>
              <a:tr h="23822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Lync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18 Mar 2012</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30 Apr 2012</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Committed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r>
              <a:tr h="23822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App Data Migration</a:t>
                      </a:r>
                    </a:p>
                  </a:txBody>
                  <a:tcPr marL="37059" marR="37059"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On Hold</a:t>
                      </a:r>
                    </a:p>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smtClean="0">
                        <a:ln>
                          <a:noFill/>
                        </a:ln>
                        <a:solidFill>
                          <a:srgbClr val="646464"/>
                        </a:solidFill>
                        <a:effectLst/>
                        <a:latin typeface="EYInterstate Light" pitchFamily="2" charset="0"/>
                      </a:endParaRPr>
                    </a:p>
                  </a:txBody>
                  <a:tcPr marL="37059" marR="37059"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EYInterstate Light" pitchFamily="2" charset="0"/>
                        </a:rPr>
                        <a:t>On Hold</a:t>
                      </a:r>
                    </a:p>
                  </a:txBody>
                  <a:tcPr marL="37059" marR="37059"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Committed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00B050"/>
                    </a:solidFill>
                  </a:tcPr>
                </a:tc>
              </a:tr>
              <a:tr h="23822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Identity Management</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09 May 2012</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06 Apr 2012</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EYInterstate Light" pitchFamily="2" charset="0"/>
                        </a:rPr>
                        <a:t>Target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RED</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RED</a:t>
                      </a:r>
                      <a:endParaRPr kumimoji="0" lang="en-US" sz="700" b="0" i="0" u="none" strike="noStrike" kern="1200" cap="none" normalizeH="0" baseline="0" dirty="0">
                        <a:ln>
                          <a:noFill/>
                        </a:ln>
                        <a:solidFill>
                          <a:srgbClr val="646464"/>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67000" y="3457575"/>
            <a:ext cx="5934075" cy="908050"/>
          </a:xfrm>
        </p:spPr>
        <p:txBody>
          <a:bodyPr/>
          <a:lstStyle/>
          <a:p>
            <a:r>
              <a:rPr lang="en-GB" dirty="0" smtClean="0"/>
              <a:t>Appendix C.  PMO RAG Criteria.</a:t>
            </a:r>
            <a:endParaRPr lang="en-GB"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reeform 94"/>
          <p:cNvSpPr>
            <a:spLocks/>
          </p:cNvSpPr>
          <p:nvPr/>
        </p:nvSpPr>
        <p:spPr bwMode="gray">
          <a:xfrm>
            <a:off x="-2459" y="-3263"/>
            <a:ext cx="6022259" cy="341817"/>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338554"/>
          </a:xfrm>
          <a:prstGeom prst="rect">
            <a:avLst/>
          </a:prstGeom>
        </p:spPr>
        <p:txBody>
          <a:bodyPr>
            <a:spAutoFit/>
          </a:bodyPr>
          <a:lstStyle/>
          <a:p>
            <a:pPr algn="l" defTabSz="955675" eaLnBrk="0" hangingPunct="0">
              <a:spcAft>
                <a:spcPts val="0"/>
              </a:spcAft>
              <a:defRPr/>
            </a:pPr>
            <a:r>
              <a:rPr lang="en-US" sz="1600" b="1" kern="0" dirty="0" smtClean="0">
                <a:solidFill>
                  <a:srgbClr val="646464"/>
                </a:solidFill>
                <a:latin typeface="EYInterstate"/>
              </a:rPr>
              <a:t>2. Program RAG Definitions</a:t>
            </a:r>
            <a:endParaRPr lang="en-US" sz="1600" b="1" kern="0" dirty="0">
              <a:solidFill>
                <a:srgbClr val="646464"/>
              </a:solidFill>
              <a:latin typeface="EYInterstate"/>
            </a:endParaRPr>
          </a:p>
        </p:txBody>
      </p:sp>
      <p:graphicFrame>
        <p:nvGraphicFramePr>
          <p:cNvPr id="9" name="Table 8"/>
          <p:cNvGraphicFramePr>
            <a:graphicFrameLocks noGrp="1"/>
          </p:cNvGraphicFramePr>
          <p:nvPr/>
        </p:nvGraphicFramePr>
        <p:xfrm>
          <a:off x="251519" y="548678"/>
          <a:ext cx="8640961" cy="5826476"/>
        </p:xfrm>
        <a:graphic>
          <a:graphicData uri="http://schemas.openxmlformats.org/drawingml/2006/table">
            <a:tbl>
              <a:tblPr/>
              <a:tblGrid>
                <a:gridCol w="1424881"/>
                <a:gridCol w="2607568"/>
                <a:gridCol w="2448272"/>
                <a:gridCol w="2160240"/>
              </a:tblGrid>
              <a:tr h="436738">
                <a:tc gridSpan="4">
                  <a:txBody>
                    <a:bodyPr/>
                    <a:lstStyle/>
                    <a:p>
                      <a:pPr algn="l" rtl="0" fontAlgn="ctr"/>
                      <a:endParaRPr lang="en-GB" sz="700" b="1" i="0" u="none" strike="noStrike" dirty="0">
                        <a:solidFill>
                          <a:srgbClr val="646464"/>
                        </a:solidFill>
                        <a:latin typeface="EYInterstate"/>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hMerge="1">
                  <a:txBody>
                    <a:bodyPr/>
                    <a:lstStyle/>
                    <a:p>
                      <a:endParaRPr lang="en-GB"/>
                    </a:p>
                  </a:txBody>
                  <a:tcPr/>
                </a:tc>
                <a:tc hMerge="1">
                  <a:txBody>
                    <a:bodyPr/>
                    <a:lstStyle/>
                    <a:p>
                      <a:endParaRPr lang="en-GB"/>
                    </a:p>
                  </a:txBody>
                  <a:tcPr/>
                </a:tc>
                <a:tc hMerge="1">
                  <a:txBody>
                    <a:bodyPr/>
                    <a:lstStyle/>
                    <a:p>
                      <a:endParaRPr lang="en-GB"/>
                    </a:p>
                  </a:txBody>
                  <a:tcPr/>
                </a:tc>
              </a:tr>
              <a:tr h="571376">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1400" b="1" i="0" u="none" strike="noStrike" kern="1200" cap="none" normalizeH="0" baseline="0" dirty="0" smtClean="0">
                          <a:ln>
                            <a:noFill/>
                          </a:ln>
                          <a:solidFill>
                            <a:srgbClr val="000000"/>
                          </a:solidFill>
                          <a:effectLst/>
                          <a:latin typeface="EYInterstate Light" pitchFamily="2" charset="0"/>
                          <a:ea typeface="+mn-ea"/>
                          <a:cs typeface="+mn-cs"/>
                        </a:rPr>
                        <a:t>Category/RAG.</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1400" b="1" i="0" u="none" strike="noStrike" kern="1200" dirty="0" smtClean="0">
                          <a:solidFill>
                            <a:srgbClr val="000000"/>
                          </a:solidFill>
                          <a:latin typeface="EYInterstate Light" pitchFamily="2" charset="0"/>
                          <a:ea typeface="+mn-ea"/>
                          <a:cs typeface="+mn-cs"/>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a:r>
                        <a:rPr lang="en-US" sz="1200" b="1" dirty="0" smtClean="0">
                          <a:solidFill>
                            <a:srgbClr val="000000"/>
                          </a:solidFill>
                          <a:latin typeface="EYInterstate Light" pitchFamily="2" charset="0"/>
                        </a:rPr>
                        <a:t>AMBER</a:t>
                      </a:r>
                      <a:endParaRPr lang="en-US" sz="1200" b="1" dirty="0">
                        <a:solidFill>
                          <a:srgbClr val="000000"/>
                        </a:solidFill>
                        <a:latin typeface="EYInterstate Light" pitchFamily="2" charset="0"/>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algn="ctr" defTabSz="914400" rtl="0" eaLnBrk="1" fontAlgn="ctr" latinLnBrk="0" hangingPunct="1"/>
                      <a:r>
                        <a:rPr lang="en-GB" sz="1400" b="1" i="0" u="none" strike="noStrike" kern="1200" dirty="0" smtClean="0">
                          <a:solidFill>
                            <a:srgbClr val="000000"/>
                          </a:solidFill>
                          <a:latin typeface="EYInterstate Light" pitchFamily="2" charset="0"/>
                          <a:ea typeface="+mn-ea"/>
                          <a:cs typeface="+mn-cs"/>
                        </a:rPr>
                        <a:t>GREEN</a:t>
                      </a:r>
                      <a:endParaRPr lang="en-GB" sz="1400" b="1" i="0" u="none" strike="noStrike" kern="1200" dirty="0">
                        <a:solidFill>
                          <a:srgbClr val="000000"/>
                        </a:solidFill>
                        <a:latin typeface="EYInterstate Light" pitchFamily="2" charset="0"/>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92D050"/>
                    </a:solidFill>
                  </a:tcPr>
                </a:tc>
              </a:tr>
              <a:tr h="68639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1400" b="1" i="0" u="none" strike="noStrike" kern="1200" cap="none" normalizeH="0" baseline="0" dirty="0" smtClean="0">
                          <a:ln>
                            <a:noFill/>
                          </a:ln>
                          <a:solidFill>
                            <a:srgbClr val="000000"/>
                          </a:solidFill>
                          <a:effectLst/>
                          <a:latin typeface="EYInterstate Light" pitchFamily="2" charset="0"/>
                          <a:ea typeface="+mn-ea"/>
                          <a:cs typeface="+mn-cs"/>
                        </a:rPr>
                        <a:t>Overall</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GB" sz="900" b="0" i="0" u="none" strike="noStrike" dirty="0" smtClean="0">
                          <a:solidFill>
                            <a:schemeClr val="tx1"/>
                          </a:solidFill>
                          <a:latin typeface="EYInterstate Light" pitchFamily="2" charset="0"/>
                        </a:rPr>
                        <a:t>The highest RAG status will be taken as a default unless a holistic view of the </a:t>
                      </a:r>
                      <a:r>
                        <a:rPr lang="en-GB" sz="900" b="0" i="0" u="none" strike="noStrike" dirty="0" err="1" smtClean="0">
                          <a:solidFill>
                            <a:schemeClr val="tx1"/>
                          </a:solidFill>
                          <a:latin typeface="EYInterstate Light" pitchFamily="2" charset="0"/>
                        </a:rPr>
                        <a:t>workstream</a:t>
                      </a:r>
                      <a:r>
                        <a:rPr lang="en-GB" sz="900" b="0" i="0" u="none" strike="noStrike" dirty="0" smtClean="0">
                          <a:solidFill>
                            <a:schemeClr val="tx1"/>
                          </a:solidFill>
                          <a:latin typeface="EYInterstate Light" pitchFamily="2" charset="0"/>
                        </a:rPr>
                        <a:t> suggests otherwise. i.e. The Overall RAG status will be RED if at least one of the individual statuses is RED.</a:t>
                      </a:r>
                    </a:p>
                  </a:txBody>
                  <a:tcPr marL="9525" marR="9525" marT="9525" marB="0">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l"/>
                      <a:r>
                        <a:rPr lang="en-GB" sz="1000" dirty="0" smtClean="0">
                          <a:solidFill>
                            <a:schemeClr val="tx1"/>
                          </a:solidFill>
                          <a:latin typeface="EYInterstate Light" pitchFamily="2" charset="0"/>
                        </a:rPr>
                        <a:t>The highest RAG status will be taken as a default unless a holistic view of the </a:t>
                      </a:r>
                      <a:r>
                        <a:rPr lang="en-GB" sz="1000" dirty="0" err="1" smtClean="0">
                          <a:solidFill>
                            <a:schemeClr val="tx1"/>
                          </a:solidFill>
                          <a:latin typeface="EYInterstate Light" pitchFamily="2" charset="0"/>
                        </a:rPr>
                        <a:t>workstream</a:t>
                      </a:r>
                      <a:r>
                        <a:rPr lang="en-GB" sz="1000" dirty="0" smtClean="0">
                          <a:solidFill>
                            <a:schemeClr val="tx1"/>
                          </a:solidFill>
                          <a:latin typeface="EYInterstate Light" pitchFamily="2" charset="0"/>
                        </a:rPr>
                        <a:t> suggests otherwise. i.e. The Overall RAG status will be AMBER if at least one or the highest individual statuses is AMBER.</a:t>
                      </a:r>
                      <a:endParaRPr lang="en-US" sz="1000" dirty="0">
                        <a:solidFill>
                          <a:schemeClr val="tx1"/>
                        </a:solidFill>
                        <a:latin typeface="EYInterstate Light" pitchFamily="2" charset="0"/>
                      </a:endParaRPr>
                    </a:p>
                  </a:txBody>
                  <a:tcPr marL="9525" marR="9525" marT="9525" marB="0">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l" rtl="0" fontAlgn="ctr"/>
                      <a:r>
                        <a:rPr lang="en-GB" sz="900" b="0" i="0" u="none" strike="noStrike" dirty="0" smtClean="0">
                          <a:solidFill>
                            <a:schemeClr val="tx1"/>
                          </a:solidFill>
                          <a:latin typeface="EYInterstate Light" pitchFamily="2" charset="0"/>
                        </a:rPr>
                        <a:t>The highest RAG status will be taken as a default unless a holistic view of the </a:t>
                      </a:r>
                      <a:r>
                        <a:rPr lang="en-GB" sz="900" b="0" i="0" u="none" strike="noStrike" dirty="0" err="1" smtClean="0">
                          <a:solidFill>
                            <a:schemeClr val="tx1"/>
                          </a:solidFill>
                          <a:latin typeface="EYInterstate Light" pitchFamily="2" charset="0"/>
                        </a:rPr>
                        <a:t>workstream</a:t>
                      </a:r>
                      <a:r>
                        <a:rPr lang="en-GB" sz="900" b="0" i="0" u="none" strike="noStrike" dirty="0" smtClean="0">
                          <a:solidFill>
                            <a:schemeClr val="tx1"/>
                          </a:solidFill>
                          <a:latin typeface="EYInterstate Light" pitchFamily="2" charset="0"/>
                        </a:rPr>
                        <a:t> suggests otherwise. i.e. The Overall RAG status will be GREEN if</a:t>
                      </a:r>
                      <a:r>
                        <a:rPr lang="en-GB" sz="900" b="0" i="0" u="none" strike="noStrike" baseline="0" dirty="0" smtClean="0">
                          <a:solidFill>
                            <a:schemeClr val="tx1"/>
                          </a:solidFill>
                          <a:latin typeface="EYInterstate Light" pitchFamily="2" charset="0"/>
                        </a:rPr>
                        <a:t> all are GREEN</a:t>
                      </a:r>
                      <a:r>
                        <a:rPr lang="en-GB" sz="900" b="0" i="0" u="none" strike="noStrike" dirty="0" smtClean="0">
                          <a:solidFill>
                            <a:schemeClr val="tx1"/>
                          </a:solidFill>
                          <a:latin typeface="EYInterstate Light" pitchFamily="2" charset="0"/>
                        </a:rPr>
                        <a:t>.</a:t>
                      </a:r>
                      <a:endParaRPr lang="en-GB" sz="900" b="0" i="0" u="none" strike="noStrike" dirty="0">
                        <a:solidFill>
                          <a:schemeClr val="tx1"/>
                        </a:solidFill>
                        <a:latin typeface="EYInterstate Light" pitchFamily="2" charset="0"/>
                      </a:endParaRPr>
                    </a:p>
                  </a:txBody>
                  <a:tcPr marL="9525" marR="9525" marT="9525" marB="0">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880146">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1400" b="1" i="0" u="none" strike="noStrike" kern="1200" cap="none" normalizeH="0" baseline="0" dirty="0" smtClean="0">
                          <a:ln>
                            <a:noFill/>
                          </a:ln>
                          <a:solidFill>
                            <a:srgbClr val="000000"/>
                          </a:solidFill>
                          <a:effectLst/>
                          <a:latin typeface="EYInterstate Light" pitchFamily="2" charset="0"/>
                          <a:ea typeface="+mn-ea"/>
                          <a:cs typeface="+mn-cs"/>
                        </a:rPr>
                        <a:t>Scope</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GB" sz="900" b="0" i="0" u="none" strike="noStrike" dirty="0" smtClean="0">
                          <a:solidFill>
                            <a:schemeClr val="tx1"/>
                          </a:solidFill>
                          <a:latin typeface="EYInterstate Light" pitchFamily="2" charset="0"/>
                        </a:rPr>
                        <a:t>RED: (Functional or Non Functional) Scope is significantly changing or agreement will be beyond the cut-off date required thereby compromising the development schedule.  No Scope agreed.</a:t>
                      </a:r>
                    </a:p>
                  </a:txBody>
                  <a:tcPr marL="9525" marR="9525" marT="9525" marB="0">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l"/>
                      <a:r>
                        <a:rPr lang="en-GB" sz="900" dirty="0" smtClean="0">
                          <a:solidFill>
                            <a:schemeClr val="tx1"/>
                          </a:solidFill>
                          <a:latin typeface="EYInterstate Light" pitchFamily="2" charset="0"/>
                        </a:rPr>
                        <a:t>AMBER: Scope is under review or there are significant changes proposed which will have a significant impact of the development schedule.</a:t>
                      </a:r>
                      <a:endParaRPr lang="en-US" sz="900" dirty="0">
                        <a:solidFill>
                          <a:schemeClr val="tx1"/>
                        </a:solidFill>
                        <a:latin typeface="EYInterstate Light" pitchFamily="2" charset="0"/>
                      </a:endParaRPr>
                    </a:p>
                  </a:txBody>
                  <a:tcPr marL="9525" marR="9525" marT="9525" marB="0">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l" rtl="0" fontAlgn="ctr"/>
                      <a:r>
                        <a:rPr lang="en-GB" sz="900" b="0" i="0" u="none" strike="noStrike" dirty="0" smtClean="0">
                          <a:solidFill>
                            <a:schemeClr val="tx1"/>
                          </a:solidFill>
                          <a:latin typeface="EYInterstate Light" pitchFamily="2" charset="0"/>
                        </a:rPr>
                        <a:t>GREEN: - Scope has been agreed along with the budget and timeline.</a:t>
                      </a:r>
                      <a:endParaRPr lang="en-GB" sz="900" b="0" i="0" u="none" strike="noStrike" dirty="0">
                        <a:solidFill>
                          <a:schemeClr val="tx1"/>
                        </a:solidFill>
                        <a:latin typeface="EYInterstate Light" pitchFamily="2" charset="0"/>
                      </a:endParaRPr>
                    </a:p>
                  </a:txBody>
                  <a:tcPr marL="9525" marR="9525" marT="9525" marB="0">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892181">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1400" b="1" i="0" u="none" strike="noStrike" kern="1200" cap="none" normalizeH="0" baseline="0" dirty="0" smtClean="0">
                          <a:ln>
                            <a:noFill/>
                          </a:ln>
                          <a:solidFill>
                            <a:srgbClr val="000000"/>
                          </a:solidFill>
                          <a:effectLst/>
                          <a:latin typeface="EYInterstate Light" pitchFamily="2" charset="0"/>
                          <a:ea typeface="+mn-ea"/>
                          <a:cs typeface="+mn-cs"/>
                        </a:rPr>
                        <a:t>Schedule</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GB" sz="900" b="0" i="0" u="none" strike="noStrike" dirty="0" smtClean="0">
                          <a:solidFill>
                            <a:schemeClr val="tx1"/>
                          </a:solidFill>
                          <a:latin typeface="EYInterstate Light" pitchFamily="2" charset="0"/>
                        </a:rPr>
                        <a:t>RED: there are no plans in place or the various plan levels do not align OR the critical path is compromised due to failure to deliver to targets or dependencies.</a:t>
                      </a:r>
                    </a:p>
                  </a:txBody>
                  <a:tcPr marL="9525" marR="9525" marT="9525" marB="0">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l"/>
                      <a:r>
                        <a:rPr lang="en-GB" sz="900" dirty="0" smtClean="0">
                          <a:solidFill>
                            <a:schemeClr val="tx1"/>
                          </a:solidFill>
                          <a:latin typeface="EYInterstate Light" pitchFamily="2" charset="0"/>
                        </a:rPr>
                        <a:t>AMBER: Remediation of the plan level alignment is in hand OR there are significant impacts, threats (or opportunities) that may invalidate the plan baseline.  Also, if current progress has caused deviation from the plan of more than +/- 20%.</a:t>
                      </a:r>
                      <a:endParaRPr lang="en-US" sz="900" dirty="0">
                        <a:solidFill>
                          <a:schemeClr val="tx1"/>
                        </a:solidFill>
                        <a:latin typeface="EYInterstate Light" pitchFamily="2" charset="0"/>
                      </a:endParaRPr>
                    </a:p>
                  </a:txBody>
                  <a:tcPr marL="9525" marR="9525" marT="9525" marB="0">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l" rtl="0" fontAlgn="ctr"/>
                      <a:r>
                        <a:rPr lang="en-GB" sz="900" b="0" i="0" u="none" strike="noStrike" dirty="0" smtClean="0">
                          <a:solidFill>
                            <a:schemeClr val="tx1"/>
                          </a:solidFill>
                          <a:latin typeface="EYInterstate Light" pitchFamily="2" charset="0"/>
                        </a:rPr>
                        <a:t>GREEN: Plans are </a:t>
                      </a:r>
                      <a:r>
                        <a:rPr lang="en-GB" sz="900" b="0" i="0" u="none" strike="noStrike" dirty="0" err="1" smtClean="0">
                          <a:solidFill>
                            <a:schemeClr val="tx1"/>
                          </a:solidFill>
                          <a:latin typeface="EYInterstate Light" pitchFamily="2" charset="0"/>
                        </a:rPr>
                        <a:t>baselined</a:t>
                      </a:r>
                      <a:r>
                        <a:rPr lang="en-GB" sz="900" b="0" i="0" u="none" strike="noStrike" dirty="0" smtClean="0">
                          <a:solidFill>
                            <a:schemeClr val="tx1"/>
                          </a:solidFill>
                          <a:latin typeface="EYInterstate Light" pitchFamily="2" charset="0"/>
                        </a:rPr>
                        <a:t> against which progress is tracking within a tolerance.</a:t>
                      </a:r>
                      <a:endParaRPr lang="en-GB" sz="900" b="0" i="0" u="none" strike="noStrike" dirty="0">
                        <a:solidFill>
                          <a:schemeClr val="tx1"/>
                        </a:solidFill>
                        <a:latin typeface="EYInterstate Light" pitchFamily="2" charset="0"/>
                      </a:endParaRPr>
                    </a:p>
                  </a:txBody>
                  <a:tcPr marL="9525" marR="9525" marT="9525" marB="0">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70737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1400" b="1" i="0" u="none" strike="noStrike" kern="1200" cap="none" normalizeH="0" baseline="0" dirty="0" smtClean="0">
                          <a:ln>
                            <a:noFill/>
                          </a:ln>
                          <a:solidFill>
                            <a:srgbClr val="000000"/>
                          </a:solidFill>
                          <a:effectLst/>
                          <a:latin typeface="EYInterstate Light" pitchFamily="2" charset="0"/>
                          <a:ea typeface="+mn-ea"/>
                          <a:cs typeface="+mn-cs"/>
                        </a:rPr>
                        <a:t>Budget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GB" sz="900" b="0" i="0" u="none" strike="noStrike" dirty="0" smtClean="0">
                          <a:solidFill>
                            <a:schemeClr val="tx1"/>
                          </a:solidFill>
                          <a:latin typeface="EYInterstate Light" pitchFamily="2" charset="0"/>
                        </a:rPr>
                        <a:t>RED: the budget is greater than +/-20% of the baseline for either the total lifecycle or the Full Year budget or there is no approved budget or financial framework in place (or in progress) for charges.</a:t>
                      </a:r>
                    </a:p>
                  </a:txBody>
                  <a:tcPr marL="9525" marR="9525" marT="9525" marB="0">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l"/>
                      <a:r>
                        <a:rPr lang="en-GB" sz="900" dirty="0" smtClean="0">
                          <a:solidFill>
                            <a:schemeClr val="tx1"/>
                          </a:solidFill>
                          <a:latin typeface="EYInterstate Light" pitchFamily="2" charset="0"/>
                        </a:rPr>
                        <a:t>AMBER: the budget is greater than +/-10% of the baseline for either the total life or the FY.  Also, is there are significant issues with costs not being tracked or accounting issues (e.g. duplicate or missing Accruals).</a:t>
                      </a:r>
                      <a:endParaRPr lang="en-US" sz="900" dirty="0">
                        <a:solidFill>
                          <a:schemeClr val="tx1"/>
                        </a:solidFill>
                        <a:latin typeface="EYInterstate Light" pitchFamily="2" charset="0"/>
                      </a:endParaRPr>
                    </a:p>
                  </a:txBody>
                  <a:tcPr marL="9525" marR="9525" marT="9525" marB="0">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l" rtl="0" fontAlgn="ctr"/>
                      <a:r>
                        <a:rPr lang="en-GB" sz="900" b="0" i="0" u="none" strike="noStrike" dirty="0" smtClean="0">
                          <a:solidFill>
                            <a:schemeClr val="tx1"/>
                          </a:solidFill>
                          <a:latin typeface="EYInterstate Light" pitchFamily="2" charset="0"/>
                        </a:rPr>
                        <a:t>GREEN: the budget is tracking within a tolerance of the baseline and the financial framework and costs models are in order.</a:t>
                      </a:r>
                      <a:endParaRPr lang="en-GB" sz="900" b="0" i="0" u="none" strike="noStrike" dirty="0">
                        <a:solidFill>
                          <a:schemeClr val="tx1"/>
                        </a:solidFill>
                        <a:latin typeface="EYInterstate Light" pitchFamily="2" charset="0"/>
                      </a:endParaRPr>
                    </a:p>
                  </a:txBody>
                  <a:tcPr marL="9525" marR="9525" marT="9525" marB="0">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70737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1400" b="1" i="0" u="none" strike="noStrike" kern="1200" cap="none" normalizeH="0" baseline="0" dirty="0" smtClean="0">
                          <a:ln>
                            <a:noFill/>
                          </a:ln>
                          <a:solidFill>
                            <a:srgbClr val="000000"/>
                          </a:solidFill>
                          <a:effectLst/>
                          <a:latin typeface="EYInterstate Light" pitchFamily="2" charset="0"/>
                          <a:ea typeface="+mn-ea"/>
                          <a:cs typeface="+mn-cs"/>
                        </a:rPr>
                        <a:t>RAID</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GB" sz="900" b="0" i="0" u="none" strike="noStrike" dirty="0" smtClean="0">
                          <a:solidFill>
                            <a:schemeClr val="tx1"/>
                          </a:solidFill>
                          <a:latin typeface="EYInterstate Light" pitchFamily="2" charset="0"/>
                        </a:rPr>
                        <a:t>RED: there are one or more Critical (High Probability and High Impact) RAID items that have passed their target required by/resolution/mitigation date.</a:t>
                      </a:r>
                    </a:p>
                  </a:txBody>
                  <a:tcPr marL="9525" marR="9525" marT="9525" marB="0">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l"/>
                      <a:r>
                        <a:rPr lang="en-GB" sz="900" dirty="0" smtClean="0">
                          <a:solidFill>
                            <a:schemeClr val="tx1"/>
                          </a:solidFill>
                          <a:latin typeface="EYInterstate Light" pitchFamily="2" charset="0"/>
                        </a:rPr>
                        <a:t>AMBER: There are a significant number (&gt;5) of priority (but not Critical) items that are beyond their target required by/resolution/mitigation date.</a:t>
                      </a:r>
                      <a:endParaRPr lang="en-US" sz="900" dirty="0">
                        <a:solidFill>
                          <a:schemeClr val="tx1"/>
                        </a:solidFill>
                        <a:latin typeface="EYInterstate Light" pitchFamily="2" charset="0"/>
                      </a:endParaRPr>
                    </a:p>
                  </a:txBody>
                  <a:tcPr marL="9525" marR="9525" marT="9525" marB="0">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l" rtl="0" fontAlgn="ctr"/>
                      <a:r>
                        <a:rPr lang="en-GB" sz="900" b="0" i="0" u="none" strike="noStrike" dirty="0" smtClean="0">
                          <a:solidFill>
                            <a:schemeClr val="tx1"/>
                          </a:solidFill>
                          <a:latin typeface="EYInterstate Light" pitchFamily="2" charset="0"/>
                        </a:rPr>
                        <a:t>GREEN: there may be RAID items, but these are being pro-actively managed or within a manageable tolerance of the target dates.</a:t>
                      </a:r>
                      <a:endParaRPr lang="en-GB" sz="900" b="0" i="0" u="none" strike="noStrike" dirty="0">
                        <a:solidFill>
                          <a:schemeClr val="tx1"/>
                        </a:solidFill>
                        <a:latin typeface="EYInterstate Light" pitchFamily="2" charset="0"/>
                      </a:endParaRPr>
                    </a:p>
                  </a:txBody>
                  <a:tcPr marL="9525" marR="9525" marT="9525" marB="0">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707370">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1400" b="1" i="0" u="none" strike="noStrike" kern="1200" cap="none" normalizeH="0" baseline="0" dirty="0" smtClean="0">
                          <a:ln>
                            <a:noFill/>
                          </a:ln>
                          <a:solidFill>
                            <a:srgbClr val="000000"/>
                          </a:solidFill>
                          <a:effectLst/>
                          <a:latin typeface="EYInterstate Light" pitchFamily="2" charset="0"/>
                          <a:ea typeface="+mn-ea"/>
                          <a:cs typeface="+mn-cs"/>
                        </a:rPr>
                        <a:t>Resources</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GB" sz="900" b="0" i="0" u="none" strike="noStrike" dirty="0" smtClean="0">
                          <a:solidFill>
                            <a:schemeClr val="tx1"/>
                          </a:solidFill>
                          <a:latin typeface="EYInterstate Light" pitchFamily="2" charset="0"/>
                        </a:rPr>
                        <a:t>RED: recruitment or rotation is causing a significant impact on the schedule or budget, e.g. Likely to impact the critical path or compromise ability to deliver as per the agreed schedule.</a:t>
                      </a:r>
                    </a:p>
                  </a:txBody>
                  <a:tcPr marL="9525" marR="9525" marT="9525" marB="0">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l" rtl="0" fontAlgn="ctr"/>
                      <a:r>
                        <a:rPr lang="en-GB" sz="900" b="0" i="0" u="none" strike="noStrike" dirty="0" smtClean="0">
                          <a:solidFill>
                            <a:schemeClr val="tx1"/>
                          </a:solidFill>
                          <a:latin typeface="EYInterstate Light" pitchFamily="2" charset="0"/>
                        </a:rPr>
                        <a:t>AMBER: there are resource challenges but where the Project/Program is able to maintain tactical/remediation activities to mitigate the risk to the project.</a:t>
                      </a:r>
                      <a:endParaRPr lang="en-GB" sz="900" b="0" i="0" u="none" strike="noStrike" dirty="0">
                        <a:solidFill>
                          <a:schemeClr val="tx1"/>
                        </a:solidFill>
                        <a:latin typeface="EYInterstate Light" pitchFamily="2" charset="0"/>
                      </a:endParaRPr>
                    </a:p>
                  </a:txBody>
                  <a:tcPr marL="9525" marR="9525" marT="9525" marB="0">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l" rtl="0" fontAlgn="ctr"/>
                      <a:r>
                        <a:rPr lang="en-GB" sz="900" b="0" i="0" u="none" strike="noStrike" dirty="0" smtClean="0">
                          <a:solidFill>
                            <a:schemeClr val="tx1"/>
                          </a:solidFill>
                          <a:latin typeface="EYInterstate Light" pitchFamily="2" charset="0"/>
                        </a:rPr>
                        <a:t>GREEN: there are no resourcing issues or they are being managed so as the project schedule and budget are still viable.</a:t>
                      </a:r>
                      <a:endParaRPr lang="en-GB" sz="900" b="0" i="0" u="none" strike="noStrike" dirty="0">
                        <a:solidFill>
                          <a:schemeClr val="tx1"/>
                        </a:solidFill>
                        <a:latin typeface="EYInterstate Light" pitchFamily="2" charset="0"/>
                      </a:endParaRPr>
                    </a:p>
                  </a:txBody>
                  <a:tcPr marL="9525" marR="9525" marT="9525" marB="0">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bl>
          </a:graphicData>
        </a:graphic>
      </p:graphicFrame>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2H9rPAdIMk2lBXlWm1XfP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sETLU1cdTESJgYMW5Lj8G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sETLU1cdTESJgYMW5Lj8G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sETLU1cdTESJgYMW5Lj8G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sETLU1cdTESJgYMW5Lj8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sETLU1cdTESJgYMW5Lj8G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2H9rPAdIMk2lBXlWm1XfP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sETLU1cdTESJgYMW5Lj8G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sETLU1cdTESJgYMW5Lj8G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sETLU1cdTESJgYMW5Lj8Gw"/>
</p:tagLst>
</file>

<file path=ppt/theme/theme1.xml><?xml version="1.0" encoding="utf-8"?>
<a:theme xmlns:a="http://schemas.openxmlformats.org/drawingml/2006/main" name="1_Bullet text">
  <a:themeElements>
    <a:clrScheme name="1_Bullet tex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1_Bullet tex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1_Bullet tex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Grey fill divider">
  <a:themeElements>
    <a:clrScheme name="Grey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Grey fill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rey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Line 1 divider">
  <a:themeElements>
    <a:clrScheme name="Line 1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Line 1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ine 1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Line 2 divider">
  <a:themeElements>
    <a:clrScheme name="Line 2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Line 2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ine 2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Line 3 divider">
  <a:themeElements>
    <a:clrScheme name="Line 3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Line 3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ine 3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Yellow fill divider">
  <a:themeElements>
    <a:clrScheme name="Yellow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Yellow fill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Yellow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808080"/>
      </a:accent1>
      <a:accent2>
        <a:srgbClr val="FFD200"/>
      </a:accent2>
      <a:accent3>
        <a:srgbClr val="FFFFFF"/>
      </a:accent3>
      <a:accent4>
        <a:srgbClr val="000000"/>
      </a:accent4>
      <a:accent5>
        <a:srgbClr val="C0C0C0"/>
      </a:accent5>
      <a:accent6>
        <a:srgbClr val="E7BE00"/>
      </a:accent6>
      <a:hlink>
        <a:srgbClr val="808080"/>
      </a:hlink>
      <a:folHlink>
        <a:srgbClr val="C0C0C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_dlc_DocId xmlns="0cbe1240-e4fe-486d-8edc-2712abb96eb4">MSIBM-2-10826</_dlc_DocId>
    <_dlc_DocIdUrl xmlns="0cbe1240-e4fe-486d-8edc-2712abb96eb4">
      <Url>http://sp.ey.net/msibm/_layouts/DocIdRedir.aspx?ID=MSIBM-2-10826</Url>
      <Description>MSIBM-2-10826</Description>
    </_dlc_DocIdUr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957C8AC9CBE1E41A2102A222EC3580A" ma:contentTypeVersion="4" ma:contentTypeDescription="Create a new document." ma:contentTypeScope="" ma:versionID="da27568028ef3dd89981a1e295bea7f6">
  <xsd:schema xmlns:xsd="http://www.w3.org/2001/XMLSchema" xmlns:xs="http://www.w3.org/2001/XMLSchema" xmlns:p="http://schemas.microsoft.com/office/2006/metadata/properties" xmlns:ns2="http://schemas.microsoft.com/sharepoint/v4" xmlns:ns3="0cbe1240-e4fe-486d-8edc-2712abb96eb4" targetNamespace="http://schemas.microsoft.com/office/2006/metadata/properties" ma:root="true" ma:fieldsID="4ca9ef44ada71ae000a4be022f59c04d" ns2:_="" ns3:_="">
    <xsd:import namespace="http://schemas.microsoft.com/sharepoint/v4"/>
    <xsd:import namespace="0cbe1240-e4fe-486d-8edc-2712abb96eb4"/>
    <xsd:element name="properties">
      <xsd:complexType>
        <xsd:sequence>
          <xsd:element name="documentManagement">
            <xsd:complexType>
              <xsd:all>
                <xsd:element ref="ns2:IconOverlay"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8"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be1240-e4fe-486d-8edc-2712abb96eb4" elementFormDefault="qualified">
    <xsd:import namespace="http://schemas.microsoft.com/office/2006/documentManagement/types"/>
    <xsd:import namespace="http://schemas.microsoft.com/office/infopath/2007/PartnerControls"/>
    <xsd:element name="_dlc_DocId" ma:index="9" nillable="true" ma:displayName="Document ID Value" ma:description="The value of the document ID assigned to this item." ma:internalName="_dlc_DocId" ma:readOnly="true">
      <xsd:simpleType>
        <xsd:restriction base="dms:Text"/>
      </xsd:simpleType>
    </xsd:element>
    <xsd:element name="_dlc_DocIdUrl" ma:index="10"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1"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FAA29CDC-F850-4B23-A92A-C0DE79151CEB}">
  <ds:schemaRefs>
    <ds:schemaRef ds:uri="http://schemas.microsoft.com/office/2006/documentManagement/types"/>
    <ds:schemaRef ds:uri="http://purl.org/dc/elements/1.1/"/>
    <ds:schemaRef ds:uri="http://purl.org/dc/terms/"/>
    <ds:schemaRef ds:uri="http://purl.org/dc/dcmitype/"/>
    <ds:schemaRef ds:uri="http://www.w3.org/XML/1998/namespace"/>
    <ds:schemaRef ds:uri="http://schemas.microsoft.com/office/2006/metadata/properties"/>
    <ds:schemaRef ds:uri="http://schemas.microsoft.com/sharepoint/v4"/>
    <ds:schemaRef ds:uri="0cbe1240-e4fe-486d-8edc-2712abb96eb4"/>
    <ds:schemaRef ds:uri="http://schemas.openxmlformats.org/package/2006/metadata/core-properties"/>
    <ds:schemaRef ds:uri="http://schemas.microsoft.com/office/infopath/2007/PartnerControls"/>
  </ds:schemaRefs>
</ds:datastoreItem>
</file>

<file path=customXml/itemProps2.xml><?xml version="1.0" encoding="utf-8"?>
<ds:datastoreItem xmlns:ds="http://schemas.openxmlformats.org/officeDocument/2006/customXml" ds:itemID="{2255E905-F312-48EC-8CD7-BA2AFBA2E81A}">
  <ds:schemaRefs>
    <ds:schemaRef ds:uri="http://schemas.microsoft.com/sharepoint/v3/contenttype/forms"/>
  </ds:schemaRefs>
</ds:datastoreItem>
</file>

<file path=customXml/itemProps3.xml><?xml version="1.0" encoding="utf-8"?>
<ds:datastoreItem xmlns:ds="http://schemas.openxmlformats.org/officeDocument/2006/customXml" ds:itemID="{E92EC1C4-C966-4FF1-9301-4A4DCB68BEF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4"/>
    <ds:schemaRef ds:uri="0cbe1240-e4fe-486d-8edc-2712abb96e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1F188C4F-5FD9-4056-B158-71E8F45D3348}">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otalTime>32600</TotalTime>
  <Words>13977</Words>
  <Application>Microsoft Office PowerPoint</Application>
  <PresentationFormat>On-screen Show (4:3)</PresentationFormat>
  <Paragraphs>2160</Paragraphs>
  <Slides>24</Slides>
  <Notes>11</Notes>
  <HiddenSlides>0</HiddenSlides>
  <MMClips>0</MMClips>
  <ScaleCrop>false</ScaleCrop>
  <HeadingPairs>
    <vt:vector size="6" baseType="variant">
      <vt:variant>
        <vt:lpstr>Fonts Used</vt:lpstr>
      </vt:variant>
      <vt:variant>
        <vt:i4>5</vt:i4>
      </vt:variant>
      <vt:variant>
        <vt:lpstr>Theme</vt:lpstr>
      </vt:variant>
      <vt:variant>
        <vt:i4>6</vt:i4>
      </vt:variant>
      <vt:variant>
        <vt:lpstr>Slide Titles</vt:lpstr>
      </vt:variant>
      <vt:variant>
        <vt:i4>24</vt:i4>
      </vt:variant>
    </vt:vector>
  </HeadingPairs>
  <TitlesOfParts>
    <vt:vector size="35" baseType="lpstr">
      <vt:lpstr>Arial</vt:lpstr>
      <vt:lpstr>EYInterstate</vt:lpstr>
      <vt:lpstr>Times New Roman</vt:lpstr>
      <vt:lpstr>EYInterstate Light</vt:lpstr>
      <vt:lpstr>Wingdings</vt:lpstr>
      <vt:lpstr>1_Bullet text</vt:lpstr>
      <vt:lpstr>Grey fill divider</vt:lpstr>
      <vt:lpstr>Line 1 divider</vt:lpstr>
      <vt:lpstr>Line 2 divider</vt:lpstr>
      <vt:lpstr>Line 3 divider</vt:lpstr>
      <vt:lpstr>Yellow fill divider</vt:lpstr>
      <vt:lpstr>IT Services M&amp;C Program IT Service Delivery  Weekly report</vt:lpstr>
      <vt:lpstr>Slide 2</vt:lpstr>
      <vt:lpstr>Slide 3</vt:lpstr>
      <vt:lpstr>Slide 4</vt:lpstr>
      <vt:lpstr>Slide 5</vt:lpstr>
      <vt:lpstr>Slide 6</vt:lpstr>
      <vt:lpstr>Slide 7</vt:lpstr>
      <vt:lpstr>Slide 8</vt:lpstr>
      <vt:lpstr>Slide 9</vt:lpstr>
      <vt:lpstr>Appendix A – M&amp;C Reports.</vt:lpstr>
      <vt:lpstr>Slide 11</vt:lpstr>
      <vt:lpstr>Slide 12</vt:lpstr>
      <vt:lpstr>Slide 13</vt:lpstr>
      <vt:lpstr>Slide 14</vt:lpstr>
      <vt:lpstr>Slide 15</vt:lpstr>
      <vt:lpstr>Slide 16</vt:lpstr>
      <vt:lpstr>Slide 17</vt:lpstr>
      <vt:lpstr>Slide 18</vt:lpstr>
      <vt:lpstr>Slide 19</vt:lpstr>
      <vt:lpstr>Slide 20</vt:lpstr>
      <vt:lpstr>Appendix B. Microsoft Reports.</vt:lpstr>
      <vt:lpstr>Slide 22</vt:lpstr>
      <vt:lpstr>Appendix C.  PMO RAG Criteria.</vt:lpstr>
      <vt:lpstr>Slide 24</vt:lpstr>
    </vt:vector>
  </TitlesOfParts>
  <Company>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June Final MnC Weekly Report</dc:title>
  <dc:creator>Landor</dc:creator>
  <cp:lastModifiedBy>Wale Agbaje</cp:lastModifiedBy>
  <cp:revision>2615</cp:revision>
  <dcterms:created xsi:type="dcterms:W3CDTF">2007-11-06T15:04:41Z</dcterms:created>
  <dcterms:modified xsi:type="dcterms:W3CDTF">2012-06-14T09:58:28Z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0x010100D957C8AC9CBE1E41A2102A222EC3580A</vt:lpwstr>
  </property>
  <property fmtid="{D5CDD505-2E9C-101B-9397-08002B2CF9AE}" pid="3" name="_dlc_DocIdItemGuid">
    <vt:lpwstr>a35b46f8-715d-4b72-aa7f-289a13dbdb8b</vt:lpwstr>
  </property>
</Properties>
</file>