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19" r:id="rId1"/>
    <p:sldMasterId id="2147483727" r:id="rId2"/>
  </p:sldMasterIdLst>
  <p:notesMasterIdLst>
    <p:notesMasterId r:id="rId18"/>
  </p:notesMasterIdLst>
  <p:handoutMasterIdLst>
    <p:handoutMasterId r:id="rId19"/>
  </p:handoutMasterIdLst>
  <p:sldIdLst>
    <p:sldId id="290" r:id="rId3"/>
    <p:sldId id="289" r:id="rId4"/>
    <p:sldId id="260" r:id="rId5"/>
    <p:sldId id="287" r:id="rId6"/>
    <p:sldId id="261" r:id="rId7"/>
    <p:sldId id="293" r:id="rId8"/>
    <p:sldId id="294" r:id="rId9"/>
    <p:sldId id="295" r:id="rId10"/>
    <p:sldId id="286" r:id="rId11"/>
    <p:sldId id="298" r:id="rId12"/>
    <p:sldId id="296" r:id="rId13"/>
    <p:sldId id="285" r:id="rId14"/>
    <p:sldId id="291" r:id="rId15"/>
    <p:sldId id="273" r:id="rId16"/>
    <p:sldId id="297" r:id="rId17"/>
  </p:sldIdLst>
  <p:sldSz cx="8129588" cy="6099175"/>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433">
          <p15:clr>
            <a:srgbClr val="A4A3A4"/>
          </p15:clr>
        </p15:guide>
        <p15:guide id="2" pos="25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1D6FA9"/>
    <a:srgbClr val="239590"/>
    <a:srgbClr val="7AB800"/>
    <a:srgbClr val="409DAD"/>
    <a:srgbClr val="EBB700"/>
    <a:srgbClr val="099ED3"/>
    <a:srgbClr val="1653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69" autoAdjust="0"/>
    <p:restoredTop sz="90929"/>
  </p:normalViewPr>
  <p:slideViewPr>
    <p:cSldViewPr>
      <p:cViewPr>
        <p:scale>
          <a:sx n="90" d="100"/>
          <a:sy n="90" d="100"/>
        </p:scale>
        <p:origin x="1781" y="480"/>
      </p:cViewPr>
      <p:guideLst>
        <p:guide orient="horz" pos="433"/>
        <p:guide pos="25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08" y="-6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pPr>
              <a:defRPr/>
            </a:pPr>
            <a:endParaRPr lang="en-US" alt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pPr>
              <a:defRPr/>
            </a:pPr>
            <a:endParaRPr lang="en-US" alt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pPr>
              <a:defRPr/>
            </a:pPr>
            <a:endParaRPr lang="en-US" alt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AF9CB151-A6E1-4957-A879-8DFF934D6911}" type="slidenum">
              <a:rPr lang="en-US" altLang="en-US"/>
              <a:pPr>
                <a:defRPr/>
              </a:pPr>
              <a:t>‹#›</a:t>
            </a:fld>
            <a:endParaRPr lang="en-US" altLang="en-US"/>
          </a:p>
        </p:txBody>
      </p:sp>
    </p:spTree>
    <p:extLst>
      <p:ext uri="{BB962C8B-B14F-4D97-AF65-F5344CB8AC3E}">
        <p14:creationId xmlns:p14="http://schemas.microsoft.com/office/powerpoint/2010/main" val="18611453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pPr>
              <a:defRPr/>
            </a:pPr>
            <a:endParaRPr lang="en-US" altLang="en-US"/>
          </a:p>
        </p:txBody>
      </p:sp>
      <p:sp>
        <p:nvSpPr>
          <p:cNvPr id="3789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pPr>
              <a:defRPr/>
            </a:pPr>
            <a:endParaRPr lang="en-US" altLang="en-US"/>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789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pPr>
              <a:defRPr/>
            </a:pPr>
            <a:endParaRPr lang="en-US" altLang="en-US"/>
          </a:p>
        </p:txBody>
      </p:sp>
      <p:sp>
        <p:nvSpPr>
          <p:cNvPr id="3789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41DDB468-67EB-4FEE-95E5-F8C2C0C56DED}" type="slidenum">
              <a:rPr lang="en-US" altLang="en-US"/>
              <a:pPr>
                <a:defRPr/>
              </a:pPr>
              <a:t>‹#›</a:t>
            </a:fld>
            <a:endParaRPr lang="en-US" altLang="en-US"/>
          </a:p>
        </p:txBody>
      </p:sp>
    </p:spTree>
    <p:extLst>
      <p:ext uri="{BB962C8B-B14F-4D97-AF65-F5344CB8AC3E}">
        <p14:creationId xmlns:p14="http://schemas.microsoft.com/office/powerpoint/2010/main" val="13177445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9B2370C-2538-4D9D-A02D-51E0FE8B47D4}"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21507" name="Rectangle 2"/>
          <p:cNvSpPr>
            <a:spLocks noGrp="1" noRot="1" noChangeAspect="1" noChangeArrowheads="1" noTextEdit="1"/>
          </p:cNvSpPr>
          <p:nvPr>
            <p:ph type="sldImg"/>
          </p:nvPr>
        </p:nvSpPr>
        <p:spPr>
          <a:xfrm>
            <a:off x="1395413" y="876300"/>
            <a:ext cx="4064000" cy="3048000"/>
          </a:xfrm>
          <a:ln/>
        </p:spPr>
      </p:sp>
      <p:sp>
        <p:nvSpPr>
          <p:cNvPr id="21508" name="Rectangle 3"/>
          <p:cNvSpPr>
            <a:spLocks noGrp="1" noChangeArrowheads="1"/>
          </p:cNvSpPr>
          <p:nvPr>
            <p:ph type="body" idx="1"/>
          </p:nvPr>
        </p:nvSpPr>
        <p:spPr>
          <a:noFill/>
        </p:spPr>
        <p:txBody>
          <a:bodyPr/>
          <a:lstStyle/>
          <a:p>
            <a:pPr marL="63500" indent="-63500">
              <a:spcBef>
                <a:spcPts val="200"/>
              </a:spcBef>
              <a:buFontTx/>
              <a:buChar char="•"/>
            </a:pPr>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913571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A650124-5C0A-409D-989D-64B25CC8082D}" type="slidenum">
              <a:rPr lang="en-US" altLang="en-US" sz="1200" smtClean="0">
                <a:latin typeface="Times New Roman" panose="02020603050405020304" pitchFamily="18" charset="0"/>
              </a:rPr>
              <a:pPr/>
              <a:t>2</a:t>
            </a:fld>
            <a:endParaRPr lang="en-US" altLang="en-US" sz="1200">
              <a:latin typeface="Times New Roman" panose="02020603050405020304" pitchFamily="18" charset="0"/>
            </a:endParaRPr>
          </a:p>
        </p:txBody>
      </p:sp>
      <p:sp>
        <p:nvSpPr>
          <p:cNvPr id="23555" name="Rectangle 2"/>
          <p:cNvSpPr>
            <a:spLocks noGrp="1" noRot="1" noChangeAspect="1" noChangeArrowheads="1" noTextEdit="1"/>
          </p:cNvSpPr>
          <p:nvPr>
            <p:ph type="sldImg"/>
          </p:nvPr>
        </p:nvSpPr>
        <p:spPr>
          <a:xfrm>
            <a:off x="1395413" y="876300"/>
            <a:ext cx="4064000" cy="3048000"/>
          </a:xfrm>
          <a:ln/>
        </p:spPr>
      </p:sp>
      <p:sp>
        <p:nvSpPr>
          <p:cNvPr id="23556" name="Rectangle 3"/>
          <p:cNvSpPr>
            <a:spLocks noGrp="1" noChangeArrowheads="1"/>
          </p:cNvSpPr>
          <p:nvPr>
            <p:ph type="body" idx="1"/>
          </p:nvPr>
        </p:nvSpPr>
        <p:spPr>
          <a:noFill/>
        </p:spPr>
        <p:txBody>
          <a:bodyPr/>
          <a:lstStyle/>
          <a:p>
            <a:pPr marL="63500" indent="-63500">
              <a:spcBef>
                <a:spcPts val="200"/>
              </a:spcBef>
              <a:buFontTx/>
              <a:buChar char="•"/>
            </a:pPr>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474438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DE51EE8-24AE-485C-B0FE-8208617F1CCF}" type="slidenum">
              <a:rPr lang="en-US" altLang="en-US" sz="1200" smtClean="0">
                <a:latin typeface="Times New Roman" panose="02020603050405020304" pitchFamily="18" charset="0"/>
              </a:rPr>
              <a:pPr/>
              <a:t>3</a:t>
            </a:fld>
            <a:endParaRPr lang="en-US" altLang="en-US" sz="1200">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a:buFontTx/>
              <a:buChar char="•"/>
            </a:pPr>
            <a:r>
              <a:rPr lang="en-US" altLang="en-US"/>
              <a:t>Should reflect information documented in the </a:t>
            </a:r>
            <a:r>
              <a:rPr lang="en-US" altLang="en-US" u="sng"/>
              <a:t>Project Charter</a:t>
            </a:r>
          </a:p>
        </p:txBody>
      </p:sp>
    </p:spTree>
    <p:extLst>
      <p:ext uri="{BB962C8B-B14F-4D97-AF65-F5344CB8AC3E}">
        <p14:creationId xmlns:p14="http://schemas.microsoft.com/office/powerpoint/2010/main" val="1017824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6678A2B-F207-4BD0-8AF1-D85E7E2D62EB}" type="slidenum">
              <a:rPr lang="en-US" altLang="en-US" sz="1200" smtClean="0">
                <a:latin typeface="Times New Roman" panose="02020603050405020304" pitchFamily="18" charset="0"/>
              </a:rPr>
              <a:pPr/>
              <a:t>5</a:t>
            </a:fld>
            <a:endParaRPr lang="en-US" altLang="en-US" sz="120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a:buFontTx/>
              <a:buChar char="•"/>
            </a:pPr>
            <a:r>
              <a:rPr lang="en-US" altLang="en-US"/>
              <a:t>Should reflect information documented in the </a:t>
            </a:r>
            <a:r>
              <a:rPr lang="en-US" altLang="en-US" u="sng"/>
              <a:t>Project Charter</a:t>
            </a:r>
          </a:p>
        </p:txBody>
      </p:sp>
    </p:spTree>
    <p:extLst>
      <p:ext uri="{BB962C8B-B14F-4D97-AF65-F5344CB8AC3E}">
        <p14:creationId xmlns:p14="http://schemas.microsoft.com/office/powerpoint/2010/main" val="2054385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295FA0A-DA64-4F23-99B9-45BA62A5D921}" type="slidenum">
              <a:rPr lang="en-US" altLang="en-US" sz="1200" smtClean="0">
                <a:latin typeface="Times New Roman" panose="02020603050405020304" pitchFamily="18" charset="0"/>
              </a:rPr>
              <a:pPr/>
              <a:t>14</a:t>
            </a:fld>
            <a:endParaRPr lang="en-US" altLang="en-US" sz="12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a:buFontTx/>
              <a:buChar char="•"/>
            </a:pPr>
            <a:r>
              <a:rPr lang="en-US" altLang="en-US"/>
              <a:t>List next steps until the next Steering Committee meeting.</a:t>
            </a:r>
          </a:p>
          <a:p>
            <a:endParaRPr lang="en-US" altLang="en-US"/>
          </a:p>
        </p:txBody>
      </p:sp>
    </p:spTree>
    <p:extLst>
      <p:ext uri="{BB962C8B-B14F-4D97-AF65-F5344CB8AC3E}">
        <p14:creationId xmlns:p14="http://schemas.microsoft.com/office/powerpoint/2010/main" val="1099478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719" y="998176"/>
            <a:ext cx="6910150" cy="2123416"/>
          </a:xfrm>
          <a:prstGeom prst="rect">
            <a:avLst/>
          </a:prstGeom>
        </p:spPr>
        <p:txBody>
          <a:bodyPr anchor="b"/>
          <a:lstStyle>
            <a:lvl1pPr algn="ctr">
              <a:defRPr sz="5335"/>
            </a:lvl1pPr>
          </a:lstStyle>
          <a:p>
            <a:r>
              <a:rPr lang="en-US"/>
              <a:t>Click to edit Master title style</a:t>
            </a:r>
            <a:endParaRPr lang="en-US" dirty="0"/>
          </a:p>
        </p:txBody>
      </p:sp>
      <p:sp>
        <p:nvSpPr>
          <p:cNvPr id="3" name="Subtitle 2"/>
          <p:cNvSpPr>
            <a:spLocks noGrp="1"/>
          </p:cNvSpPr>
          <p:nvPr>
            <p:ph type="subTitle" idx="1"/>
          </p:nvPr>
        </p:nvSpPr>
        <p:spPr>
          <a:xfrm>
            <a:off x="1016199" y="3203479"/>
            <a:ext cx="6097191" cy="1472555"/>
          </a:xfrm>
        </p:spPr>
        <p:txBody>
          <a:bodyPr/>
          <a:lstStyle>
            <a:lvl1pPr marL="0" indent="0" algn="ctr">
              <a:buNone/>
              <a:defRPr sz="2134"/>
            </a:lvl1pPr>
            <a:lvl2pPr marL="406497" indent="0" algn="ctr">
              <a:buNone/>
              <a:defRPr sz="1778"/>
            </a:lvl2pPr>
            <a:lvl3pPr marL="812993" indent="0" algn="ctr">
              <a:buNone/>
              <a:defRPr sz="1600"/>
            </a:lvl3pPr>
            <a:lvl4pPr marL="1219490" indent="0" algn="ctr">
              <a:buNone/>
              <a:defRPr sz="1423"/>
            </a:lvl4pPr>
            <a:lvl5pPr marL="1625986" indent="0" algn="ctr">
              <a:buNone/>
              <a:defRPr sz="1423"/>
            </a:lvl5pPr>
            <a:lvl6pPr marL="2032483" indent="0" algn="ctr">
              <a:buNone/>
              <a:defRPr sz="1423"/>
            </a:lvl6pPr>
            <a:lvl7pPr marL="2438979" indent="0" algn="ctr">
              <a:buNone/>
              <a:defRPr sz="1423"/>
            </a:lvl7pPr>
            <a:lvl8pPr marL="2845476" indent="0" algn="ctr">
              <a:buNone/>
              <a:defRPr sz="1423"/>
            </a:lvl8pPr>
            <a:lvl9pPr marL="3251972" indent="0" algn="ctr">
              <a:buNone/>
              <a:defRPr sz="1423"/>
            </a:lvl9pPr>
          </a:lstStyle>
          <a:p>
            <a:r>
              <a:rPr lang="en-US"/>
              <a:t>Click to edit Master subtitle style</a:t>
            </a:r>
            <a:endParaRPr lang="en-US" dirty="0"/>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944C4EE5-0067-448C-B7D6-A3BD0755D1ED}" type="datetimeFigureOut">
              <a:rPr lang="en-US"/>
              <a:pPr>
                <a:defRPr/>
              </a:pPr>
              <a:t>24-Nov-19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CA3E9A6-6B35-46C1-AF62-E1A27DDE1AB3}" type="slidenum">
              <a:rPr lang="en-US"/>
              <a:pPr>
                <a:defRPr/>
              </a:pPr>
              <a:t>‹#›</a:t>
            </a:fld>
            <a:endParaRPr lang="en-US" dirty="0"/>
          </a:p>
        </p:txBody>
      </p:sp>
    </p:spTree>
    <p:extLst>
      <p:ext uri="{BB962C8B-B14F-4D97-AF65-F5344CB8AC3E}">
        <p14:creationId xmlns:p14="http://schemas.microsoft.com/office/powerpoint/2010/main" val="3316854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3188" y="0"/>
            <a:ext cx="7011988" cy="382587"/>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1A225C4E-5679-42A0-B69C-8FDBF2E3780D}" type="datetimeFigureOut">
              <a:rPr lang="en-US"/>
              <a:pPr>
                <a:defRPr/>
              </a:pPr>
              <a:t>24-Nov-19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24C8F32-3631-499E-A9B6-3225D6AE82E0}" type="slidenum">
              <a:rPr lang="en-US"/>
              <a:pPr>
                <a:defRPr/>
              </a:pPr>
              <a:t>‹#›</a:t>
            </a:fld>
            <a:endParaRPr lang="en-US" dirty="0"/>
          </a:p>
        </p:txBody>
      </p:sp>
    </p:spTree>
    <p:extLst>
      <p:ext uri="{BB962C8B-B14F-4D97-AF65-F5344CB8AC3E}">
        <p14:creationId xmlns:p14="http://schemas.microsoft.com/office/powerpoint/2010/main" val="377283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8800" y="325438"/>
            <a:ext cx="7011988" cy="11779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558909" y="1623623"/>
            <a:ext cx="3455075" cy="386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15604" y="1623623"/>
            <a:ext cx="3455075" cy="386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55AAFF5F-63E9-488B-8CFF-AEE5E2DEC078}" type="datetimeFigureOut">
              <a:rPr lang="en-US"/>
              <a:pPr>
                <a:defRPr/>
              </a:pPr>
              <a:t>24-Nov-19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5B2FB04-6BCF-4A8C-A9A1-C694E3C90433}" type="slidenum">
              <a:rPr lang="en-US"/>
              <a:pPr>
                <a:defRPr/>
              </a:pPr>
              <a:t>‹#›</a:t>
            </a:fld>
            <a:endParaRPr lang="en-US" dirty="0"/>
          </a:p>
        </p:txBody>
      </p:sp>
    </p:spTree>
    <p:extLst>
      <p:ext uri="{BB962C8B-B14F-4D97-AF65-F5344CB8AC3E}">
        <p14:creationId xmlns:p14="http://schemas.microsoft.com/office/powerpoint/2010/main" val="1797875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5C7D7341-0AD4-48F3-AC4C-46AF7E2138FF}" type="datetimeFigureOut">
              <a:rPr lang="en-US"/>
              <a:pPr>
                <a:defRPr/>
              </a:pPr>
              <a:t>24-Nov-19</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118DD04-6120-4639-BD25-9141B5E63E64}" type="slidenum">
              <a:rPr lang="en-US"/>
              <a:pPr>
                <a:defRPr/>
              </a:pPr>
              <a:t>‹#›</a:t>
            </a:fld>
            <a:endParaRPr lang="en-US" dirty="0"/>
          </a:p>
        </p:txBody>
      </p:sp>
    </p:spTree>
    <p:extLst>
      <p:ext uri="{BB962C8B-B14F-4D97-AF65-F5344CB8AC3E}">
        <p14:creationId xmlns:p14="http://schemas.microsoft.com/office/powerpoint/2010/main" val="1487651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16000" y="998538"/>
            <a:ext cx="6097588" cy="2122487"/>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016000" y="3203575"/>
            <a:ext cx="6097588" cy="1473200"/>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4F4FA3A4-9550-4606-BCAC-639A4E116610}" type="datetimeFigureOut">
              <a:rPr lang="en-US"/>
              <a:pPr>
                <a:defRPr/>
              </a:pPr>
              <a:t>24-Nov-19</a:t>
            </a:fld>
            <a:endParaRPr lang="en-US"/>
          </a:p>
        </p:txBody>
      </p:sp>
      <p:sp>
        <p:nvSpPr>
          <p:cNvPr id="5" name="Footer Placeholder 4"/>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7F5211FA-5451-437B-995E-B5BA42612A20}" type="slidenum">
              <a:rPr lang="en-US"/>
              <a:pPr>
                <a:defRPr/>
              </a:pPr>
              <a:t>‹#›</a:t>
            </a:fld>
            <a:endParaRPr lang="en-US"/>
          </a:p>
        </p:txBody>
      </p:sp>
    </p:spTree>
    <p:extLst>
      <p:ext uri="{BB962C8B-B14F-4D97-AF65-F5344CB8AC3E}">
        <p14:creationId xmlns:p14="http://schemas.microsoft.com/office/powerpoint/2010/main" val="440370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8800" y="325438"/>
            <a:ext cx="7011988" cy="117792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58800" y="1624013"/>
            <a:ext cx="7011988" cy="386873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6A74439A-D2F2-43B1-8F38-2E0DFAD22E73}" type="datetimeFigureOut">
              <a:rPr lang="en-US"/>
              <a:pPr>
                <a:defRPr/>
              </a:pPr>
              <a:t>24-Nov-19</a:t>
            </a:fld>
            <a:endParaRPr lang="en-US"/>
          </a:p>
        </p:txBody>
      </p:sp>
      <p:sp>
        <p:nvSpPr>
          <p:cNvPr id="5" name="Footer Placeholder 4"/>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74F92746-5EB0-4DC6-B948-5D5C23F78A10}" type="slidenum">
              <a:rPr lang="en-US"/>
              <a:pPr>
                <a:defRPr/>
              </a:pPr>
              <a:t>‹#›</a:t>
            </a:fld>
            <a:endParaRPr lang="en-US"/>
          </a:p>
        </p:txBody>
      </p:sp>
    </p:spTree>
    <p:extLst>
      <p:ext uri="{BB962C8B-B14F-4D97-AF65-F5344CB8AC3E}">
        <p14:creationId xmlns:p14="http://schemas.microsoft.com/office/powerpoint/2010/main" val="2864236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54038" y="1520825"/>
            <a:ext cx="7011987" cy="2536825"/>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554038" y="4081463"/>
            <a:ext cx="7011987" cy="13350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1C13567C-4F38-4C9D-8D49-4EB27B8C3928}" type="datetimeFigureOut">
              <a:rPr lang="en-US"/>
              <a:pPr>
                <a:defRPr/>
              </a:pPr>
              <a:t>24-Nov-19</a:t>
            </a:fld>
            <a:endParaRPr lang="en-US"/>
          </a:p>
        </p:txBody>
      </p:sp>
      <p:sp>
        <p:nvSpPr>
          <p:cNvPr id="5" name="Footer Placeholder 4"/>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805FF664-832E-4B37-A1C0-358CAB40B5AA}" type="slidenum">
              <a:rPr lang="en-US"/>
              <a:pPr>
                <a:defRPr/>
              </a:pPr>
              <a:t>‹#›</a:t>
            </a:fld>
            <a:endParaRPr lang="en-US"/>
          </a:p>
        </p:txBody>
      </p:sp>
    </p:spTree>
    <p:extLst>
      <p:ext uri="{BB962C8B-B14F-4D97-AF65-F5344CB8AC3E}">
        <p14:creationId xmlns:p14="http://schemas.microsoft.com/office/powerpoint/2010/main" val="676445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8800" y="325438"/>
            <a:ext cx="7011988" cy="117792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58800" y="1624013"/>
            <a:ext cx="3429000" cy="386873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40200" y="1624013"/>
            <a:ext cx="3430588" cy="386873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558800" y="5653088"/>
            <a:ext cx="1828800" cy="325437"/>
          </a:xfrm>
          <a:prstGeom prst="rect">
            <a:avLst/>
          </a:prstGeom>
        </p:spPr>
        <p:txBody>
          <a:bodyPr/>
          <a:lstStyle>
            <a:lvl1pPr>
              <a:defRPr/>
            </a:lvl1pPr>
          </a:lstStyle>
          <a:p>
            <a:pPr>
              <a:defRPr/>
            </a:pPr>
            <a:fld id="{0CD3A677-101F-4761-9640-B091700E8243}" type="datetimeFigureOut">
              <a:rPr lang="en-US"/>
              <a:pPr>
                <a:defRPr/>
              </a:pPr>
              <a:t>24-Nov-19</a:t>
            </a:fld>
            <a:endParaRPr lang="en-US"/>
          </a:p>
        </p:txBody>
      </p:sp>
      <p:sp>
        <p:nvSpPr>
          <p:cNvPr id="6" name="Footer Placeholder 5"/>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7E8BC3ED-3D68-4C5E-A9D8-B2E54C2BBEA3}" type="slidenum">
              <a:rPr lang="en-US"/>
              <a:pPr>
                <a:defRPr/>
              </a:pPr>
              <a:t>‹#›</a:t>
            </a:fld>
            <a:endParaRPr lang="en-US"/>
          </a:p>
        </p:txBody>
      </p:sp>
    </p:spTree>
    <p:extLst>
      <p:ext uri="{BB962C8B-B14F-4D97-AF65-F5344CB8AC3E}">
        <p14:creationId xmlns:p14="http://schemas.microsoft.com/office/powerpoint/2010/main" val="246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0388" y="325438"/>
            <a:ext cx="7011987" cy="1177925"/>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560388" y="1495425"/>
            <a:ext cx="3438525" cy="731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60388" y="2227263"/>
            <a:ext cx="3438525" cy="32781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16388" y="1495425"/>
            <a:ext cx="3455987" cy="731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116388" y="2227263"/>
            <a:ext cx="3455987" cy="32781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558800" y="5653088"/>
            <a:ext cx="1828800" cy="325437"/>
          </a:xfrm>
          <a:prstGeom prst="rect">
            <a:avLst/>
          </a:prstGeom>
        </p:spPr>
        <p:txBody>
          <a:bodyPr/>
          <a:lstStyle>
            <a:lvl1pPr>
              <a:defRPr/>
            </a:lvl1pPr>
          </a:lstStyle>
          <a:p>
            <a:pPr>
              <a:defRPr/>
            </a:pPr>
            <a:fld id="{A0B55847-D6D3-4547-B89F-33DB2C10AFD7}" type="datetimeFigureOut">
              <a:rPr lang="en-US"/>
              <a:pPr>
                <a:defRPr/>
              </a:pPr>
              <a:t>24-Nov-19</a:t>
            </a:fld>
            <a:endParaRPr lang="en-US"/>
          </a:p>
        </p:txBody>
      </p:sp>
      <p:sp>
        <p:nvSpPr>
          <p:cNvPr id="8" name="Footer Placeholder 7"/>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9" name="Slide Number Placeholder 8"/>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622E3FF7-2445-43E2-B825-26178B831576}" type="slidenum">
              <a:rPr lang="en-US"/>
              <a:pPr>
                <a:defRPr/>
              </a:pPr>
              <a:t>‹#›</a:t>
            </a:fld>
            <a:endParaRPr lang="en-US"/>
          </a:p>
        </p:txBody>
      </p:sp>
    </p:spTree>
    <p:extLst>
      <p:ext uri="{BB962C8B-B14F-4D97-AF65-F5344CB8AC3E}">
        <p14:creationId xmlns:p14="http://schemas.microsoft.com/office/powerpoint/2010/main" val="3512328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58800" y="325438"/>
            <a:ext cx="7011988" cy="1177925"/>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558800" y="5653088"/>
            <a:ext cx="1828800" cy="325437"/>
          </a:xfrm>
          <a:prstGeom prst="rect">
            <a:avLst/>
          </a:prstGeom>
        </p:spPr>
        <p:txBody>
          <a:bodyPr/>
          <a:lstStyle>
            <a:lvl1pPr>
              <a:defRPr/>
            </a:lvl1pPr>
          </a:lstStyle>
          <a:p>
            <a:pPr>
              <a:defRPr/>
            </a:pPr>
            <a:fld id="{1C3E3772-005F-4656-91EB-880A3632D173}" type="datetimeFigureOut">
              <a:rPr lang="en-US"/>
              <a:pPr>
                <a:defRPr/>
              </a:pPr>
              <a:t>24-Nov-19</a:t>
            </a:fld>
            <a:endParaRPr lang="en-US"/>
          </a:p>
        </p:txBody>
      </p:sp>
      <p:sp>
        <p:nvSpPr>
          <p:cNvPr id="4" name="Footer Placeholder 3"/>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1FD6A8FA-B458-4FA0-AE52-5EBC654B842B}" type="slidenum">
              <a:rPr lang="en-US"/>
              <a:pPr>
                <a:defRPr/>
              </a:pPr>
              <a:t>‹#›</a:t>
            </a:fld>
            <a:endParaRPr lang="en-US"/>
          </a:p>
        </p:txBody>
      </p:sp>
    </p:spTree>
    <p:extLst>
      <p:ext uri="{BB962C8B-B14F-4D97-AF65-F5344CB8AC3E}">
        <p14:creationId xmlns:p14="http://schemas.microsoft.com/office/powerpoint/2010/main" val="284533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58800" y="5653088"/>
            <a:ext cx="1828800" cy="325437"/>
          </a:xfrm>
          <a:prstGeom prst="rect">
            <a:avLst/>
          </a:prstGeom>
        </p:spPr>
        <p:txBody>
          <a:bodyPr/>
          <a:lstStyle>
            <a:lvl1pPr>
              <a:defRPr/>
            </a:lvl1pPr>
          </a:lstStyle>
          <a:p>
            <a:pPr>
              <a:defRPr/>
            </a:pPr>
            <a:fld id="{B4A0A84B-1C25-46CB-B197-86B145D0EF03}" type="datetimeFigureOut">
              <a:rPr lang="en-US"/>
              <a:pPr>
                <a:defRPr/>
              </a:pPr>
              <a:t>24-Nov-19</a:t>
            </a:fld>
            <a:endParaRPr lang="en-US"/>
          </a:p>
        </p:txBody>
      </p:sp>
      <p:sp>
        <p:nvSpPr>
          <p:cNvPr id="3" name="Footer Placeholder 2"/>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2A7009CF-055B-4257-8735-37C0B96D33F9}" type="slidenum">
              <a:rPr lang="en-US"/>
              <a:pPr>
                <a:defRPr/>
              </a:pPr>
              <a:t>‹#›</a:t>
            </a:fld>
            <a:endParaRPr lang="en-US"/>
          </a:p>
        </p:txBody>
      </p:sp>
    </p:spTree>
    <p:extLst>
      <p:ext uri="{BB962C8B-B14F-4D97-AF65-F5344CB8AC3E}">
        <p14:creationId xmlns:p14="http://schemas.microsoft.com/office/powerpoint/2010/main" val="2409968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388" y="406400"/>
            <a:ext cx="2620962" cy="1423988"/>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455988" y="877888"/>
            <a:ext cx="4116387" cy="433387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60388" y="1830388"/>
            <a:ext cx="2620962" cy="338931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8800" y="5653088"/>
            <a:ext cx="1828800" cy="325437"/>
          </a:xfrm>
          <a:prstGeom prst="rect">
            <a:avLst/>
          </a:prstGeom>
        </p:spPr>
        <p:txBody>
          <a:bodyPr/>
          <a:lstStyle>
            <a:lvl1pPr>
              <a:defRPr/>
            </a:lvl1pPr>
          </a:lstStyle>
          <a:p>
            <a:pPr>
              <a:defRPr/>
            </a:pPr>
            <a:fld id="{47747EA9-5333-440B-85C9-CF34D240CFB1}" type="datetimeFigureOut">
              <a:rPr lang="en-US"/>
              <a:pPr>
                <a:defRPr/>
              </a:pPr>
              <a:t>24-Nov-19</a:t>
            </a:fld>
            <a:endParaRPr lang="en-US"/>
          </a:p>
        </p:txBody>
      </p:sp>
      <p:sp>
        <p:nvSpPr>
          <p:cNvPr id="6" name="Footer Placeholder 5"/>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B49E111B-A81D-4345-93FC-CA44F9E1E220}" type="slidenum">
              <a:rPr lang="en-US"/>
              <a:pPr>
                <a:defRPr/>
              </a:pPr>
              <a:t>‹#›</a:t>
            </a:fld>
            <a:endParaRPr lang="en-US"/>
          </a:p>
        </p:txBody>
      </p:sp>
    </p:spTree>
    <p:extLst>
      <p:ext uri="{BB962C8B-B14F-4D97-AF65-F5344CB8AC3E}">
        <p14:creationId xmlns:p14="http://schemas.microsoft.com/office/powerpoint/2010/main" val="3029274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388" y="406400"/>
            <a:ext cx="2620962" cy="1423988"/>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455988" y="877888"/>
            <a:ext cx="4116387" cy="43338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560388" y="1830388"/>
            <a:ext cx="2620962" cy="338931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8800" y="5653088"/>
            <a:ext cx="1828800" cy="325437"/>
          </a:xfrm>
          <a:prstGeom prst="rect">
            <a:avLst/>
          </a:prstGeom>
        </p:spPr>
        <p:txBody>
          <a:bodyPr/>
          <a:lstStyle>
            <a:lvl1pPr>
              <a:defRPr/>
            </a:lvl1pPr>
          </a:lstStyle>
          <a:p>
            <a:pPr>
              <a:defRPr/>
            </a:pPr>
            <a:fld id="{83DE9EF5-B2CD-41E5-9679-E22E3CED1CAC}" type="datetimeFigureOut">
              <a:rPr lang="en-US"/>
              <a:pPr>
                <a:defRPr/>
              </a:pPr>
              <a:t>24-Nov-19</a:t>
            </a:fld>
            <a:endParaRPr lang="en-US"/>
          </a:p>
        </p:txBody>
      </p:sp>
      <p:sp>
        <p:nvSpPr>
          <p:cNvPr id="6" name="Footer Placeholder 5"/>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C79C655E-84EC-4FE7-960E-1CAB2D749513}" type="slidenum">
              <a:rPr lang="en-US"/>
              <a:pPr>
                <a:defRPr/>
              </a:pPr>
              <a:t>‹#›</a:t>
            </a:fld>
            <a:endParaRPr lang="en-US"/>
          </a:p>
        </p:txBody>
      </p:sp>
    </p:spTree>
    <p:extLst>
      <p:ext uri="{BB962C8B-B14F-4D97-AF65-F5344CB8AC3E}">
        <p14:creationId xmlns:p14="http://schemas.microsoft.com/office/powerpoint/2010/main" val="366391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8800" y="325438"/>
            <a:ext cx="7011988" cy="117792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58800" y="1624013"/>
            <a:ext cx="7011988" cy="3868737"/>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2E3BC2FF-7419-4FA9-B81B-B99281221D02}" type="datetimeFigureOut">
              <a:rPr lang="en-US"/>
              <a:pPr>
                <a:defRPr/>
              </a:pPr>
              <a:t>24-Nov-19</a:t>
            </a:fld>
            <a:endParaRPr lang="en-US"/>
          </a:p>
        </p:txBody>
      </p:sp>
      <p:sp>
        <p:nvSpPr>
          <p:cNvPr id="5" name="Footer Placeholder 4"/>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422B827E-A1F9-46F6-90BC-6ACFBC11E458}" type="slidenum">
              <a:rPr lang="en-US"/>
              <a:pPr>
                <a:defRPr/>
              </a:pPr>
              <a:t>‹#›</a:t>
            </a:fld>
            <a:endParaRPr lang="en-US"/>
          </a:p>
        </p:txBody>
      </p:sp>
    </p:spTree>
    <p:extLst>
      <p:ext uri="{BB962C8B-B14F-4D97-AF65-F5344CB8AC3E}">
        <p14:creationId xmlns:p14="http://schemas.microsoft.com/office/powerpoint/2010/main" val="254888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818188" y="325438"/>
            <a:ext cx="1752600" cy="51673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58800" y="325438"/>
            <a:ext cx="5106988" cy="5167312"/>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558800" y="5653088"/>
            <a:ext cx="1828800" cy="325437"/>
          </a:xfrm>
          <a:prstGeom prst="rect">
            <a:avLst/>
          </a:prstGeom>
        </p:spPr>
        <p:txBody>
          <a:bodyPr/>
          <a:lstStyle>
            <a:lvl1pPr>
              <a:defRPr/>
            </a:lvl1pPr>
          </a:lstStyle>
          <a:p>
            <a:pPr>
              <a:defRPr/>
            </a:pPr>
            <a:fld id="{7A316D2E-0934-4D01-999E-DC4634FAB0E4}" type="datetimeFigureOut">
              <a:rPr lang="en-US"/>
              <a:pPr>
                <a:defRPr/>
              </a:pPr>
              <a:t>24-Nov-19</a:t>
            </a:fld>
            <a:endParaRPr lang="en-US"/>
          </a:p>
        </p:txBody>
      </p:sp>
      <p:sp>
        <p:nvSpPr>
          <p:cNvPr id="5" name="Footer Placeholder 4"/>
          <p:cNvSpPr>
            <a:spLocks noGrp="1"/>
          </p:cNvSpPr>
          <p:nvPr>
            <p:ph type="ftr" sz="quarter" idx="11"/>
          </p:nvPr>
        </p:nvSpPr>
        <p:spPr>
          <a:xfrm>
            <a:off x="2692400" y="5653088"/>
            <a:ext cx="2744788" cy="3254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741988" y="5653088"/>
            <a:ext cx="1828800" cy="325437"/>
          </a:xfrm>
          <a:prstGeom prst="rect">
            <a:avLst/>
          </a:prstGeom>
        </p:spPr>
        <p:txBody>
          <a:bodyPr/>
          <a:lstStyle>
            <a:lvl1pPr>
              <a:defRPr/>
            </a:lvl1pPr>
          </a:lstStyle>
          <a:p>
            <a:pPr>
              <a:defRPr/>
            </a:pPr>
            <a:fld id="{C20C6E20-695D-496C-B743-997BB16669CE}" type="slidenum">
              <a:rPr lang="en-US"/>
              <a:pPr>
                <a:defRPr/>
              </a:pPr>
              <a:t>‹#›</a:t>
            </a:fld>
            <a:endParaRPr lang="en-US"/>
          </a:p>
        </p:txBody>
      </p:sp>
    </p:spTree>
    <p:extLst>
      <p:ext uri="{BB962C8B-B14F-4D97-AF65-F5344CB8AC3E}">
        <p14:creationId xmlns:p14="http://schemas.microsoft.com/office/powerpoint/2010/main" val="14236771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122238" y="839788"/>
            <a:ext cx="7011987" cy="386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p:cNvSpPr>
            <a:spLocks noGrp="1"/>
          </p:cNvSpPr>
          <p:nvPr>
            <p:ph type="ftr" sz="quarter" idx="3"/>
          </p:nvPr>
        </p:nvSpPr>
        <p:spPr>
          <a:xfrm>
            <a:off x="2692400" y="5653088"/>
            <a:ext cx="2744788" cy="325437"/>
          </a:xfrm>
          <a:prstGeom prst="rect">
            <a:avLst/>
          </a:prstGeom>
        </p:spPr>
        <p:txBody>
          <a:bodyPr vert="horz" lIns="91440" tIns="45720" rIns="91440" bIns="45720" rtlCol="0" anchor="ctr"/>
          <a:lstStyle>
            <a:lvl1pPr algn="ctr">
              <a:defRPr sz="1067">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5741988" y="5653088"/>
            <a:ext cx="1828800" cy="325437"/>
          </a:xfrm>
          <a:prstGeom prst="rect">
            <a:avLst/>
          </a:prstGeom>
        </p:spPr>
        <p:txBody>
          <a:bodyPr vert="horz" lIns="91440" tIns="45720" rIns="91440" bIns="45720" rtlCol="0" anchor="ctr"/>
          <a:lstStyle>
            <a:lvl1pPr algn="r">
              <a:defRPr sz="1067">
                <a:solidFill>
                  <a:schemeClr val="tx1">
                    <a:tint val="75000"/>
                  </a:schemeClr>
                </a:solidFill>
              </a:defRPr>
            </a:lvl1pPr>
          </a:lstStyle>
          <a:p>
            <a:pPr>
              <a:defRPr/>
            </a:pPr>
            <a:fld id="{E704D645-ADF7-469E-915D-826BBA47D127}" type="slidenum">
              <a:rPr lang="en-US"/>
              <a:pPr>
                <a:defRPr/>
              </a:pPr>
              <a:t>‹#›</a:t>
            </a:fld>
            <a:endParaRPr lang="en-US" dirty="0"/>
          </a:p>
        </p:txBody>
      </p:sp>
      <p:sp>
        <p:nvSpPr>
          <p:cNvPr id="7" name="Text Box 3"/>
          <p:cNvSpPr txBox="1">
            <a:spLocks noChangeArrowheads="1"/>
          </p:cNvSpPr>
          <p:nvPr userDrawn="1"/>
        </p:nvSpPr>
        <p:spPr bwMode="auto">
          <a:xfrm>
            <a:off x="0" y="-22225"/>
            <a:ext cx="8129588" cy="400050"/>
          </a:xfrm>
          <a:prstGeom prst="rect">
            <a:avLst/>
          </a:prstGeom>
          <a:solidFill>
            <a:schemeClr val="accent4">
              <a:lumMod val="75000"/>
            </a:schemeClr>
          </a:solidFill>
          <a:ln/>
        </p:spPr>
        <p:style>
          <a:lnRef idx="2">
            <a:schemeClr val="accent4"/>
          </a:lnRef>
          <a:fillRef idx="1">
            <a:schemeClr val="lt1"/>
          </a:fillRef>
          <a:effectRef idx="0">
            <a:schemeClr val="accent4"/>
          </a:effectRef>
          <a:fontRef idx="minor">
            <a:schemeClr val="dk1"/>
          </a:fontRef>
        </p:style>
        <p:txBody>
          <a:bodyPr>
            <a:spAutoFit/>
          </a:bodyPr>
          <a:lstStyle/>
          <a:p>
            <a:pPr>
              <a:spcBef>
                <a:spcPct val="50000"/>
              </a:spcBef>
              <a:defRPr/>
            </a:pPr>
            <a:endParaRPr lang="en-US" altLang="en-US" sz="2000" b="1" dirty="0">
              <a:solidFill>
                <a:schemeClr val="bg1"/>
              </a:solidFill>
              <a:latin typeface="Gabriola" panose="04040605051002020D02" pitchFamily="82" charset="0"/>
              <a:ea typeface="BatangChe" panose="02030609000101010101" pitchFamily="49" charset="-127"/>
            </a:endParaRPr>
          </a:p>
        </p:txBody>
      </p:sp>
      <p:sp>
        <p:nvSpPr>
          <p:cNvPr id="1030" name="Title Placeholder 9"/>
          <p:cNvSpPr>
            <a:spLocks noGrp="1"/>
          </p:cNvSpPr>
          <p:nvPr>
            <p:ph type="title"/>
          </p:nvPr>
        </p:nvSpPr>
        <p:spPr bwMode="auto">
          <a:xfrm>
            <a:off x="103188" y="-22225"/>
            <a:ext cx="6935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Lst>
  <p:txStyles>
    <p:titleStyle>
      <a:lvl1pPr algn="l" defTabSz="812800" rtl="0" eaLnBrk="0" fontAlgn="base" hangingPunct="0">
        <a:lnSpc>
          <a:spcPct val="90000"/>
        </a:lnSpc>
        <a:spcBef>
          <a:spcPct val="0"/>
        </a:spcBef>
        <a:spcAft>
          <a:spcPct val="0"/>
        </a:spcAft>
        <a:defRPr sz="2400" kern="1200">
          <a:solidFill>
            <a:schemeClr val="bg1"/>
          </a:solidFill>
          <a:latin typeface="Gabriola" panose="04040605051002020D02" pitchFamily="82" charset="0"/>
          <a:ea typeface="+mj-ea"/>
          <a:cs typeface="+mj-cs"/>
        </a:defRPr>
      </a:lvl1pPr>
      <a:lvl2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2pPr>
      <a:lvl3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3pPr>
      <a:lvl4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4pPr>
      <a:lvl5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5pPr>
      <a:lvl6pPr marL="457200" algn="l" defTabSz="812800" rtl="0" fontAlgn="base">
        <a:lnSpc>
          <a:spcPct val="90000"/>
        </a:lnSpc>
        <a:spcBef>
          <a:spcPct val="0"/>
        </a:spcBef>
        <a:spcAft>
          <a:spcPct val="0"/>
        </a:spcAft>
        <a:defRPr sz="3900">
          <a:solidFill>
            <a:schemeClr val="tx1"/>
          </a:solidFill>
          <a:latin typeface="Calibri Light" panose="020F0302020204030204" pitchFamily="34" charset="0"/>
        </a:defRPr>
      </a:lvl6pPr>
      <a:lvl7pPr marL="914400" algn="l" defTabSz="812800" rtl="0" fontAlgn="base">
        <a:lnSpc>
          <a:spcPct val="90000"/>
        </a:lnSpc>
        <a:spcBef>
          <a:spcPct val="0"/>
        </a:spcBef>
        <a:spcAft>
          <a:spcPct val="0"/>
        </a:spcAft>
        <a:defRPr sz="3900">
          <a:solidFill>
            <a:schemeClr val="tx1"/>
          </a:solidFill>
          <a:latin typeface="Calibri Light" panose="020F0302020204030204" pitchFamily="34" charset="0"/>
        </a:defRPr>
      </a:lvl7pPr>
      <a:lvl8pPr marL="1371600" algn="l" defTabSz="812800" rtl="0" fontAlgn="base">
        <a:lnSpc>
          <a:spcPct val="90000"/>
        </a:lnSpc>
        <a:spcBef>
          <a:spcPct val="0"/>
        </a:spcBef>
        <a:spcAft>
          <a:spcPct val="0"/>
        </a:spcAft>
        <a:defRPr sz="3900">
          <a:solidFill>
            <a:schemeClr val="tx1"/>
          </a:solidFill>
          <a:latin typeface="Calibri Light" panose="020F0302020204030204" pitchFamily="34" charset="0"/>
        </a:defRPr>
      </a:lvl8pPr>
      <a:lvl9pPr marL="1828800" algn="l" defTabSz="812800" rtl="0" fontAlgn="base">
        <a:lnSpc>
          <a:spcPct val="90000"/>
        </a:lnSpc>
        <a:spcBef>
          <a:spcPct val="0"/>
        </a:spcBef>
        <a:spcAft>
          <a:spcPct val="0"/>
        </a:spcAft>
        <a:defRPr sz="3900">
          <a:solidFill>
            <a:schemeClr val="tx1"/>
          </a:solidFill>
          <a:latin typeface="Calibri Light" panose="020F0302020204030204" pitchFamily="34" charset="0"/>
        </a:defRPr>
      </a:lvl9pPr>
    </p:titleStyle>
    <p:bodyStyle>
      <a:lvl1pPr marL="203200" indent="-203200" algn="l" defTabSz="812800" rtl="0" eaLnBrk="0" fontAlgn="base" hangingPunct="0">
        <a:lnSpc>
          <a:spcPct val="90000"/>
        </a:lnSpc>
        <a:spcBef>
          <a:spcPts val="888"/>
        </a:spcBef>
        <a:spcAft>
          <a:spcPct val="0"/>
        </a:spcAft>
        <a:buFont typeface="Arial" panose="020B0604020202020204" pitchFamily="34" charset="0"/>
        <a:buChar char="•"/>
        <a:defRPr sz="2400" kern="1200">
          <a:solidFill>
            <a:schemeClr val="tx1"/>
          </a:solidFill>
          <a:latin typeface="+mn-lt"/>
          <a:ea typeface="+mn-ea"/>
          <a:cs typeface="+mn-cs"/>
        </a:defRPr>
      </a:lvl1pPr>
      <a:lvl2pPr marL="609600" indent="-203200" algn="l" defTabSz="812800" rtl="0" eaLnBrk="0" fontAlgn="base" hangingPunct="0">
        <a:lnSpc>
          <a:spcPct val="90000"/>
        </a:lnSpc>
        <a:spcBef>
          <a:spcPts val="450"/>
        </a:spcBef>
        <a:spcAft>
          <a:spcPct val="0"/>
        </a:spcAft>
        <a:buFont typeface="Arial" panose="020B0604020202020204" pitchFamily="34" charset="0"/>
        <a:buChar char="•"/>
        <a:defRPr sz="2100" kern="1200">
          <a:solidFill>
            <a:schemeClr val="tx1"/>
          </a:solidFill>
          <a:latin typeface="+mn-lt"/>
          <a:ea typeface="+mn-ea"/>
          <a:cs typeface="+mn-cs"/>
        </a:defRPr>
      </a:lvl2pPr>
      <a:lvl3pPr marL="1016000" indent="-203200" algn="l" defTabSz="812800" rtl="0" eaLnBrk="0" fontAlgn="base" hangingPunct="0">
        <a:lnSpc>
          <a:spcPct val="90000"/>
        </a:lnSpc>
        <a:spcBef>
          <a:spcPts val="450"/>
        </a:spcBef>
        <a:spcAft>
          <a:spcPct val="0"/>
        </a:spcAft>
        <a:buFont typeface="Arial" panose="020B0604020202020204" pitchFamily="34" charset="0"/>
        <a:buChar char="•"/>
        <a:defRPr sz="1700" kern="1200">
          <a:solidFill>
            <a:schemeClr val="tx1"/>
          </a:solidFill>
          <a:latin typeface="+mn-lt"/>
          <a:ea typeface="+mn-ea"/>
          <a:cs typeface="+mn-cs"/>
        </a:defRPr>
      </a:lvl3pPr>
      <a:lvl4pPr marL="1422400" indent="-203200" algn="l" defTabSz="812800" rtl="0" eaLnBrk="0" fontAlgn="base" hangingPunct="0">
        <a:lnSpc>
          <a:spcPct val="90000"/>
        </a:lnSpc>
        <a:spcBef>
          <a:spcPts val="450"/>
        </a:spcBef>
        <a:spcAft>
          <a:spcPct val="0"/>
        </a:spcAft>
        <a:buFont typeface="Arial" panose="020B0604020202020204" pitchFamily="34" charset="0"/>
        <a:buChar char="•"/>
        <a:defRPr sz="1600" kern="1200">
          <a:solidFill>
            <a:schemeClr val="tx1"/>
          </a:solidFill>
          <a:latin typeface="+mn-lt"/>
          <a:ea typeface="+mn-ea"/>
          <a:cs typeface="+mn-cs"/>
        </a:defRPr>
      </a:lvl4pPr>
      <a:lvl5pPr marL="1828800" indent="-203200" algn="l" defTabSz="812800" rtl="0" eaLnBrk="0" fontAlgn="base" hangingPunct="0">
        <a:lnSpc>
          <a:spcPct val="90000"/>
        </a:lnSpc>
        <a:spcBef>
          <a:spcPts val="450"/>
        </a:spcBef>
        <a:spcAft>
          <a:spcPct val="0"/>
        </a:spcAft>
        <a:buFont typeface="Arial" panose="020B0604020202020204" pitchFamily="34" charset="0"/>
        <a:buChar char="•"/>
        <a:defRPr sz="1600" kern="1200">
          <a:solidFill>
            <a:schemeClr val="tx1"/>
          </a:solidFill>
          <a:latin typeface="+mn-lt"/>
          <a:ea typeface="+mn-ea"/>
          <a:cs typeface="+mn-cs"/>
        </a:defRPr>
      </a:lvl5pPr>
      <a:lvl6pPr marL="2235731" indent="-203248" algn="l" defTabSz="812993"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2227" indent="-203248" algn="l" defTabSz="812993"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724" indent="-203248" algn="l" defTabSz="812993"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5220" indent="-203248" algn="l" defTabSz="812993"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812993" rtl="0" eaLnBrk="1" latinLnBrk="0" hangingPunct="1">
        <a:defRPr sz="1600" kern="1200">
          <a:solidFill>
            <a:schemeClr val="tx1"/>
          </a:solidFill>
          <a:latin typeface="+mn-lt"/>
          <a:ea typeface="+mn-ea"/>
          <a:cs typeface="+mn-cs"/>
        </a:defRPr>
      </a:lvl1pPr>
      <a:lvl2pPr marL="406497" algn="l" defTabSz="812993" rtl="0" eaLnBrk="1" latinLnBrk="0" hangingPunct="1">
        <a:defRPr sz="1600" kern="1200">
          <a:solidFill>
            <a:schemeClr val="tx1"/>
          </a:solidFill>
          <a:latin typeface="+mn-lt"/>
          <a:ea typeface="+mn-ea"/>
          <a:cs typeface="+mn-cs"/>
        </a:defRPr>
      </a:lvl2pPr>
      <a:lvl3pPr marL="812993" algn="l" defTabSz="812993" rtl="0" eaLnBrk="1" latinLnBrk="0" hangingPunct="1">
        <a:defRPr sz="1600" kern="1200">
          <a:solidFill>
            <a:schemeClr val="tx1"/>
          </a:solidFill>
          <a:latin typeface="+mn-lt"/>
          <a:ea typeface="+mn-ea"/>
          <a:cs typeface="+mn-cs"/>
        </a:defRPr>
      </a:lvl3pPr>
      <a:lvl4pPr marL="1219490" algn="l" defTabSz="812993" rtl="0" eaLnBrk="1" latinLnBrk="0" hangingPunct="1">
        <a:defRPr sz="1600" kern="1200">
          <a:solidFill>
            <a:schemeClr val="tx1"/>
          </a:solidFill>
          <a:latin typeface="+mn-lt"/>
          <a:ea typeface="+mn-ea"/>
          <a:cs typeface="+mn-cs"/>
        </a:defRPr>
      </a:lvl4pPr>
      <a:lvl5pPr marL="1625986" algn="l" defTabSz="812993" rtl="0" eaLnBrk="1" latinLnBrk="0" hangingPunct="1">
        <a:defRPr sz="1600" kern="1200">
          <a:solidFill>
            <a:schemeClr val="tx1"/>
          </a:solidFill>
          <a:latin typeface="+mn-lt"/>
          <a:ea typeface="+mn-ea"/>
          <a:cs typeface="+mn-cs"/>
        </a:defRPr>
      </a:lvl5pPr>
      <a:lvl6pPr marL="2032483" algn="l" defTabSz="812993" rtl="0" eaLnBrk="1" latinLnBrk="0" hangingPunct="1">
        <a:defRPr sz="1600" kern="1200">
          <a:solidFill>
            <a:schemeClr val="tx1"/>
          </a:solidFill>
          <a:latin typeface="+mn-lt"/>
          <a:ea typeface="+mn-ea"/>
          <a:cs typeface="+mn-cs"/>
        </a:defRPr>
      </a:lvl6pPr>
      <a:lvl7pPr marL="2438979" algn="l" defTabSz="812993" rtl="0" eaLnBrk="1" latinLnBrk="0" hangingPunct="1">
        <a:defRPr sz="1600" kern="1200">
          <a:solidFill>
            <a:schemeClr val="tx1"/>
          </a:solidFill>
          <a:latin typeface="+mn-lt"/>
          <a:ea typeface="+mn-ea"/>
          <a:cs typeface="+mn-cs"/>
        </a:defRPr>
      </a:lvl7pPr>
      <a:lvl8pPr marL="2845476" algn="l" defTabSz="812993" rtl="0" eaLnBrk="1" latinLnBrk="0" hangingPunct="1">
        <a:defRPr sz="1600" kern="1200">
          <a:solidFill>
            <a:schemeClr val="tx1"/>
          </a:solidFill>
          <a:latin typeface="+mn-lt"/>
          <a:ea typeface="+mn-ea"/>
          <a:cs typeface="+mn-cs"/>
        </a:defRPr>
      </a:lvl8pPr>
      <a:lvl9pPr marL="3251972" algn="l" defTabSz="812993" rtl="0" eaLnBrk="1" latinLnBrk="0" hangingPunct="1">
        <a:defRPr sz="1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ext Box 3"/>
          <p:cNvSpPr txBox="1">
            <a:spLocks noChangeArrowheads="1"/>
          </p:cNvSpPr>
          <p:nvPr userDrawn="1"/>
        </p:nvSpPr>
        <p:spPr bwMode="auto">
          <a:xfrm>
            <a:off x="0" y="-22225"/>
            <a:ext cx="8129588" cy="400050"/>
          </a:xfrm>
          <a:prstGeom prst="rect">
            <a:avLst/>
          </a:prstGeom>
          <a:solidFill>
            <a:srgbClr val="16537F"/>
          </a:solidFill>
          <a:ln w="12700" algn="ctr">
            <a:solidFill>
              <a:srgbClr val="1D6FA9"/>
            </a:solidFill>
            <a:miter lim="800000"/>
            <a:headEnd/>
            <a:tailEnd/>
          </a:ln>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50000"/>
              </a:spcBef>
            </a:pPr>
            <a:endParaRPr lang="en-US" altLang="en-US" sz="2000" b="1">
              <a:solidFill>
                <a:srgbClr val="FFFFFF"/>
              </a:solidFill>
              <a:latin typeface="Gabriola" panose="04040605051002020D02" pitchFamily="82" charset="0"/>
              <a:ea typeface="BatangChe" panose="02030609000101010101" pitchFamily="49" charset="-127"/>
            </a:endParaRPr>
          </a:p>
        </p:txBody>
      </p:sp>
      <p:sp>
        <p:nvSpPr>
          <p:cNvPr id="9" name="Rectangle 8"/>
          <p:cNvSpPr/>
          <p:nvPr userDrawn="1"/>
        </p:nvSpPr>
        <p:spPr>
          <a:xfrm>
            <a:off x="0" y="77788"/>
            <a:ext cx="8129588" cy="6021387"/>
          </a:xfrm>
          <a:prstGeom prst="rect">
            <a:avLst/>
          </a:prstGeom>
          <a:solidFill>
            <a:srgbClr val="1653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9213" y="2406650"/>
            <a:ext cx="8229601" cy="36925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600"/>
          </a:p>
        </p:txBody>
      </p:sp>
      <p:pic>
        <p:nvPicPr>
          <p:cNvPr id="20483" name="Picture 12"/>
          <p:cNvPicPr>
            <a:picLocks noChangeAspect="1"/>
          </p:cNvPicPr>
          <p:nvPr/>
        </p:nvPicPr>
        <p:blipFill>
          <a:blip r:embed="rId3">
            <a:extLst>
              <a:ext uri="{28A0092B-C50C-407E-A947-70E740481C1C}">
                <a14:useLocalDpi xmlns:a14="http://schemas.microsoft.com/office/drawing/2010/main" val="0"/>
              </a:ext>
            </a:extLst>
          </a:blip>
          <a:srcRect l="-269" t="32202" r="10593" b="39046"/>
          <a:stretch>
            <a:fillRect/>
          </a:stretch>
        </p:blipFill>
        <p:spPr bwMode="auto">
          <a:xfrm>
            <a:off x="-49213" y="841374"/>
            <a:ext cx="8229601"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334" y="-65882"/>
            <a:ext cx="8187721" cy="9072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 name="Straight Connector 3"/>
          <p:cNvCxnSpPr/>
          <p:nvPr/>
        </p:nvCxnSpPr>
        <p:spPr>
          <a:xfrm>
            <a:off x="0" y="3558336"/>
            <a:ext cx="8129588" cy="0"/>
          </a:xfrm>
          <a:prstGeom prst="line">
            <a:avLst/>
          </a:prstGeom>
          <a:ln w="12700">
            <a:solidFill>
              <a:srgbClr val="099ED3"/>
            </a:solidFill>
          </a:ln>
        </p:spPr>
        <p:style>
          <a:lnRef idx="1">
            <a:schemeClr val="accent1"/>
          </a:lnRef>
          <a:fillRef idx="0">
            <a:schemeClr val="accent1"/>
          </a:fillRef>
          <a:effectRef idx="0">
            <a:schemeClr val="accent1"/>
          </a:effectRef>
          <a:fontRef idx="minor">
            <a:schemeClr val="tx1"/>
          </a:fontRef>
        </p:style>
      </p:cxnSp>
      <p:pic>
        <p:nvPicPr>
          <p:cNvPr id="20486"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06340" y="-36668"/>
            <a:ext cx="1723248" cy="79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7"/>
          <p:cNvSpPr txBox="1">
            <a:spLocks/>
          </p:cNvSpPr>
          <p:nvPr/>
        </p:nvSpPr>
        <p:spPr>
          <a:xfrm>
            <a:off x="1588" y="3702051"/>
            <a:ext cx="5711825" cy="382587"/>
          </a:xfrm>
          <a:prstGeom prst="rect">
            <a:avLst/>
          </a:prstGeom>
        </p:spPr>
        <p:txBody>
          <a:bodyPr anchor="b">
            <a:normAutofit fontScale="45000" lnSpcReduction="20000"/>
          </a:bodyPr>
          <a:lstStyle>
            <a:lvl1pPr algn="ctr" defTabSz="812800" rtl="0" fontAlgn="base">
              <a:lnSpc>
                <a:spcPct val="90000"/>
              </a:lnSpc>
              <a:spcBef>
                <a:spcPct val="0"/>
              </a:spcBef>
              <a:spcAft>
                <a:spcPct val="0"/>
              </a:spcAft>
              <a:defRPr sz="5335" kern="1200">
                <a:solidFill>
                  <a:schemeClr val="bg1"/>
                </a:solidFill>
                <a:latin typeface="Gabriola" panose="04040605051002020D02" pitchFamily="82" charset="0"/>
                <a:ea typeface="+mj-ea"/>
                <a:cs typeface="+mj-cs"/>
              </a:defRPr>
            </a:lvl1pPr>
            <a:lvl2pPr algn="l" defTabSz="812800" rtl="0" fontAlgn="base">
              <a:lnSpc>
                <a:spcPct val="90000"/>
              </a:lnSpc>
              <a:spcBef>
                <a:spcPct val="0"/>
              </a:spcBef>
              <a:spcAft>
                <a:spcPct val="0"/>
              </a:spcAft>
              <a:defRPr sz="3900">
                <a:solidFill>
                  <a:schemeClr val="tx1"/>
                </a:solidFill>
                <a:latin typeface="Calibri Light" panose="020F0302020204030204" pitchFamily="34" charset="0"/>
              </a:defRPr>
            </a:lvl2pPr>
            <a:lvl3pPr algn="l" defTabSz="812800" rtl="0" fontAlgn="base">
              <a:lnSpc>
                <a:spcPct val="90000"/>
              </a:lnSpc>
              <a:spcBef>
                <a:spcPct val="0"/>
              </a:spcBef>
              <a:spcAft>
                <a:spcPct val="0"/>
              </a:spcAft>
              <a:defRPr sz="3900">
                <a:solidFill>
                  <a:schemeClr val="tx1"/>
                </a:solidFill>
                <a:latin typeface="Calibri Light" panose="020F0302020204030204" pitchFamily="34" charset="0"/>
              </a:defRPr>
            </a:lvl3pPr>
            <a:lvl4pPr algn="l" defTabSz="812800" rtl="0" fontAlgn="base">
              <a:lnSpc>
                <a:spcPct val="90000"/>
              </a:lnSpc>
              <a:spcBef>
                <a:spcPct val="0"/>
              </a:spcBef>
              <a:spcAft>
                <a:spcPct val="0"/>
              </a:spcAft>
              <a:defRPr sz="3900">
                <a:solidFill>
                  <a:schemeClr val="tx1"/>
                </a:solidFill>
                <a:latin typeface="Calibri Light" panose="020F0302020204030204" pitchFamily="34" charset="0"/>
              </a:defRPr>
            </a:lvl4pPr>
            <a:lvl5pPr algn="l" defTabSz="812800" rtl="0" fontAlgn="base">
              <a:lnSpc>
                <a:spcPct val="90000"/>
              </a:lnSpc>
              <a:spcBef>
                <a:spcPct val="0"/>
              </a:spcBef>
              <a:spcAft>
                <a:spcPct val="0"/>
              </a:spcAft>
              <a:defRPr sz="3900">
                <a:solidFill>
                  <a:schemeClr val="tx1"/>
                </a:solidFill>
                <a:latin typeface="Calibri Light" panose="020F0302020204030204" pitchFamily="34" charset="0"/>
              </a:defRPr>
            </a:lvl5pPr>
            <a:lvl6pPr marL="457200" algn="l" defTabSz="812800" rtl="0" fontAlgn="base">
              <a:lnSpc>
                <a:spcPct val="90000"/>
              </a:lnSpc>
              <a:spcBef>
                <a:spcPct val="0"/>
              </a:spcBef>
              <a:spcAft>
                <a:spcPct val="0"/>
              </a:spcAft>
              <a:defRPr sz="3900">
                <a:solidFill>
                  <a:schemeClr val="tx1"/>
                </a:solidFill>
                <a:latin typeface="Calibri Light" panose="020F0302020204030204" pitchFamily="34" charset="0"/>
              </a:defRPr>
            </a:lvl6pPr>
            <a:lvl7pPr marL="914400" algn="l" defTabSz="812800" rtl="0" fontAlgn="base">
              <a:lnSpc>
                <a:spcPct val="90000"/>
              </a:lnSpc>
              <a:spcBef>
                <a:spcPct val="0"/>
              </a:spcBef>
              <a:spcAft>
                <a:spcPct val="0"/>
              </a:spcAft>
              <a:defRPr sz="3900">
                <a:solidFill>
                  <a:schemeClr val="tx1"/>
                </a:solidFill>
                <a:latin typeface="Calibri Light" panose="020F0302020204030204" pitchFamily="34" charset="0"/>
              </a:defRPr>
            </a:lvl7pPr>
            <a:lvl8pPr marL="1371600" algn="l" defTabSz="812800" rtl="0" fontAlgn="base">
              <a:lnSpc>
                <a:spcPct val="90000"/>
              </a:lnSpc>
              <a:spcBef>
                <a:spcPct val="0"/>
              </a:spcBef>
              <a:spcAft>
                <a:spcPct val="0"/>
              </a:spcAft>
              <a:defRPr sz="3900">
                <a:solidFill>
                  <a:schemeClr val="tx1"/>
                </a:solidFill>
                <a:latin typeface="Calibri Light" panose="020F0302020204030204" pitchFamily="34" charset="0"/>
              </a:defRPr>
            </a:lvl8pPr>
            <a:lvl9pPr marL="1828800" algn="l" defTabSz="812800" rtl="0" fontAlgn="base">
              <a:lnSpc>
                <a:spcPct val="90000"/>
              </a:lnSpc>
              <a:spcBef>
                <a:spcPct val="0"/>
              </a:spcBef>
              <a:spcAft>
                <a:spcPct val="0"/>
              </a:spcAft>
              <a:defRPr sz="3900">
                <a:solidFill>
                  <a:schemeClr val="tx1"/>
                </a:solidFill>
                <a:latin typeface="Calibri Light" panose="020F0302020204030204" pitchFamily="34" charset="0"/>
              </a:defRPr>
            </a:lvl9pPr>
          </a:lstStyle>
          <a:p>
            <a:pPr algn="l" eaLnBrk="1" hangingPunct="1">
              <a:defRPr/>
            </a:pPr>
            <a:r>
              <a:rPr lang="en-US" dirty="0">
                <a:solidFill>
                  <a:schemeClr val="tx1"/>
                </a:solidFill>
                <a:latin typeface="+mn-lt"/>
              </a:rPr>
              <a:t>Steering Committee Meeting</a:t>
            </a:r>
          </a:p>
        </p:txBody>
      </p:sp>
      <p:sp>
        <p:nvSpPr>
          <p:cNvPr id="16" name="Title 7"/>
          <p:cNvSpPr txBox="1">
            <a:spLocks/>
          </p:cNvSpPr>
          <p:nvPr/>
        </p:nvSpPr>
        <p:spPr>
          <a:xfrm>
            <a:off x="0" y="2919655"/>
            <a:ext cx="5713413" cy="398463"/>
          </a:xfrm>
          <a:prstGeom prst="rect">
            <a:avLst/>
          </a:prstGeom>
        </p:spPr>
        <p:txBody>
          <a:bodyPr anchor="b"/>
          <a:lstStyle>
            <a:lvl1pPr algn="ctr" defTabSz="812800" rtl="0" fontAlgn="base">
              <a:lnSpc>
                <a:spcPct val="90000"/>
              </a:lnSpc>
              <a:spcBef>
                <a:spcPct val="0"/>
              </a:spcBef>
              <a:spcAft>
                <a:spcPct val="0"/>
              </a:spcAft>
              <a:defRPr sz="5335" kern="1200">
                <a:solidFill>
                  <a:schemeClr val="bg1"/>
                </a:solidFill>
                <a:latin typeface="Gabriola" panose="04040605051002020D02" pitchFamily="82" charset="0"/>
                <a:ea typeface="+mj-ea"/>
                <a:cs typeface="+mj-cs"/>
              </a:defRPr>
            </a:lvl1pPr>
            <a:lvl2pPr algn="l" defTabSz="812800" rtl="0" fontAlgn="base">
              <a:lnSpc>
                <a:spcPct val="90000"/>
              </a:lnSpc>
              <a:spcBef>
                <a:spcPct val="0"/>
              </a:spcBef>
              <a:spcAft>
                <a:spcPct val="0"/>
              </a:spcAft>
              <a:defRPr sz="3900">
                <a:solidFill>
                  <a:schemeClr val="tx1"/>
                </a:solidFill>
                <a:latin typeface="Calibri Light" panose="020F0302020204030204" pitchFamily="34" charset="0"/>
              </a:defRPr>
            </a:lvl2pPr>
            <a:lvl3pPr algn="l" defTabSz="812800" rtl="0" fontAlgn="base">
              <a:lnSpc>
                <a:spcPct val="90000"/>
              </a:lnSpc>
              <a:spcBef>
                <a:spcPct val="0"/>
              </a:spcBef>
              <a:spcAft>
                <a:spcPct val="0"/>
              </a:spcAft>
              <a:defRPr sz="3900">
                <a:solidFill>
                  <a:schemeClr val="tx1"/>
                </a:solidFill>
                <a:latin typeface="Calibri Light" panose="020F0302020204030204" pitchFamily="34" charset="0"/>
              </a:defRPr>
            </a:lvl3pPr>
            <a:lvl4pPr algn="l" defTabSz="812800" rtl="0" fontAlgn="base">
              <a:lnSpc>
                <a:spcPct val="90000"/>
              </a:lnSpc>
              <a:spcBef>
                <a:spcPct val="0"/>
              </a:spcBef>
              <a:spcAft>
                <a:spcPct val="0"/>
              </a:spcAft>
              <a:defRPr sz="3900">
                <a:solidFill>
                  <a:schemeClr val="tx1"/>
                </a:solidFill>
                <a:latin typeface="Calibri Light" panose="020F0302020204030204" pitchFamily="34" charset="0"/>
              </a:defRPr>
            </a:lvl4pPr>
            <a:lvl5pPr algn="l" defTabSz="812800" rtl="0" fontAlgn="base">
              <a:lnSpc>
                <a:spcPct val="90000"/>
              </a:lnSpc>
              <a:spcBef>
                <a:spcPct val="0"/>
              </a:spcBef>
              <a:spcAft>
                <a:spcPct val="0"/>
              </a:spcAft>
              <a:defRPr sz="3900">
                <a:solidFill>
                  <a:schemeClr val="tx1"/>
                </a:solidFill>
                <a:latin typeface="Calibri Light" panose="020F0302020204030204" pitchFamily="34" charset="0"/>
              </a:defRPr>
            </a:lvl5pPr>
            <a:lvl6pPr marL="457200" algn="l" defTabSz="812800" rtl="0" fontAlgn="base">
              <a:lnSpc>
                <a:spcPct val="90000"/>
              </a:lnSpc>
              <a:spcBef>
                <a:spcPct val="0"/>
              </a:spcBef>
              <a:spcAft>
                <a:spcPct val="0"/>
              </a:spcAft>
              <a:defRPr sz="3900">
                <a:solidFill>
                  <a:schemeClr val="tx1"/>
                </a:solidFill>
                <a:latin typeface="Calibri Light" panose="020F0302020204030204" pitchFamily="34" charset="0"/>
              </a:defRPr>
            </a:lvl6pPr>
            <a:lvl7pPr marL="914400" algn="l" defTabSz="812800" rtl="0" fontAlgn="base">
              <a:lnSpc>
                <a:spcPct val="90000"/>
              </a:lnSpc>
              <a:spcBef>
                <a:spcPct val="0"/>
              </a:spcBef>
              <a:spcAft>
                <a:spcPct val="0"/>
              </a:spcAft>
              <a:defRPr sz="3900">
                <a:solidFill>
                  <a:schemeClr val="tx1"/>
                </a:solidFill>
                <a:latin typeface="Calibri Light" panose="020F0302020204030204" pitchFamily="34" charset="0"/>
              </a:defRPr>
            </a:lvl7pPr>
            <a:lvl8pPr marL="1371600" algn="l" defTabSz="812800" rtl="0" fontAlgn="base">
              <a:lnSpc>
                <a:spcPct val="90000"/>
              </a:lnSpc>
              <a:spcBef>
                <a:spcPct val="0"/>
              </a:spcBef>
              <a:spcAft>
                <a:spcPct val="0"/>
              </a:spcAft>
              <a:defRPr sz="3900">
                <a:solidFill>
                  <a:schemeClr val="tx1"/>
                </a:solidFill>
                <a:latin typeface="Calibri Light" panose="020F0302020204030204" pitchFamily="34" charset="0"/>
              </a:defRPr>
            </a:lvl8pPr>
            <a:lvl9pPr marL="1828800" algn="l" defTabSz="812800" rtl="0" fontAlgn="base">
              <a:lnSpc>
                <a:spcPct val="90000"/>
              </a:lnSpc>
              <a:spcBef>
                <a:spcPct val="0"/>
              </a:spcBef>
              <a:spcAft>
                <a:spcPct val="0"/>
              </a:spcAft>
              <a:defRPr sz="3900">
                <a:solidFill>
                  <a:schemeClr val="tx1"/>
                </a:solidFill>
                <a:latin typeface="Calibri Light" panose="020F0302020204030204" pitchFamily="34" charset="0"/>
              </a:defRPr>
            </a:lvl9pPr>
          </a:lstStyle>
          <a:p>
            <a:pPr algn="l" eaLnBrk="1" hangingPunct="1">
              <a:defRPr/>
            </a:pPr>
            <a:r>
              <a:rPr lang="en-US" sz="3200" dirty="0">
                <a:solidFill>
                  <a:srgbClr val="0070C0"/>
                </a:solidFill>
                <a:latin typeface="+mn-lt"/>
                <a:ea typeface="+mn-ea"/>
                <a:cs typeface="+mn-cs"/>
              </a:rPr>
              <a:t>Acme </a:t>
            </a:r>
            <a:r>
              <a:rPr lang="en-US" sz="3200" dirty="0" smtClean="0">
                <a:solidFill>
                  <a:srgbClr val="0070C0"/>
                </a:solidFill>
                <a:latin typeface="+mn-lt"/>
                <a:ea typeface="+mn-ea"/>
                <a:cs typeface="+mn-cs"/>
              </a:rPr>
              <a:t>Pharma </a:t>
            </a:r>
          </a:p>
          <a:p>
            <a:pPr algn="l" eaLnBrk="1" hangingPunct="1">
              <a:defRPr/>
            </a:pPr>
            <a:r>
              <a:rPr lang="en-US" sz="1200" dirty="0" smtClean="0">
                <a:solidFill>
                  <a:srgbClr val="0070C0"/>
                </a:solidFill>
                <a:latin typeface="+mn-lt"/>
                <a:ea typeface="+mn-ea"/>
                <a:cs typeface="+mn-cs"/>
              </a:rPr>
              <a:t>WorkDay AnyPoint Platform Integration Project</a:t>
            </a:r>
          </a:p>
        </p:txBody>
      </p:sp>
      <p:sp>
        <p:nvSpPr>
          <p:cNvPr id="20489" name="Rectangle 6"/>
          <p:cNvSpPr>
            <a:spLocks noChangeArrowheads="1"/>
          </p:cNvSpPr>
          <p:nvPr/>
        </p:nvSpPr>
        <p:spPr bwMode="auto">
          <a:xfrm>
            <a:off x="22526" y="4181812"/>
            <a:ext cx="406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r>
              <a:rPr lang="en-US" altLang="en-US" sz="1600" dirty="0" smtClean="0">
                <a:latin typeface="+mn-lt"/>
              </a:rPr>
              <a:t>25</a:t>
            </a:r>
            <a:r>
              <a:rPr lang="en-US" altLang="en-US" sz="1600" baseline="30000" dirty="0" smtClean="0">
                <a:latin typeface="+mn-lt"/>
              </a:rPr>
              <a:t>th</a:t>
            </a:r>
            <a:r>
              <a:rPr lang="en-US" altLang="en-US" sz="1600" dirty="0" smtClean="0">
                <a:latin typeface="+mn-lt"/>
              </a:rPr>
              <a:t> November 2019</a:t>
            </a:r>
            <a:endParaRPr lang="en-US" altLang="en-US" sz="1600" dirty="0">
              <a:latin typeface="+mn-lt"/>
            </a:endParaRPr>
          </a:p>
          <a:p>
            <a:pPr eaLnBrk="1" hangingPunct="1"/>
            <a:endParaRPr lang="en-US" altLang="en-US" sz="1600" dirty="0">
              <a:latin typeface="+mn-lt"/>
            </a:endParaRPr>
          </a:p>
          <a:p>
            <a:pPr eaLnBrk="1" hangingPunct="1"/>
            <a:r>
              <a:rPr lang="en-US" altLang="en-US" sz="1600" dirty="0" err="1" smtClean="0">
                <a:latin typeface="+mn-lt"/>
              </a:rPr>
              <a:t>Tosin</a:t>
            </a:r>
            <a:r>
              <a:rPr lang="en-US" altLang="en-US" sz="1600" dirty="0" smtClean="0">
                <a:latin typeface="+mn-lt"/>
              </a:rPr>
              <a:t> </a:t>
            </a:r>
            <a:r>
              <a:rPr lang="en-US" altLang="en-US" sz="1600" dirty="0" err="1">
                <a:latin typeface="+mn-lt"/>
              </a:rPr>
              <a:t>Adegbamigbe</a:t>
            </a:r>
            <a:endParaRPr lang="en-US" altLang="en-US" sz="1600" dirty="0">
              <a:latin typeface="+mn-lt"/>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03188" y="0"/>
            <a:ext cx="7011987" cy="382588"/>
          </a:xfrm>
        </p:spPr>
        <p:txBody>
          <a:bodyPr rtlCol="0">
            <a:normAutofit fontScale="90000"/>
          </a:bodyPr>
          <a:lstStyle/>
          <a:p>
            <a:pPr eaLnBrk="1" hangingPunct="1">
              <a:defRPr/>
            </a:pPr>
            <a:r>
              <a:rPr lang="en-US" dirty="0">
                <a:latin typeface="+mn-lt"/>
              </a:rPr>
              <a:t>Agenda</a:t>
            </a:r>
          </a:p>
        </p:txBody>
      </p:sp>
      <p:sp>
        <p:nvSpPr>
          <p:cNvPr id="22531" name="TextBox 2"/>
          <p:cNvSpPr txBox="1">
            <a:spLocks noChangeArrowheads="1"/>
          </p:cNvSpPr>
          <p:nvPr/>
        </p:nvSpPr>
        <p:spPr bwMode="auto">
          <a:xfrm>
            <a:off x="1034511" y="763587"/>
            <a:ext cx="3792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400">
                <a:solidFill>
                  <a:schemeClr val="tx1"/>
                </a:solidFill>
                <a:latin typeface="Times" panose="02020603050405020304" pitchFamily="18" charset="0"/>
              </a:defRPr>
            </a:lvl1pPr>
            <a:lvl2pPr marL="742950" indent="-285750" defTabSz="457200">
              <a:defRPr sz="2400">
                <a:solidFill>
                  <a:schemeClr val="tx1"/>
                </a:solidFill>
                <a:latin typeface="Times" panose="02020603050405020304" pitchFamily="18" charset="0"/>
              </a:defRPr>
            </a:lvl2pPr>
            <a:lvl3pPr marL="1143000" indent="-228600" defTabSz="457200">
              <a:defRPr sz="2400">
                <a:solidFill>
                  <a:schemeClr val="tx1"/>
                </a:solidFill>
                <a:latin typeface="Times" panose="02020603050405020304" pitchFamily="18" charset="0"/>
              </a:defRPr>
            </a:lvl3pPr>
            <a:lvl4pPr marL="1600200" indent="-228600" defTabSz="457200">
              <a:defRPr sz="2400">
                <a:solidFill>
                  <a:schemeClr val="tx1"/>
                </a:solidFill>
                <a:latin typeface="Times" panose="02020603050405020304" pitchFamily="18" charset="0"/>
              </a:defRPr>
            </a:lvl4pPr>
            <a:lvl5pPr marL="2057400" indent="-228600" defTabSz="457200">
              <a:defRPr sz="2400">
                <a:solidFill>
                  <a:schemeClr val="tx1"/>
                </a:solidFill>
                <a:latin typeface="Times" panose="02020603050405020304" pitchFamily="18" charset="0"/>
              </a:defRPr>
            </a:lvl5pPr>
            <a:lvl6pPr marL="2514600" indent="-228600" defTabSz="457200"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457200"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457200"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4572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Background &amp; Project Objectives</a:t>
            </a:r>
            <a:endParaRPr lang="en-US" altLang="en-US" sz="2000" dirty="0">
              <a:latin typeface="+mn-lt"/>
              <a:cs typeface="Aharoni" panose="02010803020104030203" pitchFamily="2" charset="-79"/>
            </a:endParaRPr>
          </a:p>
        </p:txBody>
      </p:sp>
      <p:sp>
        <p:nvSpPr>
          <p:cNvPr id="22532" name="Rectangle 4"/>
          <p:cNvSpPr>
            <a:spLocks noChangeArrowheads="1"/>
          </p:cNvSpPr>
          <p:nvPr/>
        </p:nvSpPr>
        <p:spPr bwMode="auto">
          <a:xfrm>
            <a:off x="1056531" y="1396832"/>
            <a:ext cx="16035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Project Scope</a:t>
            </a:r>
            <a:endParaRPr lang="en-US" altLang="en-US" sz="2000" dirty="0">
              <a:latin typeface="+mn-lt"/>
              <a:cs typeface="Aharoni" panose="02010803020104030203" pitchFamily="2" charset="-79"/>
            </a:endParaRPr>
          </a:p>
        </p:txBody>
      </p:sp>
      <p:sp>
        <p:nvSpPr>
          <p:cNvPr id="22533" name="Rectangle 5"/>
          <p:cNvSpPr>
            <a:spLocks noChangeArrowheads="1"/>
          </p:cNvSpPr>
          <p:nvPr/>
        </p:nvSpPr>
        <p:spPr bwMode="auto">
          <a:xfrm>
            <a:off x="1045848" y="1970673"/>
            <a:ext cx="43143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MuleSoft’s Approach &amp; Service Offering</a:t>
            </a:r>
            <a:endParaRPr lang="en-US" altLang="en-US" sz="2000" dirty="0">
              <a:latin typeface="+mn-lt"/>
              <a:cs typeface="Aharoni" panose="02010803020104030203" pitchFamily="2" charset="-79"/>
            </a:endParaRPr>
          </a:p>
        </p:txBody>
      </p:sp>
      <p:sp>
        <p:nvSpPr>
          <p:cNvPr id="22534" name="Rectangle 6"/>
          <p:cNvSpPr>
            <a:spLocks noChangeArrowheads="1"/>
          </p:cNvSpPr>
          <p:nvPr/>
        </p:nvSpPr>
        <p:spPr bwMode="auto">
          <a:xfrm>
            <a:off x="1034511" y="2569543"/>
            <a:ext cx="2378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Solution Architecture</a:t>
            </a:r>
            <a:endParaRPr lang="en-US" altLang="en-US" sz="2000" dirty="0">
              <a:latin typeface="+mn-lt"/>
              <a:cs typeface="Aharoni" panose="02010803020104030203" pitchFamily="2" charset="-79"/>
            </a:endParaRPr>
          </a:p>
        </p:txBody>
      </p:sp>
      <p:sp>
        <p:nvSpPr>
          <p:cNvPr id="22535" name="Rectangle 11"/>
          <p:cNvSpPr>
            <a:spLocks noChangeArrowheads="1"/>
          </p:cNvSpPr>
          <p:nvPr/>
        </p:nvSpPr>
        <p:spPr bwMode="auto">
          <a:xfrm>
            <a:off x="1021081" y="4992800"/>
            <a:ext cx="35009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Decisions and Next Steps</a:t>
            </a:r>
            <a:endParaRPr lang="en-US" altLang="en-US" sz="2000" dirty="0">
              <a:latin typeface="+mn-lt"/>
              <a:cs typeface="Aharoni" panose="02010803020104030203" pitchFamily="2" charset="-79"/>
            </a:endParaRPr>
          </a:p>
        </p:txBody>
      </p:sp>
      <p:sp>
        <p:nvSpPr>
          <p:cNvPr id="22536" name="Rectangle 12"/>
          <p:cNvSpPr>
            <a:spLocks noChangeArrowheads="1"/>
          </p:cNvSpPr>
          <p:nvPr/>
        </p:nvSpPr>
        <p:spPr bwMode="auto">
          <a:xfrm>
            <a:off x="1016794" y="3168634"/>
            <a:ext cx="2378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a:latin typeface="+mn-lt"/>
                <a:cs typeface="Aharoni" panose="02010803020104030203" pitchFamily="2" charset="-79"/>
              </a:rPr>
              <a:t>Project </a:t>
            </a:r>
            <a:r>
              <a:rPr lang="en-US" altLang="en-US" sz="2000" dirty="0" smtClean="0">
                <a:latin typeface="+mn-lt"/>
                <a:cs typeface="Aharoni" panose="02010803020104030203" pitchFamily="2" charset="-79"/>
              </a:rPr>
              <a:t>Timeline</a:t>
            </a:r>
            <a:endParaRPr lang="en-US" altLang="en-US" sz="2000" dirty="0">
              <a:latin typeface="+mn-lt"/>
              <a:cs typeface="Aharoni" panose="02010803020104030203" pitchFamily="2" charset="-79"/>
            </a:endParaRPr>
          </a:p>
        </p:txBody>
      </p:sp>
      <p:sp>
        <p:nvSpPr>
          <p:cNvPr id="16" name="Rectangle 11"/>
          <p:cNvSpPr>
            <a:spLocks noChangeArrowheads="1"/>
          </p:cNvSpPr>
          <p:nvPr/>
        </p:nvSpPr>
        <p:spPr bwMode="auto">
          <a:xfrm>
            <a:off x="1021080" y="3776689"/>
            <a:ext cx="23780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Risks and Issues</a:t>
            </a:r>
            <a:endParaRPr lang="en-US" altLang="en-US" sz="2000" dirty="0">
              <a:latin typeface="+mn-lt"/>
              <a:cs typeface="Aharoni" panose="02010803020104030203" pitchFamily="2" charset="-79"/>
            </a:endParaRPr>
          </a:p>
        </p:txBody>
      </p:sp>
      <p:sp>
        <p:nvSpPr>
          <p:cNvPr id="18" name="Rectangle 11"/>
          <p:cNvSpPr>
            <a:spLocks noChangeArrowheads="1"/>
          </p:cNvSpPr>
          <p:nvPr/>
        </p:nvSpPr>
        <p:spPr bwMode="auto">
          <a:xfrm>
            <a:off x="1056531" y="4399586"/>
            <a:ext cx="39226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ts val="1000"/>
              </a:spcBef>
              <a:buClr>
                <a:srgbClr val="5FCBEF"/>
              </a:buClr>
              <a:buSzPct val="80000"/>
            </a:pPr>
            <a:r>
              <a:rPr lang="en-US" altLang="en-US" sz="2000" dirty="0" smtClean="0">
                <a:latin typeface="+mn-lt"/>
                <a:cs typeface="Aharoni" panose="02010803020104030203" pitchFamily="2" charset="-79"/>
              </a:rPr>
              <a:t>Project Status Summary Dashboard </a:t>
            </a:r>
            <a:endParaRPr lang="en-US" altLang="en-US" sz="2000" dirty="0">
              <a:latin typeface="+mn-lt"/>
              <a:cs typeface="Aharoni" panose="02010803020104030203" pitchFamily="2" charset="-79"/>
            </a:endParaRPr>
          </a:p>
        </p:txBody>
      </p:sp>
      <p:sp>
        <p:nvSpPr>
          <p:cNvPr id="24" name="Rectangle 23"/>
          <p:cNvSpPr/>
          <p:nvPr/>
        </p:nvSpPr>
        <p:spPr bwMode="auto">
          <a:xfrm>
            <a:off x="483394" y="792033"/>
            <a:ext cx="379562" cy="343158"/>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1</a:t>
            </a:r>
            <a:endParaRPr lang="en-US" sz="1800" dirty="0" smtClean="0">
              <a:solidFill>
                <a:srgbClr val="FFFFFF"/>
              </a:solidFill>
              <a:latin typeface="+mn-lt"/>
            </a:endParaRPr>
          </a:p>
        </p:txBody>
      </p:sp>
      <p:sp>
        <p:nvSpPr>
          <p:cNvPr id="25" name="Rectangle 24"/>
          <p:cNvSpPr/>
          <p:nvPr/>
        </p:nvSpPr>
        <p:spPr bwMode="auto">
          <a:xfrm>
            <a:off x="483394" y="1396832"/>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2</a:t>
            </a:r>
            <a:endParaRPr lang="en-US" sz="1800" dirty="0" smtClean="0">
              <a:solidFill>
                <a:srgbClr val="FFFFFF"/>
              </a:solidFill>
              <a:latin typeface="+mn-lt"/>
            </a:endParaRPr>
          </a:p>
        </p:txBody>
      </p:sp>
      <p:sp>
        <p:nvSpPr>
          <p:cNvPr id="26" name="Rectangle 25"/>
          <p:cNvSpPr/>
          <p:nvPr/>
        </p:nvSpPr>
        <p:spPr bwMode="auto">
          <a:xfrm>
            <a:off x="483394" y="1999217"/>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3</a:t>
            </a:r>
            <a:endParaRPr lang="en-US" sz="1800" dirty="0" smtClean="0">
              <a:solidFill>
                <a:srgbClr val="FFFFFF"/>
              </a:solidFill>
              <a:latin typeface="+mn-lt"/>
            </a:endParaRPr>
          </a:p>
        </p:txBody>
      </p:sp>
      <p:sp>
        <p:nvSpPr>
          <p:cNvPr id="27" name="Rectangle 26"/>
          <p:cNvSpPr/>
          <p:nvPr/>
        </p:nvSpPr>
        <p:spPr bwMode="auto">
          <a:xfrm>
            <a:off x="483394" y="2601602"/>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4</a:t>
            </a:r>
            <a:endParaRPr lang="en-US" sz="1800" dirty="0" smtClean="0">
              <a:solidFill>
                <a:srgbClr val="FFFFFF"/>
              </a:solidFill>
              <a:latin typeface="+mn-lt"/>
            </a:endParaRPr>
          </a:p>
        </p:txBody>
      </p:sp>
      <p:sp>
        <p:nvSpPr>
          <p:cNvPr id="28" name="Rectangle 27"/>
          <p:cNvSpPr/>
          <p:nvPr/>
        </p:nvSpPr>
        <p:spPr bwMode="auto">
          <a:xfrm>
            <a:off x="483394" y="3203987"/>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5</a:t>
            </a:r>
            <a:endParaRPr lang="en-US" sz="1800" dirty="0" smtClean="0">
              <a:solidFill>
                <a:srgbClr val="FFFFFF"/>
              </a:solidFill>
              <a:latin typeface="+mn-lt"/>
            </a:endParaRPr>
          </a:p>
        </p:txBody>
      </p:sp>
      <p:sp>
        <p:nvSpPr>
          <p:cNvPr id="29" name="Rectangle 28"/>
          <p:cNvSpPr/>
          <p:nvPr/>
        </p:nvSpPr>
        <p:spPr bwMode="auto">
          <a:xfrm>
            <a:off x="483394" y="3806372"/>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6</a:t>
            </a:r>
            <a:endParaRPr lang="en-US" sz="1800" dirty="0" smtClean="0">
              <a:solidFill>
                <a:srgbClr val="FFFFFF"/>
              </a:solidFill>
              <a:latin typeface="+mn-lt"/>
            </a:endParaRPr>
          </a:p>
        </p:txBody>
      </p:sp>
      <p:sp>
        <p:nvSpPr>
          <p:cNvPr id="30" name="Rectangle 29"/>
          <p:cNvSpPr/>
          <p:nvPr/>
        </p:nvSpPr>
        <p:spPr bwMode="auto">
          <a:xfrm>
            <a:off x="483394" y="4429269"/>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7</a:t>
            </a:r>
            <a:endParaRPr lang="en-US" sz="1800" dirty="0" smtClean="0">
              <a:solidFill>
                <a:srgbClr val="FFFFFF"/>
              </a:solidFill>
              <a:latin typeface="+mn-lt"/>
            </a:endParaRPr>
          </a:p>
        </p:txBody>
      </p:sp>
      <p:sp>
        <p:nvSpPr>
          <p:cNvPr id="31" name="Rectangle 30"/>
          <p:cNvSpPr/>
          <p:nvPr/>
        </p:nvSpPr>
        <p:spPr bwMode="auto">
          <a:xfrm>
            <a:off x="483394" y="5052166"/>
            <a:ext cx="379562" cy="340744"/>
          </a:xfrm>
          <a:prstGeom prst="rect">
            <a:avLst/>
          </a:prstGeom>
          <a:solidFill>
            <a:srgbClr val="0070C0"/>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GB" sz="1800" dirty="0">
                <a:solidFill>
                  <a:srgbClr val="FFFFFF"/>
                </a:solidFill>
                <a:latin typeface="+mn-lt"/>
              </a:rPr>
              <a:t>8</a:t>
            </a:r>
            <a:endParaRPr lang="en-US" sz="1800" dirty="0" smtClean="0">
              <a:solidFill>
                <a:srgbClr val="FFFFFF"/>
              </a:solidFill>
              <a:latin typeface="+mn-lt"/>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p:cNvCxnSpPr/>
          <p:nvPr/>
        </p:nvCxnSpPr>
        <p:spPr>
          <a:xfrm>
            <a:off x="4622800" y="382588"/>
            <a:ext cx="36513" cy="571658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103188" y="0"/>
            <a:ext cx="8026400" cy="382588"/>
          </a:xfrm>
        </p:spPr>
        <p:txBody>
          <a:bodyPr rtlCol="0">
            <a:normAutofit fontScale="90000"/>
          </a:bodyPr>
          <a:lstStyle/>
          <a:p>
            <a:pPr eaLnBrk="1" hangingPunct="1">
              <a:defRPr/>
            </a:pPr>
            <a:r>
              <a:rPr lang="en-US" dirty="0">
                <a:latin typeface="+mn-lt"/>
              </a:rPr>
              <a:t>Background and Project Objectives</a:t>
            </a:r>
          </a:p>
        </p:txBody>
      </p:sp>
      <p:sp>
        <p:nvSpPr>
          <p:cNvPr id="24580" name="Rectangle 3"/>
          <p:cNvSpPr>
            <a:spLocks noGrp="1" noChangeArrowheads="1"/>
          </p:cNvSpPr>
          <p:nvPr>
            <p:ph idx="1"/>
          </p:nvPr>
        </p:nvSpPr>
        <p:spPr>
          <a:xfrm>
            <a:off x="202406" y="1385888"/>
            <a:ext cx="3998913" cy="3716337"/>
          </a:xfrm>
        </p:spPr>
        <p:txBody>
          <a:bodyPr/>
          <a:lstStyle/>
          <a:p>
            <a:pPr eaLnBrk="1" hangingPunct="1">
              <a:buFont typeface="Wingdings" panose="05000000000000000000" pitchFamily="2" charset="2"/>
              <a:buChar char="Ø"/>
            </a:pPr>
            <a:r>
              <a:rPr lang="en-US" altLang="en-US" sz="1400" dirty="0">
                <a:cs typeface="Times New Roman" panose="02020603050405020304" pitchFamily="18" charset="0"/>
              </a:rPr>
              <a:t>Acme Pharma, is a Fortune 100 Pharmaceutical company and has been in business for many years, however they are now in a period where technology advancement is increasing daily and newer and smaller competitors are entering into the biotech industry.</a:t>
            </a:r>
          </a:p>
          <a:p>
            <a:pPr eaLnBrk="1" hangingPunct="1">
              <a:buFont typeface="Wingdings" panose="05000000000000000000" pitchFamily="2" charset="2"/>
              <a:buChar char="Ø"/>
            </a:pPr>
            <a:r>
              <a:rPr lang="en-US" altLang="en-US" sz="1400" dirty="0">
                <a:cs typeface="Times New Roman" panose="02020603050405020304" pitchFamily="18" charset="0"/>
              </a:rPr>
              <a:t>Acme Pharma needs to stay competitive with these newer companies in cloud technology and enhance their supply chain model.</a:t>
            </a:r>
          </a:p>
          <a:p>
            <a:pPr eaLnBrk="1" hangingPunct="1">
              <a:buFont typeface="Wingdings" panose="05000000000000000000" pitchFamily="2" charset="2"/>
              <a:buChar char="Ø"/>
            </a:pPr>
            <a:r>
              <a:rPr lang="en-US" altLang="en-US" sz="1400" dirty="0">
                <a:cs typeface="Times New Roman" panose="02020603050405020304" pitchFamily="18" charset="0"/>
              </a:rPr>
              <a:t>The integration of </a:t>
            </a:r>
            <a:r>
              <a:rPr lang="en-US" altLang="en-US" sz="1400" dirty="0" err="1" smtClean="0">
                <a:cs typeface="Times New Roman" panose="02020603050405020304" pitchFamily="18" charset="0"/>
              </a:rPr>
              <a:t>MuleSoft</a:t>
            </a:r>
            <a:r>
              <a:rPr lang="en-US" altLang="en-US" sz="1400" dirty="0" smtClean="0">
                <a:cs typeface="Times New Roman" panose="02020603050405020304" pitchFamily="18" charset="0"/>
              </a:rPr>
              <a:t> AnyPoint </a:t>
            </a:r>
            <a:r>
              <a:rPr lang="en-US" altLang="en-US" sz="1400" dirty="0">
                <a:cs typeface="Times New Roman" panose="02020603050405020304" pitchFamily="18" charset="0"/>
              </a:rPr>
              <a:t>Platform along with the Workday migration will help Acme Pharma create a new IT operating model </a:t>
            </a:r>
            <a:r>
              <a:rPr lang="en-US" altLang="en-US" sz="1400" dirty="0" smtClean="0">
                <a:cs typeface="Times New Roman" panose="02020603050405020304" pitchFamily="18" charset="0"/>
              </a:rPr>
              <a:t>such as integrating with third party SaaS HCM applications (ADP, PeopleSoft, </a:t>
            </a:r>
            <a:r>
              <a:rPr lang="en-US" altLang="en-US" sz="1400" dirty="0" err="1" smtClean="0">
                <a:cs typeface="Times New Roman" panose="02020603050405020304" pitchFamily="18" charset="0"/>
              </a:rPr>
              <a:t>Taleo</a:t>
            </a:r>
            <a:r>
              <a:rPr lang="en-US" altLang="en-US" sz="1400" dirty="0" smtClean="0">
                <a:cs typeface="Times New Roman" panose="02020603050405020304" pitchFamily="18" charset="0"/>
              </a:rPr>
              <a:t>) within </a:t>
            </a:r>
            <a:r>
              <a:rPr lang="en-US" altLang="en-US" sz="1400" dirty="0">
                <a:cs typeface="Times New Roman" panose="02020603050405020304" pitchFamily="18" charset="0"/>
              </a:rPr>
              <a:t>the Biotech industry.</a:t>
            </a:r>
          </a:p>
          <a:p>
            <a:pPr eaLnBrk="1" hangingPunct="1"/>
            <a:endParaRPr lang="en-US" altLang="en-US" sz="1400" dirty="0">
              <a:latin typeface="Times New Roman" panose="02020603050405020304" pitchFamily="18" charset="0"/>
              <a:cs typeface="Times New Roman" panose="02020603050405020304" pitchFamily="18" charset="0"/>
            </a:endParaRPr>
          </a:p>
        </p:txBody>
      </p:sp>
      <p:sp>
        <p:nvSpPr>
          <p:cNvPr id="24581" name="TextBox 73"/>
          <p:cNvSpPr txBox="1">
            <a:spLocks noChangeArrowheads="1"/>
          </p:cNvSpPr>
          <p:nvPr/>
        </p:nvSpPr>
        <p:spPr bwMode="auto">
          <a:xfrm>
            <a:off x="5005164" y="1383159"/>
            <a:ext cx="3200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400" dirty="0">
                <a:latin typeface="+mn-lt"/>
                <a:cs typeface="Times New Roman" panose="02020603050405020304" pitchFamily="18" charset="0"/>
              </a:rPr>
              <a:t>Provide MuleSoft Catalyst Launch technology delivery services to assist Acme Pharma establish the </a:t>
            </a:r>
            <a:r>
              <a:rPr lang="en-US" altLang="en-US" sz="1400" dirty="0" err="1">
                <a:latin typeface="+mn-lt"/>
                <a:cs typeface="Times New Roman" panose="02020603050405020304" pitchFamily="18" charset="0"/>
              </a:rPr>
              <a:t>MuleSoft</a:t>
            </a:r>
            <a:r>
              <a:rPr lang="en-US" altLang="en-US" sz="1400" dirty="0">
                <a:latin typeface="+mn-lt"/>
                <a:cs typeface="Times New Roman" panose="02020603050405020304" pitchFamily="18" charset="0"/>
              </a:rPr>
              <a:t> </a:t>
            </a:r>
            <a:r>
              <a:rPr lang="en-US" altLang="en-US" sz="1400" dirty="0" smtClean="0">
                <a:latin typeface="+mn-lt"/>
                <a:cs typeface="Times New Roman" panose="02020603050405020304" pitchFamily="18" charset="0"/>
              </a:rPr>
              <a:t>AnyPoint </a:t>
            </a:r>
            <a:r>
              <a:rPr lang="en-US" altLang="en-US" sz="1400" dirty="0">
                <a:latin typeface="+mn-lt"/>
                <a:cs typeface="Times New Roman" panose="02020603050405020304" pitchFamily="18" charset="0"/>
              </a:rPr>
              <a:t>Platform and deliver on the identified projects using API led approach. </a:t>
            </a:r>
          </a:p>
        </p:txBody>
      </p:sp>
      <p:sp>
        <p:nvSpPr>
          <p:cNvPr id="8" name="Rectangle 7"/>
          <p:cNvSpPr/>
          <p:nvPr/>
        </p:nvSpPr>
        <p:spPr>
          <a:xfrm>
            <a:off x="4941888" y="736600"/>
            <a:ext cx="2933700" cy="304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bg1"/>
                </a:solidFill>
                <a:cs typeface="Times New Roman" panose="02020603050405020304" pitchFamily="18" charset="0"/>
              </a:rPr>
              <a:t>Overall Project Objectives</a:t>
            </a:r>
          </a:p>
        </p:txBody>
      </p:sp>
      <p:sp>
        <p:nvSpPr>
          <p:cNvPr id="12" name="Oval 11"/>
          <p:cNvSpPr/>
          <p:nvPr/>
        </p:nvSpPr>
        <p:spPr>
          <a:xfrm>
            <a:off x="4341813" y="1754188"/>
            <a:ext cx="609600" cy="609600"/>
          </a:xfrm>
          <a:prstGeom prst="ellipse">
            <a:avLst/>
          </a:prstGeom>
          <a:solidFill>
            <a:schemeClr val="bg1"/>
          </a:solidFill>
          <a:ln w="6350">
            <a:solidFill>
              <a:srgbClr val="2395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Oval 12"/>
          <p:cNvSpPr/>
          <p:nvPr/>
        </p:nvSpPr>
        <p:spPr>
          <a:xfrm>
            <a:off x="4341813" y="3278188"/>
            <a:ext cx="609600" cy="609600"/>
          </a:xfrm>
          <a:prstGeom prst="ellipse">
            <a:avLst/>
          </a:prstGeom>
          <a:solidFill>
            <a:schemeClr val="bg1"/>
          </a:solidFill>
          <a:ln w="6350">
            <a:solidFill>
              <a:srgbClr val="2395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585" name="Rectangle 10"/>
          <p:cNvSpPr>
            <a:spLocks noChangeArrowheads="1"/>
          </p:cNvSpPr>
          <p:nvPr/>
        </p:nvSpPr>
        <p:spPr bwMode="auto">
          <a:xfrm>
            <a:off x="5003354" y="3307556"/>
            <a:ext cx="320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400" dirty="0">
                <a:latin typeface="+mn-lt"/>
                <a:cs typeface="Times New Roman" panose="02020603050405020304" pitchFamily="18" charset="0"/>
              </a:rPr>
              <a:t>Set up an internal support model to operate/manage MuleSoft, </a:t>
            </a:r>
          </a:p>
        </p:txBody>
      </p:sp>
      <p:sp>
        <p:nvSpPr>
          <p:cNvPr id="24586" name="Rectangle 13"/>
          <p:cNvSpPr>
            <a:spLocks noChangeArrowheads="1"/>
          </p:cNvSpPr>
          <p:nvPr/>
        </p:nvSpPr>
        <p:spPr bwMode="auto">
          <a:xfrm>
            <a:off x="4979988" y="4427538"/>
            <a:ext cx="32004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400" dirty="0">
                <a:latin typeface="+mn-lt"/>
                <a:cs typeface="Times New Roman" panose="02020603050405020304" pitchFamily="18" charset="0"/>
              </a:rPr>
              <a:t>Train Acme Pharma resources through MuleSoft product training and skills transfer</a:t>
            </a:r>
            <a:r>
              <a:rPr lang="en-US" altLang="en-US" sz="1400" dirty="0">
                <a:latin typeface="Times New Roman" panose="02020603050405020304" pitchFamily="18" charset="0"/>
                <a:cs typeface="Times New Roman" panose="02020603050405020304" pitchFamily="18" charset="0"/>
              </a:rPr>
              <a:t>.</a:t>
            </a:r>
          </a:p>
        </p:txBody>
      </p:sp>
      <p:sp>
        <p:nvSpPr>
          <p:cNvPr id="16" name="Oval 15"/>
          <p:cNvSpPr/>
          <p:nvPr/>
        </p:nvSpPr>
        <p:spPr>
          <a:xfrm>
            <a:off x="4341813" y="4492625"/>
            <a:ext cx="609600" cy="609600"/>
          </a:xfrm>
          <a:prstGeom prst="ellipse">
            <a:avLst/>
          </a:prstGeom>
          <a:solidFill>
            <a:schemeClr val="bg1"/>
          </a:solidFill>
          <a:ln w="6350">
            <a:solidFill>
              <a:srgbClr val="23959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7" name="Group 16"/>
          <p:cNvGrpSpPr/>
          <p:nvPr/>
        </p:nvGrpSpPr>
        <p:grpSpPr>
          <a:xfrm>
            <a:off x="4502715" y="1936120"/>
            <a:ext cx="286209" cy="245735"/>
            <a:chOff x="6372226" y="625498"/>
            <a:chExt cx="314325" cy="269875"/>
          </a:xfrm>
          <a:solidFill>
            <a:srgbClr val="00338D"/>
          </a:solidFill>
        </p:grpSpPr>
        <p:sp>
          <p:nvSpPr>
            <p:cNvPr id="18" name="Freeform 1628"/>
            <p:cNvSpPr>
              <a:spLocks noEditPoints="1"/>
            </p:cNvSpPr>
            <p:nvPr/>
          </p:nvSpPr>
          <p:spPr bwMode="auto">
            <a:xfrm>
              <a:off x="6372226" y="625498"/>
              <a:ext cx="314325" cy="269875"/>
            </a:xfrm>
            <a:custGeom>
              <a:avLst/>
              <a:gdLst>
                <a:gd name="T0" fmla="*/ 78 w 84"/>
                <a:gd name="T1" fmla="*/ 0 h 72"/>
                <a:gd name="T2" fmla="*/ 6 w 84"/>
                <a:gd name="T3" fmla="*/ 0 h 72"/>
                <a:gd name="T4" fmla="*/ 0 w 84"/>
                <a:gd name="T5" fmla="*/ 6 h 72"/>
                <a:gd name="T6" fmla="*/ 0 w 84"/>
                <a:gd name="T7" fmla="*/ 66 h 72"/>
                <a:gd name="T8" fmla="*/ 6 w 84"/>
                <a:gd name="T9" fmla="*/ 72 h 72"/>
                <a:gd name="T10" fmla="*/ 78 w 84"/>
                <a:gd name="T11" fmla="*/ 72 h 72"/>
                <a:gd name="T12" fmla="*/ 84 w 84"/>
                <a:gd name="T13" fmla="*/ 66 h 72"/>
                <a:gd name="T14" fmla="*/ 84 w 84"/>
                <a:gd name="T15" fmla="*/ 6 h 72"/>
                <a:gd name="T16" fmla="*/ 78 w 84"/>
                <a:gd name="T17" fmla="*/ 0 h 72"/>
                <a:gd name="T18" fmla="*/ 28 w 84"/>
                <a:gd name="T19" fmla="*/ 4 h 72"/>
                <a:gd name="T20" fmla="*/ 31 w 84"/>
                <a:gd name="T21" fmla="*/ 7 h 72"/>
                <a:gd name="T22" fmla="*/ 28 w 84"/>
                <a:gd name="T23" fmla="*/ 10 h 72"/>
                <a:gd name="T24" fmla="*/ 25 w 84"/>
                <a:gd name="T25" fmla="*/ 7 h 72"/>
                <a:gd name="T26" fmla="*/ 28 w 84"/>
                <a:gd name="T27" fmla="*/ 4 h 72"/>
                <a:gd name="T28" fmla="*/ 19 w 84"/>
                <a:gd name="T29" fmla="*/ 4 h 72"/>
                <a:gd name="T30" fmla="*/ 22 w 84"/>
                <a:gd name="T31" fmla="*/ 7 h 72"/>
                <a:gd name="T32" fmla="*/ 19 w 84"/>
                <a:gd name="T33" fmla="*/ 10 h 72"/>
                <a:gd name="T34" fmla="*/ 16 w 84"/>
                <a:gd name="T35" fmla="*/ 7 h 72"/>
                <a:gd name="T36" fmla="*/ 19 w 84"/>
                <a:gd name="T37" fmla="*/ 4 h 72"/>
                <a:gd name="T38" fmla="*/ 10 w 84"/>
                <a:gd name="T39" fmla="*/ 4 h 72"/>
                <a:gd name="T40" fmla="*/ 13 w 84"/>
                <a:gd name="T41" fmla="*/ 7 h 72"/>
                <a:gd name="T42" fmla="*/ 10 w 84"/>
                <a:gd name="T43" fmla="*/ 10 h 72"/>
                <a:gd name="T44" fmla="*/ 7 w 84"/>
                <a:gd name="T45" fmla="*/ 7 h 72"/>
                <a:gd name="T46" fmla="*/ 10 w 84"/>
                <a:gd name="T47" fmla="*/ 4 h 72"/>
                <a:gd name="T48" fmla="*/ 78 w 84"/>
                <a:gd name="T49" fmla="*/ 66 h 72"/>
                <a:gd name="T50" fmla="*/ 6 w 84"/>
                <a:gd name="T51" fmla="*/ 66 h 72"/>
                <a:gd name="T52" fmla="*/ 6 w 84"/>
                <a:gd name="T53" fmla="*/ 15 h 72"/>
                <a:gd name="T54" fmla="*/ 78 w 84"/>
                <a:gd name="T55" fmla="*/ 15 h 72"/>
                <a:gd name="T56" fmla="*/ 78 w 84"/>
                <a:gd name="T57" fmla="*/ 6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4" h="72">
                  <a:moveTo>
                    <a:pt x="78" y="0"/>
                  </a:moveTo>
                  <a:cubicBezTo>
                    <a:pt x="6" y="0"/>
                    <a:pt x="6" y="0"/>
                    <a:pt x="6" y="0"/>
                  </a:cubicBezTo>
                  <a:cubicBezTo>
                    <a:pt x="2" y="0"/>
                    <a:pt x="0" y="3"/>
                    <a:pt x="0" y="6"/>
                  </a:cubicBezTo>
                  <a:cubicBezTo>
                    <a:pt x="0" y="66"/>
                    <a:pt x="0" y="66"/>
                    <a:pt x="0" y="66"/>
                  </a:cubicBezTo>
                  <a:cubicBezTo>
                    <a:pt x="0" y="69"/>
                    <a:pt x="2" y="72"/>
                    <a:pt x="6" y="72"/>
                  </a:cubicBezTo>
                  <a:cubicBezTo>
                    <a:pt x="78" y="72"/>
                    <a:pt x="78" y="72"/>
                    <a:pt x="78" y="72"/>
                  </a:cubicBezTo>
                  <a:cubicBezTo>
                    <a:pt x="81" y="72"/>
                    <a:pt x="84" y="69"/>
                    <a:pt x="84" y="66"/>
                  </a:cubicBezTo>
                  <a:cubicBezTo>
                    <a:pt x="84" y="6"/>
                    <a:pt x="84" y="6"/>
                    <a:pt x="84" y="6"/>
                  </a:cubicBezTo>
                  <a:cubicBezTo>
                    <a:pt x="84" y="3"/>
                    <a:pt x="81" y="0"/>
                    <a:pt x="78" y="0"/>
                  </a:cubicBezTo>
                  <a:moveTo>
                    <a:pt x="28" y="4"/>
                  </a:moveTo>
                  <a:cubicBezTo>
                    <a:pt x="30" y="4"/>
                    <a:pt x="31" y="6"/>
                    <a:pt x="31" y="7"/>
                  </a:cubicBezTo>
                  <a:cubicBezTo>
                    <a:pt x="31" y="9"/>
                    <a:pt x="30" y="10"/>
                    <a:pt x="28" y="10"/>
                  </a:cubicBezTo>
                  <a:cubicBezTo>
                    <a:pt x="27" y="10"/>
                    <a:pt x="25" y="9"/>
                    <a:pt x="25" y="7"/>
                  </a:cubicBezTo>
                  <a:cubicBezTo>
                    <a:pt x="25" y="6"/>
                    <a:pt x="27" y="4"/>
                    <a:pt x="28" y="4"/>
                  </a:cubicBezTo>
                  <a:moveTo>
                    <a:pt x="19" y="4"/>
                  </a:moveTo>
                  <a:cubicBezTo>
                    <a:pt x="21" y="4"/>
                    <a:pt x="22" y="6"/>
                    <a:pt x="22" y="7"/>
                  </a:cubicBezTo>
                  <a:cubicBezTo>
                    <a:pt x="22" y="9"/>
                    <a:pt x="21" y="10"/>
                    <a:pt x="19" y="10"/>
                  </a:cubicBezTo>
                  <a:cubicBezTo>
                    <a:pt x="18" y="10"/>
                    <a:pt x="16" y="9"/>
                    <a:pt x="16" y="7"/>
                  </a:cubicBezTo>
                  <a:cubicBezTo>
                    <a:pt x="16" y="6"/>
                    <a:pt x="18" y="4"/>
                    <a:pt x="19" y="4"/>
                  </a:cubicBezTo>
                  <a:moveTo>
                    <a:pt x="10" y="4"/>
                  </a:moveTo>
                  <a:cubicBezTo>
                    <a:pt x="12" y="4"/>
                    <a:pt x="13" y="6"/>
                    <a:pt x="13" y="7"/>
                  </a:cubicBezTo>
                  <a:cubicBezTo>
                    <a:pt x="13" y="9"/>
                    <a:pt x="12" y="10"/>
                    <a:pt x="10" y="10"/>
                  </a:cubicBezTo>
                  <a:cubicBezTo>
                    <a:pt x="9" y="10"/>
                    <a:pt x="7" y="9"/>
                    <a:pt x="7" y="7"/>
                  </a:cubicBezTo>
                  <a:cubicBezTo>
                    <a:pt x="7" y="6"/>
                    <a:pt x="9" y="4"/>
                    <a:pt x="10" y="4"/>
                  </a:cubicBezTo>
                  <a:moveTo>
                    <a:pt x="78" y="66"/>
                  </a:moveTo>
                  <a:cubicBezTo>
                    <a:pt x="6" y="66"/>
                    <a:pt x="6" y="66"/>
                    <a:pt x="6" y="66"/>
                  </a:cubicBezTo>
                  <a:cubicBezTo>
                    <a:pt x="6" y="15"/>
                    <a:pt x="6" y="15"/>
                    <a:pt x="6" y="15"/>
                  </a:cubicBezTo>
                  <a:cubicBezTo>
                    <a:pt x="78" y="15"/>
                    <a:pt x="78" y="15"/>
                    <a:pt x="78" y="15"/>
                  </a:cubicBezTo>
                  <a:cubicBezTo>
                    <a:pt x="78" y="66"/>
                    <a:pt x="78" y="66"/>
                    <a:pt x="78" y="6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19" name="Freeform 1631"/>
            <p:cNvSpPr>
              <a:spLocks/>
            </p:cNvSpPr>
            <p:nvPr/>
          </p:nvSpPr>
          <p:spPr bwMode="auto">
            <a:xfrm>
              <a:off x="6378576" y="708048"/>
              <a:ext cx="301625" cy="150813"/>
            </a:xfrm>
            <a:custGeom>
              <a:avLst/>
              <a:gdLst>
                <a:gd name="T0" fmla="*/ 71 w 190"/>
                <a:gd name="T1" fmla="*/ 95 h 95"/>
                <a:gd name="T2" fmla="*/ 59 w 190"/>
                <a:gd name="T3" fmla="*/ 61 h 95"/>
                <a:gd name="T4" fmla="*/ 55 w 190"/>
                <a:gd name="T5" fmla="*/ 73 h 95"/>
                <a:gd name="T6" fmla="*/ 0 w 190"/>
                <a:gd name="T7" fmla="*/ 73 h 95"/>
                <a:gd name="T8" fmla="*/ 0 w 190"/>
                <a:gd name="T9" fmla="*/ 69 h 95"/>
                <a:gd name="T10" fmla="*/ 52 w 190"/>
                <a:gd name="T11" fmla="*/ 69 h 95"/>
                <a:gd name="T12" fmla="*/ 62 w 190"/>
                <a:gd name="T13" fmla="*/ 50 h 95"/>
                <a:gd name="T14" fmla="*/ 71 w 190"/>
                <a:gd name="T15" fmla="*/ 78 h 95"/>
                <a:gd name="T16" fmla="*/ 78 w 190"/>
                <a:gd name="T17" fmla="*/ 47 h 95"/>
                <a:gd name="T18" fmla="*/ 86 w 190"/>
                <a:gd name="T19" fmla="*/ 64 h 95"/>
                <a:gd name="T20" fmla="*/ 97 w 190"/>
                <a:gd name="T21" fmla="*/ 0 h 95"/>
                <a:gd name="T22" fmla="*/ 112 w 190"/>
                <a:gd name="T23" fmla="*/ 66 h 95"/>
                <a:gd name="T24" fmla="*/ 121 w 190"/>
                <a:gd name="T25" fmla="*/ 50 h 95"/>
                <a:gd name="T26" fmla="*/ 133 w 190"/>
                <a:gd name="T27" fmla="*/ 71 h 95"/>
                <a:gd name="T28" fmla="*/ 190 w 190"/>
                <a:gd name="T29" fmla="*/ 71 h 95"/>
                <a:gd name="T30" fmla="*/ 190 w 190"/>
                <a:gd name="T31" fmla="*/ 76 h 95"/>
                <a:gd name="T32" fmla="*/ 130 w 190"/>
                <a:gd name="T33" fmla="*/ 76 h 95"/>
                <a:gd name="T34" fmla="*/ 121 w 190"/>
                <a:gd name="T35" fmla="*/ 59 h 95"/>
                <a:gd name="T36" fmla="*/ 109 w 190"/>
                <a:gd name="T37" fmla="*/ 80 h 95"/>
                <a:gd name="T38" fmla="*/ 97 w 190"/>
                <a:gd name="T39" fmla="*/ 24 h 95"/>
                <a:gd name="T40" fmla="*/ 86 w 190"/>
                <a:gd name="T41" fmla="*/ 83 h 95"/>
                <a:gd name="T42" fmla="*/ 81 w 190"/>
                <a:gd name="T43" fmla="*/ 64 h 95"/>
                <a:gd name="T44" fmla="*/ 71 w 190"/>
                <a:gd name="T45"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0" h="95">
                  <a:moveTo>
                    <a:pt x="71" y="95"/>
                  </a:moveTo>
                  <a:lnTo>
                    <a:pt x="59" y="61"/>
                  </a:lnTo>
                  <a:lnTo>
                    <a:pt x="55" y="73"/>
                  </a:lnTo>
                  <a:lnTo>
                    <a:pt x="0" y="73"/>
                  </a:lnTo>
                  <a:lnTo>
                    <a:pt x="0" y="69"/>
                  </a:lnTo>
                  <a:lnTo>
                    <a:pt x="52" y="69"/>
                  </a:lnTo>
                  <a:lnTo>
                    <a:pt x="62" y="50"/>
                  </a:lnTo>
                  <a:lnTo>
                    <a:pt x="71" y="78"/>
                  </a:lnTo>
                  <a:lnTo>
                    <a:pt x="78" y="47"/>
                  </a:lnTo>
                  <a:lnTo>
                    <a:pt x="86" y="64"/>
                  </a:lnTo>
                  <a:lnTo>
                    <a:pt x="97" y="0"/>
                  </a:lnTo>
                  <a:lnTo>
                    <a:pt x="112" y="66"/>
                  </a:lnTo>
                  <a:lnTo>
                    <a:pt x="121" y="50"/>
                  </a:lnTo>
                  <a:lnTo>
                    <a:pt x="133" y="71"/>
                  </a:lnTo>
                  <a:lnTo>
                    <a:pt x="190" y="71"/>
                  </a:lnTo>
                  <a:lnTo>
                    <a:pt x="190" y="76"/>
                  </a:lnTo>
                  <a:lnTo>
                    <a:pt x="130" y="76"/>
                  </a:lnTo>
                  <a:lnTo>
                    <a:pt x="121" y="59"/>
                  </a:lnTo>
                  <a:lnTo>
                    <a:pt x="109" y="80"/>
                  </a:lnTo>
                  <a:lnTo>
                    <a:pt x="97" y="24"/>
                  </a:lnTo>
                  <a:lnTo>
                    <a:pt x="86" y="83"/>
                  </a:lnTo>
                  <a:lnTo>
                    <a:pt x="81" y="64"/>
                  </a:lnTo>
                  <a:lnTo>
                    <a:pt x="71"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grpSp>
      <p:grpSp>
        <p:nvGrpSpPr>
          <p:cNvPr id="20" name="Group 19"/>
          <p:cNvGrpSpPr/>
          <p:nvPr/>
        </p:nvGrpSpPr>
        <p:grpSpPr>
          <a:xfrm>
            <a:off x="4493319" y="3481576"/>
            <a:ext cx="305000" cy="283318"/>
            <a:chOff x="2774951" y="3509986"/>
            <a:chExt cx="334962" cy="311150"/>
          </a:xfrm>
          <a:solidFill>
            <a:srgbClr val="00338D"/>
          </a:solidFill>
        </p:grpSpPr>
        <p:sp>
          <p:nvSpPr>
            <p:cNvPr id="21" name="Freeform 1811"/>
            <p:cNvSpPr>
              <a:spLocks/>
            </p:cNvSpPr>
            <p:nvPr/>
          </p:nvSpPr>
          <p:spPr bwMode="auto">
            <a:xfrm>
              <a:off x="2774951" y="3509986"/>
              <a:ext cx="252413" cy="311150"/>
            </a:xfrm>
            <a:custGeom>
              <a:avLst/>
              <a:gdLst>
                <a:gd name="T0" fmla="*/ 67 w 67"/>
                <a:gd name="T1" fmla="*/ 73 h 83"/>
                <a:gd name="T2" fmla="*/ 55 w 67"/>
                <a:gd name="T3" fmla="*/ 55 h 83"/>
                <a:gd name="T4" fmla="*/ 51 w 67"/>
                <a:gd name="T5" fmla="*/ 54 h 83"/>
                <a:gd name="T6" fmla="*/ 46 w 67"/>
                <a:gd name="T7" fmla="*/ 59 h 83"/>
                <a:gd name="T8" fmla="*/ 36 w 67"/>
                <a:gd name="T9" fmla="*/ 52 h 83"/>
                <a:gd name="T10" fmla="*/ 26 w 67"/>
                <a:gd name="T11" fmla="*/ 37 h 83"/>
                <a:gd name="T12" fmla="*/ 26 w 67"/>
                <a:gd name="T13" fmla="*/ 27 h 83"/>
                <a:gd name="T14" fmla="*/ 32 w 67"/>
                <a:gd name="T15" fmla="*/ 23 h 83"/>
                <a:gd name="T16" fmla="*/ 32 w 67"/>
                <a:gd name="T17" fmla="*/ 23 h 83"/>
                <a:gd name="T18" fmla="*/ 33 w 67"/>
                <a:gd name="T19" fmla="*/ 19 h 83"/>
                <a:gd name="T20" fmla="*/ 22 w 67"/>
                <a:gd name="T21" fmla="*/ 2 h 83"/>
                <a:gd name="T22" fmla="*/ 18 w 67"/>
                <a:gd name="T23" fmla="*/ 1 h 83"/>
                <a:gd name="T24" fmla="*/ 12 w 67"/>
                <a:gd name="T25" fmla="*/ 5 h 83"/>
                <a:gd name="T26" fmla="*/ 19 w 67"/>
                <a:gd name="T27" fmla="*/ 52 h 83"/>
                <a:gd name="T28" fmla="*/ 59 w 67"/>
                <a:gd name="T29" fmla="*/ 80 h 83"/>
                <a:gd name="T30" fmla="*/ 66 w 67"/>
                <a:gd name="T31" fmla="*/ 77 h 83"/>
                <a:gd name="T32" fmla="*/ 66 w 67"/>
                <a:gd name="T33" fmla="*/ 77 h 83"/>
                <a:gd name="T34" fmla="*/ 67 w 67"/>
                <a:gd name="T35" fmla="*/ 7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83">
                  <a:moveTo>
                    <a:pt x="67" y="73"/>
                  </a:moveTo>
                  <a:cubicBezTo>
                    <a:pt x="55" y="55"/>
                    <a:pt x="55" y="55"/>
                    <a:pt x="55" y="55"/>
                  </a:cubicBezTo>
                  <a:cubicBezTo>
                    <a:pt x="55" y="54"/>
                    <a:pt x="53" y="53"/>
                    <a:pt x="51" y="54"/>
                  </a:cubicBezTo>
                  <a:cubicBezTo>
                    <a:pt x="46" y="59"/>
                    <a:pt x="46" y="59"/>
                    <a:pt x="46" y="59"/>
                  </a:cubicBezTo>
                  <a:cubicBezTo>
                    <a:pt x="43" y="60"/>
                    <a:pt x="40" y="58"/>
                    <a:pt x="36" y="52"/>
                  </a:cubicBezTo>
                  <a:cubicBezTo>
                    <a:pt x="26" y="37"/>
                    <a:pt x="26" y="37"/>
                    <a:pt x="26" y="37"/>
                  </a:cubicBezTo>
                  <a:cubicBezTo>
                    <a:pt x="24" y="33"/>
                    <a:pt x="23" y="29"/>
                    <a:pt x="26" y="27"/>
                  </a:cubicBezTo>
                  <a:cubicBezTo>
                    <a:pt x="32" y="23"/>
                    <a:pt x="32" y="23"/>
                    <a:pt x="32" y="23"/>
                  </a:cubicBezTo>
                  <a:cubicBezTo>
                    <a:pt x="32" y="23"/>
                    <a:pt x="32" y="23"/>
                    <a:pt x="32" y="23"/>
                  </a:cubicBezTo>
                  <a:cubicBezTo>
                    <a:pt x="34" y="23"/>
                    <a:pt x="34" y="21"/>
                    <a:pt x="33" y="19"/>
                  </a:cubicBezTo>
                  <a:cubicBezTo>
                    <a:pt x="22" y="2"/>
                    <a:pt x="22" y="2"/>
                    <a:pt x="22" y="2"/>
                  </a:cubicBezTo>
                  <a:cubicBezTo>
                    <a:pt x="21" y="0"/>
                    <a:pt x="19" y="0"/>
                    <a:pt x="18" y="1"/>
                  </a:cubicBezTo>
                  <a:cubicBezTo>
                    <a:pt x="12" y="5"/>
                    <a:pt x="12" y="5"/>
                    <a:pt x="12" y="5"/>
                  </a:cubicBezTo>
                  <a:cubicBezTo>
                    <a:pt x="9" y="8"/>
                    <a:pt x="0" y="22"/>
                    <a:pt x="19" y="52"/>
                  </a:cubicBezTo>
                  <a:cubicBezTo>
                    <a:pt x="38" y="83"/>
                    <a:pt x="55" y="82"/>
                    <a:pt x="59" y="80"/>
                  </a:cubicBezTo>
                  <a:cubicBezTo>
                    <a:pt x="66" y="77"/>
                    <a:pt x="66" y="77"/>
                    <a:pt x="66" y="77"/>
                  </a:cubicBezTo>
                  <a:cubicBezTo>
                    <a:pt x="66" y="77"/>
                    <a:pt x="66" y="77"/>
                    <a:pt x="66" y="77"/>
                  </a:cubicBezTo>
                  <a:cubicBezTo>
                    <a:pt x="67" y="76"/>
                    <a:pt x="67" y="74"/>
                    <a:pt x="67"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2" name="Freeform 1812"/>
            <p:cNvSpPr>
              <a:spLocks/>
            </p:cNvSpPr>
            <p:nvPr/>
          </p:nvSpPr>
          <p:spPr bwMode="auto">
            <a:xfrm>
              <a:off x="2944814" y="3548086"/>
              <a:ext cx="71438" cy="104775"/>
            </a:xfrm>
            <a:custGeom>
              <a:avLst/>
              <a:gdLst>
                <a:gd name="T0" fmla="*/ 19 w 19"/>
                <a:gd name="T1" fmla="*/ 23 h 28"/>
                <a:gd name="T2" fmla="*/ 9 w 19"/>
                <a:gd name="T3" fmla="*/ 23 h 28"/>
                <a:gd name="T4" fmla="*/ 9 w 19"/>
                <a:gd name="T5" fmla="*/ 22 h 28"/>
                <a:gd name="T6" fmla="*/ 12 w 19"/>
                <a:gd name="T7" fmla="*/ 20 h 28"/>
                <a:gd name="T8" fmla="*/ 19 w 19"/>
                <a:gd name="T9" fmla="*/ 9 h 28"/>
                <a:gd name="T10" fmla="*/ 9 w 19"/>
                <a:gd name="T11" fmla="*/ 0 h 28"/>
                <a:gd name="T12" fmla="*/ 0 w 19"/>
                <a:gd name="T13" fmla="*/ 3 h 28"/>
                <a:gd name="T14" fmla="*/ 2 w 19"/>
                <a:gd name="T15" fmla="*/ 7 h 28"/>
                <a:gd name="T16" fmla="*/ 8 w 19"/>
                <a:gd name="T17" fmla="*/ 5 h 28"/>
                <a:gd name="T18" fmla="*/ 13 w 19"/>
                <a:gd name="T19" fmla="*/ 9 h 28"/>
                <a:gd name="T20" fmla="*/ 4 w 19"/>
                <a:gd name="T21" fmla="*/ 21 h 28"/>
                <a:gd name="T22" fmla="*/ 0 w 19"/>
                <a:gd name="T23" fmla="*/ 24 h 28"/>
                <a:gd name="T24" fmla="*/ 0 w 19"/>
                <a:gd name="T25" fmla="*/ 28 h 28"/>
                <a:gd name="T26" fmla="*/ 19 w 19"/>
                <a:gd name="T27" fmla="*/ 28 h 28"/>
                <a:gd name="T28" fmla="*/ 19 w 19"/>
                <a:gd name="T29" fmla="*/ 2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8">
                  <a:moveTo>
                    <a:pt x="19" y="23"/>
                  </a:moveTo>
                  <a:cubicBezTo>
                    <a:pt x="9" y="23"/>
                    <a:pt x="9" y="23"/>
                    <a:pt x="9" y="23"/>
                  </a:cubicBezTo>
                  <a:cubicBezTo>
                    <a:pt x="9" y="22"/>
                    <a:pt x="9" y="22"/>
                    <a:pt x="9" y="22"/>
                  </a:cubicBezTo>
                  <a:cubicBezTo>
                    <a:pt x="12" y="20"/>
                    <a:pt x="12" y="20"/>
                    <a:pt x="12" y="20"/>
                  </a:cubicBezTo>
                  <a:cubicBezTo>
                    <a:pt x="16" y="17"/>
                    <a:pt x="19" y="13"/>
                    <a:pt x="19" y="9"/>
                  </a:cubicBezTo>
                  <a:cubicBezTo>
                    <a:pt x="19" y="4"/>
                    <a:pt x="16" y="0"/>
                    <a:pt x="9" y="0"/>
                  </a:cubicBezTo>
                  <a:cubicBezTo>
                    <a:pt x="6" y="0"/>
                    <a:pt x="2" y="1"/>
                    <a:pt x="0" y="3"/>
                  </a:cubicBezTo>
                  <a:cubicBezTo>
                    <a:pt x="2" y="7"/>
                    <a:pt x="2" y="7"/>
                    <a:pt x="2" y="7"/>
                  </a:cubicBezTo>
                  <a:cubicBezTo>
                    <a:pt x="4" y="6"/>
                    <a:pt x="6" y="5"/>
                    <a:pt x="8" y="5"/>
                  </a:cubicBezTo>
                  <a:cubicBezTo>
                    <a:pt x="11" y="5"/>
                    <a:pt x="13" y="7"/>
                    <a:pt x="13" y="9"/>
                  </a:cubicBezTo>
                  <a:cubicBezTo>
                    <a:pt x="12" y="12"/>
                    <a:pt x="10" y="15"/>
                    <a:pt x="4" y="21"/>
                  </a:cubicBezTo>
                  <a:cubicBezTo>
                    <a:pt x="0" y="24"/>
                    <a:pt x="0" y="24"/>
                    <a:pt x="0" y="24"/>
                  </a:cubicBezTo>
                  <a:cubicBezTo>
                    <a:pt x="0" y="28"/>
                    <a:pt x="0" y="28"/>
                    <a:pt x="0" y="28"/>
                  </a:cubicBezTo>
                  <a:cubicBezTo>
                    <a:pt x="19" y="28"/>
                    <a:pt x="19" y="28"/>
                    <a:pt x="19" y="28"/>
                  </a:cubicBezTo>
                  <a:lnTo>
                    <a:pt x="19"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3" name="Freeform 1814"/>
            <p:cNvSpPr>
              <a:spLocks noEditPoints="1"/>
            </p:cNvSpPr>
            <p:nvPr/>
          </p:nvSpPr>
          <p:spPr bwMode="auto">
            <a:xfrm>
              <a:off x="3030538" y="3548086"/>
              <a:ext cx="79375" cy="104775"/>
            </a:xfrm>
            <a:custGeom>
              <a:avLst/>
              <a:gdLst>
                <a:gd name="T0" fmla="*/ 18 w 21"/>
                <a:gd name="T1" fmla="*/ 16 h 28"/>
                <a:gd name="T2" fmla="*/ 18 w 21"/>
                <a:gd name="T3" fmla="*/ 0 h 28"/>
                <a:gd name="T4" fmla="*/ 10 w 21"/>
                <a:gd name="T5" fmla="*/ 0 h 28"/>
                <a:gd name="T6" fmla="*/ 0 w 21"/>
                <a:gd name="T7" fmla="*/ 17 h 28"/>
                <a:gd name="T8" fmla="*/ 0 w 21"/>
                <a:gd name="T9" fmla="*/ 21 h 28"/>
                <a:gd name="T10" fmla="*/ 12 w 21"/>
                <a:gd name="T11" fmla="*/ 21 h 28"/>
                <a:gd name="T12" fmla="*/ 12 w 21"/>
                <a:gd name="T13" fmla="*/ 28 h 28"/>
                <a:gd name="T14" fmla="*/ 18 w 21"/>
                <a:gd name="T15" fmla="*/ 28 h 28"/>
                <a:gd name="T16" fmla="*/ 18 w 21"/>
                <a:gd name="T17" fmla="*/ 21 h 28"/>
                <a:gd name="T18" fmla="*/ 21 w 21"/>
                <a:gd name="T19" fmla="*/ 21 h 28"/>
                <a:gd name="T20" fmla="*/ 21 w 21"/>
                <a:gd name="T21" fmla="*/ 16 h 28"/>
                <a:gd name="T22" fmla="*/ 18 w 21"/>
                <a:gd name="T23" fmla="*/ 16 h 28"/>
                <a:gd name="T24" fmla="*/ 12 w 21"/>
                <a:gd name="T25" fmla="*/ 10 h 28"/>
                <a:gd name="T26" fmla="*/ 12 w 21"/>
                <a:gd name="T27" fmla="*/ 16 h 28"/>
                <a:gd name="T28" fmla="*/ 5 w 21"/>
                <a:gd name="T29" fmla="*/ 16 h 28"/>
                <a:gd name="T30" fmla="*/ 6 w 21"/>
                <a:gd name="T31" fmla="*/ 16 h 28"/>
                <a:gd name="T32" fmla="*/ 9 w 21"/>
                <a:gd name="T33" fmla="*/ 10 h 28"/>
                <a:gd name="T34" fmla="*/ 12 w 21"/>
                <a:gd name="T35" fmla="*/ 5 h 28"/>
                <a:gd name="T36" fmla="*/ 12 w 21"/>
                <a:gd name="T37" fmla="*/ 5 h 28"/>
                <a:gd name="T38" fmla="*/ 12 w 21"/>
                <a:gd name="T39"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 h="28">
                  <a:moveTo>
                    <a:pt x="18" y="16"/>
                  </a:moveTo>
                  <a:cubicBezTo>
                    <a:pt x="18" y="0"/>
                    <a:pt x="18" y="0"/>
                    <a:pt x="18" y="0"/>
                  </a:cubicBezTo>
                  <a:cubicBezTo>
                    <a:pt x="10" y="0"/>
                    <a:pt x="10" y="0"/>
                    <a:pt x="10" y="0"/>
                  </a:cubicBezTo>
                  <a:cubicBezTo>
                    <a:pt x="0" y="17"/>
                    <a:pt x="0" y="17"/>
                    <a:pt x="0" y="17"/>
                  </a:cubicBezTo>
                  <a:cubicBezTo>
                    <a:pt x="0" y="21"/>
                    <a:pt x="0" y="21"/>
                    <a:pt x="0" y="21"/>
                  </a:cubicBezTo>
                  <a:cubicBezTo>
                    <a:pt x="12" y="21"/>
                    <a:pt x="12" y="21"/>
                    <a:pt x="12" y="21"/>
                  </a:cubicBezTo>
                  <a:cubicBezTo>
                    <a:pt x="12" y="28"/>
                    <a:pt x="12" y="28"/>
                    <a:pt x="12" y="28"/>
                  </a:cubicBezTo>
                  <a:cubicBezTo>
                    <a:pt x="18" y="28"/>
                    <a:pt x="18" y="28"/>
                    <a:pt x="18" y="28"/>
                  </a:cubicBezTo>
                  <a:cubicBezTo>
                    <a:pt x="18" y="21"/>
                    <a:pt x="18" y="21"/>
                    <a:pt x="18" y="21"/>
                  </a:cubicBezTo>
                  <a:cubicBezTo>
                    <a:pt x="21" y="21"/>
                    <a:pt x="21" y="21"/>
                    <a:pt x="21" y="21"/>
                  </a:cubicBezTo>
                  <a:cubicBezTo>
                    <a:pt x="21" y="16"/>
                    <a:pt x="21" y="16"/>
                    <a:pt x="21" y="16"/>
                  </a:cubicBezTo>
                  <a:lnTo>
                    <a:pt x="18" y="16"/>
                  </a:lnTo>
                  <a:close/>
                  <a:moveTo>
                    <a:pt x="12" y="10"/>
                  </a:moveTo>
                  <a:cubicBezTo>
                    <a:pt x="12" y="16"/>
                    <a:pt x="12" y="16"/>
                    <a:pt x="12" y="16"/>
                  </a:cubicBezTo>
                  <a:cubicBezTo>
                    <a:pt x="5" y="16"/>
                    <a:pt x="5" y="16"/>
                    <a:pt x="5" y="16"/>
                  </a:cubicBezTo>
                  <a:cubicBezTo>
                    <a:pt x="6" y="16"/>
                    <a:pt x="6" y="16"/>
                    <a:pt x="6" y="16"/>
                  </a:cubicBezTo>
                  <a:cubicBezTo>
                    <a:pt x="9" y="10"/>
                    <a:pt x="9" y="10"/>
                    <a:pt x="9" y="10"/>
                  </a:cubicBezTo>
                  <a:cubicBezTo>
                    <a:pt x="10" y="9"/>
                    <a:pt x="11" y="7"/>
                    <a:pt x="12" y="5"/>
                  </a:cubicBezTo>
                  <a:cubicBezTo>
                    <a:pt x="12" y="5"/>
                    <a:pt x="12" y="5"/>
                    <a:pt x="12" y="5"/>
                  </a:cubicBezTo>
                  <a:cubicBezTo>
                    <a:pt x="12" y="7"/>
                    <a:pt x="12" y="9"/>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grpSp>
      <p:grpSp>
        <p:nvGrpSpPr>
          <p:cNvPr id="24" name="Group 23"/>
          <p:cNvGrpSpPr/>
          <p:nvPr/>
        </p:nvGrpSpPr>
        <p:grpSpPr>
          <a:xfrm>
            <a:off x="4485847" y="4617708"/>
            <a:ext cx="319945" cy="360186"/>
            <a:chOff x="3921126" y="685651"/>
            <a:chExt cx="252413" cy="284163"/>
          </a:xfrm>
          <a:solidFill>
            <a:srgbClr val="00338D"/>
          </a:solidFill>
        </p:grpSpPr>
        <p:sp>
          <p:nvSpPr>
            <p:cNvPr id="25" name="Freeform 2384"/>
            <p:cNvSpPr>
              <a:spLocks/>
            </p:cNvSpPr>
            <p:nvPr/>
          </p:nvSpPr>
          <p:spPr bwMode="auto">
            <a:xfrm>
              <a:off x="3965576" y="774551"/>
              <a:ext cx="84138" cy="82550"/>
            </a:xfrm>
            <a:custGeom>
              <a:avLst/>
              <a:gdLst>
                <a:gd name="T0" fmla="*/ 11 w 22"/>
                <a:gd name="T1" fmla="*/ 0 h 22"/>
                <a:gd name="T2" fmla="*/ 0 w 22"/>
                <a:gd name="T3" fmla="*/ 11 h 22"/>
                <a:gd name="T4" fmla="*/ 11 w 22"/>
                <a:gd name="T5" fmla="*/ 22 h 22"/>
                <a:gd name="T6" fmla="*/ 22 w 22"/>
                <a:gd name="T7" fmla="*/ 11 h 22"/>
                <a:gd name="T8" fmla="*/ 11 w 22"/>
                <a:gd name="T9" fmla="*/ 11 h 22"/>
                <a:gd name="T10" fmla="*/ 11 w 22"/>
                <a:gd name="T11" fmla="*/ 0 h 22"/>
              </a:gdLst>
              <a:ahLst/>
              <a:cxnLst>
                <a:cxn ang="0">
                  <a:pos x="T0" y="T1"/>
                </a:cxn>
                <a:cxn ang="0">
                  <a:pos x="T2" y="T3"/>
                </a:cxn>
                <a:cxn ang="0">
                  <a:pos x="T4" y="T5"/>
                </a:cxn>
                <a:cxn ang="0">
                  <a:pos x="T6" y="T7"/>
                </a:cxn>
                <a:cxn ang="0">
                  <a:pos x="T8" y="T9"/>
                </a:cxn>
                <a:cxn ang="0">
                  <a:pos x="T10" y="T11"/>
                </a:cxn>
              </a:cxnLst>
              <a:rect l="0" t="0" r="r" b="b"/>
              <a:pathLst>
                <a:path w="22" h="22">
                  <a:moveTo>
                    <a:pt x="11" y="0"/>
                  </a:moveTo>
                  <a:cubicBezTo>
                    <a:pt x="5" y="0"/>
                    <a:pt x="0" y="5"/>
                    <a:pt x="0" y="11"/>
                  </a:cubicBezTo>
                  <a:cubicBezTo>
                    <a:pt x="0" y="17"/>
                    <a:pt x="5" y="22"/>
                    <a:pt x="11" y="22"/>
                  </a:cubicBezTo>
                  <a:cubicBezTo>
                    <a:pt x="17" y="22"/>
                    <a:pt x="22" y="17"/>
                    <a:pt x="22" y="11"/>
                  </a:cubicBezTo>
                  <a:cubicBezTo>
                    <a:pt x="11" y="11"/>
                    <a:pt x="11" y="11"/>
                    <a:pt x="11" y="11"/>
                  </a:cubicBezTo>
                  <a:cubicBezTo>
                    <a:pt x="11" y="0"/>
                    <a:pt x="11" y="0"/>
                    <a:pt x="1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6" name="Freeform 2385"/>
            <p:cNvSpPr>
              <a:spLocks/>
            </p:cNvSpPr>
            <p:nvPr/>
          </p:nvSpPr>
          <p:spPr bwMode="auto">
            <a:xfrm>
              <a:off x="4011614" y="771376"/>
              <a:ext cx="30163" cy="41275"/>
            </a:xfrm>
            <a:custGeom>
              <a:avLst/>
              <a:gdLst>
                <a:gd name="T0" fmla="*/ 0 w 8"/>
                <a:gd name="T1" fmla="*/ 0 h 11"/>
                <a:gd name="T2" fmla="*/ 0 w 8"/>
                <a:gd name="T3" fmla="*/ 11 h 11"/>
                <a:gd name="T4" fmla="*/ 8 w 8"/>
                <a:gd name="T5" fmla="*/ 3 h 11"/>
                <a:gd name="T6" fmla="*/ 0 w 8"/>
                <a:gd name="T7" fmla="*/ 0 h 11"/>
              </a:gdLst>
              <a:ahLst/>
              <a:cxnLst>
                <a:cxn ang="0">
                  <a:pos x="T0" y="T1"/>
                </a:cxn>
                <a:cxn ang="0">
                  <a:pos x="T2" y="T3"/>
                </a:cxn>
                <a:cxn ang="0">
                  <a:pos x="T4" y="T5"/>
                </a:cxn>
                <a:cxn ang="0">
                  <a:pos x="T6" y="T7"/>
                </a:cxn>
              </a:cxnLst>
              <a:rect l="0" t="0" r="r" b="b"/>
              <a:pathLst>
                <a:path w="8" h="11">
                  <a:moveTo>
                    <a:pt x="0" y="0"/>
                  </a:moveTo>
                  <a:cubicBezTo>
                    <a:pt x="0" y="11"/>
                    <a:pt x="0" y="11"/>
                    <a:pt x="0" y="11"/>
                  </a:cubicBezTo>
                  <a:cubicBezTo>
                    <a:pt x="8" y="3"/>
                    <a:pt x="8" y="3"/>
                    <a:pt x="8" y="3"/>
                  </a:cubicBezTo>
                  <a:cubicBezTo>
                    <a:pt x="6" y="1"/>
                    <a:pt x="3"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7" name="Freeform 2386"/>
            <p:cNvSpPr>
              <a:spLocks/>
            </p:cNvSpPr>
            <p:nvPr/>
          </p:nvSpPr>
          <p:spPr bwMode="auto">
            <a:xfrm>
              <a:off x="4014789" y="782489"/>
              <a:ext cx="41275" cy="30163"/>
            </a:xfrm>
            <a:custGeom>
              <a:avLst/>
              <a:gdLst>
                <a:gd name="T0" fmla="*/ 11 w 11"/>
                <a:gd name="T1" fmla="*/ 8 h 8"/>
                <a:gd name="T2" fmla="*/ 8 w 11"/>
                <a:gd name="T3" fmla="*/ 0 h 8"/>
                <a:gd name="T4" fmla="*/ 0 w 11"/>
                <a:gd name="T5" fmla="*/ 8 h 8"/>
                <a:gd name="T6" fmla="*/ 0 w 11"/>
                <a:gd name="T7" fmla="*/ 8 h 8"/>
                <a:gd name="T8" fmla="*/ 11 w 11"/>
                <a:gd name="T9" fmla="*/ 8 h 8"/>
              </a:gdLst>
              <a:ahLst/>
              <a:cxnLst>
                <a:cxn ang="0">
                  <a:pos x="T0" y="T1"/>
                </a:cxn>
                <a:cxn ang="0">
                  <a:pos x="T2" y="T3"/>
                </a:cxn>
                <a:cxn ang="0">
                  <a:pos x="T4" y="T5"/>
                </a:cxn>
                <a:cxn ang="0">
                  <a:pos x="T6" y="T7"/>
                </a:cxn>
                <a:cxn ang="0">
                  <a:pos x="T8" y="T9"/>
                </a:cxn>
              </a:cxnLst>
              <a:rect l="0" t="0" r="r" b="b"/>
              <a:pathLst>
                <a:path w="11" h="8">
                  <a:moveTo>
                    <a:pt x="11" y="8"/>
                  </a:moveTo>
                  <a:cubicBezTo>
                    <a:pt x="11" y="5"/>
                    <a:pt x="10" y="2"/>
                    <a:pt x="8" y="0"/>
                  </a:cubicBezTo>
                  <a:cubicBezTo>
                    <a:pt x="0" y="8"/>
                    <a:pt x="0" y="8"/>
                    <a:pt x="0" y="8"/>
                  </a:cubicBezTo>
                  <a:cubicBezTo>
                    <a:pt x="0" y="8"/>
                    <a:pt x="0" y="8"/>
                    <a:pt x="0" y="8"/>
                  </a:cubicBez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8" name="Freeform 2387"/>
            <p:cNvSpPr>
              <a:spLocks/>
            </p:cNvSpPr>
            <p:nvPr/>
          </p:nvSpPr>
          <p:spPr bwMode="auto">
            <a:xfrm>
              <a:off x="3921126" y="685651"/>
              <a:ext cx="252413" cy="52388"/>
            </a:xfrm>
            <a:custGeom>
              <a:avLst/>
              <a:gdLst>
                <a:gd name="T0" fmla="*/ 35 w 67"/>
                <a:gd name="T1" fmla="*/ 5 h 14"/>
                <a:gd name="T2" fmla="*/ 35 w 67"/>
                <a:gd name="T3" fmla="*/ 2 h 14"/>
                <a:gd name="T4" fmla="*/ 34 w 67"/>
                <a:gd name="T5" fmla="*/ 0 h 14"/>
                <a:gd name="T6" fmla="*/ 32 w 67"/>
                <a:gd name="T7" fmla="*/ 2 h 14"/>
                <a:gd name="T8" fmla="*/ 32 w 67"/>
                <a:gd name="T9" fmla="*/ 5 h 14"/>
                <a:gd name="T10" fmla="*/ 0 w 67"/>
                <a:gd name="T11" fmla="*/ 5 h 14"/>
                <a:gd name="T12" fmla="*/ 0 w 67"/>
                <a:gd name="T13" fmla="*/ 14 h 14"/>
                <a:gd name="T14" fmla="*/ 67 w 67"/>
                <a:gd name="T15" fmla="*/ 14 h 14"/>
                <a:gd name="T16" fmla="*/ 67 w 67"/>
                <a:gd name="T17" fmla="*/ 5 h 14"/>
                <a:gd name="T18" fmla="*/ 35 w 67"/>
                <a:gd name="T19"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14">
                  <a:moveTo>
                    <a:pt x="35" y="5"/>
                  </a:moveTo>
                  <a:cubicBezTo>
                    <a:pt x="35" y="2"/>
                    <a:pt x="35" y="2"/>
                    <a:pt x="35" y="2"/>
                  </a:cubicBezTo>
                  <a:cubicBezTo>
                    <a:pt x="35" y="1"/>
                    <a:pt x="35" y="0"/>
                    <a:pt x="34" y="0"/>
                  </a:cubicBezTo>
                  <a:cubicBezTo>
                    <a:pt x="33" y="0"/>
                    <a:pt x="32" y="1"/>
                    <a:pt x="32" y="2"/>
                  </a:cubicBezTo>
                  <a:cubicBezTo>
                    <a:pt x="32" y="5"/>
                    <a:pt x="32" y="5"/>
                    <a:pt x="32" y="5"/>
                  </a:cubicBezTo>
                  <a:cubicBezTo>
                    <a:pt x="0" y="5"/>
                    <a:pt x="0" y="5"/>
                    <a:pt x="0" y="5"/>
                  </a:cubicBezTo>
                  <a:cubicBezTo>
                    <a:pt x="0" y="14"/>
                    <a:pt x="0" y="14"/>
                    <a:pt x="0" y="14"/>
                  </a:cubicBezTo>
                  <a:cubicBezTo>
                    <a:pt x="67" y="14"/>
                    <a:pt x="67" y="14"/>
                    <a:pt x="67" y="14"/>
                  </a:cubicBezTo>
                  <a:cubicBezTo>
                    <a:pt x="67" y="5"/>
                    <a:pt x="67" y="5"/>
                    <a:pt x="67" y="5"/>
                  </a:cubicBezTo>
                  <a:lnTo>
                    <a:pt x="35"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29" name="Freeform 2388"/>
            <p:cNvSpPr>
              <a:spLocks noEditPoints="1"/>
            </p:cNvSpPr>
            <p:nvPr/>
          </p:nvSpPr>
          <p:spPr bwMode="auto">
            <a:xfrm>
              <a:off x="3943351" y="749151"/>
              <a:ext cx="211138" cy="220663"/>
            </a:xfrm>
            <a:custGeom>
              <a:avLst/>
              <a:gdLst>
                <a:gd name="T0" fmla="*/ 0 w 133"/>
                <a:gd name="T1" fmla="*/ 87 h 139"/>
                <a:gd name="T2" fmla="*/ 57 w 133"/>
                <a:gd name="T3" fmla="*/ 87 h 139"/>
                <a:gd name="T4" fmla="*/ 57 w 133"/>
                <a:gd name="T5" fmla="*/ 115 h 139"/>
                <a:gd name="T6" fmla="*/ 36 w 133"/>
                <a:gd name="T7" fmla="*/ 115 h 139"/>
                <a:gd name="T8" fmla="*/ 36 w 133"/>
                <a:gd name="T9" fmla="*/ 111 h 139"/>
                <a:gd name="T10" fmla="*/ 29 w 133"/>
                <a:gd name="T11" fmla="*/ 111 h 139"/>
                <a:gd name="T12" fmla="*/ 29 w 133"/>
                <a:gd name="T13" fmla="*/ 139 h 139"/>
                <a:gd name="T14" fmla="*/ 36 w 133"/>
                <a:gd name="T15" fmla="*/ 139 h 139"/>
                <a:gd name="T16" fmla="*/ 36 w 133"/>
                <a:gd name="T17" fmla="*/ 125 h 139"/>
                <a:gd name="T18" fmla="*/ 95 w 133"/>
                <a:gd name="T19" fmla="*/ 125 h 139"/>
                <a:gd name="T20" fmla="*/ 95 w 133"/>
                <a:gd name="T21" fmla="*/ 139 h 139"/>
                <a:gd name="T22" fmla="*/ 104 w 133"/>
                <a:gd name="T23" fmla="*/ 139 h 139"/>
                <a:gd name="T24" fmla="*/ 104 w 133"/>
                <a:gd name="T25" fmla="*/ 111 h 139"/>
                <a:gd name="T26" fmla="*/ 95 w 133"/>
                <a:gd name="T27" fmla="*/ 111 h 139"/>
                <a:gd name="T28" fmla="*/ 95 w 133"/>
                <a:gd name="T29" fmla="*/ 115 h 139"/>
                <a:gd name="T30" fmla="*/ 74 w 133"/>
                <a:gd name="T31" fmla="*/ 115 h 139"/>
                <a:gd name="T32" fmla="*/ 74 w 133"/>
                <a:gd name="T33" fmla="*/ 87 h 139"/>
                <a:gd name="T34" fmla="*/ 133 w 133"/>
                <a:gd name="T35" fmla="*/ 87 h 139"/>
                <a:gd name="T36" fmla="*/ 133 w 133"/>
                <a:gd name="T37" fmla="*/ 0 h 139"/>
                <a:gd name="T38" fmla="*/ 0 w 133"/>
                <a:gd name="T39" fmla="*/ 0 h 139"/>
                <a:gd name="T40" fmla="*/ 0 w 133"/>
                <a:gd name="T41" fmla="*/ 87 h 139"/>
                <a:gd name="T42" fmla="*/ 7 w 133"/>
                <a:gd name="T43" fmla="*/ 4 h 139"/>
                <a:gd name="T44" fmla="*/ 123 w 133"/>
                <a:gd name="T45" fmla="*/ 4 h 139"/>
                <a:gd name="T46" fmla="*/ 123 w 133"/>
                <a:gd name="T47" fmla="*/ 80 h 139"/>
                <a:gd name="T48" fmla="*/ 7 w 133"/>
                <a:gd name="T49" fmla="*/ 80 h 139"/>
                <a:gd name="T50" fmla="*/ 7 w 133"/>
                <a:gd name="T51" fmla="*/ 4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 h="139">
                  <a:moveTo>
                    <a:pt x="0" y="87"/>
                  </a:moveTo>
                  <a:lnTo>
                    <a:pt x="57" y="87"/>
                  </a:lnTo>
                  <a:lnTo>
                    <a:pt x="57" y="115"/>
                  </a:lnTo>
                  <a:lnTo>
                    <a:pt x="36" y="115"/>
                  </a:lnTo>
                  <a:lnTo>
                    <a:pt x="36" y="111"/>
                  </a:lnTo>
                  <a:lnTo>
                    <a:pt x="29" y="111"/>
                  </a:lnTo>
                  <a:lnTo>
                    <a:pt x="29" y="139"/>
                  </a:lnTo>
                  <a:lnTo>
                    <a:pt x="36" y="139"/>
                  </a:lnTo>
                  <a:lnTo>
                    <a:pt x="36" y="125"/>
                  </a:lnTo>
                  <a:lnTo>
                    <a:pt x="95" y="125"/>
                  </a:lnTo>
                  <a:lnTo>
                    <a:pt x="95" y="139"/>
                  </a:lnTo>
                  <a:lnTo>
                    <a:pt x="104" y="139"/>
                  </a:lnTo>
                  <a:lnTo>
                    <a:pt x="104" y="111"/>
                  </a:lnTo>
                  <a:lnTo>
                    <a:pt x="95" y="111"/>
                  </a:lnTo>
                  <a:lnTo>
                    <a:pt x="95" y="115"/>
                  </a:lnTo>
                  <a:lnTo>
                    <a:pt x="74" y="115"/>
                  </a:lnTo>
                  <a:lnTo>
                    <a:pt x="74" y="87"/>
                  </a:lnTo>
                  <a:lnTo>
                    <a:pt x="133" y="87"/>
                  </a:lnTo>
                  <a:lnTo>
                    <a:pt x="133" y="0"/>
                  </a:lnTo>
                  <a:lnTo>
                    <a:pt x="0" y="0"/>
                  </a:lnTo>
                  <a:lnTo>
                    <a:pt x="0" y="87"/>
                  </a:lnTo>
                  <a:close/>
                  <a:moveTo>
                    <a:pt x="7" y="4"/>
                  </a:moveTo>
                  <a:lnTo>
                    <a:pt x="123" y="4"/>
                  </a:lnTo>
                  <a:lnTo>
                    <a:pt x="123" y="80"/>
                  </a:lnTo>
                  <a:lnTo>
                    <a:pt x="7" y="80"/>
                  </a:lnTo>
                  <a:lnTo>
                    <a:pt x="7"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30" name="Rectangle 2389"/>
            <p:cNvSpPr>
              <a:spLocks noChangeArrowheads="1"/>
            </p:cNvSpPr>
            <p:nvPr/>
          </p:nvSpPr>
          <p:spPr bwMode="auto">
            <a:xfrm>
              <a:off x="4078289" y="796776"/>
              <a:ext cx="46038" cy="4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AU"/>
            </a:p>
          </p:txBody>
        </p:sp>
        <p:sp>
          <p:nvSpPr>
            <p:cNvPr id="31" name="Rectangle 2390"/>
            <p:cNvSpPr>
              <a:spLocks noChangeArrowheads="1"/>
            </p:cNvSpPr>
            <p:nvPr/>
          </p:nvSpPr>
          <p:spPr bwMode="auto">
            <a:xfrm>
              <a:off x="4078289" y="785664"/>
              <a:ext cx="46038" cy="4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AU"/>
            </a:p>
          </p:txBody>
        </p:sp>
        <p:sp>
          <p:nvSpPr>
            <p:cNvPr id="32" name="Rectangle 2391"/>
            <p:cNvSpPr>
              <a:spLocks noChangeArrowheads="1"/>
            </p:cNvSpPr>
            <p:nvPr/>
          </p:nvSpPr>
          <p:spPr bwMode="auto">
            <a:xfrm>
              <a:off x="4078289" y="809476"/>
              <a:ext cx="46038" cy="6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AU"/>
            </a:p>
          </p:txBody>
        </p:sp>
        <p:sp>
          <p:nvSpPr>
            <p:cNvPr id="33" name="Rectangle 2392"/>
            <p:cNvSpPr>
              <a:spLocks noChangeArrowheads="1"/>
            </p:cNvSpPr>
            <p:nvPr/>
          </p:nvSpPr>
          <p:spPr bwMode="auto">
            <a:xfrm>
              <a:off x="4078289" y="823764"/>
              <a:ext cx="4603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AU"/>
            </a:p>
          </p:txBody>
        </p:sp>
        <p:sp>
          <p:nvSpPr>
            <p:cNvPr id="34" name="Rectangle 2393"/>
            <p:cNvSpPr>
              <a:spLocks noChangeArrowheads="1"/>
            </p:cNvSpPr>
            <p:nvPr/>
          </p:nvSpPr>
          <p:spPr bwMode="auto">
            <a:xfrm>
              <a:off x="4078289" y="834876"/>
              <a:ext cx="4603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AU"/>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96077"/>
          </a:schemeClr>
        </a:solidFill>
        <a:effectLst/>
      </p:bgPr>
    </p:bg>
    <p:spTree>
      <p:nvGrpSpPr>
        <p:cNvPr id="1" name=""/>
        <p:cNvGrpSpPr/>
        <p:nvPr/>
      </p:nvGrpSpPr>
      <p:grpSpPr>
        <a:xfrm>
          <a:off x="0" y="0"/>
          <a:ext cx="0" cy="0"/>
          <a:chOff x="0" y="0"/>
          <a:chExt cx="0" cy="0"/>
        </a:xfrm>
      </p:grpSpPr>
      <p:sp>
        <p:nvSpPr>
          <p:cNvPr id="76" name="Title 1"/>
          <p:cNvSpPr>
            <a:spLocks noGrp="1"/>
          </p:cNvSpPr>
          <p:nvPr>
            <p:ph type="title"/>
          </p:nvPr>
        </p:nvSpPr>
        <p:spPr>
          <a:xfrm>
            <a:off x="103188" y="0"/>
            <a:ext cx="7011987" cy="382588"/>
          </a:xfrm>
          <a:solidFill>
            <a:schemeClr val="accent4">
              <a:lumMod val="75000"/>
            </a:schemeClr>
          </a:solidFill>
        </p:spPr>
        <p:txBody>
          <a:bodyPr rtlCol="0">
            <a:noAutofit/>
          </a:bodyPr>
          <a:lstStyle/>
          <a:p>
            <a:pPr defTabSz="812993" eaLnBrk="1" fontAlgn="auto" hangingPunct="1">
              <a:spcAft>
                <a:spcPts val="0"/>
              </a:spcAft>
              <a:defRPr/>
            </a:pPr>
            <a:r>
              <a:rPr lang="en-US" dirty="0">
                <a:latin typeface="+mn-lt"/>
                <a:cs typeface="Times New Roman" panose="02020603050405020304" pitchFamily="18" charset="0"/>
              </a:rPr>
              <a:t>Project Scope</a:t>
            </a:r>
          </a:p>
        </p:txBody>
      </p:sp>
      <p:grpSp>
        <p:nvGrpSpPr>
          <p:cNvPr id="26627" name="Group 4"/>
          <p:cNvGrpSpPr>
            <a:grpSpLocks/>
          </p:cNvGrpSpPr>
          <p:nvPr/>
        </p:nvGrpSpPr>
        <p:grpSpPr bwMode="auto">
          <a:xfrm>
            <a:off x="254794" y="1502496"/>
            <a:ext cx="5015138" cy="3523760"/>
            <a:chOff x="715802" y="1455680"/>
            <a:chExt cx="6619245" cy="3530078"/>
          </a:xfrm>
        </p:grpSpPr>
        <p:sp>
          <p:nvSpPr>
            <p:cNvPr id="26631" name="object 10"/>
            <p:cNvSpPr>
              <a:spLocks/>
            </p:cNvSpPr>
            <p:nvPr/>
          </p:nvSpPr>
          <p:spPr bwMode="auto">
            <a:xfrm>
              <a:off x="989870" y="2772981"/>
              <a:ext cx="1750695" cy="1229360"/>
            </a:xfrm>
            <a:custGeom>
              <a:avLst/>
              <a:gdLst>
                <a:gd name="T0" fmla="*/ 0 w 1750695"/>
                <a:gd name="T1" fmla="*/ 614553 h 1229360"/>
                <a:gd name="T2" fmla="*/ 307276 w 1750695"/>
                <a:gd name="T3" fmla="*/ 0 h 1229360"/>
                <a:gd name="T4" fmla="*/ 1443037 w 1750695"/>
                <a:gd name="T5" fmla="*/ 0 h 1229360"/>
                <a:gd name="T6" fmla="*/ 1750314 w 1750695"/>
                <a:gd name="T7" fmla="*/ 614553 h 1229360"/>
                <a:gd name="T8" fmla="*/ 1443037 w 1750695"/>
                <a:gd name="T9" fmla="*/ 1229106 h 1229360"/>
                <a:gd name="T10" fmla="*/ 307276 w 1750695"/>
                <a:gd name="T11" fmla="*/ 1229106 h 1229360"/>
                <a:gd name="T12" fmla="*/ 0 w 1750695"/>
                <a:gd name="T13" fmla="*/ 614553 h 1229360"/>
              </a:gdLst>
              <a:ahLst/>
              <a:cxnLst>
                <a:cxn ang="0">
                  <a:pos x="T0" y="T1"/>
                </a:cxn>
                <a:cxn ang="0">
                  <a:pos x="T2" y="T3"/>
                </a:cxn>
                <a:cxn ang="0">
                  <a:pos x="T4" y="T5"/>
                </a:cxn>
                <a:cxn ang="0">
                  <a:pos x="T6" y="T7"/>
                </a:cxn>
                <a:cxn ang="0">
                  <a:pos x="T8" y="T9"/>
                </a:cxn>
                <a:cxn ang="0">
                  <a:pos x="T10" y="T11"/>
                </a:cxn>
                <a:cxn ang="0">
                  <a:pos x="T12" y="T13"/>
                </a:cxn>
              </a:cxnLst>
              <a:rect l="0" t="0" r="r" b="b"/>
              <a:pathLst>
                <a:path w="1750695" h="1229360">
                  <a:moveTo>
                    <a:pt x="0" y="614553"/>
                  </a:moveTo>
                  <a:lnTo>
                    <a:pt x="307276" y="0"/>
                  </a:lnTo>
                  <a:lnTo>
                    <a:pt x="1443037" y="0"/>
                  </a:lnTo>
                  <a:lnTo>
                    <a:pt x="1750314" y="614553"/>
                  </a:lnTo>
                  <a:lnTo>
                    <a:pt x="1443037" y="1229106"/>
                  </a:lnTo>
                  <a:lnTo>
                    <a:pt x="307276" y="1229106"/>
                  </a:lnTo>
                  <a:lnTo>
                    <a:pt x="0" y="614553"/>
                  </a:lnTo>
                  <a:close/>
                </a:path>
              </a:pathLst>
            </a:custGeom>
            <a:noFill/>
            <a:ln w="190500">
              <a:solidFill>
                <a:srgbClr val="007C9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32" name="object 11"/>
            <p:cNvSpPr txBox="1">
              <a:spLocks noChangeArrowheads="1"/>
            </p:cNvSpPr>
            <p:nvPr/>
          </p:nvSpPr>
          <p:spPr bwMode="auto">
            <a:xfrm>
              <a:off x="1660345" y="3156341"/>
              <a:ext cx="280034"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3600" dirty="0">
                  <a:solidFill>
                    <a:srgbClr val="007C92"/>
                  </a:solidFill>
                  <a:latin typeface="Univers LT Std 45 Light"/>
                  <a:ea typeface="Univers LT Std 45 Light"/>
                  <a:cs typeface="Univers LT Std 45 Light"/>
                </a:rPr>
                <a:t>1</a:t>
              </a:r>
              <a:endParaRPr lang="en-US" altLang="en-US" sz="3600" dirty="0">
                <a:latin typeface="Univers LT Std 45 Light"/>
                <a:ea typeface="Univers LT Std 45 Light"/>
                <a:cs typeface="Univers LT Std 45 Light"/>
              </a:endParaRPr>
            </a:p>
          </p:txBody>
        </p:sp>
        <p:sp>
          <p:nvSpPr>
            <p:cNvPr id="26633" name="object 12"/>
            <p:cNvSpPr>
              <a:spLocks/>
            </p:cNvSpPr>
            <p:nvPr/>
          </p:nvSpPr>
          <p:spPr bwMode="auto">
            <a:xfrm>
              <a:off x="3150394" y="1982787"/>
              <a:ext cx="1750060" cy="1226185"/>
            </a:xfrm>
            <a:custGeom>
              <a:avLst/>
              <a:gdLst>
                <a:gd name="T0" fmla="*/ 0 w 1750060"/>
                <a:gd name="T1" fmla="*/ 613028 h 1226185"/>
                <a:gd name="T2" fmla="*/ 306514 w 1750060"/>
                <a:gd name="T3" fmla="*/ 0 h 1226185"/>
                <a:gd name="T4" fmla="*/ 1443037 w 1750060"/>
                <a:gd name="T5" fmla="*/ 0 h 1226185"/>
                <a:gd name="T6" fmla="*/ 1749552 w 1750060"/>
                <a:gd name="T7" fmla="*/ 613028 h 1226185"/>
                <a:gd name="T8" fmla="*/ 1443037 w 1750060"/>
                <a:gd name="T9" fmla="*/ 1226058 h 1226185"/>
                <a:gd name="T10" fmla="*/ 306514 w 1750060"/>
                <a:gd name="T11" fmla="*/ 1226058 h 1226185"/>
                <a:gd name="T12" fmla="*/ 0 w 1750060"/>
                <a:gd name="T13" fmla="*/ 613028 h 1226185"/>
              </a:gdLst>
              <a:ahLst/>
              <a:cxnLst>
                <a:cxn ang="0">
                  <a:pos x="T0" y="T1"/>
                </a:cxn>
                <a:cxn ang="0">
                  <a:pos x="T2" y="T3"/>
                </a:cxn>
                <a:cxn ang="0">
                  <a:pos x="T4" y="T5"/>
                </a:cxn>
                <a:cxn ang="0">
                  <a:pos x="T6" y="T7"/>
                </a:cxn>
                <a:cxn ang="0">
                  <a:pos x="T8" y="T9"/>
                </a:cxn>
                <a:cxn ang="0">
                  <a:pos x="T10" y="T11"/>
                </a:cxn>
                <a:cxn ang="0">
                  <a:pos x="T12" y="T13"/>
                </a:cxn>
              </a:cxnLst>
              <a:rect l="0" t="0" r="r" b="b"/>
              <a:pathLst>
                <a:path w="1750060" h="1226185">
                  <a:moveTo>
                    <a:pt x="0" y="613028"/>
                  </a:moveTo>
                  <a:lnTo>
                    <a:pt x="306514" y="0"/>
                  </a:lnTo>
                  <a:lnTo>
                    <a:pt x="1443037" y="0"/>
                  </a:lnTo>
                  <a:lnTo>
                    <a:pt x="1749552" y="613028"/>
                  </a:lnTo>
                  <a:lnTo>
                    <a:pt x="1443037" y="1226058"/>
                  </a:lnTo>
                  <a:lnTo>
                    <a:pt x="306514" y="1226058"/>
                  </a:lnTo>
                  <a:lnTo>
                    <a:pt x="0" y="613028"/>
                  </a:lnTo>
                  <a:close/>
                </a:path>
              </a:pathLst>
            </a:custGeom>
            <a:noFill/>
            <a:ln w="190500">
              <a:solidFill>
                <a:srgbClr val="8E258D"/>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34" name="object 13"/>
            <p:cNvSpPr txBox="1">
              <a:spLocks noChangeArrowheads="1"/>
            </p:cNvSpPr>
            <p:nvPr/>
          </p:nvSpPr>
          <p:spPr bwMode="auto">
            <a:xfrm>
              <a:off x="3884664" y="2330547"/>
              <a:ext cx="28003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3600" dirty="0">
                  <a:solidFill>
                    <a:srgbClr val="8E258D"/>
                  </a:solidFill>
                  <a:latin typeface="Univers LT Std 45 Light"/>
                  <a:ea typeface="Univers LT Std 45 Light"/>
                  <a:cs typeface="Univers LT Std 45 Light"/>
                </a:rPr>
                <a:t>2</a:t>
              </a:r>
              <a:endParaRPr lang="en-US" altLang="en-US" sz="3600" dirty="0">
                <a:latin typeface="Univers LT Std 45 Light"/>
                <a:ea typeface="Univers LT Std 45 Light"/>
                <a:cs typeface="Univers LT Std 45 Light"/>
              </a:endParaRPr>
            </a:p>
          </p:txBody>
        </p:sp>
        <p:sp>
          <p:nvSpPr>
            <p:cNvPr id="26635" name="object 21"/>
            <p:cNvSpPr>
              <a:spLocks/>
            </p:cNvSpPr>
            <p:nvPr/>
          </p:nvSpPr>
          <p:spPr bwMode="auto">
            <a:xfrm>
              <a:off x="4015264" y="3249231"/>
              <a:ext cx="0" cy="330835"/>
            </a:xfrm>
            <a:custGeom>
              <a:avLst/>
              <a:gdLst>
                <a:gd name="T0" fmla="*/ 0 h 330835"/>
                <a:gd name="T1" fmla="*/ 330250 h 330835"/>
              </a:gdLst>
              <a:ahLst/>
              <a:cxnLst>
                <a:cxn ang="0">
                  <a:pos x="0" y="T0"/>
                </a:cxn>
                <a:cxn ang="0">
                  <a:pos x="0" y="T1"/>
                </a:cxn>
              </a:cxnLst>
              <a:rect l="0" t="0" r="r" b="b"/>
              <a:pathLst>
                <a:path h="330835">
                  <a:moveTo>
                    <a:pt x="0" y="0"/>
                  </a:moveTo>
                  <a:lnTo>
                    <a:pt x="0" y="330250"/>
                  </a:lnTo>
                </a:path>
              </a:pathLst>
            </a:custGeom>
            <a:noFill/>
            <a:ln w="41148">
              <a:solidFill>
                <a:srgbClr val="8E258D"/>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36" name="object 22"/>
            <p:cNvSpPr>
              <a:spLocks/>
            </p:cNvSpPr>
            <p:nvPr/>
          </p:nvSpPr>
          <p:spPr bwMode="auto">
            <a:xfrm>
              <a:off x="3969667" y="3534345"/>
              <a:ext cx="90805" cy="91440"/>
            </a:xfrm>
            <a:custGeom>
              <a:avLst/>
              <a:gdLst>
                <a:gd name="T0" fmla="*/ 55389 w 90804"/>
                <a:gd name="T1" fmla="*/ 0 h 91439"/>
                <a:gd name="T2" fmla="*/ 8586 w 90804"/>
                <a:gd name="T3" fmla="*/ 26186 h 91439"/>
                <a:gd name="T4" fmla="*/ 0 w 90804"/>
                <a:gd name="T5" fmla="*/ 49610 h 91439"/>
                <a:gd name="T6" fmla="*/ 231 w 90804"/>
                <a:gd name="T7" fmla="*/ 61202 h 91439"/>
                <a:gd name="T8" fmla="*/ 33276 w 90804"/>
                <a:gd name="T9" fmla="*/ 90867 h 91439"/>
                <a:gd name="T10" fmla="*/ 44486 w 90804"/>
                <a:gd name="T11" fmla="*/ 89875 h 91439"/>
                <a:gd name="T12" fmla="*/ 79659 w 90804"/>
                <a:gd name="T13" fmla="*/ 68906 h 91439"/>
                <a:gd name="T14" fmla="*/ 90640 w 90804"/>
                <a:gd name="T15" fmla="*/ 36644 h 91439"/>
                <a:gd name="T16" fmla="*/ 88537 w 90804"/>
                <a:gd name="T17" fmla="*/ 25397 h 91439"/>
                <a:gd name="T18" fmla="*/ 83231 w 90804"/>
                <a:gd name="T19" fmla="*/ 14496 h 91439"/>
                <a:gd name="T20" fmla="*/ 74528 w 90804"/>
                <a:gd name="T21" fmla="*/ 4298 h 91439"/>
                <a:gd name="T22" fmla="*/ 65529 w 90804"/>
                <a:gd name="T23" fmla="*/ 817 h 91439"/>
                <a:gd name="T24" fmla="*/ 55389 w 90804"/>
                <a:gd name="T25" fmla="*/ 0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804" h="91439">
                  <a:moveTo>
                    <a:pt x="55389" y="0"/>
                  </a:moveTo>
                  <a:lnTo>
                    <a:pt x="8586" y="26186"/>
                  </a:lnTo>
                  <a:lnTo>
                    <a:pt x="0" y="49610"/>
                  </a:lnTo>
                  <a:lnTo>
                    <a:pt x="231" y="61202"/>
                  </a:lnTo>
                  <a:lnTo>
                    <a:pt x="33276" y="90867"/>
                  </a:lnTo>
                  <a:lnTo>
                    <a:pt x="44486" y="89875"/>
                  </a:lnTo>
                  <a:lnTo>
                    <a:pt x="79659" y="68906"/>
                  </a:lnTo>
                  <a:lnTo>
                    <a:pt x="90640" y="36644"/>
                  </a:lnTo>
                  <a:lnTo>
                    <a:pt x="88537" y="25397"/>
                  </a:lnTo>
                  <a:lnTo>
                    <a:pt x="83231" y="14496"/>
                  </a:lnTo>
                  <a:lnTo>
                    <a:pt x="74528" y="4298"/>
                  </a:lnTo>
                  <a:lnTo>
                    <a:pt x="65529" y="817"/>
                  </a:lnTo>
                  <a:lnTo>
                    <a:pt x="5538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6637" name="object 23"/>
            <p:cNvSpPr>
              <a:spLocks/>
            </p:cNvSpPr>
            <p:nvPr/>
          </p:nvSpPr>
          <p:spPr bwMode="auto">
            <a:xfrm>
              <a:off x="3969667" y="3534345"/>
              <a:ext cx="90805" cy="91440"/>
            </a:xfrm>
            <a:custGeom>
              <a:avLst/>
              <a:gdLst>
                <a:gd name="T0" fmla="*/ 10065 w 90804"/>
                <a:gd name="T1" fmla="*/ 80966 h 91439"/>
                <a:gd name="T2" fmla="*/ 3565 w 90804"/>
                <a:gd name="T3" fmla="*/ 71866 h 91439"/>
                <a:gd name="T4" fmla="*/ 231 w 90804"/>
                <a:gd name="T5" fmla="*/ 61202 h 91439"/>
                <a:gd name="T6" fmla="*/ 0 w 90804"/>
                <a:gd name="T7" fmla="*/ 49610 h 91439"/>
                <a:gd name="T8" fmla="*/ 2806 w 90804"/>
                <a:gd name="T9" fmla="*/ 37726 h 91439"/>
                <a:gd name="T10" fmla="*/ 32720 w 90804"/>
                <a:gd name="T11" fmla="*/ 6920 h 91439"/>
                <a:gd name="T12" fmla="*/ 55389 w 90804"/>
                <a:gd name="T13" fmla="*/ 0 h 91439"/>
                <a:gd name="T14" fmla="*/ 65529 w 90804"/>
                <a:gd name="T15" fmla="*/ 817 h 91439"/>
                <a:gd name="T16" fmla="*/ 74528 w 90804"/>
                <a:gd name="T17" fmla="*/ 4298 h 91439"/>
                <a:gd name="T18" fmla="*/ 83231 w 90804"/>
                <a:gd name="T19" fmla="*/ 14496 h 91439"/>
                <a:gd name="T20" fmla="*/ 88537 w 90804"/>
                <a:gd name="T21" fmla="*/ 25397 h 91439"/>
                <a:gd name="T22" fmla="*/ 90640 w 90804"/>
                <a:gd name="T23" fmla="*/ 36644 h 91439"/>
                <a:gd name="T24" fmla="*/ 89733 w 90804"/>
                <a:gd name="T25" fmla="*/ 47883 h 91439"/>
                <a:gd name="T26" fmla="*/ 56208 w 90804"/>
                <a:gd name="T27" fmla="*/ 85930 h 91439"/>
                <a:gd name="T28" fmla="*/ 33276 w 90804"/>
                <a:gd name="T29" fmla="*/ 90867 h 91439"/>
                <a:gd name="T30" fmla="*/ 22959 w 90804"/>
                <a:gd name="T31" fmla="*/ 88978 h 91439"/>
                <a:gd name="T32" fmla="*/ 13917 w 90804"/>
                <a:gd name="T33" fmla="*/ 84277 h 91439"/>
                <a:gd name="T34" fmla="*/ 10065 w 90804"/>
                <a:gd name="T35" fmla="*/ 80966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804" h="91439">
                  <a:moveTo>
                    <a:pt x="10065" y="80966"/>
                  </a:moveTo>
                  <a:lnTo>
                    <a:pt x="3565" y="71866"/>
                  </a:lnTo>
                  <a:lnTo>
                    <a:pt x="231" y="61202"/>
                  </a:lnTo>
                  <a:lnTo>
                    <a:pt x="0" y="49610"/>
                  </a:lnTo>
                  <a:lnTo>
                    <a:pt x="2806" y="37726"/>
                  </a:lnTo>
                  <a:lnTo>
                    <a:pt x="32720" y="6920"/>
                  </a:lnTo>
                  <a:lnTo>
                    <a:pt x="55389" y="0"/>
                  </a:lnTo>
                  <a:lnTo>
                    <a:pt x="65529" y="817"/>
                  </a:lnTo>
                  <a:lnTo>
                    <a:pt x="74528" y="4298"/>
                  </a:lnTo>
                  <a:lnTo>
                    <a:pt x="83231" y="14496"/>
                  </a:lnTo>
                  <a:lnTo>
                    <a:pt x="88537" y="25397"/>
                  </a:lnTo>
                  <a:lnTo>
                    <a:pt x="90640" y="36644"/>
                  </a:lnTo>
                  <a:lnTo>
                    <a:pt x="89733" y="47883"/>
                  </a:lnTo>
                  <a:lnTo>
                    <a:pt x="56208" y="85930"/>
                  </a:lnTo>
                  <a:lnTo>
                    <a:pt x="33276" y="90867"/>
                  </a:lnTo>
                  <a:lnTo>
                    <a:pt x="22959" y="88978"/>
                  </a:lnTo>
                  <a:lnTo>
                    <a:pt x="13917" y="84277"/>
                  </a:lnTo>
                  <a:lnTo>
                    <a:pt x="10065" y="80966"/>
                  </a:lnTo>
                  <a:close/>
                </a:path>
              </a:pathLst>
            </a:custGeom>
            <a:noFill/>
            <a:ln w="38100">
              <a:solidFill>
                <a:srgbClr val="8E258D"/>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38" name="object 24"/>
            <p:cNvSpPr>
              <a:spLocks/>
            </p:cNvSpPr>
            <p:nvPr/>
          </p:nvSpPr>
          <p:spPr bwMode="auto">
            <a:xfrm>
              <a:off x="1857788" y="2456754"/>
              <a:ext cx="0" cy="330835"/>
            </a:xfrm>
            <a:custGeom>
              <a:avLst/>
              <a:gdLst>
                <a:gd name="T0" fmla="*/ 330250 h 330835"/>
                <a:gd name="T1" fmla="*/ 0 h 330835"/>
              </a:gdLst>
              <a:ahLst/>
              <a:cxnLst>
                <a:cxn ang="0">
                  <a:pos x="0" y="T0"/>
                </a:cxn>
                <a:cxn ang="0">
                  <a:pos x="0" y="T1"/>
                </a:cxn>
              </a:cxnLst>
              <a:rect l="0" t="0" r="r" b="b"/>
              <a:pathLst>
                <a:path h="330835">
                  <a:moveTo>
                    <a:pt x="0" y="330250"/>
                  </a:moveTo>
                  <a:lnTo>
                    <a:pt x="0" y="0"/>
                  </a:lnTo>
                </a:path>
              </a:pathLst>
            </a:custGeom>
            <a:noFill/>
            <a:ln w="41148">
              <a:solidFill>
                <a:srgbClr val="007C9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39" name="object 25"/>
            <p:cNvSpPr>
              <a:spLocks/>
            </p:cNvSpPr>
            <p:nvPr/>
          </p:nvSpPr>
          <p:spPr bwMode="auto">
            <a:xfrm>
              <a:off x="1813216" y="2411426"/>
              <a:ext cx="90805" cy="91440"/>
            </a:xfrm>
            <a:custGeom>
              <a:avLst/>
              <a:gdLst>
                <a:gd name="T0" fmla="*/ 57364 w 90805"/>
                <a:gd name="T1" fmla="*/ 0 h 91439"/>
                <a:gd name="T2" fmla="*/ 10981 w 90805"/>
                <a:gd name="T3" fmla="*/ 21961 h 91439"/>
                <a:gd name="T4" fmla="*/ 0 w 90805"/>
                <a:gd name="T5" fmla="*/ 54223 h 91439"/>
                <a:gd name="T6" fmla="*/ 2103 w 90805"/>
                <a:gd name="T7" fmla="*/ 65470 h 91439"/>
                <a:gd name="T8" fmla="*/ 7409 w 90805"/>
                <a:gd name="T9" fmla="*/ 76371 h 91439"/>
                <a:gd name="T10" fmla="*/ 16112 w 90805"/>
                <a:gd name="T11" fmla="*/ 86569 h 91439"/>
                <a:gd name="T12" fmla="*/ 25111 w 90805"/>
                <a:gd name="T13" fmla="*/ 90050 h 91439"/>
                <a:gd name="T14" fmla="*/ 35251 w 90805"/>
                <a:gd name="T15" fmla="*/ 90867 h 91439"/>
                <a:gd name="T16" fmla="*/ 46273 w 90805"/>
                <a:gd name="T17" fmla="*/ 88880 h 91439"/>
                <a:gd name="T18" fmla="*/ 82054 w 90805"/>
                <a:gd name="T19" fmla="*/ 64681 h 91439"/>
                <a:gd name="T20" fmla="*/ 90640 w 90805"/>
                <a:gd name="T21" fmla="*/ 41257 h 91439"/>
                <a:gd name="T22" fmla="*/ 90409 w 90805"/>
                <a:gd name="T23" fmla="*/ 29665 h 91439"/>
                <a:gd name="T24" fmla="*/ 57364 w 90805"/>
                <a:gd name="T25" fmla="*/ 0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805" h="91439">
                  <a:moveTo>
                    <a:pt x="57364" y="0"/>
                  </a:moveTo>
                  <a:lnTo>
                    <a:pt x="10981" y="21961"/>
                  </a:lnTo>
                  <a:lnTo>
                    <a:pt x="0" y="54223"/>
                  </a:lnTo>
                  <a:lnTo>
                    <a:pt x="2103" y="65470"/>
                  </a:lnTo>
                  <a:lnTo>
                    <a:pt x="7409" y="76371"/>
                  </a:lnTo>
                  <a:lnTo>
                    <a:pt x="16112" y="86569"/>
                  </a:lnTo>
                  <a:lnTo>
                    <a:pt x="25111" y="90050"/>
                  </a:lnTo>
                  <a:lnTo>
                    <a:pt x="35251" y="90867"/>
                  </a:lnTo>
                  <a:lnTo>
                    <a:pt x="46273" y="88880"/>
                  </a:lnTo>
                  <a:lnTo>
                    <a:pt x="82054" y="64681"/>
                  </a:lnTo>
                  <a:lnTo>
                    <a:pt x="90640" y="41257"/>
                  </a:lnTo>
                  <a:lnTo>
                    <a:pt x="90409" y="29665"/>
                  </a:lnTo>
                  <a:lnTo>
                    <a:pt x="5736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6640" name="object 26"/>
            <p:cNvSpPr>
              <a:spLocks/>
            </p:cNvSpPr>
            <p:nvPr/>
          </p:nvSpPr>
          <p:spPr bwMode="auto">
            <a:xfrm>
              <a:off x="1813216" y="2411426"/>
              <a:ext cx="90805" cy="91440"/>
            </a:xfrm>
            <a:custGeom>
              <a:avLst/>
              <a:gdLst>
                <a:gd name="T0" fmla="*/ 80575 w 90805"/>
                <a:gd name="T1" fmla="*/ 9901 h 91439"/>
                <a:gd name="T2" fmla="*/ 87075 w 90805"/>
                <a:gd name="T3" fmla="*/ 19001 h 91439"/>
                <a:gd name="T4" fmla="*/ 90409 w 90805"/>
                <a:gd name="T5" fmla="*/ 29665 h 91439"/>
                <a:gd name="T6" fmla="*/ 90640 w 90805"/>
                <a:gd name="T7" fmla="*/ 41257 h 91439"/>
                <a:gd name="T8" fmla="*/ 87834 w 90805"/>
                <a:gd name="T9" fmla="*/ 53141 h 91439"/>
                <a:gd name="T10" fmla="*/ 57920 w 90805"/>
                <a:gd name="T11" fmla="*/ 83947 h 91439"/>
                <a:gd name="T12" fmla="*/ 35251 w 90805"/>
                <a:gd name="T13" fmla="*/ 90867 h 91439"/>
                <a:gd name="T14" fmla="*/ 25111 w 90805"/>
                <a:gd name="T15" fmla="*/ 90050 h 91439"/>
                <a:gd name="T16" fmla="*/ 16112 w 90805"/>
                <a:gd name="T17" fmla="*/ 86569 h 91439"/>
                <a:gd name="T18" fmla="*/ 7409 w 90805"/>
                <a:gd name="T19" fmla="*/ 76371 h 91439"/>
                <a:gd name="T20" fmla="*/ 2103 w 90805"/>
                <a:gd name="T21" fmla="*/ 65470 h 91439"/>
                <a:gd name="T22" fmla="*/ 0 w 90805"/>
                <a:gd name="T23" fmla="*/ 54223 h 91439"/>
                <a:gd name="T24" fmla="*/ 907 w 90805"/>
                <a:gd name="T25" fmla="*/ 42984 h 91439"/>
                <a:gd name="T26" fmla="*/ 34432 w 90805"/>
                <a:gd name="T27" fmla="*/ 4937 h 91439"/>
                <a:gd name="T28" fmla="*/ 57364 w 90805"/>
                <a:gd name="T29" fmla="*/ 0 h 91439"/>
                <a:gd name="T30" fmla="*/ 67681 w 90805"/>
                <a:gd name="T31" fmla="*/ 1889 h 91439"/>
                <a:gd name="T32" fmla="*/ 76723 w 90805"/>
                <a:gd name="T33" fmla="*/ 6590 h 91439"/>
                <a:gd name="T34" fmla="*/ 80575 w 90805"/>
                <a:gd name="T35" fmla="*/ 9901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805" h="91439">
                  <a:moveTo>
                    <a:pt x="80575" y="9901"/>
                  </a:moveTo>
                  <a:lnTo>
                    <a:pt x="87075" y="19001"/>
                  </a:lnTo>
                  <a:lnTo>
                    <a:pt x="90409" y="29665"/>
                  </a:lnTo>
                  <a:lnTo>
                    <a:pt x="90640" y="41257"/>
                  </a:lnTo>
                  <a:lnTo>
                    <a:pt x="87834" y="53141"/>
                  </a:lnTo>
                  <a:lnTo>
                    <a:pt x="57920" y="83947"/>
                  </a:lnTo>
                  <a:lnTo>
                    <a:pt x="35251" y="90867"/>
                  </a:lnTo>
                  <a:lnTo>
                    <a:pt x="25111" y="90050"/>
                  </a:lnTo>
                  <a:lnTo>
                    <a:pt x="16112" y="86569"/>
                  </a:lnTo>
                  <a:lnTo>
                    <a:pt x="7409" y="76371"/>
                  </a:lnTo>
                  <a:lnTo>
                    <a:pt x="2103" y="65470"/>
                  </a:lnTo>
                  <a:lnTo>
                    <a:pt x="0" y="54223"/>
                  </a:lnTo>
                  <a:lnTo>
                    <a:pt x="907" y="42984"/>
                  </a:lnTo>
                  <a:lnTo>
                    <a:pt x="34432" y="4937"/>
                  </a:lnTo>
                  <a:lnTo>
                    <a:pt x="57364" y="0"/>
                  </a:lnTo>
                  <a:lnTo>
                    <a:pt x="67681" y="1889"/>
                  </a:lnTo>
                  <a:lnTo>
                    <a:pt x="76723" y="6590"/>
                  </a:lnTo>
                  <a:lnTo>
                    <a:pt x="80575" y="9901"/>
                  </a:lnTo>
                  <a:close/>
                </a:path>
              </a:pathLst>
            </a:custGeom>
            <a:noFill/>
            <a:ln w="38100">
              <a:solidFill>
                <a:srgbClr val="007C9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41" name="object 30"/>
            <p:cNvSpPr>
              <a:spLocks/>
            </p:cNvSpPr>
            <p:nvPr/>
          </p:nvSpPr>
          <p:spPr bwMode="auto">
            <a:xfrm>
              <a:off x="5230654" y="2776028"/>
              <a:ext cx="1750060" cy="1226185"/>
            </a:xfrm>
            <a:custGeom>
              <a:avLst/>
              <a:gdLst>
                <a:gd name="T0" fmla="*/ 0 w 1750059"/>
                <a:gd name="T1" fmla="*/ 613028 h 1226185"/>
                <a:gd name="T2" fmla="*/ 306514 w 1750059"/>
                <a:gd name="T3" fmla="*/ 0 h 1226185"/>
                <a:gd name="T4" fmla="*/ 1443037 w 1750059"/>
                <a:gd name="T5" fmla="*/ 0 h 1226185"/>
                <a:gd name="T6" fmla="*/ 1749552 w 1750059"/>
                <a:gd name="T7" fmla="*/ 613028 h 1226185"/>
                <a:gd name="T8" fmla="*/ 1443037 w 1750059"/>
                <a:gd name="T9" fmla="*/ 1226058 h 1226185"/>
                <a:gd name="T10" fmla="*/ 306514 w 1750059"/>
                <a:gd name="T11" fmla="*/ 1226058 h 1226185"/>
                <a:gd name="T12" fmla="*/ 0 w 1750059"/>
                <a:gd name="T13" fmla="*/ 613028 h 1226185"/>
              </a:gdLst>
              <a:ahLst/>
              <a:cxnLst>
                <a:cxn ang="0">
                  <a:pos x="T0" y="T1"/>
                </a:cxn>
                <a:cxn ang="0">
                  <a:pos x="T2" y="T3"/>
                </a:cxn>
                <a:cxn ang="0">
                  <a:pos x="T4" y="T5"/>
                </a:cxn>
                <a:cxn ang="0">
                  <a:pos x="T6" y="T7"/>
                </a:cxn>
                <a:cxn ang="0">
                  <a:pos x="T8" y="T9"/>
                </a:cxn>
                <a:cxn ang="0">
                  <a:pos x="T10" y="T11"/>
                </a:cxn>
                <a:cxn ang="0">
                  <a:pos x="T12" y="T13"/>
                </a:cxn>
              </a:cxnLst>
              <a:rect l="0" t="0" r="r" b="b"/>
              <a:pathLst>
                <a:path w="1750059" h="1226185">
                  <a:moveTo>
                    <a:pt x="0" y="613028"/>
                  </a:moveTo>
                  <a:lnTo>
                    <a:pt x="306514" y="0"/>
                  </a:lnTo>
                  <a:lnTo>
                    <a:pt x="1443037" y="0"/>
                  </a:lnTo>
                  <a:lnTo>
                    <a:pt x="1749552" y="613028"/>
                  </a:lnTo>
                  <a:lnTo>
                    <a:pt x="1443037" y="1226058"/>
                  </a:lnTo>
                  <a:lnTo>
                    <a:pt x="306514" y="1226058"/>
                  </a:lnTo>
                  <a:lnTo>
                    <a:pt x="0" y="613028"/>
                  </a:lnTo>
                  <a:close/>
                </a:path>
              </a:pathLst>
            </a:custGeom>
            <a:noFill/>
            <a:ln w="190500">
              <a:solidFill>
                <a:srgbClr val="EBB7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42" name="object 31"/>
            <p:cNvSpPr txBox="1">
              <a:spLocks noChangeArrowheads="1"/>
            </p:cNvSpPr>
            <p:nvPr/>
          </p:nvSpPr>
          <p:spPr bwMode="auto">
            <a:xfrm>
              <a:off x="5965236" y="3171749"/>
              <a:ext cx="28003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3600">
                  <a:solidFill>
                    <a:srgbClr val="EBB700"/>
                  </a:solidFill>
                  <a:latin typeface="Univers LT Std 45 Light"/>
                  <a:ea typeface="Univers LT Std 45 Light"/>
                  <a:cs typeface="Univers LT Std 45 Light"/>
                </a:rPr>
                <a:t>3</a:t>
              </a:r>
              <a:endParaRPr lang="en-US" altLang="en-US" sz="3600">
                <a:latin typeface="Univers LT Std 45 Light"/>
                <a:ea typeface="Univers LT Std 45 Light"/>
                <a:cs typeface="Univers LT Std 45 Light"/>
              </a:endParaRPr>
            </a:p>
          </p:txBody>
        </p:sp>
        <p:sp>
          <p:nvSpPr>
            <p:cNvPr id="26643" name="object 32"/>
            <p:cNvSpPr>
              <a:spLocks/>
            </p:cNvSpPr>
            <p:nvPr/>
          </p:nvSpPr>
          <p:spPr bwMode="auto">
            <a:xfrm>
              <a:off x="6101621" y="2456754"/>
              <a:ext cx="0" cy="330835"/>
            </a:xfrm>
            <a:custGeom>
              <a:avLst/>
              <a:gdLst>
                <a:gd name="T0" fmla="*/ 330250 h 330835"/>
                <a:gd name="T1" fmla="*/ 0 h 330835"/>
              </a:gdLst>
              <a:ahLst/>
              <a:cxnLst>
                <a:cxn ang="0">
                  <a:pos x="0" y="T0"/>
                </a:cxn>
                <a:cxn ang="0">
                  <a:pos x="0" y="T1"/>
                </a:cxn>
              </a:cxnLst>
              <a:rect l="0" t="0" r="r" b="b"/>
              <a:pathLst>
                <a:path h="330835">
                  <a:moveTo>
                    <a:pt x="0" y="330250"/>
                  </a:moveTo>
                  <a:lnTo>
                    <a:pt x="0" y="0"/>
                  </a:lnTo>
                </a:path>
              </a:pathLst>
            </a:custGeom>
            <a:noFill/>
            <a:ln w="41148">
              <a:solidFill>
                <a:srgbClr val="EBB7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6644" name="object 33"/>
            <p:cNvSpPr>
              <a:spLocks/>
            </p:cNvSpPr>
            <p:nvPr/>
          </p:nvSpPr>
          <p:spPr bwMode="auto">
            <a:xfrm>
              <a:off x="6055631" y="2411426"/>
              <a:ext cx="90805" cy="91440"/>
            </a:xfrm>
            <a:custGeom>
              <a:avLst/>
              <a:gdLst>
                <a:gd name="T0" fmla="*/ 33276 w 90804"/>
                <a:gd name="T1" fmla="*/ 0 h 91439"/>
                <a:gd name="T2" fmla="*/ 231 w 90804"/>
                <a:gd name="T3" fmla="*/ 29665 h 91439"/>
                <a:gd name="T4" fmla="*/ 0 w 90804"/>
                <a:gd name="T5" fmla="*/ 41257 h 91439"/>
                <a:gd name="T6" fmla="*/ 2806 w 90804"/>
                <a:gd name="T7" fmla="*/ 53141 h 91439"/>
                <a:gd name="T8" fmla="*/ 32720 w 90804"/>
                <a:gd name="T9" fmla="*/ 83947 h 91439"/>
                <a:gd name="T10" fmla="*/ 55389 w 90804"/>
                <a:gd name="T11" fmla="*/ 90867 h 91439"/>
                <a:gd name="T12" fmla="*/ 65529 w 90804"/>
                <a:gd name="T13" fmla="*/ 90050 h 91439"/>
                <a:gd name="T14" fmla="*/ 74528 w 90804"/>
                <a:gd name="T15" fmla="*/ 86569 h 91439"/>
                <a:gd name="T16" fmla="*/ 83231 w 90804"/>
                <a:gd name="T17" fmla="*/ 76371 h 91439"/>
                <a:gd name="T18" fmla="*/ 88537 w 90804"/>
                <a:gd name="T19" fmla="*/ 65470 h 91439"/>
                <a:gd name="T20" fmla="*/ 90640 w 90804"/>
                <a:gd name="T21" fmla="*/ 54223 h 91439"/>
                <a:gd name="T22" fmla="*/ 89733 w 90804"/>
                <a:gd name="T23" fmla="*/ 42984 h 91439"/>
                <a:gd name="T24" fmla="*/ 56208 w 90804"/>
                <a:gd name="T25" fmla="*/ 4937 h 91439"/>
                <a:gd name="T26" fmla="*/ 33276 w 90804"/>
                <a:gd name="T27" fmla="*/ 0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804" h="91439">
                  <a:moveTo>
                    <a:pt x="33276" y="0"/>
                  </a:moveTo>
                  <a:lnTo>
                    <a:pt x="231" y="29665"/>
                  </a:lnTo>
                  <a:lnTo>
                    <a:pt x="0" y="41257"/>
                  </a:lnTo>
                  <a:lnTo>
                    <a:pt x="2806" y="53141"/>
                  </a:lnTo>
                  <a:lnTo>
                    <a:pt x="32720" y="83947"/>
                  </a:lnTo>
                  <a:lnTo>
                    <a:pt x="55389" y="90867"/>
                  </a:lnTo>
                  <a:lnTo>
                    <a:pt x="65529" y="90050"/>
                  </a:lnTo>
                  <a:lnTo>
                    <a:pt x="74528" y="86569"/>
                  </a:lnTo>
                  <a:lnTo>
                    <a:pt x="83231" y="76371"/>
                  </a:lnTo>
                  <a:lnTo>
                    <a:pt x="88537" y="65470"/>
                  </a:lnTo>
                  <a:lnTo>
                    <a:pt x="90640" y="54223"/>
                  </a:lnTo>
                  <a:lnTo>
                    <a:pt x="89733" y="42984"/>
                  </a:lnTo>
                  <a:lnTo>
                    <a:pt x="56208" y="4937"/>
                  </a:lnTo>
                  <a:lnTo>
                    <a:pt x="332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6645" name="object 34"/>
            <p:cNvSpPr>
              <a:spLocks/>
            </p:cNvSpPr>
            <p:nvPr/>
          </p:nvSpPr>
          <p:spPr bwMode="auto">
            <a:xfrm>
              <a:off x="6055631" y="2411426"/>
              <a:ext cx="90805" cy="91440"/>
            </a:xfrm>
            <a:custGeom>
              <a:avLst/>
              <a:gdLst>
                <a:gd name="T0" fmla="*/ 10065 w 90804"/>
                <a:gd name="T1" fmla="*/ 9901 h 91439"/>
                <a:gd name="T2" fmla="*/ 3565 w 90804"/>
                <a:gd name="T3" fmla="*/ 19001 h 91439"/>
                <a:gd name="T4" fmla="*/ 231 w 90804"/>
                <a:gd name="T5" fmla="*/ 29665 h 91439"/>
                <a:gd name="T6" fmla="*/ 0 w 90804"/>
                <a:gd name="T7" fmla="*/ 41257 h 91439"/>
                <a:gd name="T8" fmla="*/ 2806 w 90804"/>
                <a:gd name="T9" fmla="*/ 53141 h 91439"/>
                <a:gd name="T10" fmla="*/ 32720 w 90804"/>
                <a:gd name="T11" fmla="*/ 83947 h 91439"/>
                <a:gd name="T12" fmla="*/ 55389 w 90804"/>
                <a:gd name="T13" fmla="*/ 90867 h 91439"/>
                <a:gd name="T14" fmla="*/ 65529 w 90804"/>
                <a:gd name="T15" fmla="*/ 90050 h 91439"/>
                <a:gd name="T16" fmla="*/ 74528 w 90804"/>
                <a:gd name="T17" fmla="*/ 86569 h 91439"/>
                <a:gd name="T18" fmla="*/ 83231 w 90804"/>
                <a:gd name="T19" fmla="*/ 76371 h 91439"/>
                <a:gd name="T20" fmla="*/ 88537 w 90804"/>
                <a:gd name="T21" fmla="*/ 65470 h 91439"/>
                <a:gd name="T22" fmla="*/ 90640 w 90804"/>
                <a:gd name="T23" fmla="*/ 54223 h 91439"/>
                <a:gd name="T24" fmla="*/ 89733 w 90804"/>
                <a:gd name="T25" fmla="*/ 42984 h 91439"/>
                <a:gd name="T26" fmla="*/ 56208 w 90804"/>
                <a:gd name="T27" fmla="*/ 4937 h 91439"/>
                <a:gd name="T28" fmla="*/ 33276 w 90804"/>
                <a:gd name="T29" fmla="*/ 0 h 91439"/>
                <a:gd name="T30" fmla="*/ 22959 w 90804"/>
                <a:gd name="T31" fmla="*/ 1889 h 91439"/>
                <a:gd name="T32" fmla="*/ 13917 w 90804"/>
                <a:gd name="T33" fmla="*/ 6590 h 91439"/>
                <a:gd name="T34" fmla="*/ 10065 w 90804"/>
                <a:gd name="T35" fmla="*/ 9901 h 9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804" h="91439">
                  <a:moveTo>
                    <a:pt x="10065" y="9901"/>
                  </a:moveTo>
                  <a:lnTo>
                    <a:pt x="3565" y="19001"/>
                  </a:lnTo>
                  <a:lnTo>
                    <a:pt x="231" y="29665"/>
                  </a:lnTo>
                  <a:lnTo>
                    <a:pt x="0" y="41257"/>
                  </a:lnTo>
                  <a:lnTo>
                    <a:pt x="2806" y="53141"/>
                  </a:lnTo>
                  <a:lnTo>
                    <a:pt x="32720" y="83947"/>
                  </a:lnTo>
                  <a:lnTo>
                    <a:pt x="55389" y="90867"/>
                  </a:lnTo>
                  <a:lnTo>
                    <a:pt x="65529" y="90050"/>
                  </a:lnTo>
                  <a:lnTo>
                    <a:pt x="74528" y="86569"/>
                  </a:lnTo>
                  <a:lnTo>
                    <a:pt x="83231" y="76371"/>
                  </a:lnTo>
                  <a:lnTo>
                    <a:pt x="88537" y="65470"/>
                  </a:lnTo>
                  <a:lnTo>
                    <a:pt x="90640" y="54223"/>
                  </a:lnTo>
                  <a:lnTo>
                    <a:pt x="89733" y="42984"/>
                  </a:lnTo>
                  <a:lnTo>
                    <a:pt x="56208" y="4937"/>
                  </a:lnTo>
                  <a:lnTo>
                    <a:pt x="33276" y="0"/>
                  </a:lnTo>
                  <a:lnTo>
                    <a:pt x="22959" y="1889"/>
                  </a:lnTo>
                  <a:lnTo>
                    <a:pt x="13917" y="6590"/>
                  </a:lnTo>
                  <a:lnTo>
                    <a:pt x="10065" y="9901"/>
                  </a:lnTo>
                  <a:close/>
                </a:path>
              </a:pathLst>
            </a:custGeom>
            <a:noFill/>
            <a:ln w="38100">
              <a:solidFill>
                <a:srgbClr val="EBB7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 name="Rectangle 3"/>
            <p:cNvSpPr/>
            <p:nvPr/>
          </p:nvSpPr>
          <p:spPr>
            <a:xfrm>
              <a:off x="715802" y="1459897"/>
              <a:ext cx="2909098" cy="770167"/>
            </a:xfrm>
            <a:prstGeom prst="rect">
              <a:avLst/>
            </a:prstGeom>
          </p:spPr>
          <p:txBody>
            <a:bodyPr>
              <a:spAutoFit/>
            </a:bodyPr>
            <a:lstStyle/>
            <a:p>
              <a:pPr>
                <a:defRPr/>
              </a:pPr>
              <a:r>
                <a:rPr lang="en-US" sz="1400" b="1" dirty="0">
                  <a:solidFill>
                    <a:srgbClr val="007C92"/>
                  </a:solidFill>
                  <a:latin typeface="+mn-lt"/>
                  <a:cs typeface="Times New Roman" panose="02020603050405020304" pitchFamily="18" charset="0"/>
                </a:rPr>
                <a:t>Catalyst Launch Delivery</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AnyPoint Platform</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Projects </a:t>
              </a:r>
            </a:p>
          </p:txBody>
        </p:sp>
        <p:sp>
          <p:nvSpPr>
            <p:cNvPr id="28" name="Rectangle 27"/>
            <p:cNvSpPr/>
            <p:nvPr/>
          </p:nvSpPr>
          <p:spPr>
            <a:xfrm>
              <a:off x="2692939" y="3990337"/>
              <a:ext cx="2735067" cy="995421"/>
            </a:xfrm>
            <a:prstGeom prst="rect">
              <a:avLst/>
            </a:prstGeom>
          </p:spPr>
          <p:txBody>
            <a:bodyPr>
              <a:spAutoFit/>
            </a:bodyPr>
            <a:lstStyle/>
            <a:p>
              <a:pPr>
                <a:defRPr/>
              </a:pPr>
              <a:r>
                <a:rPr lang="en-US" sz="1400" b="1" dirty="0">
                  <a:solidFill>
                    <a:srgbClr val="8E258D"/>
                  </a:solidFill>
                  <a:latin typeface="+mn-lt"/>
                  <a:cs typeface="Times New Roman" panose="02020603050405020304" pitchFamily="18" charset="0"/>
                </a:rPr>
                <a:t>Organization Enablement</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C4E Foundation</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Internal Support Model</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Talent Foundation</a:t>
              </a:r>
            </a:p>
          </p:txBody>
        </p:sp>
        <p:sp>
          <p:nvSpPr>
            <p:cNvPr id="29" name="Rectangle 28"/>
            <p:cNvSpPr/>
            <p:nvPr/>
          </p:nvSpPr>
          <p:spPr>
            <a:xfrm>
              <a:off x="5035942" y="1455680"/>
              <a:ext cx="2299105" cy="771824"/>
            </a:xfrm>
            <a:prstGeom prst="rect">
              <a:avLst/>
            </a:prstGeom>
          </p:spPr>
          <p:txBody>
            <a:bodyPr wrap="square">
              <a:spAutoFit/>
            </a:bodyPr>
            <a:lstStyle/>
            <a:p>
              <a:pPr>
                <a:defRPr/>
              </a:pPr>
              <a:r>
                <a:rPr lang="en-US" sz="1400" b="1" dirty="0">
                  <a:solidFill>
                    <a:srgbClr val="EBB700"/>
                  </a:solidFill>
                  <a:latin typeface="+mn-lt"/>
                  <a:cs typeface="Times New Roman" panose="02020603050405020304" pitchFamily="18" charset="0"/>
                </a:rPr>
                <a:t>Business Outcomes</a:t>
              </a:r>
            </a:p>
            <a:p>
              <a:pPr marL="228600" indent="-228600">
                <a:buFont typeface="Arial" panose="020B0604020202020204" pitchFamily="34" charset="0"/>
                <a:buChar char="•"/>
                <a:tabLst>
                  <a:tab pos="174625" algn="l"/>
                </a:tabLst>
                <a:defRPr/>
              </a:pPr>
              <a:r>
                <a:rPr lang="en-US" sz="1400" dirty="0">
                  <a:latin typeface="+mn-lt"/>
                  <a:cs typeface="Times New Roman" panose="02020603050405020304" pitchFamily="18" charset="0"/>
                </a:rPr>
                <a:t>Customer success plan</a:t>
              </a:r>
            </a:p>
          </p:txBody>
        </p:sp>
      </p:grpSp>
      <p:sp>
        <p:nvSpPr>
          <p:cNvPr id="7" name="Rectangle 6"/>
          <p:cNvSpPr/>
          <p:nvPr/>
        </p:nvSpPr>
        <p:spPr>
          <a:xfrm>
            <a:off x="5269931" y="644465"/>
            <a:ext cx="2681063" cy="4995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629" name="Rectangle 7"/>
          <p:cNvSpPr>
            <a:spLocks noChangeArrowheads="1"/>
          </p:cNvSpPr>
          <p:nvPr/>
        </p:nvSpPr>
        <p:spPr bwMode="auto">
          <a:xfrm>
            <a:off x="5269930" y="679450"/>
            <a:ext cx="28244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200" dirty="0">
                <a:latin typeface="+mn-lt"/>
                <a:cs typeface="Times New Roman" panose="02020603050405020304" pitchFamily="18" charset="0"/>
              </a:rPr>
              <a:t>The completion of integration of  the </a:t>
            </a:r>
            <a:r>
              <a:rPr lang="en-US" altLang="en-US" sz="1200" dirty="0" smtClean="0">
                <a:latin typeface="+mn-lt"/>
                <a:cs typeface="Times New Roman" panose="02020603050405020304" pitchFamily="18" charset="0"/>
              </a:rPr>
              <a:t>AnyPoint </a:t>
            </a:r>
            <a:r>
              <a:rPr lang="en-US" altLang="en-US" sz="1200" dirty="0">
                <a:latin typeface="+mn-lt"/>
                <a:cs typeface="Times New Roman" panose="02020603050405020304" pitchFamily="18" charset="0"/>
              </a:rPr>
              <a:t>platform will result to the following benefits</a:t>
            </a:r>
            <a:r>
              <a:rPr lang="en-US" altLang="en-US" sz="1200" dirty="0" smtClean="0">
                <a:latin typeface="+mn-lt"/>
                <a:cs typeface="Times New Roman" panose="02020603050405020304" pitchFamily="18" charset="0"/>
              </a:rPr>
              <a:t>:</a:t>
            </a:r>
            <a:endParaRPr lang="en-US" altLang="en-US" sz="1200" dirty="0">
              <a:latin typeface="+mn-lt"/>
              <a:cs typeface="Times New Roman" panose="02020603050405020304" pitchFamily="18" charset="0"/>
            </a:endParaRPr>
          </a:p>
        </p:txBody>
      </p:sp>
      <p:sp>
        <p:nvSpPr>
          <p:cNvPr id="26630" name="Rectangle 25"/>
          <p:cNvSpPr>
            <a:spLocks noChangeArrowheads="1"/>
          </p:cNvSpPr>
          <p:nvPr/>
        </p:nvSpPr>
        <p:spPr bwMode="auto">
          <a:xfrm>
            <a:off x="5374286" y="1360766"/>
            <a:ext cx="257670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171450" indent="-171450">
              <a:buFont typeface="Arial" panose="020B0604020202020204" pitchFamily="34" charset="0"/>
              <a:buChar char="•"/>
            </a:pPr>
            <a:r>
              <a:rPr lang="en-US" altLang="en-US" sz="1200" b="1" dirty="0">
                <a:solidFill>
                  <a:srgbClr val="0070C0"/>
                </a:solidFill>
                <a:latin typeface="+mn-lt"/>
                <a:cs typeface="Times New Roman" panose="02020603050405020304" pitchFamily="18" charset="0"/>
              </a:rPr>
              <a:t>Platform Benefits: </a:t>
            </a:r>
            <a:r>
              <a:rPr lang="en-US" altLang="en-US" sz="1200" dirty="0">
                <a:latin typeface="+mn-lt"/>
                <a:cs typeface="Times New Roman" panose="02020603050405020304" pitchFamily="18" charset="0"/>
              </a:rPr>
              <a:t>Adopting the API-led approach to achieve </a:t>
            </a:r>
            <a:r>
              <a:rPr lang="en-US" altLang="en-US" sz="1200" dirty="0" smtClean="0">
                <a:latin typeface="+mn-lt"/>
                <a:cs typeface="Times New Roman" panose="02020603050405020304" pitchFamily="18" charset="0"/>
              </a:rPr>
              <a:t>Acme Pharma's </a:t>
            </a:r>
            <a:r>
              <a:rPr lang="en-US" altLang="en-US" sz="1200" dirty="0">
                <a:latin typeface="+mn-lt"/>
                <a:cs typeface="Times New Roman" panose="02020603050405020304" pitchFamily="18" charset="0"/>
              </a:rPr>
              <a:t>new IT operating model will help reduce the hours during the build and run phase </a:t>
            </a:r>
            <a:r>
              <a:rPr lang="en-US" altLang="en-US" sz="1200" dirty="0" smtClean="0">
                <a:latin typeface="+mn-lt"/>
                <a:cs typeface="Times New Roman" panose="02020603050405020304" pitchFamily="18" charset="0"/>
              </a:rPr>
              <a:t>of new HCM SaaS integration with third party HCM applications.</a:t>
            </a:r>
          </a:p>
          <a:p>
            <a:endParaRPr lang="en-US" altLang="en-US" sz="1200" dirty="0" smtClean="0">
              <a:latin typeface="+mn-lt"/>
              <a:cs typeface="Times New Roman" panose="02020603050405020304" pitchFamily="18" charset="0"/>
            </a:endParaRPr>
          </a:p>
          <a:p>
            <a:pPr marL="171450" indent="-171450">
              <a:buFont typeface="Arial" panose="020B0604020202020204" pitchFamily="34" charset="0"/>
              <a:buChar char="•"/>
            </a:pPr>
            <a:r>
              <a:rPr lang="en-US" altLang="en-US" sz="1200" b="1" dirty="0" smtClean="0">
                <a:solidFill>
                  <a:srgbClr val="0070C0"/>
                </a:solidFill>
                <a:latin typeface="+mn-lt"/>
                <a:cs typeface="Times New Roman" panose="02020603050405020304" pitchFamily="18" charset="0"/>
              </a:rPr>
              <a:t>IT initiative: </a:t>
            </a:r>
            <a:r>
              <a:rPr lang="en-US" altLang="en-US" sz="1200" dirty="0">
                <a:latin typeface="+mn-lt"/>
                <a:cs typeface="Times New Roman" panose="02020603050405020304" pitchFamily="18" charset="0"/>
              </a:rPr>
              <a:t>W</a:t>
            </a:r>
            <a:r>
              <a:rPr lang="en-US" altLang="en-US" sz="1200" dirty="0" smtClean="0">
                <a:latin typeface="+mn-lt"/>
                <a:cs typeface="Times New Roman" panose="02020603050405020304" pitchFamily="18" charset="0"/>
              </a:rPr>
              <a:t>ill </a:t>
            </a:r>
            <a:r>
              <a:rPr lang="en-US" altLang="en-US" sz="1200" dirty="0">
                <a:latin typeface="+mn-lt"/>
                <a:cs typeface="Times New Roman" panose="02020603050405020304" pitchFamily="18" charset="0"/>
              </a:rPr>
              <a:t>be delivered quicker and the delivery of business objective will be quicker therefor business value is received Sonner. </a:t>
            </a:r>
          </a:p>
          <a:p>
            <a:endParaRPr lang="en-US" altLang="en-US" sz="1200" dirty="0">
              <a:latin typeface="+mn-lt"/>
              <a:cs typeface="Times New Roman" panose="02020603050405020304" pitchFamily="18" charset="0"/>
            </a:endParaRPr>
          </a:p>
          <a:p>
            <a:pPr marL="171450" indent="-171450">
              <a:buFont typeface="Arial" panose="020B0604020202020204" pitchFamily="34" charset="0"/>
              <a:buChar char="•"/>
            </a:pPr>
            <a:r>
              <a:rPr lang="en-US" altLang="en-US" sz="1200" b="1" dirty="0">
                <a:solidFill>
                  <a:srgbClr val="0070C0"/>
                </a:solidFill>
                <a:latin typeface="+mn-lt"/>
                <a:cs typeface="Times New Roman" panose="02020603050405020304" pitchFamily="18" charset="0"/>
              </a:rPr>
              <a:t>Business Outcomes: </a:t>
            </a:r>
            <a:r>
              <a:rPr lang="en-US" altLang="en-US" sz="1200" dirty="0">
                <a:latin typeface="+mn-lt"/>
                <a:cs typeface="Times New Roman" panose="02020603050405020304" pitchFamily="18" charset="0"/>
              </a:rPr>
              <a:t>Based on the savings from the fewer hours spent on the development of fewer hours spent maintenance , more technology initiatives can be started that will drive sales productivity and make Acme Pharma stay competitive  now and in the future</a:t>
            </a:r>
            <a:endParaRPr lang="en-US" altLang="en-US" sz="1200" dirty="0">
              <a:latin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77E9B9-AD3E-974B-B0B1-0B528A9BA5BB}"/>
              </a:ext>
            </a:extLst>
          </p:cNvPr>
          <p:cNvSpPr/>
          <p:nvPr/>
        </p:nvSpPr>
        <p:spPr>
          <a:xfrm>
            <a:off x="788194" y="1220787"/>
            <a:ext cx="6705600" cy="44958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Rectangle 2"/>
          <p:cNvSpPr>
            <a:spLocks noGrp="1" noChangeArrowheads="1"/>
          </p:cNvSpPr>
          <p:nvPr>
            <p:ph type="title"/>
          </p:nvPr>
        </p:nvSpPr>
        <p:spPr>
          <a:xfrm>
            <a:off x="103188" y="0"/>
            <a:ext cx="7011987" cy="382588"/>
          </a:xfrm>
        </p:spPr>
        <p:txBody>
          <a:bodyPr/>
          <a:lstStyle/>
          <a:p>
            <a:pPr eaLnBrk="1" hangingPunct="1"/>
            <a:r>
              <a:rPr lang="en-US" altLang="en-US" dirty="0" smtClean="0">
                <a:latin typeface="+mn-lt"/>
              </a:rPr>
              <a:t>MuleSoft’s Approach &amp;  </a:t>
            </a:r>
            <a:r>
              <a:rPr lang="en-US" altLang="en-US" dirty="0">
                <a:latin typeface="+mn-lt"/>
              </a:rPr>
              <a:t>Service Offering  </a:t>
            </a:r>
          </a:p>
        </p:txBody>
      </p:sp>
      <p:sp>
        <p:nvSpPr>
          <p:cNvPr id="28675" name="Rectangle 3"/>
          <p:cNvSpPr>
            <a:spLocks noGrp="1" noChangeArrowheads="1"/>
          </p:cNvSpPr>
          <p:nvPr>
            <p:ph idx="1"/>
          </p:nvPr>
        </p:nvSpPr>
        <p:spPr>
          <a:xfrm>
            <a:off x="104998" y="542189"/>
            <a:ext cx="7189391" cy="457199"/>
          </a:xfrm>
        </p:spPr>
        <p:txBody>
          <a:bodyPr/>
          <a:lstStyle/>
          <a:p>
            <a:pPr marL="0" indent="0" eaLnBrk="1" hangingPunct="1">
              <a:buFont typeface="Arial" panose="020B0604020202020204" pitchFamily="34" charset="0"/>
              <a:buNone/>
            </a:pPr>
            <a:r>
              <a:rPr lang="en-US" altLang="en-US" sz="1600" dirty="0">
                <a:cs typeface="Times" panose="02020603050405020304" pitchFamily="18" charset="0"/>
              </a:rPr>
              <a:t>MuleSoft has a unique delivery approach to make projects successful and also shares our values. This approach is centered around three core pillars:</a:t>
            </a:r>
          </a:p>
        </p:txBody>
      </p:sp>
      <p:sp>
        <p:nvSpPr>
          <p:cNvPr id="9" name="Rectangle 8">
            <a:extLst>
              <a:ext uri="{FF2B5EF4-FFF2-40B4-BE49-F238E27FC236}">
                <a16:creationId xmlns:a16="http://schemas.microsoft.com/office/drawing/2014/main" id="{213FD41D-709A-4549-B8F2-1A2506CB49FA}"/>
              </a:ext>
            </a:extLst>
          </p:cNvPr>
          <p:cNvSpPr/>
          <p:nvPr/>
        </p:nvSpPr>
        <p:spPr>
          <a:xfrm>
            <a:off x="1169194" y="1525587"/>
            <a:ext cx="5945981" cy="3962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a:extLst>
              <a:ext uri="{FF2B5EF4-FFF2-40B4-BE49-F238E27FC236}">
                <a16:creationId xmlns:a16="http://schemas.microsoft.com/office/drawing/2014/main" id="{0EC66D58-F275-3244-806C-BD87A0F69400}"/>
              </a:ext>
            </a:extLst>
          </p:cNvPr>
          <p:cNvPicPr>
            <a:picLocks noChangeAspect="1"/>
          </p:cNvPicPr>
          <p:nvPr/>
        </p:nvPicPr>
        <p:blipFill rotWithShape="1">
          <a:blip r:embed="rId3">
            <a:extLst>
              <a:ext uri="{28A0092B-C50C-407E-A947-70E740481C1C}">
                <a14:useLocalDpi xmlns:a14="http://schemas.microsoft.com/office/drawing/2010/main" val="0"/>
              </a:ext>
            </a:extLst>
          </a:blip>
          <a:srcRect r="9929"/>
          <a:stretch/>
        </p:blipFill>
        <p:spPr bwMode="auto">
          <a:xfrm>
            <a:off x="1473993" y="1755737"/>
            <a:ext cx="5414857" cy="3503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119"/>
          <p:cNvGrpSpPr>
            <a:grpSpLocks/>
          </p:cNvGrpSpPr>
          <p:nvPr/>
        </p:nvGrpSpPr>
        <p:grpSpPr bwMode="auto">
          <a:xfrm>
            <a:off x="1322388" y="534988"/>
            <a:ext cx="6726237" cy="503237"/>
            <a:chOff x="122294" y="1094654"/>
            <a:chExt cx="7729816" cy="503574"/>
          </a:xfrm>
        </p:grpSpPr>
        <p:sp>
          <p:nvSpPr>
            <p:cNvPr id="30795" name="object 10"/>
            <p:cNvSpPr>
              <a:spLocks/>
            </p:cNvSpPr>
            <p:nvPr/>
          </p:nvSpPr>
          <p:spPr bwMode="auto">
            <a:xfrm>
              <a:off x="6143627" y="1094654"/>
              <a:ext cx="1667355" cy="492060"/>
            </a:xfrm>
            <a:custGeom>
              <a:avLst/>
              <a:gdLst>
                <a:gd name="T0" fmla="*/ 1923072 w 2007234"/>
                <a:gd name="T1" fmla="*/ 0 h 368934"/>
                <a:gd name="T2" fmla="*/ 0 w 2007234"/>
                <a:gd name="T3" fmla="*/ 0 h 368934"/>
                <a:gd name="T4" fmla="*/ 84035 w 2007234"/>
                <a:gd name="T5" fmla="*/ 184404 h 368934"/>
                <a:gd name="T6" fmla="*/ 0 w 2007234"/>
                <a:gd name="T7" fmla="*/ 368808 h 368934"/>
                <a:gd name="T8" fmla="*/ 1923072 w 2007234"/>
                <a:gd name="T9" fmla="*/ 368808 h 368934"/>
                <a:gd name="T10" fmla="*/ 2007108 w 2007234"/>
                <a:gd name="T11" fmla="*/ 184404 h 368934"/>
                <a:gd name="T12" fmla="*/ 1923072 w 2007234"/>
                <a:gd name="T13" fmla="*/ 0 h 368934"/>
              </a:gdLst>
              <a:ahLst/>
              <a:cxnLst>
                <a:cxn ang="0">
                  <a:pos x="T0" y="T1"/>
                </a:cxn>
                <a:cxn ang="0">
                  <a:pos x="T2" y="T3"/>
                </a:cxn>
                <a:cxn ang="0">
                  <a:pos x="T4" y="T5"/>
                </a:cxn>
                <a:cxn ang="0">
                  <a:pos x="T6" y="T7"/>
                </a:cxn>
                <a:cxn ang="0">
                  <a:pos x="T8" y="T9"/>
                </a:cxn>
                <a:cxn ang="0">
                  <a:pos x="T10" y="T11"/>
                </a:cxn>
                <a:cxn ang="0">
                  <a:pos x="T12" y="T13"/>
                </a:cxn>
              </a:cxnLst>
              <a:rect l="0" t="0" r="r" b="b"/>
              <a:pathLst>
                <a:path w="2007234" h="368934">
                  <a:moveTo>
                    <a:pt x="1923072" y="0"/>
                  </a:moveTo>
                  <a:lnTo>
                    <a:pt x="0" y="0"/>
                  </a:lnTo>
                  <a:lnTo>
                    <a:pt x="84035" y="184404"/>
                  </a:lnTo>
                  <a:lnTo>
                    <a:pt x="0" y="368808"/>
                  </a:lnTo>
                  <a:lnTo>
                    <a:pt x="1923072" y="368808"/>
                  </a:lnTo>
                  <a:lnTo>
                    <a:pt x="2007108" y="184404"/>
                  </a:lnTo>
                  <a:lnTo>
                    <a:pt x="1923072" y="0"/>
                  </a:lnTo>
                  <a:close/>
                </a:path>
              </a:pathLst>
            </a:custGeom>
            <a:solidFill>
              <a:srgbClr val="EBB7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96" name="object 12"/>
            <p:cNvSpPr>
              <a:spLocks/>
            </p:cNvSpPr>
            <p:nvPr/>
          </p:nvSpPr>
          <p:spPr bwMode="auto">
            <a:xfrm>
              <a:off x="122294" y="1094654"/>
              <a:ext cx="1993958" cy="490365"/>
            </a:xfrm>
            <a:custGeom>
              <a:avLst/>
              <a:gdLst>
                <a:gd name="T0" fmla="*/ 2512377 w 2590165"/>
                <a:gd name="T1" fmla="*/ 0 h 367665"/>
                <a:gd name="T2" fmla="*/ 0 w 2590165"/>
                <a:gd name="T3" fmla="*/ 0 h 367665"/>
                <a:gd name="T4" fmla="*/ 0 w 2590165"/>
                <a:gd name="T5" fmla="*/ 367284 h 367665"/>
                <a:gd name="T6" fmla="*/ 2512377 w 2590165"/>
                <a:gd name="T7" fmla="*/ 367284 h 367665"/>
                <a:gd name="T8" fmla="*/ 2590038 w 2590165"/>
                <a:gd name="T9" fmla="*/ 183642 h 367665"/>
                <a:gd name="T10" fmla="*/ 2512377 w 2590165"/>
                <a:gd name="T11" fmla="*/ 0 h 367665"/>
              </a:gdLst>
              <a:ahLst/>
              <a:cxnLst>
                <a:cxn ang="0">
                  <a:pos x="T0" y="T1"/>
                </a:cxn>
                <a:cxn ang="0">
                  <a:pos x="T2" y="T3"/>
                </a:cxn>
                <a:cxn ang="0">
                  <a:pos x="T4" y="T5"/>
                </a:cxn>
                <a:cxn ang="0">
                  <a:pos x="T6" y="T7"/>
                </a:cxn>
                <a:cxn ang="0">
                  <a:pos x="T8" y="T9"/>
                </a:cxn>
                <a:cxn ang="0">
                  <a:pos x="T10" y="T11"/>
                </a:cxn>
              </a:cxnLst>
              <a:rect l="0" t="0" r="r" b="b"/>
              <a:pathLst>
                <a:path w="2590165" h="367665">
                  <a:moveTo>
                    <a:pt x="2512377" y="0"/>
                  </a:moveTo>
                  <a:lnTo>
                    <a:pt x="0" y="0"/>
                  </a:lnTo>
                  <a:lnTo>
                    <a:pt x="0" y="367284"/>
                  </a:lnTo>
                  <a:lnTo>
                    <a:pt x="2512377" y="367284"/>
                  </a:lnTo>
                  <a:lnTo>
                    <a:pt x="2590038" y="183642"/>
                  </a:lnTo>
                  <a:lnTo>
                    <a:pt x="2512377" y="0"/>
                  </a:ln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97" name="object 13"/>
            <p:cNvSpPr>
              <a:spLocks/>
            </p:cNvSpPr>
            <p:nvPr/>
          </p:nvSpPr>
          <p:spPr bwMode="auto">
            <a:xfrm>
              <a:off x="122294" y="1107863"/>
              <a:ext cx="1993958" cy="490365"/>
            </a:xfrm>
            <a:custGeom>
              <a:avLst/>
              <a:gdLst>
                <a:gd name="T0" fmla="*/ 0 w 2590165"/>
                <a:gd name="T1" fmla="*/ 0 h 367665"/>
                <a:gd name="T2" fmla="*/ 2512377 w 2590165"/>
                <a:gd name="T3" fmla="*/ 0 h 367665"/>
                <a:gd name="T4" fmla="*/ 2590038 w 2590165"/>
                <a:gd name="T5" fmla="*/ 183642 h 367665"/>
                <a:gd name="T6" fmla="*/ 2512377 w 2590165"/>
                <a:gd name="T7" fmla="*/ 367284 h 367665"/>
                <a:gd name="T8" fmla="*/ 0 w 2590165"/>
                <a:gd name="T9" fmla="*/ 367284 h 367665"/>
                <a:gd name="T10" fmla="*/ 0 w 2590165"/>
                <a:gd name="T11" fmla="*/ 0 h 367665"/>
              </a:gdLst>
              <a:ahLst/>
              <a:cxnLst>
                <a:cxn ang="0">
                  <a:pos x="T0" y="T1"/>
                </a:cxn>
                <a:cxn ang="0">
                  <a:pos x="T2" y="T3"/>
                </a:cxn>
                <a:cxn ang="0">
                  <a:pos x="T4" y="T5"/>
                </a:cxn>
                <a:cxn ang="0">
                  <a:pos x="T6" y="T7"/>
                </a:cxn>
                <a:cxn ang="0">
                  <a:pos x="T8" y="T9"/>
                </a:cxn>
                <a:cxn ang="0">
                  <a:pos x="T10" y="T11"/>
                </a:cxn>
              </a:cxnLst>
              <a:rect l="0" t="0" r="r" b="b"/>
              <a:pathLst>
                <a:path w="2590165" h="367665">
                  <a:moveTo>
                    <a:pt x="0" y="0"/>
                  </a:moveTo>
                  <a:lnTo>
                    <a:pt x="2512377" y="0"/>
                  </a:lnTo>
                  <a:lnTo>
                    <a:pt x="2590038" y="183642"/>
                  </a:lnTo>
                  <a:lnTo>
                    <a:pt x="2512377" y="367284"/>
                  </a:lnTo>
                  <a:lnTo>
                    <a:pt x="0" y="367284"/>
                  </a:lnTo>
                  <a:lnTo>
                    <a:pt x="0" y="0"/>
                  </a:lnTo>
                  <a:close/>
                </a:path>
              </a:pathLst>
            </a:custGeom>
            <a:noFill/>
            <a:ln w="6096">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latin typeface="+mn-lt"/>
              </a:endParaRPr>
            </a:p>
          </p:txBody>
        </p:sp>
        <p:sp>
          <p:nvSpPr>
            <p:cNvPr id="30798" name="object 14"/>
            <p:cNvSpPr>
              <a:spLocks/>
            </p:cNvSpPr>
            <p:nvPr/>
          </p:nvSpPr>
          <p:spPr bwMode="auto">
            <a:xfrm>
              <a:off x="2076853" y="1094654"/>
              <a:ext cx="2203864" cy="490365"/>
            </a:xfrm>
            <a:custGeom>
              <a:avLst/>
              <a:gdLst>
                <a:gd name="T0" fmla="*/ 3067062 w 3146425"/>
                <a:gd name="T1" fmla="*/ 0 h 367665"/>
                <a:gd name="T2" fmla="*/ 0 w 3146425"/>
                <a:gd name="T3" fmla="*/ 0 h 367665"/>
                <a:gd name="T4" fmla="*/ 79235 w 3146425"/>
                <a:gd name="T5" fmla="*/ 183642 h 367665"/>
                <a:gd name="T6" fmla="*/ 0 w 3146425"/>
                <a:gd name="T7" fmla="*/ 367284 h 367665"/>
                <a:gd name="T8" fmla="*/ 3067062 w 3146425"/>
                <a:gd name="T9" fmla="*/ 367284 h 367665"/>
                <a:gd name="T10" fmla="*/ 3146298 w 3146425"/>
                <a:gd name="T11" fmla="*/ 183642 h 367665"/>
                <a:gd name="T12" fmla="*/ 3067062 w 3146425"/>
                <a:gd name="T13" fmla="*/ 0 h 367665"/>
              </a:gdLst>
              <a:ahLst/>
              <a:cxnLst>
                <a:cxn ang="0">
                  <a:pos x="T0" y="T1"/>
                </a:cxn>
                <a:cxn ang="0">
                  <a:pos x="T2" y="T3"/>
                </a:cxn>
                <a:cxn ang="0">
                  <a:pos x="T4" y="T5"/>
                </a:cxn>
                <a:cxn ang="0">
                  <a:pos x="T6" y="T7"/>
                </a:cxn>
                <a:cxn ang="0">
                  <a:pos x="T8" y="T9"/>
                </a:cxn>
                <a:cxn ang="0">
                  <a:pos x="T10" y="T11"/>
                </a:cxn>
                <a:cxn ang="0">
                  <a:pos x="T12" y="T13"/>
                </a:cxn>
              </a:cxnLst>
              <a:rect l="0" t="0" r="r" b="b"/>
              <a:pathLst>
                <a:path w="3146425" h="367665">
                  <a:moveTo>
                    <a:pt x="3067062" y="0"/>
                  </a:moveTo>
                  <a:lnTo>
                    <a:pt x="0" y="0"/>
                  </a:lnTo>
                  <a:lnTo>
                    <a:pt x="79235" y="183642"/>
                  </a:lnTo>
                  <a:lnTo>
                    <a:pt x="0" y="367284"/>
                  </a:lnTo>
                  <a:lnTo>
                    <a:pt x="3067062" y="367284"/>
                  </a:lnTo>
                  <a:lnTo>
                    <a:pt x="3146298" y="183642"/>
                  </a:lnTo>
                  <a:lnTo>
                    <a:pt x="3067062" y="0"/>
                  </a:lnTo>
                  <a:close/>
                </a:path>
              </a:pathLst>
            </a:custGeom>
            <a:solidFill>
              <a:srgbClr val="409DA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99" name="object 15"/>
            <p:cNvSpPr>
              <a:spLocks/>
            </p:cNvSpPr>
            <p:nvPr/>
          </p:nvSpPr>
          <p:spPr bwMode="auto">
            <a:xfrm>
              <a:off x="2076852" y="1094654"/>
              <a:ext cx="2422177" cy="490365"/>
            </a:xfrm>
            <a:custGeom>
              <a:avLst/>
              <a:gdLst>
                <a:gd name="T0" fmla="*/ 0 w 3146425"/>
                <a:gd name="T1" fmla="*/ 0 h 367665"/>
                <a:gd name="T2" fmla="*/ 3067062 w 3146425"/>
                <a:gd name="T3" fmla="*/ 0 h 367665"/>
                <a:gd name="T4" fmla="*/ 3146298 w 3146425"/>
                <a:gd name="T5" fmla="*/ 183642 h 367665"/>
                <a:gd name="T6" fmla="*/ 3067062 w 3146425"/>
                <a:gd name="T7" fmla="*/ 367284 h 367665"/>
                <a:gd name="T8" fmla="*/ 0 w 3146425"/>
                <a:gd name="T9" fmla="*/ 367284 h 367665"/>
                <a:gd name="T10" fmla="*/ 79235 w 3146425"/>
                <a:gd name="T11" fmla="*/ 183642 h 367665"/>
                <a:gd name="T12" fmla="*/ 0 w 3146425"/>
                <a:gd name="T13" fmla="*/ 0 h 367665"/>
              </a:gdLst>
              <a:ahLst/>
              <a:cxnLst>
                <a:cxn ang="0">
                  <a:pos x="T0" y="T1"/>
                </a:cxn>
                <a:cxn ang="0">
                  <a:pos x="T2" y="T3"/>
                </a:cxn>
                <a:cxn ang="0">
                  <a:pos x="T4" y="T5"/>
                </a:cxn>
                <a:cxn ang="0">
                  <a:pos x="T6" y="T7"/>
                </a:cxn>
                <a:cxn ang="0">
                  <a:pos x="T8" y="T9"/>
                </a:cxn>
                <a:cxn ang="0">
                  <a:pos x="T10" y="T11"/>
                </a:cxn>
                <a:cxn ang="0">
                  <a:pos x="T12" y="T13"/>
                </a:cxn>
              </a:cxnLst>
              <a:rect l="0" t="0" r="r" b="b"/>
              <a:pathLst>
                <a:path w="3146425" h="367665">
                  <a:moveTo>
                    <a:pt x="0" y="0"/>
                  </a:moveTo>
                  <a:lnTo>
                    <a:pt x="3067062" y="0"/>
                  </a:lnTo>
                  <a:lnTo>
                    <a:pt x="3146298" y="183642"/>
                  </a:lnTo>
                  <a:lnTo>
                    <a:pt x="3067062" y="367284"/>
                  </a:lnTo>
                  <a:lnTo>
                    <a:pt x="0" y="367284"/>
                  </a:lnTo>
                  <a:lnTo>
                    <a:pt x="79235" y="183642"/>
                  </a:lnTo>
                  <a:lnTo>
                    <a:pt x="0" y="0"/>
                  </a:lnTo>
                  <a:close/>
                </a:path>
              </a:pathLst>
            </a:custGeom>
            <a:noFill/>
            <a:ln w="6096">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latin typeface="+mn-lt"/>
              </a:endParaRPr>
            </a:p>
          </p:txBody>
        </p:sp>
        <p:sp>
          <p:nvSpPr>
            <p:cNvPr id="30800" name="object 20"/>
            <p:cNvSpPr>
              <a:spLocks/>
            </p:cNvSpPr>
            <p:nvPr/>
          </p:nvSpPr>
          <p:spPr bwMode="auto">
            <a:xfrm>
              <a:off x="4278232" y="1094654"/>
              <a:ext cx="1865393" cy="499681"/>
            </a:xfrm>
            <a:custGeom>
              <a:avLst/>
              <a:gdLst>
                <a:gd name="T0" fmla="*/ 2342438 w 2423159"/>
                <a:gd name="T1" fmla="*/ 0 h 374650"/>
                <a:gd name="T2" fmla="*/ 0 w 2423159"/>
                <a:gd name="T3" fmla="*/ 0 h 374650"/>
                <a:gd name="T4" fmla="*/ 80721 w 2423159"/>
                <a:gd name="T5" fmla="*/ 187071 h 374650"/>
                <a:gd name="T6" fmla="*/ 0 w 2423159"/>
                <a:gd name="T7" fmla="*/ 374142 h 374650"/>
                <a:gd name="T8" fmla="*/ 2342438 w 2423159"/>
                <a:gd name="T9" fmla="*/ 374142 h 374650"/>
                <a:gd name="T10" fmla="*/ 2423160 w 2423159"/>
                <a:gd name="T11" fmla="*/ 187071 h 374650"/>
                <a:gd name="T12" fmla="*/ 2342438 w 2423159"/>
                <a:gd name="T13" fmla="*/ 0 h 374650"/>
              </a:gdLst>
              <a:ahLst/>
              <a:cxnLst>
                <a:cxn ang="0">
                  <a:pos x="T0" y="T1"/>
                </a:cxn>
                <a:cxn ang="0">
                  <a:pos x="T2" y="T3"/>
                </a:cxn>
                <a:cxn ang="0">
                  <a:pos x="T4" y="T5"/>
                </a:cxn>
                <a:cxn ang="0">
                  <a:pos x="T6" y="T7"/>
                </a:cxn>
                <a:cxn ang="0">
                  <a:pos x="T8" y="T9"/>
                </a:cxn>
                <a:cxn ang="0">
                  <a:pos x="T10" y="T11"/>
                </a:cxn>
                <a:cxn ang="0">
                  <a:pos x="T12" y="T13"/>
                </a:cxn>
              </a:cxnLst>
              <a:rect l="0" t="0" r="r" b="b"/>
              <a:pathLst>
                <a:path w="2423159" h="374650">
                  <a:moveTo>
                    <a:pt x="2342438" y="0"/>
                  </a:moveTo>
                  <a:lnTo>
                    <a:pt x="0" y="0"/>
                  </a:lnTo>
                  <a:lnTo>
                    <a:pt x="80721" y="187071"/>
                  </a:lnTo>
                  <a:lnTo>
                    <a:pt x="0" y="374142"/>
                  </a:lnTo>
                  <a:lnTo>
                    <a:pt x="2342438" y="374142"/>
                  </a:lnTo>
                  <a:lnTo>
                    <a:pt x="2423160" y="187071"/>
                  </a:lnTo>
                  <a:lnTo>
                    <a:pt x="2342438" y="0"/>
                  </a:lnTo>
                  <a:close/>
                </a:path>
              </a:pathLst>
            </a:custGeom>
            <a:solidFill>
              <a:srgbClr val="7AB8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801" name="TextBox 126"/>
            <p:cNvSpPr txBox="1">
              <a:spLocks noChangeArrowheads="1"/>
            </p:cNvSpPr>
            <p:nvPr/>
          </p:nvSpPr>
          <p:spPr bwMode="auto">
            <a:xfrm>
              <a:off x="148590" y="1186795"/>
              <a:ext cx="19413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400" dirty="0">
                  <a:solidFill>
                    <a:schemeClr val="bg1"/>
                  </a:solidFill>
                  <a:latin typeface="+mn-lt"/>
                </a:rPr>
                <a:t>Plan</a:t>
              </a:r>
            </a:p>
          </p:txBody>
        </p:sp>
        <p:sp>
          <p:nvSpPr>
            <p:cNvPr id="30802" name="TextBox 127"/>
            <p:cNvSpPr txBox="1">
              <a:spLocks noChangeArrowheads="1"/>
            </p:cNvSpPr>
            <p:nvPr/>
          </p:nvSpPr>
          <p:spPr bwMode="auto">
            <a:xfrm>
              <a:off x="2157382" y="1192791"/>
              <a:ext cx="19413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400">
                  <a:solidFill>
                    <a:schemeClr val="bg1"/>
                  </a:solidFill>
                  <a:latin typeface="+mn-lt"/>
                </a:rPr>
                <a:t>Design</a:t>
              </a:r>
            </a:p>
          </p:txBody>
        </p:sp>
        <p:sp>
          <p:nvSpPr>
            <p:cNvPr id="30803" name="TextBox 128"/>
            <p:cNvSpPr txBox="1">
              <a:spLocks noChangeArrowheads="1"/>
            </p:cNvSpPr>
            <p:nvPr/>
          </p:nvSpPr>
          <p:spPr bwMode="auto">
            <a:xfrm>
              <a:off x="4202261" y="1199156"/>
              <a:ext cx="19413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400" dirty="0">
                  <a:solidFill>
                    <a:schemeClr val="bg1"/>
                  </a:solidFill>
                  <a:latin typeface="+mn-lt"/>
                </a:rPr>
                <a:t>Deploy/Transition</a:t>
              </a:r>
            </a:p>
          </p:txBody>
        </p:sp>
        <p:sp>
          <p:nvSpPr>
            <p:cNvPr id="30804" name="TextBox 129"/>
            <p:cNvSpPr txBox="1">
              <a:spLocks noChangeArrowheads="1"/>
            </p:cNvSpPr>
            <p:nvPr/>
          </p:nvSpPr>
          <p:spPr bwMode="auto">
            <a:xfrm>
              <a:off x="6247139" y="1205521"/>
              <a:ext cx="16049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400" dirty="0">
                  <a:solidFill>
                    <a:schemeClr val="bg1"/>
                  </a:solidFill>
                  <a:latin typeface="+mn-lt"/>
                </a:rPr>
                <a:t>Measure</a:t>
              </a:r>
            </a:p>
          </p:txBody>
        </p:sp>
      </p:grpSp>
      <p:sp>
        <p:nvSpPr>
          <p:cNvPr id="2" name="Title 1"/>
          <p:cNvSpPr>
            <a:spLocks noGrp="1"/>
          </p:cNvSpPr>
          <p:nvPr>
            <p:ph type="title"/>
          </p:nvPr>
        </p:nvSpPr>
        <p:spPr>
          <a:xfrm>
            <a:off x="103188" y="0"/>
            <a:ext cx="7011987" cy="382588"/>
          </a:xfrm>
        </p:spPr>
        <p:txBody>
          <a:bodyPr rtlCol="0">
            <a:normAutofit fontScale="90000"/>
          </a:bodyPr>
          <a:lstStyle/>
          <a:p>
            <a:pPr eaLnBrk="1" hangingPunct="1">
              <a:defRPr/>
            </a:pPr>
            <a:r>
              <a:rPr lang="en-US" dirty="0">
                <a:latin typeface="+mn-lt"/>
              </a:rPr>
              <a:t>Outcome Based Delivery Playbook</a:t>
            </a:r>
          </a:p>
        </p:txBody>
      </p:sp>
      <p:sp>
        <p:nvSpPr>
          <p:cNvPr id="5" name="object 11"/>
          <p:cNvSpPr/>
          <p:nvPr/>
        </p:nvSpPr>
        <p:spPr>
          <a:xfrm>
            <a:off x="1344613" y="1071563"/>
            <a:ext cx="6667500" cy="204787"/>
          </a:xfrm>
          <a:custGeom>
            <a:avLst/>
            <a:gdLst/>
            <a:ahLst/>
            <a:cxnLst/>
            <a:rect l="l" t="t" r="r" b="b"/>
            <a:pathLst>
              <a:path w="9987915" h="189865">
                <a:moveTo>
                  <a:pt x="0" y="0"/>
                </a:moveTo>
                <a:lnTo>
                  <a:pt x="9987533" y="0"/>
                </a:lnTo>
                <a:lnTo>
                  <a:pt x="9987533" y="189737"/>
                </a:lnTo>
                <a:lnTo>
                  <a:pt x="0" y="189737"/>
                </a:lnTo>
                <a:lnTo>
                  <a:pt x="0" y="0"/>
                </a:lnTo>
                <a:close/>
              </a:path>
            </a:pathLst>
          </a:custGeom>
          <a:solidFill>
            <a:schemeClr val="tx1">
              <a:lumMod val="65000"/>
              <a:lumOff val="35000"/>
            </a:schemeClr>
          </a:solidFill>
        </p:spPr>
        <p:txBody>
          <a:bodyPr lIns="0" tIns="0" rIns="0" bIns="0"/>
          <a:lstStyle/>
          <a:p>
            <a:pPr algn="ctr">
              <a:defRPr/>
            </a:pPr>
            <a:r>
              <a:rPr lang="en-US" sz="1100" dirty="0">
                <a:solidFill>
                  <a:schemeClr val="bg1"/>
                </a:solidFill>
                <a:latin typeface="+mn-lt"/>
              </a:rPr>
              <a:t>Key Activities</a:t>
            </a:r>
            <a:endParaRPr sz="1100" dirty="0">
              <a:solidFill>
                <a:schemeClr val="bg1"/>
              </a:solidFill>
              <a:latin typeface="+mn-lt"/>
            </a:endParaRPr>
          </a:p>
        </p:txBody>
      </p:sp>
      <p:sp>
        <p:nvSpPr>
          <p:cNvPr id="30726" name="TextBox 13315"/>
          <p:cNvSpPr txBox="1">
            <a:spLocks noChangeArrowheads="1"/>
          </p:cNvSpPr>
          <p:nvPr/>
        </p:nvSpPr>
        <p:spPr bwMode="auto">
          <a:xfrm>
            <a:off x="1558925" y="2118007"/>
            <a:ext cx="1559168"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Define AnyPoint platform vision and </a:t>
            </a:r>
            <a:r>
              <a:rPr lang="en-US" altLang="en-US" sz="1200" dirty="0" smtClean="0">
                <a:latin typeface="+mn-lt"/>
              </a:rPr>
              <a:t>roadmap</a:t>
            </a:r>
          </a:p>
          <a:p>
            <a:pPr>
              <a:buFont typeface="Arial" panose="020B0604020202020204" pitchFamily="34" charset="0"/>
              <a:buChar char="•"/>
            </a:pPr>
            <a:endParaRPr lang="en-US" altLang="en-US" sz="1200" dirty="0">
              <a:latin typeface="+mn-lt"/>
            </a:endParaRPr>
          </a:p>
        </p:txBody>
      </p:sp>
      <p:sp>
        <p:nvSpPr>
          <p:cNvPr id="10" name="Rectangle 9"/>
          <p:cNvSpPr/>
          <p:nvPr/>
        </p:nvSpPr>
        <p:spPr>
          <a:xfrm>
            <a:off x="1334386" y="2116997"/>
            <a:ext cx="215808" cy="826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en-US" sz="1200" dirty="0">
                <a:cs typeface="Times New Roman" panose="02020603050405020304" pitchFamily="18" charset="0"/>
              </a:rPr>
              <a:t>Platform</a:t>
            </a:r>
          </a:p>
        </p:txBody>
      </p:sp>
      <p:sp>
        <p:nvSpPr>
          <p:cNvPr id="35" name="Rectangle 34"/>
          <p:cNvSpPr/>
          <p:nvPr/>
        </p:nvSpPr>
        <p:spPr>
          <a:xfrm>
            <a:off x="1334385" y="2985336"/>
            <a:ext cx="224539" cy="81716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en-US" sz="1200" dirty="0">
                <a:cs typeface="Times New Roman" panose="02020603050405020304" pitchFamily="18" charset="0"/>
              </a:rPr>
              <a:t>Projects</a:t>
            </a:r>
          </a:p>
        </p:txBody>
      </p:sp>
      <p:grpSp>
        <p:nvGrpSpPr>
          <p:cNvPr id="30729" name="Group 35"/>
          <p:cNvGrpSpPr>
            <a:grpSpLocks/>
          </p:cNvGrpSpPr>
          <p:nvPr/>
        </p:nvGrpSpPr>
        <p:grpSpPr bwMode="auto">
          <a:xfrm>
            <a:off x="180505" y="1502709"/>
            <a:ext cx="1010362" cy="450849"/>
            <a:chOff x="281379" y="2435632"/>
            <a:chExt cx="1089094" cy="485892"/>
          </a:xfrm>
        </p:grpSpPr>
        <p:sp>
          <p:nvSpPr>
            <p:cNvPr id="30793" name="object 46"/>
            <p:cNvSpPr>
              <a:spLocks/>
            </p:cNvSpPr>
            <p:nvPr/>
          </p:nvSpPr>
          <p:spPr bwMode="auto">
            <a:xfrm>
              <a:off x="281379" y="2435632"/>
              <a:ext cx="1089094" cy="485892"/>
            </a:xfrm>
            <a:custGeom>
              <a:avLst/>
              <a:gdLst>
                <a:gd name="T0" fmla="*/ 1351864 w 1418589"/>
                <a:gd name="T1" fmla="*/ 0 h 492760"/>
                <a:gd name="T2" fmla="*/ 0 w 1418589"/>
                <a:gd name="T3" fmla="*/ 0 h 492760"/>
                <a:gd name="T4" fmla="*/ 0 w 1418589"/>
                <a:gd name="T5" fmla="*/ 102984 h 492760"/>
                <a:gd name="T6" fmla="*/ 2717 w 1418589"/>
                <a:gd name="T7" fmla="*/ 265442 h 492760"/>
                <a:gd name="T8" fmla="*/ 0 w 1418589"/>
                <a:gd name="T9" fmla="*/ 389267 h 492760"/>
                <a:gd name="T10" fmla="*/ 0 w 1418589"/>
                <a:gd name="T11" fmla="*/ 492252 h 492760"/>
                <a:gd name="T12" fmla="*/ 1351864 w 1418589"/>
                <a:gd name="T13" fmla="*/ 492252 h 492760"/>
                <a:gd name="T14" fmla="*/ 1351864 w 1418589"/>
                <a:gd name="T15" fmla="*/ 364820 h 492760"/>
                <a:gd name="T16" fmla="*/ 1418082 w 1418589"/>
                <a:gd name="T17" fmla="*/ 246126 h 492760"/>
                <a:gd name="T18" fmla="*/ 1351864 w 1418589"/>
                <a:gd name="T19" fmla="*/ 127431 h 492760"/>
                <a:gd name="T20" fmla="*/ 1351864 w 1418589"/>
                <a:gd name="T21" fmla="*/ 0 h 492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8589" h="492760">
                  <a:moveTo>
                    <a:pt x="1351864" y="0"/>
                  </a:moveTo>
                  <a:lnTo>
                    <a:pt x="0" y="0"/>
                  </a:lnTo>
                  <a:lnTo>
                    <a:pt x="0" y="102984"/>
                  </a:lnTo>
                  <a:lnTo>
                    <a:pt x="2717" y="265442"/>
                  </a:lnTo>
                  <a:lnTo>
                    <a:pt x="0" y="389267"/>
                  </a:lnTo>
                  <a:lnTo>
                    <a:pt x="0" y="492252"/>
                  </a:lnTo>
                  <a:lnTo>
                    <a:pt x="1351864" y="492252"/>
                  </a:lnTo>
                  <a:lnTo>
                    <a:pt x="1351864" y="364820"/>
                  </a:lnTo>
                  <a:lnTo>
                    <a:pt x="1418082" y="246126"/>
                  </a:lnTo>
                  <a:lnTo>
                    <a:pt x="1351864" y="127431"/>
                  </a:lnTo>
                  <a:lnTo>
                    <a:pt x="13518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94" name="Rectangle 37"/>
            <p:cNvSpPr>
              <a:spLocks noChangeArrowheads="1"/>
            </p:cNvSpPr>
            <p:nvPr/>
          </p:nvSpPr>
          <p:spPr bwMode="auto">
            <a:xfrm>
              <a:off x="444848" y="2462973"/>
              <a:ext cx="774451" cy="431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dirty="0">
                  <a:solidFill>
                    <a:schemeClr val="bg1"/>
                  </a:solidFill>
                  <a:latin typeface="+mn-lt"/>
                  <a:cs typeface="Times" panose="02020603050405020304" pitchFamily="18" charset="0"/>
                </a:rPr>
                <a:t>Business </a:t>
              </a:r>
            </a:p>
            <a:p>
              <a:pPr algn="ctr"/>
              <a:r>
                <a:rPr lang="en-US" altLang="en-US" sz="1000" dirty="0">
                  <a:solidFill>
                    <a:schemeClr val="bg1"/>
                  </a:solidFill>
                  <a:latin typeface="+mn-lt"/>
                  <a:cs typeface="Times" panose="02020603050405020304" pitchFamily="18" charset="0"/>
                </a:rPr>
                <a:t>Outcomes</a:t>
              </a:r>
            </a:p>
          </p:txBody>
        </p:sp>
      </p:grpSp>
      <p:grpSp>
        <p:nvGrpSpPr>
          <p:cNvPr id="30730" name="Group 38"/>
          <p:cNvGrpSpPr>
            <a:grpSpLocks/>
          </p:cNvGrpSpPr>
          <p:nvPr/>
        </p:nvGrpSpPr>
        <p:grpSpPr bwMode="auto">
          <a:xfrm>
            <a:off x="135640" y="4622883"/>
            <a:ext cx="1055228" cy="457200"/>
            <a:chOff x="103189" y="4268787"/>
            <a:chExt cx="1360736" cy="492759"/>
          </a:xfrm>
        </p:grpSpPr>
        <p:sp>
          <p:nvSpPr>
            <p:cNvPr id="30791" name="object 46"/>
            <p:cNvSpPr>
              <a:spLocks/>
            </p:cNvSpPr>
            <p:nvPr/>
          </p:nvSpPr>
          <p:spPr bwMode="auto">
            <a:xfrm>
              <a:off x="103189" y="4268787"/>
              <a:ext cx="1360736" cy="492759"/>
            </a:xfrm>
            <a:custGeom>
              <a:avLst/>
              <a:gdLst>
                <a:gd name="T0" fmla="*/ 1351864 w 1418589"/>
                <a:gd name="T1" fmla="*/ 0 h 492760"/>
                <a:gd name="T2" fmla="*/ 0 w 1418589"/>
                <a:gd name="T3" fmla="*/ 0 h 492760"/>
                <a:gd name="T4" fmla="*/ 0 w 1418589"/>
                <a:gd name="T5" fmla="*/ 102984 h 492760"/>
                <a:gd name="T6" fmla="*/ 2717 w 1418589"/>
                <a:gd name="T7" fmla="*/ 265442 h 492760"/>
                <a:gd name="T8" fmla="*/ 0 w 1418589"/>
                <a:gd name="T9" fmla="*/ 389267 h 492760"/>
                <a:gd name="T10" fmla="*/ 0 w 1418589"/>
                <a:gd name="T11" fmla="*/ 492252 h 492760"/>
                <a:gd name="T12" fmla="*/ 1351864 w 1418589"/>
                <a:gd name="T13" fmla="*/ 492252 h 492760"/>
                <a:gd name="T14" fmla="*/ 1351864 w 1418589"/>
                <a:gd name="T15" fmla="*/ 364820 h 492760"/>
                <a:gd name="T16" fmla="*/ 1418082 w 1418589"/>
                <a:gd name="T17" fmla="*/ 246126 h 492760"/>
                <a:gd name="T18" fmla="*/ 1351864 w 1418589"/>
                <a:gd name="T19" fmla="*/ 127431 h 492760"/>
                <a:gd name="T20" fmla="*/ 1351864 w 1418589"/>
                <a:gd name="T21" fmla="*/ 0 h 492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8589" h="492760">
                  <a:moveTo>
                    <a:pt x="1351864" y="0"/>
                  </a:moveTo>
                  <a:lnTo>
                    <a:pt x="0" y="0"/>
                  </a:lnTo>
                  <a:lnTo>
                    <a:pt x="0" y="102984"/>
                  </a:lnTo>
                  <a:lnTo>
                    <a:pt x="2717" y="265442"/>
                  </a:lnTo>
                  <a:lnTo>
                    <a:pt x="0" y="389267"/>
                  </a:lnTo>
                  <a:lnTo>
                    <a:pt x="0" y="492252"/>
                  </a:lnTo>
                  <a:lnTo>
                    <a:pt x="1351864" y="492252"/>
                  </a:lnTo>
                  <a:lnTo>
                    <a:pt x="1351864" y="364820"/>
                  </a:lnTo>
                  <a:lnTo>
                    <a:pt x="1418082" y="246126"/>
                  </a:lnTo>
                  <a:lnTo>
                    <a:pt x="1351864" y="127431"/>
                  </a:lnTo>
                  <a:lnTo>
                    <a:pt x="13518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92" name="Rectangle 40"/>
            <p:cNvSpPr>
              <a:spLocks noChangeArrowheads="1"/>
            </p:cNvSpPr>
            <p:nvPr/>
          </p:nvSpPr>
          <p:spPr bwMode="auto">
            <a:xfrm>
              <a:off x="281253" y="4268787"/>
              <a:ext cx="1014632" cy="43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dirty="0">
                  <a:solidFill>
                    <a:schemeClr val="bg1"/>
                  </a:solidFill>
                  <a:latin typeface="+mn-lt"/>
                </a:rPr>
                <a:t>Organizational</a:t>
              </a:r>
            </a:p>
            <a:p>
              <a:pPr algn="ctr"/>
              <a:r>
                <a:rPr lang="en-US" altLang="en-US" sz="1000" dirty="0">
                  <a:solidFill>
                    <a:schemeClr val="bg1"/>
                  </a:solidFill>
                  <a:latin typeface="+mn-lt"/>
                </a:rPr>
                <a:t> Enablement</a:t>
              </a:r>
            </a:p>
          </p:txBody>
        </p:sp>
      </p:grpSp>
      <p:sp>
        <p:nvSpPr>
          <p:cNvPr id="30732" name="Rectangle 10"/>
          <p:cNvSpPr>
            <a:spLocks noChangeArrowheads="1"/>
          </p:cNvSpPr>
          <p:nvPr/>
        </p:nvSpPr>
        <p:spPr bwMode="auto">
          <a:xfrm>
            <a:off x="1550194" y="2984557"/>
            <a:ext cx="1564308" cy="82708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Prioritize IT projects and quick wins</a:t>
            </a:r>
          </a:p>
          <a:p>
            <a:pPr>
              <a:buFont typeface="Arial" panose="020B0604020202020204" pitchFamily="34" charset="0"/>
              <a:buChar char="•"/>
            </a:pPr>
            <a:r>
              <a:rPr lang="en-US" altLang="en-US" sz="1200" dirty="0">
                <a:latin typeface="+mn-lt"/>
              </a:rPr>
              <a:t>Staff and onboard project teams</a:t>
            </a:r>
          </a:p>
        </p:txBody>
      </p:sp>
      <p:sp>
        <p:nvSpPr>
          <p:cNvPr id="30742" name="TextBox 87"/>
          <p:cNvSpPr txBox="1">
            <a:spLocks noChangeArrowheads="1"/>
          </p:cNvSpPr>
          <p:nvPr/>
        </p:nvSpPr>
        <p:spPr bwMode="auto">
          <a:xfrm>
            <a:off x="3157729" y="2120228"/>
            <a:ext cx="1755538" cy="1200329"/>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Design AnyPoint platform </a:t>
            </a:r>
            <a:r>
              <a:rPr lang="en-US" altLang="en-US" sz="1200" dirty="0" smtClean="0">
                <a:latin typeface="+mn-lt"/>
              </a:rPr>
              <a:t>architecture and implementation plan</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a:latin typeface="+mn-lt"/>
            </a:endParaRPr>
          </a:p>
        </p:txBody>
      </p:sp>
      <p:sp>
        <p:nvSpPr>
          <p:cNvPr id="30743" name="TextBox 88"/>
          <p:cNvSpPr txBox="1">
            <a:spLocks noChangeArrowheads="1"/>
          </p:cNvSpPr>
          <p:nvPr/>
        </p:nvSpPr>
        <p:spPr bwMode="auto">
          <a:xfrm>
            <a:off x="4953797" y="2111375"/>
            <a:ext cx="1737515"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Deploy AnyPoint platform</a:t>
            </a:r>
          </a:p>
          <a:p>
            <a:pPr>
              <a:buFont typeface="Arial" panose="020B0604020202020204" pitchFamily="34" charset="0"/>
              <a:buChar char="•"/>
            </a:pPr>
            <a:r>
              <a:rPr lang="en-US" altLang="en-US" sz="1200" dirty="0">
                <a:latin typeface="+mn-lt"/>
              </a:rPr>
              <a:t>Refine and scale </a:t>
            </a:r>
            <a:r>
              <a:rPr lang="en-US" altLang="en-US" sz="1200" dirty="0" err="1">
                <a:latin typeface="+mn-lt"/>
              </a:rPr>
              <a:t>AnyPoint</a:t>
            </a:r>
            <a:r>
              <a:rPr lang="en-US" altLang="en-US" sz="1200" dirty="0">
                <a:latin typeface="+mn-lt"/>
              </a:rPr>
              <a:t> </a:t>
            </a:r>
            <a:r>
              <a:rPr lang="en-US" altLang="en-US" sz="1200" dirty="0" smtClean="0">
                <a:latin typeface="+mn-lt"/>
              </a:rPr>
              <a:t>platform</a:t>
            </a:r>
            <a:endParaRPr lang="en-US" altLang="en-US" sz="1200" dirty="0">
              <a:latin typeface="+mn-lt"/>
            </a:endParaRPr>
          </a:p>
        </p:txBody>
      </p:sp>
      <p:sp>
        <p:nvSpPr>
          <p:cNvPr id="30744" name="Rectangle 11"/>
          <p:cNvSpPr>
            <a:spLocks noChangeArrowheads="1"/>
          </p:cNvSpPr>
          <p:nvPr/>
        </p:nvSpPr>
        <p:spPr bwMode="auto">
          <a:xfrm>
            <a:off x="3153071" y="2982918"/>
            <a:ext cx="1760196" cy="8302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Define reference architecture </a:t>
            </a:r>
          </a:p>
          <a:p>
            <a:pPr>
              <a:buFont typeface="Arial" panose="020B0604020202020204" pitchFamily="34" charset="0"/>
              <a:buChar char="•"/>
            </a:pPr>
            <a:r>
              <a:rPr lang="en-US" altLang="en-US" sz="1200" dirty="0">
                <a:latin typeface="+mn-lt"/>
              </a:rPr>
              <a:t>Launch initial project and quick wins</a:t>
            </a:r>
          </a:p>
        </p:txBody>
      </p:sp>
      <p:sp>
        <p:nvSpPr>
          <p:cNvPr id="30745" name="TextBox 68"/>
          <p:cNvSpPr txBox="1">
            <a:spLocks noChangeArrowheads="1"/>
          </p:cNvSpPr>
          <p:nvPr/>
        </p:nvSpPr>
        <p:spPr bwMode="auto">
          <a:xfrm>
            <a:off x="6729192" y="2104610"/>
            <a:ext cx="1266825" cy="831850"/>
          </a:xfrm>
          <a:prstGeom prst="rect">
            <a:avLst/>
          </a:prstGeom>
          <a:solidFill>
            <a:schemeClr val="bg1">
              <a:lumMod val="95000"/>
            </a:schemeClr>
          </a:solidFill>
          <a:ln>
            <a:noFill/>
          </a:ln>
          <a:extLst/>
        </p:spPr>
        <p:txBody>
          <a:bodyPr>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Measure AnyPoint Platform KPIs</a:t>
            </a:r>
          </a:p>
          <a:p>
            <a:pPr>
              <a:buFont typeface="Arial" panose="020B0604020202020204" pitchFamily="34" charset="0"/>
              <a:buChar char="•"/>
            </a:pPr>
            <a:endParaRPr lang="en-US" altLang="en-US" sz="1200" dirty="0">
              <a:latin typeface="+mn-lt"/>
            </a:endParaRPr>
          </a:p>
        </p:txBody>
      </p:sp>
      <p:sp>
        <p:nvSpPr>
          <p:cNvPr id="30747" name="Rectangle 71"/>
          <p:cNvSpPr>
            <a:spLocks noChangeArrowheads="1"/>
          </p:cNvSpPr>
          <p:nvPr/>
        </p:nvSpPr>
        <p:spPr bwMode="auto">
          <a:xfrm>
            <a:off x="4960937" y="2971506"/>
            <a:ext cx="1730375"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Launch additional </a:t>
            </a:r>
            <a:r>
              <a:rPr lang="en-US" altLang="en-US" sz="1200" dirty="0" smtClean="0">
                <a:latin typeface="+mn-lt"/>
              </a:rPr>
              <a:t>projects</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a:latin typeface="+mn-lt"/>
            </a:endParaRPr>
          </a:p>
        </p:txBody>
      </p:sp>
      <p:sp>
        <p:nvSpPr>
          <p:cNvPr id="73" name="Rectangle 72"/>
          <p:cNvSpPr/>
          <p:nvPr/>
        </p:nvSpPr>
        <p:spPr>
          <a:xfrm>
            <a:off x="6724429" y="2968774"/>
            <a:ext cx="1276350" cy="830997"/>
          </a:xfrm>
          <a:prstGeom prst="rect">
            <a:avLst/>
          </a:prstGeom>
          <a:solidFill>
            <a:schemeClr val="bg1">
              <a:lumMod val="95000"/>
            </a:schemeClr>
          </a:solidFill>
        </p:spPr>
        <p:txBody>
          <a:bodyPr>
            <a:spAutoFit/>
          </a:bodyPr>
          <a:lstStyle/>
          <a:p>
            <a:pPr marL="117475" indent="-117475">
              <a:buFont typeface="Arial" panose="020B0604020202020204" pitchFamily="34" charset="0"/>
              <a:buChar char="•"/>
              <a:defRPr/>
            </a:pPr>
            <a:r>
              <a:rPr lang="en-US" sz="1200" dirty="0">
                <a:latin typeface="+mn-lt"/>
              </a:rPr>
              <a:t>Measure Project </a:t>
            </a:r>
            <a:r>
              <a:rPr lang="en-US" sz="1200" dirty="0" smtClean="0">
                <a:latin typeface="+mn-lt"/>
              </a:rPr>
              <a:t>KPIs</a:t>
            </a:r>
          </a:p>
          <a:p>
            <a:pPr marL="117475" indent="-117475">
              <a:buFont typeface="Arial" panose="020B0604020202020204" pitchFamily="34" charset="0"/>
              <a:buChar char="•"/>
              <a:defRPr/>
            </a:pPr>
            <a:endParaRPr lang="en-US" sz="1200" dirty="0">
              <a:latin typeface="+mn-lt"/>
            </a:endParaRPr>
          </a:p>
          <a:p>
            <a:pPr>
              <a:defRPr/>
            </a:pPr>
            <a:endParaRPr lang="en-US" sz="1200" dirty="0">
              <a:latin typeface="+mn-lt"/>
            </a:endParaRPr>
          </a:p>
        </p:txBody>
      </p:sp>
      <p:sp>
        <p:nvSpPr>
          <p:cNvPr id="80" name="Rectangle 79"/>
          <p:cNvSpPr/>
          <p:nvPr/>
        </p:nvSpPr>
        <p:spPr>
          <a:xfrm>
            <a:off x="1328954" y="3844444"/>
            <a:ext cx="221239" cy="1012006"/>
          </a:xfrm>
          <a:prstGeom prst="rect">
            <a:avLst/>
          </a:prstGeom>
          <a:solidFill>
            <a:srgbClr val="23959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en-US" sz="1200" dirty="0">
                <a:cs typeface="Times New Roman" panose="02020603050405020304" pitchFamily="18" charset="0"/>
              </a:rPr>
              <a:t>C4E</a:t>
            </a:r>
          </a:p>
        </p:txBody>
      </p:sp>
      <p:sp>
        <p:nvSpPr>
          <p:cNvPr id="81" name="Rectangle 80"/>
          <p:cNvSpPr/>
          <p:nvPr/>
        </p:nvSpPr>
        <p:spPr>
          <a:xfrm>
            <a:off x="1320540" y="4894734"/>
            <a:ext cx="238384" cy="1015662"/>
          </a:xfrm>
          <a:prstGeom prst="rect">
            <a:avLst/>
          </a:prstGeom>
          <a:solidFill>
            <a:srgbClr val="23959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r>
              <a:rPr lang="en-US" sz="1200" dirty="0">
                <a:latin typeface="Times New Roman" panose="02020603050405020304" pitchFamily="18" charset="0"/>
                <a:cs typeface="Times New Roman" panose="02020603050405020304" pitchFamily="18" charset="0"/>
              </a:rPr>
              <a:t>Support/Train</a:t>
            </a:r>
          </a:p>
        </p:txBody>
      </p:sp>
      <p:sp>
        <p:nvSpPr>
          <p:cNvPr id="30751" name="object 55"/>
          <p:cNvSpPr>
            <a:spLocks/>
          </p:cNvSpPr>
          <p:nvPr/>
        </p:nvSpPr>
        <p:spPr bwMode="auto">
          <a:xfrm>
            <a:off x="6719888" y="3834437"/>
            <a:ext cx="1289050" cy="1020762"/>
          </a:xfrm>
          <a:custGeom>
            <a:avLst/>
            <a:gdLst>
              <a:gd name="T0" fmla="*/ 0 w 2317750"/>
              <a:gd name="T1" fmla="*/ 0 h 1442720"/>
              <a:gd name="T2" fmla="*/ 2317241 w 2317750"/>
              <a:gd name="T3" fmla="*/ 0 h 1442720"/>
              <a:gd name="T4" fmla="*/ 2317241 w 2317750"/>
              <a:gd name="T5" fmla="*/ 1442465 h 1442720"/>
              <a:gd name="T6" fmla="*/ 0 w 2317750"/>
              <a:gd name="T7" fmla="*/ 1442465 h 1442720"/>
              <a:gd name="T8" fmla="*/ 0 w 2317750"/>
              <a:gd name="T9" fmla="*/ 0 h 1442720"/>
            </a:gdLst>
            <a:ahLst/>
            <a:cxnLst>
              <a:cxn ang="0">
                <a:pos x="T0" y="T1"/>
              </a:cxn>
              <a:cxn ang="0">
                <a:pos x="T2" y="T3"/>
              </a:cxn>
              <a:cxn ang="0">
                <a:pos x="T4" y="T5"/>
              </a:cxn>
              <a:cxn ang="0">
                <a:pos x="T6" y="T7"/>
              </a:cxn>
              <a:cxn ang="0">
                <a:pos x="T8" y="T9"/>
              </a:cxn>
            </a:cxnLst>
            <a:rect l="0" t="0" r="r" b="b"/>
            <a:pathLst>
              <a:path w="2317750" h="1442720">
                <a:moveTo>
                  <a:pt x="0" y="0"/>
                </a:moveTo>
                <a:lnTo>
                  <a:pt x="2317241" y="0"/>
                </a:lnTo>
                <a:lnTo>
                  <a:pt x="2317241" y="1442465"/>
                </a:lnTo>
                <a:lnTo>
                  <a:pt x="0" y="144246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53" name="object 55"/>
          <p:cNvSpPr>
            <a:spLocks/>
          </p:cNvSpPr>
          <p:nvPr/>
        </p:nvSpPr>
        <p:spPr bwMode="auto">
          <a:xfrm>
            <a:off x="3153071" y="3849688"/>
            <a:ext cx="1760195" cy="1006762"/>
          </a:xfrm>
          <a:custGeom>
            <a:avLst/>
            <a:gdLst>
              <a:gd name="T0" fmla="*/ 0 w 2317750"/>
              <a:gd name="T1" fmla="*/ 0 h 1442720"/>
              <a:gd name="T2" fmla="*/ 2317241 w 2317750"/>
              <a:gd name="T3" fmla="*/ 0 h 1442720"/>
              <a:gd name="T4" fmla="*/ 2317241 w 2317750"/>
              <a:gd name="T5" fmla="*/ 1442465 h 1442720"/>
              <a:gd name="T6" fmla="*/ 0 w 2317750"/>
              <a:gd name="T7" fmla="*/ 1442465 h 1442720"/>
              <a:gd name="T8" fmla="*/ 0 w 2317750"/>
              <a:gd name="T9" fmla="*/ 0 h 1442720"/>
            </a:gdLst>
            <a:ahLst/>
            <a:cxnLst>
              <a:cxn ang="0">
                <a:pos x="T0" y="T1"/>
              </a:cxn>
              <a:cxn ang="0">
                <a:pos x="T2" y="T3"/>
              </a:cxn>
              <a:cxn ang="0">
                <a:pos x="T4" y="T5"/>
              </a:cxn>
              <a:cxn ang="0">
                <a:pos x="T6" y="T7"/>
              </a:cxn>
              <a:cxn ang="0">
                <a:pos x="T8" y="T9"/>
              </a:cxn>
            </a:cxnLst>
            <a:rect l="0" t="0" r="r" b="b"/>
            <a:pathLst>
              <a:path w="2317750" h="1442720">
                <a:moveTo>
                  <a:pt x="0" y="0"/>
                </a:moveTo>
                <a:lnTo>
                  <a:pt x="2317241" y="0"/>
                </a:lnTo>
                <a:lnTo>
                  <a:pt x="2317241" y="1442465"/>
                </a:lnTo>
                <a:lnTo>
                  <a:pt x="0" y="144246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54" name="object 55"/>
          <p:cNvSpPr>
            <a:spLocks/>
          </p:cNvSpPr>
          <p:nvPr/>
        </p:nvSpPr>
        <p:spPr bwMode="auto">
          <a:xfrm>
            <a:off x="4960937" y="3837044"/>
            <a:ext cx="1730375" cy="1019406"/>
          </a:xfrm>
          <a:custGeom>
            <a:avLst/>
            <a:gdLst>
              <a:gd name="T0" fmla="*/ 0 w 2317750"/>
              <a:gd name="T1" fmla="*/ 0 h 1442720"/>
              <a:gd name="T2" fmla="*/ 2317241 w 2317750"/>
              <a:gd name="T3" fmla="*/ 0 h 1442720"/>
              <a:gd name="T4" fmla="*/ 2317241 w 2317750"/>
              <a:gd name="T5" fmla="*/ 1442465 h 1442720"/>
              <a:gd name="T6" fmla="*/ 0 w 2317750"/>
              <a:gd name="T7" fmla="*/ 1442465 h 1442720"/>
              <a:gd name="T8" fmla="*/ 0 w 2317750"/>
              <a:gd name="T9" fmla="*/ 0 h 1442720"/>
            </a:gdLst>
            <a:ahLst/>
            <a:cxnLst>
              <a:cxn ang="0">
                <a:pos x="T0" y="T1"/>
              </a:cxn>
              <a:cxn ang="0">
                <a:pos x="T2" y="T3"/>
              </a:cxn>
              <a:cxn ang="0">
                <a:pos x="T4" y="T5"/>
              </a:cxn>
              <a:cxn ang="0">
                <a:pos x="T6" y="T7"/>
              </a:cxn>
              <a:cxn ang="0">
                <a:pos x="T8" y="T9"/>
              </a:cxn>
            </a:cxnLst>
            <a:rect l="0" t="0" r="r" b="b"/>
            <a:pathLst>
              <a:path w="2317750" h="1442720">
                <a:moveTo>
                  <a:pt x="0" y="0"/>
                </a:moveTo>
                <a:lnTo>
                  <a:pt x="2317241" y="0"/>
                </a:lnTo>
                <a:lnTo>
                  <a:pt x="2317241" y="1442465"/>
                </a:lnTo>
                <a:lnTo>
                  <a:pt x="0" y="144246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latin typeface="+mn-lt"/>
            </a:endParaRPr>
          </a:p>
        </p:txBody>
      </p:sp>
      <p:sp>
        <p:nvSpPr>
          <p:cNvPr id="30756" name="object 55"/>
          <p:cNvSpPr>
            <a:spLocks/>
          </p:cNvSpPr>
          <p:nvPr/>
        </p:nvSpPr>
        <p:spPr bwMode="auto">
          <a:xfrm>
            <a:off x="8962830" y="4283036"/>
            <a:ext cx="1673225" cy="1085850"/>
          </a:xfrm>
          <a:custGeom>
            <a:avLst/>
            <a:gdLst>
              <a:gd name="T0" fmla="*/ 0 w 2317750"/>
              <a:gd name="T1" fmla="*/ 0 h 1442720"/>
              <a:gd name="T2" fmla="*/ 2317241 w 2317750"/>
              <a:gd name="T3" fmla="*/ 0 h 1442720"/>
              <a:gd name="T4" fmla="*/ 2317241 w 2317750"/>
              <a:gd name="T5" fmla="*/ 1442465 h 1442720"/>
              <a:gd name="T6" fmla="*/ 0 w 2317750"/>
              <a:gd name="T7" fmla="*/ 1442465 h 1442720"/>
              <a:gd name="T8" fmla="*/ 0 w 2317750"/>
              <a:gd name="T9" fmla="*/ 0 h 1442720"/>
            </a:gdLst>
            <a:ahLst/>
            <a:cxnLst>
              <a:cxn ang="0">
                <a:pos x="T0" y="T1"/>
              </a:cxn>
              <a:cxn ang="0">
                <a:pos x="T2" y="T3"/>
              </a:cxn>
              <a:cxn ang="0">
                <a:pos x="T4" y="T5"/>
              </a:cxn>
              <a:cxn ang="0">
                <a:pos x="T6" y="T7"/>
              </a:cxn>
              <a:cxn ang="0">
                <a:pos x="T8" y="T9"/>
              </a:cxn>
            </a:cxnLst>
            <a:rect l="0" t="0" r="r" b="b"/>
            <a:pathLst>
              <a:path w="2317750" h="1442720">
                <a:moveTo>
                  <a:pt x="0" y="0"/>
                </a:moveTo>
                <a:lnTo>
                  <a:pt x="2317241" y="0"/>
                </a:lnTo>
                <a:lnTo>
                  <a:pt x="2317241" y="1442465"/>
                </a:lnTo>
                <a:lnTo>
                  <a:pt x="0" y="144246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59" name="Rectangle 98"/>
          <p:cNvSpPr>
            <a:spLocks noChangeArrowheads="1"/>
          </p:cNvSpPr>
          <p:nvPr/>
        </p:nvSpPr>
        <p:spPr bwMode="auto">
          <a:xfrm>
            <a:off x="1550193" y="3840787"/>
            <a:ext cx="1564309" cy="10156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Access integration </a:t>
            </a:r>
            <a:r>
              <a:rPr lang="en-US" altLang="en-US" sz="1200" dirty="0" smtClean="0">
                <a:latin typeface="+mn-lt"/>
              </a:rPr>
              <a:t>capabilities</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smtClean="0">
              <a:latin typeface="+mn-lt"/>
            </a:endParaRPr>
          </a:p>
          <a:p>
            <a:pPr>
              <a:buFont typeface="Arial" panose="020B0604020202020204" pitchFamily="34" charset="0"/>
              <a:buChar char="•"/>
            </a:pPr>
            <a:endParaRPr lang="en-US" altLang="en-US" sz="1200" dirty="0">
              <a:latin typeface="+mn-lt"/>
            </a:endParaRPr>
          </a:p>
        </p:txBody>
      </p:sp>
      <p:sp>
        <p:nvSpPr>
          <p:cNvPr id="30760" name="Rectangle 99"/>
          <p:cNvSpPr>
            <a:spLocks noChangeArrowheads="1"/>
          </p:cNvSpPr>
          <p:nvPr/>
        </p:nvSpPr>
        <p:spPr bwMode="auto">
          <a:xfrm>
            <a:off x="3225800" y="3917950"/>
            <a:ext cx="1677194"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Establish the C4E operating model</a:t>
            </a:r>
          </a:p>
          <a:p>
            <a:pPr>
              <a:buFont typeface="Arial" panose="020B0604020202020204" pitchFamily="34" charset="0"/>
              <a:buChar char="•"/>
            </a:pPr>
            <a:r>
              <a:rPr lang="en-US" altLang="en-US" sz="1200" dirty="0">
                <a:latin typeface="+mn-lt"/>
              </a:rPr>
              <a:t>Build and publish foundational assets</a:t>
            </a:r>
          </a:p>
        </p:txBody>
      </p:sp>
      <p:sp>
        <p:nvSpPr>
          <p:cNvPr id="30761" name="Rectangle 100"/>
          <p:cNvSpPr>
            <a:spLocks noChangeArrowheads="1"/>
          </p:cNvSpPr>
          <p:nvPr/>
        </p:nvSpPr>
        <p:spPr bwMode="auto">
          <a:xfrm>
            <a:off x="5086350" y="3927475"/>
            <a:ext cx="1565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smtClean="0">
                <a:latin typeface="+mn-lt"/>
              </a:rPr>
              <a:t>Evangelize</a:t>
            </a:r>
            <a:endParaRPr lang="en-US" altLang="en-US" sz="1200" dirty="0">
              <a:latin typeface="+mn-lt"/>
            </a:endParaRPr>
          </a:p>
          <a:p>
            <a:pPr>
              <a:buFont typeface="Arial" panose="020B0604020202020204" pitchFamily="34" charset="0"/>
              <a:buChar char="•"/>
            </a:pPr>
            <a:r>
              <a:rPr lang="en-US" altLang="en-US" sz="1200" dirty="0" smtClean="0">
                <a:latin typeface="+mn-lt"/>
              </a:rPr>
              <a:t>Drive Consumption</a:t>
            </a:r>
            <a:endParaRPr lang="en-US" altLang="en-US" sz="1200" dirty="0">
              <a:latin typeface="+mn-lt"/>
            </a:endParaRPr>
          </a:p>
        </p:txBody>
      </p:sp>
      <p:sp>
        <p:nvSpPr>
          <p:cNvPr id="102" name="Rectangle 101"/>
          <p:cNvSpPr/>
          <p:nvPr/>
        </p:nvSpPr>
        <p:spPr>
          <a:xfrm>
            <a:off x="6784975" y="3967163"/>
            <a:ext cx="1276350" cy="646112"/>
          </a:xfrm>
          <a:prstGeom prst="rect">
            <a:avLst/>
          </a:prstGeom>
        </p:spPr>
        <p:txBody>
          <a:bodyPr>
            <a:spAutoFit/>
          </a:bodyPr>
          <a:lstStyle/>
          <a:p>
            <a:pPr marL="117475" indent="-117475">
              <a:buFont typeface="Arial" panose="020B0604020202020204" pitchFamily="34" charset="0"/>
              <a:buChar char="•"/>
              <a:defRPr/>
            </a:pPr>
            <a:r>
              <a:rPr lang="en-US" sz="1200" dirty="0">
                <a:latin typeface="+mn-lt"/>
              </a:rPr>
              <a:t>Measure C4E KPIs</a:t>
            </a:r>
          </a:p>
          <a:p>
            <a:pPr>
              <a:defRPr/>
            </a:pPr>
            <a:endParaRPr lang="en-US" sz="1200" dirty="0">
              <a:latin typeface="+mn-lt"/>
            </a:endParaRPr>
          </a:p>
        </p:txBody>
      </p:sp>
      <p:sp>
        <p:nvSpPr>
          <p:cNvPr id="30763" name="Rectangle 102"/>
          <p:cNvSpPr>
            <a:spLocks noChangeArrowheads="1"/>
          </p:cNvSpPr>
          <p:nvPr/>
        </p:nvSpPr>
        <p:spPr bwMode="auto">
          <a:xfrm>
            <a:off x="1558924" y="4894733"/>
            <a:ext cx="1560248" cy="10156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Onboard MuleSoft</a:t>
            </a:r>
          </a:p>
          <a:p>
            <a:pPr>
              <a:buFont typeface="Arial" panose="020B0604020202020204" pitchFamily="34" charset="0"/>
              <a:buChar char="•"/>
            </a:pPr>
            <a:r>
              <a:rPr lang="en-US" altLang="en-US" sz="1200" dirty="0">
                <a:latin typeface="+mn-lt"/>
              </a:rPr>
              <a:t>Agree on initial </a:t>
            </a:r>
            <a:r>
              <a:rPr lang="en-US" altLang="en-US" sz="1200" dirty="0" smtClean="0">
                <a:latin typeface="+mn-lt"/>
              </a:rPr>
              <a:t>roles</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a:latin typeface="+mn-lt"/>
            </a:endParaRPr>
          </a:p>
        </p:txBody>
      </p:sp>
      <p:sp>
        <p:nvSpPr>
          <p:cNvPr id="30764" name="Rectangle 103"/>
          <p:cNvSpPr>
            <a:spLocks noChangeArrowheads="1"/>
          </p:cNvSpPr>
          <p:nvPr/>
        </p:nvSpPr>
        <p:spPr bwMode="auto">
          <a:xfrm>
            <a:off x="3153071" y="4887745"/>
            <a:ext cx="1760195" cy="10156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Design internal support operating model</a:t>
            </a:r>
          </a:p>
          <a:p>
            <a:pPr>
              <a:buFont typeface="Arial" panose="020B0604020202020204" pitchFamily="34" charset="0"/>
              <a:buChar char="•"/>
            </a:pPr>
            <a:r>
              <a:rPr lang="en-US" altLang="en-US" sz="1200" dirty="0">
                <a:latin typeface="+mn-lt"/>
              </a:rPr>
              <a:t>Develop training </a:t>
            </a:r>
            <a:r>
              <a:rPr lang="en-US" altLang="en-US" sz="1200" dirty="0" smtClean="0">
                <a:latin typeface="+mn-lt"/>
              </a:rPr>
              <a:t>plan</a:t>
            </a:r>
          </a:p>
          <a:p>
            <a:pPr>
              <a:buFont typeface="Arial" panose="020B0604020202020204" pitchFamily="34" charset="0"/>
              <a:buChar char="•"/>
            </a:pPr>
            <a:endParaRPr lang="en-US" altLang="en-US" sz="1200" dirty="0" smtClean="0">
              <a:latin typeface="+mn-lt"/>
            </a:endParaRPr>
          </a:p>
          <a:p>
            <a:pPr marL="0" indent="0"/>
            <a:endParaRPr lang="en-US" altLang="en-US" sz="1200" dirty="0">
              <a:latin typeface="+mn-lt"/>
            </a:endParaRPr>
          </a:p>
        </p:txBody>
      </p:sp>
      <p:sp>
        <p:nvSpPr>
          <p:cNvPr id="30765" name="Rectangle 104"/>
          <p:cNvSpPr>
            <a:spLocks noChangeArrowheads="1"/>
          </p:cNvSpPr>
          <p:nvPr/>
        </p:nvSpPr>
        <p:spPr bwMode="auto">
          <a:xfrm>
            <a:off x="4953797" y="4884842"/>
            <a:ext cx="1730376" cy="10156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Staff, Train and launch team</a:t>
            </a:r>
          </a:p>
          <a:p>
            <a:pPr>
              <a:buFont typeface="Arial" panose="020B0604020202020204" pitchFamily="34" charset="0"/>
              <a:buChar char="•"/>
            </a:pPr>
            <a:r>
              <a:rPr lang="en-US" altLang="en-US" sz="1200" dirty="0">
                <a:latin typeface="+mn-lt"/>
              </a:rPr>
              <a:t>Launch experiential </a:t>
            </a:r>
            <a:r>
              <a:rPr lang="en-US" altLang="en-US" sz="1200" dirty="0" smtClean="0">
                <a:latin typeface="+mn-lt"/>
              </a:rPr>
              <a:t>learning opportunities</a:t>
            </a:r>
          </a:p>
          <a:p>
            <a:pPr>
              <a:buFont typeface="Arial" panose="020B0604020202020204" pitchFamily="34" charset="0"/>
              <a:buChar char="•"/>
            </a:pPr>
            <a:endParaRPr lang="en-US" altLang="en-US" sz="1200" dirty="0">
              <a:latin typeface="+mn-lt"/>
            </a:endParaRPr>
          </a:p>
        </p:txBody>
      </p:sp>
      <p:sp>
        <p:nvSpPr>
          <p:cNvPr id="30766" name="Rectangle 105"/>
          <p:cNvSpPr>
            <a:spLocks noChangeArrowheads="1"/>
          </p:cNvSpPr>
          <p:nvPr/>
        </p:nvSpPr>
        <p:spPr bwMode="auto">
          <a:xfrm>
            <a:off x="6719888" y="4874902"/>
            <a:ext cx="1285435" cy="1015663"/>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Measure support KPIs</a:t>
            </a:r>
          </a:p>
          <a:p>
            <a:pPr>
              <a:buFont typeface="Arial" panose="020B0604020202020204" pitchFamily="34" charset="0"/>
              <a:buChar char="•"/>
            </a:pPr>
            <a:r>
              <a:rPr lang="en-US" altLang="en-US" sz="1200" dirty="0">
                <a:latin typeface="+mn-lt"/>
              </a:rPr>
              <a:t>Conduct skills </a:t>
            </a:r>
            <a:r>
              <a:rPr lang="en-US" altLang="en-US" sz="1200" dirty="0" smtClean="0">
                <a:latin typeface="+mn-lt"/>
              </a:rPr>
              <a:t>assessment</a:t>
            </a:r>
          </a:p>
          <a:p>
            <a:pPr>
              <a:buFont typeface="Arial" panose="020B0604020202020204" pitchFamily="34" charset="0"/>
              <a:buChar char="•"/>
            </a:pPr>
            <a:endParaRPr lang="en-US" altLang="en-US" sz="1200" dirty="0">
              <a:latin typeface="+mn-lt"/>
            </a:endParaRPr>
          </a:p>
        </p:txBody>
      </p:sp>
      <p:grpSp>
        <p:nvGrpSpPr>
          <p:cNvPr id="30767" name="Group 17"/>
          <p:cNvGrpSpPr>
            <a:grpSpLocks/>
          </p:cNvGrpSpPr>
          <p:nvPr/>
        </p:nvGrpSpPr>
        <p:grpSpPr bwMode="auto">
          <a:xfrm>
            <a:off x="7653338" y="544513"/>
            <a:ext cx="450850" cy="450850"/>
            <a:chOff x="7653604" y="716189"/>
            <a:chExt cx="449790" cy="449790"/>
          </a:xfrm>
        </p:grpSpPr>
        <p:sp>
          <p:nvSpPr>
            <p:cNvPr id="109" name="Oval 108"/>
            <p:cNvSpPr/>
            <p:nvPr/>
          </p:nvSpPr>
          <p:spPr>
            <a:xfrm>
              <a:off x="7653604" y="716189"/>
              <a:ext cx="449790" cy="449790"/>
            </a:xfrm>
            <a:prstGeom prst="ellipse">
              <a:avLst/>
            </a:prstGeom>
            <a:solidFill>
              <a:schemeClr val="bg1"/>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10" name="Group 109"/>
            <p:cNvGrpSpPr/>
            <p:nvPr/>
          </p:nvGrpSpPr>
          <p:grpSpPr>
            <a:xfrm>
              <a:off x="7737249" y="816156"/>
              <a:ext cx="282500" cy="249856"/>
              <a:chOff x="558801" y="2318718"/>
              <a:chExt cx="357188" cy="315913"/>
            </a:xfrm>
            <a:solidFill>
              <a:srgbClr val="EBB700"/>
            </a:solidFill>
          </p:grpSpPr>
          <p:sp>
            <p:nvSpPr>
              <p:cNvPr id="111" name="Freeform 488"/>
              <p:cNvSpPr>
                <a:spLocks/>
              </p:cNvSpPr>
              <p:nvPr/>
            </p:nvSpPr>
            <p:spPr bwMode="auto">
              <a:xfrm>
                <a:off x="558801" y="2363168"/>
                <a:ext cx="269875" cy="271463"/>
              </a:xfrm>
              <a:custGeom>
                <a:avLst/>
                <a:gdLst>
                  <a:gd name="T0" fmla="*/ 64 w 72"/>
                  <a:gd name="T1" fmla="*/ 42 h 72"/>
                  <a:gd name="T2" fmla="*/ 64 w 72"/>
                  <a:gd name="T3" fmla="*/ 60 h 72"/>
                  <a:gd name="T4" fmla="*/ 60 w 72"/>
                  <a:gd name="T5" fmla="*/ 64 h 72"/>
                  <a:gd name="T6" fmla="*/ 12 w 72"/>
                  <a:gd name="T7" fmla="*/ 64 h 72"/>
                  <a:gd name="T8" fmla="*/ 8 w 72"/>
                  <a:gd name="T9" fmla="*/ 60 h 72"/>
                  <a:gd name="T10" fmla="*/ 8 w 72"/>
                  <a:gd name="T11" fmla="*/ 12 h 72"/>
                  <a:gd name="T12" fmla="*/ 12 w 72"/>
                  <a:gd name="T13" fmla="*/ 8 h 72"/>
                  <a:gd name="T14" fmla="*/ 53 w 72"/>
                  <a:gd name="T15" fmla="*/ 8 h 72"/>
                  <a:gd name="T16" fmla="*/ 60 w 72"/>
                  <a:gd name="T17" fmla="*/ 0 h 72"/>
                  <a:gd name="T18" fmla="*/ 56 w 72"/>
                  <a:gd name="T19" fmla="*/ 0 h 72"/>
                  <a:gd name="T20" fmla="*/ 16 w 72"/>
                  <a:gd name="T21" fmla="*/ 0 h 72"/>
                  <a:gd name="T22" fmla="*/ 0 w 72"/>
                  <a:gd name="T23" fmla="*/ 16 h 72"/>
                  <a:gd name="T24" fmla="*/ 0 w 72"/>
                  <a:gd name="T25" fmla="*/ 56 h 72"/>
                  <a:gd name="T26" fmla="*/ 16 w 72"/>
                  <a:gd name="T27" fmla="*/ 72 h 72"/>
                  <a:gd name="T28" fmla="*/ 56 w 72"/>
                  <a:gd name="T29" fmla="*/ 72 h 72"/>
                  <a:gd name="T30" fmla="*/ 72 w 72"/>
                  <a:gd name="T31" fmla="*/ 56 h 72"/>
                  <a:gd name="T32" fmla="*/ 72 w 72"/>
                  <a:gd name="T33" fmla="*/ 34 h 72"/>
                  <a:gd name="T34" fmla="*/ 64 w 72"/>
                  <a:gd name="T35"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2">
                    <a:moveTo>
                      <a:pt x="64" y="42"/>
                    </a:moveTo>
                    <a:cubicBezTo>
                      <a:pt x="64" y="60"/>
                      <a:pt x="64" y="60"/>
                      <a:pt x="64" y="60"/>
                    </a:cubicBezTo>
                    <a:cubicBezTo>
                      <a:pt x="64" y="62"/>
                      <a:pt x="62" y="64"/>
                      <a:pt x="60" y="64"/>
                    </a:cubicBezTo>
                    <a:cubicBezTo>
                      <a:pt x="12" y="64"/>
                      <a:pt x="12" y="64"/>
                      <a:pt x="12" y="64"/>
                    </a:cubicBezTo>
                    <a:cubicBezTo>
                      <a:pt x="10" y="64"/>
                      <a:pt x="8" y="62"/>
                      <a:pt x="8" y="60"/>
                    </a:cubicBezTo>
                    <a:cubicBezTo>
                      <a:pt x="8" y="12"/>
                      <a:pt x="8" y="12"/>
                      <a:pt x="8" y="12"/>
                    </a:cubicBezTo>
                    <a:cubicBezTo>
                      <a:pt x="8" y="9"/>
                      <a:pt x="10" y="8"/>
                      <a:pt x="12" y="8"/>
                    </a:cubicBezTo>
                    <a:cubicBezTo>
                      <a:pt x="53" y="8"/>
                      <a:pt x="53" y="8"/>
                      <a:pt x="53" y="8"/>
                    </a:cubicBezTo>
                    <a:cubicBezTo>
                      <a:pt x="60" y="0"/>
                      <a:pt x="60" y="0"/>
                      <a:pt x="60" y="0"/>
                    </a:cubicBezTo>
                    <a:cubicBezTo>
                      <a:pt x="59" y="0"/>
                      <a:pt x="57" y="0"/>
                      <a:pt x="56" y="0"/>
                    </a:cubicBezTo>
                    <a:cubicBezTo>
                      <a:pt x="16" y="0"/>
                      <a:pt x="16" y="0"/>
                      <a:pt x="16" y="0"/>
                    </a:cubicBezTo>
                    <a:cubicBezTo>
                      <a:pt x="7" y="0"/>
                      <a:pt x="0" y="7"/>
                      <a:pt x="0" y="16"/>
                    </a:cubicBezTo>
                    <a:cubicBezTo>
                      <a:pt x="0" y="56"/>
                      <a:pt x="0" y="56"/>
                      <a:pt x="0" y="56"/>
                    </a:cubicBezTo>
                    <a:cubicBezTo>
                      <a:pt x="0" y="64"/>
                      <a:pt x="7" y="72"/>
                      <a:pt x="16" y="72"/>
                    </a:cubicBezTo>
                    <a:cubicBezTo>
                      <a:pt x="56" y="72"/>
                      <a:pt x="56" y="72"/>
                      <a:pt x="56" y="72"/>
                    </a:cubicBezTo>
                    <a:cubicBezTo>
                      <a:pt x="65" y="72"/>
                      <a:pt x="72" y="64"/>
                      <a:pt x="72" y="56"/>
                    </a:cubicBezTo>
                    <a:cubicBezTo>
                      <a:pt x="72" y="34"/>
                      <a:pt x="72" y="34"/>
                      <a:pt x="72" y="34"/>
                    </a:cubicBezTo>
                    <a:lnTo>
                      <a:pt x="64"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112" name="Freeform 489"/>
              <p:cNvSpPr>
                <a:spLocks/>
              </p:cNvSpPr>
              <p:nvPr/>
            </p:nvSpPr>
            <p:spPr bwMode="auto">
              <a:xfrm>
                <a:off x="847726" y="2318718"/>
                <a:ext cx="68263" cy="68263"/>
              </a:xfrm>
              <a:custGeom>
                <a:avLst/>
                <a:gdLst>
                  <a:gd name="T0" fmla="*/ 18 w 18"/>
                  <a:gd name="T1" fmla="*/ 9 h 18"/>
                  <a:gd name="T2" fmla="*/ 9 w 18"/>
                  <a:gd name="T3" fmla="*/ 1 h 18"/>
                  <a:gd name="T4" fmla="*/ 6 w 18"/>
                  <a:gd name="T5" fmla="*/ 1 h 18"/>
                  <a:gd name="T6" fmla="*/ 0 w 18"/>
                  <a:gd name="T7" fmla="*/ 6 h 18"/>
                  <a:gd name="T8" fmla="*/ 12 w 18"/>
                  <a:gd name="T9" fmla="*/ 18 h 18"/>
                  <a:gd name="T10" fmla="*/ 18 w 18"/>
                  <a:gd name="T11" fmla="*/ 12 h 18"/>
                  <a:gd name="T12" fmla="*/ 18 w 18"/>
                  <a:gd name="T13" fmla="*/ 9 h 18"/>
                </a:gdLst>
                <a:ahLst/>
                <a:cxnLst>
                  <a:cxn ang="0">
                    <a:pos x="T0" y="T1"/>
                  </a:cxn>
                  <a:cxn ang="0">
                    <a:pos x="T2" y="T3"/>
                  </a:cxn>
                  <a:cxn ang="0">
                    <a:pos x="T4" y="T5"/>
                  </a:cxn>
                  <a:cxn ang="0">
                    <a:pos x="T6" y="T7"/>
                  </a:cxn>
                  <a:cxn ang="0">
                    <a:pos x="T8" y="T9"/>
                  </a:cxn>
                  <a:cxn ang="0">
                    <a:pos x="T10" y="T11"/>
                  </a:cxn>
                  <a:cxn ang="0">
                    <a:pos x="T12" y="T13"/>
                  </a:cxn>
                </a:cxnLst>
                <a:rect l="0" t="0" r="r" b="b"/>
                <a:pathLst>
                  <a:path w="18" h="18">
                    <a:moveTo>
                      <a:pt x="18" y="9"/>
                    </a:moveTo>
                    <a:cubicBezTo>
                      <a:pt x="9" y="1"/>
                      <a:pt x="9" y="1"/>
                      <a:pt x="9" y="1"/>
                    </a:cubicBezTo>
                    <a:cubicBezTo>
                      <a:pt x="8" y="0"/>
                      <a:pt x="7" y="0"/>
                      <a:pt x="6" y="1"/>
                    </a:cubicBezTo>
                    <a:cubicBezTo>
                      <a:pt x="0" y="6"/>
                      <a:pt x="0" y="6"/>
                      <a:pt x="0" y="6"/>
                    </a:cubicBezTo>
                    <a:cubicBezTo>
                      <a:pt x="12" y="18"/>
                      <a:pt x="12" y="18"/>
                      <a:pt x="12" y="18"/>
                    </a:cubicBezTo>
                    <a:cubicBezTo>
                      <a:pt x="18" y="12"/>
                      <a:pt x="18" y="12"/>
                      <a:pt x="18" y="12"/>
                    </a:cubicBezTo>
                    <a:cubicBezTo>
                      <a:pt x="18" y="11"/>
                      <a:pt x="18" y="10"/>
                      <a:pt x="1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113" name="Freeform 490"/>
              <p:cNvSpPr>
                <a:spLocks/>
              </p:cNvSpPr>
              <p:nvPr/>
            </p:nvSpPr>
            <p:spPr bwMode="auto">
              <a:xfrm>
                <a:off x="660401" y="2506043"/>
                <a:ext cx="66675" cy="68263"/>
              </a:xfrm>
              <a:custGeom>
                <a:avLst/>
                <a:gdLst>
                  <a:gd name="T0" fmla="*/ 18 w 18"/>
                  <a:gd name="T1" fmla="*/ 11 h 18"/>
                  <a:gd name="T2" fmla="*/ 7 w 18"/>
                  <a:gd name="T3" fmla="*/ 0 h 18"/>
                  <a:gd name="T4" fmla="*/ 0 w 18"/>
                  <a:gd name="T5" fmla="*/ 17 h 18"/>
                  <a:gd name="T6" fmla="*/ 2 w 18"/>
                  <a:gd name="T7" fmla="*/ 18 h 18"/>
                  <a:gd name="T8" fmla="*/ 18 w 18"/>
                  <a:gd name="T9" fmla="*/ 11 h 18"/>
                </a:gdLst>
                <a:ahLst/>
                <a:cxnLst>
                  <a:cxn ang="0">
                    <a:pos x="T0" y="T1"/>
                  </a:cxn>
                  <a:cxn ang="0">
                    <a:pos x="T2" y="T3"/>
                  </a:cxn>
                  <a:cxn ang="0">
                    <a:pos x="T4" y="T5"/>
                  </a:cxn>
                  <a:cxn ang="0">
                    <a:pos x="T6" y="T7"/>
                  </a:cxn>
                  <a:cxn ang="0">
                    <a:pos x="T8" y="T9"/>
                  </a:cxn>
                </a:cxnLst>
                <a:rect l="0" t="0" r="r" b="b"/>
                <a:pathLst>
                  <a:path w="18" h="18">
                    <a:moveTo>
                      <a:pt x="18" y="11"/>
                    </a:moveTo>
                    <a:cubicBezTo>
                      <a:pt x="7" y="0"/>
                      <a:pt x="7" y="0"/>
                      <a:pt x="7" y="0"/>
                    </a:cubicBezTo>
                    <a:cubicBezTo>
                      <a:pt x="0" y="17"/>
                      <a:pt x="0" y="17"/>
                      <a:pt x="0" y="17"/>
                    </a:cubicBezTo>
                    <a:cubicBezTo>
                      <a:pt x="0" y="18"/>
                      <a:pt x="0" y="18"/>
                      <a:pt x="2" y="18"/>
                    </a:cubicBezTo>
                    <a:lnTo>
                      <a:pt x="18"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sp>
            <p:nvSpPr>
              <p:cNvPr id="114" name="Freeform 491"/>
              <p:cNvSpPr>
                <a:spLocks/>
              </p:cNvSpPr>
              <p:nvPr/>
            </p:nvSpPr>
            <p:spPr bwMode="auto">
              <a:xfrm>
                <a:off x="696914" y="2356818"/>
                <a:ext cx="180975" cy="179388"/>
              </a:xfrm>
              <a:custGeom>
                <a:avLst/>
                <a:gdLst>
                  <a:gd name="T0" fmla="*/ 29 w 114"/>
                  <a:gd name="T1" fmla="*/ 113 h 113"/>
                  <a:gd name="T2" fmla="*/ 0 w 114"/>
                  <a:gd name="T3" fmla="*/ 85 h 113"/>
                  <a:gd name="T4" fmla="*/ 88 w 114"/>
                  <a:gd name="T5" fmla="*/ 0 h 113"/>
                  <a:gd name="T6" fmla="*/ 114 w 114"/>
                  <a:gd name="T7" fmla="*/ 28 h 113"/>
                  <a:gd name="T8" fmla="*/ 29 w 114"/>
                  <a:gd name="T9" fmla="*/ 113 h 113"/>
                </a:gdLst>
                <a:ahLst/>
                <a:cxnLst>
                  <a:cxn ang="0">
                    <a:pos x="T0" y="T1"/>
                  </a:cxn>
                  <a:cxn ang="0">
                    <a:pos x="T2" y="T3"/>
                  </a:cxn>
                  <a:cxn ang="0">
                    <a:pos x="T4" y="T5"/>
                  </a:cxn>
                  <a:cxn ang="0">
                    <a:pos x="T6" y="T7"/>
                  </a:cxn>
                  <a:cxn ang="0">
                    <a:pos x="T8" y="T9"/>
                  </a:cxn>
                </a:cxnLst>
                <a:rect l="0" t="0" r="r" b="b"/>
                <a:pathLst>
                  <a:path w="114" h="113">
                    <a:moveTo>
                      <a:pt x="29" y="113"/>
                    </a:moveTo>
                    <a:lnTo>
                      <a:pt x="0" y="85"/>
                    </a:lnTo>
                    <a:lnTo>
                      <a:pt x="88" y="0"/>
                    </a:lnTo>
                    <a:lnTo>
                      <a:pt x="114" y="28"/>
                    </a:lnTo>
                    <a:lnTo>
                      <a:pt x="29"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p>
            </p:txBody>
          </p:sp>
        </p:grpSp>
      </p:grpSp>
      <p:grpSp>
        <p:nvGrpSpPr>
          <p:cNvPr id="30768" name="Group 18"/>
          <p:cNvGrpSpPr>
            <a:grpSpLocks/>
          </p:cNvGrpSpPr>
          <p:nvPr/>
        </p:nvGrpSpPr>
        <p:grpSpPr bwMode="auto">
          <a:xfrm>
            <a:off x="4575175" y="544513"/>
            <a:ext cx="449263" cy="450850"/>
            <a:chOff x="4574899" y="720882"/>
            <a:chExt cx="449790" cy="449790"/>
          </a:xfrm>
        </p:grpSpPr>
        <p:sp>
          <p:nvSpPr>
            <p:cNvPr id="107" name="Oval 106"/>
            <p:cNvSpPr/>
            <p:nvPr/>
          </p:nvSpPr>
          <p:spPr>
            <a:xfrm>
              <a:off x="4574899" y="720882"/>
              <a:ext cx="449790" cy="449790"/>
            </a:xfrm>
            <a:prstGeom prst="ellipse">
              <a:avLst/>
            </a:prstGeom>
            <a:solidFill>
              <a:schemeClr val="bg1"/>
            </a:solidFill>
            <a:ln w="28575">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15" name="Group 114"/>
            <p:cNvGrpSpPr/>
            <p:nvPr/>
          </p:nvGrpSpPr>
          <p:grpSpPr>
            <a:xfrm>
              <a:off x="4626535" y="792630"/>
              <a:ext cx="340861" cy="267362"/>
              <a:chOff x="5530851" y="4438651"/>
              <a:chExt cx="508001" cy="398463"/>
            </a:xfrm>
            <a:solidFill>
              <a:srgbClr val="409DAD"/>
            </a:solidFill>
          </p:grpSpPr>
          <p:sp>
            <p:nvSpPr>
              <p:cNvPr id="116" name="Freeform 511"/>
              <p:cNvSpPr>
                <a:spLocks noEditPoints="1"/>
              </p:cNvSpPr>
              <p:nvPr/>
            </p:nvSpPr>
            <p:spPr bwMode="auto">
              <a:xfrm>
                <a:off x="5530851" y="4438651"/>
                <a:ext cx="357188" cy="360363"/>
              </a:xfrm>
              <a:custGeom>
                <a:avLst/>
                <a:gdLst>
                  <a:gd name="T0" fmla="*/ 95 w 95"/>
                  <a:gd name="T1" fmla="*/ 54 h 96"/>
                  <a:gd name="T2" fmla="*/ 95 w 95"/>
                  <a:gd name="T3" fmla="*/ 48 h 96"/>
                  <a:gd name="T4" fmla="*/ 95 w 95"/>
                  <a:gd name="T5" fmla="*/ 42 h 96"/>
                  <a:gd name="T6" fmla="*/ 82 w 95"/>
                  <a:gd name="T7" fmla="*/ 38 h 96"/>
                  <a:gd name="T8" fmla="*/ 79 w 95"/>
                  <a:gd name="T9" fmla="*/ 30 h 96"/>
                  <a:gd name="T10" fmla="*/ 85 w 95"/>
                  <a:gd name="T11" fmla="*/ 19 h 96"/>
                  <a:gd name="T12" fmla="*/ 77 w 95"/>
                  <a:gd name="T13" fmla="*/ 10 h 96"/>
                  <a:gd name="T14" fmla="*/ 66 w 95"/>
                  <a:gd name="T15" fmla="*/ 17 h 96"/>
                  <a:gd name="T16" fmla="*/ 57 w 95"/>
                  <a:gd name="T17" fmla="*/ 13 h 96"/>
                  <a:gd name="T18" fmla="*/ 54 w 95"/>
                  <a:gd name="T19" fmla="*/ 0 h 96"/>
                  <a:gd name="T20" fmla="*/ 48 w 95"/>
                  <a:gd name="T21" fmla="*/ 0 h 96"/>
                  <a:gd name="T22" fmla="*/ 41 w 95"/>
                  <a:gd name="T23" fmla="*/ 0 h 96"/>
                  <a:gd name="T24" fmla="*/ 38 w 95"/>
                  <a:gd name="T25" fmla="*/ 13 h 96"/>
                  <a:gd name="T26" fmla="*/ 30 w 95"/>
                  <a:gd name="T27" fmla="*/ 17 h 96"/>
                  <a:gd name="T28" fmla="*/ 18 w 95"/>
                  <a:gd name="T29" fmla="*/ 10 h 96"/>
                  <a:gd name="T30" fmla="*/ 10 w 95"/>
                  <a:gd name="T31" fmla="*/ 19 h 96"/>
                  <a:gd name="T32" fmla="*/ 16 w 95"/>
                  <a:gd name="T33" fmla="*/ 30 h 96"/>
                  <a:gd name="T34" fmla="*/ 13 w 95"/>
                  <a:gd name="T35" fmla="*/ 38 h 96"/>
                  <a:gd name="T36" fmla="*/ 0 w 95"/>
                  <a:gd name="T37" fmla="*/ 42 h 96"/>
                  <a:gd name="T38" fmla="*/ 0 w 95"/>
                  <a:gd name="T39" fmla="*/ 48 h 96"/>
                  <a:gd name="T40" fmla="*/ 0 w 95"/>
                  <a:gd name="T41" fmla="*/ 54 h 96"/>
                  <a:gd name="T42" fmla="*/ 13 w 95"/>
                  <a:gd name="T43" fmla="*/ 57 h 96"/>
                  <a:gd name="T44" fmla="*/ 16 w 95"/>
                  <a:gd name="T45" fmla="*/ 66 h 96"/>
                  <a:gd name="T46" fmla="*/ 10 w 95"/>
                  <a:gd name="T47" fmla="*/ 77 h 96"/>
                  <a:gd name="T48" fmla="*/ 18 w 95"/>
                  <a:gd name="T49" fmla="*/ 86 h 96"/>
                  <a:gd name="T50" fmla="*/ 30 w 95"/>
                  <a:gd name="T51" fmla="*/ 79 h 96"/>
                  <a:gd name="T52" fmla="*/ 38 w 95"/>
                  <a:gd name="T53" fmla="*/ 83 h 96"/>
                  <a:gd name="T54" fmla="*/ 41 w 95"/>
                  <a:gd name="T55" fmla="*/ 95 h 96"/>
                  <a:gd name="T56" fmla="*/ 48 w 95"/>
                  <a:gd name="T57" fmla="*/ 96 h 96"/>
                  <a:gd name="T58" fmla="*/ 54 w 95"/>
                  <a:gd name="T59" fmla="*/ 95 h 96"/>
                  <a:gd name="T60" fmla="*/ 57 w 95"/>
                  <a:gd name="T61" fmla="*/ 83 h 96"/>
                  <a:gd name="T62" fmla="*/ 66 w 95"/>
                  <a:gd name="T63" fmla="*/ 79 h 96"/>
                  <a:gd name="T64" fmla="*/ 77 w 95"/>
                  <a:gd name="T65" fmla="*/ 86 h 96"/>
                  <a:gd name="T66" fmla="*/ 85 w 95"/>
                  <a:gd name="T67" fmla="*/ 77 h 96"/>
                  <a:gd name="T68" fmla="*/ 79 w 95"/>
                  <a:gd name="T69" fmla="*/ 66 h 96"/>
                  <a:gd name="T70" fmla="*/ 82 w 95"/>
                  <a:gd name="T71" fmla="*/ 57 h 96"/>
                  <a:gd name="T72" fmla="*/ 95 w 95"/>
                  <a:gd name="T73" fmla="*/ 54 h 96"/>
                  <a:gd name="T74" fmla="*/ 48 w 95"/>
                  <a:gd name="T75" fmla="*/ 65 h 96"/>
                  <a:gd name="T76" fmla="*/ 31 w 95"/>
                  <a:gd name="T77" fmla="*/ 48 h 96"/>
                  <a:gd name="T78" fmla="*/ 48 w 95"/>
                  <a:gd name="T79" fmla="*/ 31 h 96"/>
                  <a:gd name="T80" fmla="*/ 64 w 95"/>
                  <a:gd name="T81" fmla="*/ 48 h 96"/>
                  <a:gd name="T82" fmla="*/ 48 w 95"/>
                  <a:gd name="T8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5" h="96">
                    <a:moveTo>
                      <a:pt x="95" y="54"/>
                    </a:moveTo>
                    <a:cubicBezTo>
                      <a:pt x="95" y="52"/>
                      <a:pt x="95" y="50"/>
                      <a:pt x="95" y="48"/>
                    </a:cubicBezTo>
                    <a:cubicBezTo>
                      <a:pt x="95" y="46"/>
                      <a:pt x="95" y="44"/>
                      <a:pt x="95" y="42"/>
                    </a:cubicBezTo>
                    <a:cubicBezTo>
                      <a:pt x="82" y="38"/>
                      <a:pt x="82" y="38"/>
                      <a:pt x="82" y="38"/>
                    </a:cubicBezTo>
                    <a:cubicBezTo>
                      <a:pt x="82" y="35"/>
                      <a:pt x="80" y="32"/>
                      <a:pt x="79" y="30"/>
                    </a:cubicBezTo>
                    <a:cubicBezTo>
                      <a:pt x="85" y="19"/>
                      <a:pt x="85" y="19"/>
                      <a:pt x="85" y="19"/>
                    </a:cubicBezTo>
                    <a:cubicBezTo>
                      <a:pt x="83" y="15"/>
                      <a:pt x="80" y="12"/>
                      <a:pt x="77" y="10"/>
                    </a:cubicBezTo>
                    <a:cubicBezTo>
                      <a:pt x="66" y="17"/>
                      <a:pt x="66" y="17"/>
                      <a:pt x="66" y="17"/>
                    </a:cubicBezTo>
                    <a:cubicBezTo>
                      <a:pt x="63" y="15"/>
                      <a:pt x="60" y="14"/>
                      <a:pt x="57" y="13"/>
                    </a:cubicBezTo>
                    <a:cubicBezTo>
                      <a:pt x="54" y="0"/>
                      <a:pt x="54" y="0"/>
                      <a:pt x="54" y="0"/>
                    </a:cubicBezTo>
                    <a:cubicBezTo>
                      <a:pt x="52" y="0"/>
                      <a:pt x="50" y="0"/>
                      <a:pt x="48" y="0"/>
                    </a:cubicBezTo>
                    <a:cubicBezTo>
                      <a:pt x="46" y="0"/>
                      <a:pt x="43" y="0"/>
                      <a:pt x="41" y="0"/>
                    </a:cubicBezTo>
                    <a:cubicBezTo>
                      <a:pt x="38" y="13"/>
                      <a:pt x="38" y="13"/>
                      <a:pt x="38" y="13"/>
                    </a:cubicBezTo>
                    <a:cubicBezTo>
                      <a:pt x="35" y="14"/>
                      <a:pt x="32" y="15"/>
                      <a:pt x="30" y="17"/>
                    </a:cubicBezTo>
                    <a:cubicBezTo>
                      <a:pt x="18" y="10"/>
                      <a:pt x="18" y="10"/>
                      <a:pt x="18" y="10"/>
                    </a:cubicBezTo>
                    <a:cubicBezTo>
                      <a:pt x="15" y="12"/>
                      <a:pt x="12" y="15"/>
                      <a:pt x="10" y="19"/>
                    </a:cubicBezTo>
                    <a:cubicBezTo>
                      <a:pt x="16" y="30"/>
                      <a:pt x="16" y="30"/>
                      <a:pt x="16" y="30"/>
                    </a:cubicBezTo>
                    <a:cubicBezTo>
                      <a:pt x="15" y="32"/>
                      <a:pt x="14" y="35"/>
                      <a:pt x="13" y="38"/>
                    </a:cubicBezTo>
                    <a:cubicBezTo>
                      <a:pt x="0" y="42"/>
                      <a:pt x="0" y="42"/>
                      <a:pt x="0" y="42"/>
                    </a:cubicBezTo>
                    <a:cubicBezTo>
                      <a:pt x="0" y="44"/>
                      <a:pt x="0" y="46"/>
                      <a:pt x="0" y="48"/>
                    </a:cubicBezTo>
                    <a:cubicBezTo>
                      <a:pt x="0" y="50"/>
                      <a:pt x="0" y="52"/>
                      <a:pt x="0" y="54"/>
                    </a:cubicBezTo>
                    <a:cubicBezTo>
                      <a:pt x="13" y="57"/>
                      <a:pt x="13" y="57"/>
                      <a:pt x="13" y="57"/>
                    </a:cubicBezTo>
                    <a:cubicBezTo>
                      <a:pt x="14" y="60"/>
                      <a:pt x="15" y="63"/>
                      <a:pt x="16" y="66"/>
                    </a:cubicBezTo>
                    <a:cubicBezTo>
                      <a:pt x="10" y="77"/>
                      <a:pt x="10" y="77"/>
                      <a:pt x="10" y="77"/>
                    </a:cubicBezTo>
                    <a:cubicBezTo>
                      <a:pt x="12" y="80"/>
                      <a:pt x="15" y="83"/>
                      <a:pt x="18" y="86"/>
                    </a:cubicBezTo>
                    <a:cubicBezTo>
                      <a:pt x="30" y="79"/>
                      <a:pt x="30" y="79"/>
                      <a:pt x="30" y="79"/>
                    </a:cubicBezTo>
                    <a:cubicBezTo>
                      <a:pt x="32" y="80"/>
                      <a:pt x="35" y="82"/>
                      <a:pt x="38" y="83"/>
                    </a:cubicBezTo>
                    <a:cubicBezTo>
                      <a:pt x="41" y="95"/>
                      <a:pt x="41" y="95"/>
                      <a:pt x="41" y="95"/>
                    </a:cubicBezTo>
                    <a:cubicBezTo>
                      <a:pt x="43" y="95"/>
                      <a:pt x="46" y="96"/>
                      <a:pt x="48" y="96"/>
                    </a:cubicBezTo>
                    <a:cubicBezTo>
                      <a:pt x="50" y="96"/>
                      <a:pt x="52" y="95"/>
                      <a:pt x="54" y="95"/>
                    </a:cubicBezTo>
                    <a:cubicBezTo>
                      <a:pt x="57" y="83"/>
                      <a:pt x="57" y="83"/>
                      <a:pt x="57" y="83"/>
                    </a:cubicBezTo>
                    <a:cubicBezTo>
                      <a:pt x="60" y="82"/>
                      <a:pt x="63" y="80"/>
                      <a:pt x="66" y="79"/>
                    </a:cubicBezTo>
                    <a:cubicBezTo>
                      <a:pt x="77" y="86"/>
                      <a:pt x="77" y="86"/>
                      <a:pt x="77" y="86"/>
                    </a:cubicBezTo>
                    <a:cubicBezTo>
                      <a:pt x="80" y="83"/>
                      <a:pt x="83" y="80"/>
                      <a:pt x="85" y="77"/>
                    </a:cubicBezTo>
                    <a:cubicBezTo>
                      <a:pt x="79" y="66"/>
                      <a:pt x="79" y="66"/>
                      <a:pt x="79" y="66"/>
                    </a:cubicBezTo>
                    <a:cubicBezTo>
                      <a:pt x="80" y="63"/>
                      <a:pt x="82" y="60"/>
                      <a:pt x="82" y="57"/>
                    </a:cubicBezTo>
                    <a:lnTo>
                      <a:pt x="95" y="54"/>
                    </a:lnTo>
                    <a:close/>
                    <a:moveTo>
                      <a:pt x="48" y="65"/>
                    </a:moveTo>
                    <a:cubicBezTo>
                      <a:pt x="38" y="65"/>
                      <a:pt x="31" y="57"/>
                      <a:pt x="31" y="48"/>
                    </a:cubicBezTo>
                    <a:cubicBezTo>
                      <a:pt x="31" y="39"/>
                      <a:pt x="38" y="31"/>
                      <a:pt x="48" y="31"/>
                    </a:cubicBezTo>
                    <a:cubicBezTo>
                      <a:pt x="57" y="31"/>
                      <a:pt x="64" y="39"/>
                      <a:pt x="64" y="48"/>
                    </a:cubicBezTo>
                    <a:cubicBezTo>
                      <a:pt x="64" y="57"/>
                      <a:pt x="57" y="65"/>
                      <a:pt x="48"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latin typeface="+mn-lt"/>
                </a:endParaRPr>
              </a:p>
            </p:txBody>
          </p:sp>
          <p:sp>
            <p:nvSpPr>
              <p:cNvPr id="117" name="Freeform 512"/>
              <p:cNvSpPr>
                <a:spLocks noEditPoints="1"/>
              </p:cNvSpPr>
              <p:nvPr/>
            </p:nvSpPr>
            <p:spPr bwMode="auto">
              <a:xfrm>
                <a:off x="5865814" y="4667251"/>
                <a:ext cx="173038" cy="169863"/>
              </a:xfrm>
              <a:custGeom>
                <a:avLst/>
                <a:gdLst>
                  <a:gd name="T0" fmla="*/ 23 w 46"/>
                  <a:gd name="T1" fmla="*/ 45 h 45"/>
                  <a:gd name="T2" fmla="*/ 20 w 46"/>
                  <a:gd name="T3" fmla="*/ 45 h 45"/>
                  <a:gd name="T4" fmla="*/ 18 w 46"/>
                  <a:gd name="T5" fmla="*/ 39 h 45"/>
                  <a:gd name="T6" fmla="*/ 18 w 46"/>
                  <a:gd name="T7" fmla="*/ 39 h 45"/>
                  <a:gd name="T8" fmla="*/ 14 w 46"/>
                  <a:gd name="T9" fmla="*/ 38 h 45"/>
                  <a:gd name="T10" fmla="*/ 14 w 46"/>
                  <a:gd name="T11" fmla="*/ 37 h 45"/>
                  <a:gd name="T12" fmla="*/ 9 w 46"/>
                  <a:gd name="T13" fmla="*/ 41 h 45"/>
                  <a:gd name="T14" fmla="*/ 5 w 46"/>
                  <a:gd name="T15" fmla="*/ 37 h 45"/>
                  <a:gd name="T16" fmla="*/ 8 w 46"/>
                  <a:gd name="T17" fmla="*/ 31 h 45"/>
                  <a:gd name="T18" fmla="*/ 8 w 46"/>
                  <a:gd name="T19" fmla="*/ 31 h 45"/>
                  <a:gd name="T20" fmla="*/ 6 w 46"/>
                  <a:gd name="T21" fmla="*/ 27 h 45"/>
                  <a:gd name="T22" fmla="*/ 6 w 46"/>
                  <a:gd name="T23" fmla="*/ 27 h 45"/>
                  <a:gd name="T24" fmla="*/ 0 w 46"/>
                  <a:gd name="T25" fmla="*/ 25 h 45"/>
                  <a:gd name="T26" fmla="*/ 0 w 46"/>
                  <a:gd name="T27" fmla="*/ 23 h 45"/>
                  <a:gd name="T28" fmla="*/ 0 w 46"/>
                  <a:gd name="T29" fmla="*/ 20 h 45"/>
                  <a:gd name="T30" fmla="*/ 6 w 46"/>
                  <a:gd name="T31" fmla="*/ 18 h 45"/>
                  <a:gd name="T32" fmla="*/ 6 w 46"/>
                  <a:gd name="T33" fmla="*/ 18 h 45"/>
                  <a:gd name="T34" fmla="*/ 8 w 46"/>
                  <a:gd name="T35" fmla="*/ 14 h 45"/>
                  <a:gd name="T36" fmla="*/ 8 w 46"/>
                  <a:gd name="T37" fmla="*/ 14 h 45"/>
                  <a:gd name="T38" fmla="*/ 5 w 46"/>
                  <a:gd name="T39" fmla="*/ 9 h 45"/>
                  <a:gd name="T40" fmla="*/ 9 w 46"/>
                  <a:gd name="T41" fmla="*/ 4 h 45"/>
                  <a:gd name="T42" fmla="*/ 14 w 46"/>
                  <a:gd name="T43" fmla="*/ 8 h 45"/>
                  <a:gd name="T44" fmla="*/ 14 w 46"/>
                  <a:gd name="T45" fmla="*/ 7 h 45"/>
                  <a:gd name="T46" fmla="*/ 18 w 46"/>
                  <a:gd name="T47" fmla="*/ 6 h 45"/>
                  <a:gd name="T48" fmla="*/ 18 w 46"/>
                  <a:gd name="T49" fmla="*/ 6 h 45"/>
                  <a:gd name="T50" fmla="*/ 20 w 46"/>
                  <a:gd name="T51" fmla="*/ 0 h 45"/>
                  <a:gd name="T52" fmla="*/ 23 w 46"/>
                  <a:gd name="T53" fmla="*/ 0 h 45"/>
                  <a:gd name="T54" fmla="*/ 26 w 46"/>
                  <a:gd name="T55" fmla="*/ 0 h 45"/>
                  <a:gd name="T56" fmla="*/ 27 w 46"/>
                  <a:gd name="T57" fmla="*/ 6 h 45"/>
                  <a:gd name="T58" fmla="*/ 27 w 46"/>
                  <a:gd name="T59" fmla="*/ 6 h 45"/>
                  <a:gd name="T60" fmla="*/ 31 w 46"/>
                  <a:gd name="T61" fmla="*/ 7 h 45"/>
                  <a:gd name="T62" fmla="*/ 31 w 46"/>
                  <a:gd name="T63" fmla="*/ 8 h 45"/>
                  <a:gd name="T64" fmla="*/ 37 w 46"/>
                  <a:gd name="T65" fmla="*/ 4 h 45"/>
                  <a:gd name="T66" fmla="*/ 41 w 46"/>
                  <a:gd name="T67" fmla="*/ 9 h 45"/>
                  <a:gd name="T68" fmla="*/ 38 w 46"/>
                  <a:gd name="T69" fmla="*/ 14 h 45"/>
                  <a:gd name="T70" fmla="*/ 38 w 46"/>
                  <a:gd name="T71" fmla="*/ 14 h 45"/>
                  <a:gd name="T72" fmla="*/ 39 w 46"/>
                  <a:gd name="T73" fmla="*/ 18 h 45"/>
                  <a:gd name="T74" fmla="*/ 39 w 46"/>
                  <a:gd name="T75" fmla="*/ 18 h 45"/>
                  <a:gd name="T76" fmla="*/ 45 w 46"/>
                  <a:gd name="T77" fmla="*/ 20 h 45"/>
                  <a:gd name="T78" fmla="*/ 46 w 46"/>
                  <a:gd name="T79" fmla="*/ 23 h 45"/>
                  <a:gd name="T80" fmla="*/ 45 w 46"/>
                  <a:gd name="T81" fmla="*/ 25 h 45"/>
                  <a:gd name="T82" fmla="*/ 39 w 46"/>
                  <a:gd name="T83" fmla="*/ 27 h 45"/>
                  <a:gd name="T84" fmla="*/ 39 w 46"/>
                  <a:gd name="T85" fmla="*/ 27 h 45"/>
                  <a:gd name="T86" fmla="*/ 38 w 46"/>
                  <a:gd name="T87" fmla="*/ 31 h 45"/>
                  <a:gd name="T88" fmla="*/ 38 w 46"/>
                  <a:gd name="T89" fmla="*/ 31 h 45"/>
                  <a:gd name="T90" fmla="*/ 41 w 46"/>
                  <a:gd name="T91" fmla="*/ 37 h 45"/>
                  <a:gd name="T92" fmla="*/ 37 w 46"/>
                  <a:gd name="T93" fmla="*/ 41 h 45"/>
                  <a:gd name="T94" fmla="*/ 31 w 46"/>
                  <a:gd name="T95" fmla="*/ 37 h 45"/>
                  <a:gd name="T96" fmla="*/ 31 w 46"/>
                  <a:gd name="T97" fmla="*/ 38 h 45"/>
                  <a:gd name="T98" fmla="*/ 27 w 46"/>
                  <a:gd name="T99" fmla="*/ 39 h 45"/>
                  <a:gd name="T100" fmla="*/ 27 w 46"/>
                  <a:gd name="T101" fmla="*/ 39 h 45"/>
                  <a:gd name="T102" fmla="*/ 26 w 46"/>
                  <a:gd name="T103" fmla="*/ 45 h 45"/>
                  <a:gd name="T104" fmla="*/ 23 w 46"/>
                  <a:gd name="T105" fmla="*/ 45 h 45"/>
                  <a:gd name="T106" fmla="*/ 23 w 46"/>
                  <a:gd name="T107" fmla="*/ 14 h 45"/>
                  <a:gd name="T108" fmla="*/ 14 w 46"/>
                  <a:gd name="T109" fmla="*/ 23 h 45"/>
                  <a:gd name="T110" fmla="*/ 23 w 46"/>
                  <a:gd name="T111" fmla="*/ 31 h 45"/>
                  <a:gd name="T112" fmla="*/ 31 w 46"/>
                  <a:gd name="T113" fmla="*/ 23 h 45"/>
                  <a:gd name="T114" fmla="*/ 23 w 46"/>
                  <a:gd name="T115" fmla="*/ 1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 h="45">
                    <a:moveTo>
                      <a:pt x="23" y="45"/>
                    </a:moveTo>
                    <a:cubicBezTo>
                      <a:pt x="22" y="45"/>
                      <a:pt x="21" y="45"/>
                      <a:pt x="20" y="45"/>
                    </a:cubicBezTo>
                    <a:cubicBezTo>
                      <a:pt x="18" y="39"/>
                      <a:pt x="18" y="39"/>
                      <a:pt x="18" y="39"/>
                    </a:cubicBezTo>
                    <a:cubicBezTo>
                      <a:pt x="18" y="39"/>
                      <a:pt x="18" y="39"/>
                      <a:pt x="18" y="39"/>
                    </a:cubicBezTo>
                    <a:cubicBezTo>
                      <a:pt x="17" y="39"/>
                      <a:pt x="15" y="38"/>
                      <a:pt x="14" y="38"/>
                    </a:cubicBezTo>
                    <a:cubicBezTo>
                      <a:pt x="14" y="37"/>
                      <a:pt x="14" y="37"/>
                      <a:pt x="14" y="37"/>
                    </a:cubicBezTo>
                    <a:cubicBezTo>
                      <a:pt x="9" y="41"/>
                      <a:pt x="9" y="41"/>
                      <a:pt x="9" y="41"/>
                    </a:cubicBezTo>
                    <a:cubicBezTo>
                      <a:pt x="7" y="39"/>
                      <a:pt x="6" y="38"/>
                      <a:pt x="5" y="37"/>
                    </a:cubicBezTo>
                    <a:cubicBezTo>
                      <a:pt x="8" y="31"/>
                      <a:pt x="8" y="31"/>
                      <a:pt x="8" y="31"/>
                    </a:cubicBezTo>
                    <a:cubicBezTo>
                      <a:pt x="8" y="31"/>
                      <a:pt x="8" y="31"/>
                      <a:pt x="8" y="31"/>
                    </a:cubicBezTo>
                    <a:cubicBezTo>
                      <a:pt x="7" y="30"/>
                      <a:pt x="6" y="29"/>
                      <a:pt x="6" y="27"/>
                    </a:cubicBezTo>
                    <a:cubicBezTo>
                      <a:pt x="6" y="27"/>
                      <a:pt x="6" y="27"/>
                      <a:pt x="6" y="27"/>
                    </a:cubicBezTo>
                    <a:cubicBezTo>
                      <a:pt x="0" y="25"/>
                      <a:pt x="0" y="25"/>
                      <a:pt x="0" y="25"/>
                    </a:cubicBezTo>
                    <a:cubicBezTo>
                      <a:pt x="0" y="24"/>
                      <a:pt x="0" y="23"/>
                      <a:pt x="0" y="23"/>
                    </a:cubicBezTo>
                    <a:cubicBezTo>
                      <a:pt x="0" y="22"/>
                      <a:pt x="0" y="21"/>
                      <a:pt x="0" y="20"/>
                    </a:cubicBezTo>
                    <a:cubicBezTo>
                      <a:pt x="6" y="18"/>
                      <a:pt x="6" y="18"/>
                      <a:pt x="6" y="18"/>
                    </a:cubicBezTo>
                    <a:cubicBezTo>
                      <a:pt x="6" y="18"/>
                      <a:pt x="6" y="18"/>
                      <a:pt x="6" y="18"/>
                    </a:cubicBezTo>
                    <a:cubicBezTo>
                      <a:pt x="6" y="17"/>
                      <a:pt x="7" y="15"/>
                      <a:pt x="8" y="14"/>
                    </a:cubicBezTo>
                    <a:cubicBezTo>
                      <a:pt x="8" y="14"/>
                      <a:pt x="8" y="14"/>
                      <a:pt x="8" y="14"/>
                    </a:cubicBezTo>
                    <a:cubicBezTo>
                      <a:pt x="5" y="9"/>
                      <a:pt x="5" y="9"/>
                      <a:pt x="5" y="9"/>
                    </a:cubicBezTo>
                    <a:cubicBezTo>
                      <a:pt x="6" y="7"/>
                      <a:pt x="7" y="6"/>
                      <a:pt x="9" y="4"/>
                    </a:cubicBezTo>
                    <a:cubicBezTo>
                      <a:pt x="14" y="8"/>
                      <a:pt x="14" y="8"/>
                      <a:pt x="14" y="8"/>
                    </a:cubicBezTo>
                    <a:cubicBezTo>
                      <a:pt x="14" y="7"/>
                      <a:pt x="14" y="7"/>
                      <a:pt x="14" y="7"/>
                    </a:cubicBezTo>
                    <a:cubicBezTo>
                      <a:pt x="15" y="7"/>
                      <a:pt x="17" y="6"/>
                      <a:pt x="18" y="6"/>
                    </a:cubicBezTo>
                    <a:cubicBezTo>
                      <a:pt x="18" y="6"/>
                      <a:pt x="18" y="6"/>
                      <a:pt x="18" y="6"/>
                    </a:cubicBezTo>
                    <a:cubicBezTo>
                      <a:pt x="20" y="0"/>
                      <a:pt x="20" y="0"/>
                      <a:pt x="20" y="0"/>
                    </a:cubicBezTo>
                    <a:cubicBezTo>
                      <a:pt x="21" y="0"/>
                      <a:pt x="22" y="0"/>
                      <a:pt x="23" y="0"/>
                    </a:cubicBezTo>
                    <a:cubicBezTo>
                      <a:pt x="24" y="0"/>
                      <a:pt x="25" y="0"/>
                      <a:pt x="26" y="0"/>
                    </a:cubicBezTo>
                    <a:cubicBezTo>
                      <a:pt x="27" y="6"/>
                      <a:pt x="27" y="6"/>
                      <a:pt x="27" y="6"/>
                    </a:cubicBezTo>
                    <a:cubicBezTo>
                      <a:pt x="27" y="6"/>
                      <a:pt x="27" y="6"/>
                      <a:pt x="27" y="6"/>
                    </a:cubicBezTo>
                    <a:cubicBezTo>
                      <a:pt x="29" y="6"/>
                      <a:pt x="30" y="7"/>
                      <a:pt x="31" y="7"/>
                    </a:cubicBezTo>
                    <a:cubicBezTo>
                      <a:pt x="31" y="8"/>
                      <a:pt x="31" y="8"/>
                      <a:pt x="31" y="8"/>
                    </a:cubicBezTo>
                    <a:cubicBezTo>
                      <a:pt x="37" y="4"/>
                      <a:pt x="37" y="4"/>
                      <a:pt x="37" y="4"/>
                    </a:cubicBezTo>
                    <a:cubicBezTo>
                      <a:pt x="38" y="6"/>
                      <a:pt x="40" y="7"/>
                      <a:pt x="41" y="9"/>
                    </a:cubicBezTo>
                    <a:cubicBezTo>
                      <a:pt x="38" y="14"/>
                      <a:pt x="38" y="14"/>
                      <a:pt x="38" y="14"/>
                    </a:cubicBezTo>
                    <a:cubicBezTo>
                      <a:pt x="38" y="14"/>
                      <a:pt x="38" y="14"/>
                      <a:pt x="38" y="14"/>
                    </a:cubicBezTo>
                    <a:cubicBezTo>
                      <a:pt x="38" y="15"/>
                      <a:pt x="39" y="17"/>
                      <a:pt x="39" y="18"/>
                    </a:cubicBezTo>
                    <a:cubicBezTo>
                      <a:pt x="39" y="18"/>
                      <a:pt x="39" y="18"/>
                      <a:pt x="39" y="18"/>
                    </a:cubicBezTo>
                    <a:cubicBezTo>
                      <a:pt x="45" y="20"/>
                      <a:pt x="45" y="20"/>
                      <a:pt x="45" y="20"/>
                    </a:cubicBezTo>
                    <a:cubicBezTo>
                      <a:pt x="46" y="21"/>
                      <a:pt x="46" y="22"/>
                      <a:pt x="46" y="23"/>
                    </a:cubicBezTo>
                    <a:cubicBezTo>
                      <a:pt x="46" y="24"/>
                      <a:pt x="46" y="25"/>
                      <a:pt x="45" y="25"/>
                    </a:cubicBezTo>
                    <a:cubicBezTo>
                      <a:pt x="39" y="27"/>
                      <a:pt x="39" y="27"/>
                      <a:pt x="39" y="27"/>
                    </a:cubicBezTo>
                    <a:cubicBezTo>
                      <a:pt x="39" y="27"/>
                      <a:pt x="39" y="27"/>
                      <a:pt x="39" y="27"/>
                    </a:cubicBezTo>
                    <a:cubicBezTo>
                      <a:pt x="39" y="29"/>
                      <a:pt x="38" y="30"/>
                      <a:pt x="38" y="31"/>
                    </a:cubicBezTo>
                    <a:cubicBezTo>
                      <a:pt x="38" y="31"/>
                      <a:pt x="38" y="31"/>
                      <a:pt x="38" y="31"/>
                    </a:cubicBezTo>
                    <a:cubicBezTo>
                      <a:pt x="41" y="37"/>
                      <a:pt x="41" y="37"/>
                      <a:pt x="41" y="37"/>
                    </a:cubicBezTo>
                    <a:cubicBezTo>
                      <a:pt x="40" y="38"/>
                      <a:pt x="38" y="40"/>
                      <a:pt x="37" y="41"/>
                    </a:cubicBezTo>
                    <a:cubicBezTo>
                      <a:pt x="31" y="37"/>
                      <a:pt x="31" y="37"/>
                      <a:pt x="31" y="37"/>
                    </a:cubicBezTo>
                    <a:cubicBezTo>
                      <a:pt x="31" y="38"/>
                      <a:pt x="31" y="38"/>
                      <a:pt x="31" y="38"/>
                    </a:cubicBezTo>
                    <a:cubicBezTo>
                      <a:pt x="30" y="38"/>
                      <a:pt x="29" y="39"/>
                      <a:pt x="27" y="39"/>
                    </a:cubicBezTo>
                    <a:cubicBezTo>
                      <a:pt x="27" y="39"/>
                      <a:pt x="27" y="39"/>
                      <a:pt x="27" y="39"/>
                    </a:cubicBezTo>
                    <a:cubicBezTo>
                      <a:pt x="26" y="45"/>
                      <a:pt x="26" y="45"/>
                      <a:pt x="26" y="45"/>
                    </a:cubicBezTo>
                    <a:cubicBezTo>
                      <a:pt x="25" y="45"/>
                      <a:pt x="24" y="45"/>
                      <a:pt x="23" y="45"/>
                    </a:cubicBezTo>
                    <a:close/>
                    <a:moveTo>
                      <a:pt x="23" y="14"/>
                    </a:moveTo>
                    <a:cubicBezTo>
                      <a:pt x="18" y="14"/>
                      <a:pt x="14" y="18"/>
                      <a:pt x="14" y="23"/>
                    </a:cubicBezTo>
                    <a:cubicBezTo>
                      <a:pt x="14" y="27"/>
                      <a:pt x="18" y="31"/>
                      <a:pt x="23" y="31"/>
                    </a:cubicBezTo>
                    <a:cubicBezTo>
                      <a:pt x="27" y="31"/>
                      <a:pt x="31" y="27"/>
                      <a:pt x="31" y="23"/>
                    </a:cubicBezTo>
                    <a:cubicBezTo>
                      <a:pt x="31" y="18"/>
                      <a:pt x="27" y="14"/>
                      <a:pt x="2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AU">
                  <a:latin typeface="+mn-lt"/>
                </a:endParaRPr>
              </a:p>
            </p:txBody>
          </p:sp>
        </p:grpSp>
      </p:grpSp>
      <p:grpSp>
        <p:nvGrpSpPr>
          <p:cNvPr id="30769" name="Group 16"/>
          <p:cNvGrpSpPr>
            <a:grpSpLocks/>
          </p:cNvGrpSpPr>
          <p:nvPr/>
        </p:nvGrpSpPr>
        <p:grpSpPr bwMode="auto">
          <a:xfrm>
            <a:off x="6381750" y="544513"/>
            <a:ext cx="449263" cy="450850"/>
            <a:chOff x="6434404" y="770997"/>
            <a:chExt cx="449790" cy="449790"/>
          </a:xfrm>
        </p:grpSpPr>
        <p:sp>
          <p:nvSpPr>
            <p:cNvPr id="108" name="Oval 107"/>
            <p:cNvSpPr/>
            <p:nvPr/>
          </p:nvSpPr>
          <p:spPr>
            <a:xfrm>
              <a:off x="6434404" y="770997"/>
              <a:ext cx="449790" cy="449790"/>
            </a:xfrm>
            <a:prstGeom prst="ellipse">
              <a:avLst/>
            </a:prstGeom>
            <a:solidFill>
              <a:schemeClr val="bg1"/>
            </a:solidFill>
            <a:ln w="28575">
              <a:solidFill>
                <a:srgbClr val="7AB8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86" name="Freeform 92"/>
            <p:cNvSpPr>
              <a:spLocks noEditPoints="1"/>
            </p:cNvSpPr>
            <p:nvPr/>
          </p:nvSpPr>
          <p:spPr bwMode="auto">
            <a:xfrm>
              <a:off x="6529848" y="865718"/>
              <a:ext cx="258902" cy="260348"/>
            </a:xfrm>
            <a:custGeom>
              <a:avLst/>
              <a:gdLst>
                <a:gd name="T0" fmla="*/ 0 w 76"/>
                <a:gd name="T1" fmla="*/ 54810 h 76"/>
                <a:gd name="T2" fmla="*/ 0 w 76"/>
                <a:gd name="T3" fmla="*/ 205538 h 76"/>
                <a:gd name="T4" fmla="*/ 54506 w 76"/>
                <a:gd name="T5" fmla="*/ 260348 h 76"/>
                <a:gd name="T6" fmla="*/ 204396 w 76"/>
                <a:gd name="T7" fmla="*/ 260348 h 76"/>
                <a:gd name="T8" fmla="*/ 258902 w 76"/>
                <a:gd name="T9" fmla="*/ 205538 h 76"/>
                <a:gd name="T10" fmla="*/ 258902 w 76"/>
                <a:gd name="T11" fmla="*/ 54810 h 76"/>
                <a:gd name="T12" fmla="*/ 204396 w 76"/>
                <a:gd name="T13" fmla="*/ 0 h 76"/>
                <a:gd name="T14" fmla="*/ 54506 w 76"/>
                <a:gd name="T15" fmla="*/ 0 h 76"/>
                <a:gd name="T16" fmla="*/ 0 w 76"/>
                <a:gd name="T17" fmla="*/ 54810 h 76"/>
                <a:gd name="T18" fmla="*/ 218023 w 76"/>
                <a:gd name="T19" fmla="*/ 27405 h 76"/>
                <a:gd name="T20" fmla="*/ 231649 w 76"/>
                <a:gd name="T21" fmla="*/ 41108 h 76"/>
                <a:gd name="T22" fmla="*/ 231649 w 76"/>
                <a:gd name="T23" fmla="*/ 219240 h 76"/>
                <a:gd name="T24" fmla="*/ 218023 w 76"/>
                <a:gd name="T25" fmla="*/ 232943 h 76"/>
                <a:gd name="T26" fmla="*/ 40879 w 76"/>
                <a:gd name="T27" fmla="*/ 232943 h 76"/>
                <a:gd name="T28" fmla="*/ 27253 w 76"/>
                <a:gd name="T29" fmla="*/ 219240 h 76"/>
                <a:gd name="T30" fmla="*/ 27253 w 76"/>
                <a:gd name="T31" fmla="*/ 41108 h 76"/>
                <a:gd name="T32" fmla="*/ 40879 w 76"/>
                <a:gd name="T33" fmla="*/ 27405 h 76"/>
                <a:gd name="T34" fmla="*/ 218023 w 76"/>
                <a:gd name="T35" fmla="*/ 27405 h 76"/>
                <a:gd name="T36" fmla="*/ 95385 w 76"/>
                <a:gd name="T37" fmla="*/ 75364 h 76"/>
                <a:gd name="T38" fmla="*/ 109011 w 76"/>
                <a:gd name="T39" fmla="*/ 68513 h 76"/>
                <a:gd name="T40" fmla="*/ 180550 w 76"/>
                <a:gd name="T41" fmla="*/ 119897 h 76"/>
                <a:gd name="T42" fmla="*/ 180550 w 76"/>
                <a:gd name="T43" fmla="*/ 137025 h 76"/>
                <a:gd name="T44" fmla="*/ 109011 w 76"/>
                <a:gd name="T45" fmla="*/ 188410 h 76"/>
                <a:gd name="T46" fmla="*/ 95385 w 76"/>
                <a:gd name="T47" fmla="*/ 184984 h 76"/>
                <a:gd name="T48" fmla="*/ 95385 w 76"/>
                <a:gd name="T49" fmla="*/ 75364 h 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6">
                  <a:moveTo>
                    <a:pt x="0" y="16"/>
                  </a:moveTo>
                  <a:cubicBezTo>
                    <a:pt x="0" y="60"/>
                    <a:pt x="0" y="60"/>
                    <a:pt x="0" y="60"/>
                  </a:cubicBezTo>
                  <a:cubicBezTo>
                    <a:pt x="0" y="68"/>
                    <a:pt x="7" y="76"/>
                    <a:pt x="16" y="76"/>
                  </a:cubicBezTo>
                  <a:cubicBezTo>
                    <a:pt x="60" y="76"/>
                    <a:pt x="60" y="76"/>
                    <a:pt x="60" y="76"/>
                  </a:cubicBezTo>
                  <a:cubicBezTo>
                    <a:pt x="69" y="76"/>
                    <a:pt x="76" y="68"/>
                    <a:pt x="76" y="60"/>
                  </a:cubicBezTo>
                  <a:cubicBezTo>
                    <a:pt x="76" y="16"/>
                    <a:pt x="76" y="16"/>
                    <a:pt x="76" y="16"/>
                  </a:cubicBezTo>
                  <a:cubicBezTo>
                    <a:pt x="76" y="7"/>
                    <a:pt x="69" y="0"/>
                    <a:pt x="60" y="0"/>
                  </a:cubicBezTo>
                  <a:cubicBezTo>
                    <a:pt x="16" y="0"/>
                    <a:pt x="16" y="0"/>
                    <a:pt x="16" y="0"/>
                  </a:cubicBezTo>
                  <a:cubicBezTo>
                    <a:pt x="7" y="0"/>
                    <a:pt x="0" y="7"/>
                    <a:pt x="0" y="16"/>
                  </a:cubicBezTo>
                  <a:close/>
                  <a:moveTo>
                    <a:pt x="64" y="8"/>
                  </a:moveTo>
                  <a:cubicBezTo>
                    <a:pt x="66" y="8"/>
                    <a:pt x="68" y="9"/>
                    <a:pt x="68" y="12"/>
                  </a:cubicBezTo>
                  <a:cubicBezTo>
                    <a:pt x="68" y="64"/>
                    <a:pt x="68" y="64"/>
                    <a:pt x="68" y="64"/>
                  </a:cubicBezTo>
                  <a:cubicBezTo>
                    <a:pt x="68" y="66"/>
                    <a:pt x="66" y="68"/>
                    <a:pt x="64" y="68"/>
                  </a:cubicBezTo>
                  <a:cubicBezTo>
                    <a:pt x="12" y="68"/>
                    <a:pt x="12" y="68"/>
                    <a:pt x="12" y="68"/>
                  </a:cubicBezTo>
                  <a:cubicBezTo>
                    <a:pt x="10" y="68"/>
                    <a:pt x="8" y="66"/>
                    <a:pt x="8" y="64"/>
                  </a:cubicBezTo>
                  <a:cubicBezTo>
                    <a:pt x="8" y="12"/>
                    <a:pt x="8" y="12"/>
                    <a:pt x="8" y="12"/>
                  </a:cubicBezTo>
                  <a:cubicBezTo>
                    <a:pt x="8" y="9"/>
                    <a:pt x="10" y="8"/>
                    <a:pt x="12" y="8"/>
                  </a:cubicBezTo>
                  <a:lnTo>
                    <a:pt x="64" y="8"/>
                  </a:lnTo>
                  <a:close/>
                  <a:moveTo>
                    <a:pt x="28" y="22"/>
                  </a:moveTo>
                  <a:cubicBezTo>
                    <a:pt x="28" y="19"/>
                    <a:pt x="30" y="19"/>
                    <a:pt x="32" y="20"/>
                  </a:cubicBezTo>
                  <a:cubicBezTo>
                    <a:pt x="53" y="35"/>
                    <a:pt x="53" y="35"/>
                    <a:pt x="53" y="35"/>
                  </a:cubicBezTo>
                  <a:cubicBezTo>
                    <a:pt x="55" y="36"/>
                    <a:pt x="55" y="39"/>
                    <a:pt x="53" y="40"/>
                  </a:cubicBezTo>
                  <a:cubicBezTo>
                    <a:pt x="32" y="55"/>
                    <a:pt x="32" y="55"/>
                    <a:pt x="32" y="55"/>
                  </a:cubicBezTo>
                  <a:cubicBezTo>
                    <a:pt x="30" y="56"/>
                    <a:pt x="28" y="56"/>
                    <a:pt x="28" y="54"/>
                  </a:cubicBezTo>
                  <a:lnTo>
                    <a:pt x="28" y="22"/>
                  </a:lnTo>
                  <a:close/>
                </a:path>
              </a:pathLst>
            </a:custGeom>
            <a:solidFill>
              <a:srgbClr val="7AB8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mn-lt"/>
              </a:endParaRPr>
            </a:p>
          </p:txBody>
        </p:sp>
      </p:grpSp>
      <p:grpSp>
        <p:nvGrpSpPr>
          <p:cNvPr id="30770" name="Group 19"/>
          <p:cNvGrpSpPr>
            <a:grpSpLocks/>
          </p:cNvGrpSpPr>
          <p:nvPr/>
        </p:nvGrpSpPr>
        <p:grpSpPr bwMode="auto">
          <a:xfrm>
            <a:off x="2784475" y="544513"/>
            <a:ext cx="450850" cy="450850"/>
            <a:chOff x="2784791" y="708270"/>
            <a:chExt cx="449790" cy="449790"/>
          </a:xfrm>
        </p:grpSpPr>
        <p:sp>
          <p:nvSpPr>
            <p:cNvPr id="15" name="Oval 14"/>
            <p:cNvSpPr/>
            <p:nvPr/>
          </p:nvSpPr>
          <p:spPr>
            <a:xfrm>
              <a:off x="2784791" y="708270"/>
              <a:ext cx="449790" cy="449790"/>
            </a:xfrm>
            <a:prstGeom prst="ellipse">
              <a:avLst/>
            </a:prstGeom>
            <a:solidFill>
              <a:schemeClr val="bg1"/>
            </a:solidFill>
            <a:ln w="28575">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784" name="Freeform 700"/>
            <p:cNvSpPr>
              <a:spLocks noEditPoints="1"/>
            </p:cNvSpPr>
            <p:nvPr/>
          </p:nvSpPr>
          <p:spPr bwMode="auto">
            <a:xfrm>
              <a:off x="2896555" y="815812"/>
              <a:ext cx="229661" cy="239143"/>
            </a:xfrm>
            <a:custGeom>
              <a:avLst/>
              <a:gdLst>
                <a:gd name="T0" fmla="*/ 0 w 92"/>
                <a:gd name="T1" fmla="*/ 229179 h 96"/>
                <a:gd name="T2" fmla="*/ 219676 w 92"/>
                <a:gd name="T3" fmla="*/ 239143 h 96"/>
                <a:gd name="T4" fmla="*/ 229661 w 92"/>
                <a:gd name="T5" fmla="*/ 69750 h 96"/>
                <a:gd name="T6" fmla="*/ 49926 w 92"/>
                <a:gd name="T7" fmla="*/ 219214 h 96"/>
                <a:gd name="T8" fmla="*/ 19971 w 92"/>
                <a:gd name="T9" fmla="*/ 189322 h 96"/>
                <a:gd name="T10" fmla="*/ 49926 w 92"/>
                <a:gd name="T11" fmla="*/ 219214 h 96"/>
                <a:gd name="T12" fmla="*/ 19971 w 92"/>
                <a:gd name="T13" fmla="*/ 179357 h 96"/>
                <a:gd name="T14" fmla="*/ 49926 w 92"/>
                <a:gd name="T15" fmla="*/ 149464 h 96"/>
                <a:gd name="T16" fmla="*/ 49926 w 92"/>
                <a:gd name="T17" fmla="*/ 139500 h 96"/>
                <a:gd name="T18" fmla="*/ 19971 w 92"/>
                <a:gd name="T19" fmla="*/ 109607 h 96"/>
                <a:gd name="T20" fmla="*/ 49926 w 92"/>
                <a:gd name="T21" fmla="*/ 139500 h 96"/>
                <a:gd name="T22" fmla="*/ 59912 w 92"/>
                <a:gd name="T23" fmla="*/ 219214 h 96"/>
                <a:gd name="T24" fmla="*/ 89867 w 92"/>
                <a:gd name="T25" fmla="*/ 189322 h 96"/>
                <a:gd name="T26" fmla="*/ 89867 w 92"/>
                <a:gd name="T27" fmla="*/ 179357 h 96"/>
                <a:gd name="T28" fmla="*/ 59912 w 92"/>
                <a:gd name="T29" fmla="*/ 149464 h 96"/>
                <a:gd name="T30" fmla="*/ 89867 w 92"/>
                <a:gd name="T31" fmla="*/ 179357 h 96"/>
                <a:gd name="T32" fmla="*/ 59912 w 92"/>
                <a:gd name="T33" fmla="*/ 139500 h 96"/>
                <a:gd name="T34" fmla="*/ 89867 w 92"/>
                <a:gd name="T35" fmla="*/ 109607 h 96"/>
                <a:gd name="T36" fmla="*/ 129808 w 92"/>
                <a:gd name="T37" fmla="*/ 219214 h 96"/>
                <a:gd name="T38" fmla="*/ 99853 w 92"/>
                <a:gd name="T39" fmla="*/ 189322 h 96"/>
                <a:gd name="T40" fmla="*/ 129808 w 92"/>
                <a:gd name="T41" fmla="*/ 219214 h 96"/>
                <a:gd name="T42" fmla="*/ 99853 w 92"/>
                <a:gd name="T43" fmla="*/ 179357 h 96"/>
                <a:gd name="T44" fmla="*/ 129808 w 92"/>
                <a:gd name="T45" fmla="*/ 149464 h 96"/>
                <a:gd name="T46" fmla="*/ 129808 w 92"/>
                <a:gd name="T47" fmla="*/ 139500 h 96"/>
                <a:gd name="T48" fmla="*/ 99853 w 92"/>
                <a:gd name="T49" fmla="*/ 109607 h 96"/>
                <a:gd name="T50" fmla="*/ 129808 w 92"/>
                <a:gd name="T51" fmla="*/ 139500 h 96"/>
                <a:gd name="T52" fmla="*/ 139794 w 92"/>
                <a:gd name="T53" fmla="*/ 219214 h 96"/>
                <a:gd name="T54" fmla="*/ 169749 w 92"/>
                <a:gd name="T55" fmla="*/ 189322 h 96"/>
                <a:gd name="T56" fmla="*/ 169749 w 92"/>
                <a:gd name="T57" fmla="*/ 179357 h 96"/>
                <a:gd name="T58" fmla="*/ 139794 w 92"/>
                <a:gd name="T59" fmla="*/ 149464 h 96"/>
                <a:gd name="T60" fmla="*/ 169749 w 92"/>
                <a:gd name="T61" fmla="*/ 179357 h 96"/>
                <a:gd name="T62" fmla="*/ 139794 w 92"/>
                <a:gd name="T63" fmla="*/ 139500 h 96"/>
                <a:gd name="T64" fmla="*/ 169749 w 92"/>
                <a:gd name="T65" fmla="*/ 109607 h 96"/>
                <a:gd name="T66" fmla="*/ 209690 w 92"/>
                <a:gd name="T67" fmla="*/ 219214 h 96"/>
                <a:gd name="T68" fmla="*/ 179735 w 92"/>
                <a:gd name="T69" fmla="*/ 189322 h 96"/>
                <a:gd name="T70" fmla="*/ 209690 w 92"/>
                <a:gd name="T71" fmla="*/ 219214 h 96"/>
                <a:gd name="T72" fmla="*/ 179735 w 92"/>
                <a:gd name="T73" fmla="*/ 179357 h 96"/>
                <a:gd name="T74" fmla="*/ 209690 w 92"/>
                <a:gd name="T75" fmla="*/ 149464 h 96"/>
                <a:gd name="T76" fmla="*/ 209690 w 92"/>
                <a:gd name="T77" fmla="*/ 139500 h 96"/>
                <a:gd name="T78" fmla="*/ 179735 w 92"/>
                <a:gd name="T79" fmla="*/ 109607 h 96"/>
                <a:gd name="T80" fmla="*/ 209690 w 92"/>
                <a:gd name="T81" fmla="*/ 139500 h 96"/>
                <a:gd name="T82" fmla="*/ 229661 w 92"/>
                <a:gd name="T83" fmla="*/ 59786 h 96"/>
                <a:gd name="T84" fmla="*/ 0 w 92"/>
                <a:gd name="T85" fmla="*/ 29893 h 96"/>
                <a:gd name="T86" fmla="*/ 29956 w 92"/>
                <a:gd name="T87" fmla="*/ 19929 h 96"/>
                <a:gd name="T88" fmla="*/ 39941 w 92"/>
                <a:gd name="T89" fmla="*/ 0 h 96"/>
                <a:gd name="T90" fmla="*/ 59912 w 92"/>
                <a:gd name="T91" fmla="*/ 9964 h 96"/>
                <a:gd name="T92" fmla="*/ 169749 w 92"/>
                <a:gd name="T93" fmla="*/ 19929 h 96"/>
                <a:gd name="T94" fmla="*/ 179735 w 92"/>
                <a:gd name="T95" fmla="*/ 0 h 96"/>
                <a:gd name="T96" fmla="*/ 199705 w 92"/>
                <a:gd name="T97" fmla="*/ 9964 h 96"/>
                <a:gd name="T98" fmla="*/ 219676 w 92"/>
                <a:gd name="T99" fmla="*/ 19929 h 9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92" h="96">
                  <a:moveTo>
                    <a:pt x="0" y="28"/>
                  </a:moveTo>
                  <a:cubicBezTo>
                    <a:pt x="0" y="92"/>
                    <a:pt x="0" y="92"/>
                    <a:pt x="0" y="92"/>
                  </a:cubicBezTo>
                  <a:cubicBezTo>
                    <a:pt x="0" y="94"/>
                    <a:pt x="2" y="96"/>
                    <a:pt x="4" y="96"/>
                  </a:cubicBezTo>
                  <a:cubicBezTo>
                    <a:pt x="88" y="96"/>
                    <a:pt x="88" y="96"/>
                    <a:pt x="88" y="96"/>
                  </a:cubicBezTo>
                  <a:cubicBezTo>
                    <a:pt x="90" y="96"/>
                    <a:pt x="92" y="94"/>
                    <a:pt x="92" y="92"/>
                  </a:cubicBezTo>
                  <a:cubicBezTo>
                    <a:pt x="92" y="28"/>
                    <a:pt x="92" y="28"/>
                    <a:pt x="92" y="28"/>
                  </a:cubicBezTo>
                  <a:lnTo>
                    <a:pt x="0" y="28"/>
                  </a:lnTo>
                  <a:close/>
                  <a:moveTo>
                    <a:pt x="20" y="88"/>
                  </a:moveTo>
                  <a:cubicBezTo>
                    <a:pt x="8" y="88"/>
                    <a:pt x="8" y="88"/>
                    <a:pt x="8" y="88"/>
                  </a:cubicBezTo>
                  <a:cubicBezTo>
                    <a:pt x="8" y="76"/>
                    <a:pt x="8" y="76"/>
                    <a:pt x="8" y="76"/>
                  </a:cubicBezTo>
                  <a:cubicBezTo>
                    <a:pt x="20" y="76"/>
                    <a:pt x="20" y="76"/>
                    <a:pt x="20" y="76"/>
                  </a:cubicBezTo>
                  <a:lnTo>
                    <a:pt x="20" y="88"/>
                  </a:lnTo>
                  <a:close/>
                  <a:moveTo>
                    <a:pt x="20" y="72"/>
                  </a:moveTo>
                  <a:cubicBezTo>
                    <a:pt x="8" y="72"/>
                    <a:pt x="8" y="72"/>
                    <a:pt x="8" y="72"/>
                  </a:cubicBezTo>
                  <a:cubicBezTo>
                    <a:pt x="8" y="60"/>
                    <a:pt x="8" y="60"/>
                    <a:pt x="8" y="60"/>
                  </a:cubicBezTo>
                  <a:cubicBezTo>
                    <a:pt x="20" y="60"/>
                    <a:pt x="20" y="60"/>
                    <a:pt x="20" y="60"/>
                  </a:cubicBezTo>
                  <a:lnTo>
                    <a:pt x="20" y="72"/>
                  </a:lnTo>
                  <a:close/>
                  <a:moveTo>
                    <a:pt x="20" y="56"/>
                  </a:moveTo>
                  <a:cubicBezTo>
                    <a:pt x="8" y="56"/>
                    <a:pt x="8" y="56"/>
                    <a:pt x="8" y="56"/>
                  </a:cubicBezTo>
                  <a:cubicBezTo>
                    <a:pt x="8" y="44"/>
                    <a:pt x="8" y="44"/>
                    <a:pt x="8" y="44"/>
                  </a:cubicBezTo>
                  <a:cubicBezTo>
                    <a:pt x="20" y="44"/>
                    <a:pt x="20" y="44"/>
                    <a:pt x="20" y="44"/>
                  </a:cubicBezTo>
                  <a:lnTo>
                    <a:pt x="20" y="56"/>
                  </a:lnTo>
                  <a:close/>
                  <a:moveTo>
                    <a:pt x="36" y="88"/>
                  </a:moveTo>
                  <a:cubicBezTo>
                    <a:pt x="24" y="88"/>
                    <a:pt x="24" y="88"/>
                    <a:pt x="24" y="88"/>
                  </a:cubicBezTo>
                  <a:cubicBezTo>
                    <a:pt x="24" y="76"/>
                    <a:pt x="24" y="76"/>
                    <a:pt x="24" y="76"/>
                  </a:cubicBezTo>
                  <a:cubicBezTo>
                    <a:pt x="36" y="76"/>
                    <a:pt x="36" y="76"/>
                    <a:pt x="36" y="76"/>
                  </a:cubicBezTo>
                  <a:lnTo>
                    <a:pt x="36" y="88"/>
                  </a:lnTo>
                  <a:close/>
                  <a:moveTo>
                    <a:pt x="36" y="72"/>
                  </a:moveTo>
                  <a:cubicBezTo>
                    <a:pt x="24" y="72"/>
                    <a:pt x="24" y="72"/>
                    <a:pt x="24" y="72"/>
                  </a:cubicBezTo>
                  <a:cubicBezTo>
                    <a:pt x="24" y="60"/>
                    <a:pt x="24" y="60"/>
                    <a:pt x="24" y="60"/>
                  </a:cubicBezTo>
                  <a:cubicBezTo>
                    <a:pt x="36" y="60"/>
                    <a:pt x="36" y="60"/>
                    <a:pt x="36" y="60"/>
                  </a:cubicBezTo>
                  <a:lnTo>
                    <a:pt x="36" y="72"/>
                  </a:lnTo>
                  <a:close/>
                  <a:moveTo>
                    <a:pt x="36" y="56"/>
                  </a:moveTo>
                  <a:cubicBezTo>
                    <a:pt x="24" y="56"/>
                    <a:pt x="24" y="56"/>
                    <a:pt x="24" y="56"/>
                  </a:cubicBezTo>
                  <a:cubicBezTo>
                    <a:pt x="24" y="44"/>
                    <a:pt x="24" y="44"/>
                    <a:pt x="24" y="44"/>
                  </a:cubicBezTo>
                  <a:cubicBezTo>
                    <a:pt x="36" y="44"/>
                    <a:pt x="36" y="44"/>
                    <a:pt x="36" y="44"/>
                  </a:cubicBezTo>
                  <a:lnTo>
                    <a:pt x="36" y="56"/>
                  </a:lnTo>
                  <a:close/>
                  <a:moveTo>
                    <a:pt x="52" y="88"/>
                  </a:moveTo>
                  <a:cubicBezTo>
                    <a:pt x="40" y="88"/>
                    <a:pt x="40" y="88"/>
                    <a:pt x="40" y="88"/>
                  </a:cubicBezTo>
                  <a:cubicBezTo>
                    <a:pt x="40" y="76"/>
                    <a:pt x="40" y="76"/>
                    <a:pt x="40" y="76"/>
                  </a:cubicBezTo>
                  <a:cubicBezTo>
                    <a:pt x="52" y="76"/>
                    <a:pt x="52" y="76"/>
                    <a:pt x="52" y="76"/>
                  </a:cubicBezTo>
                  <a:lnTo>
                    <a:pt x="52" y="88"/>
                  </a:lnTo>
                  <a:close/>
                  <a:moveTo>
                    <a:pt x="52" y="72"/>
                  </a:moveTo>
                  <a:cubicBezTo>
                    <a:pt x="40" y="72"/>
                    <a:pt x="40" y="72"/>
                    <a:pt x="40" y="72"/>
                  </a:cubicBezTo>
                  <a:cubicBezTo>
                    <a:pt x="40" y="60"/>
                    <a:pt x="40" y="60"/>
                    <a:pt x="40" y="60"/>
                  </a:cubicBezTo>
                  <a:cubicBezTo>
                    <a:pt x="52" y="60"/>
                    <a:pt x="52" y="60"/>
                    <a:pt x="52" y="60"/>
                  </a:cubicBezTo>
                  <a:lnTo>
                    <a:pt x="52" y="72"/>
                  </a:lnTo>
                  <a:close/>
                  <a:moveTo>
                    <a:pt x="52" y="56"/>
                  </a:moveTo>
                  <a:cubicBezTo>
                    <a:pt x="40" y="56"/>
                    <a:pt x="40" y="56"/>
                    <a:pt x="40" y="56"/>
                  </a:cubicBezTo>
                  <a:cubicBezTo>
                    <a:pt x="40" y="44"/>
                    <a:pt x="40" y="44"/>
                    <a:pt x="40" y="44"/>
                  </a:cubicBezTo>
                  <a:cubicBezTo>
                    <a:pt x="52" y="44"/>
                    <a:pt x="52" y="44"/>
                    <a:pt x="52" y="44"/>
                  </a:cubicBezTo>
                  <a:lnTo>
                    <a:pt x="52" y="56"/>
                  </a:lnTo>
                  <a:close/>
                  <a:moveTo>
                    <a:pt x="68" y="88"/>
                  </a:moveTo>
                  <a:cubicBezTo>
                    <a:pt x="56" y="88"/>
                    <a:pt x="56" y="88"/>
                    <a:pt x="56" y="88"/>
                  </a:cubicBezTo>
                  <a:cubicBezTo>
                    <a:pt x="56" y="76"/>
                    <a:pt x="56" y="76"/>
                    <a:pt x="56" y="76"/>
                  </a:cubicBezTo>
                  <a:cubicBezTo>
                    <a:pt x="68" y="76"/>
                    <a:pt x="68" y="76"/>
                    <a:pt x="68" y="76"/>
                  </a:cubicBezTo>
                  <a:lnTo>
                    <a:pt x="68" y="88"/>
                  </a:lnTo>
                  <a:close/>
                  <a:moveTo>
                    <a:pt x="68" y="72"/>
                  </a:moveTo>
                  <a:cubicBezTo>
                    <a:pt x="56" y="72"/>
                    <a:pt x="56" y="72"/>
                    <a:pt x="56" y="72"/>
                  </a:cubicBezTo>
                  <a:cubicBezTo>
                    <a:pt x="56" y="60"/>
                    <a:pt x="56" y="60"/>
                    <a:pt x="56" y="60"/>
                  </a:cubicBezTo>
                  <a:cubicBezTo>
                    <a:pt x="68" y="60"/>
                    <a:pt x="68" y="60"/>
                    <a:pt x="68" y="60"/>
                  </a:cubicBezTo>
                  <a:lnTo>
                    <a:pt x="68" y="72"/>
                  </a:lnTo>
                  <a:close/>
                  <a:moveTo>
                    <a:pt x="68" y="56"/>
                  </a:moveTo>
                  <a:cubicBezTo>
                    <a:pt x="56" y="56"/>
                    <a:pt x="56" y="56"/>
                    <a:pt x="56" y="56"/>
                  </a:cubicBezTo>
                  <a:cubicBezTo>
                    <a:pt x="56" y="44"/>
                    <a:pt x="56" y="44"/>
                    <a:pt x="56" y="44"/>
                  </a:cubicBezTo>
                  <a:cubicBezTo>
                    <a:pt x="68" y="44"/>
                    <a:pt x="68" y="44"/>
                    <a:pt x="68" y="44"/>
                  </a:cubicBezTo>
                  <a:lnTo>
                    <a:pt x="68" y="56"/>
                  </a:lnTo>
                  <a:close/>
                  <a:moveTo>
                    <a:pt x="84" y="88"/>
                  </a:moveTo>
                  <a:cubicBezTo>
                    <a:pt x="72" y="88"/>
                    <a:pt x="72" y="88"/>
                    <a:pt x="72" y="88"/>
                  </a:cubicBezTo>
                  <a:cubicBezTo>
                    <a:pt x="72" y="76"/>
                    <a:pt x="72" y="76"/>
                    <a:pt x="72" y="76"/>
                  </a:cubicBezTo>
                  <a:cubicBezTo>
                    <a:pt x="84" y="76"/>
                    <a:pt x="84" y="76"/>
                    <a:pt x="84" y="76"/>
                  </a:cubicBezTo>
                  <a:lnTo>
                    <a:pt x="84" y="88"/>
                  </a:lnTo>
                  <a:close/>
                  <a:moveTo>
                    <a:pt x="84" y="72"/>
                  </a:moveTo>
                  <a:cubicBezTo>
                    <a:pt x="72" y="72"/>
                    <a:pt x="72" y="72"/>
                    <a:pt x="72" y="72"/>
                  </a:cubicBezTo>
                  <a:cubicBezTo>
                    <a:pt x="72" y="60"/>
                    <a:pt x="72" y="60"/>
                    <a:pt x="72" y="60"/>
                  </a:cubicBezTo>
                  <a:cubicBezTo>
                    <a:pt x="84" y="60"/>
                    <a:pt x="84" y="60"/>
                    <a:pt x="84" y="60"/>
                  </a:cubicBezTo>
                  <a:lnTo>
                    <a:pt x="84" y="72"/>
                  </a:lnTo>
                  <a:close/>
                  <a:moveTo>
                    <a:pt x="84" y="56"/>
                  </a:moveTo>
                  <a:cubicBezTo>
                    <a:pt x="72" y="56"/>
                    <a:pt x="72" y="56"/>
                    <a:pt x="72" y="56"/>
                  </a:cubicBezTo>
                  <a:cubicBezTo>
                    <a:pt x="72" y="44"/>
                    <a:pt x="72" y="44"/>
                    <a:pt x="72" y="44"/>
                  </a:cubicBezTo>
                  <a:cubicBezTo>
                    <a:pt x="84" y="44"/>
                    <a:pt x="84" y="44"/>
                    <a:pt x="84" y="44"/>
                  </a:cubicBezTo>
                  <a:lnTo>
                    <a:pt x="84" y="56"/>
                  </a:lnTo>
                  <a:close/>
                  <a:moveTo>
                    <a:pt x="92" y="12"/>
                  </a:moveTo>
                  <a:cubicBezTo>
                    <a:pt x="92" y="24"/>
                    <a:pt x="92" y="24"/>
                    <a:pt x="92" y="24"/>
                  </a:cubicBezTo>
                  <a:cubicBezTo>
                    <a:pt x="0" y="24"/>
                    <a:pt x="0" y="24"/>
                    <a:pt x="0" y="24"/>
                  </a:cubicBezTo>
                  <a:cubicBezTo>
                    <a:pt x="0" y="12"/>
                    <a:pt x="0" y="12"/>
                    <a:pt x="0" y="12"/>
                  </a:cubicBezTo>
                  <a:cubicBezTo>
                    <a:pt x="0" y="9"/>
                    <a:pt x="2" y="8"/>
                    <a:pt x="4" y="8"/>
                  </a:cubicBezTo>
                  <a:cubicBezTo>
                    <a:pt x="12" y="8"/>
                    <a:pt x="12" y="8"/>
                    <a:pt x="12" y="8"/>
                  </a:cubicBezTo>
                  <a:cubicBezTo>
                    <a:pt x="12" y="4"/>
                    <a:pt x="12" y="4"/>
                    <a:pt x="12" y="4"/>
                  </a:cubicBezTo>
                  <a:cubicBezTo>
                    <a:pt x="12" y="1"/>
                    <a:pt x="14" y="0"/>
                    <a:pt x="16" y="0"/>
                  </a:cubicBezTo>
                  <a:cubicBezTo>
                    <a:pt x="20" y="0"/>
                    <a:pt x="20" y="0"/>
                    <a:pt x="20" y="0"/>
                  </a:cubicBezTo>
                  <a:cubicBezTo>
                    <a:pt x="22" y="0"/>
                    <a:pt x="24" y="1"/>
                    <a:pt x="24" y="4"/>
                  </a:cubicBezTo>
                  <a:cubicBezTo>
                    <a:pt x="24" y="8"/>
                    <a:pt x="24" y="8"/>
                    <a:pt x="24" y="8"/>
                  </a:cubicBezTo>
                  <a:cubicBezTo>
                    <a:pt x="68" y="8"/>
                    <a:pt x="68" y="8"/>
                    <a:pt x="68" y="8"/>
                  </a:cubicBezTo>
                  <a:cubicBezTo>
                    <a:pt x="68" y="4"/>
                    <a:pt x="68" y="4"/>
                    <a:pt x="68" y="4"/>
                  </a:cubicBezTo>
                  <a:cubicBezTo>
                    <a:pt x="68" y="1"/>
                    <a:pt x="70" y="0"/>
                    <a:pt x="72" y="0"/>
                  </a:cubicBezTo>
                  <a:cubicBezTo>
                    <a:pt x="76" y="0"/>
                    <a:pt x="76" y="0"/>
                    <a:pt x="76" y="0"/>
                  </a:cubicBezTo>
                  <a:cubicBezTo>
                    <a:pt x="78" y="0"/>
                    <a:pt x="80" y="1"/>
                    <a:pt x="80" y="4"/>
                  </a:cubicBezTo>
                  <a:cubicBezTo>
                    <a:pt x="80" y="8"/>
                    <a:pt x="80" y="8"/>
                    <a:pt x="80" y="8"/>
                  </a:cubicBezTo>
                  <a:cubicBezTo>
                    <a:pt x="88" y="8"/>
                    <a:pt x="88" y="8"/>
                    <a:pt x="88" y="8"/>
                  </a:cubicBezTo>
                  <a:cubicBezTo>
                    <a:pt x="90" y="8"/>
                    <a:pt x="92" y="9"/>
                    <a:pt x="92" y="12"/>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mn-lt"/>
              </a:endParaRPr>
            </a:p>
          </p:txBody>
        </p:sp>
      </p:grpSp>
      <p:sp>
        <p:nvSpPr>
          <p:cNvPr id="30772" name="TextBox 139"/>
          <p:cNvSpPr txBox="1">
            <a:spLocks noChangeArrowheads="1"/>
          </p:cNvSpPr>
          <p:nvPr/>
        </p:nvSpPr>
        <p:spPr bwMode="auto">
          <a:xfrm>
            <a:off x="1558925" y="1236369"/>
            <a:ext cx="1560011"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Agree on business outcomes and </a:t>
            </a:r>
            <a:r>
              <a:rPr lang="en-US" altLang="en-US" sz="1200" dirty="0" smtClean="0">
                <a:latin typeface="+mn-lt"/>
              </a:rPr>
              <a:t>KPIs</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a:latin typeface="+mn-lt"/>
            </a:endParaRPr>
          </a:p>
        </p:txBody>
      </p:sp>
      <p:sp>
        <p:nvSpPr>
          <p:cNvPr id="141" name="Rectangle 140"/>
          <p:cNvSpPr/>
          <p:nvPr/>
        </p:nvSpPr>
        <p:spPr>
          <a:xfrm>
            <a:off x="1342087" y="1229382"/>
            <a:ext cx="216837" cy="83798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a:defRPr/>
            </a:pPr>
            <a:endParaRPr lang="en-US" sz="1200" dirty="0">
              <a:cs typeface="Times New Roman" panose="02020603050405020304" pitchFamily="18" charset="0"/>
            </a:endParaRPr>
          </a:p>
        </p:txBody>
      </p:sp>
      <p:sp>
        <p:nvSpPr>
          <p:cNvPr id="30777" name="TextBox 144"/>
          <p:cNvSpPr txBox="1">
            <a:spLocks noChangeArrowheads="1"/>
          </p:cNvSpPr>
          <p:nvPr/>
        </p:nvSpPr>
        <p:spPr bwMode="auto">
          <a:xfrm>
            <a:off x="3153071" y="1241907"/>
            <a:ext cx="1760196"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Develop overall success </a:t>
            </a:r>
            <a:r>
              <a:rPr lang="en-US" altLang="en-US" sz="1200" dirty="0" smtClean="0">
                <a:latin typeface="+mn-lt"/>
              </a:rPr>
              <a:t>plan</a:t>
            </a:r>
          </a:p>
          <a:p>
            <a:pPr>
              <a:buFont typeface="Arial" panose="020B0604020202020204" pitchFamily="34" charset="0"/>
              <a:buChar char="•"/>
            </a:pPr>
            <a:endParaRPr lang="en-US" altLang="en-US" sz="1200" dirty="0">
              <a:latin typeface="+mn-lt"/>
            </a:endParaRPr>
          </a:p>
          <a:p>
            <a:pPr>
              <a:buFont typeface="Arial" panose="020B0604020202020204" pitchFamily="34" charset="0"/>
              <a:buChar char="•"/>
            </a:pPr>
            <a:endParaRPr lang="en-US" altLang="en-US" sz="1200" dirty="0">
              <a:latin typeface="+mn-lt"/>
            </a:endParaRPr>
          </a:p>
        </p:txBody>
      </p:sp>
      <p:sp>
        <p:nvSpPr>
          <p:cNvPr id="30778" name="TextBox 145"/>
          <p:cNvSpPr txBox="1">
            <a:spLocks noChangeArrowheads="1"/>
          </p:cNvSpPr>
          <p:nvPr/>
        </p:nvSpPr>
        <p:spPr bwMode="auto">
          <a:xfrm>
            <a:off x="4960277" y="1242106"/>
            <a:ext cx="1731035" cy="830997"/>
          </a:xfrm>
          <a:prstGeom prst="rect">
            <a:avLst/>
          </a:prstGeom>
          <a:solidFill>
            <a:schemeClr val="bg1">
              <a:lumMod val="95000"/>
            </a:schemeClr>
          </a:solidFill>
          <a:ln>
            <a:noFill/>
          </a:ln>
          <a:extLst/>
        </p:spPr>
        <p:txBody>
          <a:bodyPr wrap="square">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a:latin typeface="+mn-lt"/>
              </a:rPr>
              <a:t>Monitor/Manage business reviews</a:t>
            </a:r>
          </a:p>
          <a:p>
            <a:pPr>
              <a:buFont typeface="Arial" panose="020B0604020202020204" pitchFamily="34" charset="0"/>
              <a:buChar char="•"/>
            </a:pPr>
            <a:r>
              <a:rPr lang="en-US" altLang="en-US" sz="1200" dirty="0">
                <a:latin typeface="+mn-lt"/>
              </a:rPr>
              <a:t>Refresh success </a:t>
            </a:r>
            <a:r>
              <a:rPr lang="en-US" altLang="en-US" sz="1200" dirty="0" smtClean="0">
                <a:latin typeface="+mn-lt"/>
              </a:rPr>
              <a:t>plans</a:t>
            </a:r>
          </a:p>
          <a:p>
            <a:pPr>
              <a:buFont typeface="Arial" panose="020B0604020202020204" pitchFamily="34" charset="0"/>
              <a:buChar char="•"/>
            </a:pPr>
            <a:endParaRPr lang="en-US" altLang="en-US" sz="1200" dirty="0">
              <a:latin typeface="+mn-lt"/>
            </a:endParaRPr>
          </a:p>
        </p:txBody>
      </p:sp>
      <p:sp>
        <p:nvSpPr>
          <p:cNvPr id="30779" name="TextBox 146"/>
          <p:cNvSpPr txBox="1">
            <a:spLocks noChangeArrowheads="1"/>
          </p:cNvSpPr>
          <p:nvPr/>
        </p:nvSpPr>
        <p:spPr bwMode="auto">
          <a:xfrm>
            <a:off x="6736033" y="1230313"/>
            <a:ext cx="1266825" cy="831850"/>
          </a:xfrm>
          <a:prstGeom prst="rect">
            <a:avLst/>
          </a:prstGeom>
          <a:solidFill>
            <a:schemeClr val="bg1">
              <a:lumMod val="95000"/>
            </a:schemeClr>
          </a:solidFill>
          <a:ln>
            <a:noFill/>
          </a:ln>
          <a:extLst/>
        </p:spPr>
        <p:txBody>
          <a:bodyPr>
            <a:spAutoFit/>
          </a:bodyPr>
          <a:lstStyle>
            <a:lvl1pPr marL="117475" indent="-117475">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buFont typeface="Arial" panose="020B0604020202020204" pitchFamily="34" charset="0"/>
              <a:buChar char="•"/>
            </a:pPr>
            <a:r>
              <a:rPr lang="en-US" altLang="en-US" sz="1200" dirty="0" smtClean="0">
                <a:latin typeface="+mn-lt"/>
              </a:rPr>
              <a:t>Measure </a:t>
            </a:r>
            <a:r>
              <a:rPr lang="en-US" altLang="en-US" sz="1200" dirty="0">
                <a:latin typeface="+mn-lt"/>
              </a:rPr>
              <a:t>business outcomes</a:t>
            </a:r>
          </a:p>
          <a:p>
            <a:pPr>
              <a:buFont typeface="Arial" panose="020B0604020202020204" pitchFamily="34" charset="0"/>
              <a:buChar char="•"/>
            </a:pPr>
            <a:endParaRPr lang="en-US" altLang="en-US" sz="1200" dirty="0">
              <a:latin typeface="+mn-lt"/>
            </a:endParaRPr>
          </a:p>
        </p:txBody>
      </p:sp>
      <p:grpSp>
        <p:nvGrpSpPr>
          <p:cNvPr id="30780" name="Group 147"/>
          <p:cNvGrpSpPr>
            <a:grpSpLocks/>
          </p:cNvGrpSpPr>
          <p:nvPr/>
        </p:nvGrpSpPr>
        <p:grpSpPr bwMode="auto">
          <a:xfrm>
            <a:off x="180505" y="2754318"/>
            <a:ext cx="1010362" cy="457200"/>
            <a:chOff x="451790" y="2435632"/>
            <a:chExt cx="1089094" cy="492759"/>
          </a:xfrm>
        </p:grpSpPr>
        <p:sp>
          <p:nvSpPr>
            <p:cNvPr id="30781" name="object 46"/>
            <p:cNvSpPr>
              <a:spLocks/>
            </p:cNvSpPr>
            <p:nvPr/>
          </p:nvSpPr>
          <p:spPr bwMode="auto">
            <a:xfrm>
              <a:off x="451790" y="2435632"/>
              <a:ext cx="1089094" cy="492759"/>
            </a:xfrm>
            <a:custGeom>
              <a:avLst/>
              <a:gdLst>
                <a:gd name="T0" fmla="*/ 1351864 w 1418589"/>
                <a:gd name="T1" fmla="*/ 0 h 492760"/>
                <a:gd name="T2" fmla="*/ 0 w 1418589"/>
                <a:gd name="T3" fmla="*/ 0 h 492760"/>
                <a:gd name="T4" fmla="*/ 0 w 1418589"/>
                <a:gd name="T5" fmla="*/ 102984 h 492760"/>
                <a:gd name="T6" fmla="*/ 2717 w 1418589"/>
                <a:gd name="T7" fmla="*/ 265442 h 492760"/>
                <a:gd name="T8" fmla="*/ 0 w 1418589"/>
                <a:gd name="T9" fmla="*/ 389267 h 492760"/>
                <a:gd name="T10" fmla="*/ 0 w 1418589"/>
                <a:gd name="T11" fmla="*/ 492252 h 492760"/>
                <a:gd name="T12" fmla="*/ 1351864 w 1418589"/>
                <a:gd name="T13" fmla="*/ 492252 h 492760"/>
                <a:gd name="T14" fmla="*/ 1351864 w 1418589"/>
                <a:gd name="T15" fmla="*/ 364820 h 492760"/>
                <a:gd name="T16" fmla="*/ 1418082 w 1418589"/>
                <a:gd name="T17" fmla="*/ 246126 h 492760"/>
                <a:gd name="T18" fmla="*/ 1351864 w 1418589"/>
                <a:gd name="T19" fmla="*/ 127431 h 492760"/>
                <a:gd name="T20" fmla="*/ 1351864 w 1418589"/>
                <a:gd name="T21" fmla="*/ 0 h 492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8589" h="492760">
                  <a:moveTo>
                    <a:pt x="1351864" y="0"/>
                  </a:moveTo>
                  <a:lnTo>
                    <a:pt x="0" y="0"/>
                  </a:lnTo>
                  <a:lnTo>
                    <a:pt x="0" y="102984"/>
                  </a:lnTo>
                  <a:lnTo>
                    <a:pt x="2717" y="265442"/>
                  </a:lnTo>
                  <a:lnTo>
                    <a:pt x="0" y="389267"/>
                  </a:lnTo>
                  <a:lnTo>
                    <a:pt x="0" y="492252"/>
                  </a:lnTo>
                  <a:lnTo>
                    <a:pt x="1351864" y="492252"/>
                  </a:lnTo>
                  <a:lnTo>
                    <a:pt x="1351864" y="364820"/>
                  </a:lnTo>
                  <a:lnTo>
                    <a:pt x="1418082" y="246126"/>
                  </a:lnTo>
                  <a:lnTo>
                    <a:pt x="1351864" y="127431"/>
                  </a:lnTo>
                  <a:lnTo>
                    <a:pt x="13518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82" name="Rectangle 149"/>
            <p:cNvSpPr>
              <a:spLocks noChangeArrowheads="1"/>
            </p:cNvSpPr>
            <p:nvPr/>
          </p:nvSpPr>
          <p:spPr bwMode="auto">
            <a:xfrm>
              <a:off x="564725" y="2440540"/>
              <a:ext cx="874673" cy="43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000" dirty="0">
                  <a:solidFill>
                    <a:schemeClr val="bg1"/>
                  </a:solidFill>
                  <a:latin typeface="+mn-lt"/>
                </a:rPr>
                <a:t>Technology </a:t>
              </a:r>
            </a:p>
            <a:p>
              <a:pPr algn="ctr"/>
              <a:r>
                <a:rPr lang="en-US" altLang="en-US" sz="1000" dirty="0">
                  <a:solidFill>
                    <a:schemeClr val="bg1"/>
                  </a:solidFill>
                  <a:latin typeface="+mn-lt"/>
                </a:rPr>
                <a:t>Delivery</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MuleSoft Team is here to help along this journey</a:t>
            </a:r>
          </a:p>
        </p:txBody>
      </p:sp>
      <p:pic>
        <p:nvPicPr>
          <p:cNvPr id="4" name="Picture 3"/>
          <p:cNvPicPr>
            <a:picLocks noChangeAspect="1"/>
          </p:cNvPicPr>
          <p:nvPr/>
        </p:nvPicPr>
        <p:blipFill>
          <a:blip r:embed="rId2"/>
          <a:stretch>
            <a:fillRect/>
          </a:stretch>
        </p:blipFill>
        <p:spPr>
          <a:xfrm>
            <a:off x="483394" y="839787"/>
            <a:ext cx="7162800" cy="4114800"/>
          </a:xfrm>
          <a:prstGeom prst="rect">
            <a:avLst/>
          </a:prstGeom>
          <a:ln w="19050">
            <a:solidFill>
              <a:srgbClr val="002060"/>
            </a:solidFill>
          </a:ln>
        </p:spPr>
      </p:pic>
    </p:spTree>
    <p:extLst>
      <p:ext uri="{BB962C8B-B14F-4D97-AF65-F5344CB8AC3E}">
        <p14:creationId xmlns:p14="http://schemas.microsoft.com/office/powerpoint/2010/main" val="20126318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Box 5"/>
          <p:cNvSpPr txBox="1">
            <a:spLocks noChangeArrowheads="1"/>
          </p:cNvSpPr>
          <p:nvPr/>
        </p:nvSpPr>
        <p:spPr bwMode="auto">
          <a:xfrm>
            <a:off x="178594" y="636488"/>
            <a:ext cx="78478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600" dirty="0">
                <a:latin typeface="+mn-lt"/>
                <a:cs typeface="Times New Roman" panose="02020603050405020304" pitchFamily="18" charset="0"/>
              </a:rPr>
              <a:t>The </a:t>
            </a:r>
            <a:r>
              <a:rPr lang="en-US" altLang="en-US" sz="1600" dirty="0" smtClean="0">
                <a:latin typeface="+mn-lt"/>
                <a:cs typeface="Times New Roman" panose="02020603050405020304" pitchFamily="18" charset="0"/>
              </a:rPr>
              <a:t>MuleSoft AnyPoint </a:t>
            </a:r>
            <a:r>
              <a:rPr lang="en-US" altLang="en-US" sz="1600" dirty="0">
                <a:latin typeface="+mn-lt"/>
                <a:cs typeface="Times New Roman" panose="02020603050405020304" pitchFamily="18" charset="0"/>
              </a:rPr>
              <a:t>platform is developed using the API-led connectivity:</a:t>
            </a:r>
            <a:endParaRPr lang="en-US" altLang="en-US" sz="1600" dirty="0">
              <a:latin typeface="+mn-lt"/>
            </a:endParaRPr>
          </a:p>
        </p:txBody>
      </p:sp>
      <p:sp>
        <p:nvSpPr>
          <p:cNvPr id="6" name="Title 1">
            <a:extLst>
              <a:ext uri="{FF2B5EF4-FFF2-40B4-BE49-F238E27FC236}">
                <a16:creationId xmlns:a16="http://schemas.microsoft.com/office/drawing/2014/main" id="{8A1426BF-07BF-2045-9CC9-EF4A1AFF019D}"/>
              </a:ext>
            </a:extLst>
          </p:cNvPr>
          <p:cNvSpPr txBox="1">
            <a:spLocks/>
          </p:cNvSpPr>
          <p:nvPr/>
        </p:nvSpPr>
        <p:spPr bwMode="auto">
          <a:xfrm>
            <a:off x="103188" y="0"/>
            <a:ext cx="7011988"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defTabSz="812800" rtl="0" eaLnBrk="0" fontAlgn="base" hangingPunct="0">
              <a:lnSpc>
                <a:spcPct val="90000"/>
              </a:lnSpc>
              <a:spcBef>
                <a:spcPct val="0"/>
              </a:spcBef>
              <a:spcAft>
                <a:spcPct val="0"/>
              </a:spcAft>
              <a:defRPr sz="5335" kern="1200">
                <a:solidFill>
                  <a:schemeClr val="bg1"/>
                </a:solidFill>
                <a:latin typeface="Gabriola" panose="04040605051002020D02" pitchFamily="82" charset="0"/>
                <a:ea typeface="+mj-ea"/>
                <a:cs typeface="+mj-cs"/>
              </a:defRPr>
            </a:lvl1pPr>
            <a:lvl2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2pPr>
            <a:lvl3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3pPr>
            <a:lvl4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4pPr>
            <a:lvl5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5pPr>
            <a:lvl6pPr marL="457200" algn="l" defTabSz="812800" rtl="0" fontAlgn="base">
              <a:lnSpc>
                <a:spcPct val="90000"/>
              </a:lnSpc>
              <a:spcBef>
                <a:spcPct val="0"/>
              </a:spcBef>
              <a:spcAft>
                <a:spcPct val="0"/>
              </a:spcAft>
              <a:defRPr sz="3900">
                <a:solidFill>
                  <a:schemeClr val="tx1"/>
                </a:solidFill>
                <a:latin typeface="Calibri Light" panose="020F0302020204030204" pitchFamily="34" charset="0"/>
              </a:defRPr>
            </a:lvl6pPr>
            <a:lvl7pPr marL="914400" algn="l" defTabSz="812800" rtl="0" fontAlgn="base">
              <a:lnSpc>
                <a:spcPct val="90000"/>
              </a:lnSpc>
              <a:spcBef>
                <a:spcPct val="0"/>
              </a:spcBef>
              <a:spcAft>
                <a:spcPct val="0"/>
              </a:spcAft>
              <a:defRPr sz="3900">
                <a:solidFill>
                  <a:schemeClr val="tx1"/>
                </a:solidFill>
                <a:latin typeface="Calibri Light" panose="020F0302020204030204" pitchFamily="34" charset="0"/>
              </a:defRPr>
            </a:lvl7pPr>
            <a:lvl8pPr marL="1371600" algn="l" defTabSz="812800" rtl="0" fontAlgn="base">
              <a:lnSpc>
                <a:spcPct val="90000"/>
              </a:lnSpc>
              <a:spcBef>
                <a:spcPct val="0"/>
              </a:spcBef>
              <a:spcAft>
                <a:spcPct val="0"/>
              </a:spcAft>
              <a:defRPr sz="3900">
                <a:solidFill>
                  <a:schemeClr val="tx1"/>
                </a:solidFill>
                <a:latin typeface="Calibri Light" panose="020F0302020204030204" pitchFamily="34" charset="0"/>
              </a:defRPr>
            </a:lvl8pPr>
            <a:lvl9pPr marL="1828800" algn="l" defTabSz="812800" rtl="0" fontAlgn="base">
              <a:lnSpc>
                <a:spcPct val="90000"/>
              </a:lnSpc>
              <a:spcBef>
                <a:spcPct val="0"/>
              </a:spcBef>
              <a:spcAft>
                <a:spcPct val="0"/>
              </a:spcAft>
              <a:defRPr sz="3900">
                <a:solidFill>
                  <a:schemeClr val="tx1"/>
                </a:solidFill>
                <a:latin typeface="Calibri Light" panose="020F0302020204030204" pitchFamily="34" charset="0"/>
              </a:defRPr>
            </a:lvl9pPr>
          </a:lstStyle>
          <a:p>
            <a:pPr algn="l"/>
            <a:r>
              <a:rPr lang="en-US" sz="2000" dirty="0">
                <a:latin typeface="+mn-lt"/>
              </a:rPr>
              <a:t>Solution Architecture</a:t>
            </a:r>
          </a:p>
        </p:txBody>
      </p:sp>
      <p:pic>
        <p:nvPicPr>
          <p:cNvPr id="5" name="Picture 6">
            <a:extLst>
              <a:ext uri="{FF2B5EF4-FFF2-40B4-BE49-F238E27FC236}">
                <a16:creationId xmlns:a16="http://schemas.microsoft.com/office/drawing/2014/main" id="{AAC39A63-11E6-3243-A1DD-3BB0F43061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994" y="1373187"/>
            <a:ext cx="3962400" cy="3429000"/>
          </a:xfrm>
          <a:prstGeom prst="rect">
            <a:avLst/>
          </a:prstGeom>
          <a:noFill/>
          <a:ln w="19050">
            <a:solidFill>
              <a:srgbClr val="00206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3109215161"/>
              </p:ext>
            </p:extLst>
          </p:nvPr>
        </p:nvGraphicFramePr>
        <p:xfrm>
          <a:off x="4369594" y="1892232"/>
          <a:ext cx="3581400" cy="2426085"/>
        </p:xfrm>
        <a:graphic>
          <a:graphicData uri="http://schemas.openxmlformats.org/drawingml/2006/table">
            <a:tbl>
              <a:tblPr firstRow="1" bandRow="1">
                <a:tableStyleId>{00A15C55-8517-42AA-B614-E9B94910E393}</a:tableStyleId>
              </a:tblPr>
              <a:tblGrid>
                <a:gridCol w="914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27475">
                <a:tc>
                  <a:txBody>
                    <a:bodyPr/>
                    <a:lstStyle/>
                    <a:p>
                      <a:pPr algn="l"/>
                      <a:r>
                        <a:rPr lang="en-GB" sz="1200" dirty="0" smtClean="0"/>
                        <a:t>Layer </a:t>
                      </a:r>
                      <a:endParaRPr lang="en-GB" sz="1200" dirty="0"/>
                    </a:p>
                  </a:txBody>
                  <a:tcPr anchor="ctr"/>
                </a:tc>
                <a:tc>
                  <a:txBody>
                    <a:bodyPr/>
                    <a:lstStyle/>
                    <a:p>
                      <a:pPr algn="ctr"/>
                      <a:r>
                        <a:rPr lang="en-GB" sz="1200" dirty="0" smtClean="0"/>
                        <a:t>Ownership</a:t>
                      </a:r>
                      <a:endParaRPr lang="en-GB" sz="1200" dirty="0"/>
                    </a:p>
                  </a:txBody>
                  <a:tcPr anchor="ctr"/>
                </a:tc>
                <a:tc>
                  <a:txBody>
                    <a:bodyPr/>
                    <a:lstStyle/>
                    <a:p>
                      <a:pPr algn="ctr"/>
                      <a:r>
                        <a:rPr lang="en-GB" sz="1200" dirty="0" smtClean="0"/>
                        <a:t>Frequency of Changes </a:t>
                      </a:r>
                      <a:endParaRPr lang="en-GB" sz="1200" dirty="0"/>
                    </a:p>
                  </a:txBody>
                  <a:tcPr anchor="ctr"/>
                </a:tc>
                <a:extLst>
                  <a:ext uri="{0D108BD9-81ED-4DB2-BD59-A6C34878D82A}">
                    <a16:rowId xmlns:a16="http://schemas.microsoft.com/office/drawing/2014/main" val="10000"/>
                  </a:ext>
                </a:extLst>
              </a:tr>
              <a:tr h="505845">
                <a:tc>
                  <a:txBody>
                    <a:bodyPr/>
                    <a:lstStyle/>
                    <a:p>
                      <a:pPr marL="0" indent="0" algn="l">
                        <a:buFont typeface="Arial" panose="020B0604020202020204" pitchFamily="34" charset="0"/>
                        <a:buNone/>
                      </a:pPr>
                      <a:r>
                        <a:rPr lang="en-GB" sz="1200" dirty="0" smtClean="0"/>
                        <a:t>System Layer </a:t>
                      </a:r>
                      <a:endParaRPr lang="en-GB" sz="1200" dirty="0"/>
                    </a:p>
                  </a:txBody>
                  <a:tcPr anchor="ctr"/>
                </a:tc>
                <a:tc>
                  <a:txBody>
                    <a:bodyPr/>
                    <a:lstStyle/>
                    <a:p>
                      <a:pPr marL="0" indent="0" algn="ctr">
                        <a:buFont typeface="Arial" panose="020B0604020202020204" pitchFamily="34" charset="0"/>
                        <a:buNone/>
                      </a:pPr>
                      <a:r>
                        <a:rPr lang="en-GB" sz="1200" dirty="0" smtClean="0"/>
                        <a:t>Central</a:t>
                      </a:r>
                      <a:r>
                        <a:rPr lang="en-GB" sz="1200" baseline="0" dirty="0" smtClean="0"/>
                        <a:t> IT</a:t>
                      </a:r>
                      <a:endParaRPr lang="en-GB" sz="1200" dirty="0"/>
                    </a:p>
                  </a:txBody>
                  <a:tcPr anchor="ctr"/>
                </a:tc>
                <a:tc>
                  <a:txBody>
                    <a:bodyPr/>
                    <a:lstStyle/>
                    <a:p>
                      <a:pPr marL="0" indent="0" algn="ctr">
                        <a:buFont typeface="Arial" panose="020B0604020202020204" pitchFamily="34" charset="0"/>
                        <a:buNone/>
                      </a:pPr>
                      <a:r>
                        <a:rPr lang="en-GB" sz="1200" dirty="0" smtClean="0"/>
                        <a:t>6</a:t>
                      </a:r>
                      <a:r>
                        <a:rPr lang="en-GB" sz="1200" baseline="0" dirty="0" smtClean="0"/>
                        <a:t> – 12 Months</a:t>
                      </a:r>
                      <a:endParaRPr lang="en-GB" sz="1200" dirty="0"/>
                    </a:p>
                  </a:txBody>
                  <a:tcPr anchor="ctr"/>
                </a:tc>
                <a:extLst>
                  <a:ext uri="{0D108BD9-81ED-4DB2-BD59-A6C34878D82A}">
                    <a16:rowId xmlns:a16="http://schemas.microsoft.com/office/drawing/2014/main" val="10001"/>
                  </a:ext>
                </a:extLst>
              </a:tr>
              <a:tr h="598465">
                <a:tc>
                  <a:txBody>
                    <a:bodyPr/>
                    <a:lstStyle/>
                    <a:p>
                      <a:pPr marL="0" indent="0" algn="l">
                        <a:buFont typeface="Arial" panose="020B0604020202020204" pitchFamily="34" charset="0"/>
                        <a:buNone/>
                      </a:pPr>
                      <a:r>
                        <a:rPr lang="en-GB" sz="1200" dirty="0" smtClean="0"/>
                        <a:t>Process Layer </a:t>
                      </a:r>
                      <a:endParaRPr lang="en-GB" sz="1200" dirty="0"/>
                    </a:p>
                  </a:txBody>
                  <a:tcPr anchor="ctr"/>
                </a:tc>
                <a:tc>
                  <a:txBody>
                    <a:bodyPr/>
                    <a:lstStyle/>
                    <a:p>
                      <a:pPr marL="0" indent="0" algn="ctr">
                        <a:buFont typeface="Arial" panose="020B0604020202020204" pitchFamily="34" charset="0"/>
                        <a:buNone/>
                      </a:pPr>
                      <a:r>
                        <a:rPr lang="en-GB" sz="1200" dirty="0" smtClean="0"/>
                        <a:t>Central</a:t>
                      </a:r>
                      <a:r>
                        <a:rPr lang="en-GB" sz="1200" baseline="0" dirty="0" smtClean="0"/>
                        <a:t> IT and line of business IT</a:t>
                      </a:r>
                      <a:endParaRPr lang="en-GB" sz="1200" dirty="0"/>
                    </a:p>
                  </a:txBody>
                  <a:tcPr anchor="ctr"/>
                </a:tc>
                <a:tc>
                  <a:txBody>
                    <a:bodyPr/>
                    <a:lstStyle/>
                    <a:p>
                      <a:pPr marL="0" indent="0" algn="ctr">
                        <a:buFont typeface="Arial" panose="020B0604020202020204" pitchFamily="34" charset="0"/>
                        <a:buNone/>
                      </a:pPr>
                      <a:r>
                        <a:rPr lang="en-GB" sz="1200" dirty="0" smtClean="0"/>
                        <a:t>3</a:t>
                      </a:r>
                      <a:r>
                        <a:rPr lang="en-GB" sz="1200" baseline="0" dirty="0" smtClean="0"/>
                        <a:t> – 6 Months </a:t>
                      </a:r>
                      <a:endParaRPr lang="en-GB" sz="1200" dirty="0"/>
                    </a:p>
                  </a:txBody>
                  <a:tcPr anchor="ctr"/>
                </a:tc>
                <a:extLst>
                  <a:ext uri="{0D108BD9-81ED-4DB2-BD59-A6C34878D82A}">
                    <a16:rowId xmlns:a16="http://schemas.microsoft.com/office/drawing/2014/main" val="10002"/>
                  </a:ext>
                </a:extLst>
              </a:tr>
              <a:tr h="769455">
                <a:tc>
                  <a:txBody>
                    <a:bodyPr/>
                    <a:lstStyle/>
                    <a:p>
                      <a:pPr marL="0" indent="0" algn="l">
                        <a:buFont typeface="Arial" panose="020B0604020202020204" pitchFamily="34" charset="0"/>
                        <a:buNone/>
                      </a:pPr>
                      <a:r>
                        <a:rPr lang="en-GB" sz="1200" dirty="0" smtClean="0"/>
                        <a:t>Experience Layer</a:t>
                      </a:r>
                      <a:endParaRPr lang="en-GB" sz="1200" dirty="0"/>
                    </a:p>
                  </a:txBody>
                  <a:tcPr anchor="ctr"/>
                </a:tc>
                <a:tc>
                  <a:txBody>
                    <a:bodyPr/>
                    <a:lstStyle/>
                    <a:p>
                      <a:pPr marL="0" indent="0" algn="ctr">
                        <a:buFont typeface="Arial" panose="020B0604020202020204" pitchFamily="34" charset="0"/>
                        <a:buNone/>
                      </a:pPr>
                      <a:r>
                        <a:rPr lang="en-GB" sz="1200" dirty="0" smtClean="0"/>
                        <a:t>Line of business IT and application</a:t>
                      </a:r>
                      <a:r>
                        <a:rPr lang="en-GB" sz="1200" baseline="0" dirty="0" smtClean="0"/>
                        <a:t> developers </a:t>
                      </a:r>
                      <a:endParaRPr lang="en-GB" sz="1200" dirty="0"/>
                    </a:p>
                  </a:txBody>
                  <a:tcPr anchor="ctr"/>
                </a:tc>
                <a:tc>
                  <a:txBody>
                    <a:bodyPr/>
                    <a:lstStyle/>
                    <a:p>
                      <a:pPr marL="0" indent="0" algn="ctr">
                        <a:buFont typeface="Arial" panose="020B0604020202020204" pitchFamily="34" charset="0"/>
                        <a:buNone/>
                      </a:pPr>
                      <a:r>
                        <a:rPr lang="en-GB" sz="1200" dirty="0" smtClean="0"/>
                        <a:t>4 – 8 Weeks;</a:t>
                      </a:r>
                      <a:r>
                        <a:rPr lang="en-GB" sz="1200" baseline="0" dirty="0" smtClean="0"/>
                        <a:t> more frequently for more mature companies </a:t>
                      </a:r>
                      <a:endParaRPr lang="en-GB" sz="1200" dirty="0"/>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120909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3394" y="1449387"/>
            <a:ext cx="7239000" cy="3742413"/>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2772" name="TextBox 5"/>
          <p:cNvSpPr txBox="1">
            <a:spLocks noChangeArrowheads="1"/>
          </p:cNvSpPr>
          <p:nvPr/>
        </p:nvSpPr>
        <p:spPr bwMode="auto">
          <a:xfrm>
            <a:off x="180182" y="534987"/>
            <a:ext cx="75422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600" dirty="0">
                <a:latin typeface="+mn-lt"/>
              </a:rPr>
              <a:t>Below is an illustrative architecture of how Acme’s Pharma’s new Workday system will mirror. This illustrates the application network and a foundation for new HCM services.  </a:t>
            </a:r>
          </a:p>
        </p:txBody>
      </p:sp>
      <p:sp>
        <p:nvSpPr>
          <p:cNvPr id="6" name="Title 1">
            <a:extLst>
              <a:ext uri="{FF2B5EF4-FFF2-40B4-BE49-F238E27FC236}">
                <a16:creationId xmlns:a16="http://schemas.microsoft.com/office/drawing/2014/main" id="{8A1426BF-07BF-2045-9CC9-EF4A1AFF019D}"/>
              </a:ext>
            </a:extLst>
          </p:cNvPr>
          <p:cNvSpPr txBox="1">
            <a:spLocks/>
          </p:cNvSpPr>
          <p:nvPr/>
        </p:nvSpPr>
        <p:spPr bwMode="auto">
          <a:xfrm>
            <a:off x="103188" y="0"/>
            <a:ext cx="7011988"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defTabSz="812800" rtl="0" eaLnBrk="0" fontAlgn="base" hangingPunct="0">
              <a:lnSpc>
                <a:spcPct val="90000"/>
              </a:lnSpc>
              <a:spcBef>
                <a:spcPct val="0"/>
              </a:spcBef>
              <a:spcAft>
                <a:spcPct val="0"/>
              </a:spcAft>
              <a:defRPr sz="5335" kern="1200">
                <a:solidFill>
                  <a:schemeClr val="bg1"/>
                </a:solidFill>
                <a:latin typeface="Gabriola" panose="04040605051002020D02" pitchFamily="82" charset="0"/>
                <a:ea typeface="+mj-ea"/>
                <a:cs typeface="+mj-cs"/>
              </a:defRPr>
            </a:lvl1pPr>
            <a:lvl2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2pPr>
            <a:lvl3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3pPr>
            <a:lvl4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4pPr>
            <a:lvl5pPr algn="l" defTabSz="812800" rtl="0" eaLnBrk="0" fontAlgn="base" hangingPunct="0">
              <a:lnSpc>
                <a:spcPct val="90000"/>
              </a:lnSpc>
              <a:spcBef>
                <a:spcPct val="0"/>
              </a:spcBef>
              <a:spcAft>
                <a:spcPct val="0"/>
              </a:spcAft>
              <a:defRPr sz="2400">
                <a:solidFill>
                  <a:schemeClr val="bg1"/>
                </a:solidFill>
                <a:latin typeface="Gabriola" panose="04040605051002020D02" pitchFamily="82" charset="0"/>
              </a:defRPr>
            </a:lvl5pPr>
            <a:lvl6pPr marL="457200" algn="l" defTabSz="812800" rtl="0" fontAlgn="base">
              <a:lnSpc>
                <a:spcPct val="90000"/>
              </a:lnSpc>
              <a:spcBef>
                <a:spcPct val="0"/>
              </a:spcBef>
              <a:spcAft>
                <a:spcPct val="0"/>
              </a:spcAft>
              <a:defRPr sz="3900">
                <a:solidFill>
                  <a:schemeClr val="tx1"/>
                </a:solidFill>
                <a:latin typeface="Calibri Light" panose="020F0302020204030204" pitchFamily="34" charset="0"/>
              </a:defRPr>
            </a:lvl6pPr>
            <a:lvl7pPr marL="914400" algn="l" defTabSz="812800" rtl="0" fontAlgn="base">
              <a:lnSpc>
                <a:spcPct val="90000"/>
              </a:lnSpc>
              <a:spcBef>
                <a:spcPct val="0"/>
              </a:spcBef>
              <a:spcAft>
                <a:spcPct val="0"/>
              </a:spcAft>
              <a:defRPr sz="3900">
                <a:solidFill>
                  <a:schemeClr val="tx1"/>
                </a:solidFill>
                <a:latin typeface="Calibri Light" panose="020F0302020204030204" pitchFamily="34" charset="0"/>
              </a:defRPr>
            </a:lvl7pPr>
            <a:lvl8pPr marL="1371600" algn="l" defTabSz="812800" rtl="0" fontAlgn="base">
              <a:lnSpc>
                <a:spcPct val="90000"/>
              </a:lnSpc>
              <a:spcBef>
                <a:spcPct val="0"/>
              </a:spcBef>
              <a:spcAft>
                <a:spcPct val="0"/>
              </a:spcAft>
              <a:defRPr sz="3900">
                <a:solidFill>
                  <a:schemeClr val="tx1"/>
                </a:solidFill>
                <a:latin typeface="Calibri Light" panose="020F0302020204030204" pitchFamily="34" charset="0"/>
              </a:defRPr>
            </a:lvl8pPr>
            <a:lvl9pPr marL="1828800" algn="l" defTabSz="812800" rtl="0" fontAlgn="base">
              <a:lnSpc>
                <a:spcPct val="90000"/>
              </a:lnSpc>
              <a:spcBef>
                <a:spcPct val="0"/>
              </a:spcBef>
              <a:spcAft>
                <a:spcPct val="0"/>
              </a:spcAft>
              <a:defRPr sz="3900">
                <a:solidFill>
                  <a:schemeClr val="tx1"/>
                </a:solidFill>
                <a:latin typeface="Calibri Light" panose="020F0302020204030204" pitchFamily="34" charset="0"/>
              </a:defRPr>
            </a:lvl9pPr>
          </a:lstStyle>
          <a:p>
            <a:pPr algn="l"/>
            <a:r>
              <a:rPr lang="en-US" sz="2000" dirty="0">
                <a:latin typeface="+mn-lt"/>
              </a:rPr>
              <a:t>Solution Architecture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88" y="0"/>
            <a:ext cx="7011987" cy="382588"/>
          </a:xfrm>
        </p:spPr>
        <p:txBody>
          <a:bodyPr rtlCol="0">
            <a:normAutofit fontScale="90000"/>
          </a:bodyPr>
          <a:lstStyle/>
          <a:p>
            <a:pPr eaLnBrk="1" hangingPunct="1">
              <a:defRPr/>
            </a:pPr>
            <a:r>
              <a:rPr lang="en-US" dirty="0">
                <a:latin typeface="+mn-lt"/>
              </a:rPr>
              <a:t>Project Phases, Timeline and Resource Allocation</a:t>
            </a:r>
          </a:p>
        </p:txBody>
      </p:sp>
      <p:sp>
        <p:nvSpPr>
          <p:cNvPr id="4" name="object 28">
            <a:extLst>
              <a:ext uri="{FF2B5EF4-FFF2-40B4-BE49-F238E27FC236}">
                <a16:creationId xmlns:a16="http://schemas.microsoft.com/office/drawing/2014/main" id="{A75BC22E-3377-5E46-934C-E94D55BBD6B4}"/>
              </a:ext>
            </a:extLst>
          </p:cNvPr>
          <p:cNvSpPr/>
          <p:nvPr/>
        </p:nvSpPr>
        <p:spPr>
          <a:xfrm>
            <a:off x="106233" y="1209884"/>
            <a:ext cx="7759732" cy="3411684"/>
          </a:xfrm>
          <a:custGeom>
            <a:avLst/>
            <a:gdLst/>
            <a:ahLst/>
            <a:cxnLst/>
            <a:rect l="l" t="t" r="r" b="b"/>
            <a:pathLst>
              <a:path w="11862435" h="4251960">
                <a:moveTo>
                  <a:pt x="0" y="0"/>
                </a:moveTo>
                <a:lnTo>
                  <a:pt x="11862054" y="0"/>
                </a:lnTo>
                <a:lnTo>
                  <a:pt x="11862054" y="4251960"/>
                </a:lnTo>
                <a:lnTo>
                  <a:pt x="0" y="4251960"/>
                </a:lnTo>
                <a:lnTo>
                  <a:pt x="0" y="0"/>
                </a:lnTo>
                <a:close/>
              </a:path>
            </a:pathLst>
          </a:custGeom>
          <a:solidFill>
            <a:srgbClr val="F2F2F2"/>
          </a:solidFill>
        </p:spPr>
        <p:txBody>
          <a:bodyPr wrap="square" lIns="0" tIns="0" rIns="0" bIns="0" rtlCol="0"/>
          <a:lstStyle/>
          <a:p>
            <a:endParaRPr dirty="0">
              <a:latin typeface="+mn-lt"/>
            </a:endParaRPr>
          </a:p>
        </p:txBody>
      </p:sp>
      <p:sp>
        <p:nvSpPr>
          <p:cNvPr id="5" name="object 29">
            <a:extLst>
              <a:ext uri="{FF2B5EF4-FFF2-40B4-BE49-F238E27FC236}">
                <a16:creationId xmlns:a16="http://schemas.microsoft.com/office/drawing/2014/main" id="{FA65CFE1-1C29-104A-B808-6B9107C640AE}"/>
              </a:ext>
            </a:extLst>
          </p:cNvPr>
          <p:cNvSpPr/>
          <p:nvPr/>
        </p:nvSpPr>
        <p:spPr>
          <a:xfrm>
            <a:off x="110077" y="577051"/>
            <a:ext cx="7763793" cy="257021"/>
          </a:xfrm>
          <a:custGeom>
            <a:avLst/>
            <a:gdLst/>
            <a:ahLst/>
            <a:cxnLst/>
            <a:rect l="l" t="t" r="r" b="b"/>
            <a:pathLst>
              <a:path w="11839575" h="375285">
                <a:moveTo>
                  <a:pt x="0" y="0"/>
                </a:moveTo>
                <a:lnTo>
                  <a:pt x="11839194" y="0"/>
                </a:lnTo>
                <a:lnTo>
                  <a:pt x="11839194" y="374903"/>
                </a:lnTo>
                <a:lnTo>
                  <a:pt x="0" y="374903"/>
                </a:lnTo>
                <a:lnTo>
                  <a:pt x="0" y="0"/>
                </a:lnTo>
                <a:close/>
              </a:path>
            </a:pathLst>
          </a:custGeom>
          <a:solidFill>
            <a:srgbClr val="00338D"/>
          </a:solidFill>
        </p:spPr>
        <p:txBody>
          <a:bodyPr wrap="square" lIns="0" tIns="0" rIns="0" bIns="0" rtlCol="0"/>
          <a:lstStyle/>
          <a:p>
            <a:endParaRPr dirty="0">
              <a:latin typeface="+mn-lt"/>
            </a:endParaRPr>
          </a:p>
        </p:txBody>
      </p:sp>
      <p:sp>
        <p:nvSpPr>
          <p:cNvPr id="7" name="object 33">
            <a:extLst>
              <a:ext uri="{FF2B5EF4-FFF2-40B4-BE49-F238E27FC236}">
                <a16:creationId xmlns:a16="http://schemas.microsoft.com/office/drawing/2014/main" id="{482BD115-C282-404C-8C30-8DD7D29E68EF}"/>
              </a:ext>
            </a:extLst>
          </p:cNvPr>
          <p:cNvSpPr/>
          <p:nvPr/>
        </p:nvSpPr>
        <p:spPr>
          <a:xfrm>
            <a:off x="156765" y="1272085"/>
            <a:ext cx="1140866" cy="363855"/>
          </a:xfrm>
          <a:custGeom>
            <a:avLst/>
            <a:gdLst/>
            <a:ahLst/>
            <a:cxnLst/>
            <a:rect l="l" t="t" r="r" b="b"/>
            <a:pathLst>
              <a:path w="875665" h="756919">
                <a:moveTo>
                  <a:pt x="761873" y="0"/>
                </a:moveTo>
                <a:lnTo>
                  <a:pt x="0" y="0"/>
                </a:lnTo>
                <a:lnTo>
                  <a:pt x="0" y="756666"/>
                </a:lnTo>
                <a:lnTo>
                  <a:pt x="761873" y="756666"/>
                </a:lnTo>
                <a:lnTo>
                  <a:pt x="875538" y="378333"/>
                </a:lnTo>
                <a:lnTo>
                  <a:pt x="761873" y="0"/>
                </a:lnTo>
                <a:close/>
              </a:path>
            </a:pathLst>
          </a:custGeom>
          <a:solidFill>
            <a:srgbClr val="FFFFFF"/>
          </a:solidFill>
        </p:spPr>
        <p:txBody>
          <a:bodyPr wrap="square" lIns="0" tIns="0" rIns="0" bIns="0" rtlCol="0"/>
          <a:lstStyle/>
          <a:p>
            <a:endParaRPr dirty="0">
              <a:latin typeface="+mn-lt"/>
            </a:endParaRPr>
          </a:p>
        </p:txBody>
      </p:sp>
      <p:sp>
        <p:nvSpPr>
          <p:cNvPr id="8" name="object 38">
            <a:extLst>
              <a:ext uri="{FF2B5EF4-FFF2-40B4-BE49-F238E27FC236}">
                <a16:creationId xmlns:a16="http://schemas.microsoft.com/office/drawing/2014/main" id="{0E2B4E24-9E6D-9F45-B5AA-2DFB95C10894}"/>
              </a:ext>
            </a:extLst>
          </p:cNvPr>
          <p:cNvSpPr/>
          <p:nvPr/>
        </p:nvSpPr>
        <p:spPr>
          <a:xfrm>
            <a:off x="157217" y="1720822"/>
            <a:ext cx="1609448" cy="363855"/>
          </a:xfrm>
          <a:custGeom>
            <a:avLst/>
            <a:gdLst/>
            <a:ahLst/>
            <a:cxnLst/>
            <a:rect l="l" t="t" r="r" b="b"/>
            <a:pathLst>
              <a:path w="4213225" h="363855">
                <a:moveTo>
                  <a:pt x="4031361" y="0"/>
                </a:moveTo>
                <a:lnTo>
                  <a:pt x="0" y="0"/>
                </a:lnTo>
                <a:lnTo>
                  <a:pt x="0" y="363474"/>
                </a:lnTo>
                <a:lnTo>
                  <a:pt x="4031361" y="363474"/>
                </a:lnTo>
                <a:lnTo>
                  <a:pt x="4213098" y="181737"/>
                </a:lnTo>
                <a:lnTo>
                  <a:pt x="4031361" y="0"/>
                </a:lnTo>
                <a:close/>
              </a:path>
            </a:pathLst>
          </a:custGeom>
          <a:solidFill>
            <a:srgbClr val="FFFFFF"/>
          </a:solidFill>
        </p:spPr>
        <p:txBody>
          <a:bodyPr wrap="square" lIns="0" tIns="0" rIns="0" bIns="0" rtlCol="0"/>
          <a:lstStyle/>
          <a:p>
            <a:endParaRPr>
              <a:latin typeface="+mn-lt"/>
            </a:endParaRPr>
          </a:p>
        </p:txBody>
      </p:sp>
      <p:sp>
        <p:nvSpPr>
          <p:cNvPr id="9" name="object 59">
            <a:extLst>
              <a:ext uri="{FF2B5EF4-FFF2-40B4-BE49-F238E27FC236}">
                <a16:creationId xmlns:a16="http://schemas.microsoft.com/office/drawing/2014/main" id="{3E064D05-7660-7040-8842-E05066C55D06}"/>
              </a:ext>
            </a:extLst>
          </p:cNvPr>
          <p:cNvSpPr/>
          <p:nvPr/>
        </p:nvSpPr>
        <p:spPr>
          <a:xfrm>
            <a:off x="952850" y="861759"/>
            <a:ext cx="775505" cy="319676"/>
          </a:xfrm>
          <a:custGeom>
            <a:avLst/>
            <a:gdLst/>
            <a:ahLst/>
            <a:cxnLst/>
            <a:rect l="l" t="t" r="r" b="b"/>
            <a:pathLst>
              <a:path w="796289" h="384175">
                <a:moveTo>
                  <a:pt x="0" y="0"/>
                </a:moveTo>
                <a:lnTo>
                  <a:pt x="796290" y="0"/>
                </a:lnTo>
                <a:lnTo>
                  <a:pt x="796290" y="384048"/>
                </a:lnTo>
                <a:lnTo>
                  <a:pt x="0" y="384048"/>
                </a:lnTo>
                <a:lnTo>
                  <a:pt x="0" y="0"/>
                </a:lnTo>
                <a:close/>
              </a:path>
            </a:pathLst>
          </a:custGeom>
          <a:solidFill>
            <a:srgbClr val="000000"/>
          </a:solidFill>
        </p:spPr>
        <p:txBody>
          <a:bodyPr wrap="square" lIns="0" tIns="0" rIns="0" bIns="0" rtlCol="0"/>
          <a:lstStyle/>
          <a:p>
            <a:endParaRPr>
              <a:latin typeface="+mn-lt"/>
            </a:endParaRPr>
          </a:p>
        </p:txBody>
      </p:sp>
      <p:sp>
        <p:nvSpPr>
          <p:cNvPr id="10" name="object 60">
            <a:extLst>
              <a:ext uri="{FF2B5EF4-FFF2-40B4-BE49-F238E27FC236}">
                <a16:creationId xmlns:a16="http://schemas.microsoft.com/office/drawing/2014/main" id="{013A1EED-3847-0A47-8ABF-18F468899276}"/>
              </a:ext>
            </a:extLst>
          </p:cNvPr>
          <p:cNvSpPr/>
          <p:nvPr/>
        </p:nvSpPr>
        <p:spPr>
          <a:xfrm>
            <a:off x="1766665" y="861759"/>
            <a:ext cx="774887" cy="319676"/>
          </a:xfrm>
          <a:custGeom>
            <a:avLst/>
            <a:gdLst/>
            <a:ahLst/>
            <a:cxnLst/>
            <a:rect l="l" t="t" r="r" b="b"/>
            <a:pathLst>
              <a:path w="795655" h="384175">
                <a:moveTo>
                  <a:pt x="0" y="0"/>
                </a:moveTo>
                <a:lnTo>
                  <a:pt x="795527" y="0"/>
                </a:lnTo>
                <a:lnTo>
                  <a:pt x="795527" y="384048"/>
                </a:lnTo>
                <a:lnTo>
                  <a:pt x="0" y="384048"/>
                </a:lnTo>
                <a:lnTo>
                  <a:pt x="0" y="0"/>
                </a:lnTo>
                <a:close/>
              </a:path>
            </a:pathLst>
          </a:custGeom>
          <a:solidFill>
            <a:srgbClr val="000000"/>
          </a:solidFill>
        </p:spPr>
        <p:txBody>
          <a:bodyPr wrap="square" lIns="0" tIns="0" rIns="0" bIns="0" rtlCol="0"/>
          <a:lstStyle/>
          <a:p>
            <a:endParaRPr>
              <a:latin typeface="+mn-lt"/>
            </a:endParaRPr>
          </a:p>
        </p:txBody>
      </p:sp>
      <p:sp>
        <p:nvSpPr>
          <p:cNvPr id="11" name="object 61">
            <a:extLst>
              <a:ext uri="{FF2B5EF4-FFF2-40B4-BE49-F238E27FC236}">
                <a16:creationId xmlns:a16="http://schemas.microsoft.com/office/drawing/2014/main" id="{65223635-889B-7443-819C-D182E6BAE531}"/>
              </a:ext>
            </a:extLst>
          </p:cNvPr>
          <p:cNvSpPr/>
          <p:nvPr/>
        </p:nvSpPr>
        <p:spPr>
          <a:xfrm>
            <a:off x="2604104" y="862521"/>
            <a:ext cx="856519" cy="314920"/>
          </a:xfrm>
          <a:custGeom>
            <a:avLst/>
            <a:gdLst/>
            <a:ahLst/>
            <a:cxnLst/>
            <a:rect l="l" t="t" r="r" b="b"/>
            <a:pathLst>
              <a:path w="879475" h="378460">
                <a:moveTo>
                  <a:pt x="0" y="0"/>
                </a:moveTo>
                <a:lnTo>
                  <a:pt x="879348" y="0"/>
                </a:lnTo>
                <a:lnTo>
                  <a:pt x="879348" y="377951"/>
                </a:lnTo>
                <a:lnTo>
                  <a:pt x="0" y="377951"/>
                </a:lnTo>
                <a:lnTo>
                  <a:pt x="0" y="0"/>
                </a:lnTo>
                <a:close/>
              </a:path>
            </a:pathLst>
          </a:custGeom>
          <a:solidFill>
            <a:srgbClr val="000000"/>
          </a:solidFill>
        </p:spPr>
        <p:txBody>
          <a:bodyPr wrap="square" lIns="0" tIns="0" rIns="0" bIns="0" rtlCol="0"/>
          <a:lstStyle/>
          <a:p>
            <a:endParaRPr>
              <a:latin typeface="+mn-lt"/>
            </a:endParaRPr>
          </a:p>
        </p:txBody>
      </p:sp>
      <p:sp>
        <p:nvSpPr>
          <p:cNvPr id="12" name="object 62">
            <a:extLst>
              <a:ext uri="{FF2B5EF4-FFF2-40B4-BE49-F238E27FC236}">
                <a16:creationId xmlns:a16="http://schemas.microsoft.com/office/drawing/2014/main" id="{52148B36-5B72-B14D-8081-794DEFEAFADC}"/>
              </a:ext>
            </a:extLst>
          </p:cNvPr>
          <p:cNvSpPr/>
          <p:nvPr/>
        </p:nvSpPr>
        <p:spPr>
          <a:xfrm>
            <a:off x="3529171" y="860997"/>
            <a:ext cx="799624" cy="319676"/>
          </a:xfrm>
          <a:custGeom>
            <a:avLst/>
            <a:gdLst/>
            <a:ahLst/>
            <a:cxnLst/>
            <a:rect l="l" t="t" r="r" b="b"/>
            <a:pathLst>
              <a:path w="821054" h="384175">
                <a:moveTo>
                  <a:pt x="0" y="0"/>
                </a:moveTo>
                <a:lnTo>
                  <a:pt x="820674" y="0"/>
                </a:lnTo>
                <a:lnTo>
                  <a:pt x="820674" y="384048"/>
                </a:lnTo>
                <a:lnTo>
                  <a:pt x="0" y="384048"/>
                </a:lnTo>
                <a:lnTo>
                  <a:pt x="0" y="0"/>
                </a:lnTo>
                <a:close/>
              </a:path>
            </a:pathLst>
          </a:custGeom>
          <a:solidFill>
            <a:srgbClr val="000000"/>
          </a:solidFill>
        </p:spPr>
        <p:txBody>
          <a:bodyPr wrap="square" lIns="0" tIns="0" rIns="0" bIns="0" rtlCol="0"/>
          <a:lstStyle/>
          <a:p>
            <a:endParaRPr>
              <a:latin typeface="+mn-lt"/>
            </a:endParaRPr>
          </a:p>
        </p:txBody>
      </p:sp>
      <p:sp>
        <p:nvSpPr>
          <p:cNvPr id="13" name="object 63">
            <a:extLst>
              <a:ext uri="{FF2B5EF4-FFF2-40B4-BE49-F238E27FC236}">
                <a16:creationId xmlns:a16="http://schemas.microsoft.com/office/drawing/2014/main" id="{45DEE949-AA14-2442-9DB6-9B181D9C9C76}"/>
              </a:ext>
            </a:extLst>
          </p:cNvPr>
          <p:cNvSpPr/>
          <p:nvPr/>
        </p:nvSpPr>
        <p:spPr>
          <a:xfrm>
            <a:off x="4399375" y="860996"/>
            <a:ext cx="850953" cy="315449"/>
          </a:xfrm>
          <a:custGeom>
            <a:avLst/>
            <a:gdLst/>
            <a:ahLst/>
            <a:cxnLst/>
            <a:rect l="l" t="t" r="r" b="b"/>
            <a:pathLst>
              <a:path w="873760" h="379094">
                <a:moveTo>
                  <a:pt x="0" y="0"/>
                </a:moveTo>
                <a:lnTo>
                  <a:pt x="873251" y="0"/>
                </a:lnTo>
                <a:lnTo>
                  <a:pt x="873251" y="378713"/>
                </a:lnTo>
                <a:lnTo>
                  <a:pt x="0" y="378713"/>
                </a:lnTo>
                <a:lnTo>
                  <a:pt x="0" y="0"/>
                </a:lnTo>
                <a:close/>
              </a:path>
            </a:pathLst>
          </a:custGeom>
          <a:solidFill>
            <a:srgbClr val="000000"/>
          </a:solidFill>
        </p:spPr>
        <p:txBody>
          <a:bodyPr wrap="square" lIns="0" tIns="0" rIns="0" bIns="0" rtlCol="0"/>
          <a:lstStyle/>
          <a:p>
            <a:endParaRPr>
              <a:latin typeface="+mn-lt"/>
            </a:endParaRPr>
          </a:p>
        </p:txBody>
      </p:sp>
      <p:sp>
        <p:nvSpPr>
          <p:cNvPr id="14" name="object 64">
            <a:extLst>
              <a:ext uri="{FF2B5EF4-FFF2-40B4-BE49-F238E27FC236}">
                <a16:creationId xmlns:a16="http://schemas.microsoft.com/office/drawing/2014/main" id="{B3EAB2BB-0854-684B-83B7-E75C6B9B1FC7}"/>
              </a:ext>
            </a:extLst>
          </p:cNvPr>
          <p:cNvSpPr/>
          <p:nvPr/>
        </p:nvSpPr>
        <p:spPr>
          <a:xfrm>
            <a:off x="5325206" y="860996"/>
            <a:ext cx="856519" cy="315977"/>
          </a:xfrm>
          <a:custGeom>
            <a:avLst/>
            <a:gdLst/>
            <a:ahLst/>
            <a:cxnLst/>
            <a:rect l="l" t="t" r="r" b="b"/>
            <a:pathLst>
              <a:path w="879475" h="379730">
                <a:moveTo>
                  <a:pt x="0" y="0"/>
                </a:moveTo>
                <a:lnTo>
                  <a:pt x="879348" y="0"/>
                </a:lnTo>
                <a:lnTo>
                  <a:pt x="879348" y="379475"/>
                </a:lnTo>
                <a:lnTo>
                  <a:pt x="0" y="379475"/>
                </a:lnTo>
                <a:lnTo>
                  <a:pt x="0" y="0"/>
                </a:lnTo>
                <a:close/>
              </a:path>
            </a:pathLst>
          </a:custGeom>
          <a:solidFill>
            <a:srgbClr val="000000"/>
          </a:solidFill>
        </p:spPr>
        <p:txBody>
          <a:bodyPr wrap="square" lIns="0" tIns="0" rIns="0" bIns="0" rtlCol="0"/>
          <a:lstStyle/>
          <a:p>
            <a:endParaRPr>
              <a:latin typeface="+mn-lt"/>
            </a:endParaRPr>
          </a:p>
        </p:txBody>
      </p:sp>
      <p:sp>
        <p:nvSpPr>
          <p:cNvPr id="15" name="object 65">
            <a:extLst>
              <a:ext uri="{FF2B5EF4-FFF2-40B4-BE49-F238E27FC236}">
                <a16:creationId xmlns:a16="http://schemas.microsoft.com/office/drawing/2014/main" id="{B4DEF8B8-F074-DD47-B87F-9FA8E1E6FACA}"/>
              </a:ext>
            </a:extLst>
          </p:cNvPr>
          <p:cNvSpPr/>
          <p:nvPr/>
        </p:nvSpPr>
        <p:spPr>
          <a:xfrm>
            <a:off x="6258656" y="860996"/>
            <a:ext cx="856519" cy="315977"/>
          </a:xfrm>
          <a:custGeom>
            <a:avLst/>
            <a:gdLst/>
            <a:ahLst/>
            <a:cxnLst/>
            <a:rect l="l" t="t" r="r" b="b"/>
            <a:pathLst>
              <a:path w="879475" h="379730">
                <a:moveTo>
                  <a:pt x="0" y="0"/>
                </a:moveTo>
                <a:lnTo>
                  <a:pt x="879348" y="0"/>
                </a:lnTo>
                <a:lnTo>
                  <a:pt x="879348" y="379475"/>
                </a:lnTo>
                <a:lnTo>
                  <a:pt x="0" y="379475"/>
                </a:lnTo>
                <a:lnTo>
                  <a:pt x="0" y="0"/>
                </a:lnTo>
                <a:close/>
              </a:path>
            </a:pathLst>
          </a:custGeom>
          <a:solidFill>
            <a:srgbClr val="000000"/>
          </a:solidFill>
        </p:spPr>
        <p:txBody>
          <a:bodyPr wrap="square" lIns="0" tIns="0" rIns="0" bIns="0" rtlCol="0"/>
          <a:lstStyle/>
          <a:p>
            <a:endParaRPr>
              <a:latin typeface="+mn-lt"/>
            </a:endParaRPr>
          </a:p>
        </p:txBody>
      </p:sp>
      <p:sp>
        <p:nvSpPr>
          <p:cNvPr id="16" name="object 66">
            <a:extLst>
              <a:ext uri="{FF2B5EF4-FFF2-40B4-BE49-F238E27FC236}">
                <a16:creationId xmlns:a16="http://schemas.microsoft.com/office/drawing/2014/main" id="{94CE10E9-93AF-7C4D-9FB9-1628C8C734B9}"/>
              </a:ext>
            </a:extLst>
          </p:cNvPr>
          <p:cNvSpPr/>
          <p:nvPr/>
        </p:nvSpPr>
        <p:spPr>
          <a:xfrm>
            <a:off x="7182961" y="860996"/>
            <a:ext cx="690909" cy="315977"/>
          </a:xfrm>
          <a:custGeom>
            <a:avLst/>
            <a:gdLst/>
            <a:ahLst/>
            <a:cxnLst/>
            <a:rect l="l" t="t" r="r" b="b"/>
            <a:pathLst>
              <a:path w="879475" h="379730">
                <a:moveTo>
                  <a:pt x="0" y="0"/>
                </a:moveTo>
                <a:lnTo>
                  <a:pt x="879348" y="0"/>
                </a:lnTo>
                <a:lnTo>
                  <a:pt x="879348" y="379475"/>
                </a:lnTo>
                <a:lnTo>
                  <a:pt x="0" y="379475"/>
                </a:lnTo>
                <a:lnTo>
                  <a:pt x="0" y="0"/>
                </a:lnTo>
                <a:close/>
              </a:path>
            </a:pathLst>
          </a:custGeom>
          <a:solidFill>
            <a:srgbClr val="000000"/>
          </a:solidFill>
        </p:spPr>
        <p:txBody>
          <a:bodyPr wrap="square" lIns="0" tIns="0" rIns="0" bIns="0" rtlCol="0"/>
          <a:lstStyle/>
          <a:p>
            <a:endParaRPr>
              <a:latin typeface="+mn-lt"/>
            </a:endParaRPr>
          </a:p>
        </p:txBody>
      </p:sp>
      <p:sp>
        <p:nvSpPr>
          <p:cNvPr id="17" name="object 67">
            <a:extLst>
              <a:ext uri="{FF2B5EF4-FFF2-40B4-BE49-F238E27FC236}">
                <a16:creationId xmlns:a16="http://schemas.microsoft.com/office/drawing/2014/main" id="{DEE47ED8-CF5A-774B-A905-BBD965726BC5}"/>
              </a:ext>
            </a:extLst>
          </p:cNvPr>
          <p:cNvSpPr/>
          <p:nvPr/>
        </p:nvSpPr>
        <p:spPr>
          <a:xfrm>
            <a:off x="110077" y="862521"/>
            <a:ext cx="775505" cy="320204"/>
          </a:xfrm>
          <a:custGeom>
            <a:avLst/>
            <a:gdLst/>
            <a:ahLst/>
            <a:cxnLst/>
            <a:rect l="l" t="t" r="r" b="b"/>
            <a:pathLst>
              <a:path w="796290" h="384810">
                <a:moveTo>
                  <a:pt x="0" y="0"/>
                </a:moveTo>
                <a:lnTo>
                  <a:pt x="796290" y="0"/>
                </a:lnTo>
                <a:lnTo>
                  <a:pt x="796290" y="384810"/>
                </a:lnTo>
                <a:lnTo>
                  <a:pt x="0" y="384810"/>
                </a:lnTo>
                <a:lnTo>
                  <a:pt x="0" y="0"/>
                </a:lnTo>
                <a:close/>
              </a:path>
            </a:pathLst>
          </a:custGeom>
          <a:solidFill>
            <a:srgbClr val="000000"/>
          </a:solidFill>
        </p:spPr>
        <p:txBody>
          <a:bodyPr wrap="square" lIns="0" tIns="0" rIns="0" bIns="0" rtlCol="0"/>
          <a:lstStyle/>
          <a:p>
            <a:endParaRPr>
              <a:latin typeface="+mn-lt"/>
            </a:endParaRPr>
          </a:p>
        </p:txBody>
      </p:sp>
      <p:sp>
        <p:nvSpPr>
          <p:cNvPr id="18" name="object 75">
            <a:extLst>
              <a:ext uri="{FF2B5EF4-FFF2-40B4-BE49-F238E27FC236}">
                <a16:creationId xmlns:a16="http://schemas.microsoft.com/office/drawing/2014/main" id="{A3B15592-C756-FF47-A69A-42C67870BCB1}"/>
              </a:ext>
            </a:extLst>
          </p:cNvPr>
          <p:cNvSpPr/>
          <p:nvPr/>
        </p:nvSpPr>
        <p:spPr>
          <a:xfrm>
            <a:off x="1267228" y="2192466"/>
            <a:ext cx="1596115"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rgbClr val="FFFFFF"/>
          </a:solidFill>
        </p:spPr>
        <p:txBody>
          <a:bodyPr wrap="square" lIns="0" tIns="0" rIns="0" bIns="0" rtlCol="0"/>
          <a:lstStyle/>
          <a:p>
            <a:endParaRPr sz="1000">
              <a:latin typeface="+mn-lt"/>
            </a:endParaRPr>
          </a:p>
        </p:txBody>
      </p:sp>
      <p:sp>
        <p:nvSpPr>
          <p:cNvPr id="19" name="object 15">
            <a:extLst>
              <a:ext uri="{FF2B5EF4-FFF2-40B4-BE49-F238E27FC236}">
                <a16:creationId xmlns:a16="http://schemas.microsoft.com/office/drawing/2014/main" id="{5FACE969-D2D8-6048-A5C6-135059EB11D9}"/>
              </a:ext>
            </a:extLst>
          </p:cNvPr>
          <p:cNvSpPr/>
          <p:nvPr/>
        </p:nvSpPr>
        <p:spPr>
          <a:xfrm>
            <a:off x="6768325" y="5407570"/>
            <a:ext cx="226347" cy="163736"/>
          </a:xfrm>
          <a:custGeom>
            <a:avLst/>
            <a:gdLst/>
            <a:ahLst/>
            <a:cxnLst/>
            <a:rect l="l" t="t" r="r" b="b"/>
            <a:pathLst>
              <a:path w="170815" h="182879">
                <a:moveTo>
                  <a:pt x="85344" y="0"/>
                </a:moveTo>
                <a:lnTo>
                  <a:pt x="0" y="91439"/>
                </a:lnTo>
                <a:lnTo>
                  <a:pt x="85344" y="182879"/>
                </a:lnTo>
                <a:lnTo>
                  <a:pt x="170688" y="91439"/>
                </a:lnTo>
                <a:lnTo>
                  <a:pt x="85344" y="0"/>
                </a:lnTo>
                <a:close/>
              </a:path>
            </a:pathLst>
          </a:custGeom>
          <a:solidFill>
            <a:srgbClr val="FF0000"/>
          </a:solidFill>
        </p:spPr>
        <p:txBody>
          <a:bodyPr wrap="square" lIns="0" tIns="0" rIns="0" bIns="0" rtlCol="0"/>
          <a:lstStyle/>
          <a:p>
            <a:endParaRPr sz="1000" b="1">
              <a:latin typeface="+mn-lt"/>
            </a:endParaRPr>
          </a:p>
        </p:txBody>
      </p:sp>
      <p:sp>
        <p:nvSpPr>
          <p:cNvPr id="20" name="object 16">
            <a:extLst>
              <a:ext uri="{FF2B5EF4-FFF2-40B4-BE49-F238E27FC236}">
                <a16:creationId xmlns:a16="http://schemas.microsoft.com/office/drawing/2014/main" id="{0DA4B4A0-7890-D04E-8E4E-50927F37D770}"/>
              </a:ext>
            </a:extLst>
          </p:cNvPr>
          <p:cNvSpPr/>
          <p:nvPr/>
        </p:nvSpPr>
        <p:spPr>
          <a:xfrm>
            <a:off x="5650490" y="5411787"/>
            <a:ext cx="227864" cy="1828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2272FF"/>
          </a:solidFill>
        </p:spPr>
        <p:txBody>
          <a:bodyPr wrap="square" lIns="0" tIns="0" rIns="0" bIns="0" rtlCol="0"/>
          <a:lstStyle/>
          <a:p>
            <a:endParaRPr sz="1000" b="1">
              <a:latin typeface="+mn-lt"/>
            </a:endParaRPr>
          </a:p>
        </p:txBody>
      </p:sp>
      <p:sp>
        <p:nvSpPr>
          <p:cNvPr id="21" name="object 19">
            <a:extLst>
              <a:ext uri="{FF2B5EF4-FFF2-40B4-BE49-F238E27FC236}">
                <a16:creationId xmlns:a16="http://schemas.microsoft.com/office/drawing/2014/main" id="{F9D67E79-143B-ED46-BF36-3DD8224FDB7A}"/>
              </a:ext>
            </a:extLst>
          </p:cNvPr>
          <p:cNvSpPr txBox="1"/>
          <p:nvPr/>
        </p:nvSpPr>
        <p:spPr>
          <a:xfrm>
            <a:off x="5040844" y="5373314"/>
            <a:ext cx="808355" cy="307777"/>
          </a:xfrm>
          <a:prstGeom prst="rect">
            <a:avLst/>
          </a:prstGeom>
        </p:spPr>
        <p:txBody>
          <a:bodyPr vert="horz" wrap="square" lIns="0" tIns="0" rIns="0" bIns="0" rtlCol="0">
            <a:spAutoFit/>
          </a:bodyPr>
          <a:lstStyle/>
          <a:p>
            <a:pPr marL="12700">
              <a:lnSpc>
                <a:spcPct val="100000"/>
              </a:lnSpc>
            </a:pPr>
            <a:r>
              <a:rPr sz="1000" b="1" spc="-5" dirty="0">
                <a:latin typeface="+mn-lt"/>
                <a:cs typeface="Univers for KPMG"/>
              </a:rPr>
              <a:t>Ki</a:t>
            </a:r>
            <a:r>
              <a:rPr sz="1000" b="1" spc="-10" dirty="0">
                <a:latin typeface="+mn-lt"/>
                <a:cs typeface="Univers for KPMG"/>
              </a:rPr>
              <a:t>ck-of</a:t>
            </a:r>
            <a:r>
              <a:rPr sz="1000" b="1" spc="-5" dirty="0">
                <a:latin typeface="+mn-lt"/>
                <a:cs typeface="Univers for KPMG"/>
              </a:rPr>
              <a:t>f</a:t>
            </a:r>
            <a:r>
              <a:rPr sz="1000" b="1" spc="5" dirty="0">
                <a:latin typeface="+mn-lt"/>
                <a:cs typeface="Univers for KPMG"/>
              </a:rPr>
              <a:t> </a:t>
            </a:r>
            <a:r>
              <a:rPr sz="1000" b="1" spc="-10" dirty="0">
                <a:latin typeface="+mn-lt"/>
                <a:cs typeface="Univers for KPMG"/>
              </a:rPr>
              <a:t>meet</a:t>
            </a:r>
            <a:r>
              <a:rPr sz="1000" b="1" spc="-5" dirty="0">
                <a:latin typeface="+mn-lt"/>
                <a:cs typeface="Univers for KPMG"/>
              </a:rPr>
              <a:t>i</a:t>
            </a:r>
            <a:r>
              <a:rPr sz="1000" b="1" spc="-10" dirty="0">
                <a:latin typeface="+mn-lt"/>
                <a:cs typeface="Univers for KPMG"/>
              </a:rPr>
              <a:t>ng</a:t>
            </a:r>
            <a:endParaRPr sz="1000" b="1" dirty="0">
              <a:latin typeface="+mn-lt"/>
              <a:cs typeface="Univers for KPMG"/>
            </a:endParaRPr>
          </a:p>
        </p:txBody>
      </p:sp>
      <p:sp>
        <p:nvSpPr>
          <p:cNvPr id="22" name="object 20">
            <a:extLst>
              <a:ext uri="{FF2B5EF4-FFF2-40B4-BE49-F238E27FC236}">
                <a16:creationId xmlns:a16="http://schemas.microsoft.com/office/drawing/2014/main" id="{243AEEDC-4FF4-634D-8CAF-CA849D9EF54B}"/>
              </a:ext>
            </a:extLst>
          </p:cNvPr>
          <p:cNvSpPr txBox="1"/>
          <p:nvPr/>
        </p:nvSpPr>
        <p:spPr>
          <a:xfrm>
            <a:off x="5947737" y="5435614"/>
            <a:ext cx="726024" cy="153888"/>
          </a:xfrm>
          <a:prstGeom prst="rect">
            <a:avLst/>
          </a:prstGeom>
        </p:spPr>
        <p:txBody>
          <a:bodyPr vert="horz" wrap="square" lIns="0" tIns="0" rIns="0" bIns="0" rtlCol="0">
            <a:spAutoFit/>
          </a:bodyPr>
          <a:lstStyle/>
          <a:p>
            <a:pPr marL="12700">
              <a:lnSpc>
                <a:spcPct val="100000"/>
              </a:lnSpc>
            </a:pPr>
            <a:r>
              <a:rPr sz="1000" b="1" spc="-5" dirty="0">
                <a:latin typeface="+mn-lt"/>
                <a:cs typeface="Univers for KPMG"/>
              </a:rPr>
              <a:t>Deliverab</a:t>
            </a:r>
            <a:r>
              <a:rPr sz="1000" b="1" dirty="0">
                <a:latin typeface="+mn-lt"/>
                <a:cs typeface="Univers for KPMG"/>
              </a:rPr>
              <a:t>l</a:t>
            </a:r>
            <a:r>
              <a:rPr sz="1000" b="1" spc="-5" dirty="0">
                <a:latin typeface="+mn-lt"/>
                <a:cs typeface="Univers for KPMG"/>
              </a:rPr>
              <a:t>es</a:t>
            </a:r>
            <a:endParaRPr sz="1000" b="1" dirty="0">
              <a:latin typeface="+mn-lt"/>
              <a:cs typeface="Univers for KPMG"/>
            </a:endParaRPr>
          </a:p>
        </p:txBody>
      </p:sp>
      <p:sp>
        <p:nvSpPr>
          <p:cNvPr id="23" name="object 21">
            <a:extLst>
              <a:ext uri="{FF2B5EF4-FFF2-40B4-BE49-F238E27FC236}">
                <a16:creationId xmlns:a16="http://schemas.microsoft.com/office/drawing/2014/main" id="{9CA50E8B-E6C2-2348-85A8-3D020EA82C42}"/>
              </a:ext>
            </a:extLst>
          </p:cNvPr>
          <p:cNvSpPr txBox="1"/>
          <p:nvPr/>
        </p:nvSpPr>
        <p:spPr>
          <a:xfrm>
            <a:off x="7063551" y="5358672"/>
            <a:ext cx="730885" cy="307777"/>
          </a:xfrm>
          <a:prstGeom prst="rect">
            <a:avLst/>
          </a:prstGeom>
        </p:spPr>
        <p:txBody>
          <a:bodyPr vert="horz" wrap="square" lIns="0" tIns="0" rIns="0" bIns="0" rtlCol="0">
            <a:spAutoFit/>
          </a:bodyPr>
          <a:lstStyle/>
          <a:p>
            <a:pPr marL="12700">
              <a:lnSpc>
                <a:spcPct val="100000"/>
              </a:lnSpc>
            </a:pPr>
            <a:r>
              <a:rPr sz="1000" b="1" spc="-10" dirty="0">
                <a:latin typeface="+mn-lt"/>
                <a:cs typeface="Univers for KPMG"/>
              </a:rPr>
              <a:t>St</a:t>
            </a:r>
            <a:r>
              <a:rPr sz="1000" b="1" spc="-5" dirty="0">
                <a:latin typeface="+mn-lt"/>
                <a:cs typeface="Univers for KPMG"/>
              </a:rPr>
              <a:t>a</a:t>
            </a:r>
            <a:r>
              <a:rPr sz="1000" b="1" spc="-10" dirty="0">
                <a:latin typeface="+mn-lt"/>
                <a:cs typeface="Univers for KPMG"/>
              </a:rPr>
              <a:t>tu</a:t>
            </a:r>
            <a:r>
              <a:rPr sz="1000" b="1" spc="-5" dirty="0">
                <a:latin typeface="+mn-lt"/>
                <a:cs typeface="Univers for KPMG"/>
              </a:rPr>
              <a:t>s</a:t>
            </a:r>
            <a:r>
              <a:rPr sz="1000" b="1" spc="10" dirty="0">
                <a:latin typeface="+mn-lt"/>
                <a:cs typeface="Univers for KPMG"/>
              </a:rPr>
              <a:t> </a:t>
            </a:r>
            <a:r>
              <a:rPr sz="1000" b="1" spc="-5" dirty="0">
                <a:latin typeface="+mn-lt"/>
                <a:cs typeface="Univers for KPMG"/>
              </a:rPr>
              <a:t>Re</a:t>
            </a:r>
            <a:r>
              <a:rPr sz="1000" b="1" spc="-10" dirty="0">
                <a:latin typeface="+mn-lt"/>
                <a:cs typeface="Univers for KPMG"/>
              </a:rPr>
              <a:t>po</a:t>
            </a:r>
            <a:r>
              <a:rPr sz="1000" b="1" spc="-5" dirty="0">
                <a:latin typeface="+mn-lt"/>
                <a:cs typeface="Univers for KPMG"/>
              </a:rPr>
              <a:t>r</a:t>
            </a:r>
            <a:r>
              <a:rPr sz="1000" b="1" spc="-10" dirty="0">
                <a:latin typeface="+mn-lt"/>
                <a:cs typeface="Univers for KPMG"/>
              </a:rPr>
              <a:t>ts</a:t>
            </a:r>
            <a:endParaRPr sz="1000" b="1" dirty="0">
              <a:latin typeface="+mn-lt"/>
              <a:cs typeface="Univers for KPMG"/>
            </a:endParaRPr>
          </a:p>
        </p:txBody>
      </p:sp>
      <p:sp>
        <p:nvSpPr>
          <p:cNvPr id="24" name="object 22">
            <a:extLst>
              <a:ext uri="{FF2B5EF4-FFF2-40B4-BE49-F238E27FC236}">
                <a16:creationId xmlns:a16="http://schemas.microsoft.com/office/drawing/2014/main" id="{2A5F032D-C537-3045-BAE9-25F027F76857}"/>
              </a:ext>
            </a:extLst>
          </p:cNvPr>
          <p:cNvSpPr/>
          <p:nvPr/>
        </p:nvSpPr>
        <p:spPr>
          <a:xfrm>
            <a:off x="4803675" y="5412549"/>
            <a:ext cx="174625" cy="200025"/>
          </a:xfrm>
          <a:custGeom>
            <a:avLst/>
            <a:gdLst/>
            <a:ahLst/>
            <a:cxnLst/>
            <a:rect l="l" t="t" r="r" b="b"/>
            <a:pathLst>
              <a:path w="174625" h="200025">
                <a:moveTo>
                  <a:pt x="36372" y="33502"/>
                </a:moveTo>
                <a:lnTo>
                  <a:pt x="43395" y="72250"/>
                </a:lnTo>
                <a:lnTo>
                  <a:pt x="9461" y="76441"/>
                </a:lnTo>
                <a:lnTo>
                  <a:pt x="31788" y="107137"/>
                </a:lnTo>
                <a:lnTo>
                  <a:pt x="0" y="119024"/>
                </a:lnTo>
                <a:lnTo>
                  <a:pt x="26898" y="142062"/>
                </a:lnTo>
                <a:lnTo>
                  <a:pt x="10375" y="164757"/>
                </a:lnTo>
                <a:lnTo>
                  <a:pt x="38811" y="168592"/>
                </a:lnTo>
                <a:lnTo>
                  <a:pt x="39725" y="199644"/>
                </a:lnTo>
                <a:lnTo>
                  <a:pt x="60807" y="167525"/>
                </a:lnTo>
                <a:lnTo>
                  <a:pt x="76699" y="167525"/>
                </a:lnTo>
                <a:lnTo>
                  <a:pt x="79755" y="160540"/>
                </a:lnTo>
                <a:lnTo>
                  <a:pt x="96131" y="160540"/>
                </a:lnTo>
                <a:lnTo>
                  <a:pt x="98399" y="147281"/>
                </a:lnTo>
                <a:lnTo>
                  <a:pt x="119554" y="147281"/>
                </a:lnTo>
                <a:lnTo>
                  <a:pt x="118275" y="132638"/>
                </a:lnTo>
                <a:lnTo>
                  <a:pt x="144714" y="132638"/>
                </a:lnTo>
                <a:lnTo>
                  <a:pt x="132321" y="113779"/>
                </a:lnTo>
                <a:lnTo>
                  <a:pt x="147599" y="104355"/>
                </a:lnTo>
                <a:lnTo>
                  <a:pt x="137210" y="86906"/>
                </a:lnTo>
                <a:lnTo>
                  <a:pt x="174497" y="61417"/>
                </a:lnTo>
                <a:lnTo>
                  <a:pt x="132321" y="60375"/>
                </a:lnTo>
                <a:lnTo>
                  <a:pt x="132907" y="58991"/>
                </a:lnTo>
                <a:lnTo>
                  <a:pt x="69075" y="58991"/>
                </a:lnTo>
                <a:lnTo>
                  <a:pt x="36372" y="33502"/>
                </a:lnTo>
                <a:close/>
              </a:path>
              <a:path w="174625" h="200025">
                <a:moveTo>
                  <a:pt x="76699" y="167525"/>
                </a:moveTo>
                <a:lnTo>
                  <a:pt x="60807" y="167525"/>
                </a:lnTo>
                <a:lnTo>
                  <a:pt x="70281" y="182194"/>
                </a:lnTo>
                <a:lnTo>
                  <a:pt x="76699" y="167525"/>
                </a:lnTo>
                <a:close/>
              </a:path>
              <a:path w="174625" h="200025">
                <a:moveTo>
                  <a:pt x="96131" y="160540"/>
                </a:moveTo>
                <a:lnTo>
                  <a:pt x="79755" y="160540"/>
                </a:lnTo>
                <a:lnTo>
                  <a:pt x="93802" y="174155"/>
                </a:lnTo>
                <a:lnTo>
                  <a:pt x="96131" y="160540"/>
                </a:lnTo>
                <a:close/>
              </a:path>
              <a:path w="174625" h="200025">
                <a:moveTo>
                  <a:pt x="119554" y="147281"/>
                </a:moveTo>
                <a:lnTo>
                  <a:pt x="98399" y="147281"/>
                </a:lnTo>
                <a:lnTo>
                  <a:pt x="120713" y="160540"/>
                </a:lnTo>
                <a:lnTo>
                  <a:pt x="119554" y="147281"/>
                </a:lnTo>
                <a:close/>
              </a:path>
              <a:path w="174625" h="200025">
                <a:moveTo>
                  <a:pt x="144714" y="132638"/>
                </a:moveTo>
                <a:lnTo>
                  <a:pt x="118275" y="132638"/>
                </a:lnTo>
                <a:lnTo>
                  <a:pt x="152501" y="144487"/>
                </a:lnTo>
                <a:lnTo>
                  <a:pt x="144714" y="132638"/>
                </a:lnTo>
                <a:close/>
              </a:path>
              <a:path w="174625" h="200025">
                <a:moveTo>
                  <a:pt x="78536" y="17437"/>
                </a:moveTo>
                <a:lnTo>
                  <a:pt x="69075" y="58991"/>
                </a:lnTo>
                <a:lnTo>
                  <a:pt x="132907" y="58991"/>
                </a:lnTo>
                <a:lnTo>
                  <a:pt x="135278" y="53390"/>
                </a:lnTo>
                <a:lnTo>
                  <a:pt x="117335" y="53390"/>
                </a:lnTo>
                <a:lnTo>
                  <a:pt x="117868" y="40132"/>
                </a:lnTo>
                <a:lnTo>
                  <a:pt x="92595" y="40132"/>
                </a:lnTo>
                <a:lnTo>
                  <a:pt x="78536" y="17437"/>
                </a:lnTo>
                <a:close/>
              </a:path>
              <a:path w="174625" h="200025">
                <a:moveTo>
                  <a:pt x="145465" y="29324"/>
                </a:moveTo>
                <a:lnTo>
                  <a:pt x="117335" y="53390"/>
                </a:lnTo>
                <a:lnTo>
                  <a:pt x="135278" y="53390"/>
                </a:lnTo>
                <a:lnTo>
                  <a:pt x="145465" y="29324"/>
                </a:lnTo>
                <a:close/>
              </a:path>
              <a:path w="174625" h="200025">
                <a:moveTo>
                  <a:pt x="119481" y="0"/>
                </a:moveTo>
                <a:lnTo>
                  <a:pt x="92595" y="40132"/>
                </a:lnTo>
                <a:lnTo>
                  <a:pt x="117868" y="40132"/>
                </a:lnTo>
                <a:lnTo>
                  <a:pt x="119481" y="0"/>
                </a:lnTo>
                <a:close/>
              </a:path>
            </a:pathLst>
          </a:custGeom>
          <a:solidFill>
            <a:srgbClr val="FFFF00"/>
          </a:solidFill>
        </p:spPr>
        <p:txBody>
          <a:bodyPr wrap="square" lIns="0" tIns="0" rIns="0" bIns="0" rtlCol="0"/>
          <a:lstStyle/>
          <a:p>
            <a:endParaRPr sz="1000" b="1">
              <a:latin typeface="+mn-lt"/>
            </a:endParaRPr>
          </a:p>
        </p:txBody>
      </p:sp>
      <p:sp>
        <p:nvSpPr>
          <p:cNvPr id="25" name="object 23">
            <a:extLst>
              <a:ext uri="{FF2B5EF4-FFF2-40B4-BE49-F238E27FC236}">
                <a16:creationId xmlns:a16="http://schemas.microsoft.com/office/drawing/2014/main" id="{485B4B9D-F041-8E4B-BA8F-93EA74D6C1AF}"/>
              </a:ext>
            </a:extLst>
          </p:cNvPr>
          <p:cNvSpPr/>
          <p:nvPr/>
        </p:nvSpPr>
        <p:spPr>
          <a:xfrm>
            <a:off x="4803675" y="5412549"/>
            <a:ext cx="174625" cy="200025"/>
          </a:xfrm>
          <a:custGeom>
            <a:avLst/>
            <a:gdLst/>
            <a:ahLst/>
            <a:cxnLst/>
            <a:rect l="l" t="t" r="r" b="b"/>
            <a:pathLst>
              <a:path w="174625" h="200025">
                <a:moveTo>
                  <a:pt x="92595" y="40132"/>
                </a:moveTo>
                <a:lnTo>
                  <a:pt x="119481" y="0"/>
                </a:lnTo>
                <a:lnTo>
                  <a:pt x="117335" y="53390"/>
                </a:lnTo>
                <a:lnTo>
                  <a:pt x="145465" y="29311"/>
                </a:lnTo>
                <a:lnTo>
                  <a:pt x="132321" y="60375"/>
                </a:lnTo>
                <a:lnTo>
                  <a:pt x="174497" y="61417"/>
                </a:lnTo>
                <a:lnTo>
                  <a:pt x="137210" y="86906"/>
                </a:lnTo>
                <a:lnTo>
                  <a:pt x="147599" y="104355"/>
                </a:lnTo>
                <a:lnTo>
                  <a:pt x="132321" y="113779"/>
                </a:lnTo>
                <a:lnTo>
                  <a:pt x="152501" y="144487"/>
                </a:lnTo>
                <a:lnTo>
                  <a:pt x="118275" y="132638"/>
                </a:lnTo>
                <a:lnTo>
                  <a:pt x="120713" y="160540"/>
                </a:lnTo>
                <a:lnTo>
                  <a:pt x="98399" y="147281"/>
                </a:lnTo>
                <a:lnTo>
                  <a:pt x="93802" y="174155"/>
                </a:lnTo>
                <a:lnTo>
                  <a:pt x="79755" y="160540"/>
                </a:lnTo>
                <a:lnTo>
                  <a:pt x="70281" y="182194"/>
                </a:lnTo>
                <a:lnTo>
                  <a:pt x="60807" y="167525"/>
                </a:lnTo>
                <a:lnTo>
                  <a:pt x="39725" y="199644"/>
                </a:lnTo>
                <a:lnTo>
                  <a:pt x="38811" y="168592"/>
                </a:lnTo>
                <a:lnTo>
                  <a:pt x="10375" y="164757"/>
                </a:lnTo>
                <a:lnTo>
                  <a:pt x="26898" y="142062"/>
                </a:lnTo>
                <a:lnTo>
                  <a:pt x="0" y="119024"/>
                </a:lnTo>
                <a:lnTo>
                  <a:pt x="31788" y="107137"/>
                </a:lnTo>
                <a:lnTo>
                  <a:pt x="9461" y="76441"/>
                </a:lnTo>
                <a:lnTo>
                  <a:pt x="43395" y="72250"/>
                </a:lnTo>
                <a:lnTo>
                  <a:pt x="36372" y="33502"/>
                </a:lnTo>
                <a:lnTo>
                  <a:pt x="69075" y="58991"/>
                </a:lnTo>
                <a:lnTo>
                  <a:pt x="78536" y="17437"/>
                </a:lnTo>
                <a:lnTo>
                  <a:pt x="92595" y="40132"/>
                </a:lnTo>
                <a:close/>
              </a:path>
            </a:pathLst>
          </a:custGeom>
          <a:ln w="9906">
            <a:solidFill>
              <a:srgbClr val="000000"/>
            </a:solidFill>
          </a:ln>
        </p:spPr>
        <p:txBody>
          <a:bodyPr wrap="square" lIns="0" tIns="0" rIns="0" bIns="0" rtlCol="0"/>
          <a:lstStyle/>
          <a:p>
            <a:endParaRPr sz="1000" b="1">
              <a:latin typeface="+mn-lt"/>
            </a:endParaRPr>
          </a:p>
        </p:txBody>
      </p:sp>
      <p:sp>
        <p:nvSpPr>
          <p:cNvPr id="30" name="TextBox 29">
            <a:extLst>
              <a:ext uri="{FF2B5EF4-FFF2-40B4-BE49-F238E27FC236}">
                <a16:creationId xmlns:a16="http://schemas.microsoft.com/office/drawing/2014/main" id="{DF247168-7568-6B43-A487-9805ECADCFA2}"/>
              </a:ext>
            </a:extLst>
          </p:cNvPr>
          <p:cNvSpPr txBox="1"/>
          <p:nvPr/>
        </p:nvSpPr>
        <p:spPr>
          <a:xfrm>
            <a:off x="180728" y="1238568"/>
            <a:ext cx="971962" cy="400110"/>
          </a:xfrm>
          <a:prstGeom prst="rect">
            <a:avLst/>
          </a:prstGeom>
          <a:noFill/>
        </p:spPr>
        <p:txBody>
          <a:bodyPr wrap="square" rtlCol="0">
            <a:spAutoFit/>
          </a:bodyPr>
          <a:lstStyle/>
          <a:p>
            <a:r>
              <a:rPr lang="en-US" sz="1000" dirty="0">
                <a:latin typeface="+mn-lt"/>
              </a:rPr>
              <a:t>Discovery and planning</a:t>
            </a:r>
          </a:p>
        </p:txBody>
      </p:sp>
      <p:sp>
        <p:nvSpPr>
          <p:cNvPr id="31" name="TextBox 30">
            <a:extLst>
              <a:ext uri="{FF2B5EF4-FFF2-40B4-BE49-F238E27FC236}">
                <a16:creationId xmlns:a16="http://schemas.microsoft.com/office/drawing/2014/main" id="{279F10FA-47DC-8143-B48B-8C913272904F}"/>
              </a:ext>
            </a:extLst>
          </p:cNvPr>
          <p:cNvSpPr txBox="1"/>
          <p:nvPr/>
        </p:nvSpPr>
        <p:spPr>
          <a:xfrm>
            <a:off x="129092" y="1703804"/>
            <a:ext cx="1771450" cy="400110"/>
          </a:xfrm>
          <a:prstGeom prst="rect">
            <a:avLst/>
          </a:prstGeom>
          <a:noFill/>
        </p:spPr>
        <p:txBody>
          <a:bodyPr wrap="square" rtlCol="0">
            <a:spAutoFit/>
          </a:bodyPr>
          <a:lstStyle/>
          <a:p>
            <a:r>
              <a:rPr lang="en-US" sz="1000" dirty="0">
                <a:latin typeface="+mn-lt"/>
              </a:rPr>
              <a:t>Architecture and Design Platform</a:t>
            </a:r>
          </a:p>
        </p:txBody>
      </p:sp>
      <p:sp>
        <p:nvSpPr>
          <p:cNvPr id="32" name="object 38">
            <a:extLst>
              <a:ext uri="{FF2B5EF4-FFF2-40B4-BE49-F238E27FC236}">
                <a16:creationId xmlns:a16="http://schemas.microsoft.com/office/drawing/2014/main" id="{921B0001-C448-9643-B464-8FAED3AC10DF}"/>
              </a:ext>
            </a:extLst>
          </p:cNvPr>
          <p:cNvSpPr/>
          <p:nvPr/>
        </p:nvSpPr>
        <p:spPr>
          <a:xfrm>
            <a:off x="1854994" y="1723570"/>
            <a:ext cx="1026641" cy="393331"/>
          </a:xfrm>
          <a:custGeom>
            <a:avLst/>
            <a:gdLst/>
            <a:ahLst/>
            <a:cxnLst/>
            <a:rect l="l" t="t" r="r" b="b"/>
            <a:pathLst>
              <a:path w="4213225" h="363855">
                <a:moveTo>
                  <a:pt x="4031361" y="0"/>
                </a:moveTo>
                <a:lnTo>
                  <a:pt x="0" y="0"/>
                </a:lnTo>
                <a:lnTo>
                  <a:pt x="0" y="363474"/>
                </a:lnTo>
                <a:lnTo>
                  <a:pt x="4031361" y="363474"/>
                </a:lnTo>
                <a:lnTo>
                  <a:pt x="4213098" y="181737"/>
                </a:lnTo>
                <a:lnTo>
                  <a:pt x="4031361" y="0"/>
                </a:lnTo>
                <a:close/>
              </a:path>
            </a:pathLst>
          </a:custGeom>
          <a:solidFill>
            <a:schemeClr val="tx1">
              <a:lumMod val="50000"/>
              <a:lumOff val="50000"/>
            </a:schemeClr>
          </a:solidFill>
        </p:spPr>
        <p:txBody>
          <a:bodyPr wrap="square" lIns="0" tIns="0" rIns="0" bIns="0" rtlCol="0"/>
          <a:lstStyle/>
          <a:p>
            <a:endParaRPr>
              <a:latin typeface="+mn-lt"/>
            </a:endParaRPr>
          </a:p>
        </p:txBody>
      </p:sp>
      <p:sp>
        <p:nvSpPr>
          <p:cNvPr id="33" name="TextBox 32">
            <a:extLst>
              <a:ext uri="{FF2B5EF4-FFF2-40B4-BE49-F238E27FC236}">
                <a16:creationId xmlns:a16="http://schemas.microsoft.com/office/drawing/2014/main" id="{A0B6E2F7-CEF2-054F-899C-3D5822F94882}"/>
              </a:ext>
            </a:extLst>
          </p:cNvPr>
          <p:cNvSpPr txBox="1"/>
          <p:nvPr/>
        </p:nvSpPr>
        <p:spPr>
          <a:xfrm>
            <a:off x="1854994" y="1726195"/>
            <a:ext cx="1340188" cy="369332"/>
          </a:xfrm>
          <a:prstGeom prst="rect">
            <a:avLst/>
          </a:prstGeom>
          <a:noFill/>
        </p:spPr>
        <p:txBody>
          <a:bodyPr wrap="square" rtlCol="0">
            <a:spAutoFit/>
          </a:bodyPr>
          <a:lstStyle/>
          <a:p>
            <a:r>
              <a:rPr lang="en-US" sz="900" dirty="0">
                <a:solidFill>
                  <a:schemeClr val="bg1"/>
                </a:solidFill>
                <a:latin typeface="+mn-lt"/>
              </a:rPr>
              <a:t>Implementation - Platform</a:t>
            </a:r>
          </a:p>
        </p:txBody>
      </p:sp>
      <p:sp>
        <p:nvSpPr>
          <p:cNvPr id="34" name="TextBox 33">
            <a:extLst>
              <a:ext uri="{FF2B5EF4-FFF2-40B4-BE49-F238E27FC236}">
                <a16:creationId xmlns:a16="http://schemas.microsoft.com/office/drawing/2014/main" id="{102E2402-ED26-144F-B5E5-8501417A0C81}"/>
              </a:ext>
            </a:extLst>
          </p:cNvPr>
          <p:cNvSpPr txBox="1"/>
          <p:nvPr/>
        </p:nvSpPr>
        <p:spPr>
          <a:xfrm>
            <a:off x="1241838" y="2167953"/>
            <a:ext cx="1660528" cy="369332"/>
          </a:xfrm>
          <a:prstGeom prst="rect">
            <a:avLst/>
          </a:prstGeom>
          <a:noFill/>
        </p:spPr>
        <p:txBody>
          <a:bodyPr wrap="square" rtlCol="0">
            <a:spAutoFit/>
          </a:bodyPr>
          <a:lstStyle/>
          <a:p>
            <a:r>
              <a:rPr lang="en-US" sz="900" dirty="0">
                <a:latin typeface="+mn-lt"/>
              </a:rPr>
              <a:t>Architecture and Design - Projects (Workday HRIS)</a:t>
            </a:r>
          </a:p>
        </p:txBody>
      </p:sp>
      <p:sp>
        <p:nvSpPr>
          <p:cNvPr id="35" name="object 75">
            <a:extLst>
              <a:ext uri="{FF2B5EF4-FFF2-40B4-BE49-F238E27FC236}">
                <a16:creationId xmlns:a16="http://schemas.microsoft.com/office/drawing/2014/main" id="{4E673530-EAC5-3E40-AEFA-BF230D825C0C}"/>
              </a:ext>
            </a:extLst>
          </p:cNvPr>
          <p:cNvSpPr/>
          <p:nvPr/>
        </p:nvSpPr>
        <p:spPr>
          <a:xfrm>
            <a:off x="2943628" y="2170957"/>
            <a:ext cx="1324097"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chemeClr val="tx1">
              <a:lumMod val="50000"/>
              <a:lumOff val="50000"/>
            </a:schemeClr>
          </a:solidFill>
        </p:spPr>
        <p:txBody>
          <a:bodyPr wrap="square" lIns="0" tIns="0" rIns="0" bIns="0" rtlCol="0"/>
          <a:lstStyle/>
          <a:p>
            <a:endParaRPr sz="1000">
              <a:latin typeface="+mn-lt"/>
            </a:endParaRPr>
          </a:p>
        </p:txBody>
      </p:sp>
      <p:sp>
        <p:nvSpPr>
          <p:cNvPr id="36" name="TextBox 35">
            <a:extLst>
              <a:ext uri="{FF2B5EF4-FFF2-40B4-BE49-F238E27FC236}">
                <a16:creationId xmlns:a16="http://schemas.microsoft.com/office/drawing/2014/main" id="{95901BA7-5986-EB4A-A0DF-EF563C82E8F5}"/>
              </a:ext>
            </a:extLst>
          </p:cNvPr>
          <p:cNvSpPr txBox="1"/>
          <p:nvPr/>
        </p:nvSpPr>
        <p:spPr>
          <a:xfrm>
            <a:off x="2874110" y="2167953"/>
            <a:ext cx="1768903" cy="369332"/>
          </a:xfrm>
          <a:prstGeom prst="rect">
            <a:avLst/>
          </a:prstGeom>
          <a:noFill/>
        </p:spPr>
        <p:txBody>
          <a:bodyPr wrap="square" rtlCol="0">
            <a:spAutoFit/>
          </a:bodyPr>
          <a:lstStyle/>
          <a:p>
            <a:r>
              <a:rPr lang="en-US" sz="900" dirty="0">
                <a:solidFill>
                  <a:schemeClr val="bg1"/>
                </a:solidFill>
                <a:latin typeface="+mn-lt"/>
              </a:rPr>
              <a:t>Implementation- Projects (Workday HRIS)</a:t>
            </a:r>
          </a:p>
        </p:txBody>
      </p:sp>
      <p:sp>
        <p:nvSpPr>
          <p:cNvPr id="38" name="object 75">
            <a:extLst>
              <a:ext uri="{FF2B5EF4-FFF2-40B4-BE49-F238E27FC236}">
                <a16:creationId xmlns:a16="http://schemas.microsoft.com/office/drawing/2014/main" id="{4C2E20AF-5F4F-1044-A13C-922EB1F2CF05}"/>
              </a:ext>
            </a:extLst>
          </p:cNvPr>
          <p:cNvSpPr/>
          <p:nvPr/>
        </p:nvSpPr>
        <p:spPr>
          <a:xfrm>
            <a:off x="1712353" y="2627028"/>
            <a:ext cx="1596115"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chemeClr val="tx1">
              <a:lumMod val="50000"/>
              <a:lumOff val="50000"/>
            </a:schemeClr>
          </a:solidFill>
        </p:spPr>
        <p:txBody>
          <a:bodyPr wrap="square" lIns="0" tIns="0" rIns="0" bIns="0" rtlCol="0"/>
          <a:lstStyle/>
          <a:p>
            <a:endParaRPr sz="1000">
              <a:latin typeface="+mn-lt"/>
            </a:endParaRPr>
          </a:p>
        </p:txBody>
      </p:sp>
      <p:sp>
        <p:nvSpPr>
          <p:cNvPr id="39" name="TextBox 38">
            <a:extLst>
              <a:ext uri="{FF2B5EF4-FFF2-40B4-BE49-F238E27FC236}">
                <a16:creationId xmlns:a16="http://schemas.microsoft.com/office/drawing/2014/main" id="{4CA97637-D2CC-EC4F-BAFE-9D9E6B2CDCE7}"/>
              </a:ext>
            </a:extLst>
          </p:cNvPr>
          <p:cNvSpPr txBox="1"/>
          <p:nvPr/>
        </p:nvSpPr>
        <p:spPr>
          <a:xfrm>
            <a:off x="1686963" y="2636821"/>
            <a:ext cx="1660528" cy="369332"/>
          </a:xfrm>
          <a:prstGeom prst="rect">
            <a:avLst/>
          </a:prstGeom>
          <a:noFill/>
        </p:spPr>
        <p:txBody>
          <a:bodyPr wrap="square" rtlCol="0">
            <a:spAutoFit/>
          </a:bodyPr>
          <a:lstStyle/>
          <a:p>
            <a:r>
              <a:rPr lang="en-US" sz="900" dirty="0">
                <a:solidFill>
                  <a:schemeClr val="bg1"/>
                </a:solidFill>
                <a:latin typeface="+mn-lt"/>
              </a:rPr>
              <a:t>Deploy and Transition - Projects</a:t>
            </a:r>
          </a:p>
        </p:txBody>
      </p:sp>
      <p:sp>
        <p:nvSpPr>
          <p:cNvPr id="40" name="object 75">
            <a:extLst>
              <a:ext uri="{FF2B5EF4-FFF2-40B4-BE49-F238E27FC236}">
                <a16:creationId xmlns:a16="http://schemas.microsoft.com/office/drawing/2014/main" id="{188CE8C8-3FBF-3A4F-BF29-66AEFA305A27}"/>
              </a:ext>
            </a:extLst>
          </p:cNvPr>
          <p:cNvSpPr/>
          <p:nvPr/>
        </p:nvSpPr>
        <p:spPr>
          <a:xfrm>
            <a:off x="3388753" y="2605519"/>
            <a:ext cx="1324097"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rgbClr val="FFFFFF"/>
          </a:solidFill>
        </p:spPr>
        <p:txBody>
          <a:bodyPr wrap="square" lIns="0" tIns="0" rIns="0" bIns="0" rtlCol="0"/>
          <a:lstStyle/>
          <a:p>
            <a:endParaRPr sz="1000">
              <a:latin typeface="+mn-lt"/>
            </a:endParaRPr>
          </a:p>
        </p:txBody>
      </p:sp>
      <p:sp>
        <p:nvSpPr>
          <p:cNvPr id="41" name="TextBox 40">
            <a:extLst>
              <a:ext uri="{FF2B5EF4-FFF2-40B4-BE49-F238E27FC236}">
                <a16:creationId xmlns:a16="http://schemas.microsoft.com/office/drawing/2014/main" id="{840F10C2-B7A0-B04E-90C9-9D11FF454F5B}"/>
              </a:ext>
            </a:extLst>
          </p:cNvPr>
          <p:cNvSpPr txBox="1"/>
          <p:nvPr/>
        </p:nvSpPr>
        <p:spPr>
          <a:xfrm>
            <a:off x="3319236" y="2627028"/>
            <a:ext cx="1594278" cy="370794"/>
          </a:xfrm>
          <a:prstGeom prst="rect">
            <a:avLst/>
          </a:prstGeom>
          <a:noFill/>
        </p:spPr>
        <p:txBody>
          <a:bodyPr wrap="square" rtlCol="0">
            <a:spAutoFit/>
          </a:bodyPr>
          <a:lstStyle/>
          <a:p>
            <a:r>
              <a:rPr lang="en-US" sz="900" dirty="0">
                <a:latin typeface="+mn-lt"/>
              </a:rPr>
              <a:t>C4E Foundation - Assess Organizational Capabilities</a:t>
            </a:r>
          </a:p>
        </p:txBody>
      </p:sp>
      <p:sp>
        <p:nvSpPr>
          <p:cNvPr id="42" name="object 75">
            <a:extLst>
              <a:ext uri="{FF2B5EF4-FFF2-40B4-BE49-F238E27FC236}">
                <a16:creationId xmlns:a16="http://schemas.microsoft.com/office/drawing/2014/main" id="{6A270F3C-8674-D44F-9666-C375E328F38E}"/>
              </a:ext>
            </a:extLst>
          </p:cNvPr>
          <p:cNvSpPr/>
          <p:nvPr/>
        </p:nvSpPr>
        <p:spPr>
          <a:xfrm>
            <a:off x="3838139" y="3035653"/>
            <a:ext cx="1596115"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rgbClr val="FFFFFF"/>
          </a:solidFill>
        </p:spPr>
        <p:txBody>
          <a:bodyPr wrap="square" lIns="0" tIns="0" rIns="0" bIns="0" rtlCol="0"/>
          <a:lstStyle/>
          <a:p>
            <a:endParaRPr sz="1000">
              <a:latin typeface="+mn-lt"/>
            </a:endParaRPr>
          </a:p>
        </p:txBody>
      </p:sp>
      <p:sp>
        <p:nvSpPr>
          <p:cNvPr id="43" name="TextBox 42">
            <a:extLst>
              <a:ext uri="{FF2B5EF4-FFF2-40B4-BE49-F238E27FC236}">
                <a16:creationId xmlns:a16="http://schemas.microsoft.com/office/drawing/2014/main" id="{C40E992C-3F5C-AF41-9F71-C6C317325A48}"/>
              </a:ext>
            </a:extLst>
          </p:cNvPr>
          <p:cNvSpPr txBox="1"/>
          <p:nvPr/>
        </p:nvSpPr>
        <p:spPr>
          <a:xfrm>
            <a:off x="3812749" y="3011140"/>
            <a:ext cx="1660528" cy="369332"/>
          </a:xfrm>
          <a:prstGeom prst="rect">
            <a:avLst/>
          </a:prstGeom>
          <a:noFill/>
        </p:spPr>
        <p:txBody>
          <a:bodyPr wrap="square" rtlCol="0">
            <a:spAutoFit/>
          </a:bodyPr>
          <a:lstStyle/>
          <a:p>
            <a:r>
              <a:rPr lang="en-US" sz="900" dirty="0">
                <a:latin typeface="+mn-lt"/>
              </a:rPr>
              <a:t>C4E Foundation - Establish C4E Operating Model</a:t>
            </a:r>
          </a:p>
        </p:txBody>
      </p:sp>
      <p:sp>
        <p:nvSpPr>
          <p:cNvPr id="44" name="object 75">
            <a:extLst>
              <a:ext uri="{FF2B5EF4-FFF2-40B4-BE49-F238E27FC236}">
                <a16:creationId xmlns:a16="http://schemas.microsoft.com/office/drawing/2014/main" id="{B2352FAD-C13E-1B42-89A4-653AA0240B1A}"/>
              </a:ext>
            </a:extLst>
          </p:cNvPr>
          <p:cNvSpPr/>
          <p:nvPr/>
        </p:nvSpPr>
        <p:spPr>
          <a:xfrm>
            <a:off x="5514539" y="3014144"/>
            <a:ext cx="1324097"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rgbClr val="FFFFFF"/>
          </a:solidFill>
        </p:spPr>
        <p:txBody>
          <a:bodyPr wrap="square" lIns="0" tIns="0" rIns="0" bIns="0" rtlCol="0"/>
          <a:lstStyle/>
          <a:p>
            <a:endParaRPr sz="1000">
              <a:latin typeface="+mn-lt"/>
            </a:endParaRPr>
          </a:p>
        </p:txBody>
      </p:sp>
      <p:sp>
        <p:nvSpPr>
          <p:cNvPr id="45" name="TextBox 44">
            <a:extLst>
              <a:ext uri="{FF2B5EF4-FFF2-40B4-BE49-F238E27FC236}">
                <a16:creationId xmlns:a16="http://schemas.microsoft.com/office/drawing/2014/main" id="{9C96B4C5-775F-D94F-BA47-DE5207A7796D}"/>
              </a:ext>
            </a:extLst>
          </p:cNvPr>
          <p:cNvSpPr txBox="1"/>
          <p:nvPr/>
        </p:nvSpPr>
        <p:spPr>
          <a:xfrm>
            <a:off x="5445022" y="3035653"/>
            <a:ext cx="1594278" cy="369332"/>
          </a:xfrm>
          <a:prstGeom prst="rect">
            <a:avLst/>
          </a:prstGeom>
          <a:noFill/>
        </p:spPr>
        <p:txBody>
          <a:bodyPr wrap="square" rtlCol="0">
            <a:spAutoFit/>
          </a:bodyPr>
          <a:lstStyle/>
          <a:p>
            <a:r>
              <a:rPr lang="en-US" sz="900" dirty="0">
                <a:latin typeface="+mn-lt"/>
              </a:rPr>
              <a:t>C4E Foundation - Measure C4E KPIs and refine</a:t>
            </a:r>
          </a:p>
        </p:txBody>
      </p:sp>
      <p:sp>
        <p:nvSpPr>
          <p:cNvPr id="46" name="object 75">
            <a:extLst>
              <a:ext uri="{FF2B5EF4-FFF2-40B4-BE49-F238E27FC236}">
                <a16:creationId xmlns:a16="http://schemas.microsoft.com/office/drawing/2014/main" id="{54BE1657-A962-8543-B292-9B970C3E3258}"/>
              </a:ext>
            </a:extLst>
          </p:cNvPr>
          <p:cNvSpPr/>
          <p:nvPr/>
        </p:nvSpPr>
        <p:spPr>
          <a:xfrm>
            <a:off x="5534273" y="3575181"/>
            <a:ext cx="1594278"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chemeClr val="accent2">
              <a:lumMod val="20000"/>
              <a:lumOff val="80000"/>
            </a:schemeClr>
          </a:solidFill>
        </p:spPr>
        <p:txBody>
          <a:bodyPr wrap="square" lIns="0" tIns="0" rIns="0" bIns="0" rtlCol="0"/>
          <a:lstStyle/>
          <a:p>
            <a:endParaRPr sz="1000">
              <a:latin typeface="+mn-lt"/>
            </a:endParaRPr>
          </a:p>
        </p:txBody>
      </p:sp>
      <p:sp>
        <p:nvSpPr>
          <p:cNvPr id="47" name="object 75">
            <a:extLst>
              <a:ext uri="{FF2B5EF4-FFF2-40B4-BE49-F238E27FC236}">
                <a16:creationId xmlns:a16="http://schemas.microsoft.com/office/drawing/2014/main" id="{84B5F0B6-DBC4-4E4E-ADD1-21C0E5AC60C7}"/>
              </a:ext>
            </a:extLst>
          </p:cNvPr>
          <p:cNvSpPr/>
          <p:nvPr/>
        </p:nvSpPr>
        <p:spPr>
          <a:xfrm>
            <a:off x="5519982" y="4112747"/>
            <a:ext cx="2258897" cy="363855"/>
          </a:xfrm>
          <a:custGeom>
            <a:avLst/>
            <a:gdLst/>
            <a:ahLst/>
            <a:cxnLst/>
            <a:rect l="l" t="t" r="r" b="b"/>
            <a:pathLst>
              <a:path w="3416934" h="363855">
                <a:moveTo>
                  <a:pt x="3235071" y="0"/>
                </a:moveTo>
                <a:lnTo>
                  <a:pt x="0" y="0"/>
                </a:lnTo>
                <a:lnTo>
                  <a:pt x="0" y="363474"/>
                </a:lnTo>
                <a:lnTo>
                  <a:pt x="3235071" y="363474"/>
                </a:lnTo>
                <a:lnTo>
                  <a:pt x="3416808" y="181737"/>
                </a:lnTo>
                <a:lnTo>
                  <a:pt x="3235071" y="0"/>
                </a:lnTo>
                <a:close/>
              </a:path>
            </a:pathLst>
          </a:custGeom>
          <a:solidFill>
            <a:schemeClr val="tx2">
              <a:lumMod val="20000"/>
              <a:lumOff val="80000"/>
            </a:schemeClr>
          </a:solidFill>
        </p:spPr>
        <p:txBody>
          <a:bodyPr wrap="square" lIns="0" tIns="0" rIns="0" bIns="0" rtlCol="0"/>
          <a:lstStyle/>
          <a:p>
            <a:endParaRPr sz="1000">
              <a:latin typeface="+mn-lt"/>
            </a:endParaRPr>
          </a:p>
        </p:txBody>
      </p:sp>
      <p:sp>
        <p:nvSpPr>
          <p:cNvPr id="48" name="TextBox 47">
            <a:extLst>
              <a:ext uri="{FF2B5EF4-FFF2-40B4-BE49-F238E27FC236}">
                <a16:creationId xmlns:a16="http://schemas.microsoft.com/office/drawing/2014/main" id="{DD54F474-AF26-2347-A3EE-C77B1BD5BF20}"/>
              </a:ext>
            </a:extLst>
          </p:cNvPr>
          <p:cNvSpPr txBox="1"/>
          <p:nvPr/>
        </p:nvSpPr>
        <p:spPr>
          <a:xfrm>
            <a:off x="5517959" y="3588499"/>
            <a:ext cx="1496046" cy="369332"/>
          </a:xfrm>
          <a:prstGeom prst="rect">
            <a:avLst/>
          </a:prstGeom>
          <a:noFill/>
        </p:spPr>
        <p:txBody>
          <a:bodyPr wrap="square" rtlCol="0">
            <a:spAutoFit/>
          </a:bodyPr>
          <a:lstStyle/>
          <a:p>
            <a:r>
              <a:rPr lang="en-US" sz="900" dirty="0">
                <a:latin typeface="+mn-lt"/>
              </a:rPr>
              <a:t>Develop internal support operating model</a:t>
            </a:r>
          </a:p>
        </p:txBody>
      </p:sp>
      <p:sp>
        <p:nvSpPr>
          <p:cNvPr id="49" name="TextBox 48">
            <a:extLst>
              <a:ext uri="{FF2B5EF4-FFF2-40B4-BE49-F238E27FC236}">
                <a16:creationId xmlns:a16="http://schemas.microsoft.com/office/drawing/2014/main" id="{917F734D-B967-AC4F-9B7F-555B3263A41E}"/>
              </a:ext>
            </a:extLst>
          </p:cNvPr>
          <p:cNvSpPr txBox="1"/>
          <p:nvPr/>
        </p:nvSpPr>
        <p:spPr>
          <a:xfrm>
            <a:off x="5650490" y="4162290"/>
            <a:ext cx="1594278" cy="230832"/>
          </a:xfrm>
          <a:prstGeom prst="rect">
            <a:avLst/>
          </a:prstGeom>
          <a:noFill/>
        </p:spPr>
        <p:txBody>
          <a:bodyPr wrap="square" rtlCol="0">
            <a:spAutoFit/>
          </a:bodyPr>
          <a:lstStyle/>
          <a:p>
            <a:r>
              <a:rPr lang="en-US" sz="900" dirty="0">
                <a:latin typeface="+mn-lt"/>
              </a:rPr>
              <a:t>Talent Foundation</a:t>
            </a:r>
          </a:p>
        </p:txBody>
      </p:sp>
      <p:sp>
        <p:nvSpPr>
          <p:cNvPr id="50" name="TextBox 49">
            <a:extLst>
              <a:ext uri="{FF2B5EF4-FFF2-40B4-BE49-F238E27FC236}">
                <a16:creationId xmlns:a16="http://schemas.microsoft.com/office/drawing/2014/main" id="{CDA98309-01AC-FD40-AF71-8D72494BC337}"/>
              </a:ext>
            </a:extLst>
          </p:cNvPr>
          <p:cNvSpPr txBox="1"/>
          <p:nvPr/>
        </p:nvSpPr>
        <p:spPr>
          <a:xfrm>
            <a:off x="160307" y="872553"/>
            <a:ext cx="676811" cy="246221"/>
          </a:xfrm>
          <a:prstGeom prst="rect">
            <a:avLst/>
          </a:prstGeom>
          <a:noFill/>
        </p:spPr>
        <p:txBody>
          <a:bodyPr wrap="square" rtlCol="0">
            <a:spAutoFit/>
          </a:bodyPr>
          <a:lstStyle/>
          <a:p>
            <a:r>
              <a:rPr lang="en-US" sz="1000" dirty="0">
                <a:solidFill>
                  <a:schemeClr val="bg1"/>
                </a:solidFill>
                <a:latin typeface="+mn-lt"/>
              </a:rPr>
              <a:t>Week 1</a:t>
            </a:r>
          </a:p>
        </p:txBody>
      </p:sp>
      <p:sp>
        <p:nvSpPr>
          <p:cNvPr id="51" name="TextBox 50">
            <a:extLst>
              <a:ext uri="{FF2B5EF4-FFF2-40B4-BE49-F238E27FC236}">
                <a16:creationId xmlns:a16="http://schemas.microsoft.com/office/drawing/2014/main" id="{39829D35-089E-CB43-A4F4-302FDCED411D}"/>
              </a:ext>
            </a:extLst>
          </p:cNvPr>
          <p:cNvSpPr txBox="1"/>
          <p:nvPr/>
        </p:nvSpPr>
        <p:spPr>
          <a:xfrm>
            <a:off x="950782" y="872553"/>
            <a:ext cx="676811" cy="246221"/>
          </a:xfrm>
          <a:prstGeom prst="rect">
            <a:avLst/>
          </a:prstGeom>
          <a:noFill/>
        </p:spPr>
        <p:txBody>
          <a:bodyPr wrap="square" rtlCol="0">
            <a:spAutoFit/>
          </a:bodyPr>
          <a:lstStyle/>
          <a:p>
            <a:r>
              <a:rPr lang="en-US" sz="1000" dirty="0">
                <a:solidFill>
                  <a:schemeClr val="bg1"/>
                </a:solidFill>
                <a:latin typeface="+mn-lt"/>
              </a:rPr>
              <a:t>Week 2</a:t>
            </a:r>
          </a:p>
        </p:txBody>
      </p:sp>
      <p:sp>
        <p:nvSpPr>
          <p:cNvPr id="52" name="TextBox 51">
            <a:extLst>
              <a:ext uri="{FF2B5EF4-FFF2-40B4-BE49-F238E27FC236}">
                <a16:creationId xmlns:a16="http://schemas.microsoft.com/office/drawing/2014/main" id="{6F242C2F-E2D8-C848-A485-98B0388A27F9}"/>
              </a:ext>
            </a:extLst>
          </p:cNvPr>
          <p:cNvSpPr txBox="1"/>
          <p:nvPr/>
        </p:nvSpPr>
        <p:spPr>
          <a:xfrm>
            <a:off x="1807077" y="872553"/>
            <a:ext cx="676811" cy="246221"/>
          </a:xfrm>
          <a:prstGeom prst="rect">
            <a:avLst/>
          </a:prstGeom>
          <a:noFill/>
        </p:spPr>
        <p:txBody>
          <a:bodyPr wrap="square" rtlCol="0">
            <a:spAutoFit/>
          </a:bodyPr>
          <a:lstStyle/>
          <a:p>
            <a:r>
              <a:rPr lang="en-US" sz="1000" dirty="0">
                <a:solidFill>
                  <a:schemeClr val="bg1"/>
                </a:solidFill>
                <a:latin typeface="+mn-lt"/>
              </a:rPr>
              <a:t>Week 3</a:t>
            </a:r>
          </a:p>
        </p:txBody>
      </p:sp>
      <p:sp>
        <p:nvSpPr>
          <p:cNvPr id="53" name="TextBox 52">
            <a:extLst>
              <a:ext uri="{FF2B5EF4-FFF2-40B4-BE49-F238E27FC236}">
                <a16:creationId xmlns:a16="http://schemas.microsoft.com/office/drawing/2014/main" id="{ABC39387-B2F2-8D49-B6AA-772BC1CFAE65}"/>
              </a:ext>
            </a:extLst>
          </p:cNvPr>
          <p:cNvSpPr txBox="1"/>
          <p:nvPr/>
        </p:nvSpPr>
        <p:spPr>
          <a:xfrm>
            <a:off x="2702183" y="872553"/>
            <a:ext cx="676811" cy="246221"/>
          </a:xfrm>
          <a:prstGeom prst="rect">
            <a:avLst/>
          </a:prstGeom>
          <a:noFill/>
        </p:spPr>
        <p:txBody>
          <a:bodyPr wrap="square" rtlCol="0">
            <a:spAutoFit/>
          </a:bodyPr>
          <a:lstStyle/>
          <a:p>
            <a:r>
              <a:rPr lang="en-US" sz="1000" dirty="0">
                <a:solidFill>
                  <a:schemeClr val="bg1"/>
                </a:solidFill>
                <a:latin typeface="+mn-lt"/>
              </a:rPr>
              <a:t>Week 4</a:t>
            </a:r>
          </a:p>
        </p:txBody>
      </p:sp>
      <p:sp>
        <p:nvSpPr>
          <p:cNvPr id="54" name="TextBox 53">
            <a:extLst>
              <a:ext uri="{FF2B5EF4-FFF2-40B4-BE49-F238E27FC236}">
                <a16:creationId xmlns:a16="http://schemas.microsoft.com/office/drawing/2014/main" id="{9BFA76FE-1C67-ED42-805B-C5A2D65E3664}"/>
              </a:ext>
            </a:extLst>
          </p:cNvPr>
          <p:cNvSpPr txBox="1"/>
          <p:nvPr/>
        </p:nvSpPr>
        <p:spPr>
          <a:xfrm>
            <a:off x="3622345" y="872553"/>
            <a:ext cx="676811" cy="246221"/>
          </a:xfrm>
          <a:prstGeom prst="rect">
            <a:avLst/>
          </a:prstGeom>
          <a:noFill/>
        </p:spPr>
        <p:txBody>
          <a:bodyPr wrap="square" rtlCol="0">
            <a:spAutoFit/>
          </a:bodyPr>
          <a:lstStyle/>
          <a:p>
            <a:r>
              <a:rPr lang="en-US" sz="1000" dirty="0">
                <a:solidFill>
                  <a:schemeClr val="bg1"/>
                </a:solidFill>
                <a:latin typeface="+mn-lt"/>
              </a:rPr>
              <a:t>Week 5</a:t>
            </a:r>
          </a:p>
        </p:txBody>
      </p:sp>
      <p:sp>
        <p:nvSpPr>
          <p:cNvPr id="55" name="TextBox 54">
            <a:extLst>
              <a:ext uri="{FF2B5EF4-FFF2-40B4-BE49-F238E27FC236}">
                <a16:creationId xmlns:a16="http://schemas.microsoft.com/office/drawing/2014/main" id="{6FDC4DEE-42A2-4542-A009-B3C8D4125EBB}"/>
              </a:ext>
            </a:extLst>
          </p:cNvPr>
          <p:cNvSpPr txBox="1"/>
          <p:nvPr/>
        </p:nvSpPr>
        <p:spPr>
          <a:xfrm>
            <a:off x="4523851" y="872553"/>
            <a:ext cx="676811" cy="246221"/>
          </a:xfrm>
          <a:prstGeom prst="rect">
            <a:avLst/>
          </a:prstGeom>
          <a:noFill/>
        </p:spPr>
        <p:txBody>
          <a:bodyPr wrap="square" rtlCol="0">
            <a:spAutoFit/>
          </a:bodyPr>
          <a:lstStyle/>
          <a:p>
            <a:r>
              <a:rPr lang="en-US" sz="1000" dirty="0">
                <a:solidFill>
                  <a:schemeClr val="bg1"/>
                </a:solidFill>
                <a:latin typeface="+mn-lt"/>
              </a:rPr>
              <a:t>Week 6</a:t>
            </a:r>
          </a:p>
        </p:txBody>
      </p:sp>
      <p:sp>
        <p:nvSpPr>
          <p:cNvPr id="56" name="TextBox 55">
            <a:extLst>
              <a:ext uri="{FF2B5EF4-FFF2-40B4-BE49-F238E27FC236}">
                <a16:creationId xmlns:a16="http://schemas.microsoft.com/office/drawing/2014/main" id="{131746B4-7E01-D841-886C-3C561369EAAA}"/>
              </a:ext>
            </a:extLst>
          </p:cNvPr>
          <p:cNvSpPr txBox="1"/>
          <p:nvPr/>
        </p:nvSpPr>
        <p:spPr>
          <a:xfrm>
            <a:off x="5392681" y="872553"/>
            <a:ext cx="744492" cy="246221"/>
          </a:xfrm>
          <a:prstGeom prst="rect">
            <a:avLst/>
          </a:prstGeom>
          <a:noFill/>
        </p:spPr>
        <p:txBody>
          <a:bodyPr wrap="square" rtlCol="0">
            <a:spAutoFit/>
          </a:bodyPr>
          <a:lstStyle/>
          <a:p>
            <a:r>
              <a:rPr lang="en-US" sz="1000" dirty="0">
                <a:solidFill>
                  <a:schemeClr val="bg1"/>
                </a:solidFill>
                <a:latin typeface="+mn-lt"/>
              </a:rPr>
              <a:t>Week 7</a:t>
            </a:r>
          </a:p>
        </p:txBody>
      </p:sp>
      <p:sp>
        <p:nvSpPr>
          <p:cNvPr id="57" name="TextBox 56">
            <a:extLst>
              <a:ext uri="{FF2B5EF4-FFF2-40B4-BE49-F238E27FC236}">
                <a16:creationId xmlns:a16="http://schemas.microsoft.com/office/drawing/2014/main" id="{AB79B8D5-B6EC-E34A-BFD7-865EFE6915A0}"/>
              </a:ext>
            </a:extLst>
          </p:cNvPr>
          <p:cNvSpPr txBox="1"/>
          <p:nvPr/>
        </p:nvSpPr>
        <p:spPr>
          <a:xfrm>
            <a:off x="6362923" y="872553"/>
            <a:ext cx="676811" cy="246221"/>
          </a:xfrm>
          <a:prstGeom prst="rect">
            <a:avLst/>
          </a:prstGeom>
          <a:noFill/>
        </p:spPr>
        <p:txBody>
          <a:bodyPr wrap="square" rtlCol="0">
            <a:spAutoFit/>
          </a:bodyPr>
          <a:lstStyle/>
          <a:p>
            <a:r>
              <a:rPr lang="en-US" sz="1000" dirty="0">
                <a:solidFill>
                  <a:schemeClr val="bg1"/>
                </a:solidFill>
                <a:latin typeface="+mn-lt"/>
              </a:rPr>
              <a:t>Week 8</a:t>
            </a:r>
          </a:p>
        </p:txBody>
      </p:sp>
      <p:sp>
        <p:nvSpPr>
          <p:cNvPr id="58" name="TextBox 57">
            <a:extLst>
              <a:ext uri="{FF2B5EF4-FFF2-40B4-BE49-F238E27FC236}">
                <a16:creationId xmlns:a16="http://schemas.microsoft.com/office/drawing/2014/main" id="{D3367677-A177-4D41-A6DE-126A33181F86}"/>
              </a:ext>
            </a:extLst>
          </p:cNvPr>
          <p:cNvSpPr txBox="1"/>
          <p:nvPr/>
        </p:nvSpPr>
        <p:spPr>
          <a:xfrm>
            <a:off x="7219442" y="872553"/>
            <a:ext cx="676811" cy="246221"/>
          </a:xfrm>
          <a:prstGeom prst="rect">
            <a:avLst/>
          </a:prstGeom>
          <a:noFill/>
        </p:spPr>
        <p:txBody>
          <a:bodyPr wrap="square" rtlCol="0">
            <a:spAutoFit/>
          </a:bodyPr>
          <a:lstStyle/>
          <a:p>
            <a:r>
              <a:rPr lang="en-US" sz="1000" dirty="0">
                <a:solidFill>
                  <a:schemeClr val="bg1"/>
                </a:solidFill>
                <a:latin typeface="+mn-lt"/>
              </a:rPr>
              <a:t>Week 9</a:t>
            </a:r>
          </a:p>
        </p:txBody>
      </p:sp>
      <p:sp>
        <p:nvSpPr>
          <p:cNvPr id="60" name="object 16">
            <a:extLst>
              <a:ext uri="{FF2B5EF4-FFF2-40B4-BE49-F238E27FC236}">
                <a16:creationId xmlns:a16="http://schemas.microsoft.com/office/drawing/2014/main" id="{FA49968F-6C7B-384C-8230-C2778BF4577D}"/>
              </a:ext>
            </a:extLst>
          </p:cNvPr>
          <p:cNvSpPr/>
          <p:nvPr/>
        </p:nvSpPr>
        <p:spPr>
          <a:xfrm>
            <a:off x="1682302"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C00000"/>
          </a:solidFill>
        </p:spPr>
        <p:txBody>
          <a:bodyPr wrap="square" lIns="0" tIns="0" rIns="0" bIns="0" rtlCol="0"/>
          <a:lstStyle/>
          <a:p>
            <a:endParaRPr dirty="0">
              <a:latin typeface="+mn-lt"/>
            </a:endParaRPr>
          </a:p>
        </p:txBody>
      </p:sp>
      <p:sp>
        <p:nvSpPr>
          <p:cNvPr id="61" name="object 16">
            <a:extLst>
              <a:ext uri="{FF2B5EF4-FFF2-40B4-BE49-F238E27FC236}">
                <a16:creationId xmlns:a16="http://schemas.microsoft.com/office/drawing/2014/main" id="{A62DF6D0-DE0A-A74C-9C2A-AB029B779D2B}"/>
              </a:ext>
            </a:extLst>
          </p:cNvPr>
          <p:cNvSpPr/>
          <p:nvPr/>
        </p:nvSpPr>
        <p:spPr>
          <a:xfrm>
            <a:off x="3370584"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C00000"/>
          </a:solidFill>
        </p:spPr>
        <p:txBody>
          <a:bodyPr wrap="square" lIns="0" tIns="0" rIns="0" bIns="0" rtlCol="0"/>
          <a:lstStyle/>
          <a:p>
            <a:endParaRPr dirty="0">
              <a:latin typeface="+mn-lt"/>
            </a:endParaRPr>
          </a:p>
        </p:txBody>
      </p:sp>
      <p:sp>
        <p:nvSpPr>
          <p:cNvPr id="62" name="object 16">
            <a:extLst>
              <a:ext uri="{FF2B5EF4-FFF2-40B4-BE49-F238E27FC236}">
                <a16:creationId xmlns:a16="http://schemas.microsoft.com/office/drawing/2014/main" id="{C81085F4-B65E-0540-B415-AA1FED14C08A}"/>
              </a:ext>
            </a:extLst>
          </p:cNvPr>
          <p:cNvSpPr/>
          <p:nvPr/>
        </p:nvSpPr>
        <p:spPr>
          <a:xfrm>
            <a:off x="5178259"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C00000"/>
          </a:solidFill>
        </p:spPr>
        <p:txBody>
          <a:bodyPr wrap="square" lIns="0" tIns="0" rIns="0" bIns="0" rtlCol="0"/>
          <a:lstStyle/>
          <a:p>
            <a:endParaRPr dirty="0">
              <a:latin typeface="+mn-lt"/>
            </a:endParaRPr>
          </a:p>
        </p:txBody>
      </p:sp>
      <p:sp>
        <p:nvSpPr>
          <p:cNvPr id="63" name="object 16">
            <a:extLst>
              <a:ext uri="{FF2B5EF4-FFF2-40B4-BE49-F238E27FC236}">
                <a16:creationId xmlns:a16="http://schemas.microsoft.com/office/drawing/2014/main" id="{6E98915B-E113-F349-A0AA-AD76FE2DF747}"/>
              </a:ext>
            </a:extLst>
          </p:cNvPr>
          <p:cNvSpPr/>
          <p:nvPr/>
        </p:nvSpPr>
        <p:spPr>
          <a:xfrm>
            <a:off x="7079512"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C00000"/>
          </a:solidFill>
        </p:spPr>
        <p:txBody>
          <a:bodyPr wrap="square" lIns="0" tIns="0" rIns="0" bIns="0" rtlCol="0"/>
          <a:lstStyle/>
          <a:p>
            <a:endParaRPr dirty="0">
              <a:latin typeface="+mn-lt"/>
            </a:endParaRPr>
          </a:p>
        </p:txBody>
      </p:sp>
      <p:sp>
        <p:nvSpPr>
          <p:cNvPr id="64" name="object 16">
            <a:extLst>
              <a:ext uri="{FF2B5EF4-FFF2-40B4-BE49-F238E27FC236}">
                <a16:creationId xmlns:a16="http://schemas.microsoft.com/office/drawing/2014/main" id="{C2A121EE-C8BA-9341-B8F9-EABCAE8D384C}"/>
              </a:ext>
            </a:extLst>
          </p:cNvPr>
          <p:cNvSpPr/>
          <p:nvPr/>
        </p:nvSpPr>
        <p:spPr>
          <a:xfrm>
            <a:off x="7778879"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0070C0"/>
          </a:solidFill>
        </p:spPr>
        <p:txBody>
          <a:bodyPr wrap="square" lIns="0" tIns="0" rIns="0" bIns="0" rtlCol="0"/>
          <a:lstStyle/>
          <a:p>
            <a:endParaRPr dirty="0">
              <a:latin typeface="+mn-lt"/>
            </a:endParaRPr>
          </a:p>
        </p:txBody>
      </p:sp>
      <p:sp>
        <p:nvSpPr>
          <p:cNvPr id="65" name="object 16">
            <a:extLst>
              <a:ext uri="{FF2B5EF4-FFF2-40B4-BE49-F238E27FC236}">
                <a16:creationId xmlns:a16="http://schemas.microsoft.com/office/drawing/2014/main" id="{6F35CA22-EA24-514D-91F8-B3D5BFEF5DC3}"/>
              </a:ext>
            </a:extLst>
          </p:cNvPr>
          <p:cNvSpPr/>
          <p:nvPr/>
        </p:nvSpPr>
        <p:spPr>
          <a:xfrm>
            <a:off x="2472755"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0070C0"/>
          </a:solidFill>
        </p:spPr>
        <p:txBody>
          <a:bodyPr wrap="square" lIns="0" tIns="0" rIns="0" bIns="0" rtlCol="0"/>
          <a:lstStyle/>
          <a:p>
            <a:endParaRPr dirty="0">
              <a:latin typeface="+mn-lt"/>
            </a:endParaRPr>
          </a:p>
        </p:txBody>
      </p:sp>
      <p:sp>
        <p:nvSpPr>
          <p:cNvPr id="66" name="object 16">
            <a:extLst>
              <a:ext uri="{FF2B5EF4-FFF2-40B4-BE49-F238E27FC236}">
                <a16:creationId xmlns:a16="http://schemas.microsoft.com/office/drawing/2014/main" id="{5B51CDFA-332D-014D-92D4-2C5A9D66FDD4}"/>
              </a:ext>
            </a:extLst>
          </p:cNvPr>
          <p:cNvSpPr/>
          <p:nvPr/>
        </p:nvSpPr>
        <p:spPr>
          <a:xfrm>
            <a:off x="3439856"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0070C0"/>
          </a:solidFill>
        </p:spPr>
        <p:txBody>
          <a:bodyPr wrap="square" lIns="0" tIns="0" rIns="0" bIns="0" rtlCol="0"/>
          <a:lstStyle/>
          <a:p>
            <a:endParaRPr dirty="0">
              <a:latin typeface="+mn-lt"/>
            </a:endParaRPr>
          </a:p>
        </p:txBody>
      </p:sp>
      <p:sp>
        <p:nvSpPr>
          <p:cNvPr id="67" name="object 16">
            <a:extLst>
              <a:ext uri="{FF2B5EF4-FFF2-40B4-BE49-F238E27FC236}">
                <a16:creationId xmlns:a16="http://schemas.microsoft.com/office/drawing/2014/main" id="{16D5D5BD-865D-7C40-9576-AB8D799DCC80}"/>
              </a:ext>
            </a:extLst>
          </p:cNvPr>
          <p:cNvSpPr/>
          <p:nvPr/>
        </p:nvSpPr>
        <p:spPr>
          <a:xfrm>
            <a:off x="6978015" y="1060443"/>
            <a:ext cx="137160" cy="157480"/>
          </a:xfrm>
          <a:custGeom>
            <a:avLst/>
            <a:gdLst/>
            <a:ahLst/>
            <a:cxnLst/>
            <a:rect l="l" t="t" r="r" b="b"/>
            <a:pathLst>
              <a:path w="137159" h="157479">
                <a:moveTo>
                  <a:pt x="68580" y="0"/>
                </a:moveTo>
                <a:lnTo>
                  <a:pt x="0" y="78485"/>
                </a:lnTo>
                <a:lnTo>
                  <a:pt x="68580" y="156971"/>
                </a:lnTo>
                <a:lnTo>
                  <a:pt x="137160" y="78485"/>
                </a:lnTo>
                <a:lnTo>
                  <a:pt x="68580" y="0"/>
                </a:lnTo>
                <a:close/>
              </a:path>
            </a:pathLst>
          </a:custGeom>
          <a:solidFill>
            <a:srgbClr val="0070C0"/>
          </a:solidFill>
        </p:spPr>
        <p:txBody>
          <a:bodyPr wrap="square" lIns="0" tIns="0" rIns="0" bIns="0" rtlCol="0"/>
          <a:lstStyle/>
          <a:p>
            <a:endParaRPr dirty="0">
              <a:latin typeface="+mn-lt"/>
            </a:endParaRPr>
          </a:p>
        </p:txBody>
      </p:sp>
      <p:sp>
        <p:nvSpPr>
          <p:cNvPr id="69" name="object 22">
            <a:extLst>
              <a:ext uri="{FF2B5EF4-FFF2-40B4-BE49-F238E27FC236}">
                <a16:creationId xmlns:a16="http://schemas.microsoft.com/office/drawing/2014/main" id="{6CCAA1F1-A659-BF4D-B213-46F9D1B3528A}"/>
              </a:ext>
            </a:extLst>
          </p:cNvPr>
          <p:cNvSpPr/>
          <p:nvPr/>
        </p:nvSpPr>
        <p:spPr>
          <a:xfrm>
            <a:off x="77432" y="1192757"/>
            <a:ext cx="174625" cy="200025"/>
          </a:xfrm>
          <a:custGeom>
            <a:avLst/>
            <a:gdLst/>
            <a:ahLst/>
            <a:cxnLst/>
            <a:rect l="l" t="t" r="r" b="b"/>
            <a:pathLst>
              <a:path w="174625" h="200025">
                <a:moveTo>
                  <a:pt x="36372" y="33502"/>
                </a:moveTo>
                <a:lnTo>
                  <a:pt x="43395" y="72250"/>
                </a:lnTo>
                <a:lnTo>
                  <a:pt x="9461" y="76441"/>
                </a:lnTo>
                <a:lnTo>
                  <a:pt x="31788" y="107137"/>
                </a:lnTo>
                <a:lnTo>
                  <a:pt x="0" y="119024"/>
                </a:lnTo>
                <a:lnTo>
                  <a:pt x="26898" y="142062"/>
                </a:lnTo>
                <a:lnTo>
                  <a:pt x="10375" y="164757"/>
                </a:lnTo>
                <a:lnTo>
                  <a:pt x="38811" y="168592"/>
                </a:lnTo>
                <a:lnTo>
                  <a:pt x="39725" y="199644"/>
                </a:lnTo>
                <a:lnTo>
                  <a:pt x="60807" y="167525"/>
                </a:lnTo>
                <a:lnTo>
                  <a:pt x="76699" y="167525"/>
                </a:lnTo>
                <a:lnTo>
                  <a:pt x="79755" y="160540"/>
                </a:lnTo>
                <a:lnTo>
                  <a:pt x="96131" y="160540"/>
                </a:lnTo>
                <a:lnTo>
                  <a:pt x="98399" y="147281"/>
                </a:lnTo>
                <a:lnTo>
                  <a:pt x="119554" y="147281"/>
                </a:lnTo>
                <a:lnTo>
                  <a:pt x="118275" y="132638"/>
                </a:lnTo>
                <a:lnTo>
                  <a:pt x="144714" y="132638"/>
                </a:lnTo>
                <a:lnTo>
                  <a:pt x="132321" y="113779"/>
                </a:lnTo>
                <a:lnTo>
                  <a:pt x="147599" y="104355"/>
                </a:lnTo>
                <a:lnTo>
                  <a:pt x="137210" y="86906"/>
                </a:lnTo>
                <a:lnTo>
                  <a:pt x="174497" y="61417"/>
                </a:lnTo>
                <a:lnTo>
                  <a:pt x="132321" y="60375"/>
                </a:lnTo>
                <a:lnTo>
                  <a:pt x="132907" y="58991"/>
                </a:lnTo>
                <a:lnTo>
                  <a:pt x="69075" y="58991"/>
                </a:lnTo>
                <a:lnTo>
                  <a:pt x="36372" y="33502"/>
                </a:lnTo>
                <a:close/>
              </a:path>
              <a:path w="174625" h="200025">
                <a:moveTo>
                  <a:pt x="76699" y="167525"/>
                </a:moveTo>
                <a:lnTo>
                  <a:pt x="60807" y="167525"/>
                </a:lnTo>
                <a:lnTo>
                  <a:pt x="70281" y="182194"/>
                </a:lnTo>
                <a:lnTo>
                  <a:pt x="76699" y="167525"/>
                </a:lnTo>
                <a:close/>
              </a:path>
              <a:path w="174625" h="200025">
                <a:moveTo>
                  <a:pt x="96131" y="160540"/>
                </a:moveTo>
                <a:lnTo>
                  <a:pt x="79755" y="160540"/>
                </a:lnTo>
                <a:lnTo>
                  <a:pt x="93802" y="174155"/>
                </a:lnTo>
                <a:lnTo>
                  <a:pt x="96131" y="160540"/>
                </a:lnTo>
                <a:close/>
              </a:path>
              <a:path w="174625" h="200025">
                <a:moveTo>
                  <a:pt x="119554" y="147281"/>
                </a:moveTo>
                <a:lnTo>
                  <a:pt x="98399" y="147281"/>
                </a:lnTo>
                <a:lnTo>
                  <a:pt x="120713" y="160540"/>
                </a:lnTo>
                <a:lnTo>
                  <a:pt x="119554" y="147281"/>
                </a:lnTo>
                <a:close/>
              </a:path>
              <a:path w="174625" h="200025">
                <a:moveTo>
                  <a:pt x="144714" y="132638"/>
                </a:moveTo>
                <a:lnTo>
                  <a:pt x="118275" y="132638"/>
                </a:lnTo>
                <a:lnTo>
                  <a:pt x="152501" y="144487"/>
                </a:lnTo>
                <a:lnTo>
                  <a:pt x="144714" y="132638"/>
                </a:lnTo>
                <a:close/>
              </a:path>
              <a:path w="174625" h="200025">
                <a:moveTo>
                  <a:pt x="78536" y="17437"/>
                </a:moveTo>
                <a:lnTo>
                  <a:pt x="69075" y="58991"/>
                </a:lnTo>
                <a:lnTo>
                  <a:pt x="132907" y="58991"/>
                </a:lnTo>
                <a:lnTo>
                  <a:pt x="135278" y="53390"/>
                </a:lnTo>
                <a:lnTo>
                  <a:pt x="117335" y="53390"/>
                </a:lnTo>
                <a:lnTo>
                  <a:pt x="117868" y="40132"/>
                </a:lnTo>
                <a:lnTo>
                  <a:pt x="92595" y="40132"/>
                </a:lnTo>
                <a:lnTo>
                  <a:pt x="78536" y="17437"/>
                </a:lnTo>
                <a:close/>
              </a:path>
              <a:path w="174625" h="200025">
                <a:moveTo>
                  <a:pt x="145465" y="29324"/>
                </a:moveTo>
                <a:lnTo>
                  <a:pt x="117335" y="53390"/>
                </a:lnTo>
                <a:lnTo>
                  <a:pt x="135278" y="53390"/>
                </a:lnTo>
                <a:lnTo>
                  <a:pt x="145465" y="29324"/>
                </a:lnTo>
                <a:close/>
              </a:path>
              <a:path w="174625" h="200025">
                <a:moveTo>
                  <a:pt x="119481" y="0"/>
                </a:moveTo>
                <a:lnTo>
                  <a:pt x="92595" y="40132"/>
                </a:lnTo>
                <a:lnTo>
                  <a:pt x="117868" y="40132"/>
                </a:lnTo>
                <a:lnTo>
                  <a:pt x="119481" y="0"/>
                </a:lnTo>
                <a:close/>
              </a:path>
            </a:pathLst>
          </a:custGeom>
          <a:solidFill>
            <a:srgbClr val="FFFF00"/>
          </a:solidFill>
        </p:spPr>
        <p:txBody>
          <a:bodyPr wrap="square" lIns="0" tIns="0" rIns="0" bIns="0" rtlCol="0"/>
          <a:lstStyle/>
          <a:p>
            <a:endParaRPr>
              <a:latin typeface="Times" pitchFamily="2" charset="0"/>
            </a:endParaRPr>
          </a:p>
        </p:txBody>
      </p:sp>
      <p:sp>
        <p:nvSpPr>
          <p:cNvPr id="70" name="object 23">
            <a:extLst>
              <a:ext uri="{FF2B5EF4-FFF2-40B4-BE49-F238E27FC236}">
                <a16:creationId xmlns:a16="http://schemas.microsoft.com/office/drawing/2014/main" id="{9549C36C-1C3C-BB49-A653-DE82CE138D5B}"/>
              </a:ext>
            </a:extLst>
          </p:cNvPr>
          <p:cNvSpPr/>
          <p:nvPr/>
        </p:nvSpPr>
        <p:spPr>
          <a:xfrm>
            <a:off x="77432" y="1192757"/>
            <a:ext cx="174625" cy="200025"/>
          </a:xfrm>
          <a:custGeom>
            <a:avLst/>
            <a:gdLst/>
            <a:ahLst/>
            <a:cxnLst/>
            <a:rect l="l" t="t" r="r" b="b"/>
            <a:pathLst>
              <a:path w="174625" h="200025">
                <a:moveTo>
                  <a:pt x="92595" y="40132"/>
                </a:moveTo>
                <a:lnTo>
                  <a:pt x="119481" y="0"/>
                </a:lnTo>
                <a:lnTo>
                  <a:pt x="117335" y="53390"/>
                </a:lnTo>
                <a:lnTo>
                  <a:pt x="145465" y="29311"/>
                </a:lnTo>
                <a:lnTo>
                  <a:pt x="132321" y="60375"/>
                </a:lnTo>
                <a:lnTo>
                  <a:pt x="174497" y="61417"/>
                </a:lnTo>
                <a:lnTo>
                  <a:pt x="137210" y="86906"/>
                </a:lnTo>
                <a:lnTo>
                  <a:pt x="147599" y="104355"/>
                </a:lnTo>
                <a:lnTo>
                  <a:pt x="132321" y="113779"/>
                </a:lnTo>
                <a:lnTo>
                  <a:pt x="152501" y="144487"/>
                </a:lnTo>
                <a:lnTo>
                  <a:pt x="118275" y="132638"/>
                </a:lnTo>
                <a:lnTo>
                  <a:pt x="120713" y="160540"/>
                </a:lnTo>
                <a:lnTo>
                  <a:pt x="98399" y="147281"/>
                </a:lnTo>
                <a:lnTo>
                  <a:pt x="93802" y="174155"/>
                </a:lnTo>
                <a:lnTo>
                  <a:pt x="79755" y="160540"/>
                </a:lnTo>
                <a:lnTo>
                  <a:pt x="70281" y="182194"/>
                </a:lnTo>
                <a:lnTo>
                  <a:pt x="60807" y="167525"/>
                </a:lnTo>
                <a:lnTo>
                  <a:pt x="39725" y="199644"/>
                </a:lnTo>
                <a:lnTo>
                  <a:pt x="38811" y="168592"/>
                </a:lnTo>
                <a:lnTo>
                  <a:pt x="10375" y="164757"/>
                </a:lnTo>
                <a:lnTo>
                  <a:pt x="26898" y="142062"/>
                </a:lnTo>
                <a:lnTo>
                  <a:pt x="0" y="119024"/>
                </a:lnTo>
                <a:lnTo>
                  <a:pt x="31788" y="107137"/>
                </a:lnTo>
                <a:lnTo>
                  <a:pt x="9461" y="76441"/>
                </a:lnTo>
                <a:lnTo>
                  <a:pt x="43395" y="72250"/>
                </a:lnTo>
                <a:lnTo>
                  <a:pt x="36372" y="33502"/>
                </a:lnTo>
                <a:lnTo>
                  <a:pt x="69075" y="58991"/>
                </a:lnTo>
                <a:lnTo>
                  <a:pt x="78536" y="17437"/>
                </a:lnTo>
                <a:lnTo>
                  <a:pt x="92595" y="40132"/>
                </a:lnTo>
                <a:close/>
              </a:path>
            </a:pathLst>
          </a:custGeom>
          <a:ln w="9906">
            <a:solidFill>
              <a:srgbClr val="000000"/>
            </a:solidFill>
          </a:ln>
        </p:spPr>
        <p:txBody>
          <a:bodyPr wrap="square" lIns="0" tIns="0" rIns="0" bIns="0" rtlCol="0"/>
          <a:lstStyle/>
          <a:p>
            <a:endParaRPr>
              <a:latin typeface="Times" pitchFamily="2" charset="0"/>
            </a:endParaRPr>
          </a:p>
        </p:txBody>
      </p:sp>
      <p:sp>
        <p:nvSpPr>
          <p:cNvPr id="71" name="TextBox 70">
            <a:extLst>
              <a:ext uri="{FF2B5EF4-FFF2-40B4-BE49-F238E27FC236}">
                <a16:creationId xmlns:a16="http://schemas.microsoft.com/office/drawing/2014/main" id="{1B4F8372-7ED2-BE41-A459-602B3DEDACBF}"/>
              </a:ext>
            </a:extLst>
          </p:cNvPr>
          <p:cNvSpPr txBox="1"/>
          <p:nvPr/>
        </p:nvSpPr>
        <p:spPr>
          <a:xfrm>
            <a:off x="79623" y="4709962"/>
            <a:ext cx="2412460" cy="261610"/>
          </a:xfrm>
          <a:prstGeom prst="rect">
            <a:avLst/>
          </a:prstGeom>
          <a:noFill/>
        </p:spPr>
        <p:txBody>
          <a:bodyPr wrap="square" rtlCol="0">
            <a:spAutoFit/>
          </a:bodyPr>
          <a:lstStyle/>
          <a:p>
            <a:r>
              <a:rPr lang="en-US" sz="1100" b="1" u="sng" dirty="0">
                <a:latin typeface="+mn-lt"/>
              </a:rPr>
              <a:t>Resource Allocation:</a:t>
            </a:r>
          </a:p>
        </p:txBody>
      </p:sp>
      <p:sp>
        <p:nvSpPr>
          <p:cNvPr id="72" name="TextBox 71">
            <a:extLst>
              <a:ext uri="{FF2B5EF4-FFF2-40B4-BE49-F238E27FC236}">
                <a16:creationId xmlns:a16="http://schemas.microsoft.com/office/drawing/2014/main" id="{A106D374-9419-1D4B-9D00-90A48509184C}"/>
              </a:ext>
            </a:extLst>
          </p:cNvPr>
          <p:cNvSpPr txBox="1"/>
          <p:nvPr/>
        </p:nvSpPr>
        <p:spPr>
          <a:xfrm>
            <a:off x="387064" y="4954587"/>
            <a:ext cx="1950566" cy="400110"/>
          </a:xfrm>
          <a:prstGeom prst="rect">
            <a:avLst/>
          </a:prstGeom>
          <a:noFill/>
        </p:spPr>
        <p:txBody>
          <a:bodyPr wrap="square" rtlCol="0">
            <a:spAutoFit/>
          </a:bodyPr>
          <a:lstStyle/>
          <a:p>
            <a:r>
              <a:rPr lang="en-US" sz="1000" dirty="0">
                <a:latin typeface="+mn-lt"/>
              </a:rPr>
              <a:t>Solution Architect Delivery Manager</a:t>
            </a:r>
          </a:p>
        </p:txBody>
      </p:sp>
      <p:sp>
        <p:nvSpPr>
          <p:cNvPr id="73" name="TextBox 72">
            <a:extLst>
              <a:ext uri="{FF2B5EF4-FFF2-40B4-BE49-F238E27FC236}">
                <a16:creationId xmlns:a16="http://schemas.microsoft.com/office/drawing/2014/main" id="{2F999C84-1C3F-EC44-82D1-F106AB211C52}"/>
              </a:ext>
            </a:extLst>
          </p:cNvPr>
          <p:cNvSpPr txBox="1"/>
          <p:nvPr/>
        </p:nvSpPr>
        <p:spPr>
          <a:xfrm>
            <a:off x="393974" y="5334842"/>
            <a:ext cx="1851178" cy="400110"/>
          </a:xfrm>
          <a:prstGeom prst="rect">
            <a:avLst/>
          </a:prstGeom>
          <a:noFill/>
        </p:spPr>
        <p:txBody>
          <a:bodyPr wrap="square" rtlCol="0">
            <a:spAutoFit/>
          </a:bodyPr>
          <a:lstStyle/>
          <a:p>
            <a:r>
              <a:rPr lang="en-US" sz="1000" dirty="0">
                <a:latin typeface="+mn-lt"/>
              </a:rPr>
              <a:t>Solution Architect Senior Consultant  Delivery Manager</a:t>
            </a:r>
          </a:p>
        </p:txBody>
      </p:sp>
      <p:sp>
        <p:nvSpPr>
          <p:cNvPr id="74" name="TextBox 73">
            <a:extLst>
              <a:ext uri="{FF2B5EF4-FFF2-40B4-BE49-F238E27FC236}">
                <a16:creationId xmlns:a16="http://schemas.microsoft.com/office/drawing/2014/main" id="{D238758A-6C6F-0D4D-8E65-A8701F37C005}"/>
              </a:ext>
            </a:extLst>
          </p:cNvPr>
          <p:cNvSpPr txBox="1"/>
          <p:nvPr/>
        </p:nvSpPr>
        <p:spPr>
          <a:xfrm>
            <a:off x="2774064" y="4954587"/>
            <a:ext cx="1192502" cy="400110"/>
          </a:xfrm>
          <a:prstGeom prst="rect">
            <a:avLst/>
          </a:prstGeom>
          <a:noFill/>
        </p:spPr>
        <p:txBody>
          <a:bodyPr wrap="square" rtlCol="0">
            <a:spAutoFit/>
          </a:bodyPr>
          <a:lstStyle/>
          <a:p>
            <a:r>
              <a:rPr lang="en-US" sz="1000" dirty="0">
                <a:latin typeface="+mn-lt"/>
              </a:rPr>
              <a:t>Senior Consultant  Delivery Manager</a:t>
            </a:r>
          </a:p>
        </p:txBody>
      </p:sp>
      <p:sp>
        <p:nvSpPr>
          <p:cNvPr id="75" name="TextBox 74">
            <a:extLst>
              <a:ext uri="{FF2B5EF4-FFF2-40B4-BE49-F238E27FC236}">
                <a16:creationId xmlns:a16="http://schemas.microsoft.com/office/drawing/2014/main" id="{45386F95-AD05-144F-AB84-39AD7323198C}"/>
              </a:ext>
            </a:extLst>
          </p:cNvPr>
          <p:cNvSpPr txBox="1"/>
          <p:nvPr/>
        </p:nvSpPr>
        <p:spPr>
          <a:xfrm>
            <a:off x="2796092" y="5411787"/>
            <a:ext cx="1192502" cy="246221"/>
          </a:xfrm>
          <a:prstGeom prst="rect">
            <a:avLst/>
          </a:prstGeom>
          <a:noFill/>
        </p:spPr>
        <p:txBody>
          <a:bodyPr wrap="square" rtlCol="0">
            <a:spAutoFit/>
          </a:bodyPr>
          <a:lstStyle/>
          <a:p>
            <a:r>
              <a:rPr lang="en-US" sz="1000" dirty="0">
                <a:latin typeface="+mn-lt"/>
              </a:rPr>
              <a:t>Delivery Manager</a:t>
            </a:r>
          </a:p>
        </p:txBody>
      </p:sp>
      <p:sp>
        <p:nvSpPr>
          <p:cNvPr id="76" name="Rectangle 75">
            <a:extLst>
              <a:ext uri="{FF2B5EF4-FFF2-40B4-BE49-F238E27FC236}">
                <a16:creationId xmlns:a16="http://schemas.microsoft.com/office/drawing/2014/main" id="{749900AD-414F-204F-BDA2-61677F4E6437}"/>
              </a:ext>
            </a:extLst>
          </p:cNvPr>
          <p:cNvSpPr/>
          <p:nvPr/>
        </p:nvSpPr>
        <p:spPr>
          <a:xfrm>
            <a:off x="178594" y="5042981"/>
            <a:ext cx="183034" cy="1925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7" name="Rectangle 76">
            <a:extLst>
              <a:ext uri="{FF2B5EF4-FFF2-40B4-BE49-F238E27FC236}">
                <a16:creationId xmlns:a16="http://schemas.microsoft.com/office/drawing/2014/main" id="{35430FB2-4CBD-F141-BE96-5BAF91291E5E}"/>
              </a:ext>
            </a:extLst>
          </p:cNvPr>
          <p:cNvSpPr/>
          <p:nvPr/>
        </p:nvSpPr>
        <p:spPr>
          <a:xfrm>
            <a:off x="178952" y="5493230"/>
            <a:ext cx="183034" cy="19254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8" name="Rectangle 77">
            <a:extLst>
              <a:ext uri="{FF2B5EF4-FFF2-40B4-BE49-F238E27FC236}">
                <a16:creationId xmlns:a16="http://schemas.microsoft.com/office/drawing/2014/main" id="{1FF41E19-BD5A-8348-9437-ADFBB112199C}"/>
              </a:ext>
            </a:extLst>
          </p:cNvPr>
          <p:cNvSpPr/>
          <p:nvPr/>
        </p:nvSpPr>
        <p:spPr>
          <a:xfrm>
            <a:off x="2529006" y="5042981"/>
            <a:ext cx="183034" cy="19254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9" name="Rectangle 78">
            <a:extLst>
              <a:ext uri="{FF2B5EF4-FFF2-40B4-BE49-F238E27FC236}">
                <a16:creationId xmlns:a16="http://schemas.microsoft.com/office/drawing/2014/main" id="{8334E160-7C93-2B43-BE75-33F0284AE1D9}"/>
              </a:ext>
            </a:extLst>
          </p:cNvPr>
          <p:cNvSpPr/>
          <p:nvPr/>
        </p:nvSpPr>
        <p:spPr>
          <a:xfrm>
            <a:off x="2522662" y="5430931"/>
            <a:ext cx="183034" cy="19254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Tree>
    <p:extLst>
      <p:ext uri="{BB962C8B-B14F-4D97-AF65-F5344CB8AC3E}">
        <p14:creationId xmlns:p14="http://schemas.microsoft.com/office/powerpoint/2010/main" val="38475202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88" y="0"/>
            <a:ext cx="7011987" cy="382588"/>
          </a:xfrm>
        </p:spPr>
        <p:txBody>
          <a:bodyPr rtlCol="0">
            <a:normAutofit fontScale="90000"/>
          </a:bodyPr>
          <a:lstStyle/>
          <a:p>
            <a:pPr eaLnBrk="1" hangingPunct="1">
              <a:defRPr/>
            </a:pPr>
            <a:r>
              <a:rPr lang="en-US" dirty="0" smtClean="0">
                <a:latin typeface="+mn-lt"/>
              </a:rPr>
              <a:t>Project Delivery Assurance</a:t>
            </a:r>
            <a:endParaRPr lang="en-US" dirty="0">
              <a:latin typeface="+mn-lt"/>
            </a:endParaRPr>
          </a:p>
        </p:txBody>
      </p:sp>
      <p:sp>
        <p:nvSpPr>
          <p:cNvPr id="4" name="object 28">
            <a:extLst>
              <a:ext uri="{FF2B5EF4-FFF2-40B4-BE49-F238E27FC236}">
                <a16:creationId xmlns:a16="http://schemas.microsoft.com/office/drawing/2014/main" id="{A75BC22E-3377-5E46-934C-E94D55BBD6B4}"/>
              </a:ext>
            </a:extLst>
          </p:cNvPr>
          <p:cNvSpPr/>
          <p:nvPr/>
        </p:nvSpPr>
        <p:spPr>
          <a:xfrm>
            <a:off x="70115" y="1982787"/>
            <a:ext cx="7759732" cy="3411684"/>
          </a:xfrm>
          <a:custGeom>
            <a:avLst/>
            <a:gdLst/>
            <a:ahLst/>
            <a:cxnLst/>
            <a:rect l="l" t="t" r="r" b="b"/>
            <a:pathLst>
              <a:path w="11862435" h="4251960">
                <a:moveTo>
                  <a:pt x="0" y="0"/>
                </a:moveTo>
                <a:lnTo>
                  <a:pt x="11862054" y="0"/>
                </a:lnTo>
                <a:lnTo>
                  <a:pt x="11862054" y="4251960"/>
                </a:lnTo>
                <a:lnTo>
                  <a:pt x="0" y="4251960"/>
                </a:lnTo>
                <a:lnTo>
                  <a:pt x="0" y="0"/>
                </a:lnTo>
                <a:close/>
              </a:path>
            </a:pathLst>
          </a:custGeom>
          <a:solidFill>
            <a:srgbClr val="F2F2F2"/>
          </a:solidFill>
        </p:spPr>
        <p:txBody>
          <a:bodyPr wrap="square" lIns="0" tIns="0" rIns="0" bIns="0" rtlCol="0"/>
          <a:lstStyle/>
          <a:p>
            <a:r>
              <a:rPr lang="en-US" sz="1400" dirty="0" smtClean="0">
                <a:latin typeface="+mn-lt"/>
              </a:rPr>
              <a:t>As the PM, you need a daily meeting with relevant stakeholders to discuss project update. The plan is to be able to discuss and review project problems at the earliest and also be able to resolve them with the right contacts.  </a:t>
            </a:r>
          </a:p>
          <a:p>
            <a:endParaRPr lang="en-US" sz="1400" dirty="0">
              <a:latin typeface="+mn-lt"/>
            </a:endParaRPr>
          </a:p>
          <a:p>
            <a:pPr marL="342900" indent="-342900">
              <a:buFont typeface="Arial" panose="020B0604020202020204" pitchFamily="34" charset="0"/>
              <a:buChar char="•"/>
            </a:pPr>
            <a:r>
              <a:rPr lang="en-US" sz="1400" dirty="0" smtClean="0">
                <a:latin typeface="+mn-lt"/>
              </a:rPr>
              <a:t>Vendor Contact (technical and business)</a:t>
            </a:r>
          </a:p>
          <a:p>
            <a:pPr marL="342900" indent="-342900">
              <a:buFont typeface="Arial" panose="020B0604020202020204" pitchFamily="34" charset="0"/>
              <a:buChar char="•"/>
            </a:pPr>
            <a:r>
              <a:rPr lang="en-US" sz="1400" dirty="0" smtClean="0">
                <a:latin typeface="+mn-lt"/>
              </a:rPr>
              <a:t>Project Contacts (Technical, Testers, business analysts, architects… </a:t>
            </a:r>
            <a:r>
              <a:rPr lang="en-US" sz="1400" dirty="0" err="1" smtClean="0">
                <a:latin typeface="+mn-lt"/>
              </a:rPr>
              <a:t>etc</a:t>
            </a:r>
            <a:r>
              <a:rPr lang="en-US" sz="1400" dirty="0" smtClean="0">
                <a:latin typeface="+mn-lt"/>
              </a:rPr>
              <a:t>)</a:t>
            </a:r>
          </a:p>
          <a:p>
            <a:pPr marL="342900" indent="-342900">
              <a:buFont typeface="Arial" panose="020B0604020202020204" pitchFamily="34" charset="0"/>
              <a:buChar char="•"/>
            </a:pPr>
            <a:r>
              <a:rPr lang="en-US" sz="1400" dirty="0" smtClean="0">
                <a:latin typeface="+mn-lt"/>
              </a:rPr>
              <a:t>Ensure vendor support are onsite.</a:t>
            </a:r>
          </a:p>
          <a:p>
            <a:pPr marL="342900" indent="-342900">
              <a:buFont typeface="Arial" panose="020B0604020202020204" pitchFamily="34" charset="0"/>
              <a:buChar char="•"/>
            </a:pPr>
            <a:r>
              <a:rPr lang="en-US" sz="1400" dirty="0" smtClean="0">
                <a:latin typeface="+mn-lt"/>
              </a:rPr>
              <a:t>Escalation contacts on both sides </a:t>
            </a:r>
          </a:p>
          <a:p>
            <a:pPr marL="342900" indent="-342900">
              <a:buFont typeface="Arial" panose="020B0604020202020204" pitchFamily="34" charset="0"/>
              <a:buChar char="•"/>
            </a:pPr>
            <a:r>
              <a:rPr lang="en-US" sz="1400" dirty="0" smtClean="0">
                <a:latin typeface="+mn-lt"/>
              </a:rPr>
              <a:t>Emergency Change Process – To cut timelines and delays to the project. </a:t>
            </a:r>
            <a:endParaRPr sz="1400" dirty="0">
              <a:latin typeface="+mn-lt"/>
            </a:endParaRPr>
          </a:p>
        </p:txBody>
      </p:sp>
      <p:sp>
        <p:nvSpPr>
          <p:cNvPr id="28" name="Rectangle 4"/>
          <p:cNvSpPr>
            <a:spLocks noChangeArrowheads="1"/>
          </p:cNvSpPr>
          <p:nvPr/>
        </p:nvSpPr>
        <p:spPr bwMode="auto">
          <a:xfrm>
            <a:off x="103188" y="496515"/>
            <a:ext cx="7759732"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smtClean="0">
                <a:ln>
                  <a:noFill/>
                </a:ln>
                <a:solidFill>
                  <a:schemeClr val="tx1"/>
                </a:solidFill>
                <a:effectLst/>
                <a:latin typeface="Arial" panose="020B0604020202020204" pitchFamily="34" charset="0"/>
              </a:rPr>
              <a:t>Its critical you addres</a:t>
            </a:r>
            <a:r>
              <a:rPr lang="en-US" altLang="en-US" sz="1000" dirty="0" smtClean="0">
                <a:latin typeface="Arial" panose="020B0604020202020204" pitchFamily="34" charset="0"/>
              </a:rPr>
              <a:t>s the below.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00" b="0" i="0" u="none" strike="noStrike" cap="none" normalizeH="0" baseline="0" dirty="0" smtClean="0">
                <a:ln>
                  <a:noFill/>
                </a:ln>
                <a:solidFill>
                  <a:schemeClr val="tx1"/>
                </a:solidFill>
                <a:effectLst/>
                <a:latin typeface="Arial" panose="020B0604020202020204" pitchFamily="34" charset="0"/>
              </a:rPr>
              <a:t>You are going into a hot situation where the project is starting a bit late due to delays, but the timeline for delivery has not been changed.  Your job is to convince them that you are the right person to get this on track and deliver successfully.  How do you solve this problem?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37397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238" y="0"/>
            <a:ext cx="6992937" cy="382588"/>
          </a:xfrm>
          <a:solidFill>
            <a:schemeClr val="accent4">
              <a:lumMod val="75000"/>
            </a:schemeClr>
          </a:solidFill>
        </p:spPr>
        <p:txBody>
          <a:bodyPr rtlCol="0">
            <a:noAutofit/>
          </a:bodyPr>
          <a:lstStyle/>
          <a:p>
            <a:pPr defTabSz="812993" eaLnBrk="1" fontAlgn="auto" hangingPunct="1">
              <a:spcAft>
                <a:spcPts val="0"/>
              </a:spcAft>
              <a:defRPr/>
            </a:pPr>
            <a:r>
              <a:rPr lang="en-US" dirty="0">
                <a:latin typeface="+mn-lt"/>
                <a:cs typeface="Times New Roman" panose="02020603050405020304" pitchFamily="18" charset="0"/>
              </a:rPr>
              <a:t>Risks </a:t>
            </a:r>
            <a:r>
              <a:rPr lang="en-US" dirty="0" smtClean="0">
                <a:latin typeface="+mn-lt"/>
                <a:cs typeface="Times New Roman" panose="02020603050405020304" pitchFamily="18" charset="0"/>
              </a:rPr>
              <a:t>and </a:t>
            </a:r>
            <a:r>
              <a:rPr lang="en-US" dirty="0">
                <a:latin typeface="+mn-lt"/>
                <a:cs typeface="Times New Roman" panose="02020603050405020304" pitchFamily="18" charset="0"/>
              </a:rPr>
              <a:t>I</a:t>
            </a:r>
            <a:r>
              <a:rPr lang="en-US" dirty="0" smtClean="0">
                <a:latin typeface="+mn-lt"/>
                <a:cs typeface="Times New Roman" panose="02020603050405020304" pitchFamily="18" charset="0"/>
              </a:rPr>
              <a:t>ssues</a:t>
            </a:r>
            <a:endParaRPr lang="en-US" dirty="0">
              <a:latin typeface="+mn-lt"/>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72759867"/>
              </p:ext>
            </p:extLst>
          </p:nvPr>
        </p:nvGraphicFramePr>
        <p:xfrm>
          <a:off x="254794" y="611187"/>
          <a:ext cx="7676356" cy="3071225"/>
        </p:xfrm>
        <a:graphic>
          <a:graphicData uri="http://schemas.openxmlformats.org/drawingml/2006/table">
            <a:tbl>
              <a:tblPr firstRow="1" bandRow="1">
                <a:tableStyleId>{00A15C55-8517-42AA-B614-E9B94910E393}</a:tableStyleId>
              </a:tblPr>
              <a:tblGrid>
                <a:gridCol w="437356">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3028950">
                  <a:extLst>
                    <a:ext uri="{9D8B030D-6E8A-4147-A177-3AD203B41FA5}">
                      <a16:colId xmlns:a16="http://schemas.microsoft.com/office/drawing/2014/main" val="20004"/>
                    </a:ext>
                  </a:extLst>
                </a:gridCol>
              </a:tblGrid>
              <a:tr h="450107">
                <a:tc>
                  <a:txBody>
                    <a:bodyPr/>
                    <a:lstStyle/>
                    <a:p>
                      <a:pPr algn="ctr"/>
                      <a:r>
                        <a:rPr lang="en-US" sz="1400" b="1" dirty="0" smtClean="0">
                          <a:latin typeface="+mn-lt"/>
                          <a:cs typeface="Times New Roman" panose="02020603050405020304" pitchFamily="18" charset="0"/>
                        </a:rPr>
                        <a:t>No</a:t>
                      </a:r>
                      <a:endParaRPr lang="en-US" sz="1400" b="1" dirty="0">
                        <a:latin typeface="+mn-lt"/>
                        <a:cs typeface="Times New Roman" panose="02020603050405020304" pitchFamily="18" charset="0"/>
                      </a:endParaRPr>
                    </a:p>
                  </a:txBody>
                  <a:tcPr marL="91453" marR="91453" marT="45693" marB="45693" anchor="ctr"/>
                </a:tc>
                <a:tc>
                  <a:txBody>
                    <a:bodyPr/>
                    <a:lstStyle/>
                    <a:p>
                      <a:r>
                        <a:rPr lang="en-US" sz="1400" dirty="0"/>
                        <a:t>Risk Description</a:t>
                      </a:r>
                      <a:endParaRPr lang="en-US" sz="1400" dirty="0">
                        <a:latin typeface="Times New Roman" panose="02020603050405020304" pitchFamily="18" charset="0"/>
                        <a:cs typeface="Times New Roman" panose="02020603050405020304" pitchFamily="18" charset="0"/>
                      </a:endParaRPr>
                    </a:p>
                  </a:txBody>
                  <a:tcPr marL="91453" marR="91453" marT="45693" marB="45693" anchor="ctr"/>
                </a:tc>
                <a:tc>
                  <a:txBody>
                    <a:bodyPr/>
                    <a:lstStyle/>
                    <a:p>
                      <a:pPr algn="ctr"/>
                      <a:r>
                        <a:rPr lang="en-US" sz="1400" dirty="0" smtClean="0">
                          <a:latin typeface="+mn-lt"/>
                          <a:cs typeface="+mn-cs"/>
                        </a:rPr>
                        <a:t>Likelihood</a:t>
                      </a:r>
                      <a:endParaRPr lang="en-US" sz="1400" dirty="0">
                        <a:latin typeface="Times New Roman" panose="02020603050405020304" pitchFamily="18" charset="0"/>
                        <a:cs typeface="Times New Roman" panose="02020603050405020304" pitchFamily="18" charset="0"/>
                      </a:endParaRPr>
                    </a:p>
                  </a:txBody>
                  <a:tcPr marL="91453" marR="91453" marT="45693" marB="45693" anchor="ctr"/>
                </a:tc>
                <a:tc>
                  <a:txBody>
                    <a:bodyPr/>
                    <a:lstStyle/>
                    <a:p>
                      <a:pPr algn="ctr"/>
                      <a:r>
                        <a:rPr lang="en-US" sz="1400" dirty="0"/>
                        <a:t>Impact</a:t>
                      </a:r>
                      <a:endParaRPr lang="en-US" sz="1400" dirty="0">
                        <a:latin typeface="Times New Roman" panose="02020603050405020304" pitchFamily="18" charset="0"/>
                        <a:cs typeface="Times New Roman" panose="02020603050405020304" pitchFamily="18" charset="0"/>
                      </a:endParaRPr>
                    </a:p>
                  </a:txBody>
                  <a:tcPr marL="91453" marR="91453" marT="45693" marB="45693" anchor="ctr"/>
                </a:tc>
                <a:tc>
                  <a:txBody>
                    <a:bodyPr/>
                    <a:lstStyle/>
                    <a:p>
                      <a:r>
                        <a:rPr lang="en-US" sz="1400" dirty="0"/>
                        <a:t>Mitigation Action</a:t>
                      </a:r>
                      <a:endParaRPr lang="en-US" sz="1400" dirty="0">
                        <a:latin typeface="Times New Roman" panose="02020603050405020304" pitchFamily="18" charset="0"/>
                        <a:cs typeface="Times New Roman" panose="02020603050405020304" pitchFamily="18" charset="0"/>
                      </a:endParaRPr>
                    </a:p>
                  </a:txBody>
                  <a:tcPr marL="91453" marR="91453" marT="45693" marB="45693" anchor="ctr"/>
                </a:tc>
                <a:extLst>
                  <a:ext uri="{0D108BD9-81ED-4DB2-BD59-A6C34878D82A}">
                    <a16:rowId xmlns:a16="http://schemas.microsoft.com/office/drawing/2014/main" val="10000"/>
                  </a:ext>
                </a:extLst>
              </a:tr>
              <a:tr h="769093">
                <a:tc>
                  <a:txBody>
                    <a:bodyPr/>
                    <a:lstStyle/>
                    <a:p>
                      <a:pPr algn="ctr"/>
                      <a:r>
                        <a:rPr lang="en-US" sz="1400" b="1" dirty="0" smtClean="0">
                          <a:latin typeface="+mn-lt"/>
                          <a:cs typeface="Times New Roman" panose="02020603050405020304" pitchFamily="18" charset="0"/>
                        </a:rPr>
                        <a:t>1</a:t>
                      </a:r>
                      <a:endParaRPr lang="en-US" sz="1400" b="1" dirty="0">
                        <a:latin typeface="+mn-lt"/>
                        <a:cs typeface="Times New Roman" panose="02020603050405020304" pitchFamily="18" charset="0"/>
                      </a:endParaRPr>
                    </a:p>
                  </a:txBody>
                  <a:tcPr marL="91453" marR="91453" marT="45693" marB="45693" anchor="ctr"/>
                </a:tc>
                <a:tc>
                  <a:txBody>
                    <a:bodyPr/>
                    <a:lstStyle/>
                    <a:p>
                      <a:r>
                        <a:rPr lang="en-US" sz="1400" dirty="0">
                          <a:latin typeface="+mn-lt"/>
                          <a:cs typeface="Times New Roman" panose="02020603050405020304" pitchFamily="18" charset="0"/>
                        </a:rPr>
                        <a:t>Resource</a:t>
                      </a:r>
                      <a:r>
                        <a:rPr lang="en-US" sz="1400" baseline="0" dirty="0">
                          <a:latin typeface="+mn-lt"/>
                          <a:cs typeface="Times New Roman" panose="02020603050405020304" pitchFamily="18" charset="0"/>
                        </a:rPr>
                        <a:t> mobilization due to multiple projects</a:t>
                      </a:r>
                      <a:endParaRPr lang="en-US" sz="1400" dirty="0">
                        <a:latin typeface="+mn-lt"/>
                        <a:cs typeface="Times New Roman" panose="02020603050405020304" pitchFamily="18" charset="0"/>
                      </a:endParaRPr>
                    </a:p>
                  </a:txBody>
                  <a:tcPr marL="91453" marR="91453" marT="45693" marB="45693" anchor="ctr"/>
                </a:tc>
                <a:tc>
                  <a:txBody>
                    <a:bodyPr/>
                    <a:lstStyle/>
                    <a:p>
                      <a:pPr algn="ctr"/>
                      <a:r>
                        <a:rPr lang="en-US" sz="1400" dirty="0" smtClean="0"/>
                        <a:t>Medium</a:t>
                      </a:r>
                      <a:endParaRPr lang="en-US" sz="1400" dirty="0"/>
                    </a:p>
                  </a:txBody>
                  <a:tcPr marL="91453" marR="91453" marT="45693" marB="45693" anchor="ctr">
                    <a:solidFill>
                      <a:srgbClr val="FFC000"/>
                    </a:solidFill>
                  </a:tcPr>
                </a:tc>
                <a:tc>
                  <a:txBody>
                    <a:bodyPr/>
                    <a:lstStyle/>
                    <a:p>
                      <a:pPr algn="ctr"/>
                      <a:r>
                        <a:rPr lang="en-US" sz="1400" dirty="0" smtClean="0"/>
                        <a:t>Hig</a:t>
                      </a:r>
                      <a:r>
                        <a:rPr lang="en-US" sz="1400" baseline="0" dirty="0" smtClean="0"/>
                        <a:t>h</a:t>
                      </a:r>
                      <a:endParaRPr lang="en-US" sz="1400" dirty="0"/>
                    </a:p>
                  </a:txBody>
                  <a:tcPr marL="91453" marR="91453" marT="45693" marB="45693" anchor="ctr">
                    <a:solidFill>
                      <a:srgbClr val="FF0000"/>
                    </a:solidFill>
                  </a:tcPr>
                </a:tc>
                <a:tc>
                  <a:txBody>
                    <a:bodyPr/>
                    <a:lstStyle/>
                    <a:p>
                      <a:pPr marL="285750" indent="-285750">
                        <a:buFont typeface="Arial" panose="020B0604020202020204" pitchFamily="34" charset="0"/>
                        <a:buChar char="•"/>
                      </a:pPr>
                      <a:r>
                        <a:rPr lang="en-US" sz="1400" dirty="0" smtClean="0">
                          <a:latin typeface="+mn-lt"/>
                          <a:cs typeface="Times New Roman" panose="02020603050405020304" pitchFamily="18" charset="0"/>
                        </a:rPr>
                        <a:t>Setup weekly resource allocation call</a:t>
                      </a:r>
                    </a:p>
                    <a:p>
                      <a:pPr marL="285750" indent="-285750">
                        <a:buFont typeface="Arial" panose="020B0604020202020204" pitchFamily="34" charset="0"/>
                        <a:buChar char="•"/>
                      </a:pPr>
                      <a:r>
                        <a:rPr lang="en-US" sz="1400" dirty="0" smtClean="0">
                          <a:latin typeface="+mn-lt"/>
                          <a:cs typeface="Times New Roman" panose="02020603050405020304" pitchFamily="18" charset="0"/>
                        </a:rPr>
                        <a:t>Procure </a:t>
                      </a:r>
                      <a:r>
                        <a:rPr lang="en-US" sz="1400" dirty="0">
                          <a:latin typeface="+mn-lt"/>
                          <a:cs typeface="Times New Roman" panose="02020603050405020304" pitchFamily="18" charset="0"/>
                        </a:rPr>
                        <a:t>outside resources if</a:t>
                      </a:r>
                      <a:r>
                        <a:rPr lang="en-US" sz="1400" baseline="0" dirty="0">
                          <a:latin typeface="+mn-lt"/>
                          <a:cs typeface="Times New Roman" panose="02020603050405020304" pitchFamily="18" charset="0"/>
                        </a:rPr>
                        <a:t> necessary </a:t>
                      </a:r>
                      <a:endParaRPr lang="en-US" sz="1400" dirty="0">
                        <a:latin typeface="+mn-lt"/>
                        <a:cs typeface="Times New Roman" panose="02020603050405020304" pitchFamily="18" charset="0"/>
                      </a:endParaRPr>
                    </a:p>
                  </a:txBody>
                  <a:tcPr marL="91453" marR="91453" marT="45693" marB="45693" anchor="ctr"/>
                </a:tc>
                <a:extLst>
                  <a:ext uri="{0D108BD9-81ED-4DB2-BD59-A6C34878D82A}">
                    <a16:rowId xmlns:a16="http://schemas.microsoft.com/office/drawing/2014/main" val="10001"/>
                  </a:ext>
                </a:extLst>
              </a:tr>
              <a:tr h="616639">
                <a:tc>
                  <a:txBody>
                    <a:bodyPr/>
                    <a:lstStyle/>
                    <a:p>
                      <a:pPr algn="ctr"/>
                      <a:r>
                        <a:rPr lang="en-US" sz="1400" b="1" dirty="0" smtClean="0">
                          <a:latin typeface="+mn-lt"/>
                          <a:cs typeface="Times New Roman" panose="02020603050405020304" pitchFamily="18" charset="0"/>
                        </a:rPr>
                        <a:t>2</a:t>
                      </a:r>
                      <a:endParaRPr lang="en-US" sz="1400" b="1" dirty="0">
                        <a:latin typeface="+mn-lt"/>
                        <a:cs typeface="Times New Roman" panose="02020603050405020304" pitchFamily="18" charset="0"/>
                      </a:endParaRPr>
                    </a:p>
                  </a:txBody>
                  <a:tcPr marL="91453" marR="91453" marT="45693" marB="45693" anchor="ctr"/>
                </a:tc>
                <a:tc>
                  <a:txBody>
                    <a:bodyPr/>
                    <a:lstStyle/>
                    <a:p>
                      <a:r>
                        <a:rPr lang="en-US" sz="1400" dirty="0">
                          <a:latin typeface="+mn-lt"/>
                          <a:cs typeface="Times New Roman" panose="02020603050405020304" pitchFamily="18" charset="0"/>
                        </a:rPr>
                        <a:t>Scope Creep</a:t>
                      </a:r>
                    </a:p>
                  </a:txBody>
                  <a:tcPr marL="91453" marR="91453" marT="45693" marB="45693" anchor="ctr"/>
                </a:tc>
                <a:tc>
                  <a:txBody>
                    <a:bodyPr/>
                    <a:lstStyle/>
                    <a:p>
                      <a:pPr algn="ctr"/>
                      <a:r>
                        <a:rPr lang="en-US" sz="1400" dirty="0" smtClean="0"/>
                        <a:t>Low</a:t>
                      </a:r>
                      <a:endParaRPr lang="en-US" sz="1400" dirty="0"/>
                    </a:p>
                  </a:txBody>
                  <a:tcPr marL="91453" marR="91453" marT="45693" marB="45693" anchor="ctr">
                    <a:solidFill>
                      <a:srgbClr val="00B050"/>
                    </a:solidFill>
                  </a:tcPr>
                </a:tc>
                <a:tc>
                  <a:txBody>
                    <a:bodyPr/>
                    <a:lstStyle/>
                    <a:p>
                      <a:pPr algn="ctr"/>
                      <a:r>
                        <a:rPr lang="en-US" sz="1400" dirty="0" smtClean="0"/>
                        <a:t>Low</a:t>
                      </a:r>
                      <a:endParaRPr lang="en-US" sz="1400" dirty="0"/>
                    </a:p>
                  </a:txBody>
                  <a:tcPr marL="91453" marR="91453" marT="45693" marB="45693" anchor="ctr">
                    <a:solidFill>
                      <a:srgbClr val="00B050"/>
                    </a:solidFill>
                  </a:tcPr>
                </a:tc>
                <a:tc>
                  <a:txBody>
                    <a:bodyPr/>
                    <a:lstStyle/>
                    <a:p>
                      <a:r>
                        <a:rPr lang="en-US" sz="1400" dirty="0">
                          <a:latin typeface="+mn-lt"/>
                          <a:cs typeface="Times New Roman" panose="02020603050405020304" pitchFamily="18" charset="0"/>
                        </a:rPr>
                        <a:t>Refer to the</a:t>
                      </a:r>
                      <a:r>
                        <a:rPr lang="en-US" sz="1400" baseline="0" dirty="0">
                          <a:latin typeface="+mn-lt"/>
                          <a:cs typeface="Times New Roman" panose="02020603050405020304" pitchFamily="18" charset="0"/>
                        </a:rPr>
                        <a:t> project scope</a:t>
                      </a:r>
                      <a:r>
                        <a:rPr lang="en-US" sz="1400" dirty="0">
                          <a:latin typeface="+mn-lt"/>
                          <a:cs typeface="Times New Roman" panose="02020603050405020304" pitchFamily="18" charset="0"/>
                        </a:rPr>
                        <a:t> </a:t>
                      </a:r>
                      <a:r>
                        <a:rPr lang="en-US" sz="1400" dirty="0" smtClean="0">
                          <a:latin typeface="+mn-lt"/>
                          <a:cs typeface="Times New Roman" panose="02020603050405020304" pitchFamily="18" charset="0"/>
                        </a:rPr>
                        <a:t>at</a:t>
                      </a:r>
                      <a:r>
                        <a:rPr lang="en-US" sz="1400" baseline="0" dirty="0" smtClean="0">
                          <a:latin typeface="+mn-lt"/>
                          <a:cs typeface="Times New Roman" panose="02020603050405020304" pitchFamily="18" charset="0"/>
                        </a:rPr>
                        <a:t> every phase of </a:t>
                      </a:r>
                      <a:r>
                        <a:rPr lang="en-US" sz="1400" dirty="0" smtClean="0">
                          <a:latin typeface="+mn-lt"/>
                          <a:cs typeface="Times New Roman" panose="02020603050405020304" pitchFamily="18" charset="0"/>
                        </a:rPr>
                        <a:t>the </a:t>
                      </a:r>
                      <a:r>
                        <a:rPr lang="en-US" sz="1400" dirty="0">
                          <a:latin typeface="+mn-lt"/>
                          <a:cs typeface="Times New Roman" panose="02020603050405020304" pitchFamily="18" charset="0"/>
                        </a:rPr>
                        <a:t>project and </a:t>
                      </a:r>
                      <a:r>
                        <a:rPr lang="en-US" sz="1400" dirty="0" smtClean="0">
                          <a:latin typeface="+mn-lt"/>
                          <a:cs typeface="Times New Roman" panose="02020603050405020304" pitchFamily="18" charset="0"/>
                        </a:rPr>
                        <a:t>asses </a:t>
                      </a:r>
                      <a:r>
                        <a:rPr lang="en-US" sz="1400" dirty="0">
                          <a:latin typeface="+mn-lt"/>
                          <a:cs typeface="Times New Roman" panose="02020603050405020304" pitchFamily="18" charset="0"/>
                        </a:rPr>
                        <a:t>all changes against </a:t>
                      </a:r>
                      <a:r>
                        <a:rPr lang="en-US" sz="1400" dirty="0" smtClean="0">
                          <a:latin typeface="+mn-lt"/>
                          <a:cs typeface="Times New Roman" panose="02020603050405020304" pitchFamily="18" charset="0"/>
                        </a:rPr>
                        <a:t>the</a:t>
                      </a:r>
                      <a:r>
                        <a:rPr lang="en-US" sz="1400" baseline="0" dirty="0" smtClean="0">
                          <a:latin typeface="+mn-lt"/>
                          <a:cs typeface="Times New Roman" panose="02020603050405020304" pitchFamily="18" charset="0"/>
                        </a:rPr>
                        <a:t> baseline scope</a:t>
                      </a:r>
                      <a:r>
                        <a:rPr lang="en-US" sz="1400" dirty="0" smtClean="0">
                          <a:latin typeface="+mn-lt"/>
                          <a:cs typeface="Times New Roman" panose="02020603050405020304" pitchFamily="18" charset="0"/>
                        </a:rPr>
                        <a:t>. </a:t>
                      </a:r>
                      <a:endParaRPr lang="en-US" sz="1400" dirty="0">
                        <a:latin typeface="+mn-lt"/>
                        <a:cs typeface="Times New Roman" panose="02020603050405020304" pitchFamily="18" charset="0"/>
                      </a:endParaRPr>
                    </a:p>
                  </a:txBody>
                  <a:tcPr marL="91453" marR="91453" marT="45693" marB="45693" anchor="ctr"/>
                </a:tc>
                <a:extLst>
                  <a:ext uri="{0D108BD9-81ED-4DB2-BD59-A6C34878D82A}">
                    <a16:rowId xmlns:a16="http://schemas.microsoft.com/office/drawing/2014/main" val="10002"/>
                  </a:ext>
                </a:extLst>
              </a:tr>
              <a:tr h="370840">
                <a:tc>
                  <a:txBody>
                    <a:bodyPr/>
                    <a:lstStyle/>
                    <a:p>
                      <a:pPr algn="ctr"/>
                      <a:r>
                        <a:rPr lang="en-US" sz="1400" b="1" dirty="0" smtClean="0">
                          <a:latin typeface="+mn-lt"/>
                          <a:cs typeface="Times New Roman" panose="02020603050405020304" pitchFamily="18" charset="0"/>
                        </a:rPr>
                        <a:t>3</a:t>
                      </a:r>
                      <a:endParaRPr lang="en-US" sz="1400" b="1" dirty="0">
                        <a:latin typeface="+mn-lt"/>
                        <a:cs typeface="Times New Roman" panose="02020603050405020304" pitchFamily="18" charset="0"/>
                      </a:endParaRPr>
                    </a:p>
                  </a:txBody>
                  <a:tcPr marL="91453" marR="91453" marT="45693" marB="45693" anchor="ctr"/>
                </a:tc>
                <a:tc>
                  <a:txBody>
                    <a:bodyPr/>
                    <a:lstStyle/>
                    <a:p>
                      <a:r>
                        <a:rPr lang="en-US" sz="1400" b="0" i="0" kern="1200" dirty="0">
                          <a:solidFill>
                            <a:schemeClr val="dk1"/>
                          </a:solidFill>
                          <a:effectLst/>
                          <a:latin typeface="+mn-lt"/>
                          <a:ea typeface="+mn-ea"/>
                          <a:cs typeface="Times New Roman" panose="02020603050405020304" pitchFamily="18" charset="0"/>
                        </a:rPr>
                        <a:t>Unplanned work that must be </a:t>
                      </a:r>
                      <a:r>
                        <a:rPr lang="en-US" sz="1400" b="0" i="0" kern="1200" dirty="0" smtClean="0">
                          <a:solidFill>
                            <a:schemeClr val="dk1"/>
                          </a:solidFill>
                          <a:effectLst/>
                          <a:latin typeface="+mn-lt"/>
                          <a:ea typeface="+mn-ea"/>
                          <a:cs typeface="Times New Roman" panose="02020603050405020304" pitchFamily="18" charset="0"/>
                        </a:rPr>
                        <a:t>accommodated</a:t>
                      </a:r>
                      <a:endParaRPr lang="en-US" sz="1400" dirty="0">
                        <a:latin typeface="+mn-lt"/>
                        <a:cs typeface="Times New Roman" panose="02020603050405020304" pitchFamily="18" charset="0"/>
                      </a:endParaRPr>
                    </a:p>
                  </a:txBody>
                  <a:tcPr marL="91453" marR="91453" marT="45693" marB="45693" anchor="ctr"/>
                </a:tc>
                <a:tc>
                  <a:txBody>
                    <a:bodyPr/>
                    <a:lstStyle/>
                    <a:p>
                      <a:pPr algn="ctr"/>
                      <a:r>
                        <a:rPr lang="en-US" sz="1400" dirty="0" smtClean="0"/>
                        <a:t>Low </a:t>
                      </a:r>
                      <a:endParaRPr lang="en-US" sz="1400" dirty="0"/>
                    </a:p>
                  </a:txBody>
                  <a:tcPr marL="91453" marR="91453" marT="45693" marB="45693" anchor="ctr">
                    <a:solidFill>
                      <a:srgbClr val="00B050"/>
                    </a:solidFill>
                  </a:tcPr>
                </a:tc>
                <a:tc>
                  <a:txBody>
                    <a:bodyPr/>
                    <a:lstStyle/>
                    <a:p>
                      <a:pPr algn="ctr"/>
                      <a:r>
                        <a:rPr lang="en-US" sz="1400" dirty="0" smtClean="0"/>
                        <a:t>High</a:t>
                      </a:r>
                      <a:endParaRPr lang="en-US" sz="1400" dirty="0"/>
                    </a:p>
                  </a:txBody>
                  <a:tcPr marL="91453" marR="91453" marT="45693" marB="45693" anchor="ctr">
                    <a:solidFill>
                      <a:srgbClr val="FF0000"/>
                    </a:solidFill>
                  </a:tcPr>
                </a:tc>
                <a:tc>
                  <a:txBody>
                    <a:bodyPr/>
                    <a:lstStyle/>
                    <a:p>
                      <a:r>
                        <a:rPr lang="en-US" sz="1400" b="0" i="0" kern="1200" dirty="0">
                          <a:solidFill>
                            <a:schemeClr val="dk1"/>
                          </a:solidFill>
                          <a:effectLst/>
                          <a:latin typeface="+mn-lt"/>
                          <a:ea typeface="+mn-ea"/>
                          <a:cs typeface="Times New Roman" panose="02020603050405020304" pitchFamily="18" charset="0"/>
                        </a:rPr>
                        <a:t>Document all assumptions made in planning and</a:t>
                      </a:r>
                      <a:r>
                        <a:rPr lang="en-US" sz="1400" b="0" i="0" kern="1200" baseline="0" dirty="0">
                          <a:solidFill>
                            <a:schemeClr val="dk1"/>
                          </a:solidFill>
                          <a:effectLst/>
                          <a:latin typeface="+mn-lt"/>
                          <a:ea typeface="+mn-ea"/>
                          <a:cs typeface="Times New Roman" panose="02020603050405020304" pitchFamily="18" charset="0"/>
                        </a:rPr>
                        <a:t> make plans for adjustments</a:t>
                      </a:r>
                      <a:r>
                        <a:rPr lang="en-US" sz="1400" dirty="0">
                          <a:latin typeface="+mn-lt"/>
                          <a:cs typeface="Times New Roman" panose="02020603050405020304" pitchFamily="18" charset="0"/>
                        </a:rPr>
                        <a:t/>
                      </a:r>
                      <a:br>
                        <a:rPr lang="en-US" sz="1400" dirty="0">
                          <a:latin typeface="+mn-lt"/>
                          <a:cs typeface="Times New Roman" panose="02020603050405020304" pitchFamily="18" charset="0"/>
                        </a:rPr>
                      </a:br>
                      <a:endParaRPr lang="en-US" sz="1400" dirty="0">
                        <a:latin typeface="+mn-lt"/>
                        <a:cs typeface="Times New Roman" panose="02020603050405020304" pitchFamily="18" charset="0"/>
                      </a:endParaRPr>
                    </a:p>
                  </a:txBody>
                  <a:tcPr marL="91453" marR="91453" marT="45693" marB="45693"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3755"/>
        </a:solidFill>
        <a:effectLst/>
      </p:bgPr>
    </p:bg>
    <p:spTree>
      <p:nvGrpSpPr>
        <p:cNvPr id="1" name=""/>
        <p:cNvGrpSpPr/>
        <p:nvPr/>
      </p:nvGrpSpPr>
      <p:grpSpPr>
        <a:xfrm>
          <a:off x="0" y="0"/>
          <a:ext cx="0" cy="0"/>
          <a:chOff x="0" y="0"/>
          <a:chExt cx="0" cy="0"/>
        </a:xfrm>
      </p:grpSpPr>
      <p:sp>
        <p:nvSpPr>
          <p:cNvPr id="8196" name="TextBox 7"/>
          <p:cNvSpPr txBox="1">
            <a:spLocks noChangeArrowheads="1"/>
          </p:cNvSpPr>
          <p:nvPr/>
        </p:nvSpPr>
        <p:spPr bwMode="auto">
          <a:xfrm>
            <a:off x="100013" y="9525"/>
            <a:ext cx="3888581" cy="3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defTabSz="812800">
              <a:lnSpc>
                <a:spcPct val="90000"/>
              </a:lnSpc>
              <a:defRPr/>
            </a:pPr>
            <a:r>
              <a:rPr lang="en-US" altLang="en-US" sz="2200" dirty="0">
                <a:solidFill>
                  <a:schemeClr val="bg1"/>
                </a:solidFill>
                <a:latin typeface="+mn-lt"/>
                <a:ea typeface="+mj-ea"/>
                <a:cs typeface="+mj-cs"/>
              </a:rPr>
              <a:t>Status Summary Dashboard </a:t>
            </a:r>
          </a:p>
        </p:txBody>
      </p:sp>
      <p:sp>
        <p:nvSpPr>
          <p:cNvPr id="12" name="Rectangle 11"/>
          <p:cNvSpPr/>
          <p:nvPr/>
        </p:nvSpPr>
        <p:spPr>
          <a:xfrm>
            <a:off x="0" y="407988"/>
            <a:ext cx="8129588" cy="56911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600"/>
          </a:p>
        </p:txBody>
      </p:sp>
      <p:sp>
        <p:nvSpPr>
          <p:cNvPr id="14" name="TextBox 13"/>
          <p:cNvSpPr txBox="1"/>
          <p:nvPr/>
        </p:nvSpPr>
        <p:spPr>
          <a:xfrm>
            <a:off x="241990" y="485155"/>
            <a:ext cx="4889604" cy="830997"/>
          </a:xfrm>
          <a:prstGeom prst="rect">
            <a:avLst/>
          </a:prstGeom>
          <a:solidFill>
            <a:schemeClr val="bg1"/>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sz="1200" b="1" dirty="0">
                <a:cs typeface="Times New Roman" panose="02020603050405020304" pitchFamily="18" charset="0"/>
              </a:rPr>
              <a:t>Overall Status: </a:t>
            </a:r>
            <a:r>
              <a:rPr lang="en-US" sz="1200" b="1" dirty="0" smtClean="0">
                <a:solidFill>
                  <a:srgbClr val="FFC000"/>
                </a:solidFill>
                <a:cs typeface="Times New Roman" panose="02020603050405020304" pitchFamily="18" charset="0"/>
              </a:rPr>
              <a:t>Amber</a:t>
            </a:r>
            <a:endParaRPr lang="en-US" sz="1200" b="1" dirty="0">
              <a:solidFill>
                <a:srgbClr val="FFC000"/>
              </a:solidFill>
              <a:cs typeface="Times New Roman" panose="02020603050405020304" pitchFamily="18" charset="0"/>
            </a:endParaRPr>
          </a:p>
          <a:p>
            <a:pPr>
              <a:defRPr/>
            </a:pPr>
            <a:r>
              <a:rPr lang="en-US" sz="1200" dirty="0">
                <a:solidFill>
                  <a:schemeClr val="tx1"/>
                </a:solidFill>
                <a:cs typeface="Times New Roman" panose="02020603050405020304" pitchFamily="18" charset="0"/>
              </a:rPr>
              <a:t>The work stream is currently reporting a </a:t>
            </a:r>
            <a:r>
              <a:rPr lang="en-US" sz="1200" dirty="0" smtClean="0">
                <a:solidFill>
                  <a:schemeClr val="tx1"/>
                </a:solidFill>
                <a:cs typeface="Times New Roman" panose="02020603050405020304" pitchFamily="18" charset="0"/>
              </a:rPr>
              <a:t>Amber </a:t>
            </a:r>
            <a:r>
              <a:rPr lang="en-US" sz="1200" dirty="0">
                <a:solidFill>
                  <a:schemeClr val="tx1"/>
                </a:solidFill>
                <a:cs typeface="Times New Roman" panose="02020603050405020304" pitchFamily="18" charset="0"/>
              </a:rPr>
              <a:t>overall due to the lack of resource availability at the moment. </a:t>
            </a:r>
            <a:r>
              <a:rPr lang="en-US" sz="1200" dirty="0" smtClean="0">
                <a:solidFill>
                  <a:schemeClr val="tx1"/>
                </a:solidFill>
                <a:cs typeface="Times New Roman" panose="02020603050405020304" pitchFamily="18" charset="0"/>
              </a:rPr>
              <a:t>This is </a:t>
            </a:r>
            <a:r>
              <a:rPr lang="en-US" sz="1200" dirty="0">
                <a:solidFill>
                  <a:schemeClr val="tx1"/>
                </a:solidFill>
                <a:cs typeface="Times New Roman" panose="02020603050405020304" pitchFamily="18" charset="0"/>
              </a:rPr>
              <a:t>now impacting the early stages of project implementation. </a:t>
            </a:r>
          </a:p>
        </p:txBody>
      </p:sp>
      <p:sp>
        <p:nvSpPr>
          <p:cNvPr id="16" name="TextBox 15"/>
          <p:cNvSpPr txBox="1"/>
          <p:nvPr/>
        </p:nvSpPr>
        <p:spPr>
          <a:xfrm>
            <a:off x="5207794" y="475242"/>
            <a:ext cx="2697955" cy="830997"/>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altLang="en-US" sz="1200" b="1" dirty="0" smtClean="0">
                <a:cs typeface="Times New Roman" panose="02020603050405020304" pitchFamily="18" charset="0"/>
              </a:rPr>
              <a:t>Assumptions</a:t>
            </a:r>
            <a:endParaRPr lang="en-US" sz="1200" b="1" dirty="0" smtClean="0">
              <a:cs typeface="Times New Roman" panose="02020603050405020304" pitchFamily="18" charset="0"/>
            </a:endParaRPr>
          </a:p>
          <a:p>
            <a:pPr marL="228600" indent="-228600">
              <a:buFontTx/>
              <a:buAutoNum type="arabicPeriod"/>
              <a:defRPr/>
            </a:pPr>
            <a:r>
              <a:rPr lang="en-US" sz="1200" dirty="0" smtClean="0">
                <a:cs typeface="Times New Roman" panose="02020603050405020304" pitchFamily="18" charset="0"/>
              </a:rPr>
              <a:t>Completion </a:t>
            </a:r>
            <a:r>
              <a:rPr lang="en-US" sz="1200" dirty="0">
                <a:cs typeface="Times New Roman" panose="02020603050405020304" pitchFamily="18" charset="0"/>
              </a:rPr>
              <a:t>of Workday </a:t>
            </a:r>
            <a:r>
              <a:rPr lang="en-US" sz="1200" dirty="0" smtClean="0">
                <a:cs typeface="Times New Roman" panose="02020603050405020304" pitchFamily="18" charset="0"/>
              </a:rPr>
              <a:t>migration.</a:t>
            </a:r>
            <a:endParaRPr lang="en-US" sz="1200" dirty="0">
              <a:cs typeface="Times New Roman" panose="02020603050405020304" pitchFamily="18" charset="0"/>
            </a:endParaRPr>
          </a:p>
          <a:p>
            <a:pPr marL="228600" indent="-228600">
              <a:buFontTx/>
              <a:buAutoNum type="arabicPeriod"/>
              <a:defRPr/>
            </a:pPr>
            <a:r>
              <a:rPr lang="en-US" sz="1200" dirty="0">
                <a:cs typeface="Times New Roman" panose="02020603050405020304" pitchFamily="18" charset="0"/>
              </a:rPr>
              <a:t>Budget </a:t>
            </a:r>
            <a:r>
              <a:rPr lang="en-US" sz="1200" dirty="0" smtClean="0">
                <a:cs typeface="Times New Roman" panose="02020603050405020304" pitchFamily="18" charset="0"/>
              </a:rPr>
              <a:t>availability.</a:t>
            </a:r>
          </a:p>
          <a:p>
            <a:pPr marL="228600" indent="-228600">
              <a:buFontTx/>
              <a:buAutoNum type="arabicPeriod"/>
              <a:defRPr/>
            </a:pPr>
            <a:r>
              <a:rPr lang="en-US" sz="1200" dirty="0" smtClean="0">
                <a:cs typeface="Times New Roman" panose="02020603050405020304" pitchFamily="18" charset="0"/>
              </a:rPr>
              <a:t>WorkDay Connector availability. </a:t>
            </a:r>
            <a:endParaRPr lang="en-US" sz="1050" dirty="0">
              <a:latin typeface="Times New Roman" panose="02020603050405020304" pitchFamily="18" charset="0"/>
              <a:cs typeface="Times New Roman" panose="02020603050405020304" pitchFamily="18" charset="0"/>
            </a:endParaRPr>
          </a:p>
        </p:txBody>
      </p:sp>
      <p:sp>
        <p:nvSpPr>
          <p:cNvPr id="27654" name="TextBox 8"/>
          <p:cNvSpPr txBox="1">
            <a:spLocks noChangeArrowheads="1"/>
          </p:cNvSpPr>
          <p:nvPr/>
        </p:nvSpPr>
        <p:spPr bwMode="auto">
          <a:xfrm>
            <a:off x="254793" y="1358951"/>
            <a:ext cx="7650956" cy="338554"/>
          </a:xfrm>
          <a:prstGeom prst="rect">
            <a:avLst/>
          </a:prstGeom>
          <a:solidFill>
            <a:srgbClr val="1D6FA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600" dirty="0">
                <a:solidFill>
                  <a:schemeClr val="bg1"/>
                </a:solidFill>
                <a:latin typeface="+mn-lt"/>
                <a:cs typeface="Times New Roman" panose="02020603050405020304" pitchFamily="18" charset="0"/>
              </a:rPr>
              <a:t>Progress Overview</a:t>
            </a:r>
          </a:p>
        </p:txBody>
      </p:sp>
      <p:graphicFrame>
        <p:nvGraphicFramePr>
          <p:cNvPr id="18" name="Table 17"/>
          <p:cNvGraphicFramePr>
            <a:graphicFrameLocks noGrp="1"/>
          </p:cNvGraphicFramePr>
          <p:nvPr>
            <p:extLst>
              <p:ext uri="{D42A27DB-BD31-4B8C-83A1-F6EECF244321}">
                <p14:modId xmlns:p14="http://schemas.microsoft.com/office/powerpoint/2010/main" val="1103894198"/>
              </p:ext>
            </p:extLst>
          </p:nvPr>
        </p:nvGraphicFramePr>
        <p:xfrm>
          <a:off x="254793" y="1678747"/>
          <a:ext cx="7650956" cy="2041726"/>
        </p:xfrm>
        <a:graphic>
          <a:graphicData uri="http://schemas.openxmlformats.org/drawingml/2006/table">
            <a:tbl>
              <a:tblPr firstRow="1" bandRow="1">
                <a:tableStyleId>{00A15C55-8517-42AA-B614-E9B94910E393}</a:tableStyleId>
              </a:tblPr>
              <a:tblGrid>
                <a:gridCol w="1840727">
                  <a:extLst>
                    <a:ext uri="{9D8B030D-6E8A-4147-A177-3AD203B41FA5}">
                      <a16:colId xmlns:a16="http://schemas.microsoft.com/office/drawing/2014/main" val="20000"/>
                    </a:ext>
                  </a:extLst>
                </a:gridCol>
                <a:gridCol w="822126">
                  <a:extLst>
                    <a:ext uri="{9D8B030D-6E8A-4147-A177-3AD203B41FA5}">
                      <a16:colId xmlns:a16="http://schemas.microsoft.com/office/drawing/2014/main" val="20001"/>
                    </a:ext>
                  </a:extLst>
                </a:gridCol>
                <a:gridCol w="905209">
                  <a:extLst>
                    <a:ext uri="{9D8B030D-6E8A-4147-A177-3AD203B41FA5}">
                      <a16:colId xmlns:a16="http://schemas.microsoft.com/office/drawing/2014/main" val="20002"/>
                    </a:ext>
                  </a:extLst>
                </a:gridCol>
                <a:gridCol w="4082894">
                  <a:extLst>
                    <a:ext uri="{9D8B030D-6E8A-4147-A177-3AD203B41FA5}">
                      <a16:colId xmlns:a16="http://schemas.microsoft.com/office/drawing/2014/main" val="20003"/>
                    </a:ext>
                  </a:extLst>
                </a:gridCol>
              </a:tblGrid>
              <a:tr h="457060">
                <a:tc>
                  <a:txBody>
                    <a:bodyPr/>
                    <a:lstStyle/>
                    <a:p>
                      <a:r>
                        <a:rPr lang="en-US" sz="1200" dirty="0"/>
                        <a:t>Dashboard</a:t>
                      </a:r>
                      <a:endParaRPr lang="en-US" sz="1200" b="0" dirty="0">
                        <a:latin typeface="Times New Roman" panose="02020603050405020304" pitchFamily="18" charset="0"/>
                        <a:cs typeface="Times New Roman" panose="02020603050405020304" pitchFamily="18" charset="0"/>
                      </a:endParaRPr>
                    </a:p>
                  </a:txBody>
                  <a:tcPr marL="91449" marR="91449" marT="45700" marB="45700" anchor="ctr"/>
                </a:tc>
                <a:tc>
                  <a:txBody>
                    <a:bodyPr/>
                    <a:lstStyle/>
                    <a:p>
                      <a:pPr algn="ctr"/>
                      <a:r>
                        <a:rPr lang="en-US" sz="1200" dirty="0"/>
                        <a:t>PREV</a:t>
                      </a:r>
                    </a:p>
                    <a:p>
                      <a:pPr algn="ctr"/>
                      <a:r>
                        <a:rPr lang="en-US" sz="1200" dirty="0"/>
                        <a:t> RAG</a:t>
                      </a:r>
                      <a:endParaRPr lang="en-US" sz="1200" b="0" dirty="0">
                        <a:latin typeface="Times New Roman" panose="02020603050405020304" pitchFamily="18" charset="0"/>
                        <a:cs typeface="Times New Roman" panose="02020603050405020304" pitchFamily="18" charset="0"/>
                      </a:endParaRPr>
                    </a:p>
                  </a:txBody>
                  <a:tcPr marL="91449" marR="91449" marT="45700" marB="45700" anchor="ctr"/>
                </a:tc>
                <a:tc>
                  <a:txBody>
                    <a:bodyPr/>
                    <a:lstStyle/>
                    <a:p>
                      <a:pPr algn="ctr"/>
                      <a:r>
                        <a:rPr lang="en-US" sz="1200" dirty="0"/>
                        <a:t>Current </a:t>
                      </a:r>
                    </a:p>
                    <a:p>
                      <a:pPr algn="ctr"/>
                      <a:r>
                        <a:rPr lang="en-US" sz="1200" dirty="0"/>
                        <a:t>RAG</a:t>
                      </a:r>
                      <a:endParaRPr lang="en-US" sz="1200" b="0" dirty="0">
                        <a:latin typeface="Times New Roman" panose="02020603050405020304" pitchFamily="18" charset="0"/>
                        <a:cs typeface="Times New Roman" panose="02020603050405020304" pitchFamily="18" charset="0"/>
                      </a:endParaRPr>
                    </a:p>
                  </a:txBody>
                  <a:tcPr marL="91449" marR="91449" marT="45700" marB="45700" anchor="ctr"/>
                </a:tc>
                <a:tc>
                  <a:txBody>
                    <a:bodyPr/>
                    <a:lstStyle/>
                    <a:p>
                      <a:r>
                        <a:rPr lang="en-US" sz="1200" dirty="0"/>
                        <a:t>Commentary</a:t>
                      </a:r>
                      <a:endParaRPr lang="en-US" sz="1200" b="0" dirty="0">
                        <a:latin typeface="Times New Roman" panose="02020603050405020304" pitchFamily="18" charset="0"/>
                        <a:cs typeface="Times New Roman" panose="02020603050405020304" pitchFamily="18" charset="0"/>
                      </a:endParaRPr>
                    </a:p>
                  </a:txBody>
                  <a:tcPr marL="91449" marR="91449" marT="45700" marB="45700" anchor="ctr"/>
                </a:tc>
                <a:extLst>
                  <a:ext uri="{0D108BD9-81ED-4DB2-BD59-A6C34878D82A}">
                    <a16:rowId xmlns:a16="http://schemas.microsoft.com/office/drawing/2014/main" val="10000"/>
                  </a:ext>
                </a:extLst>
              </a:tr>
              <a:tr h="335173">
                <a:tc>
                  <a:txBody>
                    <a:bodyPr/>
                    <a:lstStyle/>
                    <a:p>
                      <a:r>
                        <a:rPr lang="en-US" sz="1200" dirty="0"/>
                        <a:t>Resource</a:t>
                      </a:r>
                      <a:endParaRPr lang="en-US" sz="1200" dirty="0">
                        <a:latin typeface="Times New Roman" panose="02020603050405020304" pitchFamily="18" charset="0"/>
                        <a:cs typeface="Times New Roman" panose="02020603050405020304" pitchFamily="18" charset="0"/>
                      </a:endParaRPr>
                    </a:p>
                  </a:txBody>
                  <a:tcPr marL="91449" marR="91449" marT="45700" marB="45700"/>
                </a:tc>
                <a:tc>
                  <a:txBody>
                    <a:bodyPr/>
                    <a:lstStyle/>
                    <a:p>
                      <a:pPr algn="ctr"/>
                      <a:r>
                        <a:rPr lang="en-US" sz="1200" baseline="0" dirty="0"/>
                        <a:t>   G</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00B050"/>
                    </a:solidFill>
                  </a:tcPr>
                </a:tc>
                <a:tc>
                  <a:txBody>
                    <a:bodyPr/>
                    <a:lstStyle/>
                    <a:p>
                      <a:pPr algn="ctr"/>
                      <a:r>
                        <a:rPr lang="en-US" sz="1200" baseline="0" dirty="0"/>
                        <a:t>A</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FFC000"/>
                    </a:solidFill>
                  </a:tcPr>
                </a:tc>
                <a:tc>
                  <a:txBody>
                    <a:bodyPr/>
                    <a:lstStyle/>
                    <a:p>
                      <a:r>
                        <a:rPr lang="en-US" sz="1200" dirty="0"/>
                        <a:t>Project</a:t>
                      </a:r>
                      <a:r>
                        <a:rPr lang="en-US" sz="1200" baseline="0" dirty="0"/>
                        <a:t> resources has been heighted as a concern</a:t>
                      </a:r>
                      <a:endParaRPr lang="en-US" sz="1200" dirty="0">
                        <a:latin typeface="Times New Roman" panose="02020603050405020304" pitchFamily="18" charset="0"/>
                        <a:cs typeface="Times New Roman" panose="02020603050405020304" pitchFamily="18" charset="0"/>
                      </a:endParaRPr>
                    </a:p>
                  </a:txBody>
                  <a:tcPr marL="91449" marR="91449" marT="45700" marB="45700"/>
                </a:tc>
                <a:extLst>
                  <a:ext uri="{0D108BD9-81ED-4DB2-BD59-A6C34878D82A}">
                    <a16:rowId xmlns:a16="http://schemas.microsoft.com/office/drawing/2014/main" val="10001"/>
                  </a:ext>
                </a:extLst>
              </a:tr>
              <a:tr h="335173">
                <a:tc>
                  <a:txBody>
                    <a:bodyPr/>
                    <a:lstStyle/>
                    <a:p>
                      <a:r>
                        <a:rPr lang="en-US" sz="1200" dirty="0"/>
                        <a:t>Budget</a:t>
                      </a:r>
                      <a:endParaRPr lang="en-US" sz="1200" dirty="0">
                        <a:latin typeface="Times New Roman" panose="02020603050405020304" pitchFamily="18" charset="0"/>
                        <a:cs typeface="Times New Roman" panose="02020603050405020304" pitchFamily="18" charset="0"/>
                      </a:endParaRPr>
                    </a:p>
                  </a:txBody>
                  <a:tcPr marL="91449" marR="91449" marT="45700" marB="45700"/>
                </a:tc>
                <a:tc>
                  <a:txBody>
                    <a:bodyPr/>
                    <a:lstStyle/>
                    <a:p>
                      <a:pPr algn="ctr"/>
                      <a:r>
                        <a:rPr lang="en-US" sz="1200" dirty="0"/>
                        <a:t>   </a:t>
                      </a:r>
                      <a:r>
                        <a:rPr lang="en-US" sz="1200" baseline="0" dirty="0"/>
                        <a:t>G</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00B050"/>
                    </a:solidFill>
                  </a:tcPr>
                </a:tc>
                <a:tc>
                  <a:txBody>
                    <a:bodyPr/>
                    <a:lstStyle/>
                    <a:p>
                      <a:pPr algn="ctr"/>
                      <a:r>
                        <a:rPr lang="en-US" sz="1200" baseline="0" dirty="0"/>
                        <a:t>G</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00B050"/>
                    </a:solidFill>
                  </a:tcPr>
                </a:tc>
                <a:tc>
                  <a:txBody>
                    <a:bodyPr/>
                    <a:lstStyle/>
                    <a:p>
                      <a:r>
                        <a:rPr lang="en-US" sz="1200" dirty="0"/>
                        <a:t>Funding</a:t>
                      </a:r>
                      <a:r>
                        <a:rPr lang="en-US" sz="1200" baseline="0" dirty="0"/>
                        <a:t> availability for the completion of the project</a:t>
                      </a:r>
                      <a:endParaRPr lang="en-US" sz="1200" dirty="0">
                        <a:latin typeface="Times New Roman" panose="02020603050405020304" pitchFamily="18" charset="0"/>
                        <a:cs typeface="Times New Roman" panose="02020603050405020304" pitchFamily="18" charset="0"/>
                      </a:endParaRPr>
                    </a:p>
                  </a:txBody>
                  <a:tcPr marL="91449" marR="91449" marT="45700" marB="45700"/>
                </a:tc>
                <a:extLst>
                  <a:ext uri="{0D108BD9-81ED-4DB2-BD59-A6C34878D82A}">
                    <a16:rowId xmlns:a16="http://schemas.microsoft.com/office/drawing/2014/main" val="10002"/>
                  </a:ext>
                </a:extLst>
              </a:tr>
              <a:tr h="457060">
                <a:tc>
                  <a:txBody>
                    <a:bodyPr/>
                    <a:lstStyle/>
                    <a:p>
                      <a:r>
                        <a:rPr lang="en-US" sz="1200" dirty="0"/>
                        <a:t>Plan/Schedule</a:t>
                      </a:r>
                      <a:endParaRPr lang="en-US" sz="1200" dirty="0">
                        <a:latin typeface="Times New Roman" panose="02020603050405020304" pitchFamily="18" charset="0"/>
                        <a:cs typeface="Times New Roman" panose="02020603050405020304" pitchFamily="18" charset="0"/>
                      </a:endParaRPr>
                    </a:p>
                  </a:txBody>
                  <a:tcPr marL="91449" marR="91449" marT="45700" marB="45700"/>
                </a:tc>
                <a:tc>
                  <a:txBody>
                    <a:bodyPr/>
                    <a:lstStyle/>
                    <a:p>
                      <a:pPr algn="ctr"/>
                      <a:r>
                        <a:rPr lang="en-US" sz="1200" baseline="0" dirty="0"/>
                        <a:t>   G</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00B050"/>
                    </a:solidFill>
                  </a:tcPr>
                </a:tc>
                <a:tc>
                  <a:txBody>
                    <a:bodyPr/>
                    <a:lstStyle/>
                    <a:p>
                      <a:pPr algn="ctr"/>
                      <a:r>
                        <a:rPr lang="en-US" sz="1200" baseline="0" dirty="0"/>
                        <a:t>A</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FFC000"/>
                    </a:solidFill>
                  </a:tcPr>
                </a:tc>
                <a:tc>
                  <a:txBody>
                    <a:bodyPr/>
                    <a:lstStyle/>
                    <a:p>
                      <a:r>
                        <a:rPr lang="en-US" sz="1200" dirty="0"/>
                        <a:t>Due to lack</a:t>
                      </a:r>
                      <a:r>
                        <a:rPr lang="en-US" sz="1200" baseline="0" dirty="0"/>
                        <a:t> of resource availability project is behind by two weeks</a:t>
                      </a:r>
                      <a:endParaRPr lang="en-US" sz="1200" dirty="0">
                        <a:latin typeface="Times New Roman" panose="02020603050405020304" pitchFamily="18" charset="0"/>
                        <a:cs typeface="Times New Roman" panose="02020603050405020304" pitchFamily="18" charset="0"/>
                      </a:endParaRPr>
                    </a:p>
                  </a:txBody>
                  <a:tcPr marL="91449" marR="91449" marT="45700" marB="45700"/>
                </a:tc>
                <a:extLst>
                  <a:ext uri="{0D108BD9-81ED-4DB2-BD59-A6C34878D82A}">
                    <a16:rowId xmlns:a16="http://schemas.microsoft.com/office/drawing/2014/main" val="10003"/>
                  </a:ext>
                </a:extLst>
              </a:tr>
              <a:tr h="457060">
                <a:tc>
                  <a:txBody>
                    <a:bodyPr/>
                    <a:lstStyle/>
                    <a:p>
                      <a:r>
                        <a:rPr lang="en-US" sz="1200" dirty="0"/>
                        <a:t>Risks</a:t>
                      </a:r>
                      <a:r>
                        <a:rPr lang="en-US" sz="1200" baseline="0" dirty="0"/>
                        <a:t> </a:t>
                      </a:r>
                      <a:r>
                        <a:rPr lang="en-US" sz="1200" dirty="0"/>
                        <a:t>&amp; Dependencies</a:t>
                      </a:r>
                      <a:endParaRPr lang="en-US" sz="1200" dirty="0">
                        <a:latin typeface="Times New Roman" panose="02020603050405020304" pitchFamily="18" charset="0"/>
                        <a:cs typeface="Times New Roman" panose="02020603050405020304" pitchFamily="18" charset="0"/>
                      </a:endParaRPr>
                    </a:p>
                  </a:txBody>
                  <a:tcPr marL="91449" marR="91449" marT="45700" marB="45700"/>
                </a:tc>
                <a:tc>
                  <a:txBody>
                    <a:bodyPr/>
                    <a:lstStyle/>
                    <a:p>
                      <a:pPr algn="ctr"/>
                      <a:r>
                        <a:rPr lang="en-US" sz="1200" baseline="0" dirty="0"/>
                        <a:t>   G</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00B050"/>
                    </a:solidFill>
                  </a:tcPr>
                </a:tc>
                <a:tc>
                  <a:txBody>
                    <a:bodyPr/>
                    <a:lstStyle/>
                    <a:p>
                      <a:pPr algn="ctr"/>
                      <a:r>
                        <a:rPr lang="en-US" sz="1200" baseline="0" dirty="0"/>
                        <a:t>A</a:t>
                      </a:r>
                      <a:endParaRPr lang="en-US" sz="1200" baseline="0" dirty="0">
                        <a:solidFill>
                          <a:schemeClr val="bg1"/>
                        </a:solidFill>
                        <a:latin typeface="Times New Roman" panose="02020603050405020304" pitchFamily="18" charset="0"/>
                        <a:cs typeface="Times New Roman" panose="02020603050405020304" pitchFamily="18" charset="0"/>
                      </a:endParaRPr>
                    </a:p>
                  </a:txBody>
                  <a:tcPr marL="91449" marR="91449" marT="45700" marB="45700">
                    <a:solidFill>
                      <a:srgbClr val="FFC000"/>
                    </a:solidFill>
                  </a:tcPr>
                </a:tc>
                <a:tc>
                  <a:txBody>
                    <a:bodyPr/>
                    <a:lstStyle/>
                    <a:p>
                      <a:r>
                        <a:rPr lang="en-US" sz="1200" dirty="0"/>
                        <a:t>Assumption</a:t>
                      </a:r>
                      <a:r>
                        <a:rPr lang="en-US" sz="1200" baseline="0" dirty="0"/>
                        <a:t> is Workday Migration is complete, see risks below</a:t>
                      </a:r>
                      <a:endParaRPr lang="en-US" sz="1200" dirty="0">
                        <a:latin typeface="Times New Roman" panose="02020603050405020304" pitchFamily="18" charset="0"/>
                        <a:cs typeface="Times New Roman" panose="02020603050405020304" pitchFamily="18" charset="0"/>
                      </a:endParaRPr>
                    </a:p>
                  </a:txBody>
                  <a:tcPr marL="91449" marR="91449" marT="45700" marB="45700"/>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57288521"/>
              </p:ext>
            </p:extLst>
          </p:nvPr>
        </p:nvGraphicFramePr>
        <p:xfrm>
          <a:off x="241990" y="3780822"/>
          <a:ext cx="7645608" cy="1016508"/>
        </p:xfrm>
        <a:graphic>
          <a:graphicData uri="http://schemas.openxmlformats.org/drawingml/2006/table">
            <a:tbl>
              <a:tblPr firstRow="1" bandRow="1">
                <a:tableStyleId>{00A15C55-8517-42AA-B614-E9B94910E393}</a:tableStyleId>
              </a:tblPr>
              <a:tblGrid>
                <a:gridCol w="3822804">
                  <a:extLst>
                    <a:ext uri="{9D8B030D-6E8A-4147-A177-3AD203B41FA5}">
                      <a16:colId xmlns:a16="http://schemas.microsoft.com/office/drawing/2014/main" val="20000"/>
                    </a:ext>
                  </a:extLst>
                </a:gridCol>
                <a:gridCol w="3822804">
                  <a:extLst>
                    <a:ext uri="{9D8B030D-6E8A-4147-A177-3AD203B41FA5}">
                      <a16:colId xmlns:a16="http://schemas.microsoft.com/office/drawing/2014/main" val="20001"/>
                    </a:ext>
                  </a:extLst>
                </a:gridCol>
              </a:tblGrid>
              <a:tr h="315912">
                <a:tc>
                  <a:txBody>
                    <a:bodyPr/>
                    <a:lstStyle/>
                    <a:p>
                      <a:r>
                        <a:rPr lang="en-US" sz="1200" b="0" dirty="0">
                          <a:latin typeface="+mn-lt"/>
                          <a:cs typeface="Times New Roman" panose="02020603050405020304" pitchFamily="18" charset="0"/>
                        </a:rPr>
                        <a:t>Activities Completed this</a:t>
                      </a:r>
                      <a:r>
                        <a:rPr lang="en-US" sz="1200" b="0" baseline="0" dirty="0">
                          <a:latin typeface="+mn-lt"/>
                          <a:cs typeface="Times New Roman" panose="02020603050405020304" pitchFamily="18" charset="0"/>
                        </a:rPr>
                        <a:t> period</a:t>
                      </a:r>
                      <a:endParaRPr lang="en-US" sz="1200" b="0" dirty="0">
                        <a:latin typeface="+mn-lt"/>
                        <a:cs typeface="Times New Roman" panose="02020603050405020304" pitchFamily="18" charset="0"/>
                      </a:endParaRPr>
                    </a:p>
                  </a:txBody>
                  <a:tcPr marL="91451" marR="91451" marT="45679" marB="45679"/>
                </a:tc>
                <a:tc>
                  <a:txBody>
                    <a:bodyPr/>
                    <a:lstStyle/>
                    <a:p>
                      <a:r>
                        <a:rPr lang="en-US" sz="1200" b="0" dirty="0">
                          <a:latin typeface="+mn-lt"/>
                          <a:cs typeface="Times New Roman" panose="02020603050405020304" pitchFamily="18" charset="0"/>
                        </a:rPr>
                        <a:t>Activities planned</a:t>
                      </a:r>
                      <a:r>
                        <a:rPr lang="en-US" sz="1200" b="0" baseline="0" dirty="0">
                          <a:latin typeface="+mn-lt"/>
                          <a:cs typeface="Times New Roman" panose="02020603050405020304" pitchFamily="18" charset="0"/>
                        </a:rPr>
                        <a:t> for the next two weeks</a:t>
                      </a:r>
                      <a:endParaRPr lang="en-US" sz="1200" b="0" dirty="0">
                        <a:latin typeface="+mn-lt"/>
                        <a:cs typeface="Times New Roman" panose="02020603050405020304" pitchFamily="18" charset="0"/>
                      </a:endParaRPr>
                    </a:p>
                  </a:txBody>
                  <a:tcPr marL="91451" marR="91451" marT="45679" marB="45679"/>
                </a:tc>
                <a:extLst>
                  <a:ext uri="{0D108BD9-81ED-4DB2-BD59-A6C34878D82A}">
                    <a16:rowId xmlns:a16="http://schemas.microsoft.com/office/drawing/2014/main" val="10000"/>
                  </a:ext>
                </a:extLst>
              </a:tr>
              <a:tr h="700596">
                <a:tc>
                  <a:txBody>
                    <a:bodyPr/>
                    <a:lstStyle/>
                    <a:p>
                      <a:pPr marL="285750" indent="-285750">
                        <a:buFont typeface="Arial" panose="020B0604020202020204" pitchFamily="34" charset="0"/>
                        <a:buChar char="•"/>
                      </a:pPr>
                      <a:r>
                        <a:rPr lang="en-US" sz="1200" baseline="0" dirty="0">
                          <a:solidFill>
                            <a:schemeClr val="tx1"/>
                          </a:solidFill>
                          <a:latin typeface="+mn-lt"/>
                          <a:cs typeface="Times New Roman" panose="02020603050405020304" pitchFamily="18" charset="0"/>
                        </a:rPr>
                        <a:t>Completion of project SOW</a:t>
                      </a:r>
                    </a:p>
                    <a:p>
                      <a:pPr marL="285750" indent="-285750">
                        <a:buFont typeface="Arial" panose="020B0604020202020204" pitchFamily="34" charset="0"/>
                        <a:buChar char="•"/>
                      </a:pPr>
                      <a:r>
                        <a:rPr lang="en-US" sz="1200" baseline="0" dirty="0">
                          <a:latin typeface="+mn-lt"/>
                          <a:cs typeface="Times New Roman" panose="02020603050405020304" pitchFamily="18" charset="0"/>
                        </a:rPr>
                        <a:t>Activities breakdown (WBS)</a:t>
                      </a:r>
                    </a:p>
                    <a:p>
                      <a:pPr marL="0" indent="0">
                        <a:buFont typeface="Arial" panose="020B0604020202020204" pitchFamily="34" charset="0"/>
                        <a:buNone/>
                      </a:pPr>
                      <a:endParaRPr lang="en-US" sz="1200" dirty="0">
                        <a:latin typeface="+mn-lt"/>
                      </a:endParaRPr>
                    </a:p>
                  </a:txBody>
                  <a:tcPr marL="91451" marR="91451" marT="45679" marB="45679"/>
                </a:tc>
                <a:tc>
                  <a:txBody>
                    <a:bodyPr/>
                    <a:lstStyle/>
                    <a:p>
                      <a:pPr marL="285750" indent="-285750">
                        <a:buFont typeface="Arial" panose="020B0604020202020204" pitchFamily="34" charset="0"/>
                        <a:buChar char="•"/>
                      </a:pPr>
                      <a:r>
                        <a:rPr lang="en-US" sz="1200" dirty="0">
                          <a:latin typeface="+mn-lt"/>
                          <a:cs typeface="Times New Roman" panose="02020603050405020304" pitchFamily="18" charset="0"/>
                        </a:rPr>
                        <a:t>Develop</a:t>
                      </a:r>
                      <a:r>
                        <a:rPr lang="en-US" sz="1200" baseline="0" dirty="0">
                          <a:latin typeface="+mn-lt"/>
                          <a:cs typeface="Times New Roman" panose="02020603050405020304" pitchFamily="18" charset="0"/>
                        </a:rPr>
                        <a:t> team ( procure necessary resources needed)</a:t>
                      </a:r>
                    </a:p>
                    <a:p>
                      <a:pPr marL="285750" indent="-285750">
                        <a:buFont typeface="Arial" panose="020B0604020202020204" pitchFamily="34" charset="0"/>
                        <a:buChar char="•"/>
                      </a:pPr>
                      <a:r>
                        <a:rPr lang="en-US" sz="1200" baseline="0" dirty="0">
                          <a:latin typeface="+mn-lt"/>
                          <a:cs typeface="Times New Roman" panose="02020603050405020304" pitchFamily="18" charset="0"/>
                        </a:rPr>
                        <a:t>Finalize Hardware procurement</a:t>
                      </a:r>
                    </a:p>
                    <a:p>
                      <a:pPr marL="285750" indent="-285750">
                        <a:buFont typeface="Arial" panose="020B0604020202020204" pitchFamily="34" charset="0"/>
                        <a:buChar char="•"/>
                      </a:pPr>
                      <a:r>
                        <a:rPr lang="en-US" sz="1200" dirty="0">
                          <a:latin typeface="+mn-lt"/>
                          <a:cs typeface="Times New Roman" panose="02020603050405020304" pitchFamily="18" charset="0"/>
                        </a:rPr>
                        <a:t>Finalize InfoSec</a:t>
                      </a:r>
                      <a:r>
                        <a:rPr lang="en-US" sz="1200" baseline="0" dirty="0">
                          <a:latin typeface="+mn-lt"/>
                          <a:cs typeface="Times New Roman" panose="02020603050405020304" pitchFamily="18" charset="0"/>
                        </a:rPr>
                        <a:t> Agreement </a:t>
                      </a:r>
                      <a:endParaRPr lang="en-US" sz="1200" dirty="0">
                        <a:latin typeface="+mn-lt"/>
                        <a:cs typeface="Times New Roman" panose="02020603050405020304" pitchFamily="18" charset="0"/>
                      </a:endParaRPr>
                    </a:p>
                  </a:txBody>
                  <a:tcPr marL="91451" marR="91451" marT="45679" marB="45679"/>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12793836"/>
              </p:ext>
            </p:extLst>
          </p:nvPr>
        </p:nvGraphicFramePr>
        <p:xfrm>
          <a:off x="241990" y="4838558"/>
          <a:ext cx="7644019" cy="964193"/>
        </p:xfrm>
        <a:graphic>
          <a:graphicData uri="http://schemas.openxmlformats.org/drawingml/2006/table">
            <a:tbl>
              <a:tblPr firstRow="1" bandRow="1">
                <a:tableStyleId>{00A15C55-8517-42AA-B614-E9B94910E393}</a:tableStyleId>
              </a:tblPr>
              <a:tblGrid>
                <a:gridCol w="2548006">
                  <a:extLst>
                    <a:ext uri="{9D8B030D-6E8A-4147-A177-3AD203B41FA5}">
                      <a16:colId xmlns:a16="http://schemas.microsoft.com/office/drawing/2014/main" val="20000"/>
                    </a:ext>
                  </a:extLst>
                </a:gridCol>
                <a:gridCol w="910860">
                  <a:extLst>
                    <a:ext uri="{9D8B030D-6E8A-4147-A177-3AD203B41FA5}">
                      <a16:colId xmlns:a16="http://schemas.microsoft.com/office/drawing/2014/main" val="20001"/>
                    </a:ext>
                  </a:extLst>
                </a:gridCol>
                <a:gridCol w="4185153">
                  <a:extLst>
                    <a:ext uri="{9D8B030D-6E8A-4147-A177-3AD203B41FA5}">
                      <a16:colId xmlns:a16="http://schemas.microsoft.com/office/drawing/2014/main" val="20002"/>
                    </a:ext>
                  </a:extLst>
                </a:gridCol>
              </a:tblGrid>
              <a:tr h="274420">
                <a:tc>
                  <a:txBody>
                    <a:bodyPr/>
                    <a:lstStyle/>
                    <a:p>
                      <a:r>
                        <a:rPr lang="en-US" sz="1200" b="0" dirty="0">
                          <a:latin typeface="+mn-lt"/>
                          <a:cs typeface="Times New Roman" panose="02020603050405020304" pitchFamily="18" charset="0"/>
                        </a:rPr>
                        <a:t>Risks</a:t>
                      </a:r>
                    </a:p>
                  </a:txBody>
                  <a:tcPr marL="91432" marR="91432" marT="45742" marB="45742"/>
                </a:tc>
                <a:tc>
                  <a:txBody>
                    <a:bodyPr/>
                    <a:lstStyle/>
                    <a:p>
                      <a:pPr algn="ctr"/>
                      <a:r>
                        <a:rPr lang="en-US" sz="1200" b="0" dirty="0">
                          <a:latin typeface="+mn-lt"/>
                          <a:cs typeface="Times New Roman" panose="02020603050405020304" pitchFamily="18" charset="0"/>
                        </a:rPr>
                        <a:t>Impact</a:t>
                      </a:r>
                    </a:p>
                  </a:txBody>
                  <a:tcPr marL="91432" marR="91432" marT="45742" marB="45742"/>
                </a:tc>
                <a:tc>
                  <a:txBody>
                    <a:bodyPr/>
                    <a:lstStyle/>
                    <a:p>
                      <a:r>
                        <a:rPr lang="en-US" sz="1200" b="0" dirty="0">
                          <a:latin typeface="+mn-lt"/>
                          <a:cs typeface="Times New Roman" panose="02020603050405020304" pitchFamily="18" charset="0"/>
                        </a:rPr>
                        <a:t>Mitigation</a:t>
                      </a:r>
                    </a:p>
                  </a:txBody>
                  <a:tcPr marL="91432" marR="91432" marT="45742" marB="45742"/>
                </a:tc>
                <a:extLst>
                  <a:ext uri="{0D108BD9-81ED-4DB2-BD59-A6C34878D82A}">
                    <a16:rowId xmlns:a16="http://schemas.microsoft.com/office/drawing/2014/main" val="10000"/>
                  </a:ext>
                </a:extLst>
              </a:tr>
              <a:tr h="354375">
                <a:tc>
                  <a:txBody>
                    <a:bodyPr/>
                    <a:lstStyle/>
                    <a:p>
                      <a:r>
                        <a:rPr lang="en-US" sz="1200" dirty="0">
                          <a:latin typeface="+mn-lt"/>
                          <a:cs typeface="Times New Roman" panose="02020603050405020304" pitchFamily="18" charset="0"/>
                        </a:rPr>
                        <a:t>Resource</a:t>
                      </a:r>
                    </a:p>
                  </a:txBody>
                  <a:tcPr marL="91432" marR="91432" marT="45742" marB="45742"/>
                </a:tc>
                <a:tc>
                  <a:txBody>
                    <a:bodyPr/>
                    <a:lstStyle/>
                    <a:p>
                      <a:pPr algn="ctr"/>
                      <a:r>
                        <a:rPr lang="en-US" sz="1200" dirty="0">
                          <a:latin typeface="+mn-lt"/>
                          <a:cs typeface="Times New Roman" panose="02020603050405020304" pitchFamily="18" charset="0"/>
                        </a:rPr>
                        <a:t>High</a:t>
                      </a:r>
                    </a:p>
                  </a:txBody>
                  <a:tcPr marL="91432" marR="91432" marT="45742" marB="45742">
                    <a:solidFill>
                      <a:srgbClr val="C00000"/>
                    </a:solidFill>
                  </a:tcPr>
                </a:tc>
                <a:tc>
                  <a:txBody>
                    <a:bodyPr/>
                    <a:lstStyle/>
                    <a:p>
                      <a:pPr marL="285750" marR="0" lvl="0" indent="-285750" algn="l" defTabSz="8129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Times New Roman" panose="02020603050405020304" pitchFamily="18" charset="0"/>
                        </a:rPr>
                        <a:t>Schedule a resource </a:t>
                      </a:r>
                      <a:r>
                        <a:rPr kumimoji="0" lang="en-US" sz="1200" b="0" i="0" u="none" strike="noStrike" kern="1200" cap="none" spc="0" normalizeH="0" baseline="0" noProof="0" dirty="0" smtClean="0">
                          <a:ln>
                            <a:noFill/>
                          </a:ln>
                          <a:solidFill>
                            <a:prstClr val="black"/>
                          </a:solidFill>
                          <a:effectLst/>
                          <a:uLnTx/>
                          <a:uFillTx/>
                          <a:latin typeface="+mn-lt"/>
                          <a:ea typeface="+mn-ea"/>
                          <a:cs typeface="Times New Roman" panose="02020603050405020304" pitchFamily="18" charset="0"/>
                        </a:rPr>
                        <a:t>escalation </a:t>
                      </a:r>
                      <a:r>
                        <a:rPr kumimoji="0" lang="en-US" sz="1200" b="0" i="0" u="none" strike="noStrike" kern="1200" cap="none" spc="0" normalizeH="0" baseline="0" noProof="0" dirty="0">
                          <a:ln>
                            <a:noFill/>
                          </a:ln>
                          <a:solidFill>
                            <a:prstClr val="black"/>
                          </a:solidFill>
                          <a:effectLst/>
                          <a:uLnTx/>
                          <a:uFillTx/>
                          <a:latin typeface="+mn-lt"/>
                          <a:ea typeface="+mn-ea"/>
                          <a:cs typeface="Times New Roman" panose="02020603050405020304" pitchFamily="18" charset="0"/>
                        </a:rPr>
                        <a:t>call </a:t>
                      </a:r>
                    </a:p>
                  </a:txBody>
                  <a:tcPr marL="91432" marR="91432" marT="45742" marB="45742"/>
                </a:tc>
                <a:extLst>
                  <a:ext uri="{0D108BD9-81ED-4DB2-BD59-A6C34878D82A}">
                    <a16:rowId xmlns:a16="http://schemas.microsoft.com/office/drawing/2014/main" val="10001"/>
                  </a:ext>
                </a:extLst>
              </a:tr>
              <a:tr h="335398">
                <a:tc>
                  <a:txBody>
                    <a:bodyPr/>
                    <a:lstStyle/>
                    <a:p>
                      <a:r>
                        <a:rPr lang="en-US" sz="1200" dirty="0">
                          <a:latin typeface="+mn-lt"/>
                          <a:cs typeface="Times New Roman" panose="02020603050405020304" pitchFamily="18" charset="0"/>
                        </a:rPr>
                        <a:t>Scheduling </a:t>
                      </a:r>
                    </a:p>
                  </a:txBody>
                  <a:tcPr marL="91432" marR="91432" marT="45742" marB="45742"/>
                </a:tc>
                <a:tc>
                  <a:txBody>
                    <a:bodyPr/>
                    <a:lstStyle/>
                    <a:p>
                      <a:pPr algn="ctr"/>
                      <a:r>
                        <a:rPr lang="en-US" sz="1200" dirty="0">
                          <a:latin typeface="+mn-lt"/>
                          <a:cs typeface="Times New Roman" panose="02020603050405020304" pitchFamily="18" charset="0"/>
                        </a:rPr>
                        <a:t>Medium</a:t>
                      </a:r>
                    </a:p>
                  </a:txBody>
                  <a:tcPr marL="91432" marR="91432" marT="45742" marB="45742">
                    <a:solidFill>
                      <a:srgbClr val="FFC000"/>
                    </a:solidFill>
                  </a:tcPr>
                </a:tc>
                <a:tc>
                  <a:txBody>
                    <a:bodyPr/>
                    <a:lstStyle/>
                    <a:p>
                      <a:pPr marL="285750" indent="-285750">
                        <a:buFont typeface="Arial" panose="020B0604020202020204" pitchFamily="34" charset="0"/>
                        <a:buChar char="•"/>
                      </a:pPr>
                      <a:r>
                        <a:rPr lang="en-US" sz="1200" dirty="0">
                          <a:latin typeface="+mn-lt"/>
                          <a:cs typeface="Times New Roman" panose="02020603050405020304" pitchFamily="18" charset="0"/>
                        </a:rPr>
                        <a:t>Work on multiple activities simultaneously</a:t>
                      </a:r>
                    </a:p>
                  </a:txBody>
                  <a:tcPr marL="91432" marR="91432" marT="45742" marB="45742"/>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3188" y="0"/>
            <a:ext cx="7011987" cy="382588"/>
          </a:xfrm>
          <a:solidFill>
            <a:schemeClr val="accent4">
              <a:lumMod val="75000"/>
            </a:schemeClr>
          </a:solidFill>
        </p:spPr>
        <p:txBody>
          <a:bodyPr rtlCol="0">
            <a:noAutofit/>
          </a:bodyPr>
          <a:lstStyle/>
          <a:p>
            <a:pPr defTabSz="812993" eaLnBrk="1" fontAlgn="auto" hangingPunct="1">
              <a:spcAft>
                <a:spcPts val="0"/>
              </a:spcAft>
              <a:defRPr/>
            </a:pPr>
            <a:r>
              <a:rPr lang="en-US" altLang="en-US" dirty="0" smtClean="0">
                <a:latin typeface="+mn-lt"/>
                <a:cs typeface="Times New Roman" panose="02020603050405020304" pitchFamily="18" charset="0"/>
              </a:rPr>
              <a:t>Decisions and Next </a:t>
            </a:r>
            <a:r>
              <a:rPr lang="en-US" altLang="en-US" dirty="0">
                <a:latin typeface="+mn-lt"/>
                <a:cs typeface="Times New Roman" panose="02020603050405020304" pitchFamily="18" charset="0"/>
              </a:rPr>
              <a:t>Steps</a:t>
            </a:r>
          </a:p>
        </p:txBody>
      </p:sp>
      <p:graphicFrame>
        <p:nvGraphicFramePr>
          <p:cNvPr id="3" name="Table 2"/>
          <p:cNvGraphicFramePr>
            <a:graphicFrameLocks noGrp="1"/>
          </p:cNvGraphicFramePr>
          <p:nvPr>
            <p:extLst>
              <p:ext uri="{D42A27DB-BD31-4B8C-83A1-F6EECF244321}">
                <p14:modId xmlns:p14="http://schemas.microsoft.com/office/powerpoint/2010/main" val="734532789"/>
              </p:ext>
            </p:extLst>
          </p:nvPr>
        </p:nvGraphicFramePr>
        <p:xfrm>
          <a:off x="254794" y="1578229"/>
          <a:ext cx="7543800" cy="4339590"/>
        </p:xfrm>
        <a:graphic>
          <a:graphicData uri="http://schemas.openxmlformats.org/drawingml/2006/table">
            <a:tbl>
              <a:tblPr firstRow="1" bandRow="1">
                <a:effectLst/>
                <a:tableStyleId>{17292A2E-F333-43FB-9621-5CBBE7FDCDCB}</a:tableStyleId>
              </a:tblPr>
              <a:tblGrid>
                <a:gridCol w="18859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3"/>
                    </a:ext>
                  </a:extLst>
                </a:gridCol>
                <a:gridCol w="1885950">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tblGrid>
              <a:tr h="438150">
                <a:tc>
                  <a:txBody>
                    <a:bodyPr/>
                    <a:lstStyle/>
                    <a:p>
                      <a:r>
                        <a:rPr lang="en-US" sz="1400" dirty="0" smtClean="0">
                          <a:solidFill>
                            <a:schemeClr val="bg1"/>
                          </a:solidFill>
                          <a:latin typeface="+mn-lt"/>
                          <a:cs typeface="Times New Roman" panose="02020603050405020304" pitchFamily="18" charset="0"/>
                        </a:rPr>
                        <a:t>Next Steps</a:t>
                      </a:r>
                      <a:endParaRPr lang="en-US" sz="1400" dirty="0">
                        <a:solidFill>
                          <a:schemeClr val="bg1"/>
                        </a:solidFill>
                        <a:latin typeface="+mn-lt"/>
                        <a:cs typeface="Times New Roman" panose="02020603050405020304" pitchFamily="18"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D6FA9"/>
                    </a:solidFill>
                  </a:tcPr>
                </a:tc>
                <a:tc>
                  <a:txBody>
                    <a:bodyPr/>
                    <a:lstStyle/>
                    <a:p>
                      <a:r>
                        <a:rPr lang="en-US" sz="1400" dirty="0" smtClean="0">
                          <a:solidFill>
                            <a:schemeClr val="bg1"/>
                          </a:solidFill>
                          <a:latin typeface="+mn-lt"/>
                          <a:cs typeface="Times New Roman" panose="02020603050405020304" pitchFamily="18" charset="0"/>
                        </a:rPr>
                        <a:t>Expected Outcome</a:t>
                      </a:r>
                      <a:endParaRPr lang="en-US" sz="1400" dirty="0">
                        <a:solidFill>
                          <a:schemeClr val="bg1"/>
                        </a:solidFill>
                        <a:latin typeface="+mn-lt"/>
                        <a:cs typeface="Times New Roman" panose="02020603050405020304" pitchFamily="18"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D6FA9"/>
                    </a:solidFill>
                  </a:tcPr>
                </a:tc>
                <a:tc>
                  <a:txBody>
                    <a:bodyPr/>
                    <a:lstStyle/>
                    <a:p>
                      <a:r>
                        <a:rPr lang="en-US" sz="1400" dirty="0">
                          <a:solidFill>
                            <a:schemeClr val="bg1"/>
                          </a:solidFill>
                          <a:latin typeface="+mn-lt"/>
                          <a:cs typeface="Times New Roman" panose="02020603050405020304" pitchFamily="18" charset="0"/>
                        </a:rPr>
                        <a:t>Responsibility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D6FA9"/>
                    </a:solidFill>
                  </a:tcPr>
                </a:tc>
                <a:tc>
                  <a:txBody>
                    <a:bodyPr/>
                    <a:lstStyle/>
                    <a:p>
                      <a:r>
                        <a:rPr lang="en-US" sz="1400" dirty="0" smtClean="0">
                          <a:solidFill>
                            <a:schemeClr val="bg1"/>
                          </a:solidFill>
                          <a:latin typeface="+mn-lt"/>
                          <a:cs typeface="Times New Roman" panose="02020603050405020304" pitchFamily="18" charset="0"/>
                        </a:rPr>
                        <a:t>Due Date</a:t>
                      </a:r>
                      <a:endParaRPr lang="en-US" sz="1400" dirty="0">
                        <a:solidFill>
                          <a:schemeClr val="bg1"/>
                        </a:solidFill>
                        <a:latin typeface="+mn-lt"/>
                        <a:cs typeface="Times New Roman" panose="02020603050405020304" pitchFamily="18"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D6FA9"/>
                    </a:solidFill>
                  </a:tcPr>
                </a:tc>
                <a:extLst>
                  <a:ext uri="{0D108BD9-81ED-4DB2-BD59-A6C34878D82A}">
                    <a16:rowId xmlns:a16="http://schemas.microsoft.com/office/drawing/2014/main" val="10000"/>
                  </a:ext>
                </a:extLst>
              </a:tr>
              <a:tr h="438150">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Schedule</a:t>
                      </a:r>
                      <a:r>
                        <a:rPr lang="en-US" sz="1400" baseline="0" dirty="0">
                          <a:latin typeface="+mn-lt"/>
                          <a:cs typeface="Times New Roman" panose="02020603050405020304" pitchFamily="18" charset="0"/>
                        </a:rPr>
                        <a:t> a resource </a:t>
                      </a:r>
                      <a:r>
                        <a:rPr lang="en-US" sz="1400" baseline="0" dirty="0" smtClean="0">
                          <a:latin typeface="+mn-lt"/>
                          <a:cs typeface="Times New Roman" panose="02020603050405020304" pitchFamily="18" charset="0"/>
                        </a:rPr>
                        <a:t>escalation </a:t>
                      </a:r>
                      <a:r>
                        <a:rPr lang="en-US" sz="1400" baseline="0" dirty="0">
                          <a:latin typeface="+mn-lt"/>
                          <a:cs typeface="Times New Roman" panose="02020603050405020304" pitchFamily="18" charset="0"/>
                        </a:rPr>
                        <a:t>call with the resource </a:t>
                      </a:r>
                      <a:r>
                        <a:rPr lang="en-US" sz="1400" baseline="0" dirty="0" smtClean="0">
                          <a:latin typeface="+mn-lt"/>
                          <a:cs typeface="Times New Roman" panose="02020603050405020304" pitchFamily="18" charset="0"/>
                        </a:rPr>
                        <a:t>managers to understand resource availability and request priority.</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smtClean="0">
                          <a:latin typeface="+mn-lt"/>
                          <a:cs typeface="Times New Roman" panose="02020603050405020304" pitchFamily="18" charset="0"/>
                        </a:rPr>
                        <a:t>Get resource</a:t>
                      </a:r>
                      <a:r>
                        <a:rPr lang="en-US" sz="1400" baseline="0" dirty="0" smtClean="0">
                          <a:latin typeface="+mn-lt"/>
                          <a:cs typeface="Times New Roman" panose="02020603050405020304" pitchFamily="18" charset="0"/>
                        </a:rPr>
                        <a:t> allocation prioritized and onboarded </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Delivery Manager</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Tuesday, 26th Nov 2019</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38150">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Schedule</a:t>
                      </a:r>
                      <a:r>
                        <a:rPr lang="en-US" sz="1400" baseline="0" dirty="0">
                          <a:latin typeface="+mn-lt"/>
                          <a:cs typeface="Times New Roman" panose="02020603050405020304" pitchFamily="18" charset="0"/>
                        </a:rPr>
                        <a:t> a meeting with the InfoSec team </a:t>
                      </a:r>
                      <a:r>
                        <a:rPr lang="en-US" sz="1400" baseline="0" dirty="0" smtClean="0">
                          <a:latin typeface="+mn-lt"/>
                          <a:cs typeface="Times New Roman" panose="02020603050405020304" pitchFamily="18" charset="0"/>
                        </a:rPr>
                        <a:t>to discuss InfoSec agreement needs</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smtClean="0">
                          <a:latin typeface="+mn-lt"/>
                          <a:cs typeface="Times New Roman" panose="02020603050405020304" pitchFamily="18" charset="0"/>
                        </a:rPr>
                        <a:t>Understand the status</a:t>
                      </a:r>
                      <a:r>
                        <a:rPr lang="en-US" sz="1400" baseline="0" dirty="0" smtClean="0">
                          <a:latin typeface="+mn-lt"/>
                          <a:cs typeface="Times New Roman" panose="02020603050405020304" pitchFamily="18" charset="0"/>
                        </a:rPr>
                        <a:t> of the agreement and agree with the team to get it finalized</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Delivery Manager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8129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mn-lt"/>
                          <a:ea typeface="+mn-ea"/>
                          <a:cs typeface="Times New Roman" panose="02020603050405020304" pitchFamily="18" charset="0"/>
                        </a:rPr>
                        <a:t>Tuesday, 26th Nov 2019</a:t>
                      </a:r>
                    </a:p>
                    <a:p>
                      <a:pPr marL="285750" indent="-285750">
                        <a:buFont typeface="Arial" panose="020B0604020202020204" pitchFamily="34" charset="0"/>
                        <a:buChar char="•"/>
                      </a:pP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38150">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Finalize</a:t>
                      </a:r>
                      <a:r>
                        <a:rPr lang="en-US" sz="1400" baseline="0" dirty="0">
                          <a:latin typeface="+mn-lt"/>
                          <a:cs typeface="Times New Roman" panose="02020603050405020304" pitchFamily="18" charset="0"/>
                        </a:rPr>
                        <a:t> and acquire </a:t>
                      </a:r>
                      <a:r>
                        <a:rPr lang="en-US" sz="1400" baseline="0" dirty="0" smtClean="0">
                          <a:latin typeface="+mn-lt"/>
                          <a:cs typeface="Times New Roman" panose="02020603050405020304" pitchFamily="18" charset="0"/>
                        </a:rPr>
                        <a:t>required hardware (Servers)</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smtClean="0">
                          <a:latin typeface="+mn-lt"/>
                          <a:cs typeface="Times New Roman" panose="02020603050405020304" pitchFamily="18" charset="0"/>
                        </a:rPr>
                        <a:t>Hardware is ready</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Delivery Manager</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r>
                        <a:rPr lang="en-US" sz="1400" dirty="0">
                          <a:latin typeface="+mn-lt"/>
                          <a:cs typeface="Times New Roman" panose="02020603050405020304" pitchFamily="18" charset="0"/>
                        </a:rPr>
                        <a:t>Monday, 2nd Dec 2019</a:t>
                      </a:r>
                    </a:p>
                    <a:p>
                      <a:pPr marL="285750" indent="-285750">
                        <a:buFont typeface="Arial" panose="020B0604020202020204" pitchFamily="34" charset="0"/>
                        <a:buChar char="•"/>
                      </a:pP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025662923"/>
              </p:ext>
            </p:extLst>
          </p:nvPr>
        </p:nvGraphicFramePr>
        <p:xfrm>
          <a:off x="254794" y="426268"/>
          <a:ext cx="7271800" cy="1099320"/>
        </p:xfrm>
        <a:graphic>
          <a:graphicData uri="http://schemas.openxmlformats.org/drawingml/2006/table">
            <a:tbl>
              <a:tblPr firstRow="1" bandRow="1">
                <a:effectLst/>
                <a:tableStyleId>{17292A2E-F333-43FB-9621-5CBBE7FDCDCB}</a:tableStyleId>
              </a:tblPr>
              <a:tblGrid>
                <a:gridCol w="7271800">
                  <a:extLst>
                    <a:ext uri="{9D8B030D-6E8A-4147-A177-3AD203B41FA5}">
                      <a16:colId xmlns:a16="http://schemas.microsoft.com/office/drawing/2014/main" val="20000"/>
                    </a:ext>
                  </a:extLst>
                </a:gridCol>
              </a:tblGrid>
              <a:tr h="366440">
                <a:tc>
                  <a:txBody>
                    <a:bodyPr/>
                    <a:lstStyle/>
                    <a:p>
                      <a:pPr algn="l"/>
                      <a:r>
                        <a:rPr lang="en-US" sz="1400" dirty="0" smtClean="0">
                          <a:solidFill>
                            <a:schemeClr val="bg1"/>
                          </a:solidFill>
                          <a:latin typeface="+mn-lt"/>
                          <a:cs typeface="Times New Roman" panose="02020603050405020304" pitchFamily="18" charset="0"/>
                        </a:rPr>
                        <a:t>Steering Committee Approval Required</a:t>
                      </a:r>
                      <a:endParaRPr lang="en-US" sz="1400" dirty="0">
                        <a:solidFill>
                          <a:schemeClr val="bg1"/>
                        </a:solidFill>
                        <a:latin typeface="+mn-lt"/>
                        <a:cs typeface="Times New Roman" panose="02020603050405020304" pitchFamily="18"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D6FA9"/>
                    </a:solidFill>
                  </a:tcPr>
                </a:tc>
                <a:extLst>
                  <a:ext uri="{0D108BD9-81ED-4DB2-BD59-A6C34878D82A}">
                    <a16:rowId xmlns:a16="http://schemas.microsoft.com/office/drawing/2014/main" val="10000"/>
                  </a:ext>
                </a:extLst>
              </a:tr>
              <a:tr h="366440">
                <a:tc>
                  <a:txBody>
                    <a:bodyPr/>
                    <a:lstStyle/>
                    <a:p>
                      <a:pPr marL="285750" indent="-285750">
                        <a:buFont typeface="Arial" panose="020B0604020202020204" pitchFamily="34" charset="0"/>
                        <a:buChar char="•"/>
                      </a:pPr>
                      <a:r>
                        <a:rPr lang="en-US" sz="1400" dirty="0" smtClean="0">
                          <a:latin typeface="+mn-lt"/>
                          <a:cs typeface="Times New Roman" panose="02020603050405020304" pitchFamily="18" charset="0"/>
                        </a:rPr>
                        <a:t>Approval</a:t>
                      </a:r>
                      <a:r>
                        <a:rPr lang="en-US" sz="1400" baseline="0" dirty="0" smtClean="0">
                          <a:latin typeface="+mn-lt"/>
                          <a:cs typeface="Times New Roman" panose="02020603050405020304" pitchFamily="18" charset="0"/>
                        </a:rPr>
                        <a:t> to procure outside resources if required</a:t>
                      </a: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6440">
                <a:tc>
                  <a:txBody>
                    <a:bodyPr/>
                    <a:lstStyle/>
                    <a:p>
                      <a:pPr marL="285750" indent="-285750">
                        <a:buFont typeface="Arial" panose="020B0604020202020204" pitchFamily="34" charset="0"/>
                        <a:buChar char="•"/>
                      </a:pPr>
                      <a:endParaRPr lang="en-US" sz="1400" dirty="0">
                        <a:latin typeface="+mn-lt"/>
                        <a:cs typeface="Times New Roman" panose="02020603050405020304" pitchFamily="18" charset="0"/>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n-lt"/>
                <a:cs typeface="Times New Roman" panose="02020603050405020304" pitchFamily="18" charset="0"/>
              </a:rPr>
              <a:t>Questions</a:t>
            </a:r>
            <a:endParaRPr lang="en-US" dirty="0">
              <a:latin typeface="+mn-lt"/>
            </a:endParaRPr>
          </a:p>
        </p:txBody>
      </p:sp>
      <p:sp>
        <p:nvSpPr>
          <p:cNvPr id="4" name="Rectangle 3"/>
          <p:cNvSpPr/>
          <p:nvPr/>
        </p:nvSpPr>
        <p:spPr>
          <a:xfrm>
            <a:off x="1550194" y="1296987"/>
            <a:ext cx="5030544" cy="1323439"/>
          </a:xfrm>
          <a:prstGeom prst="rect">
            <a:avLst/>
          </a:prstGeom>
          <a:noFill/>
        </p:spPr>
        <p:txBody>
          <a:bodyPr wrap="none" lIns="91440" tIns="45720" rIns="91440" bIns="45720">
            <a:spAutoFit/>
            <a:scene3d>
              <a:camera prst="perspectiveFront"/>
              <a:lightRig rig="soft" dir="t">
                <a:rot lat="0" lon="0" rev="15600000"/>
              </a:lightRig>
            </a:scene3d>
            <a:sp3d extrusionH="57150" prstMaterial="softEdge">
              <a:bevelT w="25400" h="38100"/>
            </a:sp3d>
          </a:bodyPr>
          <a:lstStyle/>
          <a:p>
            <a:pPr algn="ctr"/>
            <a:r>
              <a:rPr lang="en-US" sz="8000" b="1" dirty="0" smtClean="0">
                <a:ln/>
                <a:solidFill>
                  <a:schemeClr val="accent4"/>
                </a:solidFill>
                <a:latin typeface="+mn-lt"/>
              </a:rPr>
              <a:t>Questions?</a:t>
            </a:r>
            <a:endParaRPr lang="en-US" sz="8000" b="1" dirty="0">
              <a:ln/>
              <a:solidFill>
                <a:schemeClr val="accent4"/>
              </a:solidFill>
              <a:latin typeface="+mn-lt"/>
            </a:endParaRPr>
          </a:p>
        </p:txBody>
      </p:sp>
    </p:spTree>
    <p:extLst>
      <p:ext uri="{BB962C8B-B14F-4D97-AF65-F5344CB8AC3E}">
        <p14:creationId xmlns:p14="http://schemas.microsoft.com/office/powerpoint/2010/main" val="30265327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3561</TotalTime>
  <Words>1236</Words>
  <Application>Microsoft Office PowerPoint</Application>
  <PresentationFormat>Custom</PresentationFormat>
  <Paragraphs>253</Paragraphs>
  <Slides>15</Slides>
  <Notes>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15</vt:i4>
      </vt:variant>
    </vt:vector>
  </HeadingPairs>
  <TitlesOfParts>
    <vt:vector size="28" baseType="lpstr">
      <vt:lpstr>Aharoni</vt:lpstr>
      <vt:lpstr>Arial</vt:lpstr>
      <vt:lpstr>BatangChe</vt:lpstr>
      <vt:lpstr>Calibri</vt:lpstr>
      <vt:lpstr>Calibri Light</vt:lpstr>
      <vt:lpstr>Gabriola</vt:lpstr>
      <vt:lpstr>Times</vt:lpstr>
      <vt:lpstr>Times New Roman</vt:lpstr>
      <vt:lpstr>Univers for KPMG</vt:lpstr>
      <vt:lpstr>Univers LT Std 45 Light</vt:lpstr>
      <vt:lpstr>Wingdings</vt:lpstr>
      <vt:lpstr>Office Theme</vt:lpstr>
      <vt:lpstr>Custom Design</vt:lpstr>
      <vt:lpstr>PowerPoint Presentation</vt:lpstr>
      <vt:lpstr>Agenda</vt:lpstr>
      <vt:lpstr>Background and Project Objectives</vt:lpstr>
      <vt:lpstr>Project Scope</vt:lpstr>
      <vt:lpstr>MuleSoft’s Approach &amp;  Service Offering  </vt:lpstr>
      <vt:lpstr>Outcome Based Delivery Playbook</vt:lpstr>
      <vt:lpstr>MuleSoft Team is here to help along this journey</vt:lpstr>
      <vt:lpstr>PowerPoint Presentation</vt:lpstr>
      <vt:lpstr>PowerPoint Presentation</vt:lpstr>
      <vt:lpstr>Project Phases, Timeline and Resource Allocation</vt:lpstr>
      <vt:lpstr>Project Delivery Assurance</vt:lpstr>
      <vt:lpstr>Risks and Issues</vt:lpstr>
      <vt:lpstr>PowerPoint Presentation</vt:lpstr>
      <vt:lpstr>Decisions and Next Steps</vt:lpstr>
      <vt:lpstr>Questions</vt:lpstr>
    </vt:vector>
  </TitlesOfParts>
  <Company>PM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Steering Committee Presentation Template</dc:title>
  <dc:subject>Steering Committee Presentation Template</dc:subject>
  <dc:creator>PM Solutions</dc:creator>
  <dc:description>Executive project summary including statement of business needs, project background, proposal, benefits, Expected ROI, Project organization, schedule, approach, scope, risks and mitigation plan, and expectations of the steering committee.</dc:description>
  <cp:lastModifiedBy>Wale Agbaje</cp:lastModifiedBy>
  <cp:revision>167</cp:revision>
  <dcterms:created xsi:type="dcterms:W3CDTF">2001-10-02T11:45:14Z</dcterms:created>
  <dcterms:modified xsi:type="dcterms:W3CDTF">2019-11-24T21:16:16Z</dcterms:modified>
</cp:coreProperties>
</file>