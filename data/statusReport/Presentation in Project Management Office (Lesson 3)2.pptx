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slideLayouts/slideLayout24.xml" ContentType="application/vnd.openxmlformats-officedocument.presentationml.slideLayout+xml"/>
  <Override PartName="/ppt/theme/theme8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8" r:id="rId5"/>
    <p:sldMasterId id="2147483701" r:id="rId6"/>
    <p:sldMasterId id="2147483713" r:id="rId7"/>
    <p:sldMasterId id="2147483740" r:id="rId8"/>
    <p:sldMasterId id="2147483767" r:id="rId9"/>
    <p:sldMasterId id="2147483790" r:id="rId10"/>
    <p:sldMasterId id="2147483816" r:id="rId11"/>
    <p:sldMasterId id="2147483842" r:id="rId12"/>
  </p:sldMasterIdLst>
  <p:notesMasterIdLst>
    <p:notesMasterId r:id="rId14"/>
  </p:notesMasterIdLst>
  <p:sldIdLst>
    <p:sldId id="496" r:id="rId13"/>
  </p:sldIdLst>
  <p:sldSz cx="9144000" cy="6858000" type="screen4x3"/>
  <p:notesSz cx="6881813" cy="92964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en A. Mannlein" initials="KAM" lastIdx="20" clrIdx="0"/>
  <p:cmAuthor id="1" name="James Martin" initials="JM" lastIdx="19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B3B"/>
    <a:srgbClr val="FF1919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1" autoAdjust="0"/>
    <p:restoredTop sz="97564" autoAdjust="0"/>
  </p:normalViewPr>
  <p:slideViewPr>
    <p:cSldViewPr>
      <p:cViewPr>
        <p:scale>
          <a:sx n="90" d="100"/>
          <a:sy n="90" d="100"/>
        </p:scale>
        <p:origin x="2292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Master" Target="slideMasters/slideMaster7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0841BA8-F85E-4F64-8ACE-80C6ABA6CD98}" type="datetimeFigureOut">
              <a:rPr lang="en-US" smtClean="0"/>
              <a:pPr/>
              <a:t>5/23/2022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34C036D0-13AD-42EC-AEC0-E4AE3B37A4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73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9568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Freeform 20"/>
          <p:cNvSpPr>
            <a:spLocks/>
          </p:cNvSpPr>
          <p:nvPr/>
        </p:nvSpPr>
        <p:spPr bwMode="auto">
          <a:xfrm>
            <a:off x="3079932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lIns="91415" tIns="45707" rIns="91415" bIns="45707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2290" y="4355801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085" name="Picture 13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3" y="6032201"/>
            <a:ext cx="1908175" cy="428625"/>
          </a:xfrm>
          <a:prstGeom prst="rect">
            <a:avLst/>
          </a:prstGeom>
          <a:noFill/>
        </p:spPr>
      </p:pic>
      <p:sp>
        <p:nvSpPr>
          <p:cNvPr id="3091" name="AutoShape 19"/>
          <p:cNvSpPr>
            <a:spLocks noChangeArrowheads="1"/>
          </p:cNvSpPr>
          <p:nvPr/>
        </p:nvSpPr>
        <p:spPr bwMode="auto">
          <a:xfrm rot="5400000">
            <a:off x="-120649" y="1275624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819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2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75" indent="0">
              <a:buNone/>
              <a:defRPr sz="1800"/>
            </a:lvl2pPr>
            <a:lvl3pPr marL="914147" indent="0">
              <a:buNone/>
              <a:defRPr sz="1600"/>
            </a:lvl3pPr>
            <a:lvl4pPr marL="1371221" indent="0">
              <a:buNone/>
              <a:defRPr sz="1400"/>
            </a:lvl4pPr>
            <a:lvl5pPr marL="1828294" indent="0">
              <a:buNone/>
              <a:defRPr sz="1400"/>
            </a:lvl5pPr>
            <a:lvl6pPr marL="2285368" indent="0">
              <a:buNone/>
              <a:defRPr sz="1400"/>
            </a:lvl6pPr>
            <a:lvl7pPr marL="2742443" indent="0">
              <a:buNone/>
              <a:defRPr sz="1400"/>
            </a:lvl7pPr>
            <a:lvl8pPr marL="3199516" indent="0">
              <a:buNone/>
              <a:defRPr sz="1400"/>
            </a:lvl8pPr>
            <a:lvl9pPr marL="365659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415" y="274641"/>
            <a:ext cx="8229601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75" indent="0">
              <a:buNone/>
              <a:defRPr sz="2000" b="1"/>
            </a:lvl2pPr>
            <a:lvl3pPr marL="914147" indent="0">
              <a:buNone/>
              <a:defRPr sz="1800" b="1"/>
            </a:lvl3pPr>
            <a:lvl4pPr marL="1371221" indent="0">
              <a:buNone/>
              <a:defRPr sz="1600" b="1"/>
            </a:lvl4pPr>
            <a:lvl5pPr marL="1828294" indent="0">
              <a:buNone/>
              <a:defRPr sz="1600" b="1"/>
            </a:lvl5pPr>
            <a:lvl6pPr marL="2285368" indent="0">
              <a:buNone/>
              <a:defRPr sz="1600" b="1"/>
            </a:lvl6pPr>
            <a:lvl7pPr marL="2742443" indent="0">
              <a:buNone/>
              <a:defRPr sz="1600" b="1"/>
            </a:lvl7pPr>
            <a:lvl8pPr marL="3199516" indent="0">
              <a:buNone/>
              <a:defRPr sz="1600" b="1"/>
            </a:lvl8pPr>
            <a:lvl9pPr marL="365659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8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09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75" indent="0">
              <a:buNone/>
              <a:defRPr sz="2000" b="1"/>
            </a:lvl2pPr>
            <a:lvl3pPr marL="914147" indent="0">
              <a:buNone/>
              <a:defRPr sz="1800" b="1"/>
            </a:lvl3pPr>
            <a:lvl4pPr marL="1371221" indent="0">
              <a:buNone/>
              <a:defRPr sz="1600" b="1"/>
            </a:lvl4pPr>
            <a:lvl5pPr marL="1828294" indent="0">
              <a:buNone/>
              <a:defRPr sz="1600" b="1"/>
            </a:lvl5pPr>
            <a:lvl6pPr marL="2285368" indent="0">
              <a:buNone/>
              <a:defRPr sz="1600" b="1"/>
            </a:lvl6pPr>
            <a:lvl7pPr marL="2742443" indent="0">
              <a:buNone/>
              <a:defRPr sz="1600" b="1"/>
            </a:lvl7pPr>
            <a:lvl8pPr marL="3199516" indent="0">
              <a:buNone/>
              <a:defRPr sz="1600" b="1"/>
            </a:lvl8pPr>
            <a:lvl9pPr marL="365659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09" y="2174878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Y_Q Logo"/>
          <p:cNvPicPr>
            <a:picLocks noChangeArrowheads="1"/>
          </p:cNvPicPr>
          <p:nvPr userDrawn="1"/>
        </p:nvPicPr>
        <p:blipFill>
          <a:blip r:embed="rId2" cstate="print"/>
          <a:srcRect r="4826" b="14285"/>
          <a:stretch>
            <a:fillRect/>
          </a:stretch>
        </p:blipFill>
        <p:spPr bwMode="auto">
          <a:xfrm>
            <a:off x="3097823" y="6216651"/>
            <a:ext cx="157968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reeform 4"/>
          <p:cNvSpPr>
            <a:spLocks/>
          </p:cNvSpPr>
          <p:nvPr userDrawn="1"/>
        </p:nvSpPr>
        <p:spPr bwMode="auto">
          <a:xfrm>
            <a:off x="3099289" y="503239"/>
            <a:ext cx="6044711" cy="2586037"/>
          </a:xfrm>
          <a:custGeom>
            <a:avLst/>
            <a:gdLst/>
            <a:ahLst/>
            <a:cxnLst>
              <a:cxn ang="0">
                <a:pos x="0" y="2496"/>
              </a:cxn>
              <a:cxn ang="0">
                <a:pos x="6192" y="0"/>
              </a:cxn>
              <a:cxn ang="0">
                <a:pos x="6192" y="720"/>
              </a:cxn>
              <a:cxn ang="0">
                <a:pos x="0" y="2496"/>
              </a:cxn>
            </a:cxnLst>
            <a:rect l="0" t="0" r="r" b="b"/>
            <a:pathLst>
              <a:path w="6192" h="2496">
                <a:moveTo>
                  <a:pt x="0" y="2496"/>
                </a:moveTo>
                <a:lnTo>
                  <a:pt x="6192" y="0"/>
                </a:lnTo>
                <a:lnTo>
                  <a:pt x="6192" y="720"/>
                </a:lnTo>
                <a:lnTo>
                  <a:pt x="0" y="2496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Freeform 5" descr="Std_Motion_Input"/>
          <p:cNvSpPr>
            <a:spLocks/>
          </p:cNvSpPr>
          <p:nvPr userDrawn="1"/>
        </p:nvSpPr>
        <p:spPr bwMode="auto">
          <a:xfrm>
            <a:off x="-2931" y="2379663"/>
            <a:ext cx="3100754" cy="2011362"/>
          </a:xfrm>
          <a:custGeom>
            <a:avLst/>
            <a:gdLst/>
            <a:ahLst/>
            <a:cxnLst>
              <a:cxn ang="0">
                <a:pos x="3344" y="720"/>
              </a:cxn>
              <a:cxn ang="0">
                <a:pos x="0" y="2043"/>
              </a:cxn>
              <a:cxn ang="0">
                <a:pos x="0" y="0"/>
              </a:cxn>
              <a:cxn ang="0">
                <a:pos x="3344" y="720"/>
              </a:cxn>
            </a:cxnLst>
            <a:rect l="0" t="0" r="r" b="b"/>
            <a:pathLst>
              <a:path w="3344" h="2043">
                <a:moveTo>
                  <a:pt x="3344" y="720"/>
                </a:moveTo>
                <a:lnTo>
                  <a:pt x="0" y="2043"/>
                </a:lnTo>
                <a:lnTo>
                  <a:pt x="0" y="0"/>
                </a:lnTo>
                <a:lnTo>
                  <a:pt x="3344" y="720"/>
                </a:lnTo>
                <a:close/>
              </a:path>
            </a:pathLst>
          </a:cu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958" name="Rectangle 6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3097823" y="3919539"/>
            <a:ext cx="5666643" cy="682625"/>
          </a:xfrm>
          <a:ln algn="ctr"/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49959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97823" y="4518025"/>
            <a:ext cx="5668108" cy="782638"/>
          </a:xfrm>
        </p:spPr>
        <p:txBody>
          <a:bodyPr lIns="0" tIns="0" rIns="0" bIns="0"/>
          <a:lstStyle>
            <a:lvl1pPr marL="0" indent="0">
              <a:spcBef>
                <a:spcPct val="0"/>
              </a:spcBef>
              <a:buFont typeface="EYInterstate" pitchFamily="2" charset="0"/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652915-A786-4CD4-A752-F5600E1E485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70D2FBB-B543-45F1-95EF-7DA2ECB89EA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439" y="1325563"/>
            <a:ext cx="4393223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39" y="1325563"/>
            <a:ext cx="4393223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715BC994-FAEE-4F91-863A-4A9B620F6A6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50BD6008-35D3-44B1-84B4-FAA0C546CC6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B50CF7FA-71B3-4F14-8AF0-AE54435B1DC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A1D4A7AB-52B6-44F7-A149-170993222A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6C50BDB2-5CDD-4B3D-BD31-26A94B3E874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6CF079E7-A1B2-4884-A998-28EA2A48AD9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3781" y="139701"/>
            <a:ext cx="2231780" cy="5713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438" y="139701"/>
            <a:ext cx="6554666" cy="5713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1BEA1A14-B9E8-41CF-8458-F015C8C3344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69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330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6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0888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1666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1052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90671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8953681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412875"/>
            <a:ext cx="8234362" cy="4519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835384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.jpeg"/><Relationship Id="rId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3599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8" y="1412881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106895" y="6419850"/>
            <a:ext cx="830862" cy="177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00000"/>
                </a:solidFill>
                <a:cs typeface="Arial" charset="0"/>
              </a:rPr>
              <a:t>IT Services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457656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00000"/>
                </a:solidFill>
                <a:cs typeface="Arial" charset="0"/>
              </a:rPr>
              <a:t>Page </a:t>
            </a:r>
            <a:fld id="{15A57401-0B7A-498C-A9C8-BA0B46D380D9}" type="slidenum">
              <a:rPr lang="en-US" sz="1100">
                <a:solidFill>
                  <a:srgbClr val="000000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455993" y="1042988"/>
            <a:ext cx="8229601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455993" y="6243638"/>
            <a:ext cx="8229601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455993" y="200025"/>
            <a:ext cx="8229601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7" name="Picture 13" descr="logo_tagblack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26484" y="6387804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80" r:id="rId6"/>
  </p:sldLayoutIdLst>
  <p:transition>
    <p:wipe dir="r"/>
  </p:transition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07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14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221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294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263" indent="-360263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351" indent="-355502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0789" indent="-36185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052" indent="-358677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799727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6801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3876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0948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8022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5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47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1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94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8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43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16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0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 userDrawn="1"/>
        </p:nvPicPr>
        <p:blipFill>
          <a:blip r:embed="rId3" cstate="print"/>
          <a:srcRect r="4826" b="14285"/>
          <a:stretch>
            <a:fillRect/>
          </a:stretch>
        </p:blipFill>
        <p:spPr bwMode="auto">
          <a:xfrm>
            <a:off x="7838345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 userDrawn="1"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 userDrawn="1"/>
        </p:nvSpPr>
        <p:spPr bwMode="auto">
          <a:xfrm>
            <a:off x="108441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 userDrawn="1"/>
        </p:nvSpPr>
        <p:spPr bwMode="auto">
          <a:xfrm>
            <a:off x="457202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 ftr="0" dt="0"/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 userDrawn="1"/>
        </p:nvPicPr>
        <p:blipFill>
          <a:blip r:embed="rId13" cstate="print"/>
          <a:srcRect r="4826" b="14285"/>
          <a:stretch>
            <a:fillRect/>
          </a:stretch>
        </p:blipFill>
        <p:spPr bwMode="auto">
          <a:xfrm>
            <a:off x="7838343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1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 userDrawn="1"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 userDrawn="1"/>
        </p:nvSpPr>
        <p:spPr bwMode="auto">
          <a:xfrm>
            <a:off x="108439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 ftr="0" dt="0"/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4" cstate="print"/>
          <a:srcRect r="4826" b="14285"/>
          <a:stretch>
            <a:fillRect/>
          </a:stretch>
        </p:blipFill>
        <p:spPr bwMode="auto">
          <a:xfrm>
            <a:off x="7839075" y="6396038"/>
            <a:ext cx="11969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39700"/>
            <a:ext cx="8928100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325563"/>
            <a:ext cx="8928100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7950" y="6362700"/>
            <a:ext cx="8928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solidFill>
                  <a:srgbClr val="000000"/>
                </a:solidFill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/>
              <a:t>Page </a:t>
            </a:r>
            <a:fld id="{0AA14932-8E4D-4D4B-99F1-87FF96FF6DD6}" type="slidenum">
              <a:rPr lang="en-US"/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7950" y="6499225"/>
            <a:ext cx="2994025" cy="10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DE4D4E53-DAE7-433E-8645-A0AC64A354E4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7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</p:sldLayoutIdLst>
  <p:transition>
    <p:wipe dir="r"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3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85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ransition>
    <p:wipe dir="r"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3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88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ransition>
    <p:wipe dir="r"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3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8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ransition>
    <p:wipe dir="r"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3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49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p:transition>
    <p:wipe dir="r"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5" cstate="print"/>
          <a:srcRect r="4826" b="14285"/>
          <a:stretch>
            <a:fillRect/>
          </a:stretch>
        </p:blipFill>
        <p:spPr bwMode="auto">
          <a:xfrm>
            <a:off x="7839075" y="6396038"/>
            <a:ext cx="11969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39700"/>
            <a:ext cx="8928100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325563"/>
            <a:ext cx="8928100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7950" y="6362700"/>
            <a:ext cx="8928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51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6" r:id="rId2"/>
    <p:sldLayoutId id="2147483847" r:id="rId3"/>
  </p:sldLayoutIdLst>
  <p:transition>
    <p:fade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024109"/>
              </p:ext>
            </p:extLst>
          </p:nvPr>
        </p:nvGraphicFramePr>
        <p:xfrm>
          <a:off x="4503769" y="4071753"/>
          <a:ext cx="4516108" cy="1301298"/>
        </p:xfrm>
        <a:graphic>
          <a:graphicData uri="http://schemas.openxmlformats.org/drawingml/2006/table">
            <a:tbl>
              <a:tblPr/>
              <a:tblGrid>
                <a:gridCol w="1684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340">
                <a:tc gridSpan="4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5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Completed By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24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IN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Arial" charset="0"/>
                        </a:rPr>
                        <a:t>Revised target dates set for AD Hardening however plans to support are yet to be </a:t>
                      </a:r>
                      <a:r>
                        <a:rPr kumimoji="0" lang="en-IN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Arial" charset="0"/>
                        </a:rPr>
                        <a:t>baselined</a:t>
                      </a: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Arial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IN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Arial" charset="0"/>
                        </a:rPr>
                        <a:t>Escalated to CLT</a:t>
                      </a: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Arial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01-Dec-13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The Rock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Group 270"/>
          <p:cNvGraphicFramePr>
            <a:graphicFrameLocks noGrp="1"/>
          </p:cNvGraphicFramePr>
          <p:nvPr/>
        </p:nvGraphicFramePr>
        <p:xfrm>
          <a:off x="7391400" y="36991"/>
          <a:ext cx="1628477" cy="535063"/>
        </p:xfrm>
        <a:graphic>
          <a:graphicData uri="http://schemas.openxmlformats.org/drawingml/2006/table">
            <a:tbl>
              <a:tblPr/>
              <a:tblGrid>
                <a:gridCol w="814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799448"/>
              </p:ext>
            </p:extLst>
          </p:nvPr>
        </p:nvGraphicFramePr>
        <p:xfrm>
          <a:off x="4495801" y="2454304"/>
          <a:ext cx="4536000" cy="1467414"/>
        </p:xfrm>
        <a:graphic>
          <a:graphicData uri="http://schemas.openxmlformats.org/drawingml/2006/table">
            <a:tbl>
              <a:tblPr/>
              <a:tblGrid>
                <a:gridCol w="1307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214">
                <a:tc gridSpan="4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592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Completed By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6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Time needed to clarify scope impacts from security audit, impacts time to deliver planned scope in FY14.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Confirm priority actions as a result of security audit findings and which pipeline concepts should be commenced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Escalated to Business Sponsor with follow-up actions agreed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01-Dec-13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The Rock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Group 270"/>
          <p:cNvGraphicFramePr>
            <a:graphicFrameLocks noGrp="1"/>
          </p:cNvGraphicFramePr>
          <p:nvPr/>
        </p:nvGraphicFramePr>
        <p:xfrm>
          <a:off x="1195546" y="6553106"/>
          <a:ext cx="381000" cy="883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70"/>
          <p:cNvGraphicFramePr>
            <a:graphicFrameLocks noGrp="1"/>
          </p:cNvGraphicFramePr>
          <p:nvPr/>
        </p:nvGraphicFramePr>
        <p:xfrm>
          <a:off x="3979855" y="6582966"/>
          <a:ext cx="523914" cy="88326"/>
        </p:xfrm>
        <a:graphic>
          <a:graphicData uri="http://schemas.openxmlformats.org/drawingml/2006/table">
            <a:tbl>
              <a:tblPr/>
              <a:tblGrid>
                <a:gridCol w="523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70"/>
          <p:cNvGraphicFramePr>
            <a:graphicFrameLocks noGrp="1"/>
          </p:cNvGraphicFramePr>
          <p:nvPr/>
        </p:nvGraphicFramePr>
        <p:xfrm>
          <a:off x="6515865" y="6550835"/>
          <a:ext cx="381000" cy="9059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597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Group 27"/>
          <p:cNvGrpSpPr/>
          <p:nvPr/>
        </p:nvGrpSpPr>
        <p:grpSpPr>
          <a:xfrm>
            <a:off x="285595" y="6400800"/>
            <a:ext cx="8734282" cy="494922"/>
            <a:chOff x="307495" y="6550829"/>
            <a:chExt cx="9404037" cy="494922"/>
          </a:xfrm>
        </p:grpSpPr>
        <p:sp>
          <p:nvSpPr>
            <p:cNvPr id="10" name="TextBox 9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11" name="TextBox 10"/>
            <p:cNvSpPr txBox="1"/>
            <p:nvPr/>
          </p:nvSpPr>
          <p:spPr bwMode="gray">
            <a:xfrm>
              <a:off x="674554" y="6657945"/>
              <a:ext cx="612668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  <a:latin typeface="EYInterstate Light" pitchFamily="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 bwMode="gray">
            <a:xfrm>
              <a:off x="307495" y="6550829"/>
              <a:ext cx="4541628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  <a:latin typeface="EYInterstate Light" pitchFamily="2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gray">
            <a:xfrm>
              <a:off x="7423211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14" name="TextBox 13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15" name="Freeform 94"/>
          <p:cNvSpPr>
            <a:spLocks/>
          </p:cNvSpPr>
          <p:nvPr/>
        </p:nvSpPr>
        <p:spPr bwMode="gray">
          <a:xfrm>
            <a:off x="0" y="0"/>
            <a:ext cx="6706365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700" dirty="0">
              <a:solidFill>
                <a:srgbClr val="000000"/>
              </a:solidFill>
              <a:latin typeface="EYInterstate Light" pitchFamily="2" charset="0"/>
            </a:endParaRPr>
          </a:p>
        </p:txBody>
      </p:sp>
      <p:sp>
        <p:nvSpPr>
          <p:cNvPr id="16" name="Rectangle 183"/>
          <p:cNvSpPr txBox="1">
            <a:spLocks noChangeArrowheads="1"/>
          </p:cNvSpPr>
          <p:nvPr/>
        </p:nvSpPr>
        <p:spPr bwMode="gray">
          <a:xfrm>
            <a:off x="1" y="-34669"/>
            <a:ext cx="70865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&lt;Project Name&gt; &lt;Date&gt; &lt;Project Manager&gt;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2401"/>
              </p:ext>
            </p:extLst>
          </p:nvPr>
        </p:nvGraphicFramePr>
        <p:xfrm>
          <a:off x="4483877" y="5509193"/>
          <a:ext cx="4536000" cy="603372"/>
        </p:xfrm>
        <a:graphic>
          <a:graphicData uri="http://schemas.openxmlformats.org/drawingml/2006/table">
            <a:tbl>
              <a:tblPr/>
              <a:tblGrid>
                <a:gridCol w="45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492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9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Arial" charset="0"/>
                        </a:rPr>
                        <a:t>Amber as 1) initiatives are behind due to resource diversion to Audit impacting delivery to plan b) no agreed new initiatives yet, from ESP pipeline / Security Controls Roadmap for November onwards which risks under delivery and delayed resourcing.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18078"/>
              </p:ext>
            </p:extLst>
          </p:nvPr>
        </p:nvGraphicFramePr>
        <p:xfrm>
          <a:off x="76200" y="552395"/>
          <a:ext cx="4343400" cy="2460087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44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A.  </a:t>
                      </a:r>
                      <a:r>
                        <a:rPr kumimoji="0" lang="en-GB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EXECUTIVE SUMMARY – a summary of the progress for this period (not of the initiative)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97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kern="1200" baseline="0" dirty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Four new initiatives approved by FPG to start, will provide anti-virus for SharePoint, enhancements to group management, a standard tool to sanitise media and </a:t>
                      </a:r>
                      <a:r>
                        <a:rPr lang="en-GB" sz="1000" b="0" i="0" kern="1200" baseline="0" dirty="0" err="1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ServiceNow</a:t>
                      </a:r>
                      <a:r>
                        <a:rPr lang="en-GB" sz="1000" b="0" i="0" kern="1200" baseline="0" dirty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 integration with HP configuration management database providing better incident impact identification and management.</a:t>
                      </a:r>
                      <a:br>
                        <a:rPr lang="en-GB" sz="1000" b="0" i="0" kern="1200" baseline="0" dirty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</a:br>
                      <a:endParaRPr lang="en-GB" sz="1000" b="0" i="0" kern="1200" baseline="0" dirty="0">
                        <a:solidFill>
                          <a:schemeClr val="tx1"/>
                        </a:solidFill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kern="1200" baseline="0" dirty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Key delivery for M&amp;C’s Lync program is tracking a week behind plan due to resource diversion to the security audit, however is otherwise making good progress through testing.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44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 KEY ACCOMPLISHMENTS THIS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34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Four new concepts approved by FPG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QA and Prod engineering builds in progress for GAP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Comms</a:t>
                      </a: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sent to the I&amp;O team informing them about the upcoming AD Hardening production changes related to NTLMV2 in December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Group 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663736"/>
              </p:ext>
            </p:extLst>
          </p:nvPr>
        </p:nvGraphicFramePr>
        <p:xfrm>
          <a:off x="76200" y="3037252"/>
          <a:ext cx="4343400" cy="2166864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376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C.  ACTIVITIES BEHIND SCHEDULE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49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Re-platform engineering build tasks (due to change freeze issues as well as prioritization on UVT lite)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Completion of RFP document prior to issue for </a:t>
                      </a:r>
                      <a:r>
                        <a:rPr kumimoji="0" 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SecurID</a:t>
                      </a: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replacement – final requirements being included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Guest Wi-Fi server configuration (delayed due to Security Operations resource prioritization to Audit)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7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D.  KEY ACTIVITIES PLANNED NEXT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31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Resolve Matters For Immediate Attention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 re-platform Microsoft Forefront Identity Manager build and start testing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Arial" charset="0"/>
                        </a:rPr>
                        <a:t>Upgrade outstanding M&amp;C users to 25Gb mail box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Identify resource from Security Operation to move forward with guest Wi-Fi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90347"/>
              </p:ext>
            </p:extLst>
          </p:nvPr>
        </p:nvGraphicFramePr>
        <p:xfrm>
          <a:off x="76200" y="5257800"/>
          <a:ext cx="4343400" cy="1014852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04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Scope Change requests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193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R25192  Secure hard drive wipe tool 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R31222  Antivirus for SharePoint 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R32254  Group ID Enhancements Release 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R32988  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ServiceNow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 - Integration with HP 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uCMDB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New Initiatives Approved in Oct FPG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943229"/>
              </p:ext>
            </p:extLst>
          </p:nvPr>
        </p:nvGraphicFramePr>
        <p:xfrm>
          <a:off x="4495801" y="655980"/>
          <a:ext cx="4524077" cy="1672956"/>
        </p:xfrm>
        <a:graphic>
          <a:graphicData uri="http://schemas.openxmlformats.org/drawingml/2006/table">
            <a:tbl>
              <a:tblPr/>
              <a:tblGrid>
                <a:gridCol w="170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4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9687">
                <a:tc gridSpan="6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 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9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Individual Milestone Name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Planned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Projected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Confidence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87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AD Hardening </a:t>
                      </a:r>
                      <a:r>
                        <a:rPr kumimoji="0" lang="en-GB" sz="9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remed’n</a:t>
                      </a: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plans set down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30-Apr-13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14-Nov-13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ESTIMATE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687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Security awareness training in Australia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31-Jul-13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14-Oct-13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B3B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687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Security awareness training rolls out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14-Oct-13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02-Dec-13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ESTIMATE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687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Comp. </a:t>
                      </a:r>
                      <a:r>
                        <a:rPr kumimoji="0" lang="en-US" sz="9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PoC</a:t>
                      </a: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for Public Key Infrastructure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30-Oct-13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30-Oct-13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COMMIT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6392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3"/>
</p:tagLst>
</file>

<file path=ppt/theme/theme1.xml><?xml version="1.0" encoding="utf-8"?>
<a:theme xmlns:a="http://schemas.openxmlformats.org/drawingml/2006/main" name="EY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0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1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9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7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8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32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EFF311B096774FB473F6679DD854C5" ma:contentTypeVersion="0" ma:contentTypeDescription="Create a new document." ma:contentTypeScope="" ma:versionID="f6945b94263eb81203ba2ac62bd2cdf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30B764-85F6-4E2E-BF06-9CE6423256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902914-6E88-46F4-9CDA-02B784645C0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D62C93E-79A9-4A48-9319-85BF0935CA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38894</TotalTime>
  <Words>639</Words>
  <Application>Microsoft Office PowerPoint</Application>
  <PresentationFormat>On-screen Show (4:3)</PresentationFormat>
  <Paragraphs>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Arial</vt:lpstr>
      <vt:lpstr>Arial Narrow</vt:lpstr>
      <vt:lpstr>Calibri</vt:lpstr>
      <vt:lpstr>EYInterstate</vt:lpstr>
      <vt:lpstr>EYInterstate Light</vt:lpstr>
      <vt:lpstr>Times New Roman</vt:lpstr>
      <vt:lpstr>EY</vt:lpstr>
      <vt:lpstr>1_EYCspecial</vt:lpstr>
      <vt:lpstr>3_EYCspecial</vt:lpstr>
      <vt:lpstr>30_EYCspecial</vt:lpstr>
      <vt:lpstr>31_EYCspecial</vt:lpstr>
      <vt:lpstr>29_EYCspecial</vt:lpstr>
      <vt:lpstr>27_EYCspecial</vt:lpstr>
      <vt:lpstr>28_EYCspecial</vt:lpstr>
      <vt:lpstr>32_EYCspecial</vt:lpstr>
      <vt:lpstr>PowerPoint Presentation</vt:lpstr>
    </vt:vector>
  </TitlesOfParts>
  <Company>Ernst &amp; Young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Services</dc:title>
  <dc:creator>Wale Agbaje</dc:creator>
  <cp:lastModifiedBy>Nasir A</cp:lastModifiedBy>
  <cp:revision>1067</cp:revision>
  <dcterms:created xsi:type="dcterms:W3CDTF">2011-12-02T15:14:38Z</dcterms:created>
  <dcterms:modified xsi:type="dcterms:W3CDTF">2022-05-23T21:40:54Z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0x01010075EFF311B096774FB473F6679DD854C5</vt:lpwstr>
  </property>
</Properties>
</file>