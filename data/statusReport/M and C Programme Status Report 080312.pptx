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Layouts/slideLayout7.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customXml/itemProps4.xml" ContentType="application/vnd.openxmlformats-officedocument.customXml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sldIdLst>
    <p:sldId id="257"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37" d="100"/>
          <a:sy n="137" d="100"/>
        </p:scale>
        <p:origin x="-72" y="27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13_Title Only">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14_Title Only">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bg1"/>
        </a:solidFill>
        <a:effectLst/>
      </p:bgPr>
    </p:bg>
    <p:spTree>
      <p:nvGrpSpPr>
        <p:cNvPr id="1" name=""/>
        <p:cNvGrpSpPr/>
        <p:nvPr/>
      </p:nvGrpSpPr>
      <p:grpSpPr>
        <a:xfrm>
          <a:off x="0" y="0"/>
          <a:ext cx="0" cy="0"/>
          <a:chOff x="0" y="0"/>
          <a:chExt cx="0" cy="0"/>
        </a:xfrm>
      </p:grpSpPr>
      <p:sp>
        <p:nvSpPr>
          <p:cNvPr id="3092" name="Freeform 20"/>
          <p:cNvSpPr>
            <a:spLocks/>
          </p:cNvSpPr>
          <p:nvPr/>
        </p:nvSpPr>
        <p:spPr bwMode="auto">
          <a:xfrm>
            <a:off x="3079932" y="552450"/>
            <a:ext cx="6057900" cy="2590800"/>
          </a:xfrm>
          <a:custGeom>
            <a:avLst/>
            <a:gdLst/>
            <a:ahLst/>
            <a:cxnLst>
              <a:cxn ang="0">
                <a:pos x="0" y="1632"/>
              </a:cxn>
              <a:cxn ang="0">
                <a:pos x="3816" y="0"/>
              </a:cxn>
              <a:cxn ang="0">
                <a:pos x="3816" y="496"/>
              </a:cxn>
              <a:cxn ang="0">
                <a:pos x="0" y="1632"/>
              </a:cxn>
            </a:cxnLst>
            <a:rect l="0" t="0" r="r" b="b"/>
            <a:pathLst>
              <a:path w="3816" h="1632">
                <a:moveTo>
                  <a:pt x="0" y="1632"/>
                </a:moveTo>
                <a:lnTo>
                  <a:pt x="3816" y="0"/>
                </a:lnTo>
                <a:lnTo>
                  <a:pt x="3816" y="496"/>
                </a:lnTo>
                <a:lnTo>
                  <a:pt x="0" y="1632"/>
                </a:lnTo>
                <a:close/>
              </a:path>
            </a:pathLst>
          </a:custGeom>
          <a:solidFill>
            <a:schemeClr val="accent2"/>
          </a:solidFill>
          <a:ln w="9525">
            <a:noFill/>
            <a:round/>
            <a:headEnd/>
            <a:tailEnd/>
          </a:ln>
          <a:effectLst/>
        </p:spPr>
        <p:txBody>
          <a:bodyPr lIns="91415" tIns="45707" rIns="91415" bIns="45707"/>
          <a:lstStyle/>
          <a:p>
            <a:pPr fontAlgn="base">
              <a:spcBef>
                <a:spcPct val="0"/>
              </a:spcBef>
              <a:spcAft>
                <a:spcPct val="0"/>
              </a:spcAft>
            </a:pPr>
            <a:endParaRPr lang="en-US" dirty="0">
              <a:solidFill>
                <a:srgbClr val="646464"/>
              </a:solidFill>
            </a:endParaRPr>
          </a:p>
        </p:txBody>
      </p:sp>
      <p:sp>
        <p:nvSpPr>
          <p:cNvPr id="3074" name="Rectangle 2"/>
          <p:cNvSpPr>
            <a:spLocks noGrp="1" noChangeArrowheads="1"/>
          </p:cNvSpPr>
          <p:nvPr>
            <p:ph type="ctrTitle"/>
          </p:nvPr>
        </p:nvSpPr>
        <p:spPr>
          <a:xfrm>
            <a:off x="3059113" y="3457575"/>
            <a:ext cx="5541962" cy="908050"/>
          </a:xfrm>
        </p:spPr>
        <p:txBody>
          <a:bodyPr tIns="0"/>
          <a:lstStyle>
            <a:lvl1pPr>
              <a:defRPr/>
            </a:lvl1pPr>
          </a:lstStyle>
          <a:p>
            <a:r>
              <a:rPr lang="en-US" smtClean="0"/>
              <a:t>Click to edit Master title style</a:t>
            </a:r>
            <a:endParaRPr lang="en-US"/>
          </a:p>
        </p:txBody>
      </p:sp>
      <p:sp>
        <p:nvSpPr>
          <p:cNvPr id="3075" name="Rectangle 3"/>
          <p:cNvSpPr>
            <a:spLocks noGrp="1" noChangeArrowheads="1"/>
          </p:cNvSpPr>
          <p:nvPr>
            <p:ph type="subTitle" idx="1"/>
          </p:nvPr>
        </p:nvSpPr>
        <p:spPr>
          <a:xfrm>
            <a:off x="3062290" y="4355815"/>
            <a:ext cx="5541962" cy="1019175"/>
          </a:xfrm>
        </p:spPr>
        <p:txBody>
          <a:bodyPr/>
          <a:lstStyle>
            <a:lvl1pPr marL="0" indent="0">
              <a:lnSpc>
                <a:spcPct val="85000"/>
              </a:lnSpc>
              <a:buFont typeface="Arial" charset="0"/>
              <a:buNone/>
              <a:defRPr sz="2000"/>
            </a:lvl1pPr>
          </a:lstStyle>
          <a:p>
            <a:r>
              <a:rPr lang="en-US" smtClean="0"/>
              <a:t>Click to edit Master subtitle style</a:t>
            </a:r>
            <a:endParaRPr lang="en-US"/>
          </a:p>
        </p:txBody>
      </p:sp>
      <p:pic>
        <p:nvPicPr>
          <p:cNvPr id="3085" name="Picture 13" descr="logo_tagblack"/>
          <p:cNvPicPr>
            <a:picLocks noChangeAspect="1" noChangeArrowheads="1"/>
          </p:cNvPicPr>
          <p:nvPr/>
        </p:nvPicPr>
        <p:blipFill>
          <a:blip r:embed="rId2" cstate="print"/>
          <a:srcRect/>
          <a:stretch>
            <a:fillRect/>
          </a:stretch>
        </p:blipFill>
        <p:spPr bwMode="auto">
          <a:xfrm>
            <a:off x="3073403" y="6032215"/>
            <a:ext cx="1908175" cy="428625"/>
          </a:xfrm>
          <a:prstGeom prst="rect">
            <a:avLst/>
          </a:prstGeom>
          <a:noFill/>
        </p:spPr>
      </p:pic>
      <p:sp>
        <p:nvSpPr>
          <p:cNvPr id="3091" name="AutoShape 19"/>
          <p:cNvSpPr>
            <a:spLocks noChangeArrowheads="1"/>
          </p:cNvSpPr>
          <p:nvPr/>
        </p:nvSpPr>
        <p:spPr bwMode="auto">
          <a:xfrm rot="5400000">
            <a:off x="-120649" y="1275636"/>
            <a:ext cx="3313112" cy="3071813"/>
          </a:xfrm>
          <a:prstGeom prst="triangle">
            <a:avLst>
              <a:gd name="adj" fmla="val 60227"/>
            </a:avLst>
          </a:prstGeom>
          <a:blipFill dpi="0" rotWithShape="0">
            <a:blip r:embed="rId3" cstate="print"/>
            <a:srcRect/>
            <a:stretch>
              <a:fillRect r="-11536"/>
            </a:stretch>
          </a:blipFill>
          <a:ln w="9525">
            <a:noFill/>
            <a:miter lim="800000"/>
            <a:headEnd/>
            <a:tailEnd/>
          </a:ln>
          <a:effectLst/>
        </p:spPr>
        <p:txBody>
          <a:bodyPr wrap="none" lIns="91415" tIns="45707" rIns="91415" bIns="45707" anchor="ctr"/>
          <a:lstStyle/>
          <a:p>
            <a:pPr fontAlgn="base">
              <a:spcBef>
                <a:spcPct val="0"/>
              </a:spcBef>
              <a:spcAft>
                <a:spcPct val="0"/>
              </a:spcAft>
            </a:pPr>
            <a:endParaRPr lang="en-US" dirty="0">
              <a:solidFill>
                <a:srgbClr val="646464"/>
              </a:solidFill>
            </a:endParaRPr>
          </a:p>
        </p:txBody>
      </p:sp>
    </p:spTree>
  </p:cSld>
  <p:clrMapOvr>
    <a:masterClrMapping/>
  </p:clrMapOvr>
  <p:transition>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Title Onl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20_Title Only">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80" descr="EY_Q Logo"/>
          <p:cNvPicPr>
            <a:picLocks noChangeArrowheads="1"/>
          </p:cNvPicPr>
          <p:nvPr/>
        </p:nvPicPr>
        <p:blipFill>
          <a:blip r:embed="rId9" cstate="print"/>
          <a:srcRect r="4826" b="14285"/>
          <a:stretch>
            <a:fillRect/>
          </a:stretch>
        </p:blipFill>
        <p:spPr bwMode="auto">
          <a:xfrm>
            <a:off x="7838355" y="6396038"/>
            <a:ext cx="1197219" cy="317500"/>
          </a:xfrm>
          <a:prstGeom prst="rect">
            <a:avLst/>
          </a:prstGeom>
          <a:noFill/>
          <a:ln w="9525">
            <a:noFill/>
            <a:miter lim="800000"/>
            <a:headEnd/>
            <a:tailEnd/>
          </a:ln>
        </p:spPr>
      </p:pic>
      <p:sp>
        <p:nvSpPr>
          <p:cNvPr id="1027" name="Rectangle 82"/>
          <p:cNvSpPr>
            <a:spLocks noGrp="1" noChangeArrowheads="1"/>
          </p:cNvSpPr>
          <p:nvPr>
            <p:ph type="title"/>
          </p:nvPr>
        </p:nvSpPr>
        <p:spPr bwMode="auto">
          <a:xfrm>
            <a:off x="108439" y="139703"/>
            <a:ext cx="8927123" cy="684213"/>
          </a:xfrm>
          <a:prstGeom prst="rect">
            <a:avLst/>
          </a:prstGeom>
          <a:noFill/>
          <a:ln w="12700">
            <a:noFill/>
            <a:miter lim="800000"/>
            <a:headEnd/>
            <a:tailEnd/>
          </a:ln>
        </p:spPr>
        <p:txBody>
          <a:bodyPr vert="horz" wrap="square" lIns="0" tIns="0" rIns="0" bIns="0" numCol="1" anchor="t" anchorCtr="0" compatLnSpc="1">
            <a:prstTxWarp prst="textNoShape">
              <a:avLst/>
            </a:prstTxWarp>
          </a:bodyPr>
          <a:lstStyle/>
          <a:p>
            <a:pPr lvl="0"/>
            <a:r>
              <a:rPr lang="en-US" smtClean="0"/>
              <a:t>Click to edit Master title style</a:t>
            </a:r>
          </a:p>
        </p:txBody>
      </p:sp>
      <p:sp>
        <p:nvSpPr>
          <p:cNvPr id="1028" name="Rectangle 83"/>
          <p:cNvSpPr>
            <a:spLocks noGrp="1" noChangeArrowheads="1"/>
          </p:cNvSpPr>
          <p:nvPr>
            <p:ph type="body" idx="1"/>
          </p:nvPr>
        </p:nvSpPr>
        <p:spPr bwMode="auto">
          <a:xfrm>
            <a:off x="108439" y="1325563"/>
            <a:ext cx="8927123" cy="4527550"/>
          </a:xfrm>
          <a:prstGeom prst="rect">
            <a:avLst/>
          </a:prstGeom>
          <a:noFill/>
          <a:ln w="9525">
            <a:noFill/>
            <a:miter lim="800000"/>
            <a:headEnd/>
            <a:tailEnd/>
          </a:ln>
        </p:spPr>
        <p:txBody>
          <a:bodyPr vert="horz" wrap="square" lIns="59364" tIns="29682" rIns="59364" bIns="2968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49015" name="Line 87"/>
          <p:cNvSpPr>
            <a:spLocks noChangeShapeType="1"/>
          </p:cNvSpPr>
          <p:nvPr/>
        </p:nvSpPr>
        <p:spPr bwMode="auto">
          <a:xfrm>
            <a:off x="108439" y="6362700"/>
            <a:ext cx="8927123" cy="0"/>
          </a:xfrm>
          <a:prstGeom prst="line">
            <a:avLst/>
          </a:prstGeom>
          <a:noFill/>
          <a:ln w="9525">
            <a:solidFill>
              <a:schemeClr val="tx1"/>
            </a:solidFill>
            <a:round/>
            <a:headEnd/>
            <a:tailEnd/>
          </a:ln>
          <a:effectLst/>
        </p:spPr>
        <p:txBody>
          <a:bodyPr/>
          <a:lstStyle/>
          <a:p>
            <a:pPr algn="ctr">
              <a:defRPr/>
            </a:pPr>
            <a:endParaRPr lang="en-US" sz="2000" dirty="0">
              <a:solidFill>
                <a:srgbClr val="000000"/>
              </a:solidFill>
              <a:latin typeface="Times New Roman" pitchFamily="18" charset="0"/>
            </a:endParaRPr>
          </a:p>
        </p:txBody>
      </p:sp>
      <p:sp>
        <p:nvSpPr>
          <p:cNvPr id="1149017" name="Rectangle 89"/>
          <p:cNvSpPr>
            <a:spLocks noGrp="1" noChangeArrowheads="1"/>
          </p:cNvSpPr>
          <p:nvPr>
            <p:ph type="sldNum" sz="quarter" idx="4"/>
          </p:nvPr>
        </p:nvSpPr>
        <p:spPr bwMode="auto">
          <a:xfrm>
            <a:off x="3048000" y="6472238"/>
            <a:ext cx="2133600" cy="152400"/>
          </a:xfrm>
          <a:prstGeom prst="rect">
            <a:avLst/>
          </a:prstGeom>
          <a:noFill/>
          <a:ln w="9525" algn="ctr">
            <a:noFill/>
            <a:miter lim="800000"/>
            <a:headEnd/>
            <a:tailEnd/>
          </a:ln>
          <a:effectLst/>
        </p:spPr>
        <p:txBody>
          <a:bodyPr vert="horz" wrap="square" lIns="59364" tIns="29682" rIns="59364" bIns="29682" numCol="1" anchor="t" anchorCtr="0" compatLnSpc="1">
            <a:prstTxWarp prst="textNoShape">
              <a:avLst/>
            </a:prstTxWarp>
            <a:spAutoFit/>
          </a:bodyPr>
          <a:lstStyle>
            <a:lvl1pPr algn="l">
              <a:spcBef>
                <a:spcPct val="50000"/>
              </a:spcBef>
              <a:defRPr sz="600">
                <a:latin typeface="EYInterstate Light" pitchFamily="2" charset="0"/>
              </a:defRPr>
            </a:lvl1pPr>
          </a:lstStyle>
          <a:p>
            <a:pPr>
              <a:defRPr/>
            </a:pPr>
            <a:r>
              <a:rPr lang="en-US" dirty="0" smtClean="0">
                <a:solidFill>
                  <a:srgbClr val="000000"/>
                </a:solidFill>
              </a:rPr>
              <a:t>Page </a:t>
            </a:r>
            <a:fld id="{90B442F2-C673-489A-81D7-6433E3F20430}" type="slidenum">
              <a:rPr lang="en-US" smtClean="0">
                <a:solidFill>
                  <a:srgbClr val="000000"/>
                </a:solidFill>
              </a:rPr>
              <a:pPr>
                <a:defRPr/>
              </a:pPr>
              <a:t>‹#›</a:t>
            </a:fld>
            <a:endParaRPr lang="en-US" dirty="0">
              <a:solidFill>
                <a:srgbClr val="000000"/>
              </a:solidFill>
            </a:endParaRPr>
          </a:p>
        </p:txBody>
      </p:sp>
      <p:sp>
        <p:nvSpPr>
          <p:cNvPr id="1149043" name="Text Box 115"/>
          <p:cNvSpPr txBox="1">
            <a:spLocks noChangeArrowheads="1"/>
          </p:cNvSpPr>
          <p:nvPr/>
        </p:nvSpPr>
        <p:spPr bwMode="auto">
          <a:xfrm>
            <a:off x="108451" y="6499226"/>
            <a:ext cx="2993781" cy="107722"/>
          </a:xfrm>
          <a:prstGeom prst="rect">
            <a:avLst/>
          </a:prstGeom>
          <a:noFill/>
          <a:ln w="9525">
            <a:noFill/>
            <a:miter lim="800000"/>
            <a:headEnd/>
            <a:tailEnd/>
          </a:ln>
          <a:effectLst/>
        </p:spPr>
        <p:txBody>
          <a:bodyPr lIns="0" tIns="0" rIns="0" bIns="0">
            <a:spAutoFit/>
          </a:bodyPr>
          <a:lstStyle/>
          <a:p>
            <a:pPr defTabSz="593725">
              <a:defRPr/>
            </a:pPr>
            <a:r>
              <a:rPr lang="en-US" sz="700" dirty="0">
                <a:solidFill>
                  <a:srgbClr val="000000"/>
                </a:solidFill>
                <a:latin typeface="EYInterstate Light" pitchFamily="2" charset="0"/>
              </a:rPr>
              <a:t>PM07 Steering committee monthly status report template</a:t>
            </a:r>
          </a:p>
        </p:txBody>
      </p:sp>
      <p:sp>
        <p:nvSpPr>
          <p:cNvPr id="8" name="Rectangle 9"/>
          <p:cNvSpPr>
            <a:spLocks noChangeArrowheads="1"/>
          </p:cNvSpPr>
          <p:nvPr/>
        </p:nvSpPr>
        <p:spPr bwMode="auto">
          <a:xfrm>
            <a:off x="457212" y="6419850"/>
            <a:ext cx="663575" cy="196850"/>
          </a:xfrm>
          <a:prstGeom prst="rect">
            <a:avLst/>
          </a:prstGeom>
          <a:noFill/>
          <a:ln w="9525">
            <a:noFill/>
            <a:miter lim="800000"/>
            <a:headEnd/>
            <a:tailEnd/>
          </a:ln>
          <a:effectLst/>
        </p:spPr>
        <p:txBody>
          <a:bodyPr lIns="0" tIns="0" rIns="0" bIns="0"/>
          <a:lstStyle/>
          <a:p>
            <a:r>
              <a:rPr lang="en-GB" sz="1100" dirty="0">
                <a:solidFill>
                  <a:srgbClr val="000000"/>
                </a:solidFill>
                <a:cs typeface="Arial" pitchFamily="34" charset="0"/>
              </a:rPr>
              <a:t>Page </a:t>
            </a:r>
            <a:fld id="{2F5DA1AB-FD0F-410F-9FF0-8E935651E8B9}" type="slidenum">
              <a:rPr lang="en-GB" sz="1100">
                <a:solidFill>
                  <a:srgbClr val="000000"/>
                </a:solidFill>
                <a:cs typeface="Arial" pitchFamily="34" charset="0"/>
              </a:rPr>
              <a:pPr/>
              <a:t>‹#›</a:t>
            </a:fld>
            <a:endParaRPr lang="en-GB" sz="1100" dirty="0">
              <a:solidFill>
                <a:srgbClr val="000000"/>
              </a:solidFill>
              <a:cs typeface="Arial"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ransition>
    <p:wipe dir="r"/>
  </p:transition>
  <p:timing>
    <p:tnLst>
      <p:par>
        <p:cTn id="1" dur="indefinite" restart="never" nodeType="tmRoot"/>
      </p:par>
    </p:tnLst>
  </p:timing>
  <p:txStyles>
    <p:titleStyle>
      <a:lvl1pPr algn="l" defTabSz="955675" rtl="0" eaLnBrk="0" fontAlgn="base" hangingPunct="0">
        <a:spcBef>
          <a:spcPct val="0"/>
        </a:spcBef>
        <a:spcAft>
          <a:spcPct val="54000"/>
        </a:spcAft>
        <a:defRPr b="1">
          <a:solidFill>
            <a:srgbClr val="646464"/>
          </a:solidFill>
          <a:latin typeface="+mj-lt"/>
          <a:ea typeface="+mj-ea"/>
          <a:cs typeface="+mj-cs"/>
        </a:defRPr>
      </a:lvl1pPr>
      <a:lvl2pPr algn="l" defTabSz="955675" rtl="0" eaLnBrk="0" fontAlgn="base" hangingPunct="0">
        <a:spcBef>
          <a:spcPct val="0"/>
        </a:spcBef>
        <a:spcAft>
          <a:spcPct val="54000"/>
        </a:spcAft>
        <a:defRPr b="1">
          <a:solidFill>
            <a:srgbClr val="646464"/>
          </a:solidFill>
          <a:latin typeface="EYInterstate" pitchFamily="2" charset="0"/>
        </a:defRPr>
      </a:lvl2pPr>
      <a:lvl3pPr algn="l" defTabSz="955675" rtl="0" eaLnBrk="0" fontAlgn="base" hangingPunct="0">
        <a:spcBef>
          <a:spcPct val="0"/>
        </a:spcBef>
        <a:spcAft>
          <a:spcPct val="54000"/>
        </a:spcAft>
        <a:defRPr b="1">
          <a:solidFill>
            <a:srgbClr val="646464"/>
          </a:solidFill>
          <a:latin typeface="EYInterstate" pitchFamily="2" charset="0"/>
        </a:defRPr>
      </a:lvl3pPr>
      <a:lvl4pPr algn="l" defTabSz="955675" rtl="0" eaLnBrk="0" fontAlgn="base" hangingPunct="0">
        <a:spcBef>
          <a:spcPct val="0"/>
        </a:spcBef>
        <a:spcAft>
          <a:spcPct val="54000"/>
        </a:spcAft>
        <a:defRPr b="1">
          <a:solidFill>
            <a:srgbClr val="646464"/>
          </a:solidFill>
          <a:latin typeface="EYInterstate" pitchFamily="2" charset="0"/>
        </a:defRPr>
      </a:lvl4pPr>
      <a:lvl5pPr algn="l" defTabSz="955675" rtl="0" eaLnBrk="0" fontAlgn="base" hangingPunct="0">
        <a:spcBef>
          <a:spcPct val="0"/>
        </a:spcBef>
        <a:spcAft>
          <a:spcPct val="54000"/>
        </a:spcAft>
        <a:defRPr b="1">
          <a:solidFill>
            <a:srgbClr val="646464"/>
          </a:solidFill>
          <a:latin typeface="EYInterstate" pitchFamily="2" charset="0"/>
        </a:defRPr>
      </a:lvl5pPr>
      <a:lvl6pPr marL="457200" algn="l" defTabSz="955675" rtl="0" eaLnBrk="0" fontAlgn="base" hangingPunct="0">
        <a:spcBef>
          <a:spcPct val="0"/>
        </a:spcBef>
        <a:spcAft>
          <a:spcPct val="54000"/>
        </a:spcAft>
        <a:defRPr b="1">
          <a:solidFill>
            <a:srgbClr val="646464"/>
          </a:solidFill>
          <a:latin typeface="EYInterstate" pitchFamily="2" charset="0"/>
        </a:defRPr>
      </a:lvl6pPr>
      <a:lvl7pPr marL="914400" algn="l" defTabSz="955675" rtl="0" eaLnBrk="0" fontAlgn="base" hangingPunct="0">
        <a:spcBef>
          <a:spcPct val="0"/>
        </a:spcBef>
        <a:spcAft>
          <a:spcPct val="54000"/>
        </a:spcAft>
        <a:defRPr b="1">
          <a:solidFill>
            <a:srgbClr val="646464"/>
          </a:solidFill>
          <a:latin typeface="EYInterstate" pitchFamily="2" charset="0"/>
        </a:defRPr>
      </a:lvl7pPr>
      <a:lvl8pPr marL="1371600" algn="l" defTabSz="955675" rtl="0" eaLnBrk="0" fontAlgn="base" hangingPunct="0">
        <a:spcBef>
          <a:spcPct val="0"/>
        </a:spcBef>
        <a:spcAft>
          <a:spcPct val="54000"/>
        </a:spcAft>
        <a:defRPr b="1">
          <a:solidFill>
            <a:srgbClr val="646464"/>
          </a:solidFill>
          <a:latin typeface="EYInterstate" pitchFamily="2" charset="0"/>
        </a:defRPr>
      </a:lvl8pPr>
      <a:lvl9pPr marL="1828800" algn="l" defTabSz="955675" rtl="0" eaLnBrk="0" fontAlgn="base" hangingPunct="0">
        <a:spcBef>
          <a:spcPct val="0"/>
        </a:spcBef>
        <a:spcAft>
          <a:spcPct val="54000"/>
        </a:spcAft>
        <a:defRPr b="1">
          <a:solidFill>
            <a:srgbClr val="646464"/>
          </a:solidFill>
          <a:latin typeface="EYInterstate" pitchFamily="2" charset="0"/>
        </a:defRPr>
      </a:lvl9pPr>
    </p:titleStyle>
    <p:bodyStyle>
      <a:lvl1pPr marL="182563" indent="-182563" algn="l" defTabSz="947738" rtl="0" eaLnBrk="0" fontAlgn="base" hangingPunct="0">
        <a:lnSpc>
          <a:spcPct val="90000"/>
        </a:lnSpc>
        <a:spcBef>
          <a:spcPct val="50000"/>
        </a:spcBef>
        <a:spcAft>
          <a:spcPct val="0"/>
        </a:spcAft>
        <a:buClr>
          <a:srgbClr val="FDCC31"/>
        </a:buClr>
        <a:buFont typeface="EYInterstate" pitchFamily="2" charset="0"/>
        <a:buChar char="•"/>
        <a:defRPr sz="1500">
          <a:solidFill>
            <a:schemeClr val="tx1"/>
          </a:solidFill>
          <a:latin typeface="+mn-lt"/>
          <a:ea typeface="+mn-ea"/>
          <a:cs typeface="+mn-cs"/>
        </a:defRPr>
      </a:lvl1pPr>
      <a:lvl2pPr marL="474663" indent="-173038" algn="l" defTabSz="947738" rtl="0" eaLnBrk="0" fontAlgn="base" hangingPunct="0">
        <a:lnSpc>
          <a:spcPct val="90000"/>
        </a:lnSpc>
        <a:spcBef>
          <a:spcPct val="20000"/>
        </a:spcBef>
        <a:spcAft>
          <a:spcPct val="0"/>
        </a:spcAft>
        <a:buClr>
          <a:srgbClr val="FDCC31"/>
        </a:buClr>
        <a:buFont typeface="Arial Narrow" pitchFamily="34" charset="0"/>
        <a:buChar char="–"/>
        <a:defRPr sz="1500">
          <a:solidFill>
            <a:schemeClr val="tx1"/>
          </a:solidFill>
          <a:latin typeface="+mn-lt"/>
        </a:defRPr>
      </a:lvl2pPr>
      <a:lvl3pPr marL="1001713" indent="-230188" algn="l" defTabSz="947738" rtl="0" eaLnBrk="0" fontAlgn="base" hangingPunct="0">
        <a:lnSpc>
          <a:spcPct val="90000"/>
        </a:lnSpc>
        <a:spcBef>
          <a:spcPct val="20000"/>
        </a:spcBef>
        <a:spcAft>
          <a:spcPct val="0"/>
        </a:spcAft>
        <a:buClr>
          <a:srgbClr val="FDCC31"/>
        </a:buClr>
        <a:buFont typeface="EYInterstate" pitchFamily="2" charset="0"/>
        <a:buChar char="•"/>
        <a:defRPr sz="1000">
          <a:solidFill>
            <a:schemeClr val="tx1"/>
          </a:solidFill>
          <a:latin typeface="+mn-lt"/>
        </a:defRPr>
      </a:lvl3pPr>
      <a:lvl4pPr marL="1370013" indent="-246063" algn="l" defTabSz="947738" rtl="0" eaLnBrk="0" fontAlgn="base" hangingPunct="0">
        <a:lnSpc>
          <a:spcPct val="90000"/>
        </a:lnSpc>
        <a:spcBef>
          <a:spcPct val="20000"/>
        </a:spcBef>
        <a:spcAft>
          <a:spcPct val="0"/>
        </a:spcAft>
        <a:buClr>
          <a:srgbClr val="FDCC31"/>
        </a:buClr>
        <a:buFont typeface="Arial Narrow" pitchFamily="34" charset="0"/>
        <a:buChar char="–"/>
        <a:defRPr sz="900">
          <a:solidFill>
            <a:schemeClr val="tx1"/>
          </a:solidFill>
          <a:latin typeface="+mn-lt"/>
        </a:defRPr>
      </a:lvl4pPr>
      <a:lvl5pPr marL="1666875" indent="-174625" algn="l" defTabSz="947738" rtl="0" eaLnBrk="0" fontAlgn="base" hangingPunct="0">
        <a:lnSpc>
          <a:spcPct val="90000"/>
        </a:lnSpc>
        <a:spcBef>
          <a:spcPct val="20000"/>
        </a:spcBef>
        <a:spcAft>
          <a:spcPct val="0"/>
        </a:spcAft>
        <a:buClr>
          <a:srgbClr val="FDCC31"/>
        </a:buClr>
        <a:buFont typeface="EYInterstate" pitchFamily="2" charset="0"/>
        <a:buChar char="•"/>
        <a:defRPr sz="900">
          <a:solidFill>
            <a:schemeClr val="tx1"/>
          </a:solidFill>
          <a:latin typeface="+mn-lt"/>
        </a:defRPr>
      </a:lvl5pPr>
      <a:lvl6pPr marL="21240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6pPr>
      <a:lvl7pPr marL="25812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7pPr>
      <a:lvl8pPr marL="30384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8pPr>
      <a:lvl9pPr marL="3495675" indent="-174625" algn="l" defTabSz="947738" rtl="0" fontAlgn="base">
        <a:lnSpc>
          <a:spcPct val="90000"/>
        </a:lnSpc>
        <a:spcBef>
          <a:spcPct val="20000"/>
        </a:spcBef>
        <a:spcAft>
          <a:spcPct val="0"/>
        </a:spcAft>
        <a:buClr>
          <a:srgbClr val="FDCC31"/>
        </a:buClr>
        <a:buFont typeface="EYInterstate" pitchFamily="2" charset="0"/>
        <a:buChar char="•"/>
        <a:defRPr sz="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272"/>
          <p:cNvGraphicFramePr>
            <a:graphicFrameLocks noGrp="1"/>
          </p:cNvGraphicFramePr>
          <p:nvPr/>
        </p:nvGraphicFramePr>
        <p:xfrm>
          <a:off x="152398" y="3811694"/>
          <a:ext cx="4528122" cy="2565101"/>
        </p:xfrm>
        <a:graphic>
          <a:graphicData uri="http://schemas.openxmlformats.org/drawingml/2006/table">
            <a:tbl>
              <a:tblPr/>
              <a:tblGrid>
                <a:gridCol w="4528122"/>
              </a:tblGrid>
              <a:tr h="74506">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a:ln>
                            <a:noFill/>
                          </a:ln>
                          <a:solidFill>
                            <a:schemeClr val="tx1"/>
                          </a:solidFill>
                          <a:effectLst/>
                          <a:latin typeface="EYInterstate" pitchFamily="2" charset="0"/>
                        </a:rPr>
                        <a:t>C.  ACTIVITIES BEHIND SCHEDULE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3586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Application &amp; Data:</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Wave 1 PVS &amp; Requirements Spec signoff delayed due to stakeholder availability.</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SharePoint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Research tools – GAAIT and Credential replacements, Subscribe and Deliver – Overall Vision/Scope. Finalizing Project Replanning.</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Unified Communications:</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Completion of MMD due to change in scope to add group and shared mail file migration, and to SSP. Completion of </a:t>
                      </a:r>
                      <a:r>
                        <a:rPr kumimoji="0" lang="en-US" sz="650" b="0" i="0" u="none" strike="noStrike" kern="1200" cap="none" normalizeH="0" baseline="0" dirty="0" err="1" smtClean="0">
                          <a:ln>
                            <a:noFill/>
                          </a:ln>
                          <a:solidFill>
                            <a:schemeClr val="bg2">
                              <a:lumMod val="75000"/>
                            </a:schemeClr>
                          </a:solidFill>
                          <a:effectLst/>
                          <a:latin typeface="EYInterstate Light" pitchFamily="2" charset="0"/>
                          <a:ea typeface="+mn-ea"/>
                          <a:cs typeface="+mn-cs"/>
                        </a:rPr>
                        <a:t>Lync</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/Outlook requirements and identification of Day 1 integration suite.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Technology Foundation: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Lync - Installation for Japan is underway for 6913 installations. Completion of last 500 installations is due by w/c 1</a:t>
                      </a:r>
                      <a:r>
                        <a:rPr kumimoji="0" lang="en-GB" sz="650" b="0" i="0" u="none" strike="noStrike" kern="1200" cap="none" normalizeH="0" baseline="30000" dirty="0" smtClean="0">
                          <a:ln>
                            <a:noFill/>
                          </a:ln>
                          <a:solidFill>
                            <a:schemeClr val="bg2">
                              <a:lumMod val="75000"/>
                            </a:schemeClr>
                          </a:solidFill>
                          <a:effectLst/>
                          <a:latin typeface="EYInterstate Light" pitchFamily="2" charset="0"/>
                          <a:ea typeface="+mn-ea"/>
                          <a:cs typeface="+mn-cs"/>
                        </a:rPr>
                        <a:t>st</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April. Outlook - Due to SCCM Operational issues, deployment has been delayed.</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Progress visual design themes, revised comms strategy and plan.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Recruitment of key positions, finalization of M&amp;C CHS initial awareness &amp; learning materials, </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GB"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Transition Management:</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Recruitment of TM resources.  Detailed transition plans based on workstream delivery dates. Detailed planning sessions with I&amp;O teams, specifically RSS / OSS.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7853">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D.  </a:t>
                      </a:r>
                      <a:r>
                        <a:rPr kumimoji="0" lang="en-US" sz="700" b="1" i="0" u="none" strike="noStrike" cap="none" normalizeH="0" baseline="0" dirty="0">
                          <a:ln>
                            <a:noFill/>
                          </a:ln>
                          <a:solidFill>
                            <a:schemeClr val="tx1"/>
                          </a:solidFill>
                          <a:effectLst/>
                          <a:latin typeface="EYInterstate" pitchFamily="2" charset="0"/>
                        </a:rPr>
                        <a:t>KEY ACTIVITIES PLANNED NEXT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06114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Rebaseline both Phase 1 and Rediscovery project plans once delivery dates of key inbound dependencies have been defined, confirmed and communicated.</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sng" strike="noStrike" cap="none" normalizeH="0" baseline="0" dirty="0" smtClean="0">
                          <a:ln>
                            <a:noFill/>
                          </a:ln>
                          <a:solidFill>
                            <a:schemeClr val="bg2">
                              <a:lumMod val="75000"/>
                            </a:schemeClr>
                          </a:solidFill>
                          <a:effectLst/>
                          <a:latin typeface="EYInterstate Light" pitchFamily="2" charset="0"/>
                        </a:rPr>
                        <a:t>SharePoint </a:t>
                      </a: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US" sz="650" b="0" i="0" u="none" strike="noStrike" cap="none" normalizeH="0" baseline="0" dirty="0" smtClean="0">
                          <a:ln>
                            <a:noFill/>
                          </a:ln>
                          <a:solidFill>
                            <a:schemeClr val="bg2">
                              <a:lumMod val="75000"/>
                            </a:schemeClr>
                          </a:solidFill>
                          <a:effectLst/>
                          <a:latin typeface="EYInterstate Light" pitchFamily="2" charset="0"/>
                        </a:rPr>
                        <a:t>Revise FY12 plan, Ovitas Workshops will continue.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Technology Foundation: </a:t>
                      </a:r>
                      <a:r>
                        <a:rPr kumimoji="0" lang="en-US" sz="650" b="0" i="0" u="none" strike="noStrike" cap="none" normalizeH="0" baseline="0" dirty="0" smtClean="0">
                          <a:ln>
                            <a:noFill/>
                          </a:ln>
                          <a:solidFill>
                            <a:schemeClr val="bg2">
                              <a:lumMod val="75000"/>
                            </a:schemeClr>
                          </a:solidFill>
                          <a:effectLst/>
                          <a:latin typeface="EYInterstate Light" pitchFamily="2" charset="0"/>
                        </a:rPr>
                        <a:t>Outlook - </a:t>
                      </a:r>
                      <a:r>
                        <a:rPr kumimoji="0" lang="en-US" sz="650" b="0" i="0" u="none" strike="noStrike" kern="1200" cap="none" normalizeH="0" baseline="0" dirty="0" smtClean="0">
                          <a:ln>
                            <a:noFill/>
                          </a:ln>
                          <a:solidFill>
                            <a:schemeClr val="bg2">
                              <a:lumMod val="75000"/>
                            </a:schemeClr>
                          </a:solidFill>
                          <a:effectLst/>
                          <a:latin typeface="EYInterstate Light"/>
                          <a:ea typeface="+mn-ea"/>
                          <a:cs typeface="Arial" charset="0"/>
                        </a:rPr>
                        <a:t>Start Full deployment of Outlook. </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Unified Communications</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cap="none" normalizeH="0" baseline="0" dirty="0" smtClean="0">
                          <a:ln>
                            <a:noFill/>
                          </a:ln>
                          <a:solidFill>
                            <a:schemeClr val="bg2">
                              <a:lumMod val="75000"/>
                            </a:schemeClr>
                          </a:solidFill>
                          <a:effectLst/>
                          <a:latin typeface="EYInterstate Light"/>
                          <a:cs typeface="Arial" charset="0"/>
                        </a:rPr>
                        <a:t>Determine UC decision-making forum</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Complete initial refresh of M&amp;C financial Benefit Case, Hold further benefit identification calls with SharePoint stakeholders, Develop high level summary of Lync and Outlook benefits.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a:t>
                      </a:r>
                      <a:r>
                        <a:rPr kumimoji="0" lang="en-US" sz="650" b="0" i="0" u="sng" strike="noStrike" kern="1200" cap="none" normalizeH="0" baseline="0" dirty="0">
                          <a:ln>
                            <a:noFill/>
                          </a:ln>
                          <a:solidFill>
                            <a:schemeClr val="bg2">
                              <a:lumMod val="75000"/>
                            </a:schemeClr>
                          </a:solidFill>
                          <a:effectLst/>
                          <a:latin typeface="EYInterstate Light" pitchFamily="2" charset="0"/>
                          <a:ea typeface="+mn-ea"/>
                          <a:cs typeface="+mn-cs"/>
                        </a:rPr>
                        <a:t>Transition Management</a:t>
                      </a: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Transition team workshop week of 12 March in Secaucus.  Requesting two telephone interviews for London based TM candidates.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3" name="Group 852"/>
          <p:cNvGraphicFramePr>
            <a:graphicFrameLocks noGrp="1"/>
          </p:cNvGraphicFramePr>
          <p:nvPr/>
        </p:nvGraphicFramePr>
        <p:xfrm>
          <a:off x="4752531" y="3442872"/>
          <a:ext cx="4239069" cy="1891128"/>
        </p:xfrm>
        <a:graphic>
          <a:graphicData uri="http://schemas.openxmlformats.org/drawingml/2006/table">
            <a:tbl>
              <a:tblPr/>
              <a:tblGrid>
                <a:gridCol w="2135024"/>
                <a:gridCol w="2104045"/>
              </a:tblGrid>
              <a:tr h="121898">
                <a:tc gridSpan="2">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G. MATTERS FOR IMMEDIATE ATTENTION – typically specific current issues or scope changes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21898">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Issues to be resolved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Recommended Action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12933">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Need to recruit a significant number of additional resources into the program. Recruitment of skilled staff proving very difficult and will impact schedules.</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To be reviewed as part of 30 Day Plan exercise. </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315921">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rPr>
                        <a:t>Engagement with Areas has not moved at the pace required to establish a Change Network and start to develop Deployment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plans.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Jackie Knight working with Sophie Boiron and Martin Kremmer on planning engagement to engage with areas from Feb (work in progress).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26559">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Team is investigate the impact of the Office 365  contract and will replan accordingly.</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Investigate timescale, resource and cost implications.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18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SharePoint - Not able to test due to no test environments.</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Providing MS admin &amp; DB rights to fix the issue, Joint SPF / SPE team working to resolve.</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18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On going challenges around a number of inbound technical dependencies on IAM continue to constrain early delivery of infrastructure.</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IAM team have added 3 more resources and we are working through the additional activity caused by Office 365.</a:t>
                      </a: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4" name="Group 270"/>
          <p:cNvGraphicFramePr>
            <a:graphicFrameLocks noGrp="1"/>
          </p:cNvGraphicFramePr>
          <p:nvPr/>
        </p:nvGraphicFramePr>
        <p:xfrm>
          <a:off x="7391400" y="36991"/>
          <a:ext cx="1628477" cy="535063"/>
        </p:xfrm>
        <a:graphic>
          <a:graphicData uri="http://schemas.openxmlformats.org/drawingml/2006/table">
            <a:tbl>
              <a:tblPr/>
              <a:tblGrid>
                <a:gridCol w="814238"/>
                <a:gridCol w="814239"/>
              </a:tblGrid>
              <a:tr h="152406">
                <a:tc gridSpan="2">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defRPr/>
                      </a:pPr>
                      <a:r>
                        <a:rPr kumimoji="0" lang="en-US" sz="700" b="1" i="0" u="none" strike="noStrike" kern="1200" cap="none" normalizeH="0" baseline="0" dirty="0">
                          <a:ln>
                            <a:noFill/>
                          </a:ln>
                          <a:solidFill>
                            <a:schemeClr val="tx1"/>
                          </a:solidFill>
                          <a:effectLst/>
                          <a:latin typeface="EYInterstate" pitchFamily="2" charset="0"/>
                          <a:ea typeface="+mn-ea"/>
                          <a:cs typeface="+mn-cs"/>
                        </a:rPr>
                        <a:t>OVERALL INITIATIVE STATUS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smtClean="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88844">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93813">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smtClean="0">
                          <a:ln>
                            <a:noFill/>
                          </a:ln>
                          <a:solidFill>
                            <a:srgbClr val="646464"/>
                          </a:solidFill>
                          <a:effectLst/>
                          <a:latin typeface="EYInterstate Light" pitchFamily="2" charset="0"/>
                        </a:rPr>
                        <a:t>RED</a:t>
                      </a:r>
                      <a:endParaRPr kumimoji="0" lang="en-US" sz="700" b="0" i="0" u="none" strike="noStrike" cap="none" normalizeH="0" baseline="0" dirty="0">
                        <a:ln>
                          <a:noFill/>
                        </a:ln>
                        <a:solidFill>
                          <a:srgbClr val="646464"/>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7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graphicFrame>
        <p:nvGraphicFramePr>
          <p:cNvPr id="5" name="Table 4"/>
          <p:cNvGraphicFramePr>
            <a:graphicFrameLocks noGrp="1"/>
          </p:cNvGraphicFramePr>
          <p:nvPr/>
        </p:nvGraphicFramePr>
        <p:xfrm>
          <a:off x="4752531" y="2355805"/>
          <a:ext cx="4239069" cy="996995"/>
        </p:xfrm>
        <a:graphic>
          <a:graphicData uri="http://schemas.openxmlformats.org/drawingml/2006/table">
            <a:tbl>
              <a:tblPr/>
              <a:tblGrid>
                <a:gridCol w="2135024"/>
                <a:gridCol w="2104045"/>
              </a:tblGrid>
              <a:tr h="127484">
                <a:tc gridSpan="2">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F.  KEY RISKS – typically future challenges or external circumstances that may affect the initiative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endParaRPr lang="en-US"/>
                    </a:p>
                  </a:txBody>
                  <a:tcPr/>
                </a:tc>
              </a:tr>
              <a:tr h="151247">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Risks to be addressed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85725" marR="0" lvl="0" indent="-85725"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Mitigating Action</a:t>
                      </a:r>
                      <a:endParaRPr kumimoji="0" lang="en-US" sz="700" b="0" i="0" u="none" strike="noStrike" cap="none" normalizeH="0" baseline="0" dirty="0">
                        <a:ln>
                          <a:noFill/>
                        </a:ln>
                        <a:solidFill>
                          <a:schemeClr val="bg2"/>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5252">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Final </a:t>
                      </a:r>
                      <a:r>
                        <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rPr>
                        <a:t>selection arising from the hosting services RFP may become delayed by the selection of options and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services.</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Once the outcomes of the various RFP decisions are  known,  will  asses the impact upon the current plans.  </a:t>
                      </a:r>
                      <a:endPar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280476">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a:ln>
                            <a:noFill/>
                          </a:ln>
                          <a:solidFill>
                            <a:schemeClr val="bg2">
                              <a:lumMod val="75000"/>
                            </a:schemeClr>
                          </a:solidFill>
                          <a:effectLst/>
                          <a:latin typeface="EYInterstate Light" pitchFamily="2" charset="0"/>
                        </a:rPr>
                        <a:t>Project will require a significant amount of time from SMRs from both the business &amp; </a:t>
                      </a:r>
                      <a:r>
                        <a:rPr kumimoji="0" lang="en-US" sz="650" b="0" i="0" u="none" strike="noStrike" cap="none" normalizeH="0" baseline="0" dirty="0" smtClean="0">
                          <a:ln>
                            <a:noFill/>
                          </a:ln>
                          <a:solidFill>
                            <a:schemeClr val="bg2">
                              <a:lumMod val="75000"/>
                            </a:schemeClr>
                          </a:solidFill>
                          <a:effectLst/>
                          <a:latin typeface="EYInterstate Light" pitchFamily="2" charset="0"/>
                        </a:rPr>
                        <a:t>IT.</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a:ln>
                            <a:noFill/>
                          </a:ln>
                          <a:solidFill>
                            <a:schemeClr val="bg2">
                              <a:lumMod val="75000"/>
                            </a:schemeClr>
                          </a:solidFill>
                          <a:effectLst/>
                          <a:latin typeface="EYInterstate Light" pitchFamily="2" charset="0"/>
                        </a:rPr>
                        <a:t>Provide detailed plans so early visibility of the need for such expertise is identified as early as possible.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6" name="Group 270"/>
          <p:cNvGraphicFramePr>
            <a:graphicFrameLocks noGrp="1"/>
          </p:cNvGraphicFramePr>
          <p:nvPr/>
        </p:nvGraphicFramePr>
        <p:xfrm>
          <a:off x="1195546" y="6553106"/>
          <a:ext cx="381000" cy="88326"/>
        </p:xfrm>
        <a:graphic>
          <a:graphicData uri="http://schemas.openxmlformats.org/drawingml/2006/table">
            <a:tbl>
              <a:tblPr/>
              <a:tblGrid>
                <a:gridCol w="381000"/>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04C3E"/>
                    </a:solidFill>
                  </a:tcPr>
                </a:tc>
              </a:tr>
            </a:tbl>
          </a:graphicData>
        </a:graphic>
      </p:graphicFrame>
      <p:graphicFrame>
        <p:nvGraphicFramePr>
          <p:cNvPr id="7" name="Group 270"/>
          <p:cNvGraphicFramePr>
            <a:graphicFrameLocks noGrp="1"/>
          </p:cNvGraphicFramePr>
          <p:nvPr/>
        </p:nvGraphicFramePr>
        <p:xfrm>
          <a:off x="3979855" y="6582966"/>
          <a:ext cx="523914" cy="88326"/>
        </p:xfrm>
        <a:graphic>
          <a:graphicData uri="http://schemas.openxmlformats.org/drawingml/2006/table">
            <a:tbl>
              <a:tblPr/>
              <a:tblGrid>
                <a:gridCol w="523914"/>
              </a:tblGrid>
              <a:tr h="0">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AMBER</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bl>
          </a:graphicData>
        </a:graphic>
      </p:graphicFrame>
      <p:graphicFrame>
        <p:nvGraphicFramePr>
          <p:cNvPr id="8" name="Group 270"/>
          <p:cNvGraphicFramePr>
            <a:graphicFrameLocks noGrp="1"/>
          </p:cNvGraphicFramePr>
          <p:nvPr/>
        </p:nvGraphicFramePr>
        <p:xfrm>
          <a:off x="6515865" y="6550835"/>
          <a:ext cx="381000" cy="90597"/>
        </p:xfrm>
        <a:graphic>
          <a:graphicData uri="http://schemas.openxmlformats.org/drawingml/2006/table">
            <a:tbl>
              <a:tblPr/>
              <a:tblGrid>
                <a:gridCol w="381000"/>
              </a:tblGrid>
              <a:tr h="90597">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400" b="0" i="0" u="none" strike="noStrike" cap="none" normalizeH="0" baseline="0" dirty="0">
                          <a:ln>
                            <a:noFill/>
                          </a:ln>
                          <a:solidFill>
                            <a:srgbClr val="646464"/>
                          </a:solidFill>
                          <a:effectLst/>
                          <a:latin typeface="EYInterstate Light" pitchFamily="2" charset="0"/>
                        </a:rPr>
                        <a:t>GREEN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92D050"/>
                    </a:solidFill>
                  </a:tcPr>
                </a:tc>
              </a:tr>
            </a:tbl>
          </a:graphicData>
        </a:graphic>
      </p:graphicFrame>
      <p:grpSp>
        <p:nvGrpSpPr>
          <p:cNvPr id="9" name="Group 27"/>
          <p:cNvGrpSpPr/>
          <p:nvPr/>
        </p:nvGrpSpPr>
        <p:grpSpPr>
          <a:xfrm>
            <a:off x="285595" y="6400800"/>
            <a:ext cx="8734282" cy="494922"/>
            <a:chOff x="307495" y="6550829"/>
            <a:chExt cx="9404036" cy="494922"/>
          </a:xfrm>
        </p:grpSpPr>
        <p:sp>
          <p:nvSpPr>
            <p:cNvPr id="11" name="TextBox 10"/>
            <p:cNvSpPr txBox="1"/>
            <p:nvPr/>
          </p:nvSpPr>
          <p:spPr bwMode="gray">
            <a:xfrm>
              <a:off x="1639689" y="6576570"/>
              <a:ext cx="2611234"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not on track and has significant challenges and/or issues that materially impact the overall successful achievement of the expected outcomes. 	</a:t>
              </a:r>
            </a:p>
          </p:txBody>
        </p:sp>
        <p:sp>
          <p:nvSpPr>
            <p:cNvPr id="12" name="TextBox 11"/>
            <p:cNvSpPr txBox="1"/>
            <p:nvPr/>
          </p:nvSpPr>
          <p:spPr bwMode="gray">
            <a:xfrm>
              <a:off x="674554" y="6657945"/>
              <a:ext cx="612668" cy="169277"/>
            </a:xfrm>
            <a:prstGeom prst="rect">
              <a:avLst/>
            </a:prstGeom>
          </p:spPr>
          <p:txBody>
            <a:bodyPr wrap="none" rtlCol="0">
              <a:spAutoFit/>
            </a:bodyPr>
            <a:lstStyle/>
            <a:p>
              <a:pPr defTabSz="955675" eaLnBrk="0" fontAlgn="base" hangingPunct="0">
                <a:spcBef>
                  <a:spcPct val="0"/>
                </a:spcBef>
              </a:pPr>
              <a:r>
                <a:rPr lang="en-US" sz="500" b="1" dirty="0">
                  <a:solidFill>
                    <a:srgbClr val="646464"/>
                  </a:solidFill>
                  <a:latin typeface="EYInterstate Light" pitchFamily="2" charset="0"/>
                </a:rPr>
                <a:t>Fully achieved</a:t>
              </a:r>
              <a:endParaRPr lang="en-GB" sz="500" b="1" kern="0" dirty="0">
                <a:solidFill>
                  <a:srgbClr val="646464"/>
                </a:solidFill>
                <a:latin typeface="EYInterstate Light" pitchFamily="2" charset="0"/>
              </a:endParaRPr>
            </a:p>
          </p:txBody>
        </p:sp>
        <p:sp>
          <p:nvSpPr>
            <p:cNvPr id="13" name="TextBox 12"/>
            <p:cNvSpPr txBox="1"/>
            <p:nvPr/>
          </p:nvSpPr>
          <p:spPr bwMode="gray">
            <a:xfrm>
              <a:off x="307495" y="6550829"/>
              <a:ext cx="4541628" cy="169277"/>
            </a:xfrm>
            <a:prstGeom prst="rect">
              <a:avLst/>
            </a:prstGeom>
          </p:spPr>
          <p:txBody>
            <a:bodyPr wrap="none" rtlCol="0">
              <a:spAutoFit/>
            </a:bodyPr>
            <a:lstStyle/>
            <a:p>
              <a:pPr defTabSz="955675" eaLnBrk="0" fontAlgn="base" hangingPunct="0">
                <a:spcBef>
                  <a:spcPct val="0"/>
                </a:spcBef>
              </a:pPr>
              <a:r>
                <a:rPr lang="en-US" sz="500" dirty="0">
                  <a:solidFill>
                    <a:srgbClr val="646464"/>
                  </a:solidFill>
                  <a:latin typeface="EYInterstate Light" pitchFamily="2" charset="0"/>
                </a:rPr>
                <a:t>The overall initiative status is governed by the RAG Status Guidance, summarized below. This guidance also applies to the individual Milestones Stats. </a:t>
              </a:r>
              <a:endParaRPr lang="en-GB" sz="500" kern="0" dirty="0">
                <a:solidFill>
                  <a:srgbClr val="646464"/>
                </a:solidFill>
                <a:latin typeface="EYInterstate Light" pitchFamily="2" charset="0"/>
              </a:endParaRPr>
            </a:p>
          </p:txBody>
        </p:sp>
        <p:sp>
          <p:nvSpPr>
            <p:cNvPr id="14" name="TextBox 13"/>
            <p:cNvSpPr txBox="1"/>
            <p:nvPr/>
          </p:nvSpPr>
          <p:spPr bwMode="gray">
            <a:xfrm>
              <a:off x="7423210" y="6564722"/>
              <a:ext cx="2288321" cy="400110"/>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and has no significant challenges and/or issues that may materially impact the overall successful achievement of the expected outcomes, now or in the future. 	</a:t>
              </a:r>
            </a:p>
          </p:txBody>
        </p:sp>
        <p:sp>
          <p:nvSpPr>
            <p:cNvPr id="15" name="TextBox 14"/>
            <p:cNvSpPr txBox="1"/>
            <p:nvPr/>
          </p:nvSpPr>
          <p:spPr bwMode="gray">
            <a:xfrm>
              <a:off x="4849123" y="6568697"/>
              <a:ext cx="1976087" cy="477054"/>
            </a:xfrm>
            <a:prstGeom prst="rect">
              <a:avLst/>
            </a:prstGeom>
          </p:spPr>
          <p:txBody>
            <a:bodyPr wrap="square" rtlCol="0">
              <a:spAutoFit/>
            </a:bodyPr>
            <a:lstStyle/>
            <a:p>
              <a:pPr defTabSz="955675" eaLnBrk="0" fontAlgn="base" hangingPunct="0">
                <a:spcBef>
                  <a:spcPct val="0"/>
                </a:spcBef>
              </a:pPr>
              <a:endParaRPr lang="en-GB" sz="500" b="1" dirty="0">
                <a:solidFill>
                  <a:srgbClr val="646464"/>
                </a:solidFill>
                <a:latin typeface="EYInterstate Light" pitchFamily="2" charset="0"/>
              </a:endParaRPr>
            </a:p>
            <a:p>
              <a:pPr defTabSz="955675" eaLnBrk="0" fontAlgn="base" hangingPunct="0">
                <a:spcBef>
                  <a:spcPct val="0"/>
                </a:spcBef>
              </a:pPr>
              <a:r>
                <a:rPr lang="en-GB" sz="500" b="1" dirty="0">
                  <a:solidFill>
                    <a:srgbClr val="646464"/>
                  </a:solidFill>
                  <a:latin typeface="EYInterstate Light" pitchFamily="2" charset="0"/>
                </a:rPr>
                <a:t>Project is on track but has some significant challenges and/or issues that may materially impact the overall successful achievement of the expected outcomes. 	</a:t>
              </a:r>
            </a:p>
          </p:txBody>
        </p:sp>
      </p:grpSp>
      <p:sp>
        <p:nvSpPr>
          <p:cNvPr id="16" name="Freeform 94"/>
          <p:cNvSpPr>
            <a:spLocks/>
          </p:cNvSpPr>
          <p:nvPr/>
        </p:nvSpPr>
        <p:spPr bwMode="gray">
          <a:xfrm>
            <a:off x="0" y="0"/>
            <a:ext cx="6706365"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ctr" fontAlgn="base">
              <a:spcBef>
                <a:spcPct val="0"/>
              </a:spcBef>
              <a:spcAft>
                <a:spcPct val="0"/>
              </a:spcAft>
            </a:pPr>
            <a:endParaRPr lang="en-GB" sz="700" dirty="0">
              <a:solidFill>
                <a:srgbClr val="000000"/>
              </a:solidFill>
              <a:latin typeface="EYInterstate Light" pitchFamily="2" charset="0"/>
            </a:endParaRPr>
          </a:p>
        </p:txBody>
      </p:sp>
      <p:sp>
        <p:nvSpPr>
          <p:cNvPr id="17" name="Rectangle 183"/>
          <p:cNvSpPr txBox="1">
            <a:spLocks noChangeArrowheads="1"/>
          </p:cNvSpPr>
          <p:nvPr/>
        </p:nvSpPr>
        <p:spPr bwMode="gray">
          <a:xfrm>
            <a:off x="1" y="-34669"/>
            <a:ext cx="7086599" cy="553998"/>
          </a:xfrm>
          <a:prstGeom prst="rect">
            <a:avLst/>
          </a:prstGeom>
        </p:spPr>
        <p:txBody>
          <a:bodyPr wrap="square">
            <a:spAutoFit/>
          </a:bodyPr>
          <a:lstStyle/>
          <a:p>
            <a:pPr defTabSz="955675" eaLnBrk="0" hangingPunct="0">
              <a:defRPr/>
            </a:pPr>
            <a:r>
              <a:rPr lang="en-US" sz="1600" b="1" kern="0" dirty="0">
                <a:solidFill>
                  <a:srgbClr val="646464"/>
                </a:solidFill>
              </a:rPr>
              <a:t>13 - Messaging &amp; Collaboration – 9 March 2012</a:t>
            </a:r>
          </a:p>
          <a:p>
            <a:pPr defTabSz="955675" eaLnBrk="0" hangingPunct="0">
              <a:defRPr/>
            </a:pPr>
            <a:r>
              <a:rPr lang="en-US" sz="1400" kern="0" dirty="0">
                <a:solidFill>
                  <a:srgbClr val="646464"/>
                </a:solidFill>
              </a:rPr>
              <a:t>Guy Morgan</a:t>
            </a:r>
          </a:p>
        </p:txBody>
      </p:sp>
      <p:graphicFrame>
        <p:nvGraphicFramePr>
          <p:cNvPr id="18" name="Table 17"/>
          <p:cNvGraphicFramePr>
            <a:graphicFrameLocks noGrp="1"/>
          </p:cNvGraphicFramePr>
          <p:nvPr/>
        </p:nvGraphicFramePr>
        <p:xfrm>
          <a:off x="4752532" y="5410200"/>
          <a:ext cx="4239068" cy="971509"/>
        </p:xfrm>
        <a:graphic>
          <a:graphicData uri="http://schemas.openxmlformats.org/drawingml/2006/table">
            <a:tbl>
              <a:tblPr/>
              <a:tblGrid>
                <a:gridCol w="4239068"/>
              </a:tblGrid>
              <a:tr h="143999">
                <a:tc>
                  <a:txBody>
                    <a:bodyPr/>
                    <a:lstStyle/>
                    <a:p>
                      <a:pPr marL="85725" marR="0" lvl="0" indent="-85725"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a:ln>
                            <a:noFill/>
                          </a:ln>
                          <a:solidFill>
                            <a:schemeClr val="tx1"/>
                          </a:solidFill>
                          <a:effectLst/>
                          <a:latin typeface="EYInterstate" pitchFamily="2" charset="0"/>
                        </a:rPr>
                        <a:t>H.  GENERAL COMMENTS – must include reasoning for an overall Red or Amber Status</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8275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Overall </a:t>
                      </a:r>
                      <a:r>
                        <a:rPr kumimoji="0" lang="en-US" sz="650" b="0" i="0" u="none" strike="noStrike" cap="none" normalizeH="0" baseline="0" dirty="0">
                          <a:ln>
                            <a:noFill/>
                          </a:ln>
                          <a:solidFill>
                            <a:schemeClr val="bg2">
                              <a:lumMod val="75000"/>
                            </a:schemeClr>
                          </a:solidFill>
                          <a:effectLst/>
                          <a:latin typeface="EYInterstate Light" pitchFamily="2" charset="0"/>
                        </a:rPr>
                        <a:t>Program status </a:t>
                      </a:r>
                      <a:r>
                        <a:rPr kumimoji="0" lang="en-US" sz="650" b="0" i="0" u="none" strike="noStrike" cap="none" normalizeH="0" baseline="0" dirty="0" smtClean="0">
                          <a:ln>
                            <a:noFill/>
                          </a:ln>
                          <a:solidFill>
                            <a:schemeClr val="bg2">
                              <a:lumMod val="75000"/>
                            </a:schemeClr>
                          </a:solidFill>
                          <a:effectLst/>
                          <a:latin typeface="EYInterstate Light" pitchFamily="2" charset="0"/>
                        </a:rPr>
                        <a:t>is </a:t>
                      </a:r>
                      <a:r>
                        <a:rPr kumimoji="0" lang="en-US" sz="650" b="0" i="0" u="none" strike="noStrike" cap="none" normalizeH="0" baseline="0" dirty="0">
                          <a:ln>
                            <a:noFill/>
                          </a:ln>
                          <a:solidFill>
                            <a:schemeClr val="bg2">
                              <a:lumMod val="75000"/>
                            </a:schemeClr>
                          </a:solidFill>
                          <a:effectLst/>
                          <a:latin typeface="EYInterstate Light" pitchFamily="2" charset="0"/>
                        </a:rPr>
                        <a:t>Red due to </a:t>
                      </a:r>
                      <a:r>
                        <a:rPr kumimoji="0" lang="en-US" sz="650" b="0" i="0" u="none" strike="noStrike" cap="none" normalizeH="0" baseline="0" dirty="0" smtClean="0">
                          <a:ln>
                            <a:noFill/>
                          </a:ln>
                          <a:solidFill>
                            <a:schemeClr val="bg2">
                              <a:lumMod val="75000"/>
                            </a:schemeClr>
                          </a:solidFill>
                          <a:effectLst/>
                          <a:latin typeface="EYInterstate Light" pitchFamily="2" charset="0"/>
                        </a:rPr>
                        <a:t>re-planning which </a:t>
                      </a:r>
                      <a:r>
                        <a:rPr kumimoji="0" lang="en-US" sz="650" b="0" i="0" u="none" strike="noStrike" cap="none" normalizeH="0" baseline="0" dirty="0">
                          <a:ln>
                            <a:noFill/>
                          </a:ln>
                          <a:solidFill>
                            <a:schemeClr val="bg2">
                              <a:lumMod val="75000"/>
                            </a:schemeClr>
                          </a:solidFill>
                          <a:effectLst/>
                          <a:latin typeface="EYInterstate Light" pitchFamily="2" charset="0"/>
                        </a:rPr>
                        <a:t>is the </a:t>
                      </a:r>
                      <a:r>
                        <a:rPr kumimoji="0" lang="en-US" sz="650" b="0" i="0" u="none" strike="noStrike" cap="none" normalizeH="0" baseline="0" dirty="0" smtClean="0">
                          <a:ln>
                            <a:noFill/>
                          </a:ln>
                          <a:solidFill>
                            <a:schemeClr val="bg2">
                              <a:lumMod val="75000"/>
                            </a:schemeClr>
                          </a:solidFill>
                          <a:effectLst/>
                          <a:latin typeface="EYInterstate Light" pitchFamily="2" charset="0"/>
                        </a:rPr>
                        <a:t>key </a:t>
                      </a:r>
                      <a:r>
                        <a:rPr kumimoji="0" lang="en-US" sz="650" b="0" i="0" u="none" strike="noStrike" cap="none" normalizeH="0" baseline="0" dirty="0">
                          <a:ln>
                            <a:noFill/>
                          </a:ln>
                          <a:solidFill>
                            <a:schemeClr val="bg2">
                              <a:lumMod val="75000"/>
                            </a:schemeClr>
                          </a:solidFill>
                          <a:effectLst/>
                          <a:latin typeface="EYInterstate Light" pitchFamily="2" charset="0"/>
                        </a:rPr>
                        <a:t>current focus</a:t>
                      </a:r>
                      <a:r>
                        <a:rPr kumimoji="0" lang="en-US" sz="650" b="0" i="0" u="none" strike="noStrike" cap="none" normalizeH="0" baseline="0" dirty="0" smtClean="0">
                          <a:ln>
                            <a:noFill/>
                          </a:ln>
                          <a:solidFill>
                            <a:schemeClr val="bg2">
                              <a:lumMod val="75000"/>
                            </a:schemeClr>
                          </a:solidFill>
                          <a:effectLst/>
                          <a:latin typeface="EYInterstate Light" pitchFamily="2" charset="0"/>
                        </a:rPr>
                        <a:t>. Need to investigate Office 365 impact.  </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FY12 Budget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                                                        $38,500,000</a:t>
                      </a:r>
                      <a:endPar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Current Budget (Baseline + Approved CRs)	TBD</a:t>
                      </a: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Spend to Date		$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19.5M</a:t>
                      </a:r>
                      <a:endParaRPr kumimoji="0" lang="en-US" sz="650" b="0" i="0" u="sng" strike="noStrike" kern="1200" cap="none" normalizeH="0" baseline="0" noProof="0" dirty="0">
                        <a:ln>
                          <a:noFill/>
                        </a:ln>
                        <a:solidFill>
                          <a:schemeClr val="bg2">
                            <a:lumMod val="75000"/>
                          </a:schemeClr>
                        </a:solidFill>
                        <a:effectLst/>
                        <a:latin typeface="EYInterstate Light" pitchFamily="2" charset="0"/>
                        <a:ea typeface="+mn-ea"/>
                        <a:cs typeface="+mn-cs"/>
                      </a:endParaRPr>
                    </a:p>
                    <a:p>
                      <a:pPr marL="0" marR="0" lvl="0" indent="90488" algn="l" defTabSz="947738" rtl="0" eaLnBrk="0" fontAlgn="base" latinLnBrk="0" hangingPunct="0">
                        <a:lnSpc>
                          <a:spcPct val="100000"/>
                        </a:lnSpc>
                        <a:spcBef>
                          <a:spcPct val="0"/>
                        </a:spcBef>
                        <a:spcAft>
                          <a:spcPct val="10000"/>
                        </a:spcAft>
                        <a:buClrTx/>
                        <a:buSzTx/>
                        <a:buFontTx/>
                        <a:buNone/>
                        <a:tabLst/>
                        <a:defRPr/>
                      </a:pPr>
                      <a:r>
                        <a:rPr kumimoji="0" lang="en-US" sz="650" b="0" i="0" u="none" strike="noStrike" kern="1200" cap="none" normalizeH="0" baseline="0" noProof="0" dirty="0">
                          <a:ln>
                            <a:noFill/>
                          </a:ln>
                          <a:solidFill>
                            <a:schemeClr val="bg2">
                              <a:lumMod val="75000"/>
                            </a:schemeClr>
                          </a:solidFill>
                          <a:effectLst/>
                          <a:latin typeface="EYInterstate Light" pitchFamily="2" charset="0"/>
                          <a:ea typeface="+mn-ea"/>
                          <a:cs typeface="+mn-cs"/>
                        </a:rPr>
                        <a:t>ETC		TBD</a:t>
                      </a:r>
                    </a:p>
                    <a:p>
                      <a:pPr marL="0" marR="0" lvl="0" indent="90488" algn="l"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a:ln>
                            <a:noFill/>
                          </a:ln>
                          <a:solidFill>
                            <a:schemeClr val="bg2">
                              <a:lumMod val="75000"/>
                            </a:schemeClr>
                          </a:solidFill>
                          <a:effectLst/>
                          <a:latin typeface="EYInterstate Light" pitchFamily="2" charset="0"/>
                        </a:rPr>
                        <a:t>Variances		TBD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19" name="Group 272"/>
          <p:cNvGraphicFramePr>
            <a:graphicFrameLocks noGrp="1"/>
          </p:cNvGraphicFramePr>
          <p:nvPr/>
        </p:nvGraphicFramePr>
        <p:xfrm>
          <a:off x="152400" y="609600"/>
          <a:ext cx="4528122" cy="3076062"/>
        </p:xfrm>
        <a:graphic>
          <a:graphicData uri="http://schemas.openxmlformats.org/drawingml/2006/table">
            <a:tbl>
              <a:tblPr/>
              <a:tblGrid>
                <a:gridCol w="4528122"/>
              </a:tblGrid>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mj-lt"/>
                        </a:rPr>
                        <a:t>A.  </a:t>
                      </a:r>
                      <a:r>
                        <a:rPr kumimoji="0" lang="en-GB" sz="700" b="1" i="0" u="none" strike="noStrike" cap="none" normalizeH="0" baseline="0" dirty="0" smtClean="0">
                          <a:ln>
                            <a:noFill/>
                          </a:ln>
                          <a:solidFill>
                            <a:schemeClr val="tx1"/>
                          </a:solidFill>
                          <a:effectLst/>
                          <a:latin typeface="+mj-lt"/>
                        </a:rPr>
                        <a:t>EXECUTIVE SUMMARY – a summary of the progress for this period (not of the initiative)</a:t>
                      </a:r>
                      <a:endParaRPr kumimoji="0" lang="en-US" sz="700" b="1" i="0" u="none" strike="noStrike" cap="none" normalizeH="0" baseline="0" dirty="0">
                        <a:ln>
                          <a:noFill/>
                        </a:ln>
                        <a:solidFill>
                          <a:schemeClr val="tx1"/>
                        </a:solidFill>
                        <a:effectLst/>
                        <a:latin typeface="+mj-lt"/>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423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&amp;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Both the Phase 1 and Rediscovery are awaiting dates for identified inbound dependencies from other work streams (namely SharePoint not expected until 15</a:t>
                      </a:r>
                      <a:r>
                        <a:rPr kumimoji="0" lang="en-US" sz="650" b="0" i="0" u="none" strike="noStrike" kern="1200" cap="none" normalizeH="0" baseline="30000" dirty="0" smtClean="0">
                          <a:ln>
                            <a:noFill/>
                          </a:ln>
                          <a:solidFill>
                            <a:schemeClr val="bg2">
                              <a:lumMod val="75000"/>
                            </a:schemeClr>
                          </a:solidFill>
                          <a:effectLst/>
                          <a:latin typeface="EYInterstate Light" pitchFamily="2" charset="0"/>
                          <a:ea typeface="+mn-ea"/>
                          <a:cs typeface="+mn-cs"/>
                        </a:rPr>
                        <a:t>th</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Mar) to finalize their plans.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Unified Communications</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Significant challenges experienced with business engagement on mail-integrated applications. Discovery effort being challenged by lack of clarity on engagement via IT Service Delivery leads and business confusion over multiple discovery efforts across several transformational programs.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Technology Foundation:</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M&amp;C have agreed not to role out to the 6078 workstations which already have Outlook installed. </a:t>
                      </a:r>
                      <a:r>
                        <a:rPr kumimoji="0" lang="en-US" sz="650" b="0" i="0" u="none" strike="noStrike" cap="none" normalizeH="0" baseline="0" dirty="0" smtClean="0">
                          <a:ln>
                            <a:noFill/>
                          </a:ln>
                          <a:solidFill>
                            <a:schemeClr val="bg2">
                              <a:lumMod val="75000"/>
                            </a:schemeClr>
                          </a:solidFill>
                          <a:effectLst/>
                          <a:latin typeface="EYInterstate Light" pitchFamily="2" charset="0"/>
                        </a:rPr>
                        <a:t>Approval received from key stakeholders to proceed to Full Outlook Deployment for remaining users.</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SharePoint:</a:t>
                      </a:r>
                      <a:r>
                        <a:rPr kumimoji="0" lang="en-US" sz="650" b="0" i="0" u="none" strike="noStrike" cap="none" normalizeH="0" baseline="0" dirty="0" smtClean="0">
                          <a:ln>
                            <a:noFill/>
                          </a:ln>
                          <a:solidFill>
                            <a:schemeClr val="bg2">
                              <a:lumMod val="75000"/>
                            </a:schemeClr>
                          </a:solidFill>
                          <a:effectLst/>
                          <a:latin typeface="EYInterstate Light" pitchFamily="2" charset="0"/>
                        </a:rPr>
                        <a:t>  Project replanning in progress. Testing has started on Communities.  Issues are still holding up the People testing. ECMA is RED as the current Blueprint work has not been integrated with the existing plan.</a:t>
                      </a:r>
                      <a:endPar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Continuing to work on the creation/implementation of the comms strategy.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Learning lead for Lync &amp; Outlook and SharePoint not recruited, so limited activity beyond initial preparation, planning and learning inventory creation.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IT Transition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Developing transition plans with each workstream based on Transition methodology. Deployment of the dormant Lync client has reached full saturation.  Outlook client to start by mid March 2012.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r h="122306">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CA" sz="700" b="1" i="0" u="none" strike="noStrike" cap="none" normalizeH="0" baseline="0" dirty="0" smtClean="0">
                          <a:ln>
                            <a:noFill/>
                          </a:ln>
                          <a:solidFill>
                            <a:schemeClr val="tx1"/>
                          </a:solidFill>
                          <a:effectLst/>
                          <a:latin typeface="EYInterstate" pitchFamily="2" charset="0"/>
                        </a:rPr>
                        <a:t>B.  KEY ACCOMPLISHMENTS THIS PERIOD</a:t>
                      </a:r>
                      <a:endParaRPr kumimoji="0" lang="en-CA" sz="700" b="1" i="0" u="none" strike="noStrike" cap="none" normalizeH="0" baseline="0" dirty="0">
                        <a:ln>
                          <a:noFill/>
                        </a:ln>
                        <a:solidFill>
                          <a:schemeClr val="tx1"/>
                        </a:solidFill>
                        <a:effectLst/>
                        <a:latin typeface="EYInterstate"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25691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Application &amp; Data Migration:</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Requirements replan completed based on CR65. First engagement with SharePoint leads held to define scope of their Program vs. A&amp;DM.</a:t>
                      </a:r>
                      <a:endPar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Unified Communications</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Lync Configuration - </a:t>
                      </a:r>
                      <a:r>
                        <a:rPr kumimoji="0" lang="en-US"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Confirmation that Q&amp;RM request to store external chats and archiving no longer required. Lync Devices - </a:t>
                      </a:r>
                      <a:r>
                        <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rPr>
                        <a:t>Device evaluations are complete.</a:t>
                      </a:r>
                    </a:p>
                    <a:p>
                      <a:pPr marL="85725" marR="0" lvl="0" indent="-85725" algn="l" defTabSz="947738" rtl="0" eaLnBrk="0" fontAlgn="base" latinLnBrk="0" hangingPunct="0">
                        <a:lnSpc>
                          <a:spcPct val="100000"/>
                        </a:lnSpc>
                        <a:spcBef>
                          <a:spcPct val="0"/>
                        </a:spcBef>
                        <a:spcAft>
                          <a:spcPct val="10000"/>
                        </a:spcAft>
                        <a:buClrTx/>
                        <a:buSzTx/>
                        <a:buFont typeface="Arial" pitchFamily="34" charset="0"/>
                        <a:buChar char="•"/>
                        <a:tabLst/>
                        <a:defRPr/>
                      </a:pPr>
                      <a:r>
                        <a:rPr kumimoji="0" lang="en-US" sz="650" b="0" i="0" u="sng" strike="noStrike" cap="none" normalizeH="0" baseline="0" dirty="0" smtClean="0">
                          <a:ln>
                            <a:noFill/>
                          </a:ln>
                          <a:solidFill>
                            <a:schemeClr val="bg2">
                              <a:lumMod val="75000"/>
                            </a:schemeClr>
                          </a:solidFill>
                          <a:effectLst/>
                          <a:latin typeface="EYInterstate Light" pitchFamily="2" charset="0"/>
                        </a:rPr>
                        <a:t>Technology Foundation: </a:t>
                      </a:r>
                      <a:r>
                        <a:rPr kumimoji="0" lang="en-US" sz="650" b="0" i="0" u="none" strike="noStrike" cap="none" normalizeH="0" baseline="0" dirty="0" smtClean="0">
                          <a:ln>
                            <a:noFill/>
                          </a:ln>
                          <a:solidFill>
                            <a:schemeClr val="bg2">
                              <a:lumMod val="75000"/>
                            </a:schemeClr>
                          </a:solidFill>
                          <a:effectLst/>
                          <a:latin typeface="EYInterstate Light" pitchFamily="2" charset="0"/>
                        </a:rPr>
                        <a:t> </a:t>
                      </a:r>
                      <a:r>
                        <a:rPr kumimoji="0" lang="en-GB" sz="650" b="0" i="0" u="none" strike="noStrike" cap="none" normalizeH="0" baseline="0" dirty="0" smtClean="0">
                          <a:ln>
                            <a:noFill/>
                          </a:ln>
                          <a:solidFill>
                            <a:schemeClr val="bg2">
                              <a:lumMod val="75000"/>
                            </a:schemeClr>
                          </a:solidFill>
                          <a:effectLst/>
                          <a:latin typeface="EYInterstate Light" pitchFamily="2" charset="0"/>
                        </a:rPr>
                        <a:t>Lync saturation of 97% and a EY Operational Standard of 90% for completion, Outlook </a:t>
                      </a:r>
                      <a:r>
                        <a:rPr kumimoji="0" lang="en-US" sz="650" b="0" i="0" u="none" strike="noStrike" cap="none" normalizeH="0" baseline="0" dirty="0" smtClean="0">
                          <a:ln>
                            <a:noFill/>
                          </a:ln>
                          <a:solidFill>
                            <a:schemeClr val="bg2">
                              <a:lumMod val="75000"/>
                            </a:schemeClr>
                          </a:solidFill>
                          <a:effectLst/>
                          <a:latin typeface="EYInterstate Light" pitchFamily="2" charset="0"/>
                        </a:rPr>
                        <a:t>Transition test 2 was successful and has gained approval from key stakeholders to proceed to full deployment.</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SharePoint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POC Development continues  (DTU), Development continues (Search), People, Communities bug fixes.  Communities, Working O365  major issues (i.e. Meta Data Management &amp; People Profile replication).</a:t>
                      </a: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Change Management:</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Calls held to review People and Lync benefits, Call held to review potential benefits from social collaboration tools, Commenced refresh of M&amp;C financial benefit case ahead of meeting w/c 12/03/12</a:t>
                      </a:r>
                      <a:endParaRPr kumimoji="0" lang="en-GB" sz="650" b="0" i="0" u="none" strike="noStrike" kern="1200" cap="none" normalizeH="0" baseline="0" noProof="0" dirty="0" smtClean="0">
                        <a:ln>
                          <a:noFill/>
                        </a:ln>
                        <a:solidFill>
                          <a:schemeClr val="bg2">
                            <a:lumMod val="75000"/>
                          </a:schemeClr>
                        </a:solidFill>
                        <a:effectLst/>
                        <a:latin typeface="EYInterstate Light" pitchFamily="2" charset="0"/>
                        <a:ea typeface="+mn-ea"/>
                        <a:cs typeface="+mn-cs"/>
                      </a:endParaRPr>
                    </a:p>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I</a:t>
                      </a:r>
                      <a:r>
                        <a:rPr kumimoji="0" lang="en-GB" sz="650" b="0" i="0" u="sng" strike="noStrike" kern="1200" cap="none" normalizeH="0" baseline="0" dirty="0" smtClean="0">
                          <a:ln>
                            <a:noFill/>
                          </a:ln>
                          <a:solidFill>
                            <a:schemeClr val="bg2">
                              <a:lumMod val="75000"/>
                            </a:schemeClr>
                          </a:solidFill>
                          <a:effectLst/>
                          <a:latin typeface="EYInterstate Light" pitchFamily="2" charset="0"/>
                          <a:ea typeface="+mn-ea"/>
                          <a:cs typeface="+mn-cs"/>
                        </a:rPr>
                        <a:t>T Transition Management:</a:t>
                      </a:r>
                      <a:r>
                        <a:rPr kumimoji="0" lang="en-GB"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 Continuing to refocus and reprioritize Transition structure for M&amp;C while working with Nick Coburn. </a:t>
                      </a:r>
                      <a:endParaRPr kumimoji="0" lang="en-GB" sz="650" b="0" i="0" u="none" strike="noStrike" kern="1200" cap="none" normalizeH="0" baseline="0" noProof="0" dirty="0">
                        <a:ln>
                          <a:noFill/>
                        </a:ln>
                        <a:solidFill>
                          <a:schemeClr val="bg2">
                            <a:lumMod val="75000"/>
                          </a:schemeClr>
                        </a:solidFill>
                        <a:effectLst/>
                        <a:latin typeface="EYInterstate Light" pitchFamily="2" charset="0"/>
                        <a:ea typeface="+mn-ea"/>
                        <a:cs typeface="+mn-cs"/>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20" name="Table 19"/>
          <p:cNvGraphicFramePr>
            <a:graphicFrameLocks noGrp="1"/>
          </p:cNvGraphicFramePr>
          <p:nvPr/>
        </p:nvGraphicFramePr>
        <p:xfrm>
          <a:off x="4752532" y="609600"/>
          <a:ext cx="4239069" cy="1665006"/>
        </p:xfrm>
        <a:graphic>
          <a:graphicData uri="http://schemas.openxmlformats.org/drawingml/2006/table">
            <a:tbl>
              <a:tblPr/>
              <a:tblGrid>
                <a:gridCol w="1433575"/>
                <a:gridCol w="699784"/>
                <a:gridCol w="839144"/>
                <a:gridCol w="574047"/>
                <a:gridCol w="692519"/>
              </a:tblGrid>
              <a:tr h="123744">
                <a:tc gridSpan="5">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a:ln>
                            <a:noFill/>
                          </a:ln>
                          <a:solidFill>
                            <a:schemeClr val="tx1"/>
                          </a:solidFill>
                          <a:effectLst/>
                          <a:latin typeface="EYInterstate" pitchFamily="2" charset="0"/>
                          <a:ea typeface="+mn-ea"/>
                          <a:cs typeface="+mn-cs"/>
                        </a:rPr>
                        <a:t>E.  MILESTONES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R w="6350" cap="flat" cmpd="sng" algn="ctr">
                      <a:solidFill>
                        <a:schemeClr val="accent2"/>
                      </a:solidFill>
                      <a:prstDash val="solid"/>
                      <a:round/>
                      <a:headEnd type="none" w="med" len="med"/>
                      <a:tailEnd type="none" w="med" len="med"/>
                    </a:lnR>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1" i="0" u="none" strike="noStrike" cap="none" normalizeH="0" baseline="0" dirty="0">
                        <a:ln>
                          <a:noFill/>
                        </a:ln>
                        <a:solidFill>
                          <a:schemeClr val="bg2"/>
                        </a:solidFill>
                        <a:effectLst/>
                        <a:latin typeface="EYInterstate Light" pitchFamily="2" charset="0"/>
                      </a:endParaRP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accent2"/>
                    </a:solidFill>
                  </a:tcPr>
                </a:tc>
              </a:tr>
              <a:tr h="16329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Individual Milestone Name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Planned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a:ln>
                            <a:noFill/>
                          </a:ln>
                          <a:solidFill>
                            <a:schemeClr val="bg2"/>
                          </a:solidFill>
                          <a:effectLst/>
                          <a:latin typeface="EYInterstate Light" pitchFamily="2" charset="0"/>
                        </a:rPr>
                        <a:t>Projected Date</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Last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Tx/>
                        <a:buNone/>
                        <a:tabLst/>
                      </a:pPr>
                      <a:r>
                        <a:rPr kumimoji="0" lang="en-US" sz="700" b="1" i="0" u="none" strike="noStrike" cap="none" normalizeH="0" baseline="0" dirty="0">
                          <a:ln>
                            <a:noFill/>
                          </a:ln>
                          <a:solidFill>
                            <a:schemeClr val="bg2"/>
                          </a:solidFill>
                          <a:effectLst/>
                          <a:latin typeface="EYInterstate Light" pitchFamily="2" charset="0"/>
                        </a:rPr>
                        <a:t>This Period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159857">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Sign off Messaging  Design</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Replanning</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Replanning</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161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IT Transition Plan for SharePoint, Lync &amp; Messaging</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1 Feb 2012</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16 Mar 2012</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161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ADM - Rediscovery Wave 1 and Wave 2 Report complete</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3 Feb 2012</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 Mar 2012 (awaiting input from IT SD)</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RED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r h="21614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Overall M&amp;C Transition Plan</a:t>
                      </a: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rPr>
                        <a:t>17 </a:t>
                      </a: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Feb 2012</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16 Mar 2012</a:t>
                      </a:r>
                      <a:endParaRPr kumimoji="0" lang="en-US" sz="650" b="0" i="0" u="none" strike="noStrike" kern="1200" cap="none" normalizeH="0" baseline="0" dirty="0">
                        <a:ln>
                          <a:noFill/>
                        </a:ln>
                        <a:solidFill>
                          <a:schemeClr val="bg2">
                            <a:lumMod val="75000"/>
                          </a:schemeClr>
                        </a:solidFill>
                        <a:effectLst/>
                        <a:latin typeface="EYInterstate Light" pitchFamily="2" charset="0"/>
                        <a:ea typeface="+mn-ea"/>
                        <a:cs typeface="+mn-cs"/>
                      </a:endParaRPr>
                    </a:p>
                  </a:txBody>
                  <a:tcPr marL="37059" marR="37059"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216144">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Char char="•"/>
                        <a:tabLst/>
                      </a:pPr>
                      <a:r>
                        <a:rPr kumimoji="0" lang="en-US" sz="650" b="0" i="0" u="none" strike="noStrike" cap="none" normalizeH="0" baseline="0" dirty="0" smtClean="0">
                          <a:ln>
                            <a:noFill/>
                          </a:ln>
                          <a:solidFill>
                            <a:schemeClr val="bg2">
                              <a:lumMod val="75000"/>
                            </a:schemeClr>
                          </a:solidFill>
                          <a:effectLst/>
                          <a:latin typeface="EYInterstate Light" pitchFamily="2" charset="0"/>
                        </a:rPr>
                        <a:t>SP - O365 Replan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20 February</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cap="none" normalizeH="0" baseline="0" dirty="0" smtClean="0">
                          <a:ln>
                            <a:noFill/>
                          </a:ln>
                          <a:solidFill>
                            <a:schemeClr val="bg2">
                              <a:lumMod val="75000"/>
                            </a:schemeClr>
                          </a:solidFill>
                          <a:effectLst/>
                          <a:latin typeface="EYInterstate Light" pitchFamily="2" charset="0"/>
                        </a:rPr>
                        <a:t>23 March</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AMBER</a:t>
                      </a:r>
                      <a:endParaRPr kumimoji="0" lang="en-US" sz="650" b="0" i="0" u="none" strike="noStrike" cap="none" normalizeH="0" baseline="0" dirty="0">
                        <a:ln>
                          <a:noFill/>
                        </a:ln>
                        <a:solidFill>
                          <a:schemeClr val="bg2">
                            <a:lumMod val="75000"/>
                          </a:schemeClr>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C000"/>
                    </a:solidFill>
                  </a:tcPr>
                </a:tc>
              </a:tr>
              <a:tr h="76530">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SharePoint QA testing (any iteration)</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16 Dec 2012</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defRPr/>
                      </a:pPr>
                      <a:r>
                        <a:rPr kumimoji="0" lang="en-US" sz="650" b="0" i="0" u="none" strike="noStrike" kern="1200" cap="none" normalizeH="0" baseline="0" dirty="0" smtClean="0">
                          <a:ln>
                            <a:noFill/>
                          </a:ln>
                          <a:solidFill>
                            <a:schemeClr val="bg2">
                              <a:lumMod val="75000"/>
                            </a:schemeClr>
                          </a:solidFill>
                          <a:effectLst/>
                          <a:latin typeface="EYInterstate Light" pitchFamily="2" charset="0"/>
                          <a:ea typeface="+mn-ea"/>
                          <a:cs typeface="+mn-cs"/>
                        </a:rPr>
                        <a:t>TBD</a:t>
                      </a: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c>
                  <a:txBody>
                    <a:bodyPr/>
                    <a:lstStyle/>
                    <a:p>
                      <a:pPr marL="85725" marR="0" lvl="0" indent="-85725" algn="ctr" defTabSz="947738" rtl="0" eaLnBrk="0" fontAlgn="base" latinLnBrk="0" hangingPunct="0">
                        <a:lnSpc>
                          <a:spcPct val="100000"/>
                        </a:lnSpc>
                        <a:spcBef>
                          <a:spcPct val="0"/>
                        </a:spcBef>
                        <a:spcAft>
                          <a:spcPct val="10000"/>
                        </a:spcAft>
                        <a:buClrTx/>
                        <a:buSzTx/>
                        <a:buFontTx/>
                        <a:buNone/>
                        <a:tabLst/>
                      </a:pPr>
                      <a:r>
                        <a:rPr kumimoji="0" lang="en-US" sz="650" b="0" i="0" u="none" strike="noStrike" cap="none" normalizeH="0" baseline="0" dirty="0" smtClean="0">
                          <a:ln>
                            <a:noFill/>
                          </a:ln>
                          <a:solidFill>
                            <a:schemeClr val="bg2">
                              <a:lumMod val="75000"/>
                            </a:schemeClr>
                          </a:solidFill>
                          <a:effectLst/>
                          <a:latin typeface="EYInterstate Light" pitchFamily="2" charset="0"/>
                        </a:rPr>
                        <a:t>RED</a:t>
                      </a: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rgbClr val="FF0000"/>
                    </a:solid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30_EYCspecial">
  <a:themeElements>
    <a:clrScheme name="">
      <a:dk1>
        <a:srgbClr val="000000"/>
      </a:dk1>
      <a:lt1>
        <a:srgbClr val="FFFFFF"/>
      </a:lt1>
      <a:dk2>
        <a:srgbClr val="808080"/>
      </a:dk2>
      <a:lt2>
        <a:srgbClr val="646464"/>
      </a:lt2>
      <a:accent1>
        <a:srgbClr val="A6A6A6"/>
      </a:accent1>
      <a:accent2>
        <a:srgbClr val="CCCCCC"/>
      </a:accent2>
      <a:accent3>
        <a:srgbClr val="FFFFFF"/>
      </a:accent3>
      <a:accent4>
        <a:srgbClr val="000000"/>
      </a:accent4>
      <a:accent5>
        <a:srgbClr val="D0D0D0"/>
      </a:accent5>
      <a:accent6>
        <a:srgbClr val="B9B9B9"/>
      </a:accent6>
      <a:hlink>
        <a:srgbClr val="F2F2F2"/>
      </a:hlink>
      <a:folHlink>
        <a:srgbClr val="FFD200"/>
      </a:folHlink>
    </a:clrScheme>
    <a:fontScheme name="EYCspecial">
      <a:majorFont>
        <a:latin typeface="EYInterstate"/>
        <a:ea typeface=""/>
        <a:cs typeface=""/>
      </a:majorFont>
      <a:minorFont>
        <a:latin typeface="EYInterstat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593725"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Times New Roman" pitchFamily="18" charset="0"/>
          </a:defRPr>
        </a:defPPr>
      </a:lstStyle>
    </a:lnDef>
    <a:txDef>
      <a:spPr bwMode="gray"/>
      <a:bodyPr/>
      <a:lstStyle>
        <a:defPPr marL="0" marR="0" indent="0" algn="l" defTabSz="955675" rtl="0" eaLnBrk="0" fontAlgn="base" latinLnBrk="0" hangingPunct="0">
          <a:lnSpc>
            <a:spcPct val="100000"/>
          </a:lnSpc>
          <a:spcBef>
            <a:spcPct val="0"/>
          </a:spcBef>
          <a:spcAft>
            <a:spcPts val="0"/>
          </a:spcAft>
          <a:buClrTx/>
          <a:buSzTx/>
          <a:buFontTx/>
          <a:buNone/>
          <a:tabLst/>
          <a:defRPr kumimoji="0" sz="1600" b="1" i="0" u="none" strike="noStrike" kern="0" cap="none" spc="0" normalizeH="0" baseline="0" noProof="0" dirty="0" smtClean="0">
            <a:ln>
              <a:noFill/>
            </a:ln>
            <a:solidFill>
              <a:srgbClr val="646464"/>
            </a:solidFill>
            <a:effectLst/>
            <a:uLnTx/>
            <a:uFillTx/>
            <a:latin typeface="+mj-lt"/>
            <a:ea typeface="+mj-ea"/>
            <a:cs typeface="+mj-cs"/>
          </a:defRPr>
        </a:defPPr>
      </a:lstStyle>
    </a:txDef>
  </a:objectDefaults>
  <a:extraClrSchemeLst>
    <a:extraClrScheme>
      <a:clrScheme name="EYCspecial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YCspecia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YCspecial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YCspecial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YCspecial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YCspecial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YCspecial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2.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MSIBM-2-6928</_dlc_DocId>
    <_dlc_DocIdUrl xmlns="0cbe1240-e4fe-486d-8edc-2712abb96eb4">
      <Url>http://sp.ey.net/msibm/_layouts/DocIdRedir.aspx?ID=MSIBM-2-6928</Url>
      <Description>MSIBM-2-6928</Description>
    </_dlc_DocIdUrl>
  </documentManagement>
</p:propertie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8369B0-ED0F-45E5-BF8C-5F5FAC001831}">
  <ds:schemaRefs>
    <ds:schemaRef ds:uri="http://schemas.microsoft.com/sharepoint/events"/>
  </ds:schemaRefs>
</ds:datastoreItem>
</file>

<file path=customXml/itemProps2.xml><?xml version="1.0" encoding="utf-8"?>
<ds:datastoreItem xmlns:ds="http://schemas.openxmlformats.org/officeDocument/2006/customXml" ds:itemID="{036B6CE3-6BA7-4621-9508-2E6CFA023C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A8ED6B-2F8F-4A56-97C8-D252EEEF3408}">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customXml/itemProps4.xml><?xml version="1.0" encoding="utf-8"?>
<ds:datastoreItem xmlns:ds="http://schemas.openxmlformats.org/officeDocument/2006/customXml" ds:itemID="{3694B8EC-3BAD-46E7-A69E-4F647FDB826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TotalTime>
  <Words>1296</Words>
  <Application>Microsoft Office PowerPoint</Application>
  <PresentationFormat>On-screen Show (4:3)</PresentationFormat>
  <Paragraphs>109</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30_EYCspecial</vt:lpstr>
      <vt:lpstr>Slide 1</vt:lpstr>
    </vt:vector>
  </TitlesOfParts>
  <Company>Ernst &amp; Young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Gail M. Givens</dc:creator>
  <cp:lastModifiedBy>Wale Agbaje</cp:lastModifiedBy>
  <cp:revision>4</cp:revision>
  <dcterms:created xsi:type="dcterms:W3CDTF">2012-03-12T13:39:55Z</dcterms:created>
  <dcterms:modified xsi:type="dcterms:W3CDTF">2012-03-15T15:39:57Z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8c43324c-d2d7-4b05-b8e2-b4263d8f525d</vt:lpwstr>
  </property>
</Properties>
</file>