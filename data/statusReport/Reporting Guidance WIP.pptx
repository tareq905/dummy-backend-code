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9" r:id="rId5"/>
  </p:sldMasterIdLst>
  <p:notesMasterIdLst>
    <p:notesMasterId r:id="rId13"/>
  </p:notesMasterIdLst>
  <p:handoutMasterIdLst>
    <p:handoutMasterId r:id="rId14"/>
  </p:handoutMasterIdLst>
  <p:sldIdLst>
    <p:sldId id="256" r:id="rId6"/>
    <p:sldId id="300" r:id="rId7"/>
    <p:sldId id="298" r:id="rId8"/>
    <p:sldId id="299" r:id="rId9"/>
    <p:sldId id="287" r:id="rId10"/>
    <p:sldId id="294" r:id="rId11"/>
    <p:sldId id="293" r:id="rId12"/>
  </p:sldIdLst>
  <p:sldSz cx="9144000" cy="6858000" type="screen4x3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5CB9E"/>
    <a:srgbClr val="000000"/>
    <a:srgbClr val="F04C3E"/>
    <a:srgbClr val="2C973E"/>
    <a:srgbClr val="91278F"/>
    <a:srgbClr val="C893C7"/>
    <a:srgbClr val="0081AE"/>
    <a:srgbClr val="7FC0D6"/>
    <a:srgbClr val="FFE8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18" autoAdjust="0"/>
    <p:restoredTop sz="94660" autoAdjust="0"/>
  </p:normalViewPr>
  <p:slideViewPr>
    <p:cSldViewPr showGuides="1">
      <p:cViewPr>
        <p:scale>
          <a:sx n="80" d="100"/>
          <a:sy n="80" d="100"/>
        </p:scale>
        <p:origin x="-365" y="-245"/>
      </p:cViewPr>
      <p:guideLst>
        <p:guide orient="horz" pos="2160"/>
        <p:guide orient="horz" pos="663"/>
        <p:guide orient="horz" pos="890"/>
        <p:guide orient="horz" pos="165"/>
        <p:guide orient="horz" pos="3726"/>
        <p:guide orient="horz" pos="3929"/>
        <p:guide pos="295"/>
        <p:guide pos="5465"/>
        <p:guide pos="2881"/>
        <p:guide pos="2948"/>
        <p:guide pos="28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>
        <p:scale>
          <a:sx n="50" d="100"/>
          <a:sy n="50" d="100"/>
        </p:scale>
        <p:origin x="-2534" y="-2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8C2A9-352A-405C-B096-06C098ED1DF8}" type="datetime4">
              <a:rPr lang="en-GB" smtClean="0"/>
              <a:pPr/>
              <a:t>25 July 2013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4DC869-C2E1-44ED-9DB6-69CB5C596C3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743272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8580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463675" y="8782194"/>
            <a:ext cx="1501775" cy="180109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1000"/>
            </a:lvl1pPr>
          </a:lstStyle>
          <a:p>
            <a:fld id="{9CAA74A6-10E5-41A7-8B8F-A766F5656366}" type="datetime4">
              <a:rPr lang="en-GB" smtClean="0"/>
              <a:pPr/>
              <a:t>25 July 2013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046412" y="8782194"/>
            <a:ext cx="3125788" cy="180109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10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84212" y="8782194"/>
            <a:ext cx="687388" cy="180109"/>
          </a:xfrm>
          <a:prstGeom prst="rect">
            <a:avLst/>
          </a:prstGeom>
        </p:spPr>
        <p:txBody>
          <a:bodyPr vert="horz" wrap="none" lIns="0" tIns="0" rIns="0" bIns="0" rtlCol="0" anchor="ctr" anchorCtr="0"/>
          <a:lstStyle>
            <a:lvl1pPr algn="l">
              <a:defRPr sz="1000"/>
            </a:lvl1pPr>
          </a:lstStyle>
          <a:p>
            <a:r>
              <a:rPr lang="en-GB" dirty="0" smtClean="0"/>
              <a:t>Page </a:t>
            </a:r>
            <a:fld id="{8E4BB8F6-032B-4FD4-9A99-EF51C8EFB72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6314204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spcAft>
        <a:spcPts val="300"/>
      </a:spcAft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spcAft>
        <a:spcPts val="300"/>
      </a:spcAft>
      <a:defRPr sz="1000" b="1" kern="1200">
        <a:solidFill>
          <a:schemeClr val="accent1"/>
        </a:solidFill>
        <a:latin typeface="+mn-lt"/>
        <a:ea typeface="+mn-ea"/>
        <a:cs typeface="+mn-cs"/>
      </a:defRPr>
    </a:lvl2pPr>
    <a:lvl3pPr marL="180975" indent="-180975" algn="l" defTabSz="914400" rtl="0" eaLnBrk="1" latinLnBrk="0" hangingPunct="1">
      <a:spcAft>
        <a:spcPts val="300"/>
      </a:spcAft>
      <a:buSzPct val="75000"/>
      <a:buFont typeface="Arial" pitchFamily="34" charset="0"/>
      <a:buChar char="►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352425" indent="-171450" algn="l" defTabSz="914400" rtl="0" eaLnBrk="1" latinLnBrk="0" hangingPunct="1">
      <a:spcAft>
        <a:spcPts val="300"/>
      </a:spcAft>
      <a:buSzPct val="75000"/>
      <a:buFont typeface="Arial" pitchFamily="34" charset="0"/>
      <a:buChar char="►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542925" indent="-180975" algn="l" defTabSz="914400" rtl="0" eaLnBrk="1" latinLnBrk="0" hangingPunct="1">
      <a:spcAft>
        <a:spcPts val="300"/>
      </a:spcAft>
      <a:buSzPct val="75000"/>
      <a:buFont typeface="Arial" pitchFamily="34" charset="0"/>
      <a:buChar char="►"/>
      <a:tabLst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7396" y="598866"/>
            <a:ext cx="6387973" cy="808038"/>
          </a:xfrm>
        </p:spPr>
        <p:txBody>
          <a:bodyPr anchor="b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77396" y="1457705"/>
            <a:ext cx="6387973" cy="579438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GB" dirty="0"/>
          </a:p>
        </p:txBody>
      </p:sp>
      <p:sp>
        <p:nvSpPr>
          <p:cNvPr id="48" name="Text Placeholder 47"/>
          <p:cNvSpPr>
            <a:spLocks noGrp="1"/>
          </p:cNvSpPr>
          <p:nvPr>
            <p:ph type="body" sz="quarter" idx="10"/>
          </p:nvPr>
        </p:nvSpPr>
        <p:spPr>
          <a:xfrm>
            <a:off x="2277398" y="2085484"/>
            <a:ext cx="2800282" cy="315912"/>
          </a:xfrm>
        </p:spPr>
        <p:txBody>
          <a:bodyPr wrap="none" anchor="ctr" anchorCtr="0"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5" name="AutoShape 89"/>
          <p:cNvSpPr>
            <a:spLocks noChangeAspect="1" noChangeArrowheads="1"/>
          </p:cNvSpPr>
          <p:nvPr userDrawn="1"/>
        </p:nvSpPr>
        <p:spPr bwMode="gray">
          <a:xfrm rot="5400000">
            <a:off x="478759" y="3924773"/>
            <a:ext cx="1314453" cy="2286258"/>
          </a:xfrm>
          <a:custGeom>
            <a:avLst/>
            <a:gdLst>
              <a:gd name="connsiteX0" fmla="*/ 0 w 3313112"/>
              <a:gd name="connsiteY0" fmla="*/ 2279114 h 2279114"/>
              <a:gd name="connsiteX1" fmla="*/ 2509749 w 3313112"/>
              <a:gd name="connsiteY1" fmla="*/ 0 h 2279114"/>
              <a:gd name="connsiteX2" fmla="*/ 3313112 w 3313112"/>
              <a:gd name="connsiteY2" fmla="*/ 2279114 h 2279114"/>
              <a:gd name="connsiteX3" fmla="*/ 0 w 3313112"/>
              <a:gd name="connsiteY3" fmla="*/ 2279114 h 2279114"/>
              <a:gd name="connsiteX0" fmla="*/ 0 w 919162"/>
              <a:gd name="connsiteY0" fmla="*/ 2209264 h 2279114"/>
              <a:gd name="connsiteX1" fmla="*/ 115799 w 919162"/>
              <a:gd name="connsiteY1" fmla="*/ 0 h 2279114"/>
              <a:gd name="connsiteX2" fmla="*/ 919162 w 919162"/>
              <a:gd name="connsiteY2" fmla="*/ 2279114 h 2279114"/>
              <a:gd name="connsiteX3" fmla="*/ 0 w 919162"/>
              <a:gd name="connsiteY3" fmla="*/ 2209264 h 2279114"/>
              <a:gd name="connsiteX0" fmla="*/ 0 w 1283493"/>
              <a:gd name="connsiteY0" fmla="*/ 2278320 h 2279114"/>
              <a:gd name="connsiteX1" fmla="*/ 480130 w 1283493"/>
              <a:gd name="connsiteY1" fmla="*/ 0 h 2279114"/>
              <a:gd name="connsiteX2" fmla="*/ 1283493 w 1283493"/>
              <a:gd name="connsiteY2" fmla="*/ 2279114 h 2279114"/>
              <a:gd name="connsiteX3" fmla="*/ 0 w 1283493"/>
              <a:gd name="connsiteY3" fmla="*/ 2278320 h 2279114"/>
              <a:gd name="connsiteX0" fmla="*/ 0 w 1309690"/>
              <a:gd name="connsiteY0" fmla="*/ 2278320 h 2286258"/>
              <a:gd name="connsiteX1" fmla="*/ 480130 w 1309690"/>
              <a:gd name="connsiteY1" fmla="*/ 0 h 2286258"/>
              <a:gd name="connsiteX2" fmla="*/ 1309690 w 1309690"/>
              <a:gd name="connsiteY2" fmla="*/ 2286258 h 2286258"/>
              <a:gd name="connsiteX3" fmla="*/ 0 w 1309690"/>
              <a:gd name="connsiteY3" fmla="*/ 2278320 h 2286258"/>
              <a:gd name="connsiteX0" fmla="*/ 0 w 1312072"/>
              <a:gd name="connsiteY0" fmla="*/ 2280701 h 2286258"/>
              <a:gd name="connsiteX1" fmla="*/ 482512 w 1312072"/>
              <a:gd name="connsiteY1" fmla="*/ 0 h 2286258"/>
              <a:gd name="connsiteX2" fmla="*/ 1312072 w 1312072"/>
              <a:gd name="connsiteY2" fmla="*/ 2286258 h 2286258"/>
              <a:gd name="connsiteX3" fmla="*/ 0 w 1312072"/>
              <a:gd name="connsiteY3" fmla="*/ 2280701 h 2286258"/>
              <a:gd name="connsiteX0" fmla="*/ 0 w 1314453"/>
              <a:gd name="connsiteY0" fmla="*/ 2283082 h 2286258"/>
              <a:gd name="connsiteX1" fmla="*/ 484893 w 1314453"/>
              <a:gd name="connsiteY1" fmla="*/ 0 h 2286258"/>
              <a:gd name="connsiteX2" fmla="*/ 1314453 w 1314453"/>
              <a:gd name="connsiteY2" fmla="*/ 2286258 h 2286258"/>
              <a:gd name="connsiteX3" fmla="*/ 0 w 1314453"/>
              <a:gd name="connsiteY3" fmla="*/ 2283082 h 228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453" h="2286258">
                <a:moveTo>
                  <a:pt x="0" y="2283082"/>
                </a:moveTo>
                <a:lnTo>
                  <a:pt x="484893" y="0"/>
                </a:lnTo>
                <a:lnTo>
                  <a:pt x="1314453" y="2286258"/>
                </a:lnTo>
                <a:lnTo>
                  <a:pt x="0" y="2283082"/>
                </a:lnTo>
                <a:close/>
              </a:path>
            </a:pathLst>
          </a:custGeom>
          <a:blipFill dpi="0" rotWithShape="0">
            <a:blip r:embed="rId2" cstate="print"/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rot="10800000" vert="eaVert" wrap="none" lIns="0" tIns="0" rIns="0" bIns="0" anchor="ctr"/>
          <a:lstStyle/>
          <a:p>
            <a:endParaRPr lang="en-GB" noProof="0" dirty="0">
              <a:solidFill>
                <a:schemeClr val="tx1"/>
              </a:solidFill>
            </a:endParaRPr>
          </a:p>
        </p:txBody>
      </p:sp>
      <p:sp>
        <p:nvSpPr>
          <p:cNvPr id="46" name="Freeform 8"/>
          <p:cNvSpPr>
            <a:spLocks/>
          </p:cNvSpPr>
          <p:nvPr userDrawn="1"/>
        </p:nvSpPr>
        <p:spPr bwMode="gray">
          <a:xfrm>
            <a:off x="2279115" y="2403072"/>
            <a:ext cx="6864885" cy="2493085"/>
          </a:xfrm>
          <a:custGeom>
            <a:avLst/>
            <a:gdLst/>
            <a:ahLst/>
            <a:cxnLst>
              <a:cxn ang="0">
                <a:pos x="0" y="1852"/>
              </a:cxn>
              <a:cxn ang="0">
                <a:pos x="5081" y="0"/>
              </a:cxn>
              <a:cxn ang="0">
                <a:pos x="5081" y="968"/>
              </a:cxn>
              <a:cxn ang="0">
                <a:pos x="0" y="1852"/>
              </a:cxn>
            </a:cxnLst>
            <a:rect l="0" t="0" r="r" b="b"/>
            <a:pathLst>
              <a:path w="5081" h="1852">
                <a:moveTo>
                  <a:pt x="0" y="1852"/>
                </a:moveTo>
                <a:lnTo>
                  <a:pt x="5081" y="0"/>
                </a:lnTo>
                <a:lnTo>
                  <a:pt x="5081" y="968"/>
                </a:lnTo>
                <a:lnTo>
                  <a:pt x="0" y="185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074" name="Picture 2" descr="C:\Users\x81870\Desktop\EY_Logo2_grey_CMYK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300" y="5749263"/>
            <a:ext cx="982022" cy="74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6" t="2338" r="87690" b="86318"/>
          <a:stretch/>
        </p:blipFill>
        <p:spPr bwMode="auto">
          <a:xfrm>
            <a:off x="-2471365" y="1413570"/>
            <a:ext cx="2264229" cy="972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 userDrawn="1"/>
        </p:nvSpPr>
        <p:spPr>
          <a:xfrm>
            <a:off x="-3348880" y="44624"/>
            <a:ext cx="3181771" cy="1224000"/>
          </a:xfrm>
          <a:prstGeom prst="rect">
            <a:avLst/>
          </a:prstGeom>
          <a:solidFill>
            <a:srgbClr val="FFE87F"/>
          </a:solidFill>
        </p:spPr>
        <p:txBody>
          <a:bodyPr wrap="square" lIns="36000" tIns="36576" rIns="36000" bIns="36000" rtlCol="0"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buClr>
                <a:schemeClr val="accent2"/>
              </a:buClr>
              <a:buSzPct val="70000"/>
            </a:pPr>
            <a:r>
              <a:rPr lang="en-US" sz="1200" b="1" dirty="0" smtClean="0">
                <a:solidFill>
                  <a:schemeClr val="accent1"/>
                </a:solidFill>
              </a:rPr>
              <a:t>About color themes</a:t>
            </a:r>
          </a:p>
          <a:p>
            <a:pPr marL="347663">
              <a:lnSpc>
                <a:spcPct val="100000"/>
              </a:lnSpc>
              <a:spcAft>
                <a:spcPts val="200"/>
              </a:spcAft>
              <a:buSzPct val="100000"/>
            </a:pPr>
            <a:r>
              <a:rPr lang="en-US" sz="1000" b="1" dirty="0" smtClean="0">
                <a:solidFill>
                  <a:schemeClr val="accent1"/>
                </a:solidFill>
              </a:rPr>
              <a:t>Choose the appropriate design theme</a:t>
            </a:r>
            <a:r>
              <a:rPr lang="en-US" sz="1000" b="1" baseline="0" dirty="0" smtClean="0">
                <a:solidFill>
                  <a:schemeClr val="accent1"/>
                </a:solidFill>
              </a:rPr>
              <a:t> </a:t>
            </a:r>
            <a:r>
              <a:rPr lang="en-US" sz="1000" b="1" dirty="0" smtClean="0">
                <a:solidFill>
                  <a:schemeClr val="accent1"/>
                </a:solidFill>
              </a:rPr>
              <a:t>for your presentation. </a:t>
            </a:r>
            <a:r>
              <a:rPr lang="en-US" sz="1000" dirty="0" smtClean="0">
                <a:solidFill>
                  <a:schemeClr val="accent1"/>
                </a:solidFill>
              </a:rPr>
              <a:t>The first two options on</a:t>
            </a:r>
            <a:r>
              <a:rPr lang="en-US" sz="1000" baseline="0" dirty="0" smtClean="0">
                <a:solidFill>
                  <a:schemeClr val="accent1"/>
                </a:solidFill>
              </a:rPr>
              <a:t> </a:t>
            </a:r>
            <a:r>
              <a:rPr lang="en-US" sz="1000" dirty="0" smtClean="0">
                <a:solidFill>
                  <a:schemeClr val="accent1"/>
                </a:solidFill>
              </a:rPr>
              <a:t>the design tab are correct EY themes, these two are the only ones that should</a:t>
            </a:r>
            <a:r>
              <a:rPr lang="en-US" sz="1000" baseline="0" dirty="0" smtClean="0">
                <a:solidFill>
                  <a:schemeClr val="accent1"/>
                </a:solidFill>
              </a:rPr>
              <a:t> be used</a:t>
            </a:r>
            <a:r>
              <a:rPr lang="en-US" sz="1000" dirty="0" smtClean="0">
                <a:solidFill>
                  <a:schemeClr val="accent1"/>
                </a:solidFill>
              </a:rPr>
              <a:t>. (1) dark backgrounds for onscreen; (2) light</a:t>
            </a:r>
            <a:r>
              <a:rPr lang="en-US" sz="1000" baseline="0" dirty="0" smtClean="0">
                <a:solidFill>
                  <a:schemeClr val="accent1"/>
                </a:solidFill>
              </a:rPr>
              <a:t> </a:t>
            </a:r>
            <a:r>
              <a:rPr lang="en-US" sz="1000" dirty="0" smtClean="0">
                <a:solidFill>
                  <a:schemeClr val="accent1"/>
                </a:solidFill>
              </a:rPr>
              <a:t>backgrounds for handouts.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-2484784" y="1648346"/>
            <a:ext cx="1525587" cy="684076"/>
          </a:xfrm>
          <a:prstGeom prst="rect">
            <a:avLst/>
          </a:prstGeom>
          <a:noFill/>
          <a:ln w="25400">
            <a:solidFill>
              <a:srgbClr val="F04C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 userDrawn="1"/>
        </p:nvSpPr>
        <p:spPr>
          <a:xfrm>
            <a:off x="-2556792" y="1540334"/>
            <a:ext cx="237744" cy="237744"/>
          </a:xfrm>
          <a:prstGeom prst="ellipse">
            <a:avLst/>
          </a:prstGeom>
          <a:solidFill>
            <a:srgbClr val="F04C3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1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23" name="Oval 22"/>
          <p:cNvSpPr/>
          <p:nvPr userDrawn="1"/>
        </p:nvSpPr>
        <p:spPr>
          <a:xfrm>
            <a:off x="-3298592" y="307994"/>
            <a:ext cx="237744" cy="237744"/>
          </a:xfrm>
          <a:prstGeom prst="ellipse">
            <a:avLst/>
          </a:prstGeom>
          <a:solidFill>
            <a:srgbClr val="F04C3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!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24" name="Oval 23"/>
          <p:cNvSpPr/>
          <p:nvPr userDrawn="1"/>
        </p:nvSpPr>
        <p:spPr>
          <a:xfrm>
            <a:off x="-1764704" y="1540334"/>
            <a:ext cx="237744" cy="237744"/>
          </a:xfrm>
          <a:prstGeom prst="ellipse">
            <a:avLst/>
          </a:prstGeom>
          <a:solidFill>
            <a:srgbClr val="F04C3E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2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63214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3831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3550" y="261938"/>
            <a:ext cx="8213725" cy="790575"/>
          </a:xfrm>
        </p:spPr>
        <p:txBody>
          <a:bodyPr anchor="t"/>
          <a:lstStyle>
            <a:lvl1pPr algn="l">
              <a:defRPr sz="3000" b="1" cap="none" baseline="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Title only</a:t>
            </a:r>
            <a:endParaRPr lang="en-GB" dirty="0"/>
          </a:p>
        </p:txBody>
      </p:sp>
      <p:sp>
        <p:nvSpPr>
          <p:cNvPr id="35" name="Line 34"/>
          <p:cNvSpPr>
            <a:spLocks noChangeShapeType="1"/>
          </p:cNvSpPr>
          <p:nvPr userDrawn="1"/>
        </p:nvSpPr>
        <p:spPr bwMode="auto">
          <a:xfrm>
            <a:off x="468313" y="185738"/>
            <a:ext cx="82057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6" name="Line 35"/>
          <p:cNvSpPr>
            <a:spLocks noChangeShapeType="1"/>
          </p:cNvSpPr>
          <p:nvPr userDrawn="1"/>
        </p:nvSpPr>
        <p:spPr bwMode="auto">
          <a:xfrm>
            <a:off x="468313" y="1087438"/>
            <a:ext cx="8205787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67" name="Line 11"/>
          <p:cNvSpPr>
            <a:spLocks noChangeShapeType="1"/>
          </p:cNvSpPr>
          <p:nvPr userDrawn="1"/>
        </p:nvSpPr>
        <p:spPr bwMode="auto">
          <a:xfrm>
            <a:off x="468313" y="6230938"/>
            <a:ext cx="820578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pic>
        <p:nvPicPr>
          <p:cNvPr id="10" name="Picture 2" descr="C:\Users\x81870\Desktop\Project Winterfell\EY.w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276" y="6448728"/>
            <a:ext cx="342000" cy="20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3172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4448" y="6432719"/>
            <a:ext cx="1477328" cy="1592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8313" y="6432719"/>
            <a:ext cx="744537" cy="1592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1217150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w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x81870\Desktop\Project Winterfell\EY.wm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276" y="6448728"/>
            <a:ext cx="342000" cy="20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0075" cy="790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1288"/>
            <a:ext cx="8220075" cy="45037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Body text – Arial 24 point</a:t>
            </a:r>
          </a:p>
          <a:p>
            <a:pPr lvl="1"/>
            <a:r>
              <a:rPr lang="en-US" dirty="0" smtClean="0"/>
              <a:t>Heading – Arial 24 point bold</a:t>
            </a:r>
          </a:p>
          <a:p>
            <a:pPr lvl="2"/>
            <a:r>
              <a:rPr lang="en-US" dirty="0" smtClean="0"/>
              <a:t>Bullet 1 – Arial 24 point</a:t>
            </a:r>
          </a:p>
          <a:p>
            <a:pPr lvl="3"/>
            <a:r>
              <a:rPr lang="en-US" dirty="0" smtClean="0"/>
              <a:t>Bullet 2 – Arial 20 point</a:t>
            </a:r>
          </a:p>
          <a:p>
            <a:pPr lvl="4"/>
            <a:r>
              <a:rPr lang="en-US" dirty="0" smtClean="0"/>
              <a:t>Bullet 3 – Arial 18 point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4448" y="6432719"/>
            <a:ext cx="1477328" cy="1592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11 July 2013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8313" y="6432719"/>
            <a:ext cx="744537" cy="1592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smtClean="0"/>
              <a:t>Page </a:t>
            </a:r>
            <a:fld id="{E5A1EDF7-6110-42C0-A4FC-CB56AF1E2FB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3" name="Line 11"/>
          <p:cNvSpPr>
            <a:spLocks noChangeShapeType="1"/>
          </p:cNvSpPr>
          <p:nvPr/>
        </p:nvSpPr>
        <p:spPr bwMode="auto">
          <a:xfrm>
            <a:off x="468313" y="6230938"/>
            <a:ext cx="8205787" cy="0"/>
          </a:xfrm>
          <a:prstGeom prst="line">
            <a:avLst/>
          </a:prstGeom>
          <a:noFill/>
          <a:ln w="19050">
            <a:solidFill>
              <a:schemeClr val="accent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4" name="Line 34"/>
          <p:cNvSpPr>
            <a:spLocks noChangeShapeType="1"/>
          </p:cNvSpPr>
          <p:nvPr/>
        </p:nvSpPr>
        <p:spPr bwMode="auto">
          <a:xfrm>
            <a:off x="468313" y="185738"/>
            <a:ext cx="82057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35" name="Line 35"/>
          <p:cNvSpPr>
            <a:spLocks noChangeShapeType="1"/>
          </p:cNvSpPr>
          <p:nvPr/>
        </p:nvSpPr>
        <p:spPr bwMode="auto">
          <a:xfrm>
            <a:off x="468313" y="1052736"/>
            <a:ext cx="8205787" cy="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34855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6" r:id="rId2"/>
    <p:sldLayoutId id="2147483674" r:id="rId3"/>
    <p:sldLayoutId id="2147483675" r:id="rId4"/>
  </p:sldLayoutIdLst>
  <p:timing>
    <p:tnLst>
      <p:par>
        <p:cTn id="1" dur="indefinite" restart="never" nodeType="tmRoot"/>
      </p:par>
    </p:tnLst>
  </p:timing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6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ts val="600"/>
        </a:spcBef>
        <a:buFontTx/>
        <a:buNone/>
        <a:defRPr sz="2400" b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355600" indent="-355600" algn="l" defTabSz="914400" rtl="0" eaLnBrk="1" latinLnBrk="0" hangingPunct="1">
        <a:spcBef>
          <a:spcPts val="600"/>
        </a:spcBef>
        <a:buClr>
          <a:schemeClr val="accent2"/>
        </a:buClr>
        <a:buSzPct val="70000"/>
        <a:buFont typeface="Arial" pitchFamily="34" charset="0"/>
        <a:buChar char="►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92150" indent="-330200" algn="l" defTabSz="914400" rtl="0" eaLnBrk="1" latinLnBrk="0" hangingPunct="1">
        <a:spcBef>
          <a:spcPts val="600"/>
        </a:spcBef>
        <a:buClr>
          <a:schemeClr val="accent2"/>
        </a:buClr>
        <a:buSzPct val="70000"/>
        <a:buFont typeface="Arial" pitchFamily="34" charset="0"/>
        <a:buChar char="►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35050" indent="-317500" algn="l" defTabSz="914400" rtl="0" eaLnBrk="1" latinLnBrk="0" hangingPunct="1">
        <a:spcBef>
          <a:spcPts val="600"/>
        </a:spcBef>
        <a:buClr>
          <a:schemeClr val="accent2"/>
        </a:buClr>
        <a:buSzPct val="70000"/>
        <a:buFont typeface="Arial" pitchFamily="34" charset="0"/>
        <a:buChar char="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043608" y="2204864"/>
            <a:ext cx="6624736" cy="82708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Messaging &amp; Collaboration Program Reporting Process</a:t>
            </a:r>
            <a:endParaRPr lang="en-US" dirty="0"/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043608" y="3169915"/>
            <a:ext cx="5386387" cy="619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FontTx/>
              <a:buNone/>
              <a:defRPr sz="2400" b="1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2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accent2"/>
              </a:buClr>
              <a:buSzPct val="70000"/>
              <a:buFont typeface="Arial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July 2013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en-GB" dirty="0" smtClean="0">
                <a:solidFill>
                  <a:srgbClr val="808080"/>
                </a:solidFill>
              </a:rPr>
              <a:t>Reporting Cadence</a:t>
            </a:r>
            <a:endParaRPr lang="en-GB" dirty="0">
              <a:solidFill>
                <a:srgbClr val="80808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432046" y="6460405"/>
            <a:ext cx="179514" cy="280963"/>
          </a:xfrm>
          <a:prstGeom prst="rect">
            <a:avLst/>
          </a:prstGeom>
        </p:spPr>
        <p:txBody>
          <a:bodyPr/>
          <a:lstStyle/>
          <a:p>
            <a:fld id="{E5A1EDF7-6110-42C0-A4FC-CB56AF1E2FBC}" type="slidenum">
              <a:rPr lang="en-GB" sz="1100" smtClean="0">
                <a:solidFill>
                  <a:srgbClr val="808080"/>
                </a:solidFill>
              </a:rPr>
              <a:pPr/>
              <a:t>2</a:t>
            </a:fld>
            <a:endParaRPr lang="en-GB" sz="1100" dirty="0">
              <a:solidFill>
                <a:srgbClr val="808080"/>
              </a:solidFill>
            </a:endParaRPr>
          </a:p>
        </p:txBody>
      </p:sp>
      <p:sp>
        <p:nvSpPr>
          <p:cNvPr id="8" name="Flowchart: Document 7"/>
          <p:cNvSpPr/>
          <p:nvPr/>
        </p:nvSpPr>
        <p:spPr bwMode="auto">
          <a:xfrm>
            <a:off x="5946380" y="2063372"/>
            <a:ext cx="1238640" cy="631590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endParaRPr lang="en-GB" sz="1400" dirty="0">
              <a:solidFill>
                <a:srgbClr val="333333"/>
              </a:solidFill>
              <a:latin typeface="EYInterstate Light" pitchFamily="2" charset="0"/>
            </a:endParaRPr>
          </a:p>
        </p:txBody>
      </p:sp>
      <p:sp>
        <p:nvSpPr>
          <p:cNvPr id="9" name="Flowchart: Document 8"/>
          <p:cNvSpPr/>
          <p:nvPr/>
        </p:nvSpPr>
        <p:spPr bwMode="auto">
          <a:xfrm>
            <a:off x="5978224" y="2012954"/>
            <a:ext cx="1238640" cy="631590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endParaRPr lang="en-GB" sz="1400" dirty="0">
              <a:solidFill>
                <a:srgbClr val="333333"/>
              </a:solidFill>
              <a:latin typeface="EYInterstate Light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38433" y="1268760"/>
            <a:ext cx="1398781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en-GB" sz="1600" dirty="0">
                <a:solidFill>
                  <a:srgbClr val="808080"/>
                </a:solidFill>
                <a:latin typeface="EYInterstate Light" pitchFamily="2" charset="0"/>
              </a:rPr>
              <a:t>Tuesday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1640" y="1268760"/>
            <a:ext cx="1398781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en-GB" sz="1600" dirty="0">
                <a:solidFill>
                  <a:srgbClr val="808080"/>
                </a:solidFill>
                <a:latin typeface="EYInterstate Light" pitchFamily="2" charset="0"/>
              </a:rPr>
              <a:t>Monday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019" y="1268760"/>
            <a:ext cx="1398781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en-GB" sz="1600" dirty="0">
                <a:solidFill>
                  <a:srgbClr val="808080"/>
                </a:solidFill>
                <a:latin typeface="EYInterstate Light" pitchFamily="2" charset="0"/>
              </a:rPr>
              <a:t>Thursday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5226" y="1268760"/>
            <a:ext cx="1398781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en-GB" sz="1600" dirty="0">
                <a:solidFill>
                  <a:srgbClr val="808080"/>
                </a:solidFill>
                <a:latin typeface="EYInterstate Light" pitchFamily="2" charset="0"/>
              </a:rPr>
              <a:t>Wednesday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8810" y="1268760"/>
            <a:ext cx="1398781" cy="36933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en-GB" sz="1600" dirty="0">
                <a:solidFill>
                  <a:srgbClr val="808080"/>
                </a:solidFill>
                <a:latin typeface="EYInterstate Light" pitchFamily="2" charset="0"/>
              </a:rPr>
              <a:t>Friday</a:t>
            </a:r>
          </a:p>
        </p:txBody>
      </p:sp>
      <p:cxnSp>
        <p:nvCxnSpPr>
          <p:cNvPr id="15" name="Straight Connector 14"/>
          <p:cNvCxnSpPr/>
          <p:nvPr/>
        </p:nvCxnSpPr>
        <p:spPr bwMode="auto">
          <a:xfrm>
            <a:off x="107504" y="1772816"/>
            <a:ext cx="878497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auto">
          <a:xfrm>
            <a:off x="107504" y="3342134"/>
            <a:ext cx="878497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auto">
          <a:xfrm>
            <a:off x="107504" y="4928299"/>
            <a:ext cx="878497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4484" y="1706374"/>
            <a:ext cx="937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C000"/>
                </a:solidFill>
                <a:latin typeface="EYInterstate Light" pitchFamily="2" charset="0"/>
              </a:rPr>
              <a:t>Weekly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84" y="3284984"/>
            <a:ext cx="132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C000"/>
                </a:solidFill>
                <a:latin typeface="EYInterstate Light" pitchFamily="2" charset="0"/>
              </a:rPr>
              <a:t>Fortnightly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84" y="4865660"/>
            <a:ext cx="1023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C000"/>
                </a:solidFill>
                <a:latin typeface="EYInterstate Light" pitchFamily="2" charset="0"/>
              </a:rPr>
              <a:t>Monthly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9174" y="1891040"/>
            <a:ext cx="1116556" cy="6238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Program </a:t>
            </a:r>
          </a:p>
          <a:p>
            <a:pPr algn="ctr"/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Management</a:t>
            </a:r>
          </a:p>
          <a:p>
            <a:pPr algn="ctr"/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Meeting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9900" y="5136583"/>
            <a:ext cx="1116556" cy="7421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Programme 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Finance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9740" y="5191879"/>
            <a:ext cx="1116556" cy="6315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 smtClean="0">
                <a:solidFill>
                  <a:srgbClr val="333333"/>
                </a:solidFill>
                <a:latin typeface="EYInterstate Light" pitchFamily="2" charset="0"/>
              </a:rPr>
              <a:t>Executive</a:t>
            </a:r>
            <a:endParaRPr lang="en-GB" sz="1200" dirty="0">
              <a:solidFill>
                <a:srgbClr val="333333"/>
              </a:solidFill>
              <a:latin typeface="EYInterstate Light" pitchFamily="2" charset="0"/>
            </a:endParaRP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Steering</a:t>
            </a:r>
          </a:p>
          <a:p>
            <a:pPr algn="ctr"/>
            <a:r>
              <a:rPr lang="en-GB" sz="1200" dirty="0" smtClean="0">
                <a:solidFill>
                  <a:srgbClr val="333333"/>
                </a:solidFill>
                <a:latin typeface="EYInterstate Light" pitchFamily="2" charset="0"/>
              </a:rPr>
              <a:t>Pack</a:t>
            </a:r>
            <a:endParaRPr lang="en-GB" sz="1200" dirty="0">
              <a:solidFill>
                <a:srgbClr val="333333"/>
              </a:solidFill>
              <a:latin typeface="EYInterstate Light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21934" y="2780928"/>
            <a:ext cx="1294930" cy="44677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>
            <a:defPPr>
              <a:defRPr lang="en-US"/>
            </a:defPPr>
            <a:lvl1pPr>
              <a:defRPr sz="1400">
                <a:solidFill>
                  <a:schemeClr val="lt1"/>
                </a:solidFill>
                <a:latin typeface="EYInterstate Light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n-GB" sz="1200" dirty="0" smtClean="0">
                <a:solidFill>
                  <a:srgbClr val="FFFFFF"/>
                </a:solidFill>
              </a:rPr>
              <a:t>Change Control</a:t>
            </a:r>
          </a:p>
          <a:p>
            <a:pPr algn="ctr"/>
            <a:r>
              <a:rPr lang="en-GB" sz="1200" dirty="0" smtClean="0">
                <a:solidFill>
                  <a:srgbClr val="FFFFFF"/>
                </a:solidFill>
              </a:rPr>
              <a:t>Boards</a:t>
            </a:r>
            <a:endParaRPr lang="en-GB" sz="1200" dirty="0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816745" y="2080464"/>
            <a:ext cx="10270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/>
            <a:r>
              <a:rPr lang="en-GB" sz="1100" dirty="0">
                <a:solidFill>
                  <a:srgbClr val="333333">
                    <a:lumMod val="65000"/>
                  </a:srgbClr>
                </a:solidFill>
                <a:latin typeface="EYInterstate Light" pitchFamily="2" charset="0"/>
              </a:rPr>
              <a:t>PMO Pack</a:t>
            </a:r>
          </a:p>
        </p:txBody>
      </p:sp>
      <p:cxnSp>
        <p:nvCxnSpPr>
          <p:cNvPr id="27" name="Straight Arrow Connector 26"/>
          <p:cNvCxnSpPr/>
          <p:nvPr/>
        </p:nvCxnSpPr>
        <p:spPr bwMode="auto">
          <a:xfrm>
            <a:off x="2580929" y="2220318"/>
            <a:ext cx="370384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Straight Arrow Connector 27"/>
          <p:cNvCxnSpPr>
            <a:stCxn id="21" idx="3"/>
          </p:cNvCxnSpPr>
          <p:nvPr/>
        </p:nvCxnSpPr>
        <p:spPr bwMode="auto">
          <a:xfrm>
            <a:off x="4085730" y="2202967"/>
            <a:ext cx="1836204" cy="19249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>
            <a:off x="7121242" y="2204864"/>
            <a:ext cx="473542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0" name="Straight Arrow Connector 29"/>
          <p:cNvCxnSpPr>
            <a:stCxn id="40" idx="3"/>
            <a:endCxn id="36" idx="2"/>
          </p:cNvCxnSpPr>
          <p:nvPr/>
        </p:nvCxnSpPr>
        <p:spPr bwMode="auto">
          <a:xfrm flipV="1">
            <a:off x="8509878" y="3851249"/>
            <a:ext cx="203090" cy="12601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31" name="Straight Arrow Connector 30"/>
          <p:cNvCxnSpPr>
            <a:endCxn id="37" idx="2"/>
          </p:cNvCxnSpPr>
          <p:nvPr/>
        </p:nvCxnSpPr>
        <p:spPr bwMode="auto">
          <a:xfrm flipV="1">
            <a:off x="7038490" y="2981320"/>
            <a:ext cx="1674478" cy="1776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32" name="Straight Arrow Connector 31"/>
          <p:cNvCxnSpPr>
            <a:stCxn id="52" idx="3"/>
            <a:endCxn id="23" idx="1"/>
          </p:cNvCxnSpPr>
          <p:nvPr/>
        </p:nvCxnSpPr>
        <p:spPr bwMode="auto">
          <a:xfrm>
            <a:off x="2580929" y="5507674"/>
            <a:ext cx="3538811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2483768" y="6309320"/>
            <a:ext cx="1116556" cy="47667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Workstream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29420" y="6309320"/>
            <a:ext cx="1116556" cy="47667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Program</a:t>
            </a:r>
          </a:p>
          <a:p>
            <a:pPr algn="ctr"/>
            <a:r>
              <a:rPr lang="en-GB" sz="1200" dirty="0" err="1">
                <a:solidFill>
                  <a:srgbClr val="FFFFFF"/>
                </a:solidFill>
                <a:latin typeface="EYInterstate Light" pitchFamily="2" charset="0"/>
              </a:rPr>
              <a:t>Mgt</a:t>
            </a:r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 Team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67612" y="6309320"/>
            <a:ext cx="1332580" cy="4766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Director, Sponsor,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 Exec and/or PMO</a:t>
            </a:r>
          </a:p>
        </p:txBody>
      </p:sp>
      <p:sp>
        <p:nvSpPr>
          <p:cNvPr id="36" name="Oval 35"/>
          <p:cNvSpPr/>
          <p:nvPr/>
        </p:nvSpPr>
        <p:spPr bwMode="auto">
          <a:xfrm>
            <a:off x="8712968" y="3741427"/>
            <a:ext cx="251520" cy="21964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808080"/>
                </a:solidFill>
                <a:latin typeface="EYInterstate Light" pitchFamily="2" charset="0"/>
              </a:rPr>
              <a:t>A</a:t>
            </a:r>
          </a:p>
        </p:txBody>
      </p:sp>
      <p:sp>
        <p:nvSpPr>
          <p:cNvPr id="37" name="Oval 36"/>
          <p:cNvSpPr/>
          <p:nvPr/>
        </p:nvSpPr>
        <p:spPr bwMode="auto">
          <a:xfrm>
            <a:off x="8712968" y="2871498"/>
            <a:ext cx="251520" cy="21964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808080"/>
                </a:solidFill>
                <a:latin typeface="EYInterstate Light" pitchFamily="2" charset="0"/>
              </a:rPr>
              <a:t>A</a:t>
            </a:r>
          </a:p>
        </p:txBody>
      </p:sp>
      <p:cxnSp>
        <p:nvCxnSpPr>
          <p:cNvPr id="38" name="Straight Arrow Connector 37"/>
          <p:cNvCxnSpPr>
            <a:stCxn id="39" idx="6"/>
          </p:cNvCxnSpPr>
          <p:nvPr/>
        </p:nvCxnSpPr>
        <p:spPr bwMode="auto">
          <a:xfrm flipV="1">
            <a:off x="1007096" y="5338020"/>
            <a:ext cx="468560" cy="1002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39" name="Oval 38"/>
          <p:cNvSpPr/>
          <p:nvPr/>
        </p:nvSpPr>
        <p:spPr bwMode="auto">
          <a:xfrm>
            <a:off x="755576" y="5229200"/>
            <a:ext cx="251520" cy="21964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808080"/>
                </a:solidFill>
                <a:latin typeface="EYInterstate Light" pitchFamily="2" charset="0"/>
              </a:rP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59838" y="3569406"/>
            <a:ext cx="950040" cy="58888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Quality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Review</a:t>
            </a:r>
          </a:p>
        </p:txBody>
      </p:sp>
      <p:cxnSp>
        <p:nvCxnSpPr>
          <p:cNvPr id="41" name="Straight Arrow Connector 40"/>
          <p:cNvCxnSpPr>
            <a:stCxn id="51" idx="3"/>
            <a:endCxn id="40" idx="1"/>
          </p:cNvCxnSpPr>
          <p:nvPr/>
        </p:nvCxnSpPr>
        <p:spPr bwMode="auto">
          <a:xfrm>
            <a:off x="7240932" y="3861907"/>
            <a:ext cx="318906" cy="1943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2" name="Flowchart: Magnetic Disk 41"/>
          <p:cNvSpPr/>
          <p:nvPr/>
        </p:nvSpPr>
        <p:spPr bwMode="auto">
          <a:xfrm>
            <a:off x="7594784" y="4418754"/>
            <a:ext cx="885598" cy="374897"/>
          </a:xfrm>
          <a:prstGeom prst="flowChartMagneticDisk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400" dirty="0">
                <a:solidFill>
                  <a:srgbClr val="333333"/>
                </a:solidFill>
                <a:latin typeface="EYInterstate Light" pitchFamily="2" charset="0"/>
              </a:rPr>
              <a:t>PM Tool</a:t>
            </a:r>
          </a:p>
        </p:txBody>
      </p:sp>
      <p:cxnSp>
        <p:nvCxnSpPr>
          <p:cNvPr id="43" name="Straight Arrow Connector 42"/>
          <p:cNvCxnSpPr>
            <a:stCxn id="40" idx="2"/>
            <a:endCxn id="42" idx="1"/>
          </p:cNvCxnSpPr>
          <p:nvPr/>
        </p:nvCxnSpPr>
        <p:spPr bwMode="auto">
          <a:xfrm>
            <a:off x="8034858" y="4158294"/>
            <a:ext cx="2725" cy="26046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4" name="Flowchart: Document 43"/>
          <p:cNvSpPr/>
          <p:nvPr/>
        </p:nvSpPr>
        <p:spPr bwMode="auto">
          <a:xfrm>
            <a:off x="7592058" y="1891040"/>
            <a:ext cx="1120909" cy="623855"/>
          </a:xfrm>
          <a:prstGeom prst="flowChart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Program </a:t>
            </a:r>
            <a:r>
              <a:rPr lang="en-GB" sz="1200" dirty="0" smtClean="0">
                <a:solidFill>
                  <a:srgbClr val="FFFFFF"/>
                </a:solidFill>
                <a:latin typeface="EYInterstate Light" pitchFamily="2" charset="0"/>
              </a:rPr>
              <a:t>Management </a:t>
            </a:r>
            <a:r>
              <a:rPr lang="en-GB" sz="1200" dirty="0">
                <a:solidFill>
                  <a:srgbClr val="FFFFFF"/>
                </a:solidFill>
                <a:latin typeface="EYInterstate Light" pitchFamily="2" charset="0"/>
              </a:rPr>
              <a:t>Pack</a:t>
            </a:r>
          </a:p>
        </p:txBody>
      </p:sp>
      <p:sp>
        <p:nvSpPr>
          <p:cNvPr id="45" name="Flowchart: Document 44"/>
          <p:cNvSpPr/>
          <p:nvPr/>
        </p:nvSpPr>
        <p:spPr bwMode="auto">
          <a:xfrm>
            <a:off x="6012160" y="1891040"/>
            <a:ext cx="1238640" cy="704729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chemeClr val="tx1">
                    <a:lumMod val="75000"/>
                  </a:schemeClr>
                </a:solidFill>
              </a:rPr>
              <a:t>Program </a:t>
            </a:r>
            <a:r>
              <a:rPr lang="en-GB" sz="1200" dirty="0" smtClean="0">
                <a:solidFill>
                  <a:schemeClr val="tx1">
                    <a:lumMod val="75000"/>
                  </a:schemeClr>
                </a:solidFill>
              </a:rPr>
              <a:t>health</a:t>
            </a:r>
          </a:p>
          <a:p>
            <a:pPr algn="ctr"/>
            <a:r>
              <a:rPr lang="en-GB" sz="1200" dirty="0" smtClean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GB" sz="1200" dirty="0">
                <a:solidFill>
                  <a:schemeClr val="tx1">
                    <a:lumMod val="75000"/>
                  </a:schemeClr>
                </a:solidFill>
              </a:rPr>
              <a:t>Report  </a:t>
            </a:r>
            <a:endParaRPr lang="en-GB" sz="1200" dirty="0" smtClean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GB" sz="1200" dirty="0" smtClean="0">
                <a:solidFill>
                  <a:schemeClr val="tx1">
                    <a:lumMod val="75000"/>
                  </a:schemeClr>
                </a:solidFill>
              </a:rPr>
              <a:t>Dashboard</a:t>
            </a:r>
            <a:endParaRPr lang="en-GB" sz="12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46" name="Flowchart: Document 45"/>
          <p:cNvSpPr/>
          <p:nvPr/>
        </p:nvSpPr>
        <p:spPr bwMode="auto">
          <a:xfrm>
            <a:off x="2908132" y="2630547"/>
            <a:ext cx="1238640" cy="654438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100" dirty="0" smtClean="0">
                <a:solidFill>
                  <a:srgbClr val="333333"/>
                </a:solidFill>
                <a:latin typeface="EYInterstate Light" pitchFamily="2" charset="0"/>
              </a:rPr>
              <a:t>CRs </a:t>
            </a:r>
            <a:r>
              <a:rPr lang="en-GB" sz="1100" dirty="0">
                <a:solidFill>
                  <a:srgbClr val="333333"/>
                </a:solidFill>
                <a:latin typeface="EYInterstate Light" pitchFamily="2" charset="0"/>
              </a:rPr>
              <a:t>with</a:t>
            </a:r>
          </a:p>
          <a:p>
            <a:pPr algn="ctr"/>
            <a:r>
              <a:rPr lang="en-GB" sz="1100" dirty="0">
                <a:solidFill>
                  <a:srgbClr val="333333"/>
                </a:solidFill>
                <a:latin typeface="EYInterstate Light" pitchFamily="2" charset="0"/>
              </a:rPr>
              <a:t>completed Impact</a:t>
            </a:r>
          </a:p>
          <a:p>
            <a:pPr algn="ctr"/>
            <a:r>
              <a:rPr lang="en-GB" sz="1100" dirty="0">
                <a:solidFill>
                  <a:srgbClr val="333333"/>
                </a:solidFill>
                <a:latin typeface="EYInterstate Light" pitchFamily="2" charset="0"/>
              </a:rPr>
              <a:t>Assessments</a:t>
            </a:r>
          </a:p>
        </p:txBody>
      </p:sp>
      <p:cxnSp>
        <p:nvCxnSpPr>
          <p:cNvPr id="47" name="Straight Arrow Connector 46"/>
          <p:cNvCxnSpPr>
            <a:stCxn id="46" idx="3"/>
          </p:cNvCxnSpPr>
          <p:nvPr/>
        </p:nvCxnSpPr>
        <p:spPr bwMode="auto">
          <a:xfrm>
            <a:off x="4146772" y="2957766"/>
            <a:ext cx="1775162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4365601" y="2750731"/>
            <a:ext cx="12715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i="1" dirty="0">
                <a:solidFill>
                  <a:srgbClr val="333333">
                    <a:lumMod val="65000"/>
                  </a:srgbClr>
                </a:solidFill>
              </a:rPr>
              <a:t>CCB Panel Review</a:t>
            </a:r>
          </a:p>
        </p:txBody>
      </p:sp>
      <p:sp>
        <p:nvSpPr>
          <p:cNvPr id="49" name="Flowchart: Document 48"/>
          <p:cNvSpPr/>
          <p:nvPr/>
        </p:nvSpPr>
        <p:spPr bwMode="auto">
          <a:xfrm>
            <a:off x="5936512" y="3645305"/>
            <a:ext cx="1238640" cy="631590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endParaRPr lang="en-GB" sz="1400" dirty="0">
              <a:solidFill>
                <a:srgbClr val="333333"/>
              </a:solidFill>
              <a:latin typeface="EYInterstate Light" pitchFamily="2" charset="0"/>
            </a:endParaRPr>
          </a:p>
        </p:txBody>
      </p:sp>
      <p:sp>
        <p:nvSpPr>
          <p:cNvPr id="50" name="Flowchart: Document 49"/>
          <p:cNvSpPr/>
          <p:nvPr/>
        </p:nvSpPr>
        <p:spPr bwMode="auto">
          <a:xfrm>
            <a:off x="5968356" y="3594887"/>
            <a:ext cx="1238640" cy="631590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endParaRPr lang="en-GB" sz="1400" dirty="0">
              <a:solidFill>
                <a:srgbClr val="333333"/>
              </a:solidFill>
              <a:latin typeface="EYInterstate Light" pitchFamily="2" charset="0"/>
            </a:endParaRPr>
          </a:p>
        </p:txBody>
      </p:sp>
      <p:sp>
        <p:nvSpPr>
          <p:cNvPr id="51" name="Flowchart: Document 50"/>
          <p:cNvSpPr/>
          <p:nvPr/>
        </p:nvSpPr>
        <p:spPr bwMode="auto">
          <a:xfrm>
            <a:off x="6002292" y="3546112"/>
            <a:ext cx="1238640" cy="631590"/>
          </a:xfrm>
          <a:prstGeom prst="flowChartDocumen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ITS Status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Reports</a:t>
            </a:r>
          </a:p>
        </p:txBody>
      </p:sp>
      <p:sp>
        <p:nvSpPr>
          <p:cNvPr id="52" name="Flowchart: Document 51"/>
          <p:cNvSpPr/>
          <p:nvPr/>
        </p:nvSpPr>
        <p:spPr bwMode="auto">
          <a:xfrm>
            <a:off x="1475656" y="5136583"/>
            <a:ext cx="1105273" cy="742182"/>
          </a:xfrm>
          <a:prstGeom prst="flowChartDocumen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IT Executive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Steering Group </a:t>
            </a:r>
          </a:p>
          <a:p>
            <a:pPr algn="ctr"/>
            <a:r>
              <a:rPr lang="en-GB" sz="1200" dirty="0">
                <a:solidFill>
                  <a:srgbClr val="333333"/>
                </a:solidFill>
                <a:latin typeface="EYInterstate Light" pitchFamily="2" charset="0"/>
              </a:rPr>
              <a:t>Report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1560" y="5543654"/>
            <a:ext cx="739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indent="-268288"/>
            <a:r>
              <a:rPr lang="en-GB" sz="1100" dirty="0" smtClean="0">
                <a:solidFill>
                  <a:srgbClr val="333333">
                    <a:lumMod val="65000"/>
                  </a:srgbClr>
                </a:solidFill>
                <a:latin typeface="EYInterstate Light" pitchFamily="2" charset="0"/>
              </a:rPr>
              <a:t>RAID</a:t>
            </a:r>
            <a:endParaRPr lang="en-GB" sz="1100" dirty="0">
              <a:solidFill>
                <a:srgbClr val="333333">
                  <a:lumMod val="65000"/>
                </a:srgbClr>
              </a:solidFill>
              <a:latin typeface="EYInterstate Light" pitchFamily="2" charset="0"/>
            </a:endParaRPr>
          </a:p>
        </p:txBody>
      </p:sp>
      <p:cxnSp>
        <p:nvCxnSpPr>
          <p:cNvPr id="55" name="Straight Arrow Connector 54"/>
          <p:cNvCxnSpPr/>
          <p:nvPr/>
        </p:nvCxnSpPr>
        <p:spPr bwMode="auto">
          <a:xfrm>
            <a:off x="1087712" y="5661248"/>
            <a:ext cx="370384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86903228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Overview of report types?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113344"/>
              </p:ext>
            </p:extLst>
          </p:nvPr>
        </p:nvGraphicFramePr>
        <p:xfrm>
          <a:off x="179513" y="1201521"/>
          <a:ext cx="8712386" cy="4531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206"/>
                <a:gridCol w="1181326"/>
                <a:gridCol w="1369628"/>
                <a:gridCol w="1521808"/>
                <a:gridCol w="1369628"/>
                <a:gridCol w="1141356"/>
                <a:gridCol w="1179434"/>
              </a:tblGrid>
              <a:tr h="37459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Reports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Objectives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Inputs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Review</a:t>
                      </a:r>
                      <a:r>
                        <a:rPr lang="en-GB" sz="1200" b="1" kern="1200" baseline="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 Control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Outputs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Frequency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200" b="1" kern="1200" dirty="0" smtClean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Audience</a:t>
                      </a:r>
                      <a:endParaRPr lang="en-GB" sz="1200" b="1" kern="1200" dirty="0">
                        <a:solidFill>
                          <a:schemeClr val="bg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</a:tr>
              <a:tr h="1203383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 smtClean="0">
                          <a:solidFill>
                            <a:schemeClr val="bg2"/>
                          </a:solidFill>
                        </a:rPr>
                        <a:t>ITS Status Report</a:t>
                      </a:r>
                      <a:endParaRPr lang="en-GB" sz="1050" b="1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Mandated ITS </a:t>
                      </a: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Report</a:t>
                      </a:r>
                    </a:p>
                    <a:p>
                      <a:pPr marL="0" indent="0" algn="l" defTabSz="914400" rtl="0" eaLnBrk="1" latinLnBrk="0" hangingPunct="1">
                        <a:buFont typeface="Arial" pitchFamily="34" charset="0"/>
                        <a:buNone/>
                      </a:pP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Arial" pitchFamily="34" charset="0"/>
                        <a:buChar char="•"/>
                      </a:pPr>
                      <a:r>
                        <a:rPr lang="en-GB" sz="1000" dirty="0" err="1" smtClean="0"/>
                        <a:t>Workstream</a:t>
                      </a:r>
                      <a:r>
                        <a:rPr lang="en-GB" sz="1000" dirty="0" smtClean="0"/>
                        <a:t> status</a:t>
                      </a:r>
                      <a:r>
                        <a:rPr lang="en-GB" sz="1000" baseline="0" dirty="0" smtClean="0"/>
                        <a:t> report template</a:t>
                      </a:r>
                    </a:p>
                    <a:p>
                      <a:pPr marL="228600" indent="-228600">
                        <a:buFont typeface="Arial" pitchFamily="34" charset="0"/>
                        <a:buChar char="•"/>
                      </a:pPr>
                      <a:r>
                        <a:rPr lang="en-GB" sz="1000" baseline="0" dirty="0" smtClean="0"/>
                        <a:t>Finance (section to be completed by PMO)</a:t>
                      </a:r>
                      <a:endParaRPr lang="en-GB" sz="10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/>
                        <a:t>Fortnightly</a:t>
                      </a:r>
                      <a:r>
                        <a:rPr lang="en-GB" sz="1000" baseline="0" dirty="0" smtClean="0"/>
                        <a:t> QA review </a:t>
                      </a:r>
                      <a:r>
                        <a:rPr lang="en-GB" sz="1000" baseline="0" dirty="0" smtClean="0"/>
                        <a:t>(Sessions require a </a:t>
                      </a:r>
                      <a:r>
                        <a:rPr lang="en-GB" sz="1000" baseline="0" dirty="0" err="1" smtClean="0"/>
                        <a:t>workstream</a:t>
                      </a:r>
                      <a:r>
                        <a:rPr lang="en-GB" sz="1000" baseline="0" dirty="0" smtClean="0"/>
                        <a:t> lead or PM)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baseline="0" dirty="0" smtClean="0"/>
                        <a:t>PMO RAG criteria guidance.</a:t>
                      </a:r>
                      <a:endParaRPr lang="en-GB" sz="10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/>
                        <a:t>Consolidated</a:t>
                      </a:r>
                      <a:r>
                        <a:rPr lang="en-GB" sz="1000" baseline="0" dirty="0" smtClean="0"/>
                        <a:t> Program status report to be uploaded into the IT PM tool.</a:t>
                      </a:r>
                      <a:endParaRPr lang="en-GB" sz="1000" dirty="0" smtClean="0"/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endParaRPr lang="en-GB" sz="10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/>
                        <a:t>Mid</a:t>
                      </a:r>
                      <a:r>
                        <a:rPr lang="en-GB" sz="1000" baseline="0" dirty="0" smtClean="0"/>
                        <a:t>-Month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baseline="0" dirty="0" smtClean="0"/>
                        <a:t>Month End (as per the ITS calendar)</a:t>
                      </a:r>
                      <a:endParaRPr lang="en-GB" sz="10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/>
                        <a:t>Executive </a:t>
                      </a:r>
                      <a:endParaRPr lang="en-GB" sz="1000" dirty="0" smtClean="0"/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/>
                        <a:t>GPMO</a:t>
                      </a:r>
                      <a:endParaRPr lang="en-GB" sz="1000" dirty="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</a:tr>
              <a:tr h="1568045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 smtClean="0">
                          <a:solidFill>
                            <a:schemeClr val="bg2"/>
                          </a:solidFill>
                        </a:rPr>
                        <a:t>Program</a:t>
                      </a:r>
                      <a:r>
                        <a:rPr lang="en-GB" sz="1050" b="1" baseline="0" dirty="0" smtClean="0">
                          <a:solidFill>
                            <a:schemeClr val="bg2"/>
                          </a:solidFill>
                        </a:rPr>
                        <a:t> health Report  Dashboard</a:t>
                      </a:r>
                      <a:endParaRPr lang="en-GB" sz="1050" b="1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RAG</a:t>
                      </a:r>
                      <a:r>
                        <a:rPr lang="en-GB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snapshot of the status of each individual program and program delivery life cycle stages.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Workstream</a:t>
                      </a: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health report template.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PMO RAG status</a:t>
                      </a:r>
                      <a:r>
                        <a:rPr lang="en-GB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for key PMO processes.</a:t>
                      </a:r>
                    </a:p>
                    <a:p>
                      <a:pPr marL="0" indent="0" algn="l" defTabSz="914400" rtl="0" eaLnBrk="1" latinLnBrk="0" hangingPunct="1">
                        <a:buFont typeface="Arial" pitchFamily="34" charset="0"/>
                        <a:buNone/>
                      </a:pPr>
                      <a:r>
                        <a:rPr lang="en-GB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/>
                        <a:t>Internal</a:t>
                      </a:r>
                      <a:r>
                        <a:rPr lang="en-GB" sz="1000" baseline="0" dirty="0" smtClean="0"/>
                        <a:t> PMO review</a:t>
                      </a:r>
                      <a:r>
                        <a:rPr lang="en-GB" sz="1000" baseline="0" dirty="0" smtClean="0"/>
                        <a:t>.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baseline="0" dirty="0" smtClean="0"/>
                        <a:t>PMO RAG criteria guidance.</a:t>
                      </a:r>
                      <a:endParaRPr lang="en-GB" sz="1000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/>
                        <a:t>Program Management </a:t>
                      </a:r>
                      <a:r>
                        <a:rPr lang="en-GB" sz="1000" baseline="0" dirty="0" smtClean="0"/>
                        <a:t> dashboard.</a:t>
                      </a:r>
                      <a:endParaRPr lang="en-GB" sz="1000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/>
                        <a:t>Weekly</a:t>
                      </a:r>
                      <a:endParaRPr lang="en-GB" sz="1000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/>
                        <a:t>Program</a:t>
                      </a:r>
                      <a:r>
                        <a:rPr lang="en-GB" sz="1000" baseline="0" dirty="0" smtClean="0"/>
                        <a:t> Management.</a:t>
                      </a:r>
                      <a:endParaRPr lang="en-GB" sz="1000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</a:tr>
              <a:tr h="1385715">
                <a:tc>
                  <a:txBody>
                    <a:bodyPr/>
                    <a:lstStyle/>
                    <a:p>
                      <a:pPr algn="ctr"/>
                      <a:r>
                        <a:rPr lang="en-GB" sz="1050" b="1" dirty="0" smtClean="0">
                          <a:solidFill>
                            <a:schemeClr val="bg2"/>
                          </a:solidFill>
                        </a:rPr>
                        <a:t>Executive Steering </a:t>
                      </a:r>
                      <a:r>
                        <a:rPr lang="en-GB" sz="1050" b="1" dirty="0" smtClean="0">
                          <a:solidFill>
                            <a:schemeClr val="bg2"/>
                          </a:solidFill>
                        </a:rPr>
                        <a:t>Pack</a:t>
                      </a:r>
                      <a:endParaRPr lang="en-GB" sz="1050" b="1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Program</a:t>
                      </a:r>
                      <a:r>
                        <a:rPr lang="en-GB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management overview.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Escalation channel for key program concern.</a:t>
                      </a: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GB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ITS</a:t>
                      </a:r>
                      <a:r>
                        <a:rPr lang="en-GB" sz="1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Status report. 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en-GB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/>
                        <a:t>M&amp;C Program</a:t>
                      </a:r>
                      <a:r>
                        <a:rPr lang="en-GB" sz="1000" baseline="0" dirty="0" smtClean="0"/>
                        <a:t> Lead</a:t>
                      </a:r>
                      <a:endParaRPr lang="en-GB" sz="1000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/>
                        <a:t>Executive Pack</a:t>
                      </a:r>
                      <a:endParaRPr lang="en-GB" sz="1000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/>
                        <a:t>Monthly (As</a:t>
                      </a:r>
                      <a:r>
                        <a:rPr lang="en-GB" sz="1000" baseline="0" dirty="0" smtClean="0"/>
                        <a:t> requested) </a:t>
                      </a:r>
                      <a:endParaRPr lang="en-GB" sz="1000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/>
                        <a:t>Program  Sponsors and Executives.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en-GB" sz="1000" dirty="0" smtClean="0"/>
                        <a:t>(Presentation Material)</a:t>
                      </a:r>
                      <a:endParaRPr lang="en-GB" sz="1000" dirty="0"/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3528" y="5857527"/>
            <a:ext cx="85683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>
                <a:solidFill>
                  <a:schemeClr val="bg1">
                    <a:lumMod val="75000"/>
                  </a:schemeClr>
                </a:solidFill>
              </a:rPr>
              <a:t>Finance and delivery assurance report are submitted monthly by PMO. No </a:t>
            </a:r>
            <a:r>
              <a:rPr lang="en-GB" sz="1400" dirty="0" err="1" smtClean="0">
                <a:solidFill>
                  <a:schemeClr val="bg1">
                    <a:lumMod val="75000"/>
                  </a:schemeClr>
                </a:solidFill>
              </a:rPr>
              <a:t>workstream</a:t>
            </a:r>
            <a:r>
              <a:rPr lang="en-GB" sz="1400" dirty="0" smtClean="0">
                <a:solidFill>
                  <a:schemeClr val="bg1">
                    <a:lumMod val="75000"/>
                  </a:schemeClr>
                </a:solidFill>
              </a:rPr>
              <a:t> lead input required</a:t>
            </a:r>
          </a:p>
        </p:txBody>
      </p:sp>
      <p:sp>
        <p:nvSpPr>
          <p:cNvPr id="7" name="Rectangle 6"/>
          <p:cNvSpPr/>
          <p:nvPr/>
        </p:nvSpPr>
        <p:spPr>
          <a:xfrm rot="10800000" flipV="1">
            <a:off x="179512" y="6525344"/>
            <a:ext cx="648072" cy="1800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3</a:t>
            </a:r>
          </a:p>
        </p:txBody>
      </p:sp>
      <p:sp>
        <p:nvSpPr>
          <p:cNvPr id="8" name="Rectangle 7"/>
          <p:cNvSpPr/>
          <p:nvPr/>
        </p:nvSpPr>
        <p:spPr>
          <a:xfrm rot="10800000" flipV="1">
            <a:off x="1907703" y="6597350"/>
            <a:ext cx="4320480" cy="1080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Messaging &amp; Collaboration Program Reporting </a:t>
            </a:r>
            <a:r>
              <a:rPr lang="en-US" sz="1100" dirty="0" smtClean="0"/>
              <a:t>Process July 2013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4815781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Report Data Flow?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395536" y="4026768"/>
            <a:ext cx="4702224" cy="288032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dirty="0" smtClean="0">
                <a:solidFill>
                  <a:schemeClr val="bg2"/>
                </a:solidFill>
              </a:rPr>
              <a:t>Transition</a:t>
            </a:r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5536" y="5589240"/>
            <a:ext cx="4702224" cy="288032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dirty="0" smtClean="0">
                <a:solidFill>
                  <a:schemeClr val="bg2"/>
                </a:solidFill>
              </a:rPr>
              <a:t>Finances</a:t>
            </a:r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5536" y="5085184"/>
            <a:ext cx="4702224" cy="288032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dirty="0" smtClean="0">
                <a:solidFill>
                  <a:schemeClr val="bg2"/>
                </a:solidFill>
              </a:rPr>
              <a:t>Vendor</a:t>
            </a:r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95536" y="4611216"/>
            <a:ext cx="4702224" cy="288032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dirty="0" smtClean="0">
                <a:solidFill>
                  <a:schemeClr val="bg2"/>
                </a:solidFill>
              </a:rPr>
              <a:t>Change/Deployment</a:t>
            </a:r>
            <a:endParaRPr lang="en-GB" dirty="0">
              <a:solidFill>
                <a:schemeClr val="bg2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95536" y="2564904"/>
            <a:ext cx="1505360" cy="5760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50" b="1" dirty="0" err="1" smtClean="0">
                <a:solidFill>
                  <a:schemeClr val="tx1">
                    <a:lumMod val="75000"/>
                  </a:schemeClr>
                </a:solidFill>
              </a:rPr>
              <a:t>Lync</a:t>
            </a:r>
            <a:endParaRPr lang="en-GB" sz="105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73423" y="2564904"/>
            <a:ext cx="1532295" cy="576064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50" b="1" dirty="0" smtClean="0">
                <a:solidFill>
                  <a:schemeClr val="tx1">
                    <a:lumMod val="75000"/>
                  </a:schemeClr>
                </a:solidFill>
              </a:rPr>
              <a:t>Outlook/Exchange</a:t>
            </a:r>
            <a:endParaRPr lang="en-GB" sz="105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707903" y="2564903"/>
            <a:ext cx="1462967" cy="5760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50" b="1" dirty="0" smtClean="0">
                <a:solidFill>
                  <a:schemeClr val="tx1">
                    <a:lumMod val="75000"/>
                  </a:schemeClr>
                </a:solidFill>
              </a:rPr>
              <a:t>Collaboration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31232" y="1556792"/>
            <a:ext cx="1324744" cy="432048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b="1" dirty="0" smtClean="0">
                <a:solidFill>
                  <a:schemeClr val="tx1">
                    <a:lumMod val="75000"/>
                  </a:schemeClr>
                </a:solidFill>
              </a:rPr>
              <a:t>Exec Steering  </a:t>
            </a:r>
            <a:r>
              <a:rPr lang="en-GB" sz="1000" b="1" dirty="0" smtClean="0">
                <a:solidFill>
                  <a:schemeClr val="tx1">
                    <a:lumMod val="75000"/>
                  </a:schemeClr>
                </a:solidFill>
              </a:rPr>
              <a:t>Pack</a:t>
            </a:r>
            <a:endParaRPr lang="en-GB" sz="100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48216" y="1556792"/>
            <a:ext cx="1429264" cy="432048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b="1" dirty="0" smtClean="0">
                <a:solidFill>
                  <a:schemeClr val="tx1">
                    <a:lumMod val="75000"/>
                  </a:schemeClr>
                </a:solidFill>
              </a:rPr>
              <a:t>Exec IT PM Tool Report</a:t>
            </a:r>
            <a:endParaRPr lang="en-GB" sz="100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7" name="Right Brace 16"/>
          <p:cNvSpPr/>
          <p:nvPr/>
        </p:nvSpPr>
        <p:spPr>
          <a:xfrm>
            <a:off x="5528628" y="4005064"/>
            <a:ext cx="433228" cy="18722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ight Brace 17"/>
          <p:cNvSpPr/>
          <p:nvPr/>
        </p:nvSpPr>
        <p:spPr>
          <a:xfrm>
            <a:off x="5506924" y="2509660"/>
            <a:ext cx="433228" cy="113536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ight Brace 18"/>
          <p:cNvSpPr/>
          <p:nvPr/>
        </p:nvSpPr>
        <p:spPr>
          <a:xfrm>
            <a:off x="5528628" y="1484784"/>
            <a:ext cx="433228" cy="50405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Up Arrow 20"/>
          <p:cNvSpPr/>
          <p:nvPr/>
        </p:nvSpPr>
        <p:spPr>
          <a:xfrm>
            <a:off x="5220072" y="4026768"/>
            <a:ext cx="242316" cy="1850504"/>
          </a:xfrm>
          <a:prstGeom prst="upArrow">
            <a:avLst/>
          </a:prstGeom>
          <a:solidFill>
            <a:schemeClr val="accent2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GB" dirty="0" err="1">
              <a:solidFill>
                <a:srgbClr val="000000"/>
              </a:solidFill>
            </a:endParaRPr>
          </a:p>
        </p:txBody>
      </p:sp>
      <p:sp>
        <p:nvSpPr>
          <p:cNvPr id="23" name="Up Arrow 22"/>
          <p:cNvSpPr/>
          <p:nvPr/>
        </p:nvSpPr>
        <p:spPr>
          <a:xfrm>
            <a:off x="1834192" y="2060848"/>
            <a:ext cx="242316" cy="360040"/>
          </a:xfrm>
          <a:prstGeom prst="upArrow">
            <a:avLst/>
          </a:prstGeom>
          <a:solidFill>
            <a:schemeClr val="accent2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GB" dirty="0" err="1">
              <a:solidFill>
                <a:srgbClr val="000000"/>
              </a:solidFill>
            </a:endParaRPr>
          </a:p>
        </p:txBody>
      </p:sp>
      <p:sp>
        <p:nvSpPr>
          <p:cNvPr id="25" name="Up Arrow 24"/>
          <p:cNvSpPr/>
          <p:nvPr/>
        </p:nvSpPr>
        <p:spPr>
          <a:xfrm>
            <a:off x="3439282" y="2060848"/>
            <a:ext cx="242316" cy="360040"/>
          </a:xfrm>
          <a:prstGeom prst="upArrow">
            <a:avLst/>
          </a:prstGeom>
          <a:solidFill>
            <a:schemeClr val="accent2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GB" dirty="0" err="1">
              <a:solidFill>
                <a:srgbClr val="000000"/>
              </a:solidFill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4553843" y="3789040"/>
            <a:ext cx="0" cy="20882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707904" y="3356992"/>
            <a:ext cx="713326" cy="288032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00" b="1" dirty="0" smtClean="0">
                <a:solidFill>
                  <a:schemeClr val="tx1">
                    <a:lumMod val="75000"/>
                  </a:schemeClr>
                </a:solidFill>
              </a:rPr>
              <a:t>Release 1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57545" y="3356992"/>
            <a:ext cx="713326" cy="288032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r>
              <a:rPr lang="en-GB" sz="1050" b="1" dirty="0" smtClean="0">
                <a:solidFill>
                  <a:schemeClr val="tx1">
                    <a:lumMod val="75000"/>
                  </a:schemeClr>
                </a:solidFill>
              </a:rPr>
              <a:t>Release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1031" y="1484784"/>
            <a:ext cx="302679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 smtClean="0"/>
              <a:t>All Program and </a:t>
            </a:r>
            <a:r>
              <a:rPr lang="en-GB" sz="1100" dirty="0" err="1" smtClean="0"/>
              <a:t>workstream</a:t>
            </a:r>
            <a:r>
              <a:rPr lang="en-GB" sz="1100" dirty="0" smtClean="0"/>
              <a:t> reports are </a:t>
            </a:r>
          </a:p>
          <a:p>
            <a:r>
              <a:rPr lang="en-GB" sz="1100" dirty="0" smtClean="0"/>
              <a:t>consolidated and submitted as Management </a:t>
            </a:r>
          </a:p>
          <a:p>
            <a:r>
              <a:rPr lang="en-GB" sz="1100" dirty="0" smtClean="0"/>
              <a:t>Information packs to Executives.    </a:t>
            </a:r>
            <a:endParaRPr lang="en-GB" sz="1100" dirty="0"/>
          </a:p>
        </p:txBody>
      </p:sp>
      <p:sp>
        <p:nvSpPr>
          <p:cNvPr id="33" name="TextBox 32"/>
          <p:cNvSpPr txBox="1"/>
          <p:nvPr/>
        </p:nvSpPr>
        <p:spPr>
          <a:xfrm>
            <a:off x="5868144" y="2670011"/>
            <a:ext cx="30348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 smtClean="0"/>
              <a:t>Program level </a:t>
            </a:r>
            <a:r>
              <a:rPr lang="en-GB" sz="1100" dirty="0" smtClean="0"/>
              <a:t>reports consist of consolidated </a:t>
            </a:r>
          </a:p>
          <a:p>
            <a:r>
              <a:rPr lang="en-GB" sz="1100" dirty="0" smtClean="0"/>
              <a:t>horizontal </a:t>
            </a:r>
            <a:r>
              <a:rPr lang="en-GB" sz="1100" dirty="0" err="1" smtClean="0"/>
              <a:t>workstreams</a:t>
            </a:r>
            <a:r>
              <a:rPr lang="en-GB" sz="1100" dirty="0"/>
              <a:t> </a:t>
            </a:r>
            <a:r>
              <a:rPr lang="en-GB" sz="1100" dirty="0" smtClean="0"/>
              <a:t>reports and </a:t>
            </a:r>
          </a:p>
          <a:p>
            <a:r>
              <a:rPr lang="en-GB" sz="1100" dirty="0"/>
              <a:t>P</a:t>
            </a:r>
            <a:r>
              <a:rPr lang="en-GB" sz="1100" dirty="0" smtClean="0"/>
              <a:t>rogram reports to produce ITS Reports</a:t>
            </a:r>
          </a:p>
          <a:p>
            <a:r>
              <a:rPr lang="en-GB" sz="1100" dirty="0" smtClean="0"/>
              <a:t> and  Executive Steering packs</a:t>
            </a:r>
            <a:endParaRPr lang="en-GB" sz="1100" dirty="0"/>
          </a:p>
        </p:txBody>
      </p:sp>
      <p:sp>
        <p:nvSpPr>
          <p:cNvPr id="34" name="TextBox 33"/>
          <p:cNvSpPr txBox="1"/>
          <p:nvPr/>
        </p:nvSpPr>
        <p:spPr>
          <a:xfrm>
            <a:off x="5940152" y="4714582"/>
            <a:ext cx="25731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 smtClean="0"/>
              <a:t>Horizontal </a:t>
            </a:r>
            <a:r>
              <a:rPr lang="en-GB" sz="1100" dirty="0" err="1" smtClean="0"/>
              <a:t>workstream</a:t>
            </a:r>
            <a:r>
              <a:rPr lang="en-GB" sz="1100" dirty="0" err="1" smtClean="0"/>
              <a:t>s</a:t>
            </a:r>
            <a:r>
              <a:rPr lang="en-GB" sz="1100" dirty="0" smtClean="0"/>
              <a:t> provide status</a:t>
            </a:r>
          </a:p>
          <a:p>
            <a:r>
              <a:rPr lang="en-GB" sz="1100" dirty="0" smtClean="0"/>
              <a:t> inputs into </a:t>
            </a:r>
            <a:r>
              <a:rPr lang="en-GB" sz="1100" dirty="0"/>
              <a:t>P</a:t>
            </a:r>
            <a:r>
              <a:rPr lang="en-GB" sz="1100" dirty="0" smtClean="0"/>
              <a:t>rogram level reports</a:t>
            </a:r>
            <a:endParaRPr lang="en-GB" sz="1100" dirty="0"/>
          </a:p>
        </p:txBody>
      </p:sp>
      <p:sp>
        <p:nvSpPr>
          <p:cNvPr id="35" name="Rectangle 34"/>
          <p:cNvSpPr/>
          <p:nvPr/>
        </p:nvSpPr>
        <p:spPr>
          <a:xfrm rot="10800000" flipV="1">
            <a:off x="179512" y="6381328"/>
            <a:ext cx="576064" cy="2160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4</a:t>
            </a:r>
          </a:p>
        </p:txBody>
      </p:sp>
      <p:sp>
        <p:nvSpPr>
          <p:cNvPr id="37" name="Rectangle 36"/>
          <p:cNvSpPr/>
          <p:nvPr/>
        </p:nvSpPr>
        <p:spPr>
          <a:xfrm rot="10800000" flipV="1">
            <a:off x="1907703" y="6597350"/>
            <a:ext cx="4320480" cy="1080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Messaging &amp; Collaboration Program Reporting </a:t>
            </a:r>
            <a:r>
              <a:rPr lang="en-US" sz="1100" dirty="0" smtClean="0"/>
              <a:t>Process July 2013</a:t>
            </a:r>
            <a:endParaRPr lang="en-US" sz="1100" dirty="0"/>
          </a:p>
        </p:txBody>
      </p:sp>
      <p:cxnSp>
        <p:nvCxnSpPr>
          <p:cNvPr id="30" name="Straight Arrow Connector 29"/>
          <p:cNvCxnSpPr/>
          <p:nvPr/>
        </p:nvCxnSpPr>
        <p:spPr>
          <a:xfrm flipV="1">
            <a:off x="1205968" y="3140968"/>
            <a:ext cx="0" cy="26963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10420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 bwMode="gray">
          <a:xfrm>
            <a:off x="76200" y="1012491"/>
            <a:ext cx="8534400" cy="54168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endParaRPr lang="en-GB" sz="1600" dirty="0" smtClean="0">
              <a:solidFill>
                <a:srgbClr val="646464"/>
              </a:solidFill>
            </a:endParaRPr>
          </a:p>
          <a:p>
            <a:pPr marL="266700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endParaRPr lang="en-GB" sz="1100" dirty="0" smtClean="0">
              <a:solidFill>
                <a:srgbClr val="646464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 bwMode="gray">
          <a:xfrm>
            <a:off x="304800" y="228601"/>
            <a:ext cx="8534400" cy="49244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lvl="1" indent="0" defTabSz="955675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tabLst/>
            </a:pPr>
            <a:r>
              <a:rPr lang="en-GB" sz="2600" b="1" dirty="0" err="1" smtClean="0">
                <a:solidFill>
                  <a:srgbClr val="646464"/>
                </a:solidFill>
                <a:latin typeface="+mj-lt"/>
              </a:rPr>
              <a:t>Workstream</a:t>
            </a:r>
            <a:r>
              <a:rPr lang="en-GB" sz="2600" b="1" dirty="0" smtClean="0">
                <a:solidFill>
                  <a:srgbClr val="646464"/>
                </a:solidFill>
                <a:latin typeface="+mj-lt"/>
              </a:rPr>
              <a:t> Lead Responsibilities</a:t>
            </a:r>
            <a:endParaRPr lang="en-GB" sz="2600" dirty="0" smtClean="0">
              <a:solidFill>
                <a:srgbClr val="646464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0" y="1412776"/>
            <a:ext cx="821506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err="1">
                <a:solidFill>
                  <a:srgbClr val="646464"/>
                </a:solidFill>
              </a:rPr>
              <a:t>Workstream</a:t>
            </a:r>
            <a:r>
              <a:rPr lang="en-GB" sz="1400" dirty="0">
                <a:solidFill>
                  <a:srgbClr val="646464"/>
                </a:solidFill>
              </a:rPr>
              <a:t> Leads must upload completed reports into </a:t>
            </a:r>
            <a:r>
              <a:rPr lang="en-GB" sz="1400" dirty="0" smtClean="0">
                <a:solidFill>
                  <a:srgbClr val="646464"/>
                </a:solidFill>
              </a:rPr>
              <a:t>SharePoint folder created by PMO</a:t>
            </a:r>
            <a:endParaRPr lang="en-GB" sz="1400" dirty="0">
              <a:solidFill>
                <a:srgbClr val="646464"/>
              </a:solidFill>
            </a:endParaRPr>
          </a:p>
          <a:p>
            <a:pPr marL="804863" lvl="2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M&amp;C PMO will </a:t>
            </a:r>
            <a:r>
              <a:rPr lang="en-GB" sz="1400" dirty="0" smtClean="0">
                <a:solidFill>
                  <a:srgbClr val="646464"/>
                </a:solidFill>
              </a:rPr>
              <a:t>email the link to the latest folder repository to the </a:t>
            </a:r>
            <a:r>
              <a:rPr lang="en-GB" sz="1400" dirty="0" err="1" smtClean="0">
                <a:solidFill>
                  <a:srgbClr val="646464"/>
                </a:solidFill>
              </a:rPr>
              <a:t>Workstream</a:t>
            </a:r>
            <a:r>
              <a:rPr lang="en-GB" sz="1400" dirty="0" smtClean="0">
                <a:solidFill>
                  <a:srgbClr val="646464"/>
                </a:solidFill>
              </a:rPr>
              <a:t> Leads on a weekly basis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err="1" smtClean="0">
                <a:solidFill>
                  <a:srgbClr val="646464"/>
                </a:solidFill>
              </a:rPr>
              <a:t>Workstream</a:t>
            </a:r>
            <a:r>
              <a:rPr lang="en-GB" sz="1400" dirty="0" smtClean="0">
                <a:solidFill>
                  <a:srgbClr val="646464"/>
                </a:solidFill>
              </a:rPr>
              <a:t> Leads should use the following naming convention below when uploading the reports: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600" dirty="0">
                <a:solidFill>
                  <a:srgbClr val="646464"/>
                </a:solidFill>
              </a:rPr>
              <a:t> </a:t>
            </a:r>
            <a:r>
              <a:rPr lang="en-GB" sz="1400" dirty="0" smtClean="0">
                <a:solidFill>
                  <a:srgbClr val="646464"/>
                </a:solidFill>
              </a:rPr>
              <a:t>&lt;&lt;Program&gt;&gt; &lt;&lt;</a:t>
            </a:r>
            <a:r>
              <a:rPr lang="en-GB" sz="1400" dirty="0" err="1" smtClean="0">
                <a:solidFill>
                  <a:srgbClr val="646464"/>
                </a:solidFill>
              </a:rPr>
              <a:t>Workstream</a:t>
            </a:r>
            <a:r>
              <a:rPr lang="en-GB" sz="1400" dirty="0" smtClean="0">
                <a:solidFill>
                  <a:srgbClr val="646464"/>
                </a:solidFill>
              </a:rPr>
              <a:t>&gt;&gt; &lt;&lt;Period of Reporting&gt;&gt;&lt;&lt;Status Report&gt;&gt;&lt;&lt;MMMYYYY&gt;&gt;</a:t>
            </a:r>
          </a:p>
          <a:p>
            <a:pPr marL="347663" lvl="1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600" dirty="0">
                <a:solidFill>
                  <a:srgbClr val="646464"/>
                </a:solidFill>
              </a:rPr>
              <a:t> </a:t>
            </a:r>
            <a:r>
              <a:rPr lang="en-GB" sz="1400" b="1" dirty="0" smtClean="0">
                <a:solidFill>
                  <a:srgbClr val="646464"/>
                </a:solidFill>
              </a:rPr>
              <a:t>Collaboration Release 1 (Mid-Month or Month End) Status Report Jul 2013</a:t>
            </a:r>
            <a:endParaRPr lang="en-GB" sz="1400" b="1" dirty="0">
              <a:solidFill>
                <a:srgbClr val="646464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 rot="10800000" flipV="1">
            <a:off x="251520" y="6465029"/>
            <a:ext cx="522784" cy="204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/>
              <a:t>5</a:t>
            </a:r>
            <a:endParaRPr lang="en-GB" sz="1100" dirty="0"/>
          </a:p>
        </p:txBody>
      </p:sp>
      <p:sp>
        <p:nvSpPr>
          <p:cNvPr id="11" name="Rectangle 10"/>
          <p:cNvSpPr/>
          <p:nvPr/>
        </p:nvSpPr>
        <p:spPr>
          <a:xfrm rot="10800000" flipV="1">
            <a:off x="1907703" y="6597350"/>
            <a:ext cx="4320480" cy="1080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Messaging &amp; Collaboration Program Reporting </a:t>
            </a:r>
            <a:r>
              <a:rPr lang="en-US" sz="1100" dirty="0" smtClean="0"/>
              <a:t>Process July 2013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35678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600" dirty="0" smtClean="0"/>
              <a:t>Useful links</a:t>
            </a:r>
            <a:endParaRPr lang="en-GB" sz="2600" dirty="0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395536" y="1124744"/>
            <a:ext cx="8220075" cy="4503737"/>
          </a:xfrm>
        </p:spPr>
        <p:txBody>
          <a:bodyPr/>
          <a:lstStyle/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</a:rPr>
              <a:t>Program ITS Status Report Template </a:t>
            </a:r>
            <a:endParaRPr lang="en-GB" sz="1400" dirty="0">
              <a:solidFill>
                <a:srgbClr val="646464"/>
              </a:solidFill>
            </a:endParaRP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</a:rPr>
              <a:t>Sub-Program Health Report Template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>
                <a:solidFill>
                  <a:srgbClr val="646464"/>
                </a:solidFill>
              </a:rPr>
              <a:t>Executive Report </a:t>
            </a:r>
            <a:r>
              <a:rPr lang="en-GB" sz="1400" dirty="0" smtClean="0">
                <a:solidFill>
                  <a:srgbClr val="646464"/>
                </a:solidFill>
              </a:rPr>
              <a:t>Template</a:t>
            </a:r>
            <a:endParaRPr lang="en-GB" sz="1400" dirty="0">
              <a:solidFill>
                <a:srgbClr val="646464"/>
              </a:solidFill>
            </a:endParaRP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</a:rPr>
              <a:t>Program RAG Reporting Guidelines</a:t>
            </a:r>
          </a:p>
          <a:p>
            <a:pPr marL="449263" indent="-180975" defTabSz="9556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tabLst>
                <a:tab pos="534988" algn="l"/>
              </a:tabLst>
            </a:pPr>
            <a:r>
              <a:rPr lang="en-GB" sz="1400" dirty="0" smtClean="0">
                <a:solidFill>
                  <a:srgbClr val="646464"/>
                </a:solidFill>
              </a:rPr>
              <a:t>Program Reporting Cadence</a:t>
            </a:r>
            <a:endParaRPr lang="en-GB" sz="1400" dirty="0">
              <a:solidFill>
                <a:srgbClr val="646464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en-GB" sz="1600" dirty="0" smtClean="0"/>
          </a:p>
          <a:p>
            <a:pPr>
              <a:buNone/>
            </a:pPr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2771800" y="6453336"/>
            <a:ext cx="108012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2771800" y="6453336"/>
            <a:ext cx="1080120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 rot="10800000" flipV="1">
            <a:off x="251520" y="6453336"/>
            <a:ext cx="468052" cy="2160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 smtClean="0"/>
              <a:t>6</a:t>
            </a:r>
            <a:endParaRPr lang="en-GB" sz="1100" dirty="0"/>
          </a:p>
        </p:txBody>
      </p:sp>
      <p:sp>
        <p:nvSpPr>
          <p:cNvPr id="10" name="Rectangle 9"/>
          <p:cNvSpPr/>
          <p:nvPr/>
        </p:nvSpPr>
        <p:spPr>
          <a:xfrm rot="10800000" flipV="1">
            <a:off x="1907703" y="6597350"/>
            <a:ext cx="4320480" cy="1080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Messaging &amp; Collaboration Program Reporting </a:t>
            </a:r>
            <a:r>
              <a:rPr lang="en-US" sz="1100" dirty="0" smtClean="0"/>
              <a:t>Process July 2013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3355369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4941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6.0&quot;&gt;&lt;object type=&quot;1&quot; unique_id=&quot;10001&quot;&gt;&lt;object type=&quot;8&quot; unique_id=&quot;10032&quot;&gt;&lt;/object&gt;&lt;object type=&quot;2&quot; unique_id=&quot;10033&quot;&gt;&lt;object type=&quot;3&quot; unique_id=&quot;10034&quot;&gt;&lt;property id=&quot;20148&quot; value=&quot;5&quot;/&gt;&lt;property id=&quot;20300&quot; value=&quot;Slide 1&quot;/&gt;&lt;property id=&quot;20307&quot; value=&quot;256&quot;/&gt;&lt;/object&gt;&lt;object type=&quot;3&quot; unique_id=&quot;10035&quot;&gt;&lt;property id=&quot;20148&quot; value=&quot;5&quot;/&gt;&lt;property id=&quot;20300&quot; value=&quot;Slide 2 - &amp;quot;Agenda&amp;quot;&quot;/&gt;&lt;property id=&quot;20307&quot; value=&quot;258&quot;/&gt;&lt;/object&gt;&lt;object type=&quot;3&quot; unique_id=&quot;10036&quot;&gt;&lt;property id=&quot;20148&quot; value=&quot;5&quot;/&gt;&lt;property id=&quot;20300&quot; value=&quot;Slide 3 - &amp;quot;Text styles&amp;quot;&quot;/&gt;&lt;property id=&quot;20307&quot; value=&quot;259&quot;/&gt;&lt;/object&gt;&lt;object type=&quot;3&quot; unique_id=&quot;10037&quot;&gt;&lt;property id=&quot;20148&quot; value=&quot;5&quot;/&gt;&lt;property id=&quot;20300&quot; value=&quot;Slide 4 - &amp;quot;Divider (Pattern)&amp;quot;&quot;/&gt;&lt;property id=&quot;20307&quot; value=&quot;260&quot;/&gt;&lt;/object&gt;&lt;object type=&quot;3&quot; unique_id=&quot;10038&quot;&gt;&lt;property id=&quot;20148&quot; value=&quot;5&quot;/&gt;&lt;property id=&quot;20300&quot; value=&quot;Slide 5 - &amp;quot;Text and chart&amp;quot;&quot;/&gt;&lt;property id=&quot;20307&quot; value=&quot;261&quot;/&gt;&lt;/object&gt;&lt;object type=&quot;3&quot; unique_id=&quot;10039&quot;&gt;&lt;property id=&quot;20148&quot; value=&quot;5&quot;/&gt;&lt;property id=&quot;20300&quot; value=&quot;Slide 6 - &amp;quot;Table and text&amp;quot;&quot;/&gt;&lt;property id=&quot;20307&quot; value=&quot;265&quot;/&gt;&lt;/object&gt;&lt;object type=&quot;3&quot; unique_id=&quot;10040&quot;&gt;&lt;property id=&quot;20148&quot; value=&quot;5&quot;/&gt;&lt;property id=&quot;20300&quot; value=&quot;Slide 7 - &amp;quot;Text and table&amp;quot;&quot;/&gt;&lt;property id=&quot;20307&quot; value=&quot;266&quot;/&gt;&lt;/object&gt;&lt;object type=&quot;3&quot; unique_id=&quot;10041&quot;&gt;&lt;property id=&quot;20148&quot; value=&quot;5&quot;/&gt;&lt;property id=&quot;20300&quot; value=&quot;Slide 8 - &amp;quot;Thank you&amp;quot;&quot;/&gt;&lt;property id=&quot;20307&quot; value=&quot;267&quot;/&gt;&lt;/object&gt;&lt;/object&gt;&lt;/object&gt;&lt;/database&gt;"/>
</p:tagLst>
</file>

<file path=ppt/theme/theme1.xml><?xml version="1.0" encoding="utf-8"?>
<a:theme xmlns:a="http://schemas.openxmlformats.org/drawingml/2006/main" name="White background - Onscreen">
  <a:themeElements>
    <a:clrScheme name="EY White">
      <a:dk1>
        <a:srgbClr val="333333"/>
      </a:dk1>
      <a:lt1>
        <a:srgbClr val="808080"/>
      </a:lt1>
      <a:dk2>
        <a:srgbClr val="FFFFFF"/>
      </a:dk2>
      <a:lt2>
        <a:srgbClr val="808080"/>
      </a:lt2>
      <a:accent1>
        <a:srgbClr val="808080"/>
      </a:accent1>
      <a:accent2>
        <a:srgbClr val="FFD200"/>
      </a:accent2>
      <a:accent3>
        <a:srgbClr val="999999"/>
      </a:accent3>
      <a:accent4>
        <a:srgbClr val="FFFFFF"/>
      </a:accent4>
      <a:accent5>
        <a:srgbClr val="00A3AE"/>
      </a:accent5>
      <a:accent6>
        <a:srgbClr val="C0C0C0"/>
      </a:accent6>
      <a:hlink>
        <a:srgbClr val="2C973E"/>
      </a:hlink>
      <a:folHlink>
        <a:srgbClr val="91278F"/>
      </a:folHlink>
    </a:clrScheme>
    <a:fontScheme name="EY (Arial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72000" rIns="72000" bIns="72000" rtlCol="0" anchor="ctr"/>
      <a:lstStyle>
        <a:defPPr algn="ctr">
          <a:defRPr dirty="0" err="1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EY Printed">
      <a:dk1>
        <a:sysClr val="windowText" lastClr="000000"/>
      </a:dk1>
      <a:lt1>
        <a:srgbClr val="F2F2F2"/>
      </a:lt1>
      <a:dk2>
        <a:srgbClr val="000000"/>
      </a:dk2>
      <a:lt2>
        <a:srgbClr val="FFFFFF"/>
      </a:lt2>
      <a:accent1>
        <a:srgbClr val="7F7E82"/>
      </a:accent1>
      <a:accent2>
        <a:srgbClr val="FFE600"/>
      </a:accent2>
      <a:accent3>
        <a:srgbClr val="A5A4A7"/>
      </a:accent3>
      <a:accent4>
        <a:srgbClr val="CCCBCD"/>
      </a:accent4>
      <a:accent5>
        <a:srgbClr val="FFF27F"/>
      </a:accent5>
      <a:accent6>
        <a:srgbClr val="2C973E"/>
      </a:accent6>
      <a:hlink>
        <a:srgbClr val="336699"/>
      </a:hlink>
      <a:folHlink>
        <a:srgbClr val="7F7E82"/>
      </a:folHlink>
    </a:clrScheme>
    <a:fontScheme name="EY (Arial)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EY Printed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7F7E82"/>
      </a:accent1>
      <a:accent2>
        <a:srgbClr val="FFE600"/>
      </a:accent2>
      <a:accent3>
        <a:srgbClr val="A5A4A7"/>
      </a:accent3>
      <a:accent4>
        <a:srgbClr val="CCCBCD"/>
      </a:accent4>
      <a:accent5>
        <a:srgbClr val="FFF27F"/>
      </a:accent5>
      <a:accent6>
        <a:srgbClr val="2C973E"/>
      </a:accent6>
      <a:hlink>
        <a:srgbClr val="336699"/>
      </a:hlink>
      <a:folHlink>
        <a:srgbClr val="7F7E8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Y White">
    <a:dk1>
      <a:srgbClr val="333333"/>
    </a:dk1>
    <a:lt1>
      <a:srgbClr val="808080"/>
    </a:lt1>
    <a:dk2>
      <a:srgbClr val="FFFFFF"/>
    </a:dk2>
    <a:lt2>
      <a:srgbClr val="808080"/>
    </a:lt2>
    <a:accent1>
      <a:srgbClr val="808080"/>
    </a:accent1>
    <a:accent2>
      <a:srgbClr val="FFD200"/>
    </a:accent2>
    <a:accent3>
      <a:srgbClr val="999999"/>
    </a:accent3>
    <a:accent4>
      <a:srgbClr val="FFFFFF"/>
    </a:accent4>
    <a:accent5>
      <a:srgbClr val="00A3AE"/>
    </a:accent5>
    <a:accent6>
      <a:srgbClr val="C0C0C0"/>
    </a:accent6>
    <a:hlink>
      <a:srgbClr val="2C973E"/>
    </a:hlink>
    <a:folHlink>
      <a:srgbClr val="91278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_dlc_DocId xmlns="0cbe1240-e4fe-486d-8edc-2712abb96eb4">MSIBM-75-4674</_dlc_DocId>
    <_dlc_DocIdUrl xmlns="0cbe1240-e4fe-486d-8edc-2712abb96eb4">
      <Url>http://sp.ey.net/msibm/_layouts/DocIdRedir.aspx?ID=MSIBM-75-4674</Url>
      <Description>MSIBM-75-4674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BD4D6DD9E8E844ABCF76CA171F0261" ma:contentTypeVersion="1" ma:contentTypeDescription="Create a new document." ma:contentTypeScope="" ma:versionID="77ad254942208db058e965127797ab8e">
  <xsd:schema xmlns:xsd="http://www.w3.org/2001/XMLSchema" xmlns:xs="http://www.w3.org/2001/XMLSchema" xmlns:p="http://schemas.microsoft.com/office/2006/metadata/properties" xmlns:ns2="0cbe1240-e4fe-486d-8edc-2712abb96eb4" xmlns:ns3="http://schemas.microsoft.com/sharepoint/v4" targetNamespace="http://schemas.microsoft.com/office/2006/metadata/properties" ma:root="true" ma:fieldsID="11e48089c2e39b090a5f6bcc0cdab83b" ns2:_="" ns3:_="">
    <xsd:import namespace="0cbe1240-e4fe-486d-8edc-2712abb96eb4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e1240-e4fe-486d-8edc-2712abb96eb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1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883385-F8DB-4994-8419-096BF5A1945F}">
  <ds:schemaRefs>
    <ds:schemaRef ds:uri="http://www.w3.org/XML/1998/namespace"/>
    <ds:schemaRef ds:uri="0cbe1240-e4fe-486d-8edc-2712abb96eb4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sharepoint/v4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91DB12A-87B0-4601-BD2B-4598290CED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6B9540-358A-404D-8F9B-CF27B6751025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B2EB9C3D-F080-4322-959E-9201AB384E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be1240-e4fe-486d-8edc-2712abb96eb4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2531</TotalTime>
  <Words>463</Words>
  <Application>Microsoft Office PowerPoint</Application>
  <PresentationFormat>On-screen Show (4:3)</PresentationFormat>
  <Paragraphs>133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White background - Onscreen</vt:lpstr>
      <vt:lpstr>PowerPoint Presentation</vt:lpstr>
      <vt:lpstr>Reporting Cadence</vt:lpstr>
      <vt:lpstr>Overview of report types?</vt:lpstr>
      <vt:lpstr>Report Data Flow?</vt:lpstr>
      <vt:lpstr>PowerPoint Presentation</vt:lpstr>
      <vt:lpstr>Useful links</vt:lpstr>
      <vt:lpstr>Thank you</vt:lpstr>
    </vt:vector>
  </TitlesOfParts>
  <Company>Ernst &amp; Young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20130705 Program Weekly Sub Program Health Report 5 July</dc:title>
  <dc:creator>Wale Agbaje</dc:creator>
  <cp:lastModifiedBy>Wale Agbaje</cp:lastModifiedBy>
  <cp:revision>129</cp:revision>
  <cp:lastPrinted>2013-07-24T12:03:45Z</cp:lastPrinted>
  <dcterms:created xsi:type="dcterms:W3CDTF">2013-07-02T10:58:24Z</dcterms:created>
  <dcterms:modified xsi:type="dcterms:W3CDTF">2013-07-25T11:48:31Z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0x0101004BBD4D6DD9E8E844ABCF76CA171F0261</vt:lpwstr>
  </property>
  <property fmtid="{D5CDD505-2E9C-101B-9397-08002B2CF9AE}" pid="3" name="_dlc_DocIdItemGuid">
    <vt:lpwstr>7ce62faa-f99f-4aad-941f-921b47853f3f</vt:lpwstr>
  </property>
</Properties>
</file>