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8"/>
  </p:notesMasterIdLst>
  <p:sldIdLst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eil Sahdev" initials="NS" lastIdx="1" clrIdx="0"/>
  <p:cmAuthor id="1" name="Wale Agbaje" initials="WA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231" autoAdjust="0"/>
    <p:restoredTop sz="94676" autoAdjust="0"/>
  </p:normalViewPr>
  <p:slideViewPr>
    <p:cSldViewPr>
      <p:cViewPr varScale="1">
        <p:scale>
          <a:sx n="114" d="100"/>
          <a:sy n="114" d="100"/>
        </p:scale>
        <p:origin x="230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ir A" userId="520348fd6b58418e" providerId="LiveId" clId="{4FEBA4CB-8C10-427A-9121-E33CE12E983E}"/>
    <pc:docChg chg="modSld">
      <pc:chgData name="Nasir A" userId="520348fd6b58418e" providerId="LiveId" clId="{4FEBA4CB-8C10-427A-9121-E33CE12E983E}" dt="2022-05-27T19:34:13.579" v="20" actId="20577"/>
      <pc:docMkLst>
        <pc:docMk/>
      </pc:docMkLst>
      <pc:sldChg chg="modSp mod">
        <pc:chgData name="Nasir A" userId="520348fd6b58418e" providerId="LiveId" clId="{4FEBA4CB-8C10-427A-9121-E33CE12E983E}" dt="2022-05-27T19:34:13.579" v="20" actId="20577"/>
        <pc:sldMkLst>
          <pc:docMk/>
          <pc:sldMk cId="0" sldId="258"/>
        </pc:sldMkLst>
        <pc:graphicFrameChg chg="modGraphic">
          <ac:chgData name="Nasir A" userId="520348fd6b58418e" providerId="LiveId" clId="{4FEBA4CB-8C10-427A-9121-E33CE12E983E}" dt="2022-05-27T19:33:24.242" v="14" actId="20577"/>
          <ac:graphicFrameMkLst>
            <pc:docMk/>
            <pc:sldMk cId="0" sldId="258"/>
            <ac:graphicFrameMk id="3317" creationId="{00000000-0000-0000-0000-000000000000}"/>
          </ac:graphicFrameMkLst>
        </pc:graphicFrameChg>
        <pc:graphicFrameChg chg="modGraphic">
          <ac:chgData name="Nasir A" userId="520348fd6b58418e" providerId="LiveId" clId="{4FEBA4CB-8C10-427A-9121-E33CE12E983E}" dt="2022-05-27T19:34:13.579" v="20" actId="20577"/>
          <ac:graphicFrameMkLst>
            <pc:docMk/>
            <pc:sldMk cId="0" sldId="258"/>
            <ac:graphicFrameMk id="3342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AA913-E2A9-42D5-B1E8-523C4BEDE6E7}" type="datetimeFigureOut">
              <a:rPr lang="en-GB" smtClean="0"/>
              <a:pPr/>
              <a:t>27/05/2022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DC5EC-3446-49E3-9BA4-DF0148D6158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53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0" descr="EY_Q Logo"/>
          <p:cNvPicPr>
            <a:picLocks noChangeArrowheads="1"/>
          </p:cNvPicPr>
          <p:nvPr/>
        </p:nvPicPr>
        <p:blipFill>
          <a:blip r:embed="rId25" cstate="print"/>
          <a:srcRect r="4826" b="14285"/>
          <a:stretch>
            <a:fillRect/>
          </a:stretch>
        </p:blipFill>
        <p:spPr bwMode="auto">
          <a:xfrm>
            <a:off x="7838348" y="6396038"/>
            <a:ext cx="1197219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82"/>
          <p:cNvSpPr>
            <a:spLocks noGrp="1" noChangeArrowheads="1"/>
          </p:cNvSpPr>
          <p:nvPr>
            <p:ph type="title"/>
          </p:nvPr>
        </p:nvSpPr>
        <p:spPr bwMode="auto">
          <a:xfrm>
            <a:off x="108439" y="139703"/>
            <a:ext cx="8927123" cy="684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8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39" y="1325563"/>
            <a:ext cx="8927123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49015" name="Line 87"/>
          <p:cNvSpPr>
            <a:spLocks noChangeShapeType="1"/>
          </p:cNvSpPr>
          <p:nvPr/>
        </p:nvSpPr>
        <p:spPr bwMode="auto">
          <a:xfrm>
            <a:off x="108439" y="6362700"/>
            <a:ext cx="8927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49017" name="Rectangle 8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0" y="6472238"/>
            <a:ext cx="2133600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59364" tIns="29682" rIns="59364" bIns="29682" numCol="1" anchor="t" anchorCtr="0" compatLnSpc="1">
            <a:prstTxWarp prst="textNoShape">
              <a:avLst/>
            </a:prstTxWarp>
            <a:spAutoFit/>
          </a:bodyPr>
          <a:lstStyle>
            <a:lvl1pPr algn="l">
              <a:spcBef>
                <a:spcPct val="50000"/>
              </a:spcBef>
              <a:defRPr sz="600">
                <a:latin typeface="EYInterstate Light" pitchFamily="2" charset="0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90B442F2-C673-489A-81D7-6433E3F20430}" type="slidenum">
              <a:rPr lang="en-US" smtClean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49043" name="Text Box 115"/>
          <p:cNvSpPr txBox="1">
            <a:spLocks noChangeArrowheads="1"/>
          </p:cNvSpPr>
          <p:nvPr/>
        </p:nvSpPr>
        <p:spPr bwMode="auto">
          <a:xfrm>
            <a:off x="108444" y="6499226"/>
            <a:ext cx="29937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59372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  <a:latin typeface="EYInterstate Light" pitchFamily="2" charset="0"/>
              </a:rPr>
              <a:t>PM07 Steering committee monthly status report template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7205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Page </a:t>
            </a:r>
            <a:fld id="{2F5DA1AB-FD0F-410F-9FF0-8E935651E8B9}" type="slidenum">
              <a:rPr lang="en-GB" sz="11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sz="11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</p:sldLayoutIdLst>
  <p:transition>
    <p:wipe dir="r"/>
  </p:transition>
  <p:txStyles>
    <p:titleStyle>
      <a:lvl1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+mj-lt"/>
          <a:ea typeface="+mj-ea"/>
          <a:cs typeface="+mj-cs"/>
        </a:defRPr>
      </a:lvl1pPr>
      <a:lvl2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2pPr>
      <a:lvl3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3pPr>
      <a:lvl4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4pPr>
      <a:lvl5pPr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5pPr>
      <a:lvl6pPr marL="4572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6pPr>
      <a:lvl7pPr marL="9144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7pPr>
      <a:lvl8pPr marL="13716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8pPr>
      <a:lvl9pPr marL="1828800" algn="l" defTabSz="955675" rtl="0" eaLnBrk="0" fontAlgn="base" hangingPunct="0">
        <a:spcBef>
          <a:spcPct val="0"/>
        </a:spcBef>
        <a:spcAft>
          <a:spcPct val="54000"/>
        </a:spcAft>
        <a:defRPr b="1">
          <a:solidFill>
            <a:srgbClr val="646464"/>
          </a:solidFill>
          <a:latin typeface="EYInterstate" pitchFamily="2" charset="0"/>
        </a:defRPr>
      </a:lvl9pPr>
    </p:titleStyle>
    <p:bodyStyle>
      <a:lvl1pPr marL="182563" indent="-182563" algn="l" defTabSz="947738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7303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1500">
          <a:solidFill>
            <a:schemeClr val="tx1"/>
          </a:solidFill>
          <a:latin typeface="+mn-lt"/>
        </a:defRPr>
      </a:lvl2pPr>
      <a:lvl3pPr marL="1001713" indent="-230188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1000">
          <a:solidFill>
            <a:schemeClr val="tx1"/>
          </a:solidFill>
          <a:latin typeface="+mn-lt"/>
        </a:defRPr>
      </a:lvl3pPr>
      <a:lvl4pPr marL="1370013" indent="-246063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Arial Narrow" pitchFamily="34" charset="0"/>
        <a:buChar char="–"/>
        <a:defRPr sz="900">
          <a:solidFill>
            <a:schemeClr val="tx1"/>
          </a:solidFill>
          <a:latin typeface="+mn-lt"/>
        </a:defRPr>
      </a:lvl4pPr>
      <a:lvl5pPr marL="1666875" indent="-174625" algn="l" defTabSz="947738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5pPr>
      <a:lvl6pPr marL="21240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6pPr>
      <a:lvl7pPr marL="25812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7pPr>
      <a:lvl8pPr marL="30384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8pPr>
      <a:lvl9pPr marL="3495675" indent="-174625" algn="l" defTabSz="947738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FDCC31"/>
        </a:buClr>
        <a:buFont typeface="EYInterstate" pitchFamily="2" charset="0"/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4" name="Group 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37500"/>
              </p:ext>
            </p:extLst>
          </p:nvPr>
        </p:nvGraphicFramePr>
        <p:xfrm>
          <a:off x="75619" y="2819400"/>
          <a:ext cx="4355123" cy="3195432"/>
        </p:xfrm>
        <a:graphic>
          <a:graphicData uri="http://schemas.openxmlformats.org/drawingml/2006/table">
            <a:tbl>
              <a:tblPr/>
              <a:tblGrid>
                <a:gridCol w="4355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B. KEY ACCOMPLISHMENTS 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36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ATT have completed their Security tasks for all three Data Centres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EYQA AD Trust was established successfully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GAP team have successfully completed the build phase of ‘new’ FIM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CR to SOW2 to extend ATT Consulting Resources has been approved by both EY and ATT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Support models for both pre-pilot and pilot defined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3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C.  ACTIVITIES BEHIND SCHEDULE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32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Completing remaining CoLo build work for Amsterdam</a:t>
                      </a:r>
                      <a:endParaRPr kumimoji="0" lang="en-GB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Finalising contract change for SBA orders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Building the eBond solution – way-forward agreed with ATT, dependant on EY resource availability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Completing the GAP testing required for Lync testing to commence and establishing the Production Trust (I522)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42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D.  KEY ACTIVITIES PLANNED NEXT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79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Establish the Production trust with ATT then commence Infrastructure Readiness Tests.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Agree contracts for procuring future SBAs and implementing additional security controls (services).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Progress remaining activities to finalise  Amsterdam colo spaces.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Commence functional testing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Rollout Lync to ~400 IT Staff (pre-pilot)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34100" name="Group 8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712680"/>
              </p:ext>
            </p:extLst>
          </p:nvPr>
        </p:nvGraphicFramePr>
        <p:xfrm>
          <a:off x="4585490" y="3505200"/>
          <a:ext cx="4495800" cy="2385412"/>
        </p:xfrm>
        <a:graphic>
          <a:graphicData uri="http://schemas.openxmlformats.org/drawingml/2006/table">
            <a:tbl>
              <a:tblPr/>
              <a:tblGrid>
                <a:gridCol w="1665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848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G. MATTERS FOR IMMEDIATE ATTENTION – typically specific current issues or scope changes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52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Issues to be resolved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840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I216 - </a:t>
                      </a: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There is no complete test environment for the M&amp;C Solution so once users are 'live' there is no integrated  way of testing enhancements / fixes</a:t>
                      </a:r>
                      <a:endParaRPr kumimoji="0" 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Look at options for developing the right environment for post go live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01-Nov-13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Tom Cruise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139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I489 - There is currently no plan for the delivery of the eBonding Solution for Lync</a:t>
                      </a:r>
                      <a:endParaRPr kumimoji="0" 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Meet with ATT to agree technical way-fwd </a:t>
                      </a:r>
                      <a:r>
                        <a:rPr kumimoji="0" lang="en-GB" sz="800" b="0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and</a:t>
                      </a: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raise request internally for resource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15-Nov-13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Will Smith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418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Scope Change requests to be approved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Recommended Action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16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CR161 - Additional Security Controls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Approved subject to confirmation from InfoSec and Ops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16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CR TBC - </a:t>
                      </a: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Delays due to two external factors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Quantify impacts of changes from dependant teams (GAP and AD) then update Lync plan accordingly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17" name="Group 2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841378"/>
              </p:ext>
            </p:extLst>
          </p:nvPr>
        </p:nvGraphicFramePr>
        <p:xfrm>
          <a:off x="76200" y="603816"/>
          <a:ext cx="4360985" cy="2046420"/>
        </p:xfrm>
        <a:graphic>
          <a:graphicData uri="http://schemas.openxmlformats.org/drawingml/2006/table">
            <a:tbl>
              <a:tblPr/>
              <a:tblGrid>
                <a:gridCol w="4360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032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A.  </a:t>
                      </a:r>
                      <a:r>
                        <a:rPr kumimoji="0" lang="en-GB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EXECUTIVE SUMMARY – a summary of the progress for this period (not of the initiative)</a:t>
                      </a:r>
                      <a:endParaRPr kumimoji="0" 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3231" marR="33231" marT="14400" marB="14400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7152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team have successfully established the trust connection between EYQA and ATT.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Two external factors have impacted the Lync Program Milestones by an estimated 1 week (I522) :</a:t>
                      </a:r>
                    </a:p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GAP </a:t>
                      </a: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team were requested to complete some changes on the UVT solution, therefore diverting efforts from their Lync deliverables</a:t>
                      </a:r>
                    </a:p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Issues with Production </a:t>
                      </a: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AD prevented the Lync team from establishing the trust connection between Production and All The Time (ATT)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Implementing additional controls to address a Security requirement for SBAs (“Isolation and Separation of the SBAs within the office locations”) is likely to impact the delivery of Enterprise Voice by months – will most likely need snr management decision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Work progresses to define solution for VPN-less access (i.e. EDGE) to mitigate potential call quality issues (R458).</a:t>
                      </a:r>
                    </a:p>
                  </a:txBody>
                  <a:tcPr marL="33231" marR="33231" marT="14400" marB="14400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42" name="Group 2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892336"/>
              </p:ext>
            </p:extLst>
          </p:nvPr>
        </p:nvGraphicFramePr>
        <p:xfrm>
          <a:off x="4588793" y="609600"/>
          <a:ext cx="4479007" cy="1526603"/>
        </p:xfrm>
        <a:graphic>
          <a:graphicData uri="http://schemas.openxmlformats.org/drawingml/2006/table">
            <a:tbl>
              <a:tblPr/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3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40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E.  MILESTONES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73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Individual Milestone Name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Planned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Projected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Conf.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Rating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Plan Updated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20-Sep-13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20-FEB-13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Testing Starts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31-Oct-13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05-Nov-13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Testing Completes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07-Mar-14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14-Mar-14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Pilot Starts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04-Dec-13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11-Dec-13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Pilot Completes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24-Jan-14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31-Jan-14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Deployment Starts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10-Mar-14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17-Mar-14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6685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Deployment Completes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TBC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TBC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kumimoji="0" lang="en-GB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kumimoji="0" lang="en-GB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5" name="Group 2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30221"/>
              </p:ext>
            </p:extLst>
          </p:nvPr>
        </p:nvGraphicFramePr>
        <p:xfrm>
          <a:off x="7570453" y="17252"/>
          <a:ext cx="1503209" cy="535063"/>
        </p:xfrm>
        <a:graphic>
          <a:graphicData uri="http://schemas.openxmlformats.org/drawingml/2006/table">
            <a:tbl>
              <a:tblPr/>
              <a:tblGrid>
                <a:gridCol w="751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INITIATIVE STATUS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84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813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770988"/>
              </p:ext>
            </p:extLst>
          </p:nvPr>
        </p:nvGraphicFramePr>
        <p:xfrm>
          <a:off x="4580958" y="2255219"/>
          <a:ext cx="4495800" cy="1084824"/>
        </p:xfrm>
        <a:graphic>
          <a:graphicData uri="http://schemas.openxmlformats.org/drawingml/2006/table">
            <a:tbl>
              <a:tblPr/>
              <a:tblGrid>
                <a:gridCol w="1582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8113">
                <a:tc gridSpan="2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F.  KEY RISKS – typically future challenges or external circumstances that may affect the initiative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Risks to be addressed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Mitigating Action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R458 - EYRC or other non factored infrastructure constraints may limit deployment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Expedite implementation of EDGE for remote access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10-Mar-14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Tom Cruise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R680 - Change freeze may impact Lync timelines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Raise changes in advance, escalate issue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01-Nov-13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Will Smith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10369"/>
              </p:ext>
            </p:extLst>
          </p:nvPr>
        </p:nvGraphicFramePr>
        <p:xfrm>
          <a:off x="4648200" y="6019800"/>
          <a:ext cx="4495800" cy="495577"/>
        </p:xfrm>
        <a:graphic>
          <a:graphicData uri="http://schemas.openxmlformats.org/drawingml/2006/table">
            <a:tbl>
              <a:tblPr/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4371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H.  GENERAL COMMENTS – must include reasoning for an overall Red or Amber Status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8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Moved to “Red” status reflects delay to Pilot and Full Deploy milestones due to late delivery of two critical path inbound dependencies.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270"/>
          <p:cNvGraphicFramePr>
            <a:graphicFrameLocks noGrp="1"/>
          </p:cNvGraphicFramePr>
          <p:nvPr/>
        </p:nvGraphicFramePr>
        <p:xfrm>
          <a:off x="1187624" y="6585504"/>
          <a:ext cx="351692" cy="88326"/>
        </p:xfrm>
        <a:graphic>
          <a:graphicData uri="http://schemas.openxmlformats.org/drawingml/2006/table">
            <a:tbl>
              <a:tblPr/>
              <a:tblGrid>
                <a:gridCol w="351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Group 270"/>
          <p:cNvGraphicFramePr>
            <a:graphicFrameLocks noGrp="1"/>
          </p:cNvGraphicFramePr>
          <p:nvPr/>
        </p:nvGraphicFramePr>
        <p:xfrm>
          <a:off x="4019816" y="6585320"/>
          <a:ext cx="483613" cy="88326"/>
        </p:xfrm>
        <a:graphic>
          <a:graphicData uri="http://schemas.openxmlformats.org/drawingml/2006/table">
            <a:tbl>
              <a:tblPr/>
              <a:tblGrid>
                <a:gridCol w="483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Group 270"/>
          <p:cNvGraphicFramePr>
            <a:graphicFrameLocks noGrp="1"/>
          </p:cNvGraphicFramePr>
          <p:nvPr/>
        </p:nvGraphicFramePr>
        <p:xfrm>
          <a:off x="6516216" y="6573472"/>
          <a:ext cx="351692" cy="88326"/>
        </p:xfrm>
        <a:graphic>
          <a:graphicData uri="http://schemas.openxmlformats.org/drawingml/2006/table">
            <a:tbl>
              <a:tblPr/>
              <a:tblGrid>
                <a:gridCol w="351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Group 270"/>
          <p:cNvGraphicFramePr>
            <a:graphicFrameLocks noGrp="1"/>
          </p:cNvGraphicFramePr>
          <p:nvPr/>
        </p:nvGraphicFramePr>
        <p:xfrm>
          <a:off x="70340" y="6581034"/>
          <a:ext cx="613229" cy="88326"/>
        </p:xfrm>
        <a:graphic>
          <a:graphicData uri="http://schemas.openxmlformats.org/drawingml/2006/table">
            <a:tbl>
              <a:tblPr/>
              <a:tblGrid>
                <a:gridCol w="613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oup 27"/>
          <p:cNvGrpSpPr/>
          <p:nvPr/>
        </p:nvGrpSpPr>
        <p:grpSpPr>
          <a:xfrm>
            <a:off x="-76200" y="6357120"/>
            <a:ext cx="8964489" cy="540206"/>
            <a:chOff x="0" y="6505545"/>
            <a:chExt cx="9711531" cy="540206"/>
          </a:xfrm>
        </p:grpSpPr>
        <p:sp>
          <p:nvSpPr>
            <p:cNvPr id="21" name="TextBox 20"/>
            <p:cNvSpPr txBox="1"/>
            <p:nvPr/>
          </p:nvSpPr>
          <p:spPr bwMode="gray">
            <a:xfrm>
              <a:off x="1639689" y="6576570"/>
              <a:ext cx="261123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not on track and has significant challenges and/or issues that materially impact the overall successful achievement of the expected outcomes. 	</a:t>
              </a:r>
            </a:p>
          </p:txBody>
        </p:sp>
        <p:sp>
          <p:nvSpPr>
            <p:cNvPr id="23" name="TextBox 22"/>
            <p:cNvSpPr txBox="1"/>
            <p:nvPr/>
          </p:nvSpPr>
          <p:spPr bwMode="gray">
            <a:xfrm>
              <a:off x="674554" y="6657945"/>
              <a:ext cx="663724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b="1" dirty="0">
                  <a:solidFill>
                    <a:srgbClr val="646464"/>
                  </a:solidFill>
                  <a:latin typeface="EYInterstate Light" pitchFamily="2" charset="0"/>
                </a:rPr>
                <a:t>Fully achieved</a:t>
              </a:r>
              <a:endParaRPr lang="en-GB" sz="500" b="1" kern="0" dirty="0">
                <a:solidFill>
                  <a:srgbClr val="646464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 bwMode="gray">
            <a:xfrm>
              <a:off x="0" y="6505545"/>
              <a:ext cx="4881893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dirty="0">
                  <a:solidFill>
                    <a:srgbClr val="646464"/>
                  </a:solidFill>
                  <a:latin typeface="EYInterstate Light" pitchFamily="2" charset="0"/>
                </a:rPr>
                <a:t>The overall initiative status is governed by the RAG Status Guidance, summarized below. This guidance also applies to the individual Milestones Stats. </a:t>
              </a:r>
              <a:endParaRPr lang="en-GB" sz="500" kern="0" dirty="0">
                <a:solidFill>
                  <a:srgbClr val="646464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 bwMode="gray">
            <a:xfrm>
              <a:off x="7423210" y="6564722"/>
              <a:ext cx="22883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and has no significant challenges and/or issues that may materially impact the overall successful achievement of the expected outcomes, now or in the future. 	</a:t>
              </a:r>
            </a:p>
          </p:txBody>
        </p:sp>
        <p:sp>
          <p:nvSpPr>
            <p:cNvPr id="27" name="TextBox 26"/>
            <p:cNvSpPr txBox="1"/>
            <p:nvPr/>
          </p:nvSpPr>
          <p:spPr bwMode="gray">
            <a:xfrm>
              <a:off x="4849123" y="6568697"/>
              <a:ext cx="1976087" cy="4770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but has some significant challenges and/or issues that may materially impact the overall successful achievement of the expected outcomes. 	</a:t>
              </a:r>
            </a:p>
          </p:txBody>
        </p:sp>
      </p:grpSp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>
                <a:solidFill>
                  <a:srgbClr val="646464"/>
                </a:solidFill>
              </a:rPr>
              <a:t>&lt;Project Name&gt; &lt;Date&gt; &lt;Project Manager&gt; Week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4" name="Group 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77915"/>
              </p:ext>
            </p:extLst>
          </p:nvPr>
        </p:nvGraphicFramePr>
        <p:xfrm>
          <a:off x="75039" y="2859830"/>
          <a:ext cx="4355123" cy="3195432"/>
        </p:xfrm>
        <a:graphic>
          <a:graphicData uri="http://schemas.openxmlformats.org/drawingml/2006/table">
            <a:tbl>
              <a:tblPr/>
              <a:tblGrid>
                <a:gridCol w="4355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B. KEY ACCOMPLISHMENTS 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36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ATT have completed their Security tasks for all three Data Centres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EYQA AD Trust was established successfully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GAP team have successfully completed the build phase of ‘new’ FIM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CR to SOW2 to extend ATT Consulting Resources has been approved by both EY and ATT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Support models for both pre-pilot and pilot defined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3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C.  ACTIVITIES BEHIND SCHEDULE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32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Completing remaining CoLo build work for Amsterdam</a:t>
                      </a:r>
                      <a:endParaRPr kumimoji="0" lang="en-GB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Finalising contract change for SBA orders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Building the eBond solution – way-forward agreed with ATT, dependant on EY resource availability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Completing the GAP testing required for Lync testing to commence and establishing the Production Trust (I522)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42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D.  KEY ACTIVITIES PLANNED NEXT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79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Establish the Production trust with ATT then commence Infrastructure Readiness Tests.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Agree contracts for procuring future SBAs and implementing additional security controls (services).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Progress remaining activities to finalise  Amsterdam colo spaces.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Commence functional testing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Rollout Lync to ~400 IT Staff (pre-pilot)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34100" name="Group 852"/>
          <p:cNvGraphicFramePr>
            <a:graphicFrameLocks noGrp="1"/>
          </p:cNvGraphicFramePr>
          <p:nvPr/>
        </p:nvGraphicFramePr>
        <p:xfrm>
          <a:off x="4585490" y="3505200"/>
          <a:ext cx="4495800" cy="2385412"/>
        </p:xfrm>
        <a:graphic>
          <a:graphicData uri="http://schemas.openxmlformats.org/drawingml/2006/table">
            <a:tbl>
              <a:tblPr/>
              <a:tblGrid>
                <a:gridCol w="1665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848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G. MATTERS FOR IMMEDIATE ATTENTION – typically specific current issues or scope changes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52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Issues to be resolved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840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I216 - </a:t>
                      </a: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There is no complete test environment for the M&amp;C Solution so once users are 'live' there is no integrated  way of testing enhancements / fixes</a:t>
                      </a:r>
                      <a:endParaRPr kumimoji="0" 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Look at options for developing the right environment for post go live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01-Nov-13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Tom Cruise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139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I489 - There is currently no plan for the delivery of the eBonding Solution for Lync</a:t>
                      </a:r>
                      <a:endParaRPr kumimoji="0" 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Meet with ATT to agree technical way-fwd </a:t>
                      </a:r>
                      <a:r>
                        <a:rPr kumimoji="0" lang="en-GB" sz="800" b="0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and</a:t>
                      </a: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raise request internally for resource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15-Nov-13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Will Smith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418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Scope Change requests to be approved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Recommended Action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16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CR161 - Additional Security Controls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Approved subject to confirmation from InfoSec and Ops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16">
                <a:tc>
                  <a:txBody>
                    <a:bodyPr/>
                    <a:lstStyle/>
                    <a:p>
                      <a:pPr marL="87313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CR TBC - </a:t>
                      </a: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Delays due to two external factors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Quantify impacts of changes from dependant teams (GAP and AD) then update Lync plan accordingly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17" name="Group 245"/>
          <p:cNvGraphicFramePr>
            <a:graphicFrameLocks noGrp="1"/>
          </p:cNvGraphicFramePr>
          <p:nvPr/>
        </p:nvGraphicFramePr>
        <p:xfrm>
          <a:off x="76200" y="603816"/>
          <a:ext cx="4360985" cy="2046420"/>
        </p:xfrm>
        <a:graphic>
          <a:graphicData uri="http://schemas.openxmlformats.org/drawingml/2006/table">
            <a:tbl>
              <a:tblPr/>
              <a:tblGrid>
                <a:gridCol w="4360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032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A.  </a:t>
                      </a:r>
                      <a:r>
                        <a:rPr kumimoji="0" lang="en-GB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EXECUTIVE SUMMARY – a summary of the progress for this period (not of the initiative)</a:t>
                      </a:r>
                      <a:endParaRPr kumimoji="0" 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3231" marR="33231" marT="14400" marB="14400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7152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team have successfully established the trust connection between EYQA and ATT.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Two external factors have impacted the Lync Program Milestones by an estimated 1 week (I522) :</a:t>
                      </a:r>
                    </a:p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The GAP </a:t>
                      </a: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team were requested to complete some changes on the UVT solution, therefore diverting efforts from their Lync deliverables</a:t>
                      </a:r>
                    </a:p>
                    <a:p>
                      <a:pPr marL="228600" marR="0" lvl="0" indent="-2286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Issues with Production </a:t>
                      </a: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AD prevented the Lync team from establishing the trust connection between Production and ATT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Implementing additional controls to address a Security requirement for SBAs (“Isolation and Separation of the SBAs within the office locations”) is likely to impact the delivery of Enterprise Voice by months – will most likely need snr management decision</a:t>
                      </a:r>
                    </a:p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Work progresses to define solution for VPN-less access (i.e. EDGE) to mitigate potential call quality issues (R458).</a:t>
                      </a:r>
                    </a:p>
                  </a:txBody>
                  <a:tcPr marL="33231" marR="33231" marT="14400" marB="14400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42" name="Group 270"/>
          <p:cNvGraphicFramePr>
            <a:graphicFrameLocks noGrp="1"/>
          </p:cNvGraphicFramePr>
          <p:nvPr/>
        </p:nvGraphicFramePr>
        <p:xfrm>
          <a:off x="4588793" y="609600"/>
          <a:ext cx="4479007" cy="1526603"/>
        </p:xfrm>
        <a:graphic>
          <a:graphicData uri="http://schemas.openxmlformats.org/drawingml/2006/table">
            <a:tbl>
              <a:tblPr/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3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40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E.  MILESTONES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73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Individual Milestone Name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Planned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Projected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Conf.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Rating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Plan Updated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20-Sep-13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20-Sep-13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Testing Starts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31-Oct-13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05-Nov-13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Testing Completes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07-Mar-14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14-Mar-14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Pilot Starts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04-Dec-13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11-Dec-13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Pilot Completes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24-Jan-14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31-Jan-14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3561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Deployment Starts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10-Mar-14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17-Mar-14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6685">
                <a:tc>
                  <a:txBody>
                    <a:bodyPr/>
                    <a:lstStyle/>
                    <a:p>
                      <a:pPr algn="l" rtl="0" fontAlgn="t"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Deployment Completes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TBC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TBC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kumimoji="0" lang="en-GB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endParaRPr kumimoji="0" lang="en-GB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5" name="Group 270"/>
          <p:cNvGraphicFramePr>
            <a:graphicFrameLocks noGrp="1"/>
          </p:cNvGraphicFramePr>
          <p:nvPr/>
        </p:nvGraphicFramePr>
        <p:xfrm>
          <a:off x="7570453" y="17252"/>
          <a:ext cx="1503209" cy="535063"/>
        </p:xfrm>
        <a:graphic>
          <a:graphicData uri="http://schemas.openxmlformats.org/drawingml/2006/table">
            <a:tbl>
              <a:tblPr/>
              <a:tblGrid>
                <a:gridCol w="751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INITIATIVE STATUS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84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813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80958" y="2255219"/>
          <a:ext cx="4495800" cy="1084824"/>
        </p:xfrm>
        <a:graphic>
          <a:graphicData uri="http://schemas.openxmlformats.org/drawingml/2006/table">
            <a:tbl>
              <a:tblPr/>
              <a:tblGrid>
                <a:gridCol w="1582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8113">
                <a:tc gridSpan="2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F.  KEY RISKS – typically future challenges or external circumstances that may affect the initiative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1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Risks to be addressed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Mitigating Action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Owner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R458 - EYRC or other non factored infrastructure constraints may limit deployment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Expedite implementation of EDGE for remote access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10-Mar-14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Tom Cruise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6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R680 - Change freeze may impact Lync timelines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Raise changes in advance, escalate issue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01-Nov-13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Will Smith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648200" y="6019800"/>
          <a:ext cx="4495800" cy="495577"/>
        </p:xfrm>
        <a:graphic>
          <a:graphicData uri="http://schemas.openxmlformats.org/drawingml/2006/table">
            <a:tbl>
              <a:tblPr/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4371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H.  GENERAL COMMENTS – must include reasoning for an overall Red or Amber Status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82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EYInterstate Light" pitchFamily="2" charset="0"/>
                        </a:rPr>
                        <a:t>Moved to “Red” status reflects delay to Pilot and Full Deploy milestones due to late delivery of two critical path inbound dependencies.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270"/>
          <p:cNvGraphicFramePr>
            <a:graphicFrameLocks noGrp="1"/>
          </p:cNvGraphicFramePr>
          <p:nvPr/>
        </p:nvGraphicFramePr>
        <p:xfrm>
          <a:off x="1187624" y="6585504"/>
          <a:ext cx="351692" cy="88326"/>
        </p:xfrm>
        <a:graphic>
          <a:graphicData uri="http://schemas.openxmlformats.org/drawingml/2006/table">
            <a:tbl>
              <a:tblPr/>
              <a:tblGrid>
                <a:gridCol w="351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Group 270"/>
          <p:cNvGraphicFramePr>
            <a:graphicFrameLocks noGrp="1"/>
          </p:cNvGraphicFramePr>
          <p:nvPr/>
        </p:nvGraphicFramePr>
        <p:xfrm>
          <a:off x="4019816" y="6585320"/>
          <a:ext cx="483613" cy="88326"/>
        </p:xfrm>
        <a:graphic>
          <a:graphicData uri="http://schemas.openxmlformats.org/drawingml/2006/table">
            <a:tbl>
              <a:tblPr/>
              <a:tblGrid>
                <a:gridCol w="483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Group 270"/>
          <p:cNvGraphicFramePr>
            <a:graphicFrameLocks noGrp="1"/>
          </p:cNvGraphicFramePr>
          <p:nvPr/>
        </p:nvGraphicFramePr>
        <p:xfrm>
          <a:off x="6516216" y="6573472"/>
          <a:ext cx="351692" cy="88326"/>
        </p:xfrm>
        <a:graphic>
          <a:graphicData uri="http://schemas.openxmlformats.org/drawingml/2006/table">
            <a:tbl>
              <a:tblPr/>
              <a:tblGrid>
                <a:gridCol w="351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Group 270"/>
          <p:cNvGraphicFramePr>
            <a:graphicFrameLocks noGrp="1"/>
          </p:cNvGraphicFramePr>
          <p:nvPr/>
        </p:nvGraphicFramePr>
        <p:xfrm>
          <a:off x="70340" y="6581034"/>
          <a:ext cx="613229" cy="88326"/>
        </p:xfrm>
        <a:graphic>
          <a:graphicData uri="http://schemas.openxmlformats.org/drawingml/2006/table">
            <a:tbl>
              <a:tblPr/>
              <a:tblGrid>
                <a:gridCol w="613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COMPLETE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oup 27"/>
          <p:cNvGrpSpPr/>
          <p:nvPr/>
        </p:nvGrpSpPr>
        <p:grpSpPr>
          <a:xfrm>
            <a:off x="-76200" y="6357120"/>
            <a:ext cx="8964489" cy="540206"/>
            <a:chOff x="0" y="6505545"/>
            <a:chExt cx="9711531" cy="540206"/>
          </a:xfrm>
        </p:grpSpPr>
        <p:sp>
          <p:nvSpPr>
            <p:cNvPr id="21" name="TextBox 20"/>
            <p:cNvSpPr txBox="1"/>
            <p:nvPr/>
          </p:nvSpPr>
          <p:spPr bwMode="gray">
            <a:xfrm>
              <a:off x="1639689" y="6576570"/>
              <a:ext cx="261123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not on track and has significant challenges and/or issues that materially impact the overall successful achievement of the expected outcomes. 	</a:t>
              </a:r>
            </a:p>
          </p:txBody>
        </p:sp>
        <p:sp>
          <p:nvSpPr>
            <p:cNvPr id="23" name="TextBox 22"/>
            <p:cNvSpPr txBox="1"/>
            <p:nvPr/>
          </p:nvSpPr>
          <p:spPr bwMode="gray">
            <a:xfrm>
              <a:off x="674554" y="6657945"/>
              <a:ext cx="663724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b="1" dirty="0">
                  <a:solidFill>
                    <a:srgbClr val="646464"/>
                  </a:solidFill>
                  <a:latin typeface="EYInterstate Light" pitchFamily="2" charset="0"/>
                </a:rPr>
                <a:t>Fully achieved</a:t>
              </a:r>
              <a:endParaRPr lang="en-GB" sz="500" b="1" kern="0" dirty="0">
                <a:solidFill>
                  <a:srgbClr val="646464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 bwMode="gray">
            <a:xfrm>
              <a:off x="0" y="6505545"/>
              <a:ext cx="4881893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dirty="0">
                  <a:solidFill>
                    <a:srgbClr val="646464"/>
                  </a:solidFill>
                  <a:latin typeface="EYInterstate Light" pitchFamily="2" charset="0"/>
                </a:rPr>
                <a:t>The overall initiative status is governed by the RAG Status Guidance, summarized below. This guidance also applies to the individual Milestones Stats. </a:t>
              </a:r>
              <a:endParaRPr lang="en-GB" sz="500" kern="0" dirty="0">
                <a:solidFill>
                  <a:srgbClr val="646464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 bwMode="gray">
            <a:xfrm>
              <a:off x="7423210" y="6564722"/>
              <a:ext cx="22883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and has no significant challenges and/or issues that may materially impact the overall successful achievement of the expected outcomes, now or in the future. 	</a:t>
              </a:r>
            </a:p>
          </p:txBody>
        </p:sp>
        <p:sp>
          <p:nvSpPr>
            <p:cNvPr id="27" name="TextBox 26"/>
            <p:cNvSpPr txBox="1"/>
            <p:nvPr/>
          </p:nvSpPr>
          <p:spPr bwMode="gray">
            <a:xfrm>
              <a:off x="4849123" y="6568697"/>
              <a:ext cx="1976087" cy="4770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but has some significant challenges and/or issues that may materially impact the overall successful achievement of the expected outcomes. 	</a:t>
              </a:r>
            </a:p>
          </p:txBody>
        </p:sp>
      </p:grpSp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fontAlgn="base" hangingPunct="0">
              <a:spcBef>
                <a:spcPct val="0"/>
              </a:spcBef>
              <a:defRPr/>
            </a:pPr>
            <a:r>
              <a:rPr lang="en-US" sz="1600" b="1" kern="0" dirty="0">
                <a:solidFill>
                  <a:srgbClr val="646464"/>
                </a:solidFill>
              </a:rPr>
              <a:t>&lt;Project Name&gt; &lt;Date&gt; &lt;Project Manager&gt; Week 4</a:t>
            </a:r>
          </a:p>
        </p:txBody>
      </p:sp>
    </p:spTree>
    <p:extLst>
      <p:ext uri="{BB962C8B-B14F-4D97-AF65-F5344CB8AC3E}">
        <p14:creationId xmlns:p14="http://schemas.microsoft.com/office/powerpoint/2010/main" val="444332289"/>
      </p:ext>
    </p:extLst>
  </p:cSld>
  <p:clrMapOvr>
    <a:masterClrMapping/>
  </p:clrMapOvr>
</p:sld>
</file>

<file path=ppt/theme/theme1.xml><?xml version="1.0" encoding="utf-8"?>
<a:theme xmlns:a="http://schemas.openxmlformats.org/drawingml/2006/main" name="27_EYCspecial">
  <a:themeElements>
    <a:clrScheme name="">
      <a:dk1>
        <a:srgbClr val="000000"/>
      </a:dk1>
      <a:lt1>
        <a:srgbClr val="FFFFFF"/>
      </a:lt1>
      <a:dk2>
        <a:srgbClr val="808080"/>
      </a:dk2>
      <a:lt2>
        <a:srgbClr val="646464"/>
      </a:lt2>
      <a:accent1>
        <a:srgbClr val="A6A6A6"/>
      </a:accent1>
      <a:accent2>
        <a:srgbClr val="CCCCCC"/>
      </a:accent2>
      <a:accent3>
        <a:srgbClr val="FFFFFF"/>
      </a:accent3>
      <a:accent4>
        <a:srgbClr val="000000"/>
      </a:accent4>
      <a:accent5>
        <a:srgbClr val="D0D0D0"/>
      </a:accent5>
      <a:accent6>
        <a:srgbClr val="B9B9B9"/>
      </a:accent6>
      <a:hlink>
        <a:srgbClr val="F2F2F2"/>
      </a:hlink>
      <a:folHlink>
        <a:srgbClr val="FFD200"/>
      </a:folHlink>
    </a:clrScheme>
    <a:fontScheme name="EYCspecial">
      <a:majorFont>
        <a:latin typeface="EYInterstate"/>
        <a:ea typeface=""/>
        <a:cs typeface=""/>
      </a:majorFont>
      <a:minorFont>
        <a:latin typeface="EYIntersta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937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gray"/>
      <a:bodyPr/>
      <a:lstStyle>
        <a:defPPr marL="0" marR="0" indent="0" algn="l" defTabSz="955675" rtl="0" eaLnBrk="0" fontAlgn="base" latinLnBrk="0" hangingPunct="0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 smtClean="0">
            <a:ln>
              <a:noFill/>
            </a:ln>
            <a:solidFill>
              <a:srgbClr val="646464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EYCspecial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YCspecial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YCspecial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cbe1240-e4fe-486d-8edc-2712abb96eb4">MSIBM-75-4967</_dlc_DocId>
    <_dlc_DocIdUrl xmlns="0cbe1240-e4fe-486d-8edc-2712abb96eb4">
      <Url>http://sp.ey.net/msibm/_layouts/DocIdRedir.aspx?ID=MSIBM-75-4967</Url>
      <Description>MSIBM-75-4967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owerpoint Presentation" ma:contentTypeID="0x010100EAA48C0EB6E1374ABC7B66D01ECBF0F000B614A79AA91E4A418B30A9A579BC398A" ma:contentTypeVersion="3" ma:contentTypeDescription="" ma:contentTypeScope="" ma:versionID="26b0eaefbaffcf7e8f076bf15b5285e6">
  <xsd:schema xmlns:xsd="http://www.w3.org/2001/XMLSchema" xmlns:xs="http://www.w3.org/2001/XMLSchema" xmlns:p="http://schemas.microsoft.com/office/2006/metadata/properties" xmlns:ns2="0cbe1240-e4fe-486d-8edc-2712abb96eb4" targetNamespace="http://schemas.microsoft.com/office/2006/metadata/properties" ma:root="true" ma:fieldsID="bd214d6eee052d324e45fcce3bef4425" ns2:_="">
    <xsd:import namespace="0cbe1240-e4fe-486d-8edc-2712abb96eb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151AB7-27D2-4331-AA13-77DE76034D71}">
  <ds:schemaRefs>
    <ds:schemaRef ds:uri="0cbe1240-e4fe-486d-8edc-2712abb96eb4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6F2B75D-A58A-4320-BCB2-F858C4AA91C3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D92C67E4-CAEF-4E8D-858B-00A6766D74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e1240-e4fe-486d-8edc-2712abb96e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1A6CAE92-7FB4-4C9F-BF11-621F235C5B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9587</TotalTime>
  <Words>1559</Words>
  <Application>Microsoft Office PowerPoint</Application>
  <PresentationFormat>On-screen Show (4:3)</PresentationFormat>
  <Paragraphs>248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Narrow</vt:lpstr>
      <vt:lpstr>Calibri</vt:lpstr>
      <vt:lpstr>EYInterstate</vt:lpstr>
      <vt:lpstr>EYInterstate Light</vt:lpstr>
      <vt:lpstr>Times New Roman</vt:lpstr>
      <vt:lpstr>27_EYCspecial</vt:lpstr>
      <vt:lpstr>PowerPoint Presentation</vt:lpstr>
      <vt:lpstr>PowerPoint Presentation</vt:lpstr>
    </vt:vector>
  </TitlesOfParts>
  <Company>Ernst &amp; Young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Lync ITS Status Report</dc:title>
  <dc:creator>B. Fernandez</dc:creator>
  <cp:lastModifiedBy>Nasir A</cp:lastModifiedBy>
  <cp:revision>409</cp:revision>
  <dcterms:created xsi:type="dcterms:W3CDTF">2011-11-18T15:43:59Z</dcterms:created>
  <dcterms:modified xsi:type="dcterms:W3CDTF">2022-05-28T00:13:44Z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0x010100EAA48C0EB6E1374ABC7B66D01ECBF0F000B614A79AA91E4A418B30A9A579BC398A</vt:lpwstr>
  </property>
  <property fmtid="{D5CDD505-2E9C-101B-9397-08002B2CF9AE}" pid="3" name="_dlc_DocIdItemGuid">
    <vt:lpwstr>4e2b3ac6-5f5e-4991-aa55-edd902fa2f35</vt:lpwstr>
  </property>
</Properties>
</file>