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9"/>
  </p:notesMasterIdLst>
  <p:sldIdLst>
    <p:sldId id="257" r:id="rId3"/>
    <p:sldId id="260" r:id="rId4"/>
    <p:sldId id="265" r:id="rId5"/>
    <p:sldId id="264" r:id="rId6"/>
    <p:sldId id="263" r:id="rId7"/>
    <p:sldId id="258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 autoAdjust="0"/>
    <p:restoredTop sz="94624" autoAdjust="0"/>
  </p:normalViewPr>
  <p:slideViewPr>
    <p:cSldViewPr>
      <p:cViewPr>
        <p:scale>
          <a:sx n="70" d="100"/>
          <a:sy n="70" d="100"/>
        </p:scale>
        <p:origin x="-1152" y="-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537863-37C7-493B-8594-B21339D1DD9F}" type="datetimeFigureOut">
              <a:rPr lang="en-GB" smtClean="0"/>
              <a:pPr/>
              <a:t>02/01/2013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CB170B-BAD6-4ECA-B364-BDA8AEE8CBB1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86533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buFont typeface="Arial" pitchFamily="34" charset="0"/>
              <a:buNone/>
            </a:pPr>
            <a:endParaRPr lang="de-DE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1/2/2013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1/2/2013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1/2/2013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ChangeArrowheads="1"/>
          </p:cNvSpPr>
          <p:nvPr userDrawn="1"/>
        </p:nvSpPr>
        <p:spPr bwMode="auto">
          <a:xfrm>
            <a:off x="457200" y="6419850"/>
            <a:ext cx="663575" cy="19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l">
              <a:defRPr/>
            </a:pPr>
            <a:r>
              <a:rPr lang="en-US" sz="1100" dirty="0">
                <a:solidFill>
                  <a:srgbClr val="000000"/>
                </a:solidFill>
                <a:cs typeface="Arial" charset="0"/>
              </a:rPr>
              <a:t>Page </a:t>
            </a:r>
            <a:fld id="{84B491C8-BB09-42DF-B246-12EF53273C68}" type="slidenum">
              <a:rPr lang="en-US" sz="1100">
                <a:solidFill>
                  <a:srgbClr val="000000"/>
                </a:solidFill>
                <a:cs typeface="Arial" charset="0"/>
              </a:rPr>
              <a:pPr algn="l">
                <a:defRPr/>
              </a:pPr>
              <a:t>‹#›</a:t>
            </a:fld>
            <a:endParaRPr lang="en-US" sz="1100" dirty="0">
              <a:solidFill>
                <a:srgbClr val="000000"/>
              </a:solidFill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21252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0"/>
          <p:cNvSpPr>
            <a:spLocks/>
          </p:cNvSpPr>
          <p:nvPr/>
        </p:nvSpPr>
        <p:spPr bwMode="auto">
          <a:xfrm>
            <a:off x="3079750" y="552450"/>
            <a:ext cx="6057900" cy="2590800"/>
          </a:xfrm>
          <a:custGeom>
            <a:avLst/>
            <a:gdLst/>
            <a:ahLst/>
            <a:cxnLst>
              <a:cxn ang="0">
                <a:pos x="0" y="1632"/>
              </a:cxn>
              <a:cxn ang="0">
                <a:pos x="3816" y="0"/>
              </a:cxn>
              <a:cxn ang="0">
                <a:pos x="3816" y="496"/>
              </a:cxn>
              <a:cxn ang="0">
                <a:pos x="0" y="1632"/>
              </a:cxn>
            </a:cxnLst>
            <a:rect l="0" t="0" r="r" b="b"/>
            <a:pathLst>
              <a:path w="3816" h="1632">
                <a:moveTo>
                  <a:pt x="0" y="1632"/>
                </a:moveTo>
                <a:lnTo>
                  <a:pt x="3816" y="0"/>
                </a:lnTo>
                <a:lnTo>
                  <a:pt x="3816" y="496"/>
                </a:lnTo>
                <a:lnTo>
                  <a:pt x="0" y="1632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FFFFFF"/>
              </a:solidFill>
            </a:endParaRPr>
          </a:p>
        </p:txBody>
      </p:sp>
      <p:pic>
        <p:nvPicPr>
          <p:cNvPr id="5" name="Picture 13" descr="logo_tagblack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73400" y="6030913"/>
            <a:ext cx="1908175" cy="428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AutoShape 19"/>
          <p:cNvSpPr>
            <a:spLocks noChangeArrowheads="1"/>
          </p:cNvSpPr>
          <p:nvPr/>
        </p:nvSpPr>
        <p:spPr bwMode="auto">
          <a:xfrm rot="5400000">
            <a:off x="-120649" y="1274762"/>
            <a:ext cx="3313112" cy="3071813"/>
          </a:xfrm>
          <a:prstGeom prst="triangle">
            <a:avLst>
              <a:gd name="adj" fmla="val 60227"/>
            </a:avLst>
          </a:prstGeom>
          <a:blipFill dpi="0" rotWithShape="0">
            <a:blip r:embed="rId3" cstate="print"/>
            <a:srcRect/>
            <a:stretch>
              <a:fillRect r="-11536"/>
            </a:stretch>
          </a:blip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059113" y="3457575"/>
            <a:ext cx="5541962" cy="908050"/>
          </a:xfrm>
        </p:spPr>
        <p:txBody>
          <a:bodyPr tIns="0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062288" y="4354513"/>
            <a:ext cx="5541962" cy="1019175"/>
          </a:xfrm>
        </p:spPr>
        <p:txBody>
          <a:bodyPr/>
          <a:lstStyle>
            <a:lvl1pPr marL="0" indent="0">
              <a:lnSpc>
                <a:spcPct val="85000"/>
              </a:lnSpc>
              <a:buFont typeface="Arial" charset="0"/>
              <a:buNone/>
              <a:defRPr sz="2000"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5300766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3210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021561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5613" y="1412875"/>
            <a:ext cx="4040187" cy="45196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12875"/>
            <a:ext cx="4041775" cy="45196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5921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1153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77125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264639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4739630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9400244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94295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32575" y="200025"/>
            <a:ext cx="2057400" cy="573246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5613" y="200025"/>
            <a:ext cx="6024562" cy="573246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83896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0025"/>
            <a:ext cx="8232775" cy="863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5613" y="1412875"/>
            <a:ext cx="4040187" cy="45196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12875"/>
            <a:ext cx="4041775" cy="45196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45871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0025"/>
            <a:ext cx="8232775" cy="863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5613" y="1412875"/>
            <a:ext cx="8234362" cy="4519613"/>
          </a:xfrm>
        </p:spPr>
        <p:txBody>
          <a:bodyPr/>
          <a:lstStyle/>
          <a:p>
            <a:pPr lvl="0"/>
            <a:endParaRPr lang="en-US" noProof="0" smtClean="0"/>
          </a:p>
        </p:txBody>
      </p:sp>
    </p:spTree>
    <p:extLst>
      <p:ext uri="{BB962C8B-B14F-4D97-AF65-F5344CB8AC3E}">
        <p14:creationId xmlns:p14="http://schemas.microsoft.com/office/powerpoint/2010/main" val="57665122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0025"/>
            <a:ext cx="8232775" cy="863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5613" y="1412875"/>
            <a:ext cx="8234362" cy="21828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5613" y="3748088"/>
            <a:ext cx="8234362" cy="2184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59102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0025"/>
            <a:ext cx="8232775" cy="863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5613" y="1412875"/>
            <a:ext cx="8234362" cy="21828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5613" y="3748088"/>
            <a:ext cx="8234362" cy="2184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2368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14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0025"/>
            <a:ext cx="8232775" cy="86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3600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5613" y="1412875"/>
            <a:ext cx="8234362" cy="451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1066800" y="6419850"/>
            <a:ext cx="60198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dirty="0" smtClean="0">
                <a:solidFill>
                  <a:srgbClr val="000000"/>
                </a:solidFill>
                <a:cs typeface="Arial" charset="0"/>
              </a:rPr>
              <a:t>Blueprint v4.4 - Project Scorecard Template (May 2011)</a:t>
            </a:r>
            <a:endParaRPr lang="en-US" sz="1100" dirty="0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1033" name="Rectangle 9"/>
          <p:cNvSpPr>
            <a:spLocks noChangeArrowheads="1"/>
          </p:cNvSpPr>
          <p:nvPr/>
        </p:nvSpPr>
        <p:spPr bwMode="auto">
          <a:xfrm>
            <a:off x="457200" y="6419850"/>
            <a:ext cx="663575" cy="19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>
                <a:solidFill>
                  <a:srgbClr val="000000"/>
                </a:solidFill>
                <a:cs typeface="Arial" charset="0"/>
              </a:rPr>
              <a:t>Page </a:t>
            </a:r>
            <a:fld id="{7F189A97-8521-4FA5-8EFB-9A53E1B18911}" type="slidenum">
              <a:rPr lang="en-US" sz="1100">
                <a:solidFill>
                  <a:srgbClr val="000000"/>
                </a:solidFill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sz="1100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1034" name="Line 10"/>
          <p:cNvSpPr>
            <a:spLocks noChangeShapeType="1"/>
          </p:cNvSpPr>
          <p:nvPr/>
        </p:nvSpPr>
        <p:spPr bwMode="auto">
          <a:xfrm>
            <a:off x="455613" y="1042988"/>
            <a:ext cx="8229600" cy="0"/>
          </a:xfrm>
          <a:prstGeom prst="line">
            <a:avLst/>
          </a:prstGeom>
          <a:noFill/>
          <a:ln w="19050">
            <a:solidFill>
              <a:srgbClr val="FFD2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1035" name="Line 11"/>
          <p:cNvSpPr>
            <a:spLocks noChangeShapeType="1"/>
          </p:cNvSpPr>
          <p:nvPr/>
        </p:nvSpPr>
        <p:spPr bwMode="auto">
          <a:xfrm>
            <a:off x="455613" y="6243638"/>
            <a:ext cx="8229600" cy="0"/>
          </a:xfrm>
          <a:prstGeom prst="line">
            <a:avLst/>
          </a:prstGeom>
          <a:noFill/>
          <a:ln w="3175">
            <a:solidFill>
              <a:srgbClr val="646464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1036" name="Line 12"/>
          <p:cNvSpPr>
            <a:spLocks noChangeShapeType="1"/>
          </p:cNvSpPr>
          <p:nvPr/>
        </p:nvSpPr>
        <p:spPr bwMode="auto">
          <a:xfrm>
            <a:off x="455613" y="200025"/>
            <a:ext cx="8229600" cy="0"/>
          </a:xfrm>
          <a:prstGeom prst="line">
            <a:avLst/>
          </a:prstGeom>
          <a:noFill/>
          <a:ln w="6350">
            <a:solidFill>
              <a:srgbClr val="646464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FFFFFF"/>
              </a:solidFill>
            </a:endParaRPr>
          </a:p>
        </p:txBody>
      </p:sp>
      <p:pic>
        <p:nvPicPr>
          <p:cNvPr id="2" name="Picture 13" descr="logo_tagblack"/>
          <p:cNvPicPr>
            <a:picLocks noChangeAspect="1" noChangeArrowheads="1"/>
          </p:cNvPicPr>
          <p:nvPr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7226300" y="6386513"/>
            <a:ext cx="1485900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905950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2pPr>
      <a:lvl3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3pPr>
      <a:lvl4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4pPr>
      <a:lvl5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5pPr>
      <a:lvl6pPr marL="457200" algn="l" rtl="0" fontAlgn="base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6pPr>
      <a:lvl7pPr marL="914400" algn="l" rtl="0" fontAlgn="base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7pPr>
      <a:lvl8pPr marL="1371600" algn="l" rtl="0" fontAlgn="base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8pPr>
      <a:lvl9pPr marL="1828800" algn="l" rtl="0" fontAlgn="base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9pPr>
    </p:titleStyle>
    <p:bodyStyle>
      <a:lvl1pPr marL="360363" indent="-360363" algn="l" rtl="0" eaLnBrk="0" fontAlgn="base" hangingPunct="0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2400">
          <a:solidFill>
            <a:srgbClr val="646464"/>
          </a:solidFill>
          <a:latin typeface="+mn-lt"/>
          <a:ea typeface="+mn-ea"/>
          <a:cs typeface="+mn-cs"/>
        </a:defRPr>
      </a:lvl1pPr>
      <a:lvl2pPr marL="717550" indent="-355600" algn="l" rtl="0" eaLnBrk="0" fontAlgn="base" hangingPunct="0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2000">
          <a:solidFill>
            <a:srgbClr val="646464"/>
          </a:solidFill>
          <a:latin typeface="+mn-lt"/>
        </a:defRPr>
      </a:lvl2pPr>
      <a:lvl3pPr marL="1081088" indent="-361950" algn="l" rtl="0" eaLnBrk="0" fontAlgn="base" hangingPunct="0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2400">
          <a:solidFill>
            <a:srgbClr val="646464"/>
          </a:solidFill>
          <a:latin typeface="+mn-lt"/>
        </a:defRPr>
      </a:lvl3pPr>
      <a:lvl4pPr marL="1441450" indent="-358775" algn="l" rtl="0" eaLnBrk="0" fontAlgn="base" hangingPunct="0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4pPr>
      <a:lvl5pPr marL="1800225" indent="-357188" algn="l" rtl="0" eaLnBrk="0" fontAlgn="base" hangingPunct="0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5pPr>
      <a:lvl6pPr marL="2257425" indent="-357188" algn="l" rtl="0" fontAlgn="base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6pPr>
      <a:lvl7pPr marL="2714625" indent="-357188" algn="l" rtl="0" fontAlgn="base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7pPr>
      <a:lvl8pPr marL="3171825" indent="-357188" algn="l" rtl="0" fontAlgn="base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8pPr>
      <a:lvl9pPr marL="3629025" indent="-357188" algn="l" rtl="0" fontAlgn="base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5"/>
          <p:cNvSpPr>
            <a:spLocks noGrp="1" noChangeArrowheads="1"/>
          </p:cNvSpPr>
          <p:nvPr>
            <p:ph type="ctrTitle"/>
          </p:nvPr>
        </p:nvSpPr>
        <p:spPr>
          <a:xfrm>
            <a:off x="3062288" y="3429001"/>
            <a:ext cx="5541962" cy="1066800"/>
          </a:xfrm>
        </p:spPr>
        <p:txBody>
          <a:bodyPr>
            <a:normAutofit fontScale="90000"/>
          </a:bodyPr>
          <a:lstStyle/>
          <a:p>
            <a:pPr eaLnBrk="1" hangingPunct="1">
              <a:lnSpc>
                <a:spcPct val="100000"/>
              </a:lnSpc>
              <a:spcAft>
                <a:spcPts val="600"/>
              </a:spcAft>
            </a:pPr>
            <a:r>
              <a:rPr lang="en-US" sz="2400" b="0" dirty="0" smtClean="0">
                <a:latin typeface="EYInterstate" pitchFamily="2" charset="0"/>
              </a:rPr>
              <a:t>M&amp;C Sub-Program </a:t>
            </a:r>
            <a:r>
              <a:rPr lang="en-US" sz="2400" dirty="0" smtClean="0">
                <a:latin typeface="EYInterstate" pitchFamily="2" charset="0"/>
              </a:rPr>
              <a:t>RAG</a:t>
            </a:r>
            <a:r>
              <a:rPr lang="en-US" sz="2400" b="0" dirty="0" smtClean="0">
                <a:latin typeface="EYInterstate" pitchFamily="2" charset="0"/>
              </a:rPr>
              <a:t/>
            </a:r>
            <a:br>
              <a:rPr lang="en-US" sz="2400" b="0" dirty="0" smtClean="0">
                <a:latin typeface="EYInterstate" pitchFamily="2" charset="0"/>
              </a:rPr>
            </a:br>
            <a:r>
              <a:rPr lang="en-US" sz="2400" b="0" i="1" dirty="0" smtClean="0">
                <a:latin typeface="EYInterstate" pitchFamily="2" charset="0"/>
              </a:rPr>
              <a:t/>
            </a:r>
            <a:br>
              <a:rPr lang="en-US" sz="2400" b="0" i="1" dirty="0" smtClean="0">
                <a:latin typeface="EYInterstate" pitchFamily="2" charset="0"/>
              </a:rPr>
            </a:br>
            <a:endParaRPr lang="en-US" sz="2400" b="0" i="1" dirty="0">
              <a:latin typeface="EYInterstate" pitchFamily="2" charset="0"/>
            </a:endParaRPr>
          </a:p>
        </p:txBody>
      </p:sp>
      <p:sp>
        <p:nvSpPr>
          <p:cNvPr id="8195" name="Rectangle 6"/>
          <p:cNvSpPr>
            <a:spLocks noGrp="1" noChangeArrowheads="1"/>
          </p:cNvSpPr>
          <p:nvPr>
            <p:ph type="subTitle" idx="1"/>
          </p:nvPr>
        </p:nvSpPr>
        <p:spPr>
          <a:xfrm>
            <a:off x="3962400" y="3705225"/>
            <a:ext cx="5541962" cy="1019175"/>
          </a:xfrm>
        </p:spPr>
        <p:txBody>
          <a:bodyPr/>
          <a:lstStyle/>
          <a:p>
            <a:pPr eaLnBrk="1" hangingPunct="1"/>
            <a:r>
              <a:rPr lang="en-GB" sz="1600" dirty="0" smtClean="0">
                <a:latin typeface="EYInterstate" pitchFamily="2" charset="0"/>
              </a:rPr>
              <a:t>January 2013</a:t>
            </a:r>
            <a:endParaRPr lang="en-GB" sz="1600" dirty="0">
              <a:latin typeface="EYInterstat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321968"/>
      </p:ext>
    </p:extLst>
  </p:cSld>
  <p:clrMapOvr>
    <a:masterClrMapping/>
  </p:clrMapOvr>
  <p:transition advTm="1157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4343526"/>
              </p:ext>
            </p:extLst>
          </p:nvPr>
        </p:nvGraphicFramePr>
        <p:xfrm>
          <a:off x="18537" y="638957"/>
          <a:ext cx="6458464" cy="28510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9163"/>
                <a:gridCol w="779163"/>
                <a:gridCol w="940958"/>
                <a:gridCol w="791836"/>
                <a:gridCol w="791836"/>
                <a:gridCol w="791836"/>
                <a:gridCol w="791836"/>
                <a:gridCol w="791836"/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Sub-Program</a:t>
                      </a:r>
                      <a:endParaRPr kumimoji="0" lang="en-US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Overall health</a:t>
                      </a: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Scope</a:t>
                      </a:r>
                      <a:endParaRPr kumimoji="0" lang="en-US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Schedule</a:t>
                      </a:r>
                      <a:endParaRPr kumimoji="0" lang="en-US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800" b="1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Cost</a:t>
                      </a:r>
                      <a:endParaRPr kumimoji="0" lang="en-US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800" b="1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Resources</a:t>
                      </a:r>
                      <a:endParaRPr kumimoji="0" lang="en-US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800" b="1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RAID</a:t>
                      </a:r>
                      <a:endParaRPr kumimoji="0" lang="en-US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CR</a:t>
                      </a:r>
                      <a:endParaRPr kumimoji="0" lang="en-US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</a:tr>
              <a:tr h="359389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Change </a:t>
                      </a:r>
                      <a:r>
                        <a:rPr kumimoji="0" lang="en-US" sz="8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Mgt</a:t>
                      </a:r>
                      <a:endParaRPr kumimoji="0" lang="en-US" sz="8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marL="34208" marR="34208" marT="13683" marB="13683" anchor="ctr" horzOverflow="overflow"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</a:tr>
              <a:tr h="359389"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Deployment</a:t>
                      </a:r>
                    </a:p>
                  </a:txBody>
                  <a:tcPr marL="34208" marR="34208" marT="13683" marB="13683" anchor="ctr" horzOverflow="overflow"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</a:tr>
              <a:tr h="359389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Collaboration 1</a:t>
                      </a:r>
                    </a:p>
                  </a:txBody>
                  <a:tcPr marL="34208" marR="34208" marT="13683" marB="13683" anchor="ctr" horzOverflow="overflow"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</a:tr>
              <a:tr h="359389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Collaboration 2</a:t>
                      </a:r>
                    </a:p>
                  </a:txBody>
                  <a:tcPr marL="34208" marR="34208" marT="13683" marB="13683" anchor="ctr" horzOverflow="overflow"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</a:tr>
              <a:tr h="359389"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Collaboration 3</a:t>
                      </a:r>
                    </a:p>
                  </a:txBody>
                  <a:tcPr marL="34208" marR="34208" marT="13683" marB="13683" anchor="ctr" horzOverflow="overflow"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</a:tr>
              <a:tr h="359389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???</a:t>
                      </a:r>
                    </a:p>
                  </a:txBody>
                  <a:tcPr marL="34208" marR="34208" marT="13683" marB="13683" anchor="ctr" horzOverflow="overflow"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</a:tr>
              <a:tr h="35938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800" b="1" i="0" u="none" strike="noStrike" dirty="0" smtClean="0">
                          <a:solidFill>
                            <a:srgbClr val="000000"/>
                          </a:solidFill>
                          <a:latin typeface="EYInterstate" pitchFamily="2" charset="0"/>
                        </a:rPr>
                        <a:t>OVERALL</a:t>
                      </a:r>
                      <a:endParaRPr lang="en-GB" sz="800" b="1" i="0" u="none" strike="noStrike" dirty="0">
                        <a:solidFill>
                          <a:srgbClr val="000000"/>
                        </a:solidFill>
                        <a:latin typeface="EYInterstate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1" name="Freeform 94"/>
          <p:cNvSpPr>
            <a:spLocks/>
          </p:cNvSpPr>
          <p:nvPr/>
        </p:nvSpPr>
        <p:spPr bwMode="gray">
          <a:xfrm>
            <a:off x="-2459" y="-3263"/>
            <a:ext cx="6022259" cy="384263"/>
          </a:xfrm>
          <a:custGeom>
            <a:avLst/>
            <a:gdLst/>
            <a:ahLst/>
            <a:cxnLst>
              <a:cxn ang="0">
                <a:pos x="6000" y="0"/>
              </a:cxn>
              <a:cxn ang="0">
                <a:pos x="5854" y="752"/>
              </a:cxn>
              <a:cxn ang="0">
                <a:pos x="0" y="754"/>
              </a:cxn>
              <a:cxn ang="0">
                <a:pos x="0" y="3"/>
              </a:cxn>
              <a:cxn ang="0">
                <a:pos x="6000" y="0"/>
              </a:cxn>
            </a:cxnLst>
            <a:rect l="0" t="0" r="r" b="b"/>
            <a:pathLst>
              <a:path w="6000" h="754">
                <a:moveTo>
                  <a:pt x="6000" y="0"/>
                </a:moveTo>
                <a:lnTo>
                  <a:pt x="5854" y="752"/>
                </a:lnTo>
                <a:lnTo>
                  <a:pt x="0" y="754"/>
                </a:lnTo>
                <a:lnTo>
                  <a:pt x="0" y="3"/>
                </a:lnTo>
                <a:lnTo>
                  <a:pt x="6000" y="0"/>
                </a:lnTo>
                <a:close/>
              </a:path>
            </a:pathLst>
          </a:custGeom>
          <a:solidFill>
            <a:srgbClr val="FFD200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defTabSz="955675" eaLnBrk="0" hangingPunct="0">
              <a:defRPr/>
            </a:pPr>
            <a:r>
              <a:rPr lang="en-US" sz="2000" b="1" kern="0" dirty="0" smtClean="0">
                <a:solidFill>
                  <a:schemeClr val="tx2"/>
                </a:solidFill>
                <a:latin typeface="EYInterstate"/>
              </a:rPr>
              <a:t>Collaboration</a:t>
            </a:r>
            <a:r>
              <a:rPr lang="en-US" sz="2000" b="1" kern="0" dirty="0" smtClean="0">
                <a:solidFill>
                  <a:schemeClr val="tx2"/>
                </a:solidFill>
                <a:latin typeface="EYInterstate"/>
              </a:rPr>
              <a:t> </a:t>
            </a:r>
            <a:r>
              <a:rPr lang="en-US" sz="2000" b="1" kern="0" dirty="0">
                <a:solidFill>
                  <a:schemeClr val="tx2"/>
                </a:solidFill>
                <a:latin typeface="EYInterstate"/>
              </a:rPr>
              <a:t>s</a:t>
            </a:r>
            <a:r>
              <a:rPr lang="en-US" sz="2000" b="1" kern="0" dirty="0" smtClean="0">
                <a:solidFill>
                  <a:schemeClr val="tx2"/>
                </a:solidFill>
                <a:latin typeface="EYInterstate"/>
              </a:rPr>
              <a:t>ub-program </a:t>
            </a:r>
            <a:r>
              <a:rPr lang="en-US" sz="2000" b="1" kern="0" dirty="0">
                <a:solidFill>
                  <a:schemeClr val="tx2"/>
                </a:solidFill>
                <a:latin typeface="EYInterstate"/>
              </a:rPr>
              <a:t>health</a:t>
            </a:r>
          </a:p>
        </p:txBody>
      </p:sp>
      <p:graphicFrame>
        <p:nvGraphicFramePr>
          <p:cNvPr id="92" name="Table 9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8860300"/>
              </p:ext>
            </p:extLst>
          </p:nvPr>
        </p:nvGraphicFramePr>
        <p:xfrm>
          <a:off x="0" y="4191000"/>
          <a:ext cx="6552041" cy="2361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907"/>
                <a:gridCol w="900907"/>
                <a:gridCol w="1087983"/>
                <a:gridCol w="915561"/>
                <a:gridCol w="915561"/>
                <a:gridCol w="915561"/>
                <a:gridCol w="915561"/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Sub-Program</a:t>
                      </a:r>
                    </a:p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Trend</a:t>
                      </a:r>
                      <a:endParaRPr kumimoji="0" lang="en-US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</a:rPr>
                        <a:t>This week</a:t>
                      </a:r>
                      <a:endParaRPr kumimoji="0" 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" pitchFamily="2" charset="0"/>
                      </a:endParaRPr>
                    </a:p>
                  </a:txBody>
                  <a:tcPr marL="34208" marR="34208" marT="13683" marB="13683" anchor="ctr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  <a:defRPr/>
                      </a:pPr>
                      <a:r>
                        <a:rPr kumimoji="0" lang="en-US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</a:rPr>
                        <a:t>Last week</a:t>
                      </a:r>
                      <a:endParaRPr kumimoji="0" 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" pitchFamily="2" charset="0"/>
                      </a:endParaRPr>
                    </a:p>
                  </a:txBody>
                  <a:tcPr marL="34208" marR="34208" marT="13683" marB="13683" anchor="ctr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</a:rPr>
                        <a:t>Week -2</a:t>
                      </a:r>
                      <a:endParaRPr kumimoji="0" 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" pitchFamily="2" charset="0"/>
                      </a:endParaRPr>
                    </a:p>
                  </a:txBody>
                  <a:tcPr marL="34208" marR="34208" marT="13683" marB="13683" anchor="ctr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</a:rPr>
                        <a:t>Week -3</a:t>
                      </a:r>
                      <a:endParaRPr kumimoji="0" 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" pitchFamily="2" charset="0"/>
                      </a:endParaRPr>
                    </a:p>
                  </a:txBody>
                  <a:tcPr marL="34208" marR="34208" marT="13683" marB="13683" anchor="ctr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</a:rPr>
                        <a:t>Week -4</a:t>
                      </a:r>
                      <a:endParaRPr kumimoji="0" 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" pitchFamily="2" charset="0"/>
                      </a:endParaRPr>
                    </a:p>
                  </a:txBody>
                  <a:tcPr marL="34208" marR="34208" marT="13683" marB="13683" anchor="ctr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Week-5</a:t>
                      </a:r>
                      <a:endParaRPr kumimoji="0" lang="en-US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</a:tr>
              <a:tr h="335668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Change Management</a:t>
                      </a:r>
                    </a:p>
                  </a:txBody>
                  <a:tcPr marL="34208" marR="34208" marT="13683" marB="13683" anchor="ctr" horzOverflow="overflow"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</a:tr>
              <a:tr h="335668"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Deployment</a:t>
                      </a:r>
                    </a:p>
                  </a:txBody>
                  <a:tcPr marL="34208" marR="34208" marT="13683" marB="13683" anchor="ctr" horzOverflow="overflow"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</a:tr>
              <a:tr h="335668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Collaboration 1</a:t>
                      </a:r>
                    </a:p>
                  </a:txBody>
                  <a:tcPr marL="34208" marR="34208" marT="13683" marB="13683" anchor="ctr" horzOverflow="overflow"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</a:tr>
              <a:tr h="335668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Collaboration 2</a:t>
                      </a:r>
                    </a:p>
                  </a:txBody>
                  <a:tcPr marL="34208" marR="34208" marT="13683" marB="13683" anchor="ctr" horzOverflow="overflow"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</a:tr>
              <a:tr h="335668"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Collaboration 3</a:t>
                      </a:r>
                    </a:p>
                  </a:txBody>
                  <a:tcPr marL="34208" marR="34208" marT="13683" marB="13683" anchor="ctr" horzOverflow="overflow"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</a:tr>
              <a:tr h="335668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???</a:t>
                      </a:r>
                    </a:p>
                  </a:txBody>
                  <a:tcPr marL="34208" marR="34208" marT="13683" marB="13683" anchor="ctr" horzOverflow="overflow"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Group 8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8532448"/>
              </p:ext>
            </p:extLst>
          </p:nvPr>
        </p:nvGraphicFramePr>
        <p:xfrm>
          <a:off x="6629400" y="381000"/>
          <a:ext cx="2438400" cy="5372466"/>
        </p:xfrm>
        <a:graphic>
          <a:graphicData uri="http://schemas.openxmlformats.org/drawingml/2006/table">
            <a:tbl>
              <a:tblPr/>
              <a:tblGrid>
                <a:gridCol w="2438400"/>
              </a:tblGrid>
              <a:tr h="160477"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EYInterstate" pitchFamily="2" charset="0"/>
                        </a:rPr>
                        <a:t>SUB-PROJECT NARRATIVE</a:t>
                      </a:r>
                      <a:endParaRPr kumimoji="0" 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EYInterstate" pitchFamily="2" charset="0"/>
                      </a:endParaRPr>
                    </a:p>
                  </a:txBody>
                  <a:tcPr marL="31577" marR="31577" marT="13683" marB="13683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1191469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800" b="0" i="0" u="sng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 </a:t>
                      </a:r>
                      <a:endParaRPr kumimoji="0" lang="en-US" sz="800" b="0" i="0" u="sng" strike="noStrike" kern="1200" cap="none" normalizeH="0" baseline="0" dirty="0" smtClean="0">
                        <a:ln>
                          <a:noFill/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82947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800" b="0" i="0" u="sng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 </a:t>
                      </a:r>
                      <a:endParaRPr kumimoji="0" lang="en-US" sz="800" b="0" i="0" u="sng" strike="noStrike" kern="1200" cap="none" normalizeH="0" baseline="0" dirty="0" smtClean="0">
                        <a:ln>
                          <a:noFill/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Pct val="59000"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kumimoji="0" lang="en-US" sz="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82947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GB" sz="800" b="0" i="0" u="sng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 </a:t>
                      </a:r>
                      <a:endParaRPr kumimoji="0" lang="en-US" sz="800" b="0" i="0" u="sng" strike="noStrike" kern="1200" cap="none" normalizeH="0" baseline="0" dirty="0" smtClean="0">
                        <a:ln>
                          <a:noFill/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Pct val="59000"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kumimoji="0" lang="en-US" sz="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228684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800" b="0" i="0" u="sng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 </a:t>
                      </a:r>
                      <a:endParaRPr kumimoji="0" lang="en-US" sz="800" b="0" i="0" u="sng" strike="noStrike" kern="1200" cap="none" normalizeH="0" baseline="0" dirty="0" smtClean="0">
                        <a:ln>
                          <a:noFill/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Pct val="59000"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kumimoji="0" lang="en-GB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 </a:t>
                      </a:r>
                      <a:endParaRPr kumimoji="0" lang="en-GB" sz="8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</a:txBody>
                  <a:tcPr marL="31577" marR="31577" marT="13683" marB="13683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25942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800" b="0" i="0" u="sng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 </a:t>
                      </a:r>
                      <a:endParaRPr kumimoji="0" lang="en-US" sz="800" b="0" i="0" u="sng" strike="noStrike" kern="1200" cap="none" normalizeH="0" baseline="0" dirty="0" smtClean="0">
                        <a:ln>
                          <a:noFill/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Pct val="59000"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kumimoji="0" lang="en-US" sz="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3896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3273821"/>
              </p:ext>
            </p:extLst>
          </p:nvPr>
        </p:nvGraphicFramePr>
        <p:xfrm>
          <a:off x="18537" y="532134"/>
          <a:ext cx="6458464" cy="32778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9163"/>
                <a:gridCol w="779163"/>
                <a:gridCol w="940958"/>
                <a:gridCol w="791836"/>
                <a:gridCol w="791836"/>
                <a:gridCol w="791836"/>
                <a:gridCol w="791836"/>
                <a:gridCol w="791836"/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Sub-Program</a:t>
                      </a:r>
                      <a:endParaRPr kumimoji="0" lang="en-US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Overall health</a:t>
                      </a: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Scope</a:t>
                      </a:r>
                      <a:endParaRPr kumimoji="0" lang="en-US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Schedule</a:t>
                      </a:r>
                      <a:endParaRPr kumimoji="0" lang="en-US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800" b="1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Cost</a:t>
                      </a:r>
                      <a:endParaRPr kumimoji="0" lang="en-US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800" b="1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Resources</a:t>
                      </a:r>
                      <a:endParaRPr kumimoji="0" lang="en-US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800" b="1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RAID</a:t>
                      </a:r>
                      <a:endParaRPr kumimoji="0" lang="en-US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CR</a:t>
                      </a:r>
                      <a:endParaRPr kumimoji="0" lang="en-US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</a:tr>
              <a:tr h="359389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Change </a:t>
                      </a:r>
                      <a:r>
                        <a:rPr kumimoji="0" lang="en-US" sz="8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Mgt</a:t>
                      </a:r>
                      <a:endParaRPr kumimoji="0" lang="en-US" sz="8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marL="34208" marR="34208" marT="13683" marB="13683" anchor="ctr" horzOverflow="overflow"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</a:tr>
              <a:tr h="359389"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Deployment</a:t>
                      </a:r>
                    </a:p>
                  </a:txBody>
                  <a:tcPr marL="34208" marR="34208" marT="13683" marB="13683" anchor="ctr" horzOverflow="overflow"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</a:tr>
              <a:tr h="359389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Infrastructure Delivery 0365</a:t>
                      </a:r>
                      <a:endParaRPr kumimoji="0" lang="en-US" sz="8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marL="34208" marR="34208" marT="13683" marB="13683" anchor="ctr" horzOverflow="overflow"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</a:tr>
              <a:tr h="359389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Infrastructure Delivery On-</a:t>
                      </a:r>
                      <a:r>
                        <a:rPr kumimoji="0" lang="en-US" sz="8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Prem</a:t>
                      </a:r>
                      <a:endParaRPr kumimoji="0" lang="en-US" sz="8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marL="34208" marR="34208" marT="13683" marB="13683" anchor="ctr" horzOverflow="overflow"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</a:tr>
              <a:tr h="359389"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Application Delivery</a:t>
                      </a:r>
                      <a:endParaRPr kumimoji="0" lang="en-US" sz="8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marL="34208" marR="34208" marT="13683" marB="13683" anchor="ctr" horzOverflow="overflow"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</a:tr>
              <a:tr h="359389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    Migration &amp; Scheduling</a:t>
                      </a:r>
                      <a:endParaRPr kumimoji="0" lang="en-US" sz="8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marL="34208" marR="34208" marT="13683" marB="13683" anchor="ctr" horzOverflow="overflow"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</a:tr>
              <a:tr h="359389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Testing</a:t>
                      </a:r>
                      <a:endParaRPr kumimoji="0" lang="en-US" sz="8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marL="34208" marR="34208" marT="13683" marB="13683" anchor="ctr" horzOverflow="overflow"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</a:tr>
              <a:tr h="35938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800" b="1" i="0" u="none" strike="noStrike" dirty="0" smtClean="0">
                          <a:solidFill>
                            <a:srgbClr val="000000"/>
                          </a:solidFill>
                          <a:latin typeface="EYInterstate" pitchFamily="2" charset="0"/>
                        </a:rPr>
                        <a:t>OVERALL</a:t>
                      </a:r>
                      <a:endParaRPr lang="en-GB" sz="800" b="1" i="0" u="none" strike="noStrike" dirty="0">
                        <a:solidFill>
                          <a:srgbClr val="000000"/>
                        </a:solidFill>
                        <a:latin typeface="EYInterstate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1" name="Freeform 94"/>
          <p:cNvSpPr>
            <a:spLocks/>
          </p:cNvSpPr>
          <p:nvPr/>
        </p:nvSpPr>
        <p:spPr bwMode="gray">
          <a:xfrm>
            <a:off x="-2459" y="-3263"/>
            <a:ext cx="6022259" cy="384263"/>
          </a:xfrm>
          <a:custGeom>
            <a:avLst/>
            <a:gdLst/>
            <a:ahLst/>
            <a:cxnLst>
              <a:cxn ang="0">
                <a:pos x="6000" y="0"/>
              </a:cxn>
              <a:cxn ang="0">
                <a:pos x="5854" y="752"/>
              </a:cxn>
              <a:cxn ang="0">
                <a:pos x="0" y="754"/>
              </a:cxn>
              <a:cxn ang="0">
                <a:pos x="0" y="3"/>
              </a:cxn>
              <a:cxn ang="0">
                <a:pos x="6000" y="0"/>
              </a:cxn>
            </a:cxnLst>
            <a:rect l="0" t="0" r="r" b="b"/>
            <a:pathLst>
              <a:path w="6000" h="754">
                <a:moveTo>
                  <a:pt x="6000" y="0"/>
                </a:moveTo>
                <a:lnTo>
                  <a:pt x="5854" y="752"/>
                </a:lnTo>
                <a:lnTo>
                  <a:pt x="0" y="754"/>
                </a:lnTo>
                <a:lnTo>
                  <a:pt x="0" y="3"/>
                </a:lnTo>
                <a:lnTo>
                  <a:pt x="6000" y="0"/>
                </a:lnTo>
                <a:close/>
              </a:path>
            </a:pathLst>
          </a:custGeom>
          <a:solidFill>
            <a:srgbClr val="FFD200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defTabSz="955675" eaLnBrk="0" hangingPunct="0">
              <a:defRPr/>
            </a:pPr>
            <a:r>
              <a:rPr lang="en-US" sz="2000" b="1" kern="0" dirty="0" smtClean="0">
                <a:solidFill>
                  <a:schemeClr val="tx2"/>
                </a:solidFill>
                <a:latin typeface="EYInterstate"/>
              </a:rPr>
              <a:t>O/E </a:t>
            </a:r>
            <a:r>
              <a:rPr lang="en-US" sz="2000" b="1" kern="0" dirty="0">
                <a:solidFill>
                  <a:schemeClr val="tx2"/>
                </a:solidFill>
                <a:latin typeface="EYInterstate"/>
              </a:rPr>
              <a:t>sub-program health</a:t>
            </a:r>
            <a:endParaRPr lang="en-US" sz="2000" b="1" kern="0" dirty="0">
              <a:solidFill>
                <a:schemeClr val="tx2"/>
              </a:solidFill>
              <a:latin typeface="EYInterstate"/>
            </a:endParaRPr>
          </a:p>
        </p:txBody>
      </p:sp>
      <p:graphicFrame>
        <p:nvGraphicFramePr>
          <p:cNvPr id="92" name="Table 9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0625549"/>
              </p:ext>
            </p:extLst>
          </p:nvPr>
        </p:nvGraphicFramePr>
        <p:xfrm>
          <a:off x="0" y="3963186"/>
          <a:ext cx="6552041" cy="27424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907"/>
                <a:gridCol w="900907"/>
                <a:gridCol w="1087983"/>
                <a:gridCol w="915561"/>
                <a:gridCol w="915561"/>
                <a:gridCol w="915561"/>
                <a:gridCol w="915561"/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Sub-Program Trend</a:t>
                      </a:r>
                      <a:endParaRPr kumimoji="0" lang="en-US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</a:rPr>
                        <a:t>This week</a:t>
                      </a:r>
                      <a:endParaRPr kumimoji="0" 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" pitchFamily="2" charset="0"/>
                      </a:endParaRPr>
                    </a:p>
                  </a:txBody>
                  <a:tcPr marL="34208" marR="34208" marT="13683" marB="13683" anchor="ctr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  <a:defRPr/>
                      </a:pPr>
                      <a:r>
                        <a:rPr kumimoji="0" lang="en-US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</a:rPr>
                        <a:t>Last week</a:t>
                      </a:r>
                      <a:endParaRPr kumimoji="0" 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" pitchFamily="2" charset="0"/>
                      </a:endParaRPr>
                    </a:p>
                  </a:txBody>
                  <a:tcPr marL="34208" marR="34208" marT="13683" marB="13683" anchor="ctr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</a:rPr>
                        <a:t>Week -2</a:t>
                      </a:r>
                      <a:endParaRPr kumimoji="0" 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" pitchFamily="2" charset="0"/>
                      </a:endParaRPr>
                    </a:p>
                  </a:txBody>
                  <a:tcPr marL="34208" marR="34208" marT="13683" marB="13683" anchor="ctr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</a:rPr>
                        <a:t>Week -3</a:t>
                      </a:r>
                      <a:endParaRPr kumimoji="0" 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" pitchFamily="2" charset="0"/>
                      </a:endParaRPr>
                    </a:p>
                  </a:txBody>
                  <a:tcPr marL="34208" marR="34208" marT="13683" marB="13683" anchor="ctr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</a:rPr>
                        <a:t>Week -4</a:t>
                      </a:r>
                      <a:endParaRPr kumimoji="0" 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" pitchFamily="2" charset="0"/>
                      </a:endParaRPr>
                    </a:p>
                  </a:txBody>
                  <a:tcPr marL="34208" marR="34208" marT="13683" marB="13683" anchor="ctr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Week-5</a:t>
                      </a:r>
                      <a:endParaRPr kumimoji="0" lang="en-US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</a:tr>
              <a:tr h="335668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Change </a:t>
                      </a:r>
                      <a:r>
                        <a:rPr kumimoji="0" lang="en-US" sz="8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Mgt</a:t>
                      </a:r>
                      <a:endParaRPr kumimoji="0" lang="en-US" sz="8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marL="34208" marR="34208" marT="13683" marB="13683" anchor="ctr" horzOverflow="overflow"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</a:tr>
              <a:tr h="335668"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Deployment</a:t>
                      </a:r>
                    </a:p>
                  </a:txBody>
                  <a:tcPr marL="34208" marR="34208" marT="13683" marB="13683" anchor="ctr" horzOverflow="overflow"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</a:tr>
              <a:tr h="335668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Infrastructure Delivery 0365</a:t>
                      </a:r>
                    </a:p>
                  </a:txBody>
                  <a:tcPr marL="34208" marR="34208" marT="13683" marB="13683" anchor="ctr" horzOverflow="overflow"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</a:tr>
              <a:tr h="335668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Infrastructure Delivery On-</a:t>
                      </a:r>
                      <a:r>
                        <a:rPr kumimoji="0" lang="en-US" sz="8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Prem</a:t>
                      </a:r>
                      <a:endParaRPr kumimoji="0" lang="en-US" sz="8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marL="34208" marR="34208" marT="13683" marB="13683" anchor="ctr" horzOverflow="overflow"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</a:tr>
              <a:tr h="335668"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Application Delivery</a:t>
                      </a:r>
                    </a:p>
                  </a:txBody>
                  <a:tcPr marL="34208" marR="34208" marT="13683" marB="13683" anchor="ctr" horzOverflow="overflow"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</a:tr>
              <a:tr h="335668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    Migration &amp; Scheduling</a:t>
                      </a:r>
                    </a:p>
                  </a:txBody>
                  <a:tcPr marL="34208" marR="34208" marT="13683" marB="13683" anchor="ctr" horzOverflow="overflow"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</a:tr>
              <a:tr h="335668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Testing</a:t>
                      </a:r>
                    </a:p>
                  </a:txBody>
                  <a:tcPr marL="34208" marR="34208" marT="13683" marB="13683" anchor="ctr" horzOverflow="overflow"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Group 8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1919641"/>
              </p:ext>
            </p:extLst>
          </p:nvPr>
        </p:nvGraphicFramePr>
        <p:xfrm>
          <a:off x="6629400" y="381000"/>
          <a:ext cx="2438400" cy="5372466"/>
        </p:xfrm>
        <a:graphic>
          <a:graphicData uri="http://schemas.openxmlformats.org/drawingml/2006/table">
            <a:tbl>
              <a:tblPr/>
              <a:tblGrid>
                <a:gridCol w="2438400"/>
              </a:tblGrid>
              <a:tr h="160477"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EYInterstate" pitchFamily="2" charset="0"/>
                        </a:rPr>
                        <a:t>SUB-PROJECT NARRATIVE</a:t>
                      </a:r>
                      <a:endParaRPr kumimoji="0" 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EYInterstate" pitchFamily="2" charset="0"/>
                      </a:endParaRPr>
                    </a:p>
                  </a:txBody>
                  <a:tcPr marL="31577" marR="31577" marT="13683" marB="13683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1191469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800" b="0" i="0" u="sng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 </a:t>
                      </a:r>
                      <a:endParaRPr kumimoji="0" lang="en-US" sz="800" b="0" i="0" u="sng" strike="noStrike" kern="1200" cap="none" normalizeH="0" baseline="0" dirty="0" smtClean="0">
                        <a:ln>
                          <a:noFill/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82947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800" b="0" i="0" u="sng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 </a:t>
                      </a:r>
                      <a:endParaRPr kumimoji="0" lang="en-US" sz="800" b="0" i="0" u="sng" strike="noStrike" kern="1200" cap="none" normalizeH="0" baseline="0" dirty="0" smtClean="0">
                        <a:ln>
                          <a:noFill/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Pct val="59000"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kumimoji="0" lang="en-US" sz="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82947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GB" sz="800" b="0" i="0" u="sng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 </a:t>
                      </a:r>
                      <a:endParaRPr kumimoji="0" lang="en-US" sz="800" b="0" i="0" u="sng" strike="noStrike" kern="1200" cap="none" normalizeH="0" baseline="0" dirty="0" smtClean="0">
                        <a:ln>
                          <a:noFill/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Pct val="59000"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kumimoji="0" lang="en-US" sz="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228684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800" b="0" i="0" u="sng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 </a:t>
                      </a:r>
                      <a:endParaRPr kumimoji="0" lang="en-US" sz="800" b="0" i="0" u="sng" strike="noStrike" kern="1200" cap="none" normalizeH="0" baseline="0" dirty="0" smtClean="0">
                        <a:ln>
                          <a:noFill/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Pct val="59000"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kumimoji="0" lang="en-GB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 </a:t>
                      </a:r>
                      <a:endParaRPr kumimoji="0" lang="en-GB" sz="8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</a:txBody>
                  <a:tcPr marL="31577" marR="31577" marT="13683" marB="13683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25942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800" b="0" i="0" u="sng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 </a:t>
                      </a:r>
                      <a:endParaRPr kumimoji="0" lang="en-US" sz="800" b="0" i="0" u="sng" strike="noStrike" kern="1200" cap="none" normalizeH="0" baseline="0" dirty="0" smtClean="0">
                        <a:ln>
                          <a:noFill/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Pct val="59000"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kumimoji="0" lang="en-US" sz="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4415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2258162"/>
              </p:ext>
            </p:extLst>
          </p:nvPr>
        </p:nvGraphicFramePr>
        <p:xfrm>
          <a:off x="18537" y="638957"/>
          <a:ext cx="6458464" cy="2884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9163"/>
                <a:gridCol w="779163"/>
                <a:gridCol w="940958"/>
                <a:gridCol w="791836"/>
                <a:gridCol w="791836"/>
                <a:gridCol w="791836"/>
                <a:gridCol w="791836"/>
                <a:gridCol w="791836"/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Sub-Program</a:t>
                      </a:r>
                      <a:endParaRPr kumimoji="0" lang="en-US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Overall health</a:t>
                      </a: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Scope</a:t>
                      </a:r>
                      <a:endParaRPr kumimoji="0" lang="en-US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Schedule</a:t>
                      </a:r>
                      <a:endParaRPr kumimoji="0" lang="en-US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800" b="1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Cost</a:t>
                      </a:r>
                      <a:endParaRPr kumimoji="0" lang="en-US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800" b="1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Resources</a:t>
                      </a:r>
                      <a:endParaRPr kumimoji="0" lang="en-US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800" b="1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RAID</a:t>
                      </a:r>
                      <a:endParaRPr kumimoji="0" lang="en-US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CR</a:t>
                      </a:r>
                      <a:endParaRPr kumimoji="0" lang="en-US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</a:tr>
              <a:tr h="359389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Lync</a:t>
                      </a: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 Change &amp; Deployment</a:t>
                      </a:r>
                      <a:endParaRPr kumimoji="0" lang="en-US" sz="8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marL="34208" marR="34208" marT="13683" marB="13683" anchor="ctr" horzOverflow="overflow"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</a:tr>
              <a:tr h="359389"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0" lang="en-US" sz="8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marL="34208" marR="34208" marT="13683" marB="13683" anchor="ctr" horzOverflow="overflow"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</a:tr>
              <a:tr h="359389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0" lang="en-US" sz="8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marL="34208" marR="34208" marT="13683" marB="13683" anchor="ctr" horzOverflow="overflow"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</a:tr>
              <a:tr h="359389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????</a:t>
                      </a:r>
                      <a:endParaRPr kumimoji="0" lang="en-US" sz="8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marL="34208" marR="34208" marT="13683" marB="13683" anchor="ctr" horzOverflow="overflow"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</a:tr>
              <a:tr h="359389"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????</a:t>
                      </a:r>
                      <a:endParaRPr kumimoji="0" lang="en-US" sz="8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marL="34208" marR="34208" marT="13683" marB="13683" anchor="ctr" horzOverflow="overflow"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</a:tr>
              <a:tr h="359389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???</a:t>
                      </a:r>
                    </a:p>
                  </a:txBody>
                  <a:tcPr marL="34208" marR="34208" marT="13683" marB="13683" anchor="ctr" horzOverflow="overflow"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</a:tr>
              <a:tr h="35938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800" b="1" i="0" u="none" strike="noStrike" dirty="0" smtClean="0">
                          <a:solidFill>
                            <a:srgbClr val="000000"/>
                          </a:solidFill>
                          <a:latin typeface="EYInterstate" pitchFamily="2" charset="0"/>
                        </a:rPr>
                        <a:t>OVERALL</a:t>
                      </a:r>
                      <a:endParaRPr lang="en-GB" sz="800" b="1" i="0" u="none" strike="noStrike" dirty="0">
                        <a:solidFill>
                          <a:srgbClr val="000000"/>
                        </a:solidFill>
                        <a:latin typeface="EYInterstate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1" name="Freeform 94"/>
          <p:cNvSpPr>
            <a:spLocks/>
          </p:cNvSpPr>
          <p:nvPr/>
        </p:nvSpPr>
        <p:spPr bwMode="gray">
          <a:xfrm>
            <a:off x="-2459" y="-3263"/>
            <a:ext cx="6022259" cy="384263"/>
          </a:xfrm>
          <a:custGeom>
            <a:avLst/>
            <a:gdLst/>
            <a:ahLst/>
            <a:cxnLst>
              <a:cxn ang="0">
                <a:pos x="6000" y="0"/>
              </a:cxn>
              <a:cxn ang="0">
                <a:pos x="5854" y="752"/>
              </a:cxn>
              <a:cxn ang="0">
                <a:pos x="0" y="754"/>
              </a:cxn>
              <a:cxn ang="0">
                <a:pos x="0" y="3"/>
              </a:cxn>
              <a:cxn ang="0">
                <a:pos x="6000" y="0"/>
              </a:cxn>
            </a:cxnLst>
            <a:rect l="0" t="0" r="r" b="b"/>
            <a:pathLst>
              <a:path w="6000" h="754">
                <a:moveTo>
                  <a:pt x="6000" y="0"/>
                </a:moveTo>
                <a:lnTo>
                  <a:pt x="5854" y="752"/>
                </a:lnTo>
                <a:lnTo>
                  <a:pt x="0" y="754"/>
                </a:lnTo>
                <a:lnTo>
                  <a:pt x="0" y="3"/>
                </a:lnTo>
                <a:lnTo>
                  <a:pt x="6000" y="0"/>
                </a:lnTo>
                <a:close/>
              </a:path>
            </a:pathLst>
          </a:custGeom>
          <a:solidFill>
            <a:srgbClr val="FFD200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defTabSz="955675" eaLnBrk="0" hangingPunct="0">
              <a:defRPr/>
            </a:pPr>
            <a:r>
              <a:rPr lang="en-US" sz="2000" b="1" kern="0" dirty="0" err="1" smtClean="0">
                <a:solidFill>
                  <a:schemeClr val="tx2"/>
                </a:solidFill>
                <a:latin typeface="EYInterstate"/>
              </a:rPr>
              <a:t>Lync</a:t>
            </a:r>
            <a:r>
              <a:rPr lang="en-US" sz="2000" b="1" kern="0" dirty="0" smtClean="0">
                <a:solidFill>
                  <a:schemeClr val="tx2"/>
                </a:solidFill>
                <a:latin typeface="EYInterstate"/>
              </a:rPr>
              <a:t> </a:t>
            </a:r>
            <a:r>
              <a:rPr lang="en-US" sz="2000" b="1" kern="0" dirty="0">
                <a:solidFill>
                  <a:schemeClr val="tx2"/>
                </a:solidFill>
                <a:latin typeface="EYInterstate"/>
              </a:rPr>
              <a:t>s</a:t>
            </a:r>
            <a:r>
              <a:rPr lang="en-US" sz="2000" b="1" kern="0" dirty="0" smtClean="0">
                <a:solidFill>
                  <a:schemeClr val="tx2"/>
                </a:solidFill>
                <a:latin typeface="EYInterstate"/>
              </a:rPr>
              <a:t>ub-program </a:t>
            </a:r>
            <a:r>
              <a:rPr lang="en-US" sz="2000" b="1" kern="0" dirty="0">
                <a:solidFill>
                  <a:schemeClr val="tx2"/>
                </a:solidFill>
                <a:latin typeface="EYInterstate"/>
              </a:rPr>
              <a:t>health</a:t>
            </a:r>
          </a:p>
        </p:txBody>
      </p:sp>
      <p:graphicFrame>
        <p:nvGraphicFramePr>
          <p:cNvPr id="92" name="Table 9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2780530"/>
              </p:ext>
            </p:extLst>
          </p:nvPr>
        </p:nvGraphicFramePr>
        <p:xfrm>
          <a:off x="0" y="4191000"/>
          <a:ext cx="6552041" cy="2349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907"/>
                <a:gridCol w="900907"/>
                <a:gridCol w="1087983"/>
                <a:gridCol w="915561"/>
                <a:gridCol w="915561"/>
                <a:gridCol w="915561"/>
                <a:gridCol w="915561"/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Sub-Program Trend</a:t>
                      </a:r>
                      <a:endParaRPr kumimoji="0" lang="en-US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</a:rPr>
                        <a:t>This week</a:t>
                      </a:r>
                      <a:endParaRPr kumimoji="0" 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" pitchFamily="2" charset="0"/>
                      </a:endParaRPr>
                    </a:p>
                  </a:txBody>
                  <a:tcPr marL="34208" marR="34208" marT="13683" marB="13683" anchor="ctr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  <a:defRPr/>
                      </a:pPr>
                      <a:r>
                        <a:rPr kumimoji="0" lang="en-US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</a:rPr>
                        <a:t>Last week</a:t>
                      </a:r>
                      <a:endParaRPr kumimoji="0" 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" pitchFamily="2" charset="0"/>
                      </a:endParaRPr>
                    </a:p>
                  </a:txBody>
                  <a:tcPr marL="34208" marR="34208" marT="13683" marB="13683" anchor="ctr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</a:rPr>
                        <a:t>Week -2</a:t>
                      </a:r>
                      <a:endParaRPr kumimoji="0" 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" pitchFamily="2" charset="0"/>
                      </a:endParaRPr>
                    </a:p>
                  </a:txBody>
                  <a:tcPr marL="34208" marR="34208" marT="13683" marB="13683" anchor="ctr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</a:rPr>
                        <a:t>Week -3</a:t>
                      </a:r>
                      <a:endParaRPr kumimoji="0" 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" pitchFamily="2" charset="0"/>
                      </a:endParaRPr>
                    </a:p>
                  </a:txBody>
                  <a:tcPr marL="34208" marR="34208" marT="13683" marB="13683" anchor="ctr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</a:rPr>
                        <a:t>Week -4</a:t>
                      </a:r>
                      <a:endParaRPr kumimoji="0" 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" pitchFamily="2" charset="0"/>
                      </a:endParaRPr>
                    </a:p>
                  </a:txBody>
                  <a:tcPr marL="34208" marR="34208" marT="13683" marB="13683" anchor="ctr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Week-5</a:t>
                      </a:r>
                      <a:endParaRPr kumimoji="0" lang="en-US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</a:tr>
              <a:tr h="335668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Change Management</a:t>
                      </a:r>
                    </a:p>
                  </a:txBody>
                  <a:tcPr marL="34208" marR="34208" marT="13683" marB="13683" anchor="ctr" horzOverflow="overflow"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</a:tr>
              <a:tr h="335668"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Deployment</a:t>
                      </a:r>
                    </a:p>
                  </a:txBody>
                  <a:tcPr marL="34208" marR="34208" marT="13683" marB="13683" anchor="ctr" horzOverflow="overflow"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</a:tr>
              <a:tr h="335668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Lync</a:t>
                      </a: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34208" marR="34208" marT="13683" marB="13683" anchor="ctr" horzOverflow="overflow"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</a:tr>
              <a:tr h="335668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Lync</a:t>
                      </a: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34208" marR="34208" marT="13683" marB="13683" anchor="ctr" horzOverflow="overflow"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</a:tr>
              <a:tr h="335668"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Lync</a:t>
                      </a: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34208" marR="34208" marT="13683" marB="13683" anchor="ctr" horzOverflow="overflow"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</a:tr>
              <a:tr h="335668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Lync</a:t>
                      </a: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 4</a:t>
                      </a:r>
                      <a:endParaRPr kumimoji="0" lang="en-US" sz="8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marL="34208" marR="34208" marT="13683" marB="13683" anchor="ctr" horzOverflow="overflow"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Group 8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8946761"/>
              </p:ext>
            </p:extLst>
          </p:nvPr>
        </p:nvGraphicFramePr>
        <p:xfrm>
          <a:off x="6629400" y="647334"/>
          <a:ext cx="2438400" cy="5372466"/>
        </p:xfrm>
        <a:graphic>
          <a:graphicData uri="http://schemas.openxmlformats.org/drawingml/2006/table">
            <a:tbl>
              <a:tblPr/>
              <a:tblGrid>
                <a:gridCol w="2438400"/>
              </a:tblGrid>
              <a:tr h="160477"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EYInterstate" pitchFamily="2" charset="0"/>
                        </a:rPr>
                        <a:t>SUB-PROJECT NARRATIVE</a:t>
                      </a:r>
                      <a:endParaRPr kumimoji="0" 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EYInterstate" pitchFamily="2" charset="0"/>
                      </a:endParaRPr>
                    </a:p>
                  </a:txBody>
                  <a:tcPr marL="31577" marR="31577" marT="13683" marB="13683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1191469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800" b="0" i="0" u="sng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 </a:t>
                      </a:r>
                      <a:endParaRPr kumimoji="0" lang="en-US" sz="800" b="0" i="0" u="sng" strike="noStrike" kern="1200" cap="none" normalizeH="0" baseline="0" dirty="0" smtClean="0">
                        <a:ln>
                          <a:noFill/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82947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800" b="0" i="0" u="sng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 </a:t>
                      </a:r>
                      <a:endParaRPr kumimoji="0" lang="en-US" sz="800" b="0" i="0" u="sng" strike="noStrike" kern="1200" cap="none" normalizeH="0" baseline="0" dirty="0" smtClean="0">
                        <a:ln>
                          <a:noFill/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Pct val="59000"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kumimoji="0" lang="en-US" sz="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82947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GB" sz="800" b="0" i="0" u="sng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 </a:t>
                      </a:r>
                      <a:endParaRPr kumimoji="0" lang="en-US" sz="800" b="0" i="0" u="sng" strike="noStrike" kern="1200" cap="none" normalizeH="0" baseline="0" dirty="0" smtClean="0">
                        <a:ln>
                          <a:noFill/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Pct val="59000"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kumimoji="0" lang="en-US" sz="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228684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800" b="0" i="0" u="sng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 </a:t>
                      </a:r>
                      <a:endParaRPr kumimoji="0" lang="en-US" sz="800" b="0" i="0" u="sng" strike="noStrike" kern="1200" cap="none" normalizeH="0" baseline="0" dirty="0" smtClean="0">
                        <a:ln>
                          <a:noFill/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Pct val="59000"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kumimoji="0" lang="en-GB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 </a:t>
                      </a:r>
                      <a:endParaRPr kumimoji="0" lang="en-GB" sz="8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</a:txBody>
                  <a:tcPr marL="31577" marR="31577" marT="13683" marB="13683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25942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800" b="0" i="0" u="sng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 </a:t>
                      </a:r>
                      <a:endParaRPr kumimoji="0" lang="en-US" sz="800" b="0" i="0" u="sng" strike="noStrike" kern="1200" cap="none" normalizeH="0" baseline="0" dirty="0" smtClean="0">
                        <a:ln>
                          <a:noFill/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Pct val="59000"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kumimoji="0" lang="en-US" sz="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9738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8978889"/>
              </p:ext>
            </p:extLst>
          </p:nvPr>
        </p:nvGraphicFramePr>
        <p:xfrm>
          <a:off x="101570" y="1066800"/>
          <a:ext cx="6451629" cy="17728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9453"/>
                <a:gridCol w="662977"/>
                <a:gridCol w="533400"/>
                <a:gridCol w="2205288"/>
                <a:gridCol w="2290511"/>
              </a:tblGrid>
              <a:tr h="304800"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EMEIA</a:t>
                      </a:r>
                      <a:endParaRPr kumimoji="0" lang="en-US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Migration Date</a:t>
                      </a:r>
                      <a:endParaRPr kumimoji="0" lang="en-US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Overall Status</a:t>
                      </a: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Comments </a:t>
                      </a:r>
                      <a:endParaRPr kumimoji="0" lang="en-US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RAID</a:t>
                      </a:r>
                      <a:endParaRPr kumimoji="0" lang="en-US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</a:tr>
              <a:tr h="359389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Deployment 1</a:t>
                      </a:r>
                    </a:p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(Country)</a:t>
                      </a:r>
                    </a:p>
                  </a:txBody>
                  <a:tcPr marL="34208" marR="34208" marT="13683" marB="13683" anchor="ctr" horzOverflow="overflow"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</a:tr>
              <a:tr h="359389"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Deployment 2</a:t>
                      </a:r>
                    </a:p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(Country)</a:t>
                      </a:r>
                    </a:p>
                  </a:txBody>
                  <a:tcPr marL="34208" marR="34208" marT="13683" marB="13683" anchor="ctr" horzOverflow="overflow"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</a:tr>
              <a:tr h="359389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Deployment 3</a:t>
                      </a:r>
                    </a:p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(Country)</a:t>
                      </a:r>
                    </a:p>
                  </a:txBody>
                  <a:tcPr marL="34208" marR="34208" marT="13683" marB="13683" anchor="ctr" horzOverflow="overflow"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</a:tr>
              <a:tr h="359389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Deployment 4</a:t>
                      </a:r>
                    </a:p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(Country)</a:t>
                      </a:r>
                    </a:p>
                  </a:txBody>
                  <a:tcPr marL="34208" marR="34208" marT="13683" marB="13683" anchor="ctr" horzOverflow="overflow"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1" name="Freeform 94"/>
          <p:cNvSpPr>
            <a:spLocks/>
          </p:cNvSpPr>
          <p:nvPr/>
        </p:nvSpPr>
        <p:spPr bwMode="gray">
          <a:xfrm>
            <a:off x="-2459" y="-3263"/>
            <a:ext cx="6022259" cy="384263"/>
          </a:xfrm>
          <a:custGeom>
            <a:avLst/>
            <a:gdLst/>
            <a:ahLst/>
            <a:cxnLst>
              <a:cxn ang="0">
                <a:pos x="6000" y="0"/>
              </a:cxn>
              <a:cxn ang="0">
                <a:pos x="5854" y="752"/>
              </a:cxn>
              <a:cxn ang="0">
                <a:pos x="0" y="754"/>
              </a:cxn>
              <a:cxn ang="0">
                <a:pos x="0" y="3"/>
              </a:cxn>
              <a:cxn ang="0">
                <a:pos x="6000" y="0"/>
              </a:cxn>
            </a:cxnLst>
            <a:rect l="0" t="0" r="r" b="b"/>
            <a:pathLst>
              <a:path w="6000" h="754">
                <a:moveTo>
                  <a:pt x="6000" y="0"/>
                </a:moveTo>
                <a:lnTo>
                  <a:pt x="5854" y="752"/>
                </a:lnTo>
                <a:lnTo>
                  <a:pt x="0" y="754"/>
                </a:lnTo>
                <a:lnTo>
                  <a:pt x="0" y="3"/>
                </a:lnTo>
                <a:lnTo>
                  <a:pt x="6000" y="0"/>
                </a:lnTo>
                <a:close/>
              </a:path>
            </a:pathLst>
          </a:custGeom>
          <a:solidFill>
            <a:srgbClr val="FFD200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defTabSz="955675" eaLnBrk="0" hangingPunct="0">
              <a:defRPr/>
            </a:pPr>
            <a:r>
              <a:rPr lang="en-US" sz="2000" b="1" kern="0" dirty="0">
                <a:solidFill>
                  <a:schemeClr val="tx2"/>
                </a:solidFill>
                <a:latin typeface="EYInterstate"/>
              </a:rPr>
              <a:t>Deployment Management program health</a:t>
            </a:r>
            <a:endParaRPr lang="en-US" sz="2000" b="1" kern="0" dirty="0">
              <a:solidFill>
                <a:schemeClr val="tx2"/>
              </a:solidFill>
              <a:latin typeface="EYInterstate"/>
            </a:endParaRPr>
          </a:p>
        </p:txBody>
      </p:sp>
      <p:graphicFrame>
        <p:nvGraphicFramePr>
          <p:cNvPr id="5" name="Group 8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3339908"/>
              </p:ext>
            </p:extLst>
          </p:nvPr>
        </p:nvGraphicFramePr>
        <p:xfrm>
          <a:off x="6629400" y="1092080"/>
          <a:ext cx="2438400" cy="3784720"/>
        </p:xfrm>
        <a:graphic>
          <a:graphicData uri="http://schemas.openxmlformats.org/drawingml/2006/table">
            <a:tbl>
              <a:tblPr/>
              <a:tblGrid>
                <a:gridCol w="2438400"/>
              </a:tblGrid>
              <a:tr h="117861"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EYInterstate" pitchFamily="2" charset="0"/>
                        </a:rPr>
                        <a:t>Comments</a:t>
                      </a:r>
                      <a:endParaRPr kumimoji="0" 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EYInterstate" pitchFamily="2" charset="0"/>
                      </a:endParaRPr>
                    </a:p>
                  </a:txBody>
                  <a:tcPr marL="31577" marR="31577" marT="13683" marB="13683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</a:tr>
              <a:tr h="688914"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Schedule</a:t>
                      </a:r>
                    </a:p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marL="31577" marR="31577" marT="13683" marB="13683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Resource Management</a:t>
                      </a:r>
                    </a:p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GB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RAID</a:t>
                      </a:r>
                      <a:endParaRPr kumimoji="0" lang="en-US" sz="8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sz="8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marL="31577" marR="31577" marT="13683" marB="13683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30376"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Change Control</a:t>
                      </a:r>
                    </a:p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GB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68344"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General</a:t>
                      </a:r>
                    </a:p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8978889"/>
              </p:ext>
            </p:extLst>
          </p:nvPr>
        </p:nvGraphicFramePr>
        <p:xfrm>
          <a:off x="114300" y="2819400"/>
          <a:ext cx="6451629" cy="17728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9453"/>
                <a:gridCol w="662977"/>
                <a:gridCol w="533400"/>
                <a:gridCol w="2205288"/>
                <a:gridCol w="2290511"/>
              </a:tblGrid>
              <a:tr h="304800"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Americas</a:t>
                      </a:r>
                      <a:endParaRPr kumimoji="0" lang="en-US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Migration Date</a:t>
                      </a:r>
                      <a:endParaRPr kumimoji="0" lang="en-US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Overall Status</a:t>
                      </a: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Comments </a:t>
                      </a:r>
                      <a:endParaRPr kumimoji="0" lang="en-US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RAID</a:t>
                      </a:r>
                      <a:endParaRPr kumimoji="0" lang="en-US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</a:tr>
              <a:tr h="359389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Deployment 1</a:t>
                      </a:r>
                    </a:p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(Country)</a:t>
                      </a:r>
                    </a:p>
                  </a:txBody>
                  <a:tcPr marL="34208" marR="34208" marT="13683" marB="13683" anchor="ctr" horzOverflow="overflow"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</a:tr>
              <a:tr h="359389"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Deployment 2</a:t>
                      </a:r>
                    </a:p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(Country)</a:t>
                      </a:r>
                    </a:p>
                  </a:txBody>
                  <a:tcPr marL="34208" marR="34208" marT="13683" marB="13683" anchor="ctr" horzOverflow="overflow"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</a:tr>
              <a:tr h="359389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Deployment 3</a:t>
                      </a:r>
                    </a:p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(Country)</a:t>
                      </a:r>
                    </a:p>
                  </a:txBody>
                  <a:tcPr marL="34208" marR="34208" marT="13683" marB="13683" anchor="ctr" horzOverflow="overflow"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</a:tr>
              <a:tr h="359389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Deployment 4</a:t>
                      </a:r>
                    </a:p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(Country)</a:t>
                      </a:r>
                    </a:p>
                  </a:txBody>
                  <a:tcPr marL="34208" marR="34208" marT="13683" marB="13683" anchor="ctr" horzOverflow="overflow"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8978889"/>
              </p:ext>
            </p:extLst>
          </p:nvPr>
        </p:nvGraphicFramePr>
        <p:xfrm>
          <a:off x="111096" y="4572000"/>
          <a:ext cx="6451629" cy="17728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9453"/>
                <a:gridCol w="662977"/>
                <a:gridCol w="533400"/>
                <a:gridCol w="2205288"/>
                <a:gridCol w="2290511"/>
              </a:tblGrid>
              <a:tr h="304800"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Asia-Pac/ Japan</a:t>
                      </a:r>
                      <a:endParaRPr kumimoji="0" lang="en-US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Migration Date</a:t>
                      </a:r>
                      <a:endParaRPr kumimoji="0" lang="en-US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Overall Status</a:t>
                      </a: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Comments </a:t>
                      </a:r>
                      <a:endParaRPr kumimoji="0" lang="en-US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RAID</a:t>
                      </a:r>
                      <a:endParaRPr kumimoji="0" lang="en-US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</a:tr>
              <a:tr h="359389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Deployment 1</a:t>
                      </a:r>
                    </a:p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(Country)</a:t>
                      </a:r>
                    </a:p>
                  </a:txBody>
                  <a:tcPr marL="34208" marR="34208" marT="13683" marB="13683" anchor="ctr" horzOverflow="overflow"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</a:tr>
              <a:tr h="359389"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Deployment 2</a:t>
                      </a:r>
                    </a:p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(Country)</a:t>
                      </a:r>
                    </a:p>
                  </a:txBody>
                  <a:tcPr marL="34208" marR="34208" marT="13683" marB="13683" anchor="ctr" horzOverflow="overflow"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</a:tr>
              <a:tr h="359389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Deployment 3</a:t>
                      </a:r>
                    </a:p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(Country)</a:t>
                      </a:r>
                    </a:p>
                  </a:txBody>
                  <a:tcPr marL="34208" marR="34208" marT="13683" marB="13683" anchor="ctr" horzOverflow="overflow"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</a:tr>
              <a:tr h="359389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Deployment 4</a:t>
                      </a:r>
                    </a:p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(Country)</a:t>
                      </a:r>
                    </a:p>
                  </a:txBody>
                  <a:tcPr marL="34208" marR="34208" marT="13683" marB="13683" anchor="ctr" horzOverflow="overflow"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7486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94"/>
          <p:cNvSpPr>
            <a:spLocks/>
          </p:cNvSpPr>
          <p:nvPr/>
        </p:nvSpPr>
        <p:spPr bwMode="gray">
          <a:xfrm>
            <a:off x="-2460" y="-3265"/>
            <a:ext cx="7672502" cy="533400"/>
          </a:xfrm>
          <a:custGeom>
            <a:avLst/>
            <a:gdLst/>
            <a:ahLst/>
            <a:cxnLst>
              <a:cxn ang="0">
                <a:pos x="6000" y="0"/>
              </a:cxn>
              <a:cxn ang="0">
                <a:pos x="5854" y="752"/>
              </a:cxn>
              <a:cxn ang="0">
                <a:pos x="0" y="754"/>
              </a:cxn>
              <a:cxn ang="0">
                <a:pos x="0" y="3"/>
              </a:cxn>
              <a:cxn ang="0">
                <a:pos x="6000" y="0"/>
              </a:cxn>
            </a:cxnLst>
            <a:rect l="0" t="0" r="r" b="b"/>
            <a:pathLst>
              <a:path w="6000" h="754">
                <a:moveTo>
                  <a:pt x="6000" y="0"/>
                </a:moveTo>
                <a:lnTo>
                  <a:pt x="5854" y="752"/>
                </a:lnTo>
                <a:lnTo>
                  <a:pt x="0" y="754"/>
                </a:lnTo>
                <a:lnTo>
                  <a:pt x="0" y="3"/>
                </a:lnTo>
                <a:lnTo>
                  <a:pt x="6000" y="0"/>
                </a:lnTo>
                <a:close/>
              </a:path>
            </a:pathLst>
          </a:custGeom>
          <a:solidFill>
            <a:srgbClr val="FFD200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l" defTabSz="955675" eaLnBrk="0" hangingPunct="0">
              <a:spcAft>
                <a:spcPts val="0"/>
              </a:spcAft>
              <a:defRPr/>
            </a:pPr>
            <a:r>
              <a:rPr lang="en-US" sz="2400" b="1" kern="0" dirty="0" smtClean="0">
                <a:solidFill>
                  <a:srgbClr val="646464"/>
                </a:solidFill>
                <a:latin typeface="EYInterstate"/>
              </a:rPr>
              <a:t>Program RAG Definitions</a:t>
            </a:r>
            <a:endParaRPr lang="en-US" sz="2400" kern="0" dirty="0">
              <a:solidFill>
                <a:srgbClr val="646464"/>
              </a:solidFill>
              <a:latin typeface="EYInterstate"/>
            </a:endParaRPr>
          </a:p>
        </p:txBody>
      </p:sp>
      <p:graphicFrame>
        <p:nvGraphicFramePr>
          <p:cNvPr id="93" name="Table 92"/>
          <p:cNvGraphicFramePr>
            <a:graphicFrameLocks noGrp="1"/>
          </p:cNvGraphicFramePr>
          <p:nvPr/>
        </p:nvGraphicFramePr>
        <p:xfrm>
          <a:off x="251519" y="731558"/>
          <a:ext cx="8640961" cy="5918747"/>
        </p:xfrm>
        <a:graphic>
          <a:graphicData uri="http://schemas.openxmlformats.org/drawingml/2006/table">
            <a:tbl>
              <a:tblPr/>
              <a:tblGrid>
                <a:gridCol w="1424881"/>
                <a:gridCol w="2607568"/>
                <a:gridCol w="2448272"/>
                <a:gridCol w="2160240"/>
              </a:tblGrid>
              <a:tr h="571376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Category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0" i="0" u="none" strike="noStrike" kern="1200" dirty="0" smtClean="0">
                          <a:solidFill>
                            <a:srgbClr val="000000"/>
                          </a:solidFill>
                          <a:latin typeface="EYInterstate" pitchFamily="2" charset="0"/>
                          <a:ea typeface="+mn-ea"/>
                          <a:cs typeface="+mn-cs"/>
                        </a:rPr>
                        <a:t>RED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smtClean="0">
                          <a:solidFill>
                            <a:srgbClr val="000000"/>
                          </a:solidFill>
                          <a:latin typeface="EYInterstate" pitchFamily="2" charset="0"/>
                        </a:rPr>
                        <a:t>AMBER</a:t>
                      </a:r>
                      <a:endParaRPr lang="en-US" sz="1400" b="0" dirty="0">
                        <a:solidFill>
                          <a:srgbClr val="000000"/>
                        </a:solidFill>
                        <a:latin typeface="EYInterstate" pitchFamily="2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GB" sz="1400" b="0" i="0" u="none" strike="noStrike" kern="1200" dirty="0" smtClean="0">
                          <a:solidFill>
                            <a:srgbClr val="000000"/>
                          </a:solidFill>
                          <a:latin typeface="EYInterstate" pitchFamily="2" charset="0"/>
                          <a:ea typeface="+mn-ea"/>
                          <a:cs typeface="+mn-cs"/>
                        </a:rPr>
                        <a:t>GREEN</a:t>
                      </a:r>
                      <a:endParaRPr lang="en-GB" sz="1400" b="0" i="0" u="none" strike="noStrike" kern="1200" dirty="0">
                        <a:solidFill>
                          <a:srgbClr val="000000"/>
                        </a:solidFill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686393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Overall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0" i="0" u="none" strike="noStrike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EYInterstate Light" pitchFamily="2" charset="0"/>
                        </a:rPr>
                        <a:t>The highest RAG status will be taken as a default unless a holistic view of the workstream suggests otherwise. i.e. The Overall RAG status will be RED if at least one of the individual statuses is RED.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EYInterstate Light" pitchFamily="2" charset="0"/>
                        </a:rPr>
                        <a:t>The highest RAG status will be taken as a default unless a holistic view of the workstream suggests otherwise. i.e. The Overall RAG status will be AMBER if at least one or the highest individual statuses is AMBER.</a:t>
                      </a:r>
                      <a:endParaRPr lang="en-US" sz="1000" dirty="0">
                        <a:solidFill>
                          <a:schemeClr val="tx1">
                            <a:lumMod val="75000"/>
                          </a:schemeClr>
                        </a:solidFill>
                        <a:latin typeface="EYInterstate Light" pitchFamily="2" charset="0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GB" sz="1000" b="0" i="0" u="none" strike="noStrike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EYInterstate Light" pitchFamily="2" charset="0"/>
                        </a:rPr>
                        <a:t>The highest RAG status will be taken as a default unless a holistic view of the workstream suggests otherwise. i.e. The Overall RAG status will be GREEN if</a:t>
                      </a:r>
                      <a:r>
                        <a:rPr lang="en-GB" sz="1000" b="0" i="0" u="none" strike="noStrike" baseline="0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EYInterstate Light" pitchFamily="2" charset="0"/>
                        </a:rPr>
                        <a:t> all are GREEN</a:t>
                      </a:r>
                      <a:r>
                        <a:rPr lang="en-GB" sz="1000" b="0" i="0" u="none" strike="noStrike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EYInterstate Light" pitchFamily="2" charset="0"/>
                        </a:rPr>
                        <a:t>.</a:t>
                      </a:r>
                      <a:endParaRPr lang="en-GB" sz="1000" b="0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latin typeface="EYInterstate Light" pitchFamily="2" charset="0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880146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Scope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0" i="0" u="none" strike="noStrike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EYInterstate Light" pitchFamily="2" charset="0"/>
                        </a:rPr>
                        <a:t>RED: (Functional or Non Functional) Scope is significantly changing or agreement will be beyond the cut-off date required thereby compromising the development schedule.  No Scope agreed.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EYInterstate Light" pitchFamily="2" charset="0"/>
                        </a:rPr>
                        <a:t>AMBER: Scope is under review or there are significant changes proposed, where Impact</a:t>
                      </a:r>
                      <a:r>
                        <a:rPr lang="en-GB" sz="1000" baseline="0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EYInterstate Light" pitchFamily="2" charset="0"/>
                        </a:rPr>
                        <a:t> is being adequately managed.</a:t>
                      </a:r>
                      <a:endParaRPr lang="en-US" sz="1000" dirty="0">
                        <a:solidFill>
                          <a:schemeClr val="tx1">
                            <a:lumMod val="75000"/>
                          </a:schemeClr>
                        </a:solidFill>
                        <a:latin typeface="EYInterstate Light" pitchFamily="2" charset="0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GB" sz="1000" b="0" i="0" u="none" strike="noStrike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EYInterstate Light" pitchFamily="2" charset="0"/>
                        </a:rPr>
                        <a:t>GREEN: - Scope has been agreed along with the budget and timeline.</a:t>
                      </a:r>
                      <a:endParaRPr lang="en-GB" sz="1000" b="0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latin typeface="EYInterstate Light" pitchFamily="2" charset="0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892181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Schedule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0" i="0" u="none" strike="noStrike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EYInterstate Light" pitchFamily="2" charset="0"/>
                        </a:rPr>
                        <a:t>RED: There are no plans in place or the various plan levels do not align OR the critical path is compromised due to failure to deliver to targets or dependencies.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EYInterstate Light" pitchFamily="2" charset="0"/>
                        </a:rPr>
                        <a:t>AMBER: Remediation of the plan level alignment is in hand OR there are significant impacts, threats (or opportunities) that may invalidate the plan baseline. 1</a:t>
                      </a:r>
                      <a:r>
                        <a:rPr lang="en-GB" sz="1000" baseline="0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EYInterstate Light" pitchFamily="2" charset="0"/>
                        </a:rPr>
                        <a:t> or more milestones at risk but actions in place to manage impact.</a:t>
                      </a:r>
                      <a:endParaRPr lang="en-US" sz="1000" dirty="0">
                        <a:solidFill>
                          <a:schemeClr val="tx1">
                            <a:lumMod val="75000"/>
                          </a:schemeClr>
                        </a:solidFill>
                        <a:latin typeface="EYInterstate Light" pitchFamily="2" charset="0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GB" sz="1000" b="0" i="0" u="none" strike="noStrike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EYInterstate Light" pitchFamily="2" charset="0"/>
                        </a:rPr>
                        <a:t>GREEN: Plans are baselined against which progress is tracking within a tolerance.</a:t>
                      </a:r>
                      <a:endParaRPr lang="en-GB" sz="1000" b="0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latin typeface="EYInterstate Light" pitchFamily="2" charset="0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07370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Budget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0" i="0" u="none" strike="noStrike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EYInterstate Light" pitchFamily="2" charset="0"/>
                        </a:rPr>
                        <a:t>RED: The budget is greater than +/-20% of the baseline for either the total lifecycle or the Full Year budget or there is no approved budget or financial framework in place (or in progress) for charges. ETC</a:t>
                      </a:r>
                      <a:r>
                        <a:rPr lang="en-GB" sz="1000" b="0" i="0" u="none" strike="noStrike" baseline="0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EYInterstate Light" pitchFamily="2" charset="0"/>
                        </a:rPr>
                        <a:t> Vs. Baseline.</a:t>
                      </a:r>
                      <a:endParaRPr lang="en-GB" sz="1000" b="0" i="0" u="none" strike="noStrike" dirty="0" smtClean="0">
                        <a:solidFill>
                          <a:schemeClr val="tx1">
                            <a:lumMod val="75000"/>
                          </a:schemeClr>
                        </a:solidFill>
                        <a:latin typeface="EYInterstate Light" pitchFamily="2" charset="0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EYInterstate Light" pitchFamily="2" charset="0"/>
                        </a:rPr>
                        <a:t>AMBER: The budget is greater than +/-10% of the baseline for either the total life or the FY.  Also, is there are significant issues with costs not being tracked or accounting issues (e.g. duplicate or missing Accruals).</a:t>
                      </a:r>
                      <a:endParaRPr lang="en-US" sz="1000" dirty="0">
                        <a:solidFill>
                          <a:schemeClr val="tx1">
                            <a:lumMod val="75000"/>
                          </a:schemeClr>
                        </a:solidFill>
                        <a:latin typeface="EYInterstate Light" pitchFamily="2" charset="0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GB" sz="1000" b="0" i="0" u="none" strike="noStrike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EYInterstate Light" pitchFamily="2" charset="0"/>
                        </a:rPr>
                        <a:t>GREEN: The budget is tracking within a tolerance of the baseline and the financial framework and costs models are in order. Tracking +/-</a:t>
                      </a:r>
                      <a:r>
                        <a:rPr lang="en-GB" sz="1000" b="0" i="0" u="none" strike="noStrike" baseline="0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EYInterstate Light" pitchFamily="2" charset="0"/>
                        </a:rPr>
                        <a:t> 5% of baseline.</a:t>
                      </a:r>
                      <a:endParaRPr lang="en-GB" sz="1000" b="0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latin typeface="EYInterstate Light" pitchFamily="2" charset="0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07370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RAID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0" i="0" u="none" strike="noStrike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EYInterstate Light" pitchFamily="2" charset="0"/>
                        </a:rPr>
                        <a:t>RED: There are one or more Critical Risks with priority of (9),</a:t>
                      </a:r>
                      <a:r>
                        <a:rPr lang="en-GB" sz="1000" b="0" i="0" u="none" strike="noStrike" baseline="0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EYInterstate Light" pitchFamily="2" charset="0"/>
                        </a:rPr>
                        <a:t> Issue with Impact of (3)</a:t>
                      </a:r>
                      <a:r>
                        <a:rPr lang="en-GB" sz="1000" b="0" i="0" u="none" strike="noStrike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EYInterstate Light" pitchFamily="2" charset="0"/>
                        </a:rPr>
                        <a:t> RAID items that have passed their target required by/resolution/mitigation date.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EYInterstate Light" pitchFamily="2" charset="0"/>
                        </a:rPr>
                        <a:t>AMBER: There are significant number (&gt;5) where the Issue is rated</a:t>
                      </a:r>
                      <a:r>
                        <a:rPr lang="en-GB" sz="1000" baseline="0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EYInterstate Light" pitchFamily="2" charset="0"/>
                        </a:rPr>
                        <a:t> (3) and priority is (4) or 6 for Risk for</a:t>
                      </a:r>
                      <a:r>
                        <a:rPr lang="en-GB" sz="1000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EYInterstate Light" pitchFamily="2" charset="0"/>
                        </a:rPr>
                        <a:t> items that are beyond their target required by/resolution/mitigation date.</a:t>
                      </a:r>
                      <a:endParaRPr lang="en-US" sz="1000" dirty="0">
                        <a:solidFill>
                          <a:schemeClr val="tx1">
                            <a:lumMod val="75000"/>
                          </a:schemeClr>
                        </a:solidFill>
                        <a:latin typeface="EYInterstate Light" pitchFamily="2" charset="0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GB" sz="1000" b="0" i="0" u="none" strike="noStrike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EYInterstate Light" pitchFamily="2" charset="0"/>
                        </a:rPr>
                        <a:t>GREEN: There may be RAID items, but these are being pro-actively managed or within a manageable tolerance of the target dates.</a:t>
                      </a:r>
                      <a:endParaRPr lang="en-GB" sz="1000" b="0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latin typeface="EYInterstate Light" pitchFamily="2" charset="0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07370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Resources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0" i="0" u="none" strike="noStrike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EYInterstate Light" pitchFamily="2" charset="0"/>
                        </a:rPr>
                        <a:t>RED: Recruitment or rotation is causing a significant impact on the schedule or budget, e.g. Likely to impact the critical path or compromise ability to deliver as per the agreed schedule.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GB" sz="1000" b="0" i="0" u="none" strike="noStrike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EYInterstate Light" pitchFamily="2" charset="0"/>
                        </a:rPr>
                        <a:t>AMBER: There are resource challenges but where the Project/Program is able to maintain tactical/remediation activities to mitigate the impact to the project.</a:t>
                      </a:r>
                      <a:endParaRPr lang="en-GB" sz="1000" b="0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latin typeface="EYInterstate Light" pitchFamily="2" charset="0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GB" sz="1000" b="0" i="0" u="none" strike="noStrike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EYInterstate Light" pitchFamily="2" charset="0"/>
                        </a:rPr>
                        <a:t>GREEN: There are no resourcing issues or they are being managed so as the project schedule and budget are still viable.</a:t>
                      </a:r>
                      <a:endParaRPr lang="en-GB" sz="1000" b="0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latin typeface="EYInterstate Light" pitchFamily="2" charset="0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7276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EY_Handout">
  <a:themeElements>
    <a:clrScheme name="EY dark print-ready">
      <a:dk1>
        <a:srgbClr val="FFFFFF"/>
      </a:dk1>
      <a:lt1>
        <a:srgbClr val="FFFFFF"/>
      </a:lt1>
      <a:dk2>
        <a:srgbClr val="333333"/>
      </a:dk2>
      <a:lt2>
        <a:srgbClr val="FFE600"/>
      </a:lt2>
      <a:accent1>
        <a:srgbClr val="7F7E82"/>
      </a:accent1>
      <a:accent2>
        <a:srgbClr val="FFE600"/>
      </a:accent2>
      <a:accent3>
        <a:srgbClr val="999999"/>
      </a:accent3>
      <a:accent4>
        <a:srgbClr val="F0F0F0"/>
      </a:accent4>
      <a:accent5>
        <a:srgbClr val="00A3AE"/>
      </a:accent5>
      <a:accent6>
        <a:srgbClr val="7FD1D6"/>
      </a:accent6>
      <a:hlink>
        <a:srgbClr val="336699"/>
      </a:hlink>
      <a:folHlink>
        <a:srgbClr val="7030A0"/>
      </a:folHlink>
    </a:clrScheme>
    <a:fontScheme name="EY_Handou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Y_Handout 1">
        <a:dk1>
          <a:srgbClr val="646464"/>
        </a:dk1>
        <a:lt1>
          <a:srgbClr val="FFFFFF"/>
        </a:lt1>
        <a:dk2>
          <a:srgbClr val="646464"/>
        </a:dk2>
        <a:lt2>
          <a:srgbClr val="808080"/>
        </a:lt2>
        <a:accent1>
          <a:srgbClr val="808080"/>
        </a:accent1>
        <a:accent2>
          <a:srgbClr val="FFD200"/>
        </a:accent2>
        <a:accent3>
          <a:srgbClr val="FFFFFF"/>
        </a:accent3>
        <a:accent4>
          <a:srgbClr val="545454"/>
        </a:accent4>
        <a:accent5>
          <a:srgbClr val="C0C0C0"/>
        </a:accent5>
        <a:accent6>
          <a:srgbClr val="E7BE00"/>
        </a:accent6>
        <a:hlink>
          <a:srgbClr val="808080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649</TotalTime>
  <Words>878</Words>
  <Application>Microsoft Office PowerPoint</Application>
  <PresentationFormat>On-screen Show (4:3)</PresentationFormat>
  <Paragraphs>202</Paragraphs>
  <Slides>6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Office Theme</vt:lpstr>
      <vt:lpstr>EY_Handout</vt:lpstr>
      <vt:lpstr>M&amp;C Sub-Program RAG 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M&amp;C Program RAG definitions</dc:title>
  <dc:creator>Wale Agbaje</dc:creator>
  <cp:lastModifiedBy>Wale Agbaje</cp:lastModifiedBy>
  <cp:revision>28</cp:revision>
  <dcterms:created xsi:type="dcterms:W3CDTF">2006-08-16T00:00:00Z</dcterms:created>
  <dcterms:modified xsi:type="dcterms:W3CDTF">2013-01-02T16:14:21Z</dcterms:modified>
</cp:coreProperties>
</file>