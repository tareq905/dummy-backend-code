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300" r:id="rId7"/>
    <p:sldId id="298" r:id="rId8"/>
    <p:sldId id="287" r:id="rId9"/>
    <p:sldId id="299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ale Agbaje" initials="W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18" autoAdjust="0"/>
    <p:restoredTop sz="94660" autoAdjust="0"/>
  </p:normalViewPr>
  <p:slideViewPr>
    <p:cSldViewPr showGuides="1">
      <p:cViewPr>
        <p:scale>
          <a:sx n="90" d="100"/>
          <a:sy n="90" d="100"/>
        </p:scale>
        <p:origin x="-77" y="0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534" y="-2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29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38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4" r:id="rId3"/>
    <p:sldLayoutId id="2147483675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04%20Reporting%20Process%20and%20Template/Program%20Weekly%20Sub%20Program%20Health%20Template%20V1.pptx" TargetMode="External"/><Relationship Id="rId2" Type="http://schemas.openxmlformats.org/officeDocument/2006/relationships/hyperlink" Target="http://sp.ey.net/msibm/PMO/02.%20Management/06.%20Reporting/04%20Reporting%20Process%20and%20Template/Standard%20Reporting%20Template%20for%20Enterprise%20Progs%20July-2013.pptx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sp.ey.net/msibm/PMO/02.%20Management/07.%20Meetings/Executive%20Steering%20Committee/May%20Exec%20Pack/June%20Exec%20deck%20v0.2.pptx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.ey.net/msibm/PMO/02.%20Management/06.%20Reporting/04%20Reporting%20Process%20and%20Template/Standard%20Reporting%20Template%20for%20Enterprise%20Progs%20July-2013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sp.ey.net/msibm/PMO/02.%20Management/06.%20Reporting/04%20Reporting%20Process%20and%20Template/Program%20Reporting%20RAG%20Definitions.pptx" TargetMode="External"/><Relationship Id="rId5" Type="http://schemas.openxmlformats.org/officeDocument/2006/relationships/hyperlink" Target="http://sp.ey.net/msibm/PMO/02.%20Management/07.%20Meetings/Executive%20Steering%20Committee/May%20Exec%20Pack/June%20Exec%20deck%20v0.2.pptx" TargetMode="External"/><Relationship Id="rId4" Type="http://schemas.openxmlformats.org/officeDocument/2006/relationships/hyperlink" Target="http://sp.ey.net/msibm/PMO/Forms/AllItems.aspx?RootFolder=/msibm/PMO/02.%20Management/06.%20Reporting/04%20Reporting%20Process%20and%20Templat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Messaging &amp; Collaboration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43608" y="3169915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Governance Schedule</a:t>
            </a:r>
            <a:endParaRPr lang="en-GB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432046" y="6460405"/>
            <a:ext cx="179514" cy="280963"/>
          </a:xfrm>
          <a:prstGeom prst="rect">
            <a:avLst/>
          </a:prstGeom>
        </p:spPr>
        <p:txBody>
          <a:bodyPr/>
          <a:lstStyle/>
          <a:p>
            <a:fld id="{E5A1EDF7-6110-42C0-A4FC-CB56AF1E2FBC}" type="slidenum">
              <a:rPr lang="en-GB" sz="1100" smtClean="0">
                <a:solidFill>
                  <a:srgbClr val="808080"/>
                </a:solidFill>
              </a:rPr>
              <a:pPr/>
              <a:t>2</a:t>
            </a:fld>
            <a:endParaRPr lang="en-GB" sz="1100" dirty="0">
              <a:solidFill>
                <a:srgbClr val="808080"/>
              </a:solidFill>
            </a:endParaRPr>
          </a:p>
        </p:txBody>
      </p:sp>
      <p:sp>
        <p:nvSpPr>
          <p:cNvPr id="8" name="Flowchart: Document 7"/>
          <p:cNvSpPr/>
          <p:nvPr/>
        </p:nvSpPr>
        <p:spPr bwMode="auto">
          <a:xfrm>
            <a:off x="5946380" y="206337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9" name="Flowchart: Document 8"/>
          <p:cNvSpPr/>
          <p:nvPr/>
        </p:nvSpPr>
        <p:spPr bwMode="auto">
          <a:xfrm>
            <a:off x="5978224" y="2012954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8433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Tuesday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64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Monday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9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Thursday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226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Wednesday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881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Friday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7504" y="1772816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107504" y="3342134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107504" y="4928299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484" y="1706374"/>
            <a:ext cx="93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4" y="3284984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Fortnightly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4" y="4865660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9174" y="1891040"/>
            <a:ext cx="1116556" cy="6238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Management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9900" y="5136583"/>
            <a:ext cx="1116556" cy="7421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Program 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Finance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9740" y="5191879"/>
            <a:ext cx="1116556" cy="6315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Executive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</a:t>
            </a:r>
          </a:p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Pack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21934" y="2780928"/>
            <a:ext cx="1294930" cy="4467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lt1"/>
                </a:solidFill>
                <a:latin typeface="EYInterstate Ligh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Change Control</a:t>
            </a:r>
          </a:p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Boards</a:t>
            </a:r>
            <a:endParaRPr lang="en-GB" sz="120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6745" y="2080464"/>
            <a:ext cx="1027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PMO Pack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2580929" y="222031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21" idx="3"/>
          </p:cNvCxnSpPr>
          <p:nvPr/>
        </p:nvCxnSpPr>
        <p:spPr bwMode="auto">
          <a:xfrm>
            <a:off x="4085730" y="2202967"/>
            <a:ext cx="1836204" cy="1924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121242" y="2204864"/>
            <a:ext cx="47354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40" idx="3"/>
            <a:endCxn id="36" idx="2"/>
          </p:cNvCxnSpPr>
          <p:nvPr/>
        </p:nvCxnSpPr>
        <p:spPr bwMode="auto">
          <a:xfrm flipV="1">
            <a:off x="8509878" y="3851249"/>
            <a:ext cx="203090" cy="12601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1" name="Straight Arrow Connector 30"/>
          <p:cNvCxnSpPr>
            <a:stCxn id="25" idx="3"/>
            <a:endCxn id="37" idx="2"/>
          </p:cNvCxnSpPr>
          <p:nvPr/>
        </p:nvCxnSpPr>
        <p:spPr bwMode="auto">
          <a:xfrm flipV="1">
            <a:off x="7216864" y="2981320"/>
            <a:ext cx="1496104" cy="2299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Straight Arrow Connector 31"/>
          <p:cNvCxnSpPr>
            <a:stCxn id="52" idx="3"/>
            <a:endCxn id="23" idx="1"/>
          </p:cNvCxnSpPr>
          <p:nvPr/>
        </p:nvCxnSpPr>
        <p:spPr bwMode="auto">
          <a:xfrm>
            <a:off x="2580929" y="5507674"/>
            <a:ext cx="3538811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2483768" y="6309320"/>
            <a:ext cx="1116556" cy="4766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Workstream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9420" y="6309320"/>
            <a:ext cx="1116556" cy="4766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</a:t>
            </a:r>
          </a:p>
          <a:p>
            <a:pPr algn="ctr"/>
            <a:r>
              <a:rPr lang="en-GB" sz="1200" dirty="0" err="1">
                <a:solidFill>
                  <a:srgbClr val="FFFFFF"/>
                </a:solidFill>
                <a:latin typeface="EYInterstate Light" pitchFamily="2" charset="0"/>
              </a:rPr>
              <a:t>Mgt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612" y="6309320"/>
            <a:ext cx="1332580" cy="4766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Director, Sponsor,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 Exec and/or PMO</a:t>
            </a:r>
          </a:p>
        </p:txBody>
      </p:sp>
      <p:sp>
        <p:nvSpPr>
          <p:cNvPr id="36" name="Oval 35"/>
          <p:cNvSpPr/>
          <p:nvPr/>
        </p:nvSpPr>
        <p:spPr bwMode="auto">
          <a:xfrm>
            <a:off x="8712968" y="3741427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37" name="Oval 36"/>
          <p:cNvSpPr/>
          <p:nvPr/>
        </p:nvSpPr>
        <p:spPr bwMode="auto">
          <a:xfrm>
            <a:off x="8712968" y="2871498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cxnSp>
        <p:nvCxnSpPr>
          <p:cNvPr id="38" name="Straight Arrow Connector 37"/>
          <p:cNvCxnSpPr>
            <a:stCxn id="39" idx="6"/>
          </p:cNvCxnSpPr>
          <p:nvPr/>
        </p:nvCxnSpPr>
        <p:spPr bwMode="auto">
          <a:xfrm flipV="1">
            <a:off x="1007096" y="5338020"/>
            <a:ext cx="468560" cy="1002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755576" y="5229200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9838" y="3569406"/>
            <a:ext cx="950040" cy="5888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Quality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cxnSp>
        <p:nvCxnSpPr>
          <p:cNvPr id="41" name="Straight Arrow Connector 40"/>
          <p:cNvCxnSpPr>
            <a:stCxn id="51" idx="3"/>
            <a:endCxn id="40" idx="1"/>
          </p:cNvCxnSpPr>
          <p:nvPr/>
        </p:nvCxnSpPr>
        <p:spPr bwMode="auto">
          <a:xfrm>
            <a:off x="7240932" y="3861907"/>
            <a:ext cx="318906" cy="194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lowchart: Magnetic Disk 41"/>
          <p:cNvSpPr/>
          <p:nvPr/>
        </p:nvSpPr>
        <p:spPr bwMode="auto">
          <a:xfrm>
            <a:off x="7594784" y="4418754"/>
            <a:ext cx="885598" cy="374897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400" dirty="0">
                <a:solidFill>
                  <a:srgbClr val="333333"/>
                </a:solidFill>
                <a:latin typeface="EYInterstate Light" pitchFamily="2" charset="0"/>
              </a:rPr>
              <a:t>PM Tool</a:t>
            </a:r>
          </a:p>
        </p:txBody>
      </p:sp>
      <p:cxnSp>
        <p:nvCxnSpPr>
          <p:cNvPr id="43" name="Straight Arrow Connector 42"/>
          <p:cNvCxnSpPr>
            <a:stCxn id="40" idx="2"/>
            <a:endCxn id="42" idx="1"/>
          </p:cNvCxnSpPr>
          <p:nvPr/>
        </p:nvCxnSpPr>
        <p:spPr bwMode="auto">
          <a:xfrm>
            <a:off x="8034858" y="4158294"/>
            <a:ext cx="2725" cy="26046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lowchart: Document 43"/>
          <p:cNvSpPr/>
          <p:nvPr/>
        </p:nvSpPr>
        <p:spPr bwMode="auto">
          <a:xfrm>
            <a:off x="7592058" y="1891040"/>
            <a:ext cx="1120909" cy="623855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  <a:r>
              <a:rPr lang="en-GB" sz="1200" dirty="0" smtClean="0">
                <a:solidFill>
                  <a:srgbClr val="FFFFFF"/>
                </a:solidFill>
                <a:latin typeface="EYInterstate Light" pitchFamily="2" charset="0"/>
              </a:rPr>
              <a:t>Management 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Pack</a:t>
            </a:r>
          </a:p>
        </p:txBody>
      </p:sp>
      <p:sp>
        <p:nvSpPr>
          <p:cNvPr id="45" name="Flowchart: Document 44"/>
          <p:cNvSpPr/>
          <p:nvPr/>
        </p:nvSpPr>
        <p:spPr bwMode="auto">
          <a:xfrm>
            <a:off x="6012160" y="1891040"/>
            <a:ext cx="1238640" cy="704729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Program H</a:t>
            </a:r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ealth</a:t>
            </a: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Report  </a:t>
            </a:r>
            <a:endParaRPr lang="en-GB" sz="1200" dirty="0" smtClean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Dashboard</a:t>
            </a:r>
            <a:endParaRPr lang="en-GB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6" name="Flowchart: Document 45"/>
          <p:cNvSpPr/>
          <p:nvPr/>
        </p:nvSpPr>
        <p:spPr bwMode="auto">
          <a:xfrm>
            <a:off x="2908132" y="2630547"/>
            <a:ext cx="1238640" cy="654438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100" dirty="0" smtClean="0">
                <a:solidFill>
                  <a:srgbClr val="333333"/>
                </a:solidFill>
                <a:latin typeface="EYInterstate Light" pitchFamily="2" charset="0"/>
              </a:rPr>
              <a:t>CRs </a:t>
            </a:r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with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completed Impact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Assessments</a:t>
            </a:r>
          </a:p>
        </p:txBody>
      </p:sp>
      <p:cxnSp>
        <p:nvCxnSpPr>
          <p:cNvPr id="47" name="Straight Arrow Connector 46"/>
          <p:cNvCxnSpPr>
            <a:stCxn id="46" idx="3"/>
          </p:cNvCxnSpPr>
          <p:nvPr/>
        </p:nvCxnSpPr>
        <p:spPr bwMode="auto">
          <a:xfrm>
            <a:off x="4146772" y="2957766"/>
            <a:ext cx="177516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365601" y="2750731"/>
            <a:ext cx="1271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rgbClr val="333333">
                    <a:lumMod val="65000"/>
                  </a:srgbClr>
                </a:solidFill>
              </a:rPr>
              <a:t>CCB Panel Review</a:t>
            </a:r>
          </a:p>
        </p:txBody>
      </p:sp>
      <p:sp>
        <p:nvSpPr>
          <p:cNvPr id="49" name="Flowchart: Document 48"/>
          <p:cNvSpPr/>
          <p:nvPr/>
        </p:nvSpPr>
        <p:spPr bwMode="auto">
          <a:xfrm>
            <a:off x="5936512" y="3645305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0" name="Flowchart: Document 49"/>
          <p:cNvSpPr/>
          <p:nvPr/>
        </p:nvSpPr>
        <p:spPr bwMode="auto">
          <a:xfrm>
            <a:off x="5968356" y="3594887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1" name="Flowchart: Document 50"/>
          <p:cNvSpPr/>
          <p:nvPr/>
        </p:nvSpPr>
        <p:spPr bwMode="auto">
          <a:xfrm>
            <a:off x="6002292" y="354611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ITS Status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Reports</a:t>
            </a:r>
          </a:p>
        </p:txBody>
      </p:sp>
      <p:sp>
        <p:nvSpPr>
          <p:cNvPr id="52" name="Flowchart: Document 51"/>
          <p:cNvSpPr/>
          <p:nvPr/>
        </p:nvSpPr>
        <p:spPr bwMode="auto">
          <a:xfrm>
            <a:off x="1475656" y="5136583"/>
            <a:ext cx="1105273" cy="742182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 Executive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 Group 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1560" y="5543654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 bwMode="auto">
          <a:xfrm>
            <a:off x="1087712" y="566124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5111128" y="3830295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 bwMode="auto">
          <a:xfrm>
            <a:off x="5587280" y="3947889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Straight Arrow Connector 6"/>
          <p:cNvCxnSpPr>
            <a:stCxn id="25" idx="2"/>
          </p:cNvCxnSpPr>
          <p:nvPr/>
        </p:nvCxnSpPr>
        <p:spPr>
          <a:xfrm>
            <a:off x="6569399" y="3227698"/>
            <a:ext cx="0" cy="3453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322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Reporting </a:t>
            </a:r>
            <a:r>
              <a:rPr lang="en-GB" dirty="0" smtClean="0">
                <a:solidFill>
                  <a:schemeClr val="tx1">
                    <a:lumMod val="50000"/>
                  </a:schemeClr>
                </a:solidFill>
              </a:rPr>
              <a:t>Types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77537"/>
              </p:ext>
            </p:extLst>
          </p:nvPr>
        </p:nvGraphicFramePr>
        <p:xfrm>
          <a:off x="179513" y="1124744"/>
          <a:ext cx="8712386" cy="469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206"/>
                <a:gridCol w="1571073"/>
                <a:gridCol w="1368152"/>
                <a:gridCol w="1512168"/>
                <a:gridCol w="1296144"/>
                <a:gridCol w="1008112"/>
                <a:gridCol w="1007531"/>
              </a:tblGrid>
              <a:tr h="14401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Reports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GB" sz="1200" b="1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 Control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Outputs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Frequency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1203383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hlinkClick r:id="rId2"/>
                        </a:rPr>
                        <a:t>ITS Status Report</a:t>
                      </a:r>
                      <a:endParaRPr lang="en-GB" sz="105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 summary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of Program status to Sponsors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Executives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for Program concerns</a:t>
                      </a:r>
                      <a:endParaRPr lang="en-GB" sz="1000" kern="1200" dirty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Mandated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ITS standard report template</a:t>
                      </a:r>
                    </a:p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Finance summary (to be completed by PMO)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RAID</a:t>
                      </a:r>
                    </a:p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CCB</a:t>
                      </a:r>
                      <a:endParaRPr lang="en-GB" sz="1000" kern="1200" baseline="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Fortnightly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QA review (includes a </a:t>
                      </a:r>
                      <a:r>
                        <a:rPr lang="en-GB" sz="1000" baseline="0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Workstream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 or PM)</a:t>
                      </a: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Consolidated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Program status report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Uploaded into the IT PM tool by M&amp;C PMO team</a:t>
                      </a:r>
                      <a:endParaRPr lang="en-GB" sz="10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Mid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-Month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 End (as per the ITS calendar)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GPMO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56804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3"/>
                        </a:rPr>
                        <a:t>Program</a:t>
                      </a:r>
                      <a:r>
                        <a:rPr lang="en-GB" sz="1050" b="1" baseline="0" dirty="0" smtClean="0">
                          <a:solidFill>
                            <a:srgbClr val="00B0F0"/>
                          </a:solidFill>
                          <a:hlinkClick r:id="rId3"/>
                        </a:rPr>
                        <a:t> Health Report  Dashboard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Provide RAG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snapshot of the status of each individual program and associated delivery life cycle stages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Health report template.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PMO RAG 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status for each  of the key governance processes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Internal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PMO review.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Health Report 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Dashboard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Management meeting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Weekly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Management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38571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rgbClr val="00B0F0"/>
                          </a:solidFill>
                          <a:hlinkClick r:id="rId4"/>
                        </a:rPr>
                        <a:t>Executive Steering Pack</a:t>
                      </a:r>
                      <a:endParaRPr lang="en-GB" sz="105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level summary for p</a:t>
                      </a: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resentation at Executive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Steering Group meeting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 for key Program concerns</a:t>
                      </a: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Status Report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M&amp;C Program Lead updates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Program Director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M&amp;C Program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Lead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Executive Steering Pack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Monthly (as</a:t>
                      </a:r>
                      <a:r>
                        <a:rPr lang="en-GB" sz="10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requested) </a:t>
                      </a: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Program  Sponsors and Executives</a:t>
                      </a:r>
                    </a:p>
                    <a:p>
                      <a:pPr marL="0" indent="0" algn="l">
                        <a:buFont typeface="Arial" pitchFamily="34" charset="0"/>
                        <a:buNone/>
                      </a:pPr>
                      <a:endParaRPr lang="en-GB" sz="1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446" y="5877272"/>
            <a:ext cx="7658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Program Finance review is submitted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monthly by 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PMO, no </a:t>
            </a:r>
            <a:r>
              <a:rPr lang="en-GB" sz="1400" dirty="0" err="1">
                <a:solidFill>
                  <a:schemeClr val="tx1">
                    <a:lumMod val="50000"/>
                  </a:schemeClr>
                </a:solidFill>
              </a:rPr>
              <a:t>w</a:t>
            </a:r>
            <a:r>
              <a:rPr lang="en-GB" sz="1400" dirty="0" err="1" smtClean="0">
                <a:solidFill>
                  <a:schemeClr val="tx1">
                    <a:lumMod val="50000"/>
                  </a:schemeClr>
                </a:solidFill>
              </a:rPr>
              <a:t>orkstream</a:t>
            </a:r>
            <a:r>
              <a:rPr lang="en-GB" sz="14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GB" sz="1400" dirty="0">
                <a:solidFill>
                  <a:schemeClr val="tx1">
                    <a:lumMod val="50000"/>
                  </a:schemeClr>
                </a:solidFill>
              </a:rPr>
              <a:t>lead input required</a:t>
            </a: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79512" y="6525344"/>
            <a:ext cx="648072" cy="1800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3</a:t>
            </a:r>
          </a:p>
        </p:txBody>
      </p:sp>
      <p:sp>
        <p:nvSpPr>
          <p:cNvPr id="8" name="Rectangle 7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481578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5416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600" dirty="0" smtClean="0">
              <a:solidFill>
                <a:srgbClr val="646464"/>
              </a:solidFill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sz="2600" b="1" dirty="0" smtClean="0">
                <a:solidFill>
                  <a:srgbClr val="646464"/>
                </a:solidFill>
                <a:latin typeface="+mj-lt"/>
              </a:rPr>
              <a:t>Report Repositories </a:t>
            </a:r>
            <a:endParaRPr lang="en-GB" sz="26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124744"/>
            <a:ext cx="821506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 smtClean="0">
                <a:solidFill>
                  <a:srgbClr val="646464"/>
                </a:solidFill>
              </a:rPr>
              <a:t>SharePoint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</a:t>
            </a:r>
            <a:r>
              <a:rPr lang="en-GB" sz="1400" dirty="0">
                <a:solidFill>
                  <a:srgbClr val="646464"/>
                </a:solidFill>
              </a:rPr>
              <a:t>Leads must upload completed reports into </a:t>
            </a:r>
            <a:r>
              <a:rPr lang="en-GB" sz="1400" dirty="0" smtClean="0">
                <a:solidFill>
                  <a:srgbClr val="646464"/>
                </a:solidFill>
              </a:rPr>
              <a:t>SharePoint folder created by PMO</a:t>
            </a:r>
            <a:endParaRPr lang="en-GB" sz="14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will </a:t>
            </a:r>
            <a:r>
              <a:rPr lang="en-GB" sz="1400" dirty="0" smtClean="0">
                <a:solidFill>
                  <a:srgbClr val="646464"/>
                </a:solidFill>
              </a:rPr>
              <a:t>email the link to the latest folder repository to the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weekly.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should use the following naming convention below when uploading the reports: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&lt;&lt;Program&gt;&gt; &lt;&lt;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&gt;&gt; &lt;&lt;Period of Reporting&gt;&gt;&lt;&lt;Status Report&gt;&gt;&lt;&lt;MMMYYYY&gt;&gt;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600" dirty="0" smtClean="0">
                <a:solidFill>
                  <a:srgbClr val="646464"/>
                </a:solidFill>
              </a:rPr>
              <a:t>i.e. </a:t>
            </a:r>
            <a:r>
              <a:rPr lang="en-GB" sz="1400" dirty="0" smtClean="0">
                <a:solidFill>
                  <a:srgbClr val="646464"/>
                </a:solidFill>
              </a:rPr>
              <a:t>Collaboration Release 1 (Mid-Month or Month End) Status Report Jul 2013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400" dirty="0">
              <a:solidFill>
                <a:srgbClr val="646464"/>
              </a:solidFill>
            </a:endParaRPr>
          </a:p>
          <a:p>
            <a:pPr marL="166688" lvl="1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>
                <a:tab pos="534988" algn="l"/>
              </a:tabLst>
            </a:pPr>
            <a:r>
              <a:rPr lang="en-GB" sz="2000" b="1" dirty="0">
                <a:solidFill>
                  <a:srgbClr val="646464"/>
                </a:solidFill>
              </a:rPr>
              <a:t>IT </a:t>
            </a:r>
            <a:r>
              <a:rPr lang="en-GB" sz="2000" b="1" dirty="0" smtClean="0">
                <a:solidFill>
                  <a:srgbClr val="646464"/>
                </a:solidFill>
              </a:rPr>
              <a:t>Services PM Tool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Repository </a:t>
            </a:r>
            <a:r>
              <a:rPr lang="en-GB" sz="1400" dirty="0">
                <a:solidFill>
                  <a:srgbClr val="646464"/>
                </a:solidFill>
              </a:rPr>
              <a:t>for all IT Services Status </a:t>
            </a:r>
            <a:r>
              <a:rPr lang="en-GB" sz="1400" dirty="0" smtClean="0">
                <a:solidFill>
                  <a:srgbClr val="646464"/>
                </a:solidFill>
              </a:rPr>
              <a:t>Reports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M&amp;C ITS reports and Program finances are uploaded into the IT PM Tool (The tool is designed to track Program RAID, Program Planning milestones, Program deliverables and Program Stage-gates.</a:t>
            </a:r>
            <a:endParaRPr lang="en-GB" sz="1400" dirty="0">
              <a:solidFill>
                <a:srgbClr val="646464"/>
              </a:solidFill>
            </a:endParaRP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are responsible </a:t>
            </a:r>
            <a:r>
              <a:rPr lang="en-GB" sz="1400" dirty="0" smtClean="0">
                <a:solidFill>
                  <a:srgbClr val="646464"/>
                </a:solidFill>
              </a:rPr>
              <a:t>for collating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Status Reports and uploading into </a:t>
            </a:r>
            <a:r>
              <a:rPr lang="en-GB" sz="1400" dirty="0">
                <a:solidFill>
                  <a:srgbClr val="646464"/>
                </a:solidFill>
              </a:rPr>
              <a:t>the IT Services PM Tool</a:t>
            </a:r>
          </a:p>
        </p:txBody>
      </p:sp>
      <p:sp>
        <p:nvSpPr>
          <p:cNvPr id="9" name="Rectangle 8"/>
          <p:cNvSpPr/>
          <p:nvPr/>
        </p:nvSpPr>
        <p:spPr>
          <a:xfrm rot="10800000" flipV="1">
            <a:off x="251520" y="6465029"/>
            <a:ext cx="522784" cy="2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5</a:t>
            </a:r>
            <a:endParaRPr lang="en-GB" sz="1100" dirty="0"/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87" y="262161"/>
            <a:ext cx="8220075" cy="790575"/>
          </a:xfrm>
        </p:spPr>
        <p:txBody>
          <a:bodyPr/>
          <a:lstStyle/>
          <a:p>
            <a:r>
              <a:rPr lang="en-GB" dirty="0" smtClean="0"/>
              <a:t>Reporting Profile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1376087" y="4941168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Transition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6087" y="5589240"/>
            <a:ext cx="4486200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bg2"/>
                </a:solidFill>
              </a:rPr>
              <a:t>Change/Deployment</a:t>
            </a:r>
            <a:endParaRPr lang="en-GB" sz="1400" dirty="0">
              <a:solidFill>
                <a:schemeClr val="bg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76087" y="3573016"/>
            <a:ext cx="1368152" cy="504055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err="1" smtClean="0">
                <a:solidFill>
                  <a:schemeClr val="tx1">
                    <a:lumMod val="75000"/>
                  </a:schemeClr>
                </a:solidFill>
              </a:rPr>
              <a:t>Lync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60263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Outlook/Exchange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72431" y="3573016"/>
            <a:ext cx="1368152" cy="50405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Collaboration </a:t>
            </a:r>
          </a:p>
        </p:txBody>
      </p:sp>
      <p:sp>
        <p:nvSpPr>
          <p:cNvPr id="21" name="Up Arrow 20"/>
          <p:cNvSpPr/>
          <p:nvPr/>
        </p:nvSpPr>
        <p:spPr>
          <a:xfrm>
            <a:off x="899592" y="1844824"/>
            <a:ext cx="459609" cy="4032448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PMO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2431" y="4293096"/>
            <a:ext cx="576064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R1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2072" y="4293096"/>
            <a:ext cx="618511" cy="34327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R2</a:t>
            </a:r>
          </a:p>
        </p:txBody>
      </p:sp>
      <p:sp>
        <p:nvSpPr>
          <p:cNvPr id="35" name="Rectangle 34"/>
          <p:cNvSpPr/>
          <p:nvPr/>
        </p:nvSpPr>
        <p:spPr>
          <a:xfrm rot="10800000" flipV="1">
            <a:off x="181555" y="6381328"/>
            <a:ext cx="57606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4</a:t>
            </a:r>
          </a:p>
        </p:txBody>
      </p:sp>
      <p:sp>
        <p:nvSpPr>
          <p:cNvPr id="37" name="Rectangle 36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1376087" y="1844824"/>
            <a:ext cx="4464496" cy="432048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Executive/Sponsor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76087" y="2708920"/>
            <a:ext cx="4486200" cy="432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Program Management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5943845" y="3573016"/>
            <a:ext cx="576064" cy="2304256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Program Health Dashboard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8" name="Up Arrow 27"/>
          <p:cNvSpPr/>
          <p:nvPr/>
        </p:nvSpPr>
        <p:spPr>
          <a:xfrm>
            <a:off x="6444208" y="1844822"/>
            <a:ext cx="576064" cy="2232247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400" dirty="0" smtClean="0">
                <a:solidFill>
                  <a:schemeClr val="tx1">
                    <a:lumMod val="75000"/>
                  </a:schemeClr>
                </a:solidFill>
              </a:rPr>
              <a:t>ITS</a:t>
            </a:r>
            <a:endParaRPr lang="en-GB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9" name="Up Arrow 28"/>
          <p:cNvSpPr/>
          <p:nvPr/>
        </p:nvSpPr>
        <p:spPr>
          <a:xfrm>
            <a:off x="7092280" y="1844822"/>
            <a:ext cx="579757" cy="1296143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72000" rIns="72000" bIns="72000" rtlCol="0" anchor="ctr"/>
          <a:lstStyle/>
          <a:p>
            <a:pPr algn="ctr"/>
            <a:r>
              <a:rPr lang="en-GB" sz="1100" dirty="0" smtClean="0">
                <a:solidFill>
                  <a:schemeClr val="tx1">
                    <a:lumMod val="75000"/>
                  </a:schemeClr>
                </a:solidFill>
              </a:rPr>
              <a:t>Finance review</a:t>
            </a:r>
            <a:endParaRPr lang="en-GB" sz="11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1042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Useful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ITS Status Report </a:t>
            </a:r>
            <a:r>
              <a:rPr lang="en-GB" sz="1400" dirty="0" smtClean="0">
                <a:solidFill>
                  <a:srgbClr val="646464"/>
                </a:solidFill>
                <a:hlinkClick r:id="rId3"/>
              </a:rPr>
              <a:t>Template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4"/>
              </a:rPr>
              <a:t>Program Health Report Dashboard Template</a:t>
            </a:r>
            <a:endParaRPr lang="en-GB" sz="1400" dirty="0" smtClean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  <a:hlinkClick r:id="rId5"/>
              </a:rPr>
              <a:t>Executive Steering Pack Sample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FF0000"/>
                </a:solidFill>
                <a:hlinkClick r:id="rId6"/>
              </a:rPr>
              <a:t>Program RAG Report Guidance</a:t>
            </a:r>
            <a:endParaRPr lang="en-GB" sz="14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10800000" flipV="1">
            <a:off x="251520" y="6453336"/>
            <a:ext cx="46805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6</a:t>
            </a:r>
            <a:endParaRPr lang="en-GB" sz="1100" dirty="0"/>
          </a:p>
        </p:txBody>
      </p:sp>
      <p:sp>
        <p:nvSpPr>
          <p:cNvPr id="10" name="Rectangle 9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883385-F8DB-4994-8419-096BF5A1945F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sharepoint/v4"/>
    <ds:schemaRef ds:uri="0cbe1240-e4fe-486d-8edc-2712abb96eb4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3111</TotalTime>
  <Words>481</Words>
  <Application>Microsoft Office PowerPoint</Application>
  <PresentationFormat>On-screen Show (4:3)</PresentationFormat>
  <Paragraphs>135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Governance Schedule</vt:lpstr>
      <vt:lpstr>Reporting Types</vt:lpstr>
      <vt:lpstr>PowerPoint Presentation</vt:lpstr>
      <vt:lpstr>Reporting Profile</vt:lpstr>
      <vt:lpstr>Useful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175</cp:revision>
  <cp:lastPrinted>2013-07-29T10:13:27Z</cp:lastPrinted>
  <dcterms:created xsi:type="dcterms:W3CDTF">2013-07-02T10:58:24Z</dcterms:created>
  <dcterms:modified xsi:type="dcterms:W3CDTF">2013-07-29T14:50:38Z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