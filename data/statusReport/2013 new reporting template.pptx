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9"/>
  </p:notesMasterIdLst>
  <p:sldIdLst>
    <p:sldId id="257" r:id="rId3"/>
    <p:sldId id="259" r:id="rId4"/>
    <p:sldId id="260" r:id="rId5"/>
    <p:sldId id="261" r:id="rId6"/>
    <p:sldId id="258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 autoAdjust="0"/>
    <p:restoredTop sz="94624" autoAdjust="0"/>
  </p:normalViewPr>
  <p:slideViewPr>
    <p:cSldViewPr>
      <p:cViewPr>
        <p:scale>
          <a:sx n="70" d="100"/>
          <a:sy n="70" d="100"/>
        </p:scale>
        <p:origin x="-1152" y="-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537863-37C7-493B-8594-B21339D1DD9F}" type="datetimeFigureOut">
              <a:rPr lang="en-GB" smtClean="0"/>
              <a:t>02/01/2013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CB170B-BAD6-4ECA-B364-BDA8AEE8CB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8653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de-DE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dirty="0" smtClean="0"/>
              <a:t>Cost</a:t>
            </a:r>
          </a:p>
          <a:p>
            <a:pPr defTabSz="877921">
              <a:defRPr/>
            </a:pPr>
            <a:r>
              <a:rPr lang="en-GB" dirty="0" smtClean="0"/>
              <a:t>GREEN - </a:t>
            </a:r>
            <a:r>
              <a:rPr lang="en-US" dirty="0" smtClean="0"/>
              <a:t>Estimate at Completion (EAC) = + 0 - 5% of approved spend (cost baseline + approved change requests)</a:t>
            </a:r>
            <a:endParaRPr lang="en-GB" dirty="0" smtClean="0"/>
          </a:p>
          <a:p>
            <a:pPr defTabSz="877921">
              <a:defRPr/>
            </a:pPr>
            <a:r>
              <a:rPr lang="en-GB" dirty="0" smtClean="0"/>
              <a:t>AMBER - </a:t>
            </a:r>
            <a:r>
              <a:rPr lang="en-US" dirty="0" smtClean="0"/>
              <a:t>Estimate at Completion (EAC) = + 6 - 10% of approved spend (cost baseline + approved changes) and/or pending spend</a:t>
            </a:r>
            <a:endParaRPr lang="en-GB" dirty="0" smtClean="0"/>
          </a:p>
          <a:p>
            <a:r>
              <a:rPr lang="en-GB" dirty="0" smtClean="0"/>
              <a:t>RED</a:t>
            </a:r>
            <a:r>
              <a:rPr lang="en-GB" baseline="0" dirty="0" smtClean="0"/>
              <a:t> – </a:t>
            </a:r>
            <a:r>
              <a:rPr lang="en-US" dirty="0" smtClean="0"/>
              <a:t>Estimate at Completion (EAC) exceeds + 10% or $100,000 of approved spend (cost baseline + approved changes) and/or pending spend or no project budget defined</a:t>
            </a:r>
            <a:endParaRPr lang="en-GB" baseline="0" dirty="0" smtClean="0"/>
          </a:p>
          <a:p>
            <a:endParaRPr lang="en-GB" baseline="0" dirty="0" smtClean="0"/>
          </a:p>
          <a:p>
            <a:r>
              <a:rPr lang="en-GB" dirty="0" smtClean="0"/>
              <a:t>Schedule</a:t>
            </a:r>
          </a:p>
          <a:p>
            <a:r>
              <a:rPr lang="en-GB" dirty="0" smtClean="0"/>
              <a:t>GREEN - </a:t>
            </a:r>
            <a:r>
              <a:rPr lang="en-US" dirty="0" smtClean="0"/>
              <a:t>The project schedule supports the end date of the project (with some elapsed time contingency).</a:t>
            </a:r>
            <a:endParaRPr lang="en-GB" dirty="0" smtClean="0"/>
          </a:p>
          <a:p>
            <a:r>
              <a:rPr lang="en-GB" dirty="0" smtClean="0"/>
              <a:t>AMBER - </a:t>
            </a:r>
            <a:r>
              <a:rPr lang="en-US" dirty="0" smtClean="0"/>
              <a:t>The project schedule supports the end date, but issues, risks and/or changes exist that may put the date in jeopardy.</a:t>
            </a:r>
            <a:endParaRPr lang="en-GB" dirty="0" smtClean="0"/>
          </a:p>
          <a:p>
            <a:r>
              <a:rPr lang="en-GB" dirty="0" smtClean="0"/>
              <a:t>RED</a:t>
            </a:r>
            <a:r>
              <a:rPr lang="en-GB" baseline="0" dirty="0" smtClean="0"/>
              <a:t> – </a:t>
            </a:r>
            <a:r>
              <a:rPr lang="en-US" dirty="0" smtClean="0"/>
              <a:t>The project schedule does not exist and/or the project schedule does not support the end of the project.</a:t>
            </a:r>
            <a:endParaRPr lang="en-GB" baseline="0" dirty="0" smtClean="0"/>
          </a:p>
          <a:p>
            <a:endParaRPr lang="en-GB" baseline="0" dirty="0" smtClean="0"/>
          </a:p>
          <a:p>
            <a:r>
              <a:rPr lang="en-GB" dirty="0" smtClean="0"/>
              <a:t>Scope</a:t>
            </a:r>
          </a:p>
          <a:p>
            <a:r>
              <a:rPr lang="en-GB" dirty="0" smtClean="0"/>
              <a:t>GREEN - </a:t>
            </a:r>
            <a:r>
              <a:rPr lang="en-US" dirty="0" smtClean="0"/>
              <a:t>Scope defined and </a:t>
            </a:r>
            <a:r>
              <a:rPr lang="en-US" u="sng" dirty="0" smtClean="0"/>
              <a:t>approved</a:t>
            </a:r>
            <a:r>
              <a:rPr lang="en-US" dirty="0" smtClean="0"/>
              <a:t> (scope baseline) with no pending change requests.</a:t>
            </a:r>
            <a:endParaRPr lang="en-GB" dirty="0" smtClean="0"/>
          </a:p>
          <a:p>
            <a:r>
              <a:rPr lang="en-GB" dirty="0" smtClean="0"/>
              <a:t>AMBER - </a:t>
            </a:r>
            <a:r>
              <a:rPr lang="en-US" dirty="0" smtClean="0"/>
              <a:t>Scope defined and </a:t>
            </a:r>
            <a:r>
              <a:rPr lang="en-US" u="sng" dirty="0" smtClean="0"/>
              <a:t>approved</a:t>
            </a:r>
            <a:r>
              <a:rPr lang="en-US" dirty="0" smtClean="0"/>
              <a:t> (scope baseline) with </a:t>
            </a:r>
            <a:r>
              <a:rPr lang="en-US" u="sng" dirty="0" smtClean="0"/>
              <a:t>pending</a:t>
            </a:r>
            <a:r>
              <a:rPr lang="en-US" dirty="0" smtClean="0"/>
              <a:t> change requests – known and not raised and raised but not agreed.</a:t>
            </a:r>
            <a:endParaRPr lang="en-GB" dirty="0" smtClean="0"/>
          </a:p>
          <a:p>
            <a:r>
              <a:rPr lang="en-GB" dirty="0" smtClean="0"/>
              <a:t>RED</a:t>
            </a:r>
            <a:r>
              <a:rPr lang="en-GB" baseline="0" dirty="0" smtClean="0"/>
              <a:t> – </a:t>
            </a:r>
            <a:r>
              <a:rPr lang="en-US" dirty="0" smtClean="0"/>
              <a:t>Scope undefined or unapproved (no scope baseline) and/or multiple pending change requests.</a:t>
            </a:r>
            <a:endParaRPr lang="en-GB" baseline="0" dirty="0" smtClean="0"/>
          </a:p>
          <a:p>
            <a:endParaRPr lang="en-GB" baseline="0" dirty="0" smtClean="0"/>
          </a:p>
          <a:p>
            <a:r>
              <a:rPr lang="en-GB" dirty="0" smtClean="0"/>
              <a:t>Risk</a:t>
            </a:r>
          </a:p>
          <a:p>
            <a:r>
              <a:rPr lang="en-GB" dirty="0" smtClean="0"/>
              <a:t>GREEN – Low amount of risks with negligible impact</a:t>
            </a:r>
          </a:p>
          <a:p>
            <a:r>
              <a:rPr lang="en-GB" dirty="0" smtClean="0"/>
              <a:t>AMBER – Medium amount of risks. High or medium impact but with mitigation actions in place. Time left to put in place mitigation plans.</a:t>
            </a:r>
          </a:p>
          <a:p>
            <a:r>
              <a:rPr lang="en-GB" dirty="0" smtClean="0"/>
              <a:t>RED</a:t>
            </a:r>
            <a:r>
              <a:rPr lang="en-GB" baseline="0" dirty="0" smtClean="0"/>
              <a:t> – High number of risks. High score risks which impact in the near term. No mitigation in place for High risks.</a:t>
            </a:r>
          </a:p>
          <a:p>
            <a:endParaRPr lang="en-GB" baseline="0" dirty="0" smtClean="0"/>
          </a:p>
          <a:p>
            <a:r>
              <a:rPr lang="en-GB" dirty="0" smtClean="0"/>
              <a:t>Issue</a:t>
            </a:r>
          </a:p>
          <a:p>
            <a:r>
              <a:rPr lang="en-GB" dirty="0" smtClean="0"/>
              <a:t>GREEN – No or low impact issues. Medium impact issues with resolution plans agreed and in place.</a:t>
            </a:r>
          </a:p>
          <a:p>
            <a:r>
              <a:rPr lang="en-GB" dirty="0" smtClean="0"/>
              <a:t>AMBER – Large</a:t>
            </a:r>
            <a:r>
              <a:rPr lang="en-GB" baseline="0" dirty="0" smtClean="0"/>
              <a:t> amount of issues and/or Medium impact issues with no resolution plans.</a:t>
            </a:r>
            <a:endParaRPr lang="en-GB" dirty="0" smtClean="0"/>
          </a:p>
          <a:p>
            <a:r>
              <a:rPr lang="en-GB" dirty="0" smtClean="0"/>
              <a:t>RED</a:t>
            </a:r>
            <a:r>
              <a:rPr lang="en-GB" baseline="0" dirty="0" smtClean="0"/>
              <a:t> – High impact issues present. No resolution plans in place for Medium of High level issues</a:t>
            </a:r>
          </a:p>
          <a:p>
            <a:endParaRPr lang="en-GB" baseline="0" dirty="0" smtClean="0"/>
          </a:p>
          <a:p>
            <a:r>
              <a:rPr lang="en-GB" dirty="0" smtClean="0"/>
              <a:t>Commercial</a:t>
            </a:r>
          </a:p>
          <a:p>
            <a:r>
              <a:rPr lang="en-GB" dirty="0" smtClean="0"/>
              <a:t>GREEN - TBD</a:t>
            </a:r>
          </a:p>
          <a:p>
            <a:r>
              <a:rPr lang="en-GB" dirty="0" smtClean="0"/>
              <a:t>AMBER - TBD</a:t>
            </a:r>
          </a:p>
          <a:p>
            <a:r>
              <a:rPr lang="en-GB" dirty="0" smtClean="0"/>
              <a:t>RED</a:t>
            </a:r>
            <a:r>
              <a:rPr lang="en-GB" baseline="0" dirty="0" smtClean="0"/>
              <a:t> – TBD</a:t>
            </a:r>
          </a:p>
          <a:p>
            <a:endParaRPr lang="en-GB" baseline="0" dirty="0" smtClean="0"/>
          </a:p>
          <a:p>
            <a:r>
              <a:rPr lang="en-GB" dirty="0" smtClean="0"/>
              <a:t>Resource</a:t>
            </a:r>
          </a:p>
          <a:p>
            <a:r>
              <a:rPr lang="en-GB" dirty="0" smtClean="0"/>
              <a:t>GREEN – No resource issue or constraints</a:t>
            </a:r>
          </a:p>
          <a:p>
            <a:r>
              <a:rPr lang="en-GB" dirty="0" smtClean="0"/>
              <a:t>AMBER – Resource issues exist but plans are in place to resolve.</a:t>
            </a:r>
          </a:p>
          <a:p>
            <a:r>
              <a:rPr lang="en-GB" dirty="0" smtClean="0"/>
              <a:t>RED</a:t>
            </a:r>
            <a:r>
              <a:rPr lang="en-GB" baseline="0" dirty="0" smtClean="0"/>
              <a:t> – Resource issues exist with no plans in place to resolve.</a:t>
            </a:r>
          </a:p>
          <a:p>
            <a:endParaRPr lang="en-GB" baseline="0" dirty="0" smtClean="0"/>
          </a:p>
          <a:p>
            <a:endParaRPr lang="en-GB" baseline="0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ChangeArrowheads="1"/>
          </p:cNvSpPr>
          <p:nvPr userDrawn="1"/>
        </p:nvSpPr>
        <p:spPr bwMode="auto">
          <a:xfrm>
            <a:off x="457200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l">
              <a:defRPr/>
            </a:pPr>
            <a:r>
              <a:rPr lang="en-US" sz="1100" dirty="0">
                <a:solidFill>
                  <a:srgbClr val="000000"/>
                </a:solidFill>
                <a:cs typeface="Arial" charset="0"/>
              </a:rPr>
              <a:t>Page </a:t>
            </a:r>
            <a:fld id="{84B491C8-BB09-42DF-B246-12EF53273C68}" type="slidenum">
              <a:rPr lang="en-US" sz="1100">
                <a:solidFill>
                  <a:srgbClr val="000000"/>
                </a:solidFill>
                <a:cs typeface="Arial" charset="0"/>
              </a:rPr>
              <a:pPr algn="l">
                <a:defRPr/>
              </a:pPr>
              <a:t>‹#›</a:t>
            </a:fld>
            <a:endParaRPr lang="en-US" sz="1100" dirty="0">
              <a:solidFill>
                <a:srgbClr val="000000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1252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0"/>
          <p:cNvSpPr>
            <a:spLocks/>
          </p:cNvSpPr>
          <p:nvPr/>
        </p:nvSpPr>
        <p:spPr bwMode="auto">
          <a:xfrm>
            <a:off x="3079750" y="552450"/>
            <a:ext cx="6057900" cy="2590800"/>
          </a:xfrm>
          <a:custGeom>
            <a:avLst/>
            <a:gdLst/>
            <a:ahLst/>
            <a:cxnLst>
              <a:cxn ang="0">
                <a:pos x="0" y="1632"/>
              </a:cxn>
              <a:cxn ang="0">
                <a:pos x="3816" y="0"/>
              </a:cxn>
              <a:cxn ang="0">
                <a:pos x="3816" y="496"/>
              </a:cxn>
              <a:cxn ang="0">
                <a:pos x="0" y="1632"/>
              </a:cxn>
            </a:cxnLst>
            <a:rect l="0" t="0" r="r" b="b"/>
            <a:pathLst>
              <a:path w="3816" h="1632">
                <a:moveTo>
                  <a:pt x="0" y="1632"/>
                </a:moveTo>
                <a:lnTo>
                  <a:pt x="3816" y="0"/>
                </a:lnTo>
                <a:lnTo>
                  <a:pt x="3816" y="496"/>
                </a:lnTo>
                <a:lnTo>
                  <a:pt x="0" y="163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Picture 13" descr="logo_tagbla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3400" y="6030913"/>
            <a:ext cx="190817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AutoShape 19"/>
          <p:cNvSpPr>
            <a:spLocks noChangeArrowheads="1"/>
          </p:cNvSpPr>
          <p:nvPr/>
        </p:nvSpPr>
        <p:spPr bwMode="auto">
          <a:xfrm rot="5400000">
            <a:off x="-120649" y="1274762"/>
            <a:ext cx="3313112" cy="3071813"/>
          </a:xfrm>
          <a:prstGeom prst="triangle">
            <a:avLst>
              <a:gd name="adj" fmla="val 60227"/>
            </a:avLst>
          </a:prstGeom>
          <a:blipFill dpi="0" rotWithShape="0">
            <a:blip r:embed="rId3" cstate="print"/>
            <a:srcRect/>
            <a:stretch>
              <a:fillRect r="-11536"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59113" y="3457575"/>
            <a:ext cx="5541962" cy="908050"/>
          </a:xfrm>
        </p:spPr>
        <p:txBody>
          <a:bodyPr tIns="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62288" y="4354513"/>
            <a:ext cx="5541962" cy="1019175"/>
          </a:xfrm>
        </p:spPr>
        <p:txBody>
          <a:bodyPr/>
          <a:lstStyle>
            <a:lvl1pPr marL="0" indent="0">
              <a:lnSpc>
                <a:spcPct val="85000"/>
              </a:lnSpc>
              <a:buFont typeface="Arial" charset="0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30076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321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2156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412875"/>
            <a:ext cx="4040187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41775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5921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153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7712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26463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73963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94002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9429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2575" y="200025"/>
            <a:ext cx="2057400" cy="57324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200025"/>
            <a:ext cx="6024562" cy="57324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8389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25"/>
            <a:ext cx="8232775" cy="86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5613" y="1412875"/>
            <a:ext cx="4040187" cy="4519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41775" cy="4519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4587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25"/>
            <a:ext cx="8232775" cy="86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5613" y="1412875"/>
            <a:ext cx="8234362" cy="4519613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  <p:extLst>
      <p:ext uri="{BB962C8B-B14F-4D97-AF65-F5344CB8AC3E}">
        <p14:creationId xmlns:p14="http://schemas.microsoft.com/office/powerpoint/2010/main" val="5766512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25"/>
            <a:ext cx="8232775" cy="86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412875"/>
            <a:ext cx="8234362" cy="21828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5613" y="3748088"/>
            <a:ext cx="8234362" cy="2184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5910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25"/>
            <a:ext cx="8232775" cy="86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5613" y="1412875"/>
            <a:ext cx="8234362" cy="21828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13" y="3748088"/>
            <a:ext cx="8234362" cy="2184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236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0025"/>
            <a:ext cx="823277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12875"/>
            <a:ext cx="8234362" cy="451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1066800" y="6419850"/>
            <a:ext cx="60198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dirty="0" smtClean="0">
                <a:solidFill>
                  <a:srgbClr val="000000"/>
                </a:solidFill>
                <a:cs typeface="Arial" charset="0"/>
              </a:rPr>
              <a:t>Blueprint v4.4 - Project Scorecard Template (May 2011)</a:t>
            </a:r>
            <a:endParaRPr lang="en-US" sz="1100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457200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>
                <a:solidFill>
                  <a:srgbClr val="000000"/>
                </a:solidFill>
                <a:cs typeface="Arial" charset="0"/>
              </a:rPr>
              <a:t>Page </a:t>
            </a:r>
            <a:fld id="{7F189A97-8521-4FA5-8EFB-9A53E1B18911}" type="slidenum">
              <a:rPr lang="en-US" sz="1100">
                <a:solidFill>
                  <a:srgbClr val="000000"/>
                </a:solidFill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10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034" name="Line 10"/>
          <p:cNvSpPr>
            <a:spLocks noChangeShapeType="1"/>
          </p:cNvSpPr>
          <p:nvPr/>
        </p:nvSpPr>
        <p:spPr bwMode="auto">
          <a:xfrm>
            <a:off x="455613" y="1042988"/>
            <a:ext cx="8229600" cy="0"/>
          </a:xfrm>
          <a:prstGeom prst="line">
            <a:avLst/>
          </a:prstGeom>
          <a:noFill/>
          <a:ln w="19050">
            <a:solidFill>
              <a:srgbClr val="FFD2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035" name="Line 11"/>
          <p:cNvSpPr>
            <a:spLocks noChangeShapeType="1"/>
          </p:cNvSpPr>
          <p:nvPr/>
        </p:nvSpPr>
        <p:spPr bwMode="auto">
          <a:xfrm>
            <a:off x="455613" y="6243638"/>
            <a:ext cx="8229600" cy="0"/>
          </a:xfrm>
          <a:prstGeom prst="line">
            <a:avLst/>
          </a:prstGeom>
          <a:noFill/>
          <a:ln w="3175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036" name="Line 12"/>
          <p:cNvSpPr>
            <a:spLocks noChangeShapeType="1"/>
          </p:cNvSpPr>
          <p:nvPr/>
        </p:nvSpPr>
        <p:spPr bwMode="auto">
          <a:xfrm>
            <a:off x="455613" y="200025"/>
            <a:ext cx="8229600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FFFFFF"/>
              </a:solidFill>
            </a:endParaRPr>
          </a:p>
        </p:txBody>
      </p:sp>
      <p:pic>
        <p:nvPicPr>
          <p:cNvPr id="2" name="Picture 13" descr="logo_tagblack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226300" y="6386513"/>
            <a:ext cx="14859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0595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9pPr>
    </p:titleStyle>
    <p:bodyStyle>
      <a:lvl1pPr marL="360363" indent="-360363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400">
          <a:solidFill>
            <a:srgbClr val="646464"/>
          </a:solidFill>
          <a:latin typeface="+mn-lt"/>
          <a:ea typeface="+mn-ea"/>
          <a:cs typeface="+mn-cs"/>
        </a:defRPr>
      </a:lvl1pPr>
      <a:lvl2pPr marL="717550" indent="-35560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000">
          <a:solidFill>
            <a:srgbClr val="646464"/>
          </a:solidFill>
          <a:latin typeface="+mn-lt"/>
        </a:defRPr>
      </a:lvl2pPr>
      <a:lvl3pPr marL="1081088" indent="-361950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400">
          <a:solidFill>
            <a:srgbClr val="646464"/>
          </a:solidFill>
          <a:latin typeface="+mn-lt"/>
        </a:defRPr>
      </a:lvl3pPr>
      <a:lvl4pPr marL="1441450" indent="-358775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4pPr>
      <a:lvl5pPr marL="1800225" indent="-357188" algn="l" rtl="0" eaLnBrk="0" fontAlgn="base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5pPr>
      <a:lvl6pPr marL="22574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6pPr>
      <a:lvl7pPr marL="27146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7pPr>
      <a:lvl8pPr marL="31718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8pPr>
      <a:lvl9pPr marL="3629025" indent="-357188" algn="l" rtl="0" fontAlgn="base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062288" y="3429001"/>
            <a:ext cx="5541962" cy="1066800"/>
          </a:xfrm>
        </p:spPr>
        <p:txBody>
          <a:bodyPr>
            <a:normAutofit fontScale="90000"/>
          </a:bodyPr>
          <a:lstStyle/>
          <a:p>
            <a:pPr eaLnBrk="1" hangingPunct="1">
              <a:lnSpc>
                <a:spcPct val="100000"/>
              </a:lnSpc>
              <a:spcAft>
                <a:spcPts val="600"/>
              </a:spcAft>
            </a:pPr>
            <a:r>
              <a:rPr lang="en-US" sz="2400" b="0" dirty="0" smtClean="0">
                <a:latin typeface="EYInterstate" pitchFamily="2" charset="0"/>
              </a:rPr>
              <a:t>M&amp;C Sub-Program </a:t>
            </a:r>
            <a:r>
              <a:rPr lang="en-US" sz="2400" dirty="0" smtClean="0">
                <a:latin typeface="EYInterstate" pitchFamily="2" charset="0"/>
              </a:rPr>
              <a:t>RAG Definitions</a:t>
            </a:r>
            <a:r>
              <a:rPr lang="en-US" sz="2400" b="0" dirty="0" smtClean="0">
                <a:latin typeface="EYInterstate" pitchFamily="2" charset="0"/>
              </a:rPr>
              <a:t/>
            </a:r>
            <a:br>
              <a:rPr lang="en-US" sz="2400" b="0" dirty="0" smtClean="0">
                <a:latin typeface="EYInterstate" pitchFamily="2" charset="0"/>
              </a:rPr>
            </a:br>
            <a:r>
              <a:rPr lang="en-US" sz="2400" b="0" i="1" dirty="0" smtClean="0">
                <a:latin typeface="EYInterstate" pitchFamily="2" charset="0"/>
              </a:rPr>
              <a:t/>
            </a:r>
            <a:br>
              <a:rPr lang="en-US" sz="2400" b="0" i="1" dirty="0" smtClean="0">
                <a:latin typeface="EYInterstate" pitchFamily="2" charset="0"/>
              </a:rPr>
            </a:br>
            <a:endParaRPr lang="en-US" sz="2400" b="0" i="1" dirty="0">
              <a:latin typeface="EYInterstate" pitchFamily="2" charset="0"/>
            </a:endParaRP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4668838" y="3781425"/>
            <a:ext cx="5541962" cy="1019175"/>
          </a:xfrm>
        </p:spPr>
        <p:txBody>
          <a:bodyPr/>
          <a:lstStyle/>
          <a:p>
            <a:pPr eaLnBrk="1" hangingPunct="1"/>
            <a:r>
              <a:rPr lang="en-GB" sz="1600" dirty="0" smtClean="0">
                <a:latin typeface="EYInterstate" pitchFamily="2" charset="0"/>
              </a:rPr>
              <a:t>January 2013</a:t>
            </a:r>
            <a:endParaRPr lang="en-GB" sz="1600" dirty="0">
              <a:latin typeface="EYInterstat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21968"/>
      </p:ext>
    </p:extLst>
  </p:cSld>
  <p:clrMapOvr>
    <a:masterClrMapping/>
  </p:clrMapOvr>
  <p:transition advTm="1157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94"/>
          <p:cNvSpPr>
            <a:spLocks/>
          </p:cNvSpPr>
          <p:nvPr/>
        </p:nvSpPr>
        <p:spPr bwMode="gray">
          <a:xfrm>
            <a:off x="-2459" y="-3263"/>
            <a:ext cx="6022259" cy="341817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" name="Rectangle 183"/>
          <p:cNvSpPr txBox="1">
            <a:spLocks noChangeArrowheads="1"/>
          </p:cNvSpPr>
          <p:nvPr/>
        </p:nvSpPr>
        <p:spPr bwMode="gray">
          <a:xfrm>
            <a:off x="-25241" y="0"/>
            <a:ext cx="7729904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defTabSz="955675" eaLnBrk="0" hangingPunct="0">
              <a:spcAft>
                <a:spcPts val="0"/>
              </a:spcAft>
              <a:defRPr/>
            </a:pPr>
            <a:r>
              <a:rPr lang="en-US" sz="1600" b="1" kern="0" dirty="0" smtClean="0">
                <a:latin typeface="EYInterstate"/>
              </a:rPr>
              <a:t>1. Overall assessment of Sub-Program health</a:t>
            </a:r>
            <a:endParaRPr lang="en-US" sz="1600" b="1" kern="0" dirty="0">
              <a:latin typeface="EYInterstate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455118"/>
              </p:ext>
            </p:extLst>
          </p:nvPr>
        </p:nvGraphicFramePr>
        <p:xfrm>
          <a:off x="152400" y="4291196"/>
          <a:ext cx="4800601" cy="1957204"/>
        </p:xfrm>
        <a:graphic>
          <a:graphicData uri="http://schemas.openxmlformats.org/drawingml/2006/table">
            <a:tbl>
              <a:tblPr/>
              <a:tblGrid>
                <a:gridCol w="978216"/>
                <a:gridCol w="643901"/>
                <a:gridCol w="643901"/>
                <a:gridCol w="598513"/>
                <a:gridCol w="513749"/>
                <a:gridCol w="524013"/>
                <a:gridCol w="449154"/>
                <a:gridCol w="449154"/>
              </a:tblGrid>
              <a:tr h="0">
                <a:tc gridSpan="8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WEEKLY PROGRAM RAG ASSESSMENT TREND</a:t>
                      </a:r>
                      <a:endParaRPr kumimoji="0" lang="en-US" sz="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endParaRPr kumimoji="0" lang="en-US" sz="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54014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Sub-Program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This week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Last week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Week -2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Week -3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Week -4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Week -5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Week -6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31898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Change Management</a:t>
                      </a: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tx1"/>
                        </a:solidFill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tx1"/>
                        </a:solidFill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6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1898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</a:t>
                      </a: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tx1"/>
                        </a:solidFill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tx1"/>
                        </a:solidFill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6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00805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Collaboration 1</a:t>
                      </a: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632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Collaboration 2</a:t>
                      </a: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tx1"/>
                        </a:solidFill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tx1"/>
                        </a:solidFill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4477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Collaboration 3</a:t>
                      </a: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tx1"/>
                        </a:solidFill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tx1"/>
                        </a:solidFill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8506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???</a:t>
                      </a: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GB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GB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366207"/>
              </p:ext>
            </p:extLst>
          </p:nvPr>
        </p:nvGraphicFramePr>
        <p:xfrm>
          <a:off x="179512" y="494934"/>
          <a:ext cx="4773486" cy="3322311"/>
        </p:xfrm>
        <a:graphic>
          <a:graphicData uri="http://schemas.openxmlformats.org/drawingml/2006/table">
            <a:tbl>
              <a:tblPr/>
              <a:tblGrid>
                <a:gridCol w="1071330"/>
                <a:gridCol w="559225"/>
                <a:gridCol w="498026"/>
                <a:gridCol w="498026"/>
                <a:gridCol w="498026"/>
                <a:gridCol w="498026"/>
                <a:gridCol w="498026"/>
                <a:gridCol w="652801"/>
              </a:tblGrid>
              <a:tr h="198558">
                <a:tc gridSpan="6">
                  <a:txBody>
                    <a:bodyPr/>
                    <a:lstStyle/>
                    <a:p>
                      <a:pPr algn="l" rtl="0" fontAlgn="ctr"/>
                      <a:r>
                        <a:rPr lang="en-GB" sz="1000" b="1" i="0" u="none" strike="noStrike" dirty="0" smtClean="0">
                          <a:solidFill>
                            <a:schemeClr val="bg1"/>
                          </a:solidFill>
                          <a:latin typeface="EYInterstate" pitchFamily="2" charset="0"/>
                        </a:rPr>
                        <a:t>Weekly Report Summary</a:t>
                      </a:r>
                      <a:endParaRPr lang="en-GB" sz="700" b="1" i="0" u="none" strike="noStrike" dirty="0">
                        <a:solidFill>
                          <a:srgbClr val="646464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endParaRPr lang="en-GB" sz="700" b="1" i="0" u="none" strike="noStrike" dirty="0">
                        <a:solidFill>
                          <a:srgbClr val="646464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GB" sz="900" b="1" i="0" u="none" strike="noStrike" dirty="0" smtClean="0">
                          <a:ln>
                            <a:solidFill>
                              <a:schemeClr val="bg1">
                                <a:lumMod val="5000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latin typeface="EYInterstate" pitchFamily="2" charset="0"/>
                        </a:rPr>
                        <a:t>Sub-PM REPORT VIEW</a:t>
                      </a:r>
                      <a:endParaRPr lang="en-GB" sz="900" b="1" i="0" u="none" strike="noStrike" dirty="0">
                        <a:ln>
                          <a:solidFill>
                            <a:schemeClr val="bg1">
                              <a:lumMod val="50000"/>
                            </a:schemeClr>
                          </a:solidFill>
                        </a:ln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37375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700" b="1" i="0" u="none" strike="noStrike" dirty="0" smtClean="0">
                          <a:solidFill>
                            <a:srgbClr val="000000"/>
                          </a:solidFill>
                          <a:latin typeface="EYInterstate" pitchFamily="2" charset="0"/>
                        </a:rPr>
                        <a:t>Sub-Program </a:t>
                      </a:r>
                      <a:endParaRPr lang="en-GB" sz="700" b="1" i="0" u="none" strike="noStrike" dirty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700" b="1" i="0" u="none" strike="noStrike" dirty="0" smtClean="0">
                          <a:solidFill>
                            <a:srgbClr val="000000"/>
                          </a:solidFill>
                          <a:latin typeface="EYInterstate" pitchFamily="2" charset="0"/>
                        </a:rPr>
                        <a:t>OVERALL</a:t>
                      </a:r>
                      <a:endParaRPr lang="en-GB" sz="700" b="1" i="0" u="none" strike="noStrike" dirty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700" b="1" i="0" u="none" strike="noStrike" dirty="0" smtClean="0">
                          <a:solidFill>
                            <a:srgbClr val="000000"/>
                          </a:solidFill>
                          <a:latin typeface="EYInterstate" pitchFamily="2" charset="0"/>
                        </a:rPr>
                        <a:t>Scope </a:t>
                      </a:r>
                      <a:endParaRPr lang="en-GB" sz="700" b="1" i="0" u="none" strike="noStrike" dirty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700" b="1" i="0" u="none" strike="noStrike" dirty="0" smtClean="0">
                          <a:solidFill>
                            <a:srgbClr val="000000"/>
                          </a:solidFill>
                          <a:latin typeface="EYInterstate" pitchFamily="2" charset="0"/>
                        </a:rPr>
                        <a:t>Schedule</a:t>
                      </a:r>
                      <a:endParaRPr lang="en-GB" sz="700" b="1" i="0" u="none" strike="noStrike" dirty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700" b="1" i="0" u="none" strike="noStrike" dirty="0" smtClean="0">
                          <a:solidFill>
                            <a:srgbClr val="000000"/>
                          </a:solidFill>
                          <a:latin typeface="EYInterstate" pitchFamily="2" charset="0"/>
                        </a:rPr>
                        <a:t>Cost</a:t>
                      </a:r>
                      <a:endParaRPr lang="en-GB" sz="700" b="1" i="0" u="none" strike="noStrike" dirty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GB" sz="700" b="1" i="0" u="none" strike="noStrike" kern="1200" dirty="0" smtClean="0">
                          <a:solidFill>
                            <a:srgbClr val="000000"/>
                          </a:solidFill>
                          <a:latin typeface="EYInterstate" pitchFamily="2" charset="0"/>
                          <a:ea typeface="+mn-ea"/>
                          <a:cs typeface="+mn-cs"/>
                        </a:rPr>
                        <a:t>RAID/WSR </a:t>
                      </a:r>
                      <a:endParaRPr lang="en-GB" sz="700" b="1" i="0" u="none" strike="noStrike" kern="1200" dirty="0">
                        <a:solidFill>
                          <a:srgbClr val="000000"/>
                        </a:solidFill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GB" sz="700" b="1" i="0" u="none" strike="noStrike" kern="1200" dirty="0">
                          <a:solidFill>
                            <a:srgbClr val="000000"/>
                          </a:solidFill>
                          <a:latin typeface="EYInterstate" pitchFamily="2" charset="0"/>
                          <a:ea typeface="+mn-ea"/>
                          <a:cs typeface="+mn-cs"/>
                        </a:rPr>
                        <a:t>Resource 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GB" sz="1000" b="1" i="0" u="none" strike="noStrike" dirty="0">
                        <a:solidFill>
                          <a:srgbClr val="000000"/>
                        </a:solidFill>
                        <a:latin typeface="EYInterstate Ligh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351781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Change Management</a:t>
                      </a: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kern="1200" dirty="0">
                        <a:solidFill>
                          <a:srgbClr val="000000"/>
                        </a:solidFill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kern="1200" dirty="0">
                        <a:solidFill>
                          <a:srgbClr val="000000"/>
                        </a:solidFill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kern="1200" dirty="0" smtClean="0">
                        <a:solidFill>
                          <a:srgbClr val="000000"/>
                        </a:solidFill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kern="1200" dirty="0" smtClean="0">
                        <a:solidFill>
                          <a:srgbClr val="000000"/>
                        </a:solidFill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dirty="0" smtClean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3107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</a:t>
                      </a: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GB" sz="700" b="0" i="0" u="none" strike="noStrike" dirty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dirty="0" smtClean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dirty="0" smtClean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dirty="0" smtClean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dirty="0" smtClean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kern="1200" dirty="0">
                        <a:solidFill>
                          <a:srgbClr val="000000"/>
                        </a:solidFill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7617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Collaboration 1</a:t>
                      </a: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dirty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dirty="0" smtClean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dirty="0" smtClean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kern="1200" dirty="0" smtClean="0">
                        <a:solidFill>
                          <a:srgbClr val="000000"/>
                        </a:solidFill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dirty="0" smtClean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kern="1200" dirty="0">
                        <a:solidFill>
                          <a:srgbClr val="000000"/>
                        </a:solidFill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8984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Collaboration 2</a:t>
                      </a: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dirty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dirty="0" smtClean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dirty="0" smtClean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dirty="0" smtClean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dirty="0" smtClean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kern="1200" dirty="0">
                        <a:solidFill>
                          <a:srgbClr val="000000"/>
                        </a:solidFill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Collaboration 3</a:t>
                      </a: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dirty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dirty="0" smtClean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dirty="0" smtClean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dirty="0" smtClean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dirty="0" smtClean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kern="1200" dirty="0">
                        <a:solidFill>
                          <a:srgbClr val="000000"/>
                        </a:solidFill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2194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???</a:t>
                      </a:r>
                    </a:p>
                  </a:txBody>
                  <a:tcPr marL="34208" marR="34208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dirty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dirty="0" smtClean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dirty="0" smtClean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dirty="0" smtClean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GB" sz="700" b="0" i="0" u="none" strike="noStrike" dirty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dirty="0" smtClean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kern="1200" dirty="0">
                        <a:solidFill>
                          <a:srgbClr val="000000"/>
                        </a:solidFill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56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700" b="1" i="0" u="none" strike="noStrike" dirty="0" smtClean="0">
                          <a:solidFill>
                            <a:srgbClr val="000000"/>
                          </a:solidFill>
                          <a:latin typeface="EYInterstate" pitchFamily="2" charset="0"/>
                        </a:rPr>
                        <a:t>OVERALL</a:t>
                      </a:r>
                      <a:endParaRPr lang="en-GB" sz="700" b="1" i="0" u="none" strike="noStrike" dirty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dirty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dirty="0" smtClean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dirty="0" smtClean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dirty="0" smtClean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GB" sz="700" b="0" i="0" u="none" strike="noStrike" dirty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dirty="0" smtClean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700" b="0" i="0" u="none" strike="noStrike" kern="1200" dirty="0">
                        <a:solidFill>
                          <a:srgbClr val="000000"/>
                        </a:solidFill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Group 8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089351"/>
              </p:ext>
            </p:extLst>
          </p:nvPr>
        </p:nvGraphicFramePr>
        <p:xfrm>
          <a:off x="5105400" y="494934"/>
          <a:ext cx="3962400" cy="4436166"/>
        </p:xfrm>
        <a:graphic>
          <a:graphicData uri="http://schemas.openxmlformats.org/drawingml/2006/table">
            <a:tbl>
              <a:tblPr/>
              <a:tblGrid>
                <a:gridCol w="3962400"/>
              </a:tblGrid>
              <a:tr h="117861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EYInterstate" pitchFamily="2" charset="0"/>
                        </a:rPr>
                        <a:t>PMO Narrative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289114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Schedule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466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Resource Management.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655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RAIDs.</a:t>
                      </a:r>
                      <a:r>
                        <a:rPr kumimoji="0" lang="en-US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854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Change Control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GB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  <a:endParaRPr kumimoji="0" lang="en-GB" sz="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8344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General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481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343526"/>
              </p:ext>
            </p:extLst>
          </p:nvPr>
        </p:nvGraphicFramePr>
        <p:xfrm>
          <a:off x="18537" y="638957"/>
          <a:ext cx="6458464" cy="2851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163"/>
                <a:gridCol w="779163"/>
                <a:gridCol w="940958"/>
                <a:gridCol w="791836"/>
                <a:gridCol w="791836"/>
                <a:gridCol w="791836"/>
                <a:gridCol w="791836"/>
                <a:gridCol w="791836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Sub-Program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Overall health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Scope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Schedule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Cost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Resources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RAID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CR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Change </a:t>
                      </a:r>
                      <a:r>
                        <a:rPr kumimoji="0" lang="en-US" sz="8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Mgt</a:t>
                      </a:r>
                      <a:endParaRPr kumimoji="0" lang="en-US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Collaboration 1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Collaboration 2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Collaboration 3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???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 dirty="0" smtClean="0">
                          <a:solidFill>
                            <a:srgbClr val="000000"/>
                          </a:solidFill>
                          <a:latin typeface="EYInterstate" pitchFamily="2" charset="0"/>
                        </a:rPr>
                        <a:t>OVERALL</a:t>
                      </a:r>
                      <a:endParaRPr lang="en-GB" sz="800" b="1" i="0" u="none" strike="noStrike" dirty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1" name="Freeform 94"/>
          <p:cNvSpPr>
            <a:spLocks/>
          </p:cNvSpPr>
          <p:nvPr/>
        </p:nvSpPr>
        <p:spPr bwMode="gray">
          <a:xfrm>
            <a:off x="-2459" y="-3263"/>
            <a:ext cx="6022259" cy="384263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defTabSz="955675" eaLnBrk="0" hangingPunct="0">
              <a:defRPr/>
            </a:pPr>
            <a:r>
              <a:rPr lang="en-US" sz="2000" b="1" kern="0" dirty="0">
                <a:solidFill>
                  <a:schemeClr val="tx2"/>
                </a:solidFill>
                <a:latin typeface="EYInterstate"/>
              </a:rPr>
              <a:t>Overall assessment of s</a:t>
            </a:r>
            <a:r>
              <a:rPr lang="en-US" sz="2000" b="1" kern="0" dirty="0" smtClean="0">
                <a:solidFill>
                  <a:schemeClr val="tx2"/>
                </a:solidFill>
                <a:latin typeface="EYInterstate"/>
              </a:rPr>
              <a:t>ub-program </a:t>
            </a:r>
            <a:r>
              <a:rPr lang="en-US" sz="2000" b="1" kern="0" dirty="0">
                <a:solidFill>
                  <a:schemeClr val="tx2"/>
                </a:solidFill>
                <a:latin typeface="EYInterstate"/>
              </a:rPr>
              <a:t>health</a:t>
            </a:r>
          </a:p>
        </p:txBody>
      </p:sp>
      <p:graphicFrame>
        <p:nvGraphicFramePr>
          <p:cNvPr id="92" name="Table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009902"/>
              </p:ext>
            </p:extLst>
          </p:nvPr>
        </p:nvGraphicFramePr>
        <p:xfrm>
          <a:off x="0" y="4191000"/>
          <a:ext cx="6552041" cy="2623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907"/>
                <a:gridCol w="900907"/>
                <a:gridCol w="1087983"/>
                <a:gridCol w="915561"/>
                <a:gridCol w="915561"/>
                <a:gridCol w="915561"/>
                <a:gridCol w="915561"/>
              </a:tblGrid>
              <a:tr h="304800">
                <a:tc gridSpan="7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Weekly Sub-program health Trend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Sub-Program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This week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Last week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Week -2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Week -3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Week -4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Week-5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</a:tr>
              <a:tr h="335668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Change Management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35668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35668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Collaboration 1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35668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Collaboration 2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35668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Collaboration 3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35668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???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Group 8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093881"/>
              </p:ext>
            </p:extLst>
          </p:nvPr>
        </p:nvGraphicFramePr>
        <p:xfrm>
          <a:off x="6629400" y="494934"/>
          <a:ext cx="2438400" cy="4436166"/>
        </p:xfrm>
        <a:graphic>
          <a:graphicData uri="http://schemas.openxmlformats.org/drawingml/2006/table">
            <a:tbl>
              <a:tblPr/>
              <a:tblGrid>
                <a:gridCol w="2438400"/>
              </a:tblGrid>
              <a:tr h="117861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EYInterstate" pitchFamily="2" charset="0"/>
                        </a:rPr>
                        <a:t>PMO Narrative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289114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Schedule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466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Resource Management.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655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RAIDs.</a:t>
                      </a:r>
                      <a:r>
                        <a:rPr kumimoji="0" lang="en-US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854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Change Control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GB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  <a:endParaRPr kumimoji="0" lang="en-GB" sz="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8344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General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3896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978889"/>
              </p:ext>
            </p:extLst>
          </p:nvPr>
        </p:nvGraphicFramePr>
        <p:xfrm>
          <a:off x="18534" y="381000"/>
          <a:ext cx="6610865" cy="36917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866"/>
                <a:gridCol w="838200"/>
                <a:gridCol w="824194"/>
                <a:gridCol w="810521"/>
                <a:gridCol w="810521"/>
                <a:gridCol w="810521"/>
                <a:gridCol w="810521"/>
                <a:gridCol w="81052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Deployments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Overall </a:t>
                      </a: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health/Status</a:t>
                      </a:r>
                      <a:endParaRPr kumimoji="0" lang="en-US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Area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Sub-Area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Sub-Area Developed Emerging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Migration Status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T-5 Months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RAID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 1</a:t>
                      </a:r>
                    </a:p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(Country)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 2</a:t>
                      </a:r>
                    </a:p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(Country)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 3</a:t>
                      </a:r>
                    </a:p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(Country)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 4</a:t>
                      </a:r>
                    </a:p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(Country)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 5</a:t>
                      </a:r>
                    </a:p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(Country)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 6</a:t>
                      </a:r>
                    </a:p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(Country)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 7</a:t>
                      </a:r>
                    </a:p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(Country)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 8</a:t>
                      </a:r>
                    </a:p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(Country)</a:t>
                      </a: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5938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 dirty="0" smtClean="0">
                          <a:solidFill>
                            <a:srgbClr val="000000"/>
                          </a:solidFill>
                          <a:latin typeface="EYInterstate" pitchFamily="2" charset="0"/>
                        </a:rPr>
                        <a:t>OVERALL</a:t>
                      </a:r>
                      <a:endParaRPr lang="en-GB" sz="800" b="1" i="0" u="none" strike="noStrike" dirty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1" name="Freeform 94"/>
          <p:cNvSpPr>
            <a:spLocks/>
          </p:cNvSpPr>
          <p:nvPr/>
        </p:nvSpPr>
        <p:spPr bwMode="gray">
          <a:xfrm>
            <a:off x="-2459" y="-3263"/>
            <a:ext cx="6022259" cy="384263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defTabSz="955675" eaLnBrk="0" hangingPunct="0">
              <a:defRPr/>
            </a:pPr>
            <a:r>
              <a:rPr lang="en-US" sz="2000" b="1" kern="0" dirty="0">
                <a:solidFill>
                  <a:schemeClr val="tx2"/>
                </a:solidFill>
                <a:latin typeface="EYInterstate"/>
              </a:rPr>
              <a:t>Overall assessment of s</a:t>
            </a:r>
            <a:r>
              <a:rPr lang="en-US" sz="2000" b="1" kern="0" dirty="0" smtClean="0">
                <a:solidFill>
                  <a:schemeClr val="tx2"/>
                </a:solidFill>
                <a:latin typeface="EYInterstate"/>
              </a:rPr>
              <a:t>ub-program </a:t>
            </a:r>
            <a:r>
              <a:rPr lang="en-US" sz="2000" b="1" kern="0" dirty="0">
                <a:solidFill>
                  <a:schemeClr val="tx2"/>
                </a:solidFill>
                <a:latin typeface="EYInterstate"/>
              </a:rPr>
              <a:t>health</a:t>
            </a:r>
          </a:p>
        </p:txBody>
      </p:sp>
      <p:graphicFrame>
        <p:nvGraphicFramePr>
          <p:cNvPr id="92" name="Table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209526"/>
              </p:ext>
            </p:extLst>
          </p:nvPr>
        </p:nvGraphicFramePr>
        <p:xfrm>
          <a:off x="0" y="4114800"/>
          <a:ext cx="6629399" cy="2684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543"/>
                <a:gridCol w="911543"/>
                <a:gridCol w="1100829"/>
                <a:gridCol w="926371"/>
                <a:gridCol w="926371"/>
                <a:gridCol w="926371"/>
                <a:gridCol w="926371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Weekly Tracker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This week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Last week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Week -2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Week -3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</a:rPr>
                        <a:t>Week -4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Week-5</a:t>
                      </a:r>
                      <a:endParaRPr kumimoji="0" 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</a:tr>
              <a:tr h="335668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 1</a:t>
                      </a:r>
                      <a:endParaRPr kumimoji="0" lang="en-US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35668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 2</a:t>
                      </a:r>
                      <a:endParaRPr kumimoji="0" lang="en-US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35668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 3</a:t>
                      </a:r>
                      <a:endParaRPr kumimoji="0" lang="en-US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35668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 4</a:t>
                      </a:r>
                      <a:endParaRPr kumimoji="0" lang="en-US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35668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 5</a:t>
                      </a:r>
                      <a:endParaRPr kumimoji="0" lang="en-US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35668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Deployment 6</a:t>
                      </a:r>
                      <a:endParaRPr kumimoji="0" lang="en-US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35668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????????</a:t>
                      </a:r>
                      <a:endParaRPr kumimoji="0" lang="en-US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Group 8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339908"/>
              </p:ext>
            </p:extLst>
          </p:nvPr>
        </p:nvGraphicFramePr>
        <p:xfrm>
          <a:off x="6705600" y="381000"/>
          <a:ext cx="2438400" cy="4436166"/>
        </p:xfrm>
        <a:graphic>
          <a:graphicData uri="http://schemas.openxmlformats.org/drawingml/2006/table">
            <a:tbl>
              <a:tblPr/>
              <a:tblGrid>
                <a:gridCol w="2438400"/>
              </a:tblGrid>
              <a:tr h="117861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EYInterstate" pitchFamily="2" charset="0"/>
                        </a:rPr>
                        <a:t>Comments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</a:tr>
              <a:tr h="2289114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Schedule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  <a:endParaRPr kumimoji="0" lang="en-US" sz="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466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Resource Management.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655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RAIDs.</a:t>
                      </a:r>
                      <a:r>
                        <a:rPr kumimoji="0" lang="en-US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854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Change Control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GB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  <a:endParaRPr kumimoji="0" lang="en-GB" sz="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anchor="ctr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8344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800" b="0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General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Pct val="59000"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kumimoji="0" lang="en-US" sz="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7486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4"/>
          <p:cNvSpPr>
            <a:spLocks/>
          </p:cNvSpPr>
          <p:nvPr/>
        </p:nvSpPr>
        <p:spPr bwMode="gray">
          <a:xfrm>
            <a:off x="-2460" y="-3265"/>
            <a:ext cx="7672502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l" defTabSz="955675" eaLnBrk="0" hangingPunct="0">
              <a:spcAft>
                <a:spcPts val="0"/>
              </a:spcAft>
              <a:defRPr/>
            </a:pPr>
            <a:r>
              <a:rPr lang="en-US" sz="2400" b="1" kern="0" dirty="0" smtClean="0">
                <a:solidFill>
                  <a:srgbClr val="646464"/>
                </a:solidFill>
                <a:latin typeface="EYInterstate"/>
              </a:rPr>
              <a:t>Program RAG Definitions</a:t>
            </a:r>
            <a:endParaRPr lang="en-US" sz="2400" kern="0" dirty="0">
              <a:solidFill>
                <a:srgbClr val="646464"/>
              </a:solidFill>
              <a:latin typeface="EYInterstate"/>
            </a:endParaRPr>
          </a:p>
        </p:txBody>
      </p:sp>
      <p:graphicFrame>
        <p:nvGraphicFramePr>
          <p:cNvPr id="93" name="Table 92"/>
          <p:cNvGraphicFramePr>
            <a:graphicFrameLocks noGrp="1"/>
          </p:cNvGraphicFramePr>
          <p:nvPr/>
        </p:nvGraphicFramePr>
        <p:xfrm>
          <a:off x="251519" y="731558"/>
          <a:ext cx="8640961" cy="5918747"/>
        </p:xfrm>
        <a:graphic>
          <a:graphicData uri="http://schemas.openxmlformats.org/drawingml/2006/table">
            <a:tbl>
              <a:tblPr/>
              <a:tblGrid>
                <a:gridCol w="1424881"/>
                <a:gridCol w="2607568"/>
                <a:gridCol w="2448272"/>
                <a:gridCol w="2160240"/>
              </a:tblGrid>
              <a:tr h="571376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Category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u="none" strike="noStrike" kern="1200" dirty="0" smtClean="0">
                          <a:solidFill>
                            <a:srgbClr val="000000"/>
                          </a:solidFill>
                          <a:latin typeface="EYInterstate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rgbClr val="000000"/>
                          </a:solidFill>
                          <a:latin typeface="EYInterstate" pitchFamily="2" charset="0"/>
                        </a:rPr>
                        <a:t>AMBER</a:t>
                      </a:r>
                      <a:endParaRPr lang="en-US" sz="1400" b="0" dirty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GB" sz="1400" b="0" i="0" u="none" strike="noStrike" kern="1200" dirty="0" smtClean="0">
                          <a:solidFill>
                            <a:srgbClr val="000000"/>
                          </a:solidFill>
                          <a:latin typeface="EYInterstate" pitchFamily="2" charset="0"/>
                          <a:ea typeface="+mn-ea"/>
                          <a:cs typeface="+mn-cs"/>
                        </a:rPr>
                        <a:t>GREEN</a:t>
                      </a:r>
                      <a:endParaRPr lang="en-GB" sz="1400" b="0" i="0" u="none" strike="noStrike" kern="1200" dirty="0">
                        <a:solidFill>
                          <a:srgbClr val="000000"/>
                        </a:solidFill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686393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Overall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The highest RAG status will be taken as a default unless a holistic view of the workstream suggests otherwise. i.e. The Overall RAG status will be RED if at least one of the individual statuses is RED.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The highest RAG status will be taken as a default unless a holistic view of the workstream suggests otherwise. i.e. The Overall RAG status will be AMBER if at least one or the highest individual statuses is AMBER.</a:t>
                      </a:r>
                      <a:endParaRPr lang="en-US" sz="1000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The highest RAG status will be taken as a default unless a holistic view of the workstream suggests otherwise. i.e. The Overall RAG status will be GREEN if</a:t>
                      </a:r>
                      <a:r>
                        <a:rPr lang="en-GB" sz="1000" b="0" i="0" u="none" strike="noStrike" baseline="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 all are GREEN</a:t>
                      </a:r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.</a:t>
                      </a:r>
                      <a:endParaRPr lang="en-GB" sz="10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80146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Scope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RED: (Functional or Non Functional) Scope is significantly changing or agreement will be beyond the cut-off date required thereby compromising the development schedule.  No Scope agreed.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AMBER: Scope is under review or there are significant changes proposed, where Impact</a:t>
                      </a:r>
                      <a:r>
                        <a:rPr lang="en-GB" sz="1000" baseline="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 is being adequately managed.</a:t>
                      </a:r>
                      <a:endParaRPr lang="en-US" sz="1000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GREEN: - Scope has been agreed along with the budget and timeline.</a:t>
                      </a:r>
                      <a:endParaRPr lang="en-GB" sz="10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92181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Schedule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RED: There are no plans in place or the various plan levels do not align OR the critical path is compromised due to failure to deliver to targets or dependencies.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AMBER: Remediation of the plan level alignment is in hand OR there are significant impacts, threats (or opportunities) that may invalidate the plan baseline. 1</a:t>
                      </a:r>
                      <a:r>
                        <a:rPr lang="en-GB" sz="1000" baseline="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 or more milestones at risk but actions in place to manage impact.</a:t>
                      </a:r>
                      <a:endParaRPr lang="en-US" sz="1000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GREEN: Plans are baselined against which progress is tracking within a tolerance.</a:t>
                      </a:r>
                      <a:endParaRPr lang="en-GB" sz="10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0737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Budget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RED: The budget is greater than +/-20% of the baseline for either the total lifecycle or the Full Year budget or there is no approved budget or financial framework in place (or in progress) for charges. ETC</a:t>
                      </a:r>
                      <a:r>
                        <a:rPr lang="en-GB" sz="1000" b="0" i="0" u="none" strike="noStrike" baseline="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 Vs. Baseline.</a:t>
                      </a:r>
                      <a:endParaRPr lang="en-GB" sz="1000" b="0" i="0" u="none" strike="noStrike" dirty="0" smtClean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AMBER: The budget is greater than +/-10% of the baseline for either the total life or the FY.  Also, is there are significant issues with costs not being tracked or accounting issues (e.g. duplicate or missing Accruals).</a:t>
                      </a:r>
                      <a:endParaRPr lang="en-US" sz="1000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GREEN: The budget is tracking within a tolerance of the baseline and the financial framework and costs models are in order. Tracking +/-</a:t>
                      </a:r>
                      <a:r>
                        <a:rPr lang="en-GB" sz="1000" b="0" i="0" u="none" strike="noStrike" baseline="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 5% of baseline.</a:t>
                      </a:r>
                      <a:endParaRPr lang="en-GB" sz="10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0737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RAID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RED: There are one or more Critical Risks with priority of (9),</a:t>
                      </a:r>
                      <a:r>
                        <a:rPr lang="en-GB" sz="1000" b="0" i="0" u="none" strike="noStrike" baseline="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 Issue with Impact of (3)</a:t>
                      </a:r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 RAID items that have passed their target required by/resolution/mitigation date.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AMBER: There are significant number (&gt;5) where the Issue is rated</a:t>
                      </a:r>
                      <a:r>
                        <a:rPr lang="en-GB" sz="1000" baseline="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 (3) and priority is (4) or 6 for Risk for</a:t>
                      </a:r>
                      <a:r>
                        <a:rPr lang="en-GB" sz="10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 items that are beyond their target required by/resolution/mitigation date.</a:t>
                      </a:r>
                      <a:endParaRPr lang="en-US" sz="1000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GREEN: There may be RAID items, but these are being pro-actively managed or within a manageable tolerance of the target dates.</a:t>
                      </a:r>
                      <a:endParaRPr lang="en-GB" sz="10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0737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Resources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RED: Recruitment or rotation is causing a significant impact on the schedule or budget, e.g. Likely to impact the critical path or compromise ability to deliver as per the agreed schedule.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AMBER: There are resource challenges but where the Project/Program is able to maintain tactical/remediation activities to mitigate the impact to the project.</a:t>
                      </a:r>
                      <a:endParaRPr lang="en-GB" sz="10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GREEN: There are no resourcing issues or they are being managed so as the project schedule and budget are still viable.</a:t>
                      </a:r>
                      <a:endParaRPr lang="en-GB" sz="10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7276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4"/>
          <p:cNvSpPr>
            <a:spLocks/>
          </p:cNvSpPr>
          <p:nvPr/>
        </p:nvSpPr>
        <p:spPr bwMode="gray">
          <a:xfrm>
            <a:off x="-2460" y="-3265"/>
            <a:ext cx="7672502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l" defTabSz="955675" eaLnBrk="0" hangingPunct="0">
              <a:spcAft>
                <a:spcPts val="0"/>
              </a:spcAft>
              <a:defRPr/>
            </a:pPr>
            <a:r>
              <a:rPr lang="en-US" sz="2400" b="1" kern="0" dirty="0" smtClean="0">
                <a:solidFill>
                  <a:srgbClr val="646464"/>
                </a:solidFill>
                <a:latin typeface="EYInterstate"/>
              </a:rPr>
              <a:t>Program RAG Definitions</a:t>
            </a:r>
            <a:endParaRPr lang="en-US" sz="2400" kern="0" dirty="0">
              <a:solidFill>
                <a:srgbClr val="646464"/>
              </a:solidFill>
              <a:latin typeface="EYInterstate"/>
            </a:endParaRPr>
          </a:p>
        </p:txBody>
      </p:sp>
      <p:graphicFrame>
        <p:nvGraphicFramePr>
          <p:cNvPr id="93" name="Table 92"/>
          <p:cNvGraphicFramePr>
            <a:graphicFrameLocks noGrp="1"/>
          </p:cNvGraphicFramePr>
          <p:nvPr/>
        </p:nvGraphicFramePr>
        <p:xfrm>
          <a:off x="251519" y="731558"/>
          <a:ext cx="8640961" cy="5918747"/>
        </p:xfrm>
        <a:graphic>
          <a:graphicData uri="http://schemas.openxmlformats.org/drawingml/2006/table">
            <a:tbl>
              <a:tblPr/>
              <a:tblGrid>
                <a:gridCol w="1424881"/>
                <a:gridCol w="2607568"/>
                <a:gridCol w="2448272"/>
                <a:gridCol w="2160240"/>
              </a:tblGrid>
              <a:tr h="571376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Category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u="none" strike="noStrike" kern="1200" dirty="0" smtClean="0">
                          <a:solidFill>
                            <a:srgbClr val="000000"/>
                          </a:solidFill>
                          <a:latin typeface="EYInterstate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rgbClr val="000000"/>
                          </a:solidFill>
                          <a:latin typeface="EYInterstate" pitchFamily="2" charset="0"/>
                        </a:rPr>
                        <a:t>AMBER</a:t>
                      </a:r>
                      <a:endParaRPr lang="en-US" sz="1400" b="0" dirty="0">
                        <a:solidFill>
                          <a:srgbClr val="000000"/>
                        </a:solidFill>
                        <a:latin typeface="EYInterstate" pitchFamily="2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GB" sz="1400" b="0" i="0" u="none" strike="noStrike" kern="1200" dirty="0" smtClean="0">
                          <a:solidFill>
                            <a:srgbClr val="000000"/>
                          </a:solidFill>
                          <a:latin typeface="EYInterstate" pitchFamily="2" charset="0"/>
                          <a:ea typeface="+mn-ea"/>
                          <a:cs typeface="+mn-cs"/>
                        </a:rPr>
                        <a:t>GREEN</a:t>
                      </a:r>
                      <a:endParaRPr lang="en-GB" sz="1400" b="0" i="0" u="none" strike="noStrike" kern="1200" dirty="0">
                        <a:solidFill>
                          <a:srgbClr val="000000"/>
                        </a:solidFill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686393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Overall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The highest RAG status will be taken as a default unless a holistic view of the workstream suggests otherwise. i.e. The Overall RAG status will be RED if at least one of the individual statuses is RED.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The highest RAG status will be taken as a default unless a holistic view of the workstream suggests otherwise. i.e. The Overall RAG status will be AMBER if at least one or the highest individual statuses is AMBER.</a:t>
                      </a:r>
                      <a:endParaRPr lang="en-US" sz="1000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The highest RAG status will be taken as a default unless a holistic view of the workstream suggests otherwise. i.e. The Overall RAG status will be GREEN if</a:t>
                      </a:r>
                      <a:r>
                        <a:rPr lang="en-GB" sz="1000" b="0" i="0" u="none" strike="noStrike" baseline="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 all are GREEN</a:t>
                      </a:r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.</a:t>
                      </a:r>
                      <a:endParaRPr lang="en-GB" sz="10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80146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Scope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RED: (Functional or Non Functional) Scope is significantly changing or agreement will be beyond the cut-off date required thereby compromising the development schedule.  No Scope agreed.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AMBER: Scope is under review or there are significant changes proposed, where Impact</a:t>
                      </a:r>
                      <a:r>
                        <a:rPr lang="en-GB" sz="1000" baseline="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 is being adequately managed.</a:t>
                      </a:r>
                      <a:endParaRPr lang="en-US" sz="1000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GREEN: - Scope has been agreed along with the budget and timeline.</a:t>
                      </a:r>
                      <a:endParaRPr lang="en-GB" sz="10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92181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Schedule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RED: There are no plans in place or the various plan levels do not align OR the critical path is compromised due to failure to deliver to targets or dependencies.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AMBER: Remediation of the plan level alignment is in hand OR there are significant impacts, threats (or opportunities) that may invalidate the plan baseline. 1</a:t>
                      </a:r>
                      <a:r>
                        <a:rPr lang="en-GB" sz="1000" baseline="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 or more milestones at risk but actions in place to manage impact.</a:t>
                      </a:r>
                      <a:endParaRPr lang="en-US" sz="1000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GREEN: Plans are baselined against which progress is tracking within a tolerance.</a:t>
                      </a:r>
                      <a:endParaRPr lang="en-GB" sz="10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0737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Budget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RED: The budget is greater than +/-20% of the baseline for either the total lifecycle or the Full Year budget or there is no approved budget or financial framework in place (or in progress) for charges. ETC</a:t>
                      </a:r>
                      <a:r>
                        <a:rPr lang="en-GB" sz="1000" b="0" i="0" u="none" strike="noStrike" baseline="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 Vs. Baseline.</a:t>
                      </a:r>
                      <a:endParaRPr lang="en-GB" sz="1000" b="0" i="0" u="none" strike="noStrike" dirty="0" smtClean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AMBER: The budget is greater than +/-10% of the baseline for either the total life or the FY.  Also, is there are significant issues with costs not being tracked or accounting issues (e.g. duplicate or missing Accruals).</a:t>
                      </a:r>
                      <a:endParaRPr lang="en-US" sz="1000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GREEN: The budget is tracking within a tolerance of the baseline and the financial framework and costs models are in order. Tracking +/-</a:t>
                      </a:r>
                      <a:r>
                        <a:rPr lang="en-GB" sz="1000" b="0" i="0" u="none" strike="noStrike" baseline="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 5% of baseline.</a:t>
                      </a:r>
                      <a:endParaRPr lang="en-GB" sz="10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0737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RAID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RED: There are one or more Critical Risks with priority of (9),</a:t>
                      </a:r>
                      <a:r>
                        <a:rPr lang="en-GB" sz="1000" b="0" i="0" u="none" strike="noStrike" baseline="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 Issue with Impact of (3)</a:t>
                      </a:r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 RAID items that have passed their target required by/resolution/mitigation date.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AMBER: There are significant number (&gt;5) where the Issue is rated</a:t>
                      </a:r>
                      <a:r>
                        <a:rPr lang="en-GB" sz="1000" baseline="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 (3) and priority is (4) or 6 for Risk for</a:t>
                      </a:r>
                      <a:r>
                        <a:rPr lang="en-GB" sz="100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 items that are beyond their target required by/resolution/mitigation date.</a:t>
                      </a:r>
                      <a:endParaRPr lang="en-US" sz="1000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GREEN: There may be RAID items, but these are being pro-actively managed or within a manageable tolerance of the target dates.</a:t>
                      </a:r>
                      <a:endParaRPr lang="en-GB" sz="10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0737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Resources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RED: Recruitment or rotation is causing a significant impact on the schedule or budget, e.g. Likely to impact the critical path or compromise ability to deliver as per the agreed schedule.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AMBER: There are resource challenges but where the Project/Program is able to maintain tactical/remediation activities to mitigate the impact to the project.</a:t>
                      </a:r>
                      <a:endParaRPr lang="en-GB" sz="10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000" b="0" i="0" u="none" strike="noStrike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EYInterstate Light" pitchFamily="2" charset="0"/>
                        </a:rPr>
                        <a:t>GREEN: There are no resourcing issues or they are being managed so as the project schedule and budget are still viable.</a:t>
                      </a:r>
                      <a:endParaRPr lang="en-GB" sz="1000" b="0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latin typeface="EYInterstate Light" pitchFamily="2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D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3823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Y_Handout">
  <a:themeElements>
    <a:clrScheme name="EY dark print-ready">
      <a:dk1>
        <a:srgbClr val="FFFFFF"/>
      </a:dk1>
      <a:lt1>
        <a:srgbClr val="FFFFFF"/>
      </a:lt1>
      <a:dk2>
        <a:srgbClr val="333333"/>
      </a:dk2>
      <a:lt2>
        <a:srgbClr val="FFE600"/>
      </a:lt2>
      <a:accent1>
        <a:srgbClr val="7F7E82"/>
      </a:accent1>
      <a:accent2>
        <a:srgbClr val="FFE600"/>
      </a:accent2>
      <a:accent3>
        <a:srgbClr val="999999"/>
      </a:accent3>
      <a:accent4>
        <a:srgbClr val="F0F0F0"/>
      </a:accent4>
      <a:accent5>
        <a:srgbClr val="00A3AE"/>
      </a:accent5>
      <a:accent6>
        <a:srgbClr val="7FD1D6"/>
      </a:accent6>
      <a:hlink>
        <a:srgbClr val="336699"/>
      </a:hlink>
      <a:folHlink>
        <a:srgbClr val="7030A0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Y_Handout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1793</Words>
  <Application>Microsoft Office PowerPoint</Application>
  <PresentationFormat>On-screen Show (4:3)</PresentationFormat>
  <Paragraphs>229</Paragraphs>
  <Slides>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Office Theme</vt:lpstr>
      <vt:lpstr>EY_Handout</vt:lpstr>
      <vt:lpstr>M&amp;C Sub-Program RAG Definitions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M&amp;C Program RAG definitions</dc:title>
  <dc:creator>Wale Agbaje</dc:creator>
  <cp:lastModifiedBy>Wale Agbaje</cp:lastModifiedBy>
  <cp:revision>19</cp:revision>
  <dcterms:created xsi:type="dcterms:W3CDTF">2006-08-16T00:00:00Z</dcterms:created>
  <dcterms:modified xsi:type="dcterms:W3CDTF">2013-01-02T10:38:46Z</dcterms:modified>
</cp:coreProperties>
</file>