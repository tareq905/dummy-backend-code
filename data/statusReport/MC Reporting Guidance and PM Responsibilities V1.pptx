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9" r:id="rId5"/>
  </p:sldMasterIdLst>
  <p:notesMasterIdLst>
    <p:notesMasterId r:id="rId13"/>
  </p:notesMasterIdLst>
  <p:handoutMasterIdLst>
    <p:handoutMasterId r:id="rId14"/>
  </p:handoutMasterIdLst>
  <p:sldIdLst>
    <p:sldId id="256" r:id="rId6"/>
    <p:sldId id="290" r:id="rId7"/>
    <p:sldId id="291" r:id="rId8"/>
    <p:sldId id="287" r:id="rId9"/>
    <p:sldId id="277" r:id="rId10"/>
    <p:sldId id="294" r:id="rId11"/>
    <p:sldId id="293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5CB9E"/>
    <a:srgbClr val="000000"/>
    <a:srgbClr val="F04C3E"/>
    <a:srgbClr val="2C973E"/>
    <a:srgbClr val="91278F"/>
    <a:srgbClr val="C893C7"/>
    <a:srgbClr val="0081AE"/>
    <a:srgbClr val="7FC0D6"/>
    <a:srgbClr val="F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18" autoAdjust="0"/>
    <p:restoredTop sz="94660" autoAdjust="0"/>
  </p:normalViewPr>
  <p:slideViewPr>
    <p:cSldViewPr showGuides="1">
      <p:cViewPr varScale="1">
        <p:scale>
          <a:sx n="86" d="100"/>
          <a:sy n="86" d="100"/>
        </p:scale>
        <p:origin x="-197" y="-72"/>
      </p:cViewPr>
      <p:guideLst>
        <p:guide orient="horz" pos="2160"/>
        <p:guide orient="horz" pos="663"/>
        <p:guide orient="horz" pos="890"/>
        <p:guide orient="horz" pos="165"/>
        <p:guide orient="horz" pos="3726"/>
        <p:guide orient="horz" pos="3929"/>
        <p:guide pos="295"/>
        <p:guide pos="5465"/>
        <p:guide pos="2881"/>
        <p:guide pos="2948"/>
        <p:guide pos="28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50" d="100"/>
          <a:sy n="50" d="100"/>
        </p:scale>
        <p:origin x="-2676" y="-2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C2A9-352A-405C-B096-06C098ED1DF8}" type="datetime4">
              <a:rPr lang="en-GB" smtClean="0"/>
              <a:pPr/>
              <a:t>22 July 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DC869-C2E1-44ED-9DB6-69CB5C596C3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4327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463675" y="8782194"/>
            <a:ext cx="1501775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fld id="{9CAA74A6-10E5-41A7-8B8F-A766F5656366}" type="datetime4">
              <a:rPr lang="en-GB" smtClean="0"/>
              <a:pPr/>
              <a:t>22 July 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46412" y="8782194"/>
            <a:ext cx="31257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4212" y="8782194"/>
            <a:ext cx="6873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r>
              <a:rPr lang="en-GB" dirty="0" smtClean="0"/>
              <a:t>Page </a:t>
            </a:r>
            <a:fld id="{8E4BB8F6-032B-4FD4-9A99-EF51C8EFB7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31420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spcAft>
        <a:spcPts val="30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300"/>
      </a:spcAft>
      <a:defRPr sz="1000" b="1" kern="1200">
        <a:solidFill>
          <a:schemeClr val="accent1"/>
        </a:solidFill>
        <a:latin typeface="+mn-lt"/>
        <a:ea typeface="+mn-ea"/>
        <a:cs typeface="+mn-cs"/>
      </a:defRPr>
    </a:lvl2pPr>
    <a:lvl3pPr marL="18097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52425" indent="-171450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54292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7396" y="598866"/>
            <a:ext cx="6387973" cy="808038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7396" y="1457705"/>
            <a:ext cx="6387973" cy="579438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0"/>
          </p:nvPr>
        </p:nvSpPr>
        <p:spPr>
          <a:xfrm>
            <a:off x="2277398" y="2085484"/>
            <a:ext cx="2800282" cy="315912"/>
          </a:xfrm>
        </p:spPr>
        <p:txBody>
          <a:bodyPr wrap="none" anchor="ctr" anchorCtr="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5" name="AutoShape 89"/>
          <p:cNvSpPr>
            <a:spLocks noChangeAspect="1" noChangeArrowheads="1"/>
          </p:cNvSpPr>
          <p:nvPr userDrawn="1"/>
        </p:nvSpPr>
        <p:spPr bwMode="gray">
          <a:xfrm rot="5400000">
            <a:off x="478759" y="3924773"/>
            <a:ext cx="1314453" cy="2286258"/>
          </a:xfrm>
          <a:custGeom>
            <a:avLst/>
            <a:gdLst>
              <a:gd name="connsiteX0" fmla="*/ 0 w 3313112"/>
              <a:gd name="connsiteY0" fmla="*/ 2279114 h 2279114"/>
              <a:gd name="connsiteX1" fmla="*/ 2509749 w 3313112"/>
              <a:gd name="connsiteY1" fmla="*/ 0 h 2279114"/>
              <a:gd name="connsiteX2" fmla="*/ 3313112 w 3313112"/>
              <a:gd name="connsiteY2" fmla="*/ 2279114 h 2279114"/>
              <a:gd name="connsiteX3" fmla="*/ 0 w 3313112"/>
              <a:gd name="connsiteY3" fmla="*/ 2279114 h 2279114"/>
              <a:gd name="connsiteX0" fmla="*/ 0 w 919162"/>
              <a:gd name="connsiteY0" fmla="*/ 2209264 h 2279114"/>
              <a:gd name="connsiteX1" fmla="*/ 115799 w 919162"/>
              <a:gd name="connsiteY1" fmla="*/ 0 h 2279114"/>
              <a:gd name="connsiteX2" fmla="*/ 919162 w 919162"/>
              <a:gd name="connsiteY2" fmla="*/ 2279114 h 2279114"/>
              <a:gd name="connsiteX3" fmla="*/ 0 w 919162"/>
              <a:gd name="connsiteY3" fmla="*/ 2209264 h 2279114"/>
              <a:gd name="connsiteX0" fmla="*/ 0 w 1283493"/>
              <a:gd name="connsiteY0" fmla="*/ 2278320 h 2279114"/>
              <a:gd name="connsiteX1" fmla="*/ 480130 w 1283493"/>
              <a:gd name="connsiteY1" fmla="*/ 0 h 2279114"/>
              <a:gd name="connsiteX2" fmla="*/ 1283493 w 1283493"/>
              <a:gd name="connsiteY2" fmla="*/ 2279114 h 2279114"/>
              <a:gd name="connsiteX3" fmla="*/ 0 w 1283493"/>
              <a:gd name="connsiteY3" fmla="*/ 2278320 h 2279114"/>
              <a:gd name="connsiteX0" fmla="*/ 0 w 1309690"/>
              <a:gd name="connsiteY0" fmla="*/ 2278320 h 2286258"/>
              <a:gd name="connsiteX1" fmla="*/ 480130 w 1309690"/>
              <a:gd name="connsiteY1" fmla="*/ 0 h 2286258"/>
              <a:gd name="connsiteX2" fmla="*/ 1309690 w 1309690"/>
              <a:gd name="connsiteY2" fmla="*/ 2286258 h 2286258"/>
              <a:gd name="connsiteX3" fmla="*/ 0 w 1309690"/>
              <a:gd name="connsiteY3" fmla="*/ 2278320 h 2286258"/>
              <a:gd name="connsiteX0" fmla="*/ 0 w 1312072"/>
              <a:gd name="connsiteY0" fmla="*/ 2280701 h 2286258"/>
              <a:gd name="connsiteX1" fmla="*/ 482512 w 1312072"/>
              <a:gd name="connsiteY1" fmla="*/ 0 h 2286258"/>
              <a:gd name="connsiteX2" fmla="*/ 1312072 w 1312072"/>
              <a:gd name="connsiteY2" fmla="*/ 2286258 h 2286258"/>
              <a:gd name="connsiteX3" fmla="*/ 0 w 1312072"/>
              <a:gd name="connsiteY3" fmla="*/ 2280701 h 2286258"/>
              <a:gd name="connsiteX0" fmla="*/ 0 w 1314453"/>
              <a:gd name="connsiteY0" fmla="*/ 2283082 h 2286258"/>
              <a:gd name="connsiteX1" fmla="*/ 484893 w 1314453"/>
              <a:gd name="connsiteY1" fmla="*/ 0 h 2286258"/>
              <a:gd name="connsiteX2" fmla="*/ 1314453 w 1314453"/>
              <a:gd name="connsiteY2" fmla="*/ 2286258 h 2286258"/>
              <a:gd name="connsiteX3" fmla="*/ 0 w 1314453"/>
              <a:gd name="connsiteY3" fmla="*/ 2283082 h 228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3" h="2286258">
                <a:moveTo>
                  <a:pt x="0" y="2283082"/>
                </a:moveTo>
                <a:lnTo>
                  <a:pt x="484893" y="0"/>
                </a:lnTo>
                <a:lnTo>
                  <a:pt x="1314453" y="2286258"/>
                </a:lnTo>
                <a:lnTo>
                  <a:pt x="0" y="2283082"/>
                </a:lnTo>
                <a:close/>
              </a:path>
            </a:pathLst>
          </a:cu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rot="10800000" vert="eaVert" wrap="none" lIns="0" tIns="0" rIns="0" bIns="0" anchor="ctr"/>
          <a:lstStyle/>
          <a:p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6" name="Freeform 8"/>
          <p:cNvSpPr>
            <a:spLocks/>
          </p:cNvSpPr>
          <p:nvPr userDrawn="1"/>
        </p:nvSpPr>
        <p:spPr bwMode="gray">
          <a:xfrm>
            <a:off x="2279115" y="2403072"/>
            <a:ext cx="6864885" cy="2493085"/>
          </a:xfrm>
          <a:custGeom>
            <a:avLst/>
            <a:gdLst/>
            <a:ahLst/>
            <a:cxnLst>
              <a:cxn ang="0">
                <a:pos x="0" y="1852"/>
              </a:cxn>
              <a:cxn ang="0">
                <a:pos x="5081" y="0"/>
              </a:cxn>
              <a:cxn ang="0">
                <a:pos x="5081" y="968"/>
              </a:cxn>
              <a:cxn ang="0">
                <a:pos x="0" y="1852"/>
              </a:cxn>
            </a:cxnLst>
            <a:rect l="0" t="0" r="r" b="b"/>
            <a:pathLst>
              <a:path w="5081" h="1852">
                <a:moveTo>
                  <a:pt x="0" y="1852"/>
                </a:moveTo>
                <a:lnTo>
                  <a:pt x="5081" y="0"/>
                </a:lnTo>
                <a:lnTo>
                  <a:pt x="5081" y="968"/>
                </a:lnTo>
                <a:lnTo>
                  <a:pt x="0" y="185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4" name="Picture 2" descr="C:\Users\x81870\Desktop\EY_Logo2_grey_CMYK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5749263"/>
            <a:ext cx="982022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" t="2338" r="87690" b="86318"/>
          <a:stretch/>
        </p:blipFill>
        <p:spPr bwMode="auto">
          <a:xfrm>
            <a:off x="-2471365" y="1413570"/>
            <a:ext cx="2264229" cy="97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-3348880" y="44624"/>
            <a:ext cx="3181771" cy="1224000"/>
          </a:xfrm>
          <a:prstGeom prst="rect">
            <a:avLst/>
          </a:prstGeom>
          <a:solidFill>
            <a:srgbClr val="FFE87F"/>
          </a:solidFill>
        </p:spPr>
        <p:txBody>
          <a:bodyPr wrap="square" lIns="36000" tIns="36576" rIns="36000" bIns="36000" rtlCol="0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buClr>
                <a:schemeClr val="accent2"/>
              </a:buClr>
              <a:buSzPct val="70000"/>
            </a:pPr>
            <a:r>
              <a:rPr lang="en-US" sz="1200" b="1" dirty="0" smtClean="0">
                <a:solidFill>
                  <a:schemeClr val="accent1"/>
                </a:solidFill>
              </a:rPr>
              <a:t>About color themes</a:t>
            </a:r>
          </a:p>
          <a:p>
            <a:pPr marL="347663">
              <a:lnSpc>
                <a:spcPct val="100000"/>
              </a:lnSpc>
              <a:spcAft>
                <a:spcPts val="200"/>
              </a:spcAft>
              <a:buSzPct val="100000"/>
            </a:pPr>
            <a:r>
              <a:rPr lang="en-US" sz="1000" b="1" dirty="0" smtClean="0">
                <a:solidFill>
                  <a:schemeClr val="accent1"/>
                </a:solidFill>
              </a:rPr>
              <a:t>Choose the appropriate design theme</a:t>
            </a:r>
            <a:r>
              <a:rPr lang="en-US" sz="1000" b="1" baseline="0" dirty="0" smtClean="0">
                <a:solidFill>
                  <a:schemeClr val="accent1"/>
                </a:solidFill>
              </a:rPr>
              <a:t> </a:t>
            </a:r>
            <a:r>
              <a:rPr lang="en-US" sz="1000" b="1" dirty="0" smtClean="0">
                <a:solidFill>
                  <a:schemeClr val="accent1"/>
                </a:solidFill>
              </a:rPr>
              <a:t>for your presentation. </a:t>
            </a:r>
            <a:r>
              <a:rPr lang="en-US" sz="1000" dirty="0" smtClean="0">
                <a:solidFill>
                  <a:schemeClr val="accent1"/>
                </a:solidFill>
              </a:rPr>
              <a:t>The first two options on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the design tab are correct EY themes, these two are the only ones that should</a:t>
            </a:r>
            <a:r>
              <a:rPr lang="en-US" sz="1000" baseline="0" dirty="0" smtClean="0">
                <a:solidFill>
                  <a:schemeClr val="accent1"/>
                </a:solidFill>
              </a:rPr>
              <a:t> be used</a:t>
            </a:r>
            <a:r>
              <a:rPr lang="en-US" sz="1000" dirty="0" smtClean="0">
                <a:solidFill>
                  <a:schemeClr val="accent1"/>
                </a:solidFill>
              </a:rPr>
              <a:t>. (1) dark backgrounds for onscreen; (2) light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backgrounds for handouts.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2484784" y="1648346"/>
            <a:ext cx="1525587" cy="684076"/>
          </a:xfrm>
          <a:prstGeom prst="rect">
            <a:avLst/>
          </a:prstGeom>
          <a:noFill/>
          <a:ln w="25400">
            <a:solidFill>
              <a:srgbClr val="F04C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-2556792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1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-3298592" y="30799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!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-1764704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2</a:t>
            </a:r>
            <a:endParaRPr lang="en-US" sz="1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321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3550" y="261938"/>
            <a:ext cx="8213725" cy="790575"/>
          </a:xfrm>
        </p:spPr>
        <p:txBody>
          <a:bodyPr anchor="t"/>
          <a:lstStyle>
            <a:lvl1pPr algn="l">
              <a:defRPr sz="3000" b="1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Title only</a:t>
            </a:r>
            <a:endParaRPr lang="en-GB" dirty="0"/>
          </a:p>
        </p:txBody>
      </p:sp>
      <p:sp>
        <p:nvSpPr>
          <p:cNvPr id="35" name="Line 34"/>
          <p:cNvSpPr>
            <a:spLocks noChangeShapeType="1"/>
          </p:cNvSpPr>
          <p:nvPr userDrawn="1"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6" name="Line 35"/>
          <p:cNvSpPr>
            <a:spLocks noChangeShapeType="1"/>
          </p:cNvSpPr>
          <p:nvPr userDrawn="1"/>
        </p:nvSpPr>
        <p:spPr bwMode="auto">
          <a:xfrm>
            <a:off x="468313" y="1087438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67" name="Line 11"/>
          <p:cNvSpPr>
            <a:spLocks noChangeShapeType="1"/>
          </p:cNvSpPr>
          <p:nvPr userDrawn="1"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10" name="Picture 2" descr="C:\Users\x81870\Desktop\Project Winterfell\EY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17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1715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w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81870\Desktop\Project Winterfell\EY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0075" cy="790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288"/>
            <a:ext cx="8220075" cy="4503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Body text – Arial 24 point</a:t>
            </a:r>
          </a:p>
          <a:p>
            <a:pPr lvl="1"/>
            <a:r>
              <a:rPr lang="en-US" dirty="0" smtClean="0"/>
              <a:t>Heading – Arial 24 point bold</a:t>
            </a:r>
          </a:p>
          <a:p>
            <a:pPr lvl="2"/>
            <a:r>
              <a:rPr lang="en-US" dirty="0" smtClean="0"/>
              <a:t>Bullet 1 – Arial 24 point</a:t>
            </a:r>
          </a:p>
          <a:p>
            <a:pPr lvl="3"/>
            <a:r>
              <a:rPr lang="en-US" dirty="0" smtClean="0"/>
              <a:t>Bullet 2 – Arial 20 point</a:t>
            </a:r>
          </a:p>
          <a:p>
            <a:pPr lvl="4"/>
            <a:r>
              <a:rPr lang="en-US" dirty="0" smtClean="0"/>
              <a:t>Bullet 3 – Arial 18 point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68313" y="1052736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485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4" r:id="rId2"/>
    <p:sldLayoutId id="2147483675" r:id="rId3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600"/>
        </a:spcBef>
        <a:buFontTx/>
        <a:buNone/>
        <a:defRPr sz="2400" b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55600" indent="-3556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3302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35050" indent="-3175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43608" y="2204864"/>
            <a:ext cx="6624736" cy="8270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M&amp;C Program Reporting Process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057821" y="2924944"/>
            <a:ext cx="5386387" cy="61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FontTx/>
              <a:buNone/>
              <a:defRPr sz="2400" b="1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July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Purpose of Reporting</a:t>
            </a:r>
            <a:endParaRPr lang="en-GB" sz="32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Increase awareness of the use of standard templates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Ensure understanding of program reporting inputs/outputs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Regular Summary indicating Project/Program health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Ability to summarise progress by date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Highlight key RAID items for Management attention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Ensure Execs and </a:t>
            </a:r>
            <a:r>
              <a:rPr lang="en-GB" sz="1400" dirty="0" smtClean="0">
                <a:solidFill>
                  <a:srgbClr val="646464"/>
                </a:solidFill>
              </a:rPr>
              <a:t>Sponsors </a:t>
            </a:r>
            <a:r>
              <a:rPr lang="en-GB" sz="1400" dirty="0">
                <a:solidFill>
                  <a:srgbClr val="646464"/>
                </a:solidFill>
              </a:rPr>
              <a:t>gain a snapshot of program status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Enable the business to make informed decisions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Allow metrics to be provided which highlight common challenges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Demonstrate that the project/program is being controlled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Ensure quality and consist reporting across all programs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699792" y="6381328"/>
            <a:ext cx="129614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July 2013</a:t>
            </a:r>
          </a:p>
        </p:txBody>
      </p:sp>
    </p:spTree>
    <p:extLst>
      <p:ext uri="{BB962C8B-B14F-4D97-AF65-F5344CB8AC3E}">
        <p14:creationId xmlns:p14="http://schemas.microsoft.com/office/powerpoint/2010/main" val="140628643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Reporting Types</a:t>
            </a:r>
            <a:endParaRPr lang="en-GB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0075" cy="4968552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sz="1100" b="1" dirty="0" smtClean="0"/>
              <a:t>Program IT Services IT PM Tool report</a:t>
            </a: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050" b="0" dirty="0">
                <a:solidFill>
                  <a:srgbClr val="646464"/>
                </a:solidFill>
              </a:rPr>
              <a:t>4 </a:t>
            </a:r>
            <a:r>
              <a:rPr lang="en-GB" sz="1050" b="0" dirty="0" smtClean="0">
                <a:solidFill>
                  <a:srgbClr val="646464"/>
                </a:solidFill>
              </a:rPr>
              <a:t>reports are required to </a:t>
            </a:r>
            <a:r>
              <a:rPr lang="en-GB" sz="1050" b="0" dirty="0">
                <a:solidFill>
                  <a:srgbClr val="646464"/>
                </a:solidFill>
              </a:rPr>
              <a:t>be </a:t>
            </a:r>
            <a:r>
              <a:rPr lang="en-GB" sz="1050" b="0" dirty="0" smtClean="0">
                <a:solidFill>
                  <a:srgbClr val="646464"/>
                </a:solidFill>
              </a:rPr>
              <a:t>submitted fortnightly on </a:t>
            </a:r>
            <a:r>
              <a:rPr lang="en-GB" sz="1050" b="0" dirty="0">
                <a:solidFill>
                  <a:srgbClr val="646464"/>
                </a:solidFill>
              </a:rPr>
              <a:t>to Cross Org </a:t>
            </a:r>
            <a:r>
              <a:rPr lang="en-GB" sz="1050" b="0" dirty="0" smtClean="0">
                <a:solidFill>
                  <a:srgbClr val="646464"/>
                </a:solidFill>
              </a:rPr>
              <a:t>PMO, Program </a:t>
            </a:r>
            <a:r>
              <a:rPr lang="en-GB" sz="1050" b="0" dirty="0" err="1" smtClean="0">
                <a:solidFill>
                  <a:srgbClr val="646464"/>
                </a:solidFill>
              </a:rPr>
              <a:t>workstream</a:t>
            </a:r>
            <a:r>
              <a:rPr lang="en-GB" sz="1050" b="0" dirty="0" smtClean="0">
                <a:solidFill>
                  <a:srgbClr val="646464"/>
                </a:solidFill>
              </a:rPr>
              <a:t> listed below.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Messaging </a:t>
            </a:r>
            <a:r>
              <a:rPr lang="en-GB" sz="1100" dirty="0" err="1">
                <a:solidFill>
                  <a:schemeClr val="accent1">
                    <a:lumMod val="75000"/>
                  </a:schemeClr>
                </a:solidFill>
              </a:rPr>
              <a:t>Lync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Messaging Outlook/Exchange.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Collaboration Release 1.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Collaboration Release 2.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1100" b="1" dirty="0" smtClean="0"/>
              <a:t>M&amp;C </a:t>
            </a:r>
            <a:r>
              <a:rPr lang="en-GB" sz="1100" b="1" dirty="0" smtClean="0"/>
              <a:t>Sub-Program </a:t>
            </a:r>
            <a:r>
              <a:rPr lang="en-GB" sz="1100" b="1" dirty="0"/>
              <a:t>h</a:t>
            </a:r>
            <a:r>
              <a:rPr lang="en-GB" sz="1100" b="1" dirty="0" smtClean="0"/>
              <a:t>ealth report.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This is a weekly </a:t>
            </a:r>
            <a:r>
              <a:rPr lang="en-GB" sz="1100" dirty="0" err="1">
                <a:solidFill>
                  <a:schemeClr val="accent1">
                    <a:lumMod val="75000"/>
                  </a:schemeClr>
                </a:solidFill>
              </a:rPr>
              <a:t>workstream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 Sub-report dashboard extract from the IT PM Tool report. It is a RAG snapshot of the status of each individual program summary of the program delivery lifecycle stages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1100" b="1" dirty="0"/>
              <a:t>Monthly Exec </a:t>
            </a:r>
            <a:r>
              <a:rPr lang="en-GB" sz="1100" b="1" dirty="0" smtClean="0"/>
              <a:t>report.</a:t>
            </a:r>
            <a:endParaRPr lang="en-GB" sz="1100" b="1" dirty="0"/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This is </a:t>
            </a:r>
            <a:r>
              <a:rPr lang="en-GB" sz="1100" dirty="0" smtClean="0">
                <a:solidFill>
                  <a:schemeClr val="accent1">
                    <a:lumMod val="75000"/>
                  </a:schemeClr>
                </a:solidFill>
              </a:rPr>
              <a:t>a monthly report 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produced by </a:t>
            </a:r>
            <a:r>
              <a:rPr lang="en-GB" sz="1100" dirty="0" err="1">
                <a:solidFill>
                  <a:schemeClr val="accent1">
                    <a:lumMod val="75000"/>
                  </a:schemeClr>
                </a:solidFill>
              </a:rPr>
              <a:t>workstream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 Leads </a:t>
            </a:r>
            <a:r>
              <a:rPr lang="en-GB" sz="1100" dirty="0" smtClean="0">
                <a:solidFill>
                  <a:schemeClr val="accent1">
                    <a:lumMod val="75000"/>
                  </a:schemeClr>
                </a:solidFill>
              </a:rPr>
              <a:t>for 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GB" sz="1100" dirty="0" smtClean="0">
                <a:solidFill>
                  <a:schemeClr val="accent1">
                    <a:lumMod val="75000"/>
                  </a:schemeClr>
                </a:solidFill>
              </a:rPr>
              <a:t>rogram Sponsors and Executives. There is currently no specific cycle for this report.</a:t>
            </a:r>
            <a:endParaRPr lang="en-GB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29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844" y="3717032"/>
            <a:ext cx="6286500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ight Brace 6"/>
          <p:cNvSpPr/>
          <p:nvPr/>
        </p:nvSpPr>
        <p:spPr>
          <a:xfrm>
            <a:off x="7023295" y="3573016"/>
            <a:ext cx="573041" cy="1584176"/>
          </a:xfrm>
          <a:prstGeom prst="rightBrac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e 7"/>
          <p:cNvSpPr/>
          <p:nvPr/>
        </p:nvSpPr>
        <p:spPr>
          <a:xfrm>
            <a:off x="921396" y="4365104"/>
            <a:ext cx="626268" cy="2160240"/>
          </a:xfrm>
          <a:prstGeom prst="leftBrac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032" y="5229200"/>
            <a:ext cx="13276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Weekly Program </a:t>
            </a:r>
          </a:p>
          <a:p>
            <a:r>
              <a:rPr lang="en-GB" sz="1100" b="1" dirty="0" smtClean="0"/>
              <a:t>Sub-report</a:t>
            </a:r>
            <a:endParaRPr lang="en-GB" sz="11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88634" y="4149660"/>
            <a:ext cx="13340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Fortnightly IT PM</a:t>
            </a:r>
          </a:p>
          <a:p>
            <a:r>
              <a:rPr lang="en-GB" sz="1100" b="1" dirty="0" smtClean="0"/>
              <a:t>Tool Reports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9189220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gray">
          <a:xfrm>
            <a:off x="76200" y="1012491"/>
            <a:ext cx="8534400" cy="164968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required to complete the IT PM Tool reports fortnightly using the standard IT Services Template</a:t>
            </a: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also required to complete the weekly Sub-Program 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Report</a:t>
            </a:r>
            <a:r>
              <a:rPr lang="en-GB" sz="1100" dirty="0">
                <a:solidFill>
                  <a:srgbClr val="646464"/>
                </a:solidFill>
                <a:latin typeface="+mj-lt"/>
              </a:rPr>
              <a:t> 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using the standard PMO project lifecycle template.</a:t>
            </a:r>
            <a:endParaRPr lang="en-GB" sz="1100" dirty="0" smtClean="0">
              <a:solidFill>
                <a:srgbClr val="646464"/>
              </a:solidFill>
              <a:latin typeface="+mj-lt"/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required to 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represent 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dependant </a:t>
            </a:r>
            <a:r>
              <a:rPr lang="en-GB" sz="1100" dirty="0" err="1" smtClean="0">
                <a:solidFill>
                  <a:srgbClr val="646464"/>
                </a:solidFill>
                <a:latin typeface="+mj-lt"/>
              </a:rPr>
              <a:t>workstream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 program statuses in all their reports  e.g. Transition, Change and Deployment.</a:t>
            </a: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require to attend the fortnightly QA session, where the reports are reviewed an</a:t>
            </a: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required to attend the weekly Program Management meeting to present /defend their </a:t>
            </a:r>
            <a:r>
              <a:rPr lang="en-GB" sz="1100" dirty="0" err="1" smtClean="0">
                <a:solidFill>
                  <a:srgbClr val="646464"/>
                </a:solidFill>
                <a:latin typeface="+mj-lt"/>
              </a:rPr>
              <a:t>workstream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 statuses reports.</a:t>
            </a:r>
            <a:endParaRPr lang="en-GB" sz="1100" dirty="0" smtClean="0">
              <a:solidFill>
                <a:srgbClr val="646464"/>
              </a:solidFill>
              <a:latin typeface="+mj-lt"/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304800" y="228601"/>
            <a:ext cx="85344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b="1" dirty="0" smtClean="0">
                <a:solidFill>
                  <a:srgbClr val="646464"/>
                </a:solidFill>
              </a:rPr>
              <a:t>M&amp;C PM Reporting Responsibilities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 rot="10800000" flipV="1">
            <a:off x="2987824" y="6453336"/>
            <a:ext cx="1728192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July 2013</a:t>
            </a:r>
            <a:endParaRPr lang="en-GB" sz="11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33887"/>
              </p:ext>
            </p:extLst>
          </p:nvPr>
        </p:nvGraphicFramePr>
        <p:xfrm>
          <a:off x="331193" y="2662172"/>
          <a:ext cx="8308499" cy="2800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439"/>
                <a:gridCol w="1365212"/>
                <a:gridCol w="1503712"/>
                <a:gridCol w="1503712"/>
                <a:gridCol w="1503712"/>
                <a:gridCol w="1503712"/>
              </a:tblGrid>
              <a:tr h="39217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Monday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Tuesday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Wednesday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Thursday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Friday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</a:tr>
              <a:tr h="763611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Reports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/>
                        <a:t>PM’s submit reports to </a:t>
                      </a:r>
                      <a:r>
                        <a:rPr lang="en-GB" sz="1000" dirty="0" err="1" smtClean="0"/>
                        <a:t>Workstream</a:t>
                      </a:r>
                      <a:r>
                        <a:rPr lang="en-GB" sz="1000" dirty="0" smtClean="0"/>
                        <a:t> Leads. (Weekly)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err="1" smtClean="0"/>
                        <a:t>Workstream</a:t>
                      </a:r>
                      <a:r>
                        <a:rPr lang="en-GB" sz="1000" dirty="0" smtClean="0"/>
                        <a:t> Leads review and consolidate</a:t>
                      </a:r>
                      <a:r>
                        <a:rPr lang="en-GB" sz="1000" baseline="0" dirty="0" smtClean="0"/>
                        <a:t> status reports. (Weekly)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err="1" smtClean="0"/>
                        <a:t>Workstream</a:t>
                      </a:r>
                      <a:r>
                        <a:rPr lang="en-GB" sz="1000" dirty="0" smtClean="0"/>
                        <a:t> Leads/PM’s Submit</a:t>
                      </a:r>
                      <a:r>
                        <a:rPr lang="en-GB" sz="1000" baseline="0" dirty="0" smtClean="0"/>
                        <a:t> Program Status Reports &amp; </a:t>
                      </a:r>
                      <a:r>
                        <a:rPr lang="en-GB" sz="1000" baseline="0" dirty="0" err="1" smtClean="0"/>
                        <a:t>Workstream</a:t>
                      </a:r>
                      <a:r>
                        <a:rPr lang="en-GB" sz="1000" baseline="0" dirty="0" smtClean="0"/>
                        <a:t> Sub-report </a:t>
                      </a:r>
                      <a:r>
                        <a:rPr lang="en-GB" sz="1000" dirty="0" smtClean="0"/>
                        <a:t>(Weekly,</a:t>
                      </a:r>
                      <a:r>
                        <a:rPr lang="en-GB" sz="1000" baseline="0" dirty="0" smtClean="0"/>
                        <a:t> </a:t>
                      </a:r>
                      <a:r>
                        <a:rPr lang="en-GB" sz="1000" baseline="0" dirty="0" smtClean="0"/>
                        <a:t>3pm)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aseline="0" dirty="0" smtClean="0"/>
                        <a:t>Complete Exec level report pack. (Ad-Hoc only as requested)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691162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Meetings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/>
                        <a:t>Attend M&amp;C </a:t>
                      </a:r>
                      <a:r>
                        <a:rPr lang="en-GB" sz="1000" dirty="0" smtClean="0"/>
                        <a:t>Program </a:t>
                      </a:r>
                      <a:r>
                        <a:rPr lang="en-GB" sz="1000" dirty="0" smtClean="0"/>
                        <a:t>Management</a:t>
                      </a:r>
                      <a:r>
                        <a:rPr lang="en-GB" sz="1000" baseline="0" dirty="0" smtClean="0"/>
                        <a:t> </a:t>
                      </a:r>
                      <a:r>
                        <a:rPr lang="en-GB" sz="1000" baseline="0" dirty="0" smtClean="0"/>
                        <a:t>Meeting (</a:t>
                      </a:r>
                      <a:r>
                        <a:rPr lang="en-GB" sz="1000" baseline="0" dirty="0" smtClean="0"/>
                        <a:t>Weekly, 1pm) 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PMO Fortnightly</a:t>
                      </a:r>
                      <a:r>
                        <a:rPr lang="en-GB" sz="1000" baseline="0" dirty="0" smtClean="0"/>
                        <a:t> QA Review (Involves a different PM for every </a:t>
                      </a:r>
                      <a:r>
                        <a:rPr lang="en-GB" sz="1000" baseline="0" dirty="0" smtClean="0"/>
                        <a:t>session (Fortnightly 10am)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431606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Feedback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QA</a:t>
                      </a:r>
                      <a:r>
                        <a:rPr lang="en-GB" sz="1000" baseline="0" dirty="0" smtClean="0"/>
                        <a:t> </a:t>
                      </a:r>
                      <a:r>
                        <a:rPr lang="en-GB" sz="1000" dirty="0" smtClean="0"/>
                        <a:t>Report feedback</a:t>
                      </a:r>
                      <a:r>
                        <a:rPr lang="en-GB" sz="1000" baseline="0" dirty="0" smtClean="0"/>
                        <a:t> to </a:t>
                      </a:r>
                      <a:r>
                        <a:rPr lang="en-GB" sz="1000" baseline="0" dirty="0" smtClean="0"/>
                        <a:t>PM’s (Fortnightly, All day)</a:t>
                      </a:r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67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2996952"/>
            <a:ext cx="8064896" cy="808038"/>
          </a:xfrm>
        </p:spPr>
        <p:txBody>
          <a:bodyPr/>
          <a:lstStyle/>
          <a:p>
            <a:r>
              <a:rPr lang="en-GB" sz="2000" dirty="0"/>
              <a:t>A</a:t>
            </a:r>
            <a:r>
              <a:rPr lang="en-GB" sz="2000" dirty="0" smtClean="0"/>
              <a:t>ppendix 1: Program Report Links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65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Report Links</a:t>
            </a:r>
            <a:endParaRPr lang="en-GB" sz="26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Standard ITS reporting </a:t>
            </a:r>
            <a:r>
              <a:rPr lang="en-GB" sz="1200" dirty="0">
                <a:solidFill>
                  <a:srgbClr val="646464"/>
                </a:solidFill>
              </a:rPr>
              <a:t>t</a:t>
            </a:r>
            <a:r>
              <a:rPr lang="en-GB" sz="1200" dirty="0" smtClean="0">
                <a:solidFill>
                  <a:srgbClr val="646464"/>
                </a:solidFill>
              </a:rPr>
              <a:t>emplate</a:t>
            </a:r>
            <a:endParaRPr lang="en-GB" sz="12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Standard M&amp;C Sub-</a:t>
            </a:r>
            <a:r>
              <a:rPr lang="en-GB" sz="1200" dirty="0">
                <a:solidFill>
                  <a:srgbClr val="646464"/>
                </a:solidFill>
              </a:rPr>
              <a:t>R</a:t>
            </a:r>
            <a:r>
              <a:rPr lang="en-GB" sz="1200" dirty="0" smtClean="0">
                <a:solidFill>
                  <a:srgbClr val="646464"/>
                </a:solidFill>
              </a:rPr>
              <a:t>eport health report </a:t>
            </a:r>
            <a:r>
              <a:rPr lang="en-GB" sz="1200" dirty="0">
                <a:solidFill>
                  <a:srgbClr val="646464"/>
                </a:solidFill>
              </a:rPr>
              <a:t>t</a:t>
            </a:r>
            <a:r>
              <a:rPr lang="en-GB" sz="1200" dirty="0" smtClean="0">
                <a:solidFill>
                  <a:srgbClr val="646464"/>
                </a:solidFill>
              </a:rPr>
              <a:t>emplate.</a:t>
            </a:r>
            <a:endParaRPr lang="en-GB" sz="12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PMO RAG guidance.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Exec pack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M&amp;C reporting cadence</a:t>
            </a:r>
            <a:endParaRPr lang="en-GB" sz="1200" dirty="0">
              <a:solidFill>
                <a:srgbClr val="646464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699792" y="6381328"/>
            <a:ext cx="129614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July 2013</a:t>
            </a:r>
          </a:p>
        </p:txBody>
      </p:sp>
    </p:spTree>
    <p:extLst>
      <p:ext uri="{BB962C8B-B14F-4D97-AF65-F5344CB8AC3E}">
        <p14:creationId xmlns:p14="http://schemas.microsoft.com/office/powerpoint/2010/main" val="19335536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94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6.0&quot;&gt;&lt;object type=&quot;1&quot; unique_id=&quot;10001&quot;&gt;&lt;object type=&quot;8&quot; unique_id=&quot;10032&quot;&gt;&lt;/object&gt;&lt;object type=&quot;2&quot; unique_id=&quot;10033&quot;&gt;&lt;object type=&quot;3&quot; unique_id=&quot;10034&quot;&gt;&lt;property id=&quot;20148&quot; value=&quot;5&quot;/&gt;&lt;property id=&quot;20300&quot; value=&quot;Slide 1&quot;/&gt;&lt;property id=&quot;20307&quot; value=&quot;256&quot;/&gt;&lt;/object&gt;&lt;object type=&quot;3&quot; unique_id=&quot;10035&quot;&gt;&lt;property id=&quot;20148&quot; value=&quot;5&quot;/&gt;&lt;property id=&quot;20300&quot; value=&quot;Slide 2 - &amp;quot;Agenda&amp;quot;&quot;/&gt;&lt;property id=&quot;20307&quot; value=&quot;258&quot;/&gt;&lt;/object&gt;&lt;object type=&quot;3&quot; unique_id=&quot;10036&quot;&gt;&lt;property id=&quot;20148&quot; value=&quot;5&quot;/&gt;&lt;property id=&quot;20300&quot; value=&quot;Slide 3 - &amp;quot;Text styles&amp;quot;&quot;/&gt;&lt;property id=&quot;20307&quot; value=&quot;259&quot;/&gt;&lt;/object&gt;&lt;object type=&quot;3&quot; unique_id=&quot;10037&quot;&gt;&lt;property id=&quot;20148&quot; value=&quot;5&quot;/&gt;&lt;property id=&quot;20300&quot; value=&quot;Slide 4 - &amp;quot;Divider (Pattern)&amp;quot;&quot;/&gt;&lt;property id=&quot;20307&quot; value=&quot;260&quot;/&gt;&lt;/object&gt;&lt;object type=&quot;3&quot; unique_id=&quot;10038&quot;&gt;&lt;property id=&quot;20148&quot; value=&quot;5&quot;/&gt;&lt;property id=&quot;20300&quot; value=&quot;Slide 5 - &amp;quot;Text and chart&amp;quot;&quot;/&gt;&lt;property id=&quot;20307&quot; value=&quot;261&quot;/&gt;&lt;/object&gt;&lt;object type=&quot;3&quot; unique_id=&quot;10039&quot;&gt;&lt;property id=&quot;20148&quot; value=&quot;5&quot;/&gt;&lt;property id=&quot;20300&quot; value=&quot;Slide 6 - &amp;quot;Table and text&amp;quot;&quot;/&gt;&lt;property id=&quot;20307&quot; value=&quot;265&quot;/&gt;&lt;/object&gt;&lt;object type=&quot;3&quot; unique_id=&quot;10040&quot;&gt;&lt;property id=&quot;20148&quot; value=&quot;5&quot;/&gt;&lt;property id=&quot;20300&quot; value=&quot;Slide 7 - &amp;quot;Text and table&amp;quot;&quot;/&gt;&lt;property id=&quot;20307&quot; value=&quot;266&quot;/&gt;&lt;/object&gt;&lt;object type=&quot;3&quot; unique_id=&quot;10041&quot;&gt;&lt;property id=&quot;20148&quot; value=&quot;5&quot;/&gt;&lt;property id=&quot;20300&quot; value=&quot;Slide 8 - &amp;quot;Thank you&amp;quot;&quot;/&gt;&lt;property id=&quot;20307&quot; value=&quot;267&quot;/&gt;&lt;/object&gt;&lt;/object&gt;&lt;/object&gt;&lt;/database&gt;"/>
</p:tagLst>
</file>

<file path=ppt/theme/theme1.xml><?xml version="1.0" encoding="utf-8"?>
<a:theme xmlns:a="http://schemas.openxmlformats.org/drawingml/2006/main" name="White background - Onscreen">
  <a:themeElements>
    <a:clrScheme name="EY White">
      <a:dk1>
        <a:srgbClr val="333333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D200"/>
      </a:accent2>
      <a:accent3>
        <a:srgbClr val="999999"/>
      </a:accent3>
      <a:accent4>
        <a:srgbClr val="FFFFFF"/>
      </a:accent4>
      <a:accent5>
        <a:srgbClr val="00A3AE"/>
      </a:accent5>
      <a:accent6>
        <a:srgbClr val="C0C0C0"/>
      </a:accent6>
      <a:hlink>
        <a:srgbClr val="2C973E"/>
      </a:hlink>
      <a:folHlink>
        <a:srgbClr val="91278F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dirty="0" err="1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2F2F2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Y White">
    <a:dk1>
      <a:srgbClr val="333333"/>
    </a:dk1>
    <a:lt1>
      <a:srgbClr val="808080"/>
    </a:lt1>
    <a:dk2>
      <a:srgbClr val="FFFFFF"/>
    </a:dk2>
    <a:lt2>
      <a:srgbClr val="808080"/>
    </a:lt2>
    <a:accent1>
      <a:srgbClr val="808080"/>
    </a:accent1>
    <a:accent2>
      <a:srgbClr val="FFD200"/>
    </a:accent2>
    <a:accent3>
      <a:srgbClr val="999999"/>
    </a:accent3>
    <a:accent4>
      <a:srgbClr val="FFFFFF"/>
    </a:accent4>
    <a:accent5>
      <a:srgbClr val="00A3AE"/>
    </a:accent5>
    <a:accent6>
      <a:srgbClr val="C0C0C0"/>
    </a:accent6>
    <a:hlink>
      <a:srgbClr val="2C973E"/>
    </a:hlink>
    <a:folHlink>
      <a:srgbClr val="91278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MSIBM-75-4674</_dlc_DocId>
    <_dlc_DocIdUrl xmlns="0cbe1240-e4fe-486d-8edc-2712abb96eb4">
      <Url>http://sp.ey.net/msibm/_layouts/DocIdRedir.aspx?ID=MSIBM-75-4674</Url>
      <Description>MSIBM-75-4674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6B9540-358A-404D-8F9B-CF27B675102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91DB12A-87B0-4601-BD2B-4598290CED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883385-F8DB-4994-8419-096BF5A1945F}">
  <ds:schemaRefs>
    <ds:schemaRef ds:uri="http://purl.org/dc/terms/"/>
    <ds:schemaRef ds:uri="http://schemas.microsoft.com/office/infopath/2007/PartnerControls"/>
    <ds:schemaRef ds:uri="http://www.w3.org/XML/1998/namespace"/>
    <ds:schemaRef ds:uri="0cbe1240-e4fe-486d-8edc-2712abb96eb4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sharepoint/v4"/>
  </ds:schemaRefs>
</ds:datastoreItem>
</file>

<file path=customXml/itemProps4.xml><?xml version="1.0" encoding="utf-8"?>
<ds:datastoreItem xmlns:ds="http://schemas.openxmlformats.org/officeDocument/2006/customXml" ds:itemID="{B2EB9C3D-F080-4322-959E-9201AB384E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</TotalTime>
  <Words>425</Words>
  <Application>Microsoft Office PowerPoint</Application>
  <PresentationFormat>On-screen Show (4:3)</PresentationFormat>
  <Paragraphs>67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White background - Onscreen</vt:lpstr>
      <vt:lpstr>PowerPoint Presentation</vt:lpstr>
      <vt:lpstr>Purpose of Reporting</vt:lpstr>
      <vt:lpstr>Reporting Types</vt:lpstr>
      <vt:lpstr>PowerPoint Presentation</vt:lpstr>
      <vt:lpstr>Appendix 1: Program Report Links </vt:lpstr>
      <vt:lpstr>Report Links</vt:lpstr>
      <vt:lpstr>Thank you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20130705 Program Weekly Sub Program Health Report 5 July</dc:title>
  <dc:creator>Wale Agbaje</dc:creator>
  <cp:lastModifiedBy>Wale Agbaje</cp:lastModifiedBy>
  <cp:revision>81</cp:revision>
  <cp:lastPrinted>2013-07-08T14:40:50Z</cp:lastPrinted>
  <dcterms:created xsi:type="dcterms:W3CDTF">2013-07-02T10:58:24Z</dcterms:created>
  <dcterms:modified xsi:type="dcterms:W3CDTF">2013-07-22T10:53:27Z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7ce62faa-f99f-4aad-941f-921b47853f3f</vt:lpwstr>
  </property>
</Properties>
</file>