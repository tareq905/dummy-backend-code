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8"/>
  </p:notesMasterIdLst>
  <p:sldIdLst>
    <p:sldId id="258" r:id="rId6"/>
    <p:sldId id="257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eil Sahdev" initials="NS" lastIdx="1" clrIdx="0"/>
  <p:cmAuthor id="1" name="Wale Agbaje" initials="WA" lastIdx="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231" autoAdjust="0"/>
    <p:restoredTop sz="94676" autoAdjust="0"/>
  </p:normalViewPr>
  <p:slideViewPr>
    <p:cSldViewPr>
      <p:cViewPr>
        <p:scale>
          <a:sx n="90" d="100"/>
          <a:sy n="90" d="100"/>
        </p:scale>
        <p:origin x="-240" y="-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BAA913-E2A9-42D5-B1E8-523C4BEDE6E7}" type="datetimeFigureOut">
              <a:rPr lang="en-GB" smtClean="0"/>
              <a:pPr/>
              <a:t>01/11/2013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DC5EC-3446-49E3-9BA4-DF0148D6158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53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26" cstate="print"/>
          <a:srcRect r="4826" b="14285"/>
          <a:stretch>
            <a:fillRect/>
          </a:stretch>
        </p:blipFill>
        <p:spPr bwMode="auto">
          <a:xfrm>
            <a:off x="7838348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44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5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44" name="Group 2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62286"/>
              </p:ext>
            </p:extLst>
          </p:nvPr>
        </p:nvGraphicFramePr>
        <p:xfrm>
          <a:off x="75619" y="2819400"/>
          <a:ext cx="4355123" cy="3510966"/>
        </p:xfrm>
        <a:graphic>
          <a:graphicData uri="http://schemas.openxmlformats.org/drawingml/2006/table">
            <a:tbl>
              <a:tblPr/>
              <a:tblGrid>
                <a:gridCol w="4355123"/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B. KEY ACCOMPLISHMENTS THIS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171365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ATT have completed their Security tasks for all three Data Centres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700" b="0" i="0" u="none" strike="noStrike" kern="1200" cap="none" normalizeH="0" baseline="0" noProof="0" dirty="0" smtClean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The EYQA AD Trust was established successfully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700" b="0" i="0" u="none" strike="noStrike" kern="1200" cap="none" normalizeH="0" baseline="0" noProof="0" dirty="0" smtClean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The GAP team have successfully completed the build phase of ‘new’ FIM</a:t>
                      </a:r>
                    </a:p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700" b="0" i="0" u="none" strike="noStrike" kern="1200" cap="none" normalizeH="0" baseline="0" noProof="0" dirty="0" smtClean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The CR to SOW2 to extend ATT Consulting Resources has been approved by both EY and ATT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700" b="0" i="0" u="none" strike="noStrike" kern="1200" cap="none" normalizeH="0" baseline="0" noProof="0" dirty="0" smtClean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Support models for both pre-pilot and pilot defined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235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C.  ACTIVITIES BEHIND SCHEDULE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774324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Completing remaining CoLo build work for Amsterdam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700" b="0" i="0" u="none" strike="noStrike" kern="1200" cap="none" normalizeH="0" baseline="0" noProof="0" dirty="0" smtClean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Finalising contract change for SBA orders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700" b="0" i="0" u="none" strike="noStrike" kern="1200" cap="none" normalizeH="0" baseline="0" noProof="0" dirty="0" smtClean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Building the eBond solution – way-forward agreed with ATT, dependant on EY resource availability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700" b="0" i="0" u="none" strike="noStrike" kern="1200" cap="none" normalizeH="0" baseline="0" noProof="0" dirty="0" smtClean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Completing the GAP testing required for Lync testing to commence and establishing the Production Trust (I522)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442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D.  KEY ACTIVITIES PLANNED NEXT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4379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Establish the Production trust with ATT then commence Infrastructure Readiness Tests.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kern="1200" cap="none" normalizeH="0" baseline="0" noProof="0" dirty="0" smtClean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Agree contracts for procuring future SBAs and implementing additional security controls (services).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kern="1200" cap="none" normalizeH="0" baseline="0" noProof="0" dirty="0" smtClean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Progress remaining activities to finalise  Amsterdam colo spaces.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kern="1200" cap="none" normalizeH="0" baseline="0" noProof="0" dirty="0" smtClean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Commence functional testing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kern="1200" cap="none" normalizeH="0" baseline="0" noProof="0" dirty="0" smtClean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Rollout Lync to ~400 IT Staff (pre-pilot)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34100" name="Group 8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271042"/>
              </p:ext>
            </p:extLst>
          </p:nvPr>
        </p:nvGraphicFramePr>
        <p:xfrm>
          <a:off x="4585490" y="3048000"/>
          <a:ext cx="4495800" cy="2894117"/>
        </p:xfrm>
        <a:graphic>
          <a:graphicData uri="http://schemas.openxmlformats.org/drawingml/2006/table">
            <a:tbl>
              <a:tblPr/>
              <a:tblGrid>
                <a:gridCol w="1665838"/>
                <a:gridCol w="1305962"/>
                <a:gridCol w="685800"/>
                <a:gridCol w="838200"/>
              </a:tblGrid>
              <a:tr h="209848">
                <a:tc gridSpan="2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G. MATTERS FOR IMMEDIATE ATTENTION – typically specific current issues or scope changes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116852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Issues to be resolved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Recommended Action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Target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Owner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395840">
                <a:tc>
                  <a:txBody>
                    <a:bodyPr/>
                    <a:lstStyle/>
                    <a:p>
                      <a:pPr marL="87313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I216 - </a:t>
                      </a: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There is no complete test </a:t>
                      </a: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environment </a:t>
                      </a: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for the M&amp;C Solution so once users are 'live' there is no integrated  way of testing enhancements / fixes</a:t>
                      </a: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Look at options for developing the right environment for post go live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8572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01-Nov-13</a:t>
                      </a: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Geoff Thomson</a:t>
                      </a: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2844">
                <a:tc>
                  <a:txBody>
                    <a:bodyPr/>
                    <a:lstStyle/>
                    <a:p>
                      <a:pPr marL="87313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I329 - GWAN upgrade decision will arrive too late for Canadian sites </a:t>
                      </a: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Work with GNP team to understand plan for upgrade to Canada sites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15-Nov-13</a:t>
                      </a: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Neil Sahdev</a:t>
                      </a: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5139">
                <a:tc>
                  <a:txBody>
                    <a:bodyPr/>
                    <a:lstStyle/>
                    <a:p>
                      <a:pPr marL="87313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I522 - Lync Pilot and Full Deploy milestones impacted by 2 x external factors</a:t>
                      </a: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Quantify impacts of changes from dependant teams (GAP and AD) then update Lync plan accordingly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06-Nov-13</a:t>
                      </a: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Neil Sahdev</a:t>
                      </a:r>
                    </a:p>
                    <a:p>
                      <a:pPr marL="0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5139">
                <a:tc>
                  <a:txBody>
                    <a:bodyPr/>
                    <a:lstStyle/>
                    <a:p>
                      <a:pPr marL="87313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I489 - There is currently no plan for the delivery of the eBonding Solution for Lync</a:t>
                      </a: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Meet with ATT to agree technical way-fwd </a:t>
                      </a:r>
                      <a:r>
                        <a:rPr kumimoji="0" lang="en-GB" sz="7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and</a:t>
                      </a: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raise request internally for resource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15-Nov-13</a:t>
                      </a: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Neil Sahdev</a:t>
                      </a: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418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Scope Change requests to be approved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Recommended Action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-8572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0016">
                <a:tc>
                  <a:txBody>
                    <a:bodyPr/>
                    <a:lstStyle/>
                    <a:p>
                      <a:pPr marL="87313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CR161 - Additional Security Controls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Approved subject to confirmation from </a:t>
                      </a: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InfoSec </a:t>
                      </a: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and Ops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-8572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0016">
                <a:tc>
                  <a:txBody>
                    <a:bodyPr/>
                    <a:lstStyle/>
                    <a:p>
                      <a:pPr marL="87313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CR TBC - </a:t>
                      </a: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Delays due to two external factors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Quantify impacts of changes from dependant teams (GAP and AD) then update Lync plan accordingly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317" name="Group 2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502505"/>
              </p:ext>
            </p:extLst>
          </p:nvPr>
        </p:nvGraphicFramePr>
        <p:xfrm>
          <a:off x="76200" y="603816"/>
          <a:ext cx="4360985" cy="2191200"/>
        </p:xfrm>
        <a:graphic>
          <a:graphicData uri="http://schemas.openxmlformats.org/drawingml/2006/table">
            <a:tbl>
              <a:tblPr/>
              <a:tblGrid>
                <a:gridCol w="4360985"/>
              </a:tblGrid>
              <a:tr h="115032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A.  </a:t>
                      </a:r>
                      <a:r>
                        <a:rPr kumimoji="0" lang="en-GB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EXECUTIVE SUMMARY – a summary of the progress for this period (not of the initiative)</a:t>
                      </a: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3231" marR="33231" marT="14400" marB="14400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1567152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The team have successfully established the trust connection between EYQA and ATT.</a:t>
                      </a:r>
                    </a:p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GB" sz="700" b="0" i="0" u="none" strike="noStrike" kern="1200" cap="none" normalizeH="0" baseline="0" noProof="0" dirty="0" smtClean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Two external factors have impacted the Lync Program Milestones by an estimated 1 week (I522) :</a:t>
                      </a:r>
                    </a:p>
                    <a:p>
                      <a:pPr marL="228600" marR="0" lvl="0" indent="-2286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The GAP </a:t>
                      </a:r>
                      <a:r>
                        <a:rPr kumimoji="0" lang="en-GB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team were requested to complete some changes on the UVT solution, therefore diverting efforts from their Lync deliverables</a:t>
                      </a:r>
                    </a:p>
                    <a:p>
                      <a:pPr marL="228600" marR="0" lvl="0" indent="-2286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Issues with Production </a:t>
                      </a:r>
                      <a:r>
                        <a:rPr kumimoji="0" lang="en-GB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AD prevented the Lync team from establishing the trust connection between Production and ATT</a:t>
                      </a:r>
                    </a:p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GB" sz="700" b="0" i="0" u="none" strike="noStrike" kern="1200" cap="none" normalizeH="0" baseline="0" noProof="0" dirty="0" smtClean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Implementing additional controls to address a Security requirement for SBAs (“Isolation and Separation of the SBAs within the office locations”) is likely to impact the delivery of Enterprise Voice by months – will most likely need snr </a:t>
                      </a:r>
                      <a:r>
                        <a:rPr kumimoji="0" lang="en-GB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management </a:t>
                      </a:r>
                      <a:r>
                        <a:rPr kumimoji="0" lang="en-GB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decision</a:t>
                      </a:r>
                    </a:p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GB" sz="700" b="0" i="0" u="none" strike="noStrike" kern="1200" cap="none" normalizeH="0" baseline="0" noProof="0" dirty="0" smtClean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Work progresses to define solution for VPN-less access (i.e. EDGE) to mitigate potential call quality issues (R458).</a:t>
                      </a:r>
                    </a:p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GB" sz="700" b="0" i="0" u="none" strike="noStrike" kern="1200" cap="none" normalizeH="0" baseline="0" noProof="0" dirty="0" smtClean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According to available data points approx. half of the countries do not have suitable bandwidth for the deployment of Lync’s voice and/or video capabilities, severely limiting the ability to realise associated benefits.</a:t>
                      </a:r>
                    </a:p>
                  </a:txBody>
                  <a:tcPr marL="33231" marR="33231" marT="14400" marB="14400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42" name="Group 2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298802"/>
              </p:ext>
            </p:extLst>
          </p:nvPr>
        </p:nvGraphicFramePr>
        <p:xfrm>
          <a:off x="4588793" y="609600"/>
          <a:ext cx="4479007" cy="1376630"/>
        </p:xfrm>
        <a:graphic>
          <a:graphicData uri="http://schemas.openxmlformats.org/drawingml/2006/table">
            <a:tbl>
              <a:tblPr/>
              <a:tblGrid>
                <a:gridCol w="1523999"/>
                <a:gridCol w="685800"/>
                <a:gridCol w="609600"/>
                <a:gridCol w="588985"/>
                <a:gridCol w="541297"/>
                <a:gridCol w="529326"/>
              </a:tblGrid>
              <a:tr h="184406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E.  MILESTONES</a:t>
                      </a: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04173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Individual Milestone Name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Planned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Projected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Conf.</a:t>
                      </a:r>
                    </a:p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Rating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Last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This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3561">
                <a:tc>
                  <a:txBody>
                    <a:bodyPr/>
                    <a:lstStyle/>
                    <a:p>
                      <a:pPr algn="l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Plan Updated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20-Sep-13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20-Sep-13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Target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COMPLETE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COMPLETE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</a:tr>
              <a:tr h="123561">
                <a:tc>
                  <a:txBody>
                    <a:bodyPr/>
                    <a:lstStyle/>
                    <a:p>
                      <a:pPr algn="l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Testing Starts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31-Oct-13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05-Nov-13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Target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AMBER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  <a:tr h="123561">
                <a:tc>
                  <a:txBody>
                    <a:bodyPr/>
                    <a:lstStyle/>
                    <a:p>
                      <a:pPr algn="l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Testing Completes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07-Mar-14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14-Mar-14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Target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AMBER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  <a:tr h="123561">
                <a:tc>
                  <a:txBody>
                    <a:bodyPr/>
                    <a:lstStyle/>
                    <a:p>
                      <a:pPr algn="l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Pilot Starts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04-Dec-13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11-Dec-13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Target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AMBER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  <a:tr h="123561">
                <a:tc>
                  <a:txBody>
                    <a:bodyPr/>
                    <a:lstStyle/>
                    <a:p>
                      <a:pPr algn="l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Pilot Completes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24-Jan-14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31-Jan-14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Target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AMBER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  <a:tr h="123561">
                <a:tc>
                  <a:txBody>
                    <a:bodyPr/>
                    <a:lstStyle/>
                    <a:p>
                      <a:pPr algn="l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Deployment </a:t>
                      </a: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Starts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10-Mar-14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17-Mar-14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Target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AMBER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  <a:tr h="146685">
                <a:tc>
                  <a:txBody>
                    <a:bodyPr/>
                    <a:lstStyle/>
                    <a:p>
                      <a:pPr algn="l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Deployment Completes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TBC</a:t>
                      </a: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TBC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Target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Group 2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30221"/>
              </p:ext>
            </p:extLst>
          </p:nvPr>
        </p:nvGraphicFramePr>
        <p:xfrm>
          <a:off x="7570453" y="17252"/>
          <a:ext cx="1503209" cy="535063"/>
        </p:xfrm>
        <a:graphic>
          <a:graphicData uri="http://schemas.openxmlformats.org/drawingml/2006/table">
            <a:tbl>
              <a:tblPr/>
              <a:tblGrid>
                <a:gridCol w="751604"/>
                <a:gridCol w="751605"/>
              </a:tblGrid>
              <a:tr h="152406">
                <a:tc gridSpan="2"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OVERALL INITIATIVE STATUS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188844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Last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This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93813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885746"/>
              </p:ext>
            </p:extLst>
          </p:nvPr>
        </p:nvGraphicFramePr>
        <p:xfrm>
          <a:off x="4580958" y="2057400"/>
          <a:ext cx="4495800" cy="966971"/>
        </p:xfrm>
        <a:graphic>
          <a:graphicData uri="http://schemas.openxmlformats.org/drawingml/2006/table">
            <a:tbl>
              <a:tblPr/>
              <a:tblGrid>
                <a:gridCol w="1582616"/>
                <a:gridCol w="1447800"/>
                <a:gridCol w="685800"/>
                <a:gridCol w="779584"/>
              </a:tblGrid>
              <a:tr h="138113">
                <a:tc gridSpan="2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F.  KEY RISKS – typically future challenges or external circumstances that may affect the initiative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13811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Risks to be addressed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Mitigating Action</a:t>
                      </a: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Target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Owner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19962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R458 - EYRC or other non factored infrastructure constraints may limit deployment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Expedite implementation of EDGE for remote access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10-Mar-14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Neil Sahdev</a:t>
                      </a: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962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R680 - Change freeze may impact Lync timelines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GB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Raise changes in advance, escalate issue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01-Nov-13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Neil Sahdev</a:t>
                      </a: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438475"/>
              </p:ext>
            </p:extLst>
          </p:nvPr>
        </p:nvGraphicFramePr>
        <p:xfrm>
          <a:off x="4572000" y="5935703"/>
          <a:ext cx="4495800" cy="465097"/>
        </p:xfrm>
        <a:graphic>
          <a:graphicData uri="http://schemas.openxmlformats.org/drawingml/2006/table">
            <a:tbl>
              <a:tblPr/>
              <a:tblGrid>
                <a:gridCol w="4495800"/>
              </a:tblGrid>
              <a:tr h="224371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H.  GENERAL COMMENTS – must include reasoning for an overall Red or Amber Status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23282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</a:rPr>
                        <a:t>Moved </a:t>
                      </a: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</a:rPr>
                        <a:t>to “Red” status reflects delay to Pilot and Full Deploy milestones due to late delivery of two critical path inbound dependencies.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Group 270"/>
          <p:cNvGraphicFramePr>
            <a:graphicFrameLocks noGrp="1"/>
          </p:cNvGraphicFramePr>
          <p:nvPr/>
        </p:nvGraphicFramePr>
        <p:xfrm>
          <a:off x="1187624" y="6585504"/>
          <a:ext cx="351692" cy="88326"/>
        </p:xfrm>
        <a:graphic>
          <a:graphicData uri="http://schemas.openxmlformats.org/drawingml/2006/table">
            <a:tbl>
              <a:tblPr/>
              <a:tblGrid>
                <a:gridCol w="351692"/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4C3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Group 270"/>
          <p:cNvGraphicFramePr>
            <a:graphicFrameLocks noGrp="1"/>
          </p:cNvGraphicFramePr>
          <p:nvPr/>
        </p:nvGraphicFramePr>
        <p:xfrm>
          <a:off x="4019816" y="6585320"/>
          <a:ext cx="483613" cy="88326"/>
        </p:xfrm>
        <a:graphic>
          <a:graphicData uri="http://schemas.openxmlformats.org/drawingml/2006/table">
            <a:tbl>
              <a:tblPr/>
              <a:tblGrid>
                <a:gridCol w="483613"/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Group 270"/>
          <p:cNvGraphicFramePr>
            <a:graphicFrameLocks noGrp="1"/>
          </p:cNvGraphicFramePr>
          <p:nvPr/>
        </p:nvGraphicFramePr>
        <p:xfrm>
          <a:off x="6516216" y="6573472"/>
          <a:ext cx="351692" cy="88326"/>
        </p:xfrm>
        <a:graphic>
          <a:graphicData uri="http://schemas.openxmlformats.org/drawingml/2006/table">
            <a:tbl>
              <a:tblPr/>
              <a:tblGrid>
                <a:gridCol w="351692"/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Group 270"/>
          <p:cNvGraphicFramePr>
            <a:graphicFrameLocks noGrp="1"/>
          </p:cNvGraphicFramePr>
          <p:nvPr/>
        </p:nvGraphicFramePr>
        <p:xfrm>
          <a:off x="70340" y="6581034"/>
          <a:ext cx="613229" cy="88326"/>
        </p:xfrm>
        <a:graphic>
          <a:graphicData uri="http://schemas.openxmlformats.org/drawingml/2006/table">
            <a:tbl>
              <a:tblPr/>
              <a:tblGrid>
                <a:gridCol w="613229"/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COMPLETE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2" name="Group 27"/>
          <p:cNvGrpSpPr/>
          <p:nvPr/>
        </p:nvGrpSpPr>
        <p:grpSpPr>
          <a:xfrm>
            <a:off x="-76200" y="6357120"/>
            <a:ext cx="8964489" cy="540206"/>
            <a:chOff x="0" y="6505545"/>
            <a:chExt cx="9711531" cy="540206"/>
          </a:xfrm>
        </p:grpSpPr>
        <p:sp>
          <p:nvSpPr>
            <p:cNvPr id="21" name="TextBox 20"/>
            <p:cNvSpPr txBox="1"/>
            <p:nvPr/>
          </p:nvSpPr>
          <p:spPr bwMode="gray">
            <a:xfrm>
              <a:off x="1639689" y="6576570"/>
              <a:ext cx="2611234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not on track and has significant challenges and/or issues that materially impact the overall successful achievement of the expected outcomes. 	</a:t>
              </a:r>
            </a:p>
          </p:txBody>
        </p:sp>
        <p:sp>
          <p:nvSpPr>
            <p:cNvPr id="23" name="TextBox 22"/>
            <p:cNvSpPr txBox="1"/>
            <p:nvPr/>
          </p:nvSpPr>
          <p:spPr bwMode="gray">
            <a:xfrm>
              <a:off x="674554" y="6657945"/>
              <a:ext cx="663724" cy="1692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r>
                <a:rPr lang="en-US" sz="500" b="1" dirty="0">
                  <a:solidFill>
                    <a:srgbClr val="646464"/>
                  </a:solidFill>
                  <a:latin typeface="EYInterstate Light" pitchFamily="2" charset="0"/>
                </a:rPr>
                <a:t>Fully achieved</a:t>
              </a:r>
              <a:endParaRPr lang="en-GB" sz="500" b="1" kern="0" dirty="0">
                <a:solidFill>
                  <a:srgbClr val="646464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 bwMode="gray">
            <a:xfrm>
              <a:off x="0" y="6505545"/>
              <a:ext cx="4881893" cy="1692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r>
                <a:rPr lang="en-US" sz="500" dirty="0">
                  <a:solidFill>
                    <a:srgbClr val="646464"/>
                  </a:solidFill>
                  <a:latin typeface="EYInterstate Light" pitchFamily="2" charset="0"/>
                </a:rPr>
                <a:t>The overall initiative status is governed by the RAG Status Guidance, summarized below. This guidance also applies to the individual Milestones Stats. </a:t>
              </a:r>
              <a:endParaRPr lang="en-GB" sz="500" kern="0" dirty="0">
                <a:solidFill>
                  <a:srgbClr val="646464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 bwMode="gray">
            <a:xfrm>
              <a:off x="7423210" y="6564722"/>
              <a:ext cx="2288321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on track and has no significant challenges and/or issues that may materially impact the overall successful achievement of the expected outcomes, now or in the future. 	</a:t>
              </a:r>
            </a:p>
          </p:txBody>
        </p:sp>
        <p:sp>
          <p:nvSpPr>
            <p:cNvPr id="27" name="TextBox 26"/>
            <p:cNvSpPr txBox="1"/>
            <p:nvPr/>
          </p:nvSpPr>
          <p:spPr bwMode="gray">
            <a:xfrm>
              <a:off x="4849123" y="6568697"/>
              <a:ext cx="1976087" cy="4770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on track but has some significant challenges and/or issues that may materially impact the overall successful achievement of the expected outcomes. 	</a:t>
              </a:r>
            </a:p>
          </p:txBody>
        </p:sp>
      </p:grpSp>
      <p:sp>
        <p:nvSpPr>
          <p:cNvPr id="30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" name="Rectangle 183"/>
          <p:cNvSpPr txBox="1">
            <a:spLocks noChangeArrowheads="1"/>
          </p:cNvSpPr>
          <p:nvPr/>
        </p:nvSpPr>
        <p:spPr bwMode="gray">
          <a:xfrm>
            <a:off x="2" y="0"/>
            <a:ext cx="7729904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55675" eaLnBrk="0" fontAlgn="base" hangingPunct="0">
              <a:spcBef>
                <a:spcPct val="0"/>
              </a:spcBef>
              <a:defRPr/>
            </a:pPr>
            <a:r>
              <a:rPr lang="en-US" sz="1600" b="1" kern="0" dirty="0">
                <a:solidFill>
                  <a:srgbClr val="646464"/>
                </a:solidFill>
              </a:rPr>
              <a:t>M&amp;C – </a:t>
            </a:r>
            <a:r>
              <a:rPr lang="en-US" sz="1600" b="1" kern="0" dirty="0" smtClean="0">
                <a:solidFill>
                  <a:srgbClr val="646464"/>
                </a:solidFill>
              </a:rPr>
              <a:t>Lync</a:t>
            </a:r>
            <a:r>
              <a:rPr lang="en-US" sz="1600" b="1" kern="0" dirty="0" smtClean="0">
                <a:solidFill>
                  <a:srgbClr val="646464"/>
                </a:solidFill>
              </a:rPr>
              <a:t> – October 2013</a:t>
            </a:r>
          </a:p>
          <a:p>
            <a:pPr defTabSz="955675" eaLnBrk="0" fontAlgn="base" hangingPunct="0">
              <a:spcBef>
                <a:spcPct val="0"/>
              </a:spcBef>
              <a:defRPr/>
            </a:pPr>
            <a:r>
              <a:rPr lang="en-US" sz="1600" kern="0" dirty="0">
                <a:solidFill>
                  <a:srgbClr val="646464"/>
                </a:solidFill>
              </a:rPr>
              <a:t>David Bingham/Neil </a:t>
            </a:r>
            <a:r>
              <a:rPr lang="en-US" sz="1600" kern="0" dirty="0" smtClean="0">
                <a:solidFill>
                  <a:srgbClr val="646464"/>
                </a:solidFill>
              </a:rPr>
              <a:t>Sahdev</a:t>
            </a:r>
            <a:endParaRPr lang="en-US" sz="1600" kern="0" dirty="0">
              <a:solidFill>
                <a:srgbClr val="64646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" name="Rectangle 183"/>
          <p:cNvSpPr txBox="1">
            <a:spLocks noChangeArrowheads="1"/>
          </p:cNvSpPr>
          <p:nvPr/>
        </p:nvSpPr>
        <p:spPr bwMode="gray">
          <a:xfrm>
            <a:off x="2" y="0"/>
            <a:ext cx="7729904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55675" eaLnBrk="0" fontAlgn="base" hangingPunct="0">
              <a:spcBef>
                <a:spcPct val="0"/>
              </a:spcBef>
              <a:defRPr/>
            </a:pPr>
            <a:r>
              <a:rPr lang="en-US" sz="1600" b="1" kern="0" dirty="0">
                <a:solidFill>
                  <a:srgbClr val="646464"/>
                </a:solidFill>
              </a:rPr>
              <a:t>M&amp;C – </a:t>
            </a:r>
            <a:r>
              <a:rPr lang="en-US" sz="1600" b="1" kern="0" dirty="0">
                <a:solidFill>
                  <a:srgbClr val="646464"/>
                </a:solidFill>
              </a:rPr>
              <a:t>Lync</a:t>
            </a:r>
            <a:r>
              <a:rPr lang="en-US" sz="1600" b="1" kern="0" dirty="0">
                <a:solidFill>
                  <a:srgbClr val="646464"/>
                </a:solidFill>
              </a:rPr>
              <a:t> – October 2013</a:t>
            </a:r>
          </a:p>
          <a:p>
            <a:pPr defTabSz="955675" eaLnBrk="0" fontAlgn="base" hangingPunct="0">
              <a:spcBef>
                <a:spcPct val="0"/>
              </a:spcBef>
              <a:defRPr/>
            </a:pPr>
            <a:r>
              <a:rPr lang="en-US" sz="1600" kern="0" dirty="0">
                <a:solidFill>
                  <a:srgbClr val="646464"/>
                </a:solidFill>
              </a:rPr>
              <a:t>David Bingham/Neil Sahdev</a:t>
            </a:r>
            <a:endParaRPr lang="en-US" sz="1600" kern="0" dirty="0">
              <a:solidFill>
                <a:srgbClr val="646464"/>
              </a:solidFill>
            </a:endParaRPr>
          </a:p>
        </p:txBody>
      </p:sp>
      <p:graphicFrame>
        <p:nvGraphicFramePr>
          <p:cNvPr id="24" name="Group 2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093727"/>
              </p:ext>
            </p:extLst>
          </p:nvPr>
        </p:nvGraphicFramePr>
        <p:xfrm>
          <a:off x="152400" y="3440832"/>
          <a:ext cx="4752528" cy="1054968"/>
        </p:xfrm>
        <a:graphic>
          <a:graphicData uri="http://schemas.openxmlformats.org/drawingml/2006/table">
            <a:tbl>
              <a:tblPr/>
              <a:tblGrid>
                <a:gridCol w="633670"/>
                <a:gridCol w="4118858"/>
              </a:tblGrid>
              <a:tr h="152406">
                <a:tc gridSpan="2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Budget RAG Status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92962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4C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Variance is =</a:t>
                      </a:r>
                      <a:r>
                        <a:rPr lang="en-US" sz="700" u="sng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+</a:t>
                      </a:r>
                      <a:r>
                        <a:rPr lang="en-US" sz="700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 10% or $100,000 of current budget (baseline + approved change requests) and/or pending spend - or -  no project budget is defined/approved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Variance is =</a:t>
                      </a:r>
                      <a:r>
                        <a:rPr lang="en-US" sz="700" b="0" i="0" u="sng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+</a:t>
                      </a:r>
                      <a:r>
                        <a:rPr lang="en-US" sz="700" b="0" i="0" u="none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 6% - 9% of current budget (baseline + approved change requests) and/or pending spend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Variance is = </a:t>
                      </a:r>
                      <a:r>
                        <a:rPr lang="en-US" sz="700" b="0" i="0" u="sng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+</a:t>
                      </a:r>
                      <a:r>
                        <a:rPr lang="en-US" sz="700" b="0" i="0" u="none" strike="noStrike" dirty="0" smtClean="0">
                          <a:solidFill>
                            <a:schemeClr val="bg2"/>
                          </a:solidFill>
                          <a:latin typeface="EYInterstate Light"/>
                        </a:rPr>
                        <a:t> 5% of current budget (baseline + approved change requests) and/or pending spend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813602"/>
              </p:ext>
            </p:extLst>
          </p:nvPr>
        </p:nvGraphicFramePr>
        <p:xfrm>
          <a:off x="5562600" y="3429000"/>
          <a:ext cx="1828800" cy="1028702"/>
        </p:xfrm>
        <a:graphic>
          <a:graphicData uri="http://schemas.openxmlformats.org/drawingml/2006/table">
            <a:tbl>
              <a:tblPr/>
              <a:tblGrid>
                <a:gridCol w="1828800"/>
              </a:tblGrid>
              <a:tr h="1322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VARIANCE FACTORS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93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NEG: Unplanned capital expenses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2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NEG: Unplanned resource expenses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75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NEG: Unplanned project (misc) expenses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9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SIG POS: Unused planned capital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9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SIG POS: Unused planned resources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9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SIG POS: Project not progressing as planned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9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OTHER (Please explain in section below)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 bwMode="gray">
          <a:xfrm>
            <a:off x="7924800" y="76200"/>
            <a:ext cx="990600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indent="0" algn="l" defTabSz="9556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Page</a:t>
            </a:r>
            <a:r>
              <a:rPr kumimoji="0" lang="en-US" sz="1600" b="1" i="0" u="none" strike="noStrike" kern="0" cap="none" spc="0" normalizeH="0" noProof="0" dirty="0" smtClean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2</a:t>
            </a:r>
            <a:endParaRPr kumimoji="0" 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2" name="Group 2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54825"/>
              </p:ext>
            </p:extLst>
          </p:nvPr>
        </p:nvGraphicFramePr>
        <p:xfrm>
          <a:off x="152400" y="4776348"/>
          <a:ext cx="8762999" cy="1231326"/>
        </p:xfrm>
        <a:graphic>
          <a:graphicData uri="http://schemas.openxmlformats.org/drawingml/2006/table">
            <a:tbl>
              <a:tblPr/>
              <a:tblGrid>
                <a:gridCol w="677894"/>
                <a:gridCol w="1335714"/>
                <a:gridCol w="1720192"/>
                <a:gridCol w="533400"/>
                <a:gridCol w="533400"/>
                <a:gridCol w="381000"/>
                <a:gridCol w="3581399"/>
              </a:tblGrid>
              <a:tr h="304800">
                <a:tc gridSpan="5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9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J.  Key Inbound Dependency View</a:t>
                      </a:r>
                      <a:endParaRPr kumimoji="0" 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9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Criticality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Supplying Program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Dependency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Delivery Date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Required by Date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RAG Status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Current State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High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GAP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GAP build and test complete (EYQA)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05-Dec-13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28-Nov-13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High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GAP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GAP build and test complete (Production)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15-Jan-14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10-Jan-14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749511"/>
              </p:ext>
            </p:extLst>
          </p:nvPr>
        </p:nvGraphicFramePr>
        <p:xfrm>
          <a:off x="36818" y="618167"/>
          <a:ext cx="8928099" cy="2512790"/>
        </p:xfrm>
        <a:graphic>
          <a:graphicData uri="http://schemas.openxmlformats.org/drawingml/2006/table">
            <a:tbl>
              <a:tblPr/>
              <a:tblGrid>
                <a:gridCol w="589409"/>
                <a:gridCol w="618397"/>
                <a:gridCol w="676371"/>
                <a:gridCol w="657046"/>
                <a:gridCol w="869620"/>
                <a:gridCol w="811645"/>
                <a:gridCol w="879283"/>
                <a:gridCol w="917932"/>
                <a:gridCol w="937257"/>
                <a:gridCol w="975907"/>
                <a:gridCol w="995232"/>
              </a:tblGrid>
              <a:tr h="10349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I. BUD - ($)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STATUS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03498"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PLANNED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ACTUAL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GREEN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01097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Current Bud</a:t>
                      </a:r>
                      <a:b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</a:b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(Baseline +</a:t>
                      </a:r>
                      <a:b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</a:b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Approved CRs)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Spend to Date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Estimate to Completion (ETC)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Capital Spend ETC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Revenue Spend ETC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Estimate at Completion (EAC)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Variance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02297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Fiscal year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Business Case Bud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Project Charter Bud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PMP Bud (baseline)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-3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(2+3)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(1) - (2+3)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0349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FY11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352,844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352,844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352,844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49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FY12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5,707,907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6,657,078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6,657,078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-949,171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49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FY13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5,266,663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5,266,663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5,266,663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49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FY14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5,603,976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987,836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4,616,139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5,603,976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49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FY15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2,333,305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2,333,305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2,333,305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49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TOTALS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19,264,694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13,264,421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6,949,444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20,213,865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-949,171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4038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Brief explanation for RED or AMBER variance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5797" marR="5797" marT="5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Variance Factor:</a:t>
                      </a:r>
                    </a:p>
                  </a:txBody>
                  <a:tcPr marL="5797" marR="5797" marT="57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OTHER (please explain in section below)</a:t>
                      </a:r>
                    </a:p>
                  </a:txBody>
                  <a:tcPr marL="5797" marR="5797" marT="57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715822">
                <a:tc gridSpan="11">
                  <a:txBody>
                    <a:bodyPr/>
                    <a:lstStyle/>
                    <a:p>
                      <a:pPr algn="l" fontAlgn="t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ATD may be greater than reported through the Portfolio Report Actuals for vendor spend due to the effect of pending Invoices that may not have yet been Accrued.</a:t>
                      </a:r>
                    </a:p>
                  </a:txBody>
                  <a:tcPr marL="5797" marR="5797" marT="579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7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808080"/>
    </a:dk2>
    <a:lt2>
      <a:srgbClr val="646464"/>
    </a:lt2>
    <a:accent1>
      <a:srgbClr val="A6A6A6"/>
    </a:accent1>
    <a:accent2>
      <a:srgbClr val="CCCCCC"/>
    </a:accent2>
    <a:accent3>
      <a:srgbClr val="FFFFFF"/>
    </a:accent3>
    <a:accent4>
      <a:srgbClr val="000000"/>
    </a:accent4>
    <a:accent5>
      <a:srgbClr val="D0D0D0"/>
    </a:accent5>
    <a:accent6>
      <a:srgbClr val="B9B9B9"/>
    </a:accent6>
    <a:hlink>
      <a:srgbClr val="F2F2F2"/>
    </a:hlink>
    <a:folHlink>
      <a:srgbClr val="FFD20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0cbe1240-e4fe-486d-8edc-2712abb96eb4">MSIBM-75-4967</_dlc_DocId>
    <_dlc_DocIdUrl xmlns="0cbe1240-e4fe-486d-8edc-2712abb96eb4">
      <Url>http://sp.ey.net/msibm/_layouts/DocIdRedir.aspx?ID=MSIBM-75-4967</Url>
      <Description>MSIBM-75-4967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Powerpoint Presentation" ma:contentTypeID="0x010100EAA48C0EB6E1374ABC7B66D01ECBF0F000B614A79AA91E4A418B30A9A579BC398A" ma:contentTypeVersion="3" ma:contentTypeDescription="" ma:contentTypeScope="" ma:versionID="26b0eaefbaffcf7e8f076bf15b5285e6">
  <xsd:schema xmlns:xsd="http://www.w3.org/2001/XMLSchema" xmlns:xs="http://www.w3.org/2001/XMLSchema" xmlns:p="http://schemas.microsoft.com/office/2006/metadata/properties" xmlns:ns2="0cbe1240-e4fe-486d-8edc-2712abb96eb4" targetNamespace="http://schemas.microsoft.com/office/2006/metadata/properties" ma:root="true" ma:fieldsID="bd214d6eee052d324e45fcce3bef4425" ns2:_="">
    <xsd:import namespace="0cbe1240-e4fe-486d-8edc-2712abb96eb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be1240-e4fe-486d-8edc-2712abb96eb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F2B75D-A58A-4320-BCB2-F858C4AA91C3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A1151AB7-27D2-4331-AA13-77DE76034D71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www.w3.org/XML/1998/namespace"/>
    <ds:schemaRef ds:uri="http://purl.org/dc/elements/1.1/"/>
    <ds:schemaRef ds:uri="http://schemas.microsoft.com/office/infopath/2007/PartnerControls"/>
    <ds:schemaRef ds:uri="0cbe1240-e4fe-486d-8edc-2712abb96eb4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A6CAE92-7FB4-4C9F-BF11-621F235C5B3E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D92C67E4-CAEF-4E8D-858B-00A6766D74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be1240-e4fe-486d-8edc-2712abb96e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9254</TotalTime>
  <Words>1184</Words>
  <Application>Microsoft Office PowerPoint</Application>
  <PresentationFormat>On-screen Show (4:3)</PresentationFormat>
  <Paragraphs>303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27_EYCspecial</vt:lpstr>
      <vt:lpstr>PowerPoint Presentation</vt:lpstr>
      <vt:lpstr>PowerPoint Presentation</vt:lpstr>
    </vt:vector>
  </TitlesOfParts>
  <Company>Ernst &amp; Young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Lync ITS Status Report</dc:title>
  <dc:creator>B. Fernandez</dc:creator>
  <cp:lastModifiedBy>Wale Agbaje</cp:lastModifiedBy>
  <cp:revision>402</cp:revision>
  <dcterms:created xsi:type="dcterms:W3CDTF">2011-11-18T15:43:59Z</dcterms:created>
  <dcterms:modified xsi:type="dcterms:W3CDTF">2013-11-01T11:40:50Z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0x010100EAA48C0EB6E1374ABC7B66D01ECBF0F000B614A79AA91E4A418B30A9A579BC398A</vt:lpwstr>
  </property>
  <property fmtid="{D5CDD505-2E9C-101B-9397-08002B2CF9AE}" pid="3" name="_dlc_DocIdItemGuid">
    <vt:lpwstr>4e2b3ac6-5f5e-4991-aa55-edd902fa2f35</vt:lpwstr>
  </property>
</Properties>
</file>