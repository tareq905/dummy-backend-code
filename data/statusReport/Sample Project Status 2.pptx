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274" r:id="rId2"/>
    <p:sldId id="275" r:id="rId3"/>
    <p:sldId id="276" r:id="rId4"/>
    <p:sldId id="277" r:id="rId5"/>
    <p:sldId id="278" r:id="rId6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76">
          <p15:clr>
            <a:srgbClr val="A4A3A4"/>
          </p15:clr>
        </p15:guide>
        <p15:guide id="3" pos="2880">
          <p15:clr>
            <a:srgbClr val="A4A3A4"/>
          </p15:clr>
        </p15:guide>
        <p15:guide id="4" pos="2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B2977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886" autoAdjust="0"/>
    <p:restoredTop sz="90013" autoAdjust="0"/>
  </p:normalViewPr>
  <p:slideViewPr>
    <p:cSldViewPr>
      <p:cViewPr>
        <p:scale>
          <a:sx n="80" d="100"/>
          <a:sy n="80" d="100"/>
        </p:scale>
        <p:origin x="3294" y="600"/>
      </p:cViewPr>
      <p:guideLst>
        <p:guide orient="horz" pos="2160"/>
        <p:guide orient="horz" pos="576"/>
        <p:guide pos="2880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751D5-6193-7D40-B58B-FEA239BE3961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FC63C-6F06-2E4A-AC22-412E3617A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38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506C0-3FFE-45A5-803D-9F4FC5464A70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46707-6BBD-41A9-B4DF-0C76A73A2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55960" cy="6858000"/>
          </a:xfrm>
          <a:prstGeom prst="rect">
            <a:avLst/>
          </a:prstGeom>
          <a:solidFill>
            <a:srgbClr val="4B2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5181600" y="0"/>
            <a:ext cx="3962400" cy="685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096000"/>
            <a:ext cx="1993900" cy="3429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533400" y="1904998"/>
            <a:ext cx="4572000" cy="1524000"/>
          </a:xfrm>
        </p:spPr>
        <p:txBody>
          <a:bodyPr anchor="t">
            <a:normAutofit/>
          </a:bodyPr>
          <a:lstStyle>
            <a:lvl1pPr algn="l">
              <a:defRPr sz="3600" cap="small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[Insert Presentation Title]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3400" y="3505198"/>
            <a:ext cx="4038600" cy="609602"/>
          </a:xfrm>
        </p:spPr>
        <p:txBody>
          <a:bodyPr>
            <a:normAutofit/>
          </a:bodyPr>
          <a:lstStyle>
            <a:lvl1pPr marL="0" indent="0" algn="l">
              <a:buNone/>
              <a:defRPr lang="en-US" sz="2400" baseline="0" dirty="0" smtClean="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[Insert Presenter Name]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4114800"/>
            <a:ext cx="4572000" cy="533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[Insert Presentation Date]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381000"/>
            <a:ext cx="4038600" cy="685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[Insert Project Name]</a:t>
            </a:r>
          </a:p>
        </p:txBody>
      </p:sp>
    </p:spTree>
    <p:extLst>
      <p:ext uri="{BB962C8B-B14F-4D97-AF65-F5344CB8AC3E}">
        <p14:creationId xmlns:p14="http://schemas.microsoft.com/office/powerpoint/2010/main" val="374416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9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172200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9948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282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0" name="Line 14"/>
          <p:cNvSpPr>
            <a:spLocks noChangeShapeType="1"/>
          </p:cNvSpPr>
          <p:nvPr/>
        </p:nvSpPr>
        <p:spPr bwMode="auto">
          <a:xfrm flipH="1">
            <a:off x="0" y="1219200"/>
            <a:ext cx="91440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09600"/>
            <a:ext cx="830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488580" y="6515100"/>
            <a:ext cx="15240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/>
            <a:r>
              <a:rPr lang="en-US" dirty="0"/>
              <a:t>Insert</a:t>
            </a:r>
            <a:r>
              <a:rPr lang="en-US" baseline="0" dirty="0"/>
              <a:t> Date</a:t>
            </a:r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2552700" y="6477000"/>
            <a:ext cx="40386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6474759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F2B90478-4D5D-4B5C-9DCC-667141EAB6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05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6" r:id="rId3"/>
    <p:sldLayoutId id="2147483657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n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0070C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pPr algn="l" eaLnBrk="1" hangingPunct="1"/>
            <a:r>
              <a:rPr lang="en-US" dirty="0"/>
              <a:t>Sample Project Status/Schedule Summaries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2986088"/>
          </a:xfrm>
        </p:spPr>
        <p:txBody>
          <a:bodyPr>
            <a:spAutoFit/>
          </a:bodyPr>
          <a:lstStyle/>
          <a:p>
            <a:pPr marL="0" indent="0" eaLnBrk="1" hangingPunct="1">
              <a:spcBef>
                <a:spcPts val="600"/>
              </a:spcBef>
              <a:buFontTx/>
              <a:buNone/>
              <a:defRPr/>
            </a:pPr>
            <a:r>
              <a:rPr lang="en-US" sz="1600" dirty="0"/>
              <a:t>In addition to managing a project plan in Microsoft Project, you may also wish to depict the schedule or project status in a more summarized version for Steering Committee meetings, team meetings, project kickoffs, weekly status reports, etc.  These can be tailored to a specific project’s needs: </a:t>
            </a:r>
          </a:p>
          <a:p>
            <a:pPr eaLnBrk="1" hangingPunct="1">
              <a:spcBef>
                <a:spcPts val="600"/>
              </a:spcBef>
              <a:defRPr/>
            </a:pPr>
            <a:endParaRPr lang="en-US" sz="1600" dirty="0"/>
          </a:p>
          <a:p>
            <a:pPr eaLnBrk="1" hangingPunct="1">
              <a:spcBef>
                <a:spcPts val="600"/>
              </a:spcBef>
              <a:defRPr/>
            </a:pPr>
            <a:r>
              <a:rPr lang="en-US" sz="1600" dirty="0"/>
              <a:t>Sample 1:  Executive View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1600" dirty="0"/>
              <a:t>Sample 2:  Basic Status Dashboard A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1600" dirty="0"/>
              <a:t>Sample 3:  Basic Status Dashboard B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1600" dirty="0"/>
              <a:t>Sample 4:  Excel (Week by Week View)</a:t>
            </a:r>
          </a:p>
          <a:p>
            <a:pPr eaLnBrk="1" hangingPunct="1">
              <a:spcBef>
                <a:spcPts val="600"/>
              </a:spcBef>
              <a:defRPr/>
            </a:pP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48400" y="6248400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90000"/>
              </a:lnSpc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 </a:t>
            </a:r>
            <a:fld id="{3839EE53-753A-4AE1-9B62-1070B4C7F677}" type="slidenum">
              <a:rPr lang="en-US" sz="1400" smtClean="0"/>
              <a:pPr algn="just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214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75" y="409575"/>
            <a:ext cx="8305800" cy="609600"/>
          </a:xfrm>
          <a:solidFill>
            <a:srgbClr val="0070C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pPr algn="l" eaLnBrk="1" hangingPunct="1"/>
            <a:r>
              <a:rPr lang="en-US" dirty="0"/>
              <a:t>Project Status Summary Sample 1</a:t>
            </a:r>
          </a:p>
        </p:txBody>
      </p:sp>
      <p:sp>
        <p:nvSpPr>
          <p:cNvPr id="2" name="Rectangle 42"/>
          <p:cNvSpPr>
            <a:spLocks noChangeArrowheads="1"/>
          </p:cNvSpPr>
          <p:nvPr/>
        </p:nvSpPr>
        <p:spPr bwMode="gray">
          <a:xfrm>
            <a:off x="3352800" y="6610350"/>
            <a:ext cx="609600" cy="152400"/>
          </a:xfrm>
          <a:prstGeom prst="rect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6149" name="Rectangle 43"/>
          <p:cNvSpPr>
            <a:spLocks noChangeArrowheads="1"/>
          </p:cNvSpPr>
          <p:nvPr/>
        </p:nvSpPr>
        <p:spPr bwMode="gray">
          <a:xfrm>
            <a:off x="5486400" y="6610350"/>
            <a:ext cx="609600" cy="152400"/>
          </a:xfrm>
          <a:prstGeom prst="rect">
            <a:avLst/>
          </a:prstGeom>
          <a:solidFill>
            <a:srgbClr val="FFCC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800" dirty="0"/>
              <a:t>Yellow</a:t>
            </a:r>
          </a:p>
        </p:txBody>
      </p:sp>
      <p:sp>
        <p:nvSpPr>
          <p:cNvPr id="6150" name="Rectangle 44"/>
          <p:cNvSpPr>
            <a:spLocks noChangeArrowheads="1"/>
          </p:cNvSpPr>
          <p:nvPr/>
        </p:nvSpPr>
        <p:spPr bwMode="gray">
          <a:xfrm>
            <a:off x="7239000" y="6610350"/>
            <a:ext cx="609600" cy="152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Red</a:t>
            </a:r>
          </a:p>
        </p:txBody>
      </p:sp>
      <p:sp>
        <p:nvSpPr>
          <p:cNvPr id="6151" name="Rectangle 45"/>
          <p:cNvSpPr>
            <a:spLocks noChangeArrowheads="1"/>
          </p:cNvSpPr>
          <p:nvPr/>
        </p:nvSpPr>
        <p:spPr bwMode="gray">
          <a:xfrm>
            <a:off x="3810000" y="6610350"/>
            <a:ext cx="16764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600"/>
              <a:t>On track; will complete as planned</a:t>
            </a:r>
          </a:p>
        </p:txBody>
      </p:sp>
      <p:sp>
        <p:nvSpPr>
          <p:cNvPr id="6152" name="Rectangle 46"/>
          <p:cNvSpPr>
            <a:spLocks noChangeArrowheads="1"/>
          </p:cNvSpPr>
          <p:nvPr/>
        </p:nvSpPr>
        <p:spPr bwMode="gray">
          <a:xfrm>
            <a:off x="6019800" y="6610350"/>
            <a:ext cx="1828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600"/>
              <a:t>Planned delivery at risk</a:t>
            </a:r>
          </a:p>
        </p:txBody>
      </p:sp>
      <p:sp>
        <p:nvSpPr>
          <p:cNvPr id="6153" name="Rectangle 47"/>
          <p:cNvSpPr>
            <a:spLocks noChangeArrowheads="1"/>
          </p:cNvSpPr>
          <p:nvPr/>
        </p:nvSpPr>
        <p:spPr bwMode="gray">
          <a:xfrm>
            <a:off x="7772400" y="6610350"/>
            <a:ext cx="1828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600"/>
              <a:t>Will miss planned delivery</a:t>
            </a:r>
          </a:p>
        </p:txBody>
      </p:sp>
      <p:sp>
        <p:nvSpPr>
          <p:cNvPr id="6154" name="Rectangle 84"/>
          <p:cNvSpPr>
            <a:spLocks noChangeArrowheads="1"/>
          </p:cNvSpPr>
          <p:nvPr/>
        </p:nvSpPr>
        <p:spPr bwMode="gray">
          <a:xfrm>
            <a:off x="1817688" y="6610350"/>
            <a:ext cx="1535112" cy="1603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600"/>
              <a:t>Originally planned or completed activity</a:t>
            </a:r>
          </a:p>
        </p:txBody>
      </p:sp>
      <p:sp>
        <p:nvSpPr>
          <p:cNvPr id="6155" name="Text Box 85"/>
          <p:cNvSpPr txBox="1">
            <a:spLocks noChangeArrowheads="1"/>
          </p:cNvSpPr>
          <p:nvPr/>
        </p:nvSpPr>
        <p:spPr bwMode="auto">
          <a:xfrm>
            <a:off x="0" y="6565900"/>
            <a:ext cx="1524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800" b="1"/>
              <a:t>Key Milestone Legend:</a:t>
            </a:r>
          </a:p>
        </p:txBody>
      </p:sp>
      <p:sp>
        <p:nvSpPr>
          <p:cNvPr id="6156" name="Rectangle 2"/>
          <p:cNvSpPr>
            <a:spLocks noChangeArrowheads="1"/>
          </p:cNvSpPr>
          <p:nvPr/>
        </p:nvSpPr>
        <p:spPr bwMode="gray">
          <a:xfrm>
            <a:off x="6705600" y="1300163"/>
            <a:ext cx="2286000" cy="5216525"/>
          </a:xfrm>
          <a:prstGeom prst="rect">
            <a:avLst/>
          </a:prstGeom>
          <a:solidFill>
            <a:schemeClr val="bg1"/>
          </a:solidFill>
          <a:ln w="19050">
            <a:solidFill>
              <a:srgbClr val="006699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157" name="Rectangle 3"/>
          <p:cNvSpPr>
            <a:spLocks noChangeArrowheads="1"/>
          </p:cNvSpPr>
          <p:nvPr/>
        </p:nvSpPr>
        <p:spPr bwMode="gray">
          <a:xfrm>
            <a:off x="95250" y="1309688"/>
            <a:ext cx="6553200" cy="243363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7" name="Rectangle 23"/>
          <p:cNvSpPr>
            <a:spLocks noChangeArrowheads="1"/>
          </p:cNvSpPr>
          <p:nvPr/>
        </p:nvSpPr>
        <p:spPr bwMode="gray">
          <a:xfrm>
            <a:off x="217488" y="3060700"/>
            <a:ext cx="25146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Kickoff Project</a:t>
            </a:r>
          </a:p>
          <a:p>
            <a:pPr marL="228600" indent="-228600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Project Phase - TBD</a:t>
            </a:r>
          </a:p>
          <a:p>
            <a:pPr marL="228600" indent="-228600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Project Phase - TBD</a:t>
            </a:r>
          </a:p>
          <a:p>
            <a:pPr marL="228600" indent="-228600">
              <a:spcBef>
                <a:spcPct val="15000"/>
              </a:spcBef>
              <a:spcAft>
                <a:spcPct val="15000"/>
              </a:spcAft>
              <a:tabLst>
                <a:tab pos="166688" algn="l"/>
              </a:tabLst>
              <a:defRPr/>
            </a:pPr>
            <a:endParaRPr lang="en-US" sz="1000" dirty="0">
              <a:latin typeface="Arial" pitchFamily="34" charset="0"/>
              <a:cs typeface="Arial" pitchFamily="34" charset="0"/>
            </a:endParaRPr>
          </a:p>
          <a:p>
            <a:pPr marL="228600" indent="-228600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endParaRPr lang="en-US" sz="1000" dirty="0">
              <a:latin typeface="Arial" pitchFamily="34" charset="0"/>
              <a:cs typeface="Arial" pitchFamily="34" charset="0"/>
            </a:endParaRP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tabLst>
                <a:tab pos="166688" algn="l"/>
              </a:tabLst>
              <a:defRPr/>
            </a:pPr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59" name="Rectangle 24"/>
          <p:cNvSpPr>
            <a:spLocks noChangeArrowheads="1"/>
          </p:cNvSpPr>
          <p:nvPr/>
        </p:nvSpPr>
        <p:spPr bwMode="gray">
          <a:xfrm>
            <a:off x="88900" y="3817938"/>
            <a:ext cx="3200400" cy="1092200"/>
          </a:xfrm>
          <a:prstGeom prst="rect">
            <a:avLst/>
          </a:prstGeom>
          <a:solidFill>
            <a:schemeClr val="bg1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tIns="9144" rIns="0"/>
          <a:lstStyle/>
          <a:p>
            <a:pPr marL="166688" indent="-166688">
              <a:spcBef>
                <a:spcPct val="15000"/>
              </a:spcBef>
              <a:spcAft>
                <a:spcPct val="15000"/>
              </a:spcAft>
            </a:pPr>
            <a:r>
              <a:rPr lang="en-US" sz="1000" b="1" dirty="0"/>
              <a:t>Recent Accomplishments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</a:pPr>
            <a:endParaRPr lang="en-US" sz="900" dirty="0"/>
          </a:p>
        </p:txBody>
      </p:sp>
      <p:sp>
        <p:nvSpPr>
          <p:cNvPr id="6160" name="Rectangle 25"/>
          <p:cNvSpPr>
            <a:spLocks noChangeArrowheads="1"/>
          </p:cNvSpPr>
          <p:nvPr/>
        </p:nvSpPr>
        <p:spPr bwMode="gray">
          <a:xfrm>
            <a:off x="3352800" y="3819525"/>
            <a:ext cx="3276600" cy="1092200"/>
          </a:xfrm>
          <a:prstGeom prst="rect">
            <a:avLst/>
          </a:prstGeom>
          <a:solidFill>
            <a:schemeClr val="bg1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tIns="9144"/>
          <a:lstStyle/>
          <a:p>
            <a:pPr marL="166688" indent="-166688">
              <a:spcBef>
                <a:spcPct val="15000"/>
              </a:spcBef>
              <a:spcAft>
                <a:spcPct val="15000"/>
              </a:spcAft>
            </a:pPr>
            <a:r>
              <a:rPr lang="en-US" sz="1000" b="1" dirty="0"/>
              <a:t>Upcoming Key Activities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</a:pPr>
            <a:endParaRPr lang="en-US" sz="900" dirty="0"/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</a:pPr>
            <a:endParaRPr lang="en-US" sz="900" dirty="0"/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</a:pPr>
            <a:endParaRPr lang="en-US" sz="900" dirty="0"/>
          </a:p>
        </p:txBody>
      </p:sp>
      <p:sp>
        <p:nvSpPr>
          <p:cNvPr id="80" name="Rectangle 36"/>
          <p:cNvSpPr>
            <a:spLocks noChangeArrowheads="1"/>
          </p:cNvSpPr>
          <p:nvPr/>
        </p:nvSpPr>
        <p:spPr bwMode="gray">
          <a:xfrm>
            <a:off x="6781800" y="3722688"/>
            <a:ext cx="1519238" cy="839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1100" b="1" dirty="0"/>
              <a:t>Scope: 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900" dirty="0"/>
              <a:t>TBD</a:t>
            </a:r>
          </a:p>
        </p:txBody>
      </p:sp>
      <p:sp>
        <p:nvSpPr>
          <p:cNvPr id="6162" name="Text Box 38"/>
          <p:cNvSpPr txBox="1">
            <a:spLocks noChangeArrowheads="1"/>
          </p:cNvSpPr>
          <p:nvPr/>
        </p:nvSpPr>
        <p:spPr bwMode="gray">
          <a:xfrm>
            <a:off x="6829425" y="1225550"/>
            <a:ext cx="1019175" cy="184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1">
                <a:solidFill>
                  <a:srgbClr val="006699"/>
                </a:solidFill>
              </a:rPr>
              <a:t>Summary</a:t>
            </a:r>
          </a:p>
        </p:txBody>
      </p:sp>
      <p:sp>
        <p:nvSpPr>
          <p:cNvPr id="6163" name="Rectangle 50"/>
          <p:cNvSpPr>
            <a:spLocks noChangeArrowheads="1"/>
          </p:cNvSpPr>
          <p:nvPr/>
        </p:nvSpPr>
        <p:spPr bwMode="gray">
          <a:xfrm>
            <a:off x="6781800" y="1414463"/>
            <a:ext cx="22098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/>
          <a:lstStyle/>
          <a:p>
            <a:pPr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None/>
            </a:pPr>
            <a:r>
              <a:rPr lang="en-US" sz="1100" b="1" dirty="0"/>
              <a:t>Project Description: </a:t>
            </a:r>
            <a:r>
              <a:rPr lang="en-US" sz="1000" dirty="0"/>
              <a:t>TBD</a:t>
            </a:r>
          </a:p>
        </p:txBody>
      </p:sp>
      <p:sp>
        <p:nvSpPr>
          <p:cNvPr id="6164" name="Rectangle 60"/>
          <p:cNvSpPr>
            <a:spLocks noChangeArrowheads="1"/>
          </p:cNvSpPr>
          <p:nvPr/>
        </p:nvSpPr>
        <p:spPr bwMode="gray">
          <a:xfrm>
            <a:off x="193675" y="2624138"/>
            <a:ext cx="6399213" cy="1365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165" name="Text Box 77"/>
          <p:cNvSpPr txBox="1">
            <a:spLocks noChangeArrowheads="1"/>
          </p:cNvSpPr>
          <p:nvPr/>
        </p:nvSpPr>
        <p:spPr bwMode="auto">
          <a:xfrm>
            <a:off x="117475" y="2341563"/>
            <a:ext cx="11636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900" b="1"/>
              <a:t>Actual/Estimated</a:t>
            </a:r>
          </a:p>
        </p:txBody>
      </p:sp>
      <p:sp>
        <p:nvSpPr>
          <p:cNvPr id="6166" name="Text Box 49"/>
          <p:cNvSpPr txBox="1">
            <a:spLocks noChangeArrowheads="1"/>
          </p:cNvSpPr>
          <p:nvPr/>
        </p:nvSpPr>
        <p:spPr bwMode="gray">
          <a:xfrm>
            <a:off x="266700" y="1233488"/>
            <a:ext cx="1406525" cy="184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1">
                <a:solidFill>
                  <a:srgbClr val="006699"/>
                </a:solidFill>
              </a:rPr>
              <a:t>Key Milestones </a:t>
            </a:r>
          </a:p>
        </p:txBody>
      </p:sp>
      <p:sp>
        <p:nvSpPr>
          <p:cNvPr id="6167" name="Rectangle 60"/>
          <p:cNvSpPr>
            <a:spLocks noChangeArrowheads="1"/>
          </p:cNvSpPr>
          <p:nvPr/>
        </p:nvSpPr>
        <p:spPr bwMode="gray">
          <a:xfrm>
            <a:off x="193675" y="1970088"/>
            <a:ext cx="6399213" cy="1365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7" name="Oval 70"/>
          <p:cNvSpPr>
            <a:spLocks noChangeArrowheads="1"/>
          </p:cNvSpPr>
          <p:nvPr/>
        </p:nvSpPr>
        <p:spPr bwMode="gray">
          <a:xfrm>
            <a:off x="2773363" y="1863725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3</a:t>
            </a:r>
          </a:p>
        </p:txBody>
      </p:sp>
      <p:sp>
        <p:nvSpPr>
          <p:cNvPr id="6169" name="Text Box 71"/>
          <p:cNvSpPr txBox="1">
            <a:spLocks noChangeArrowheads="1"/>
          </p:cNvSpPr>
          <p:nvPr/>
        </p:nvSpPr>
        <p:spPr bwMode="gray">
          <a:xfrm>
            <a:off x="2663825" y="2143125"/>
            <a:ext cx="463550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Nov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29</a:t>
            </a:r>
          </a:p>
        </p:txBody>
      </p:sp>
      <p:sp>
        <p:nvSpPr>
          <p:cNvPr id="6170" name="Text Box 77"/>
          <p:cNvSpPr txBox="1">
            <a:spLocks noChangeArrowheads="1"/>
          </p:cNvSpPr>
          <p:nvPr/>
        </p:nvSpPr>
        <p:spPr bwMode="auto">
          <a:xfrm>
            <a:off x="119063" y="1706563"/>
            <a:ext cx="9096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900" b="1"/>
              <a:t>Planned</a:t>
            </a:r>
          </a:p>
        </p:txBody>
      </p:sp>
      <p:sp>
        <p:nvSpPr>
          <p:cNvPr id="90" name="Oval 70"/>
          <p:cNvSpPr>
            <a:spLocks noChangeArrowheads="1"/>
          </p:cNvSpPr>
          <p:nvPr/>
        </p:nvSpPr>
        <p:spPr bwMode="gray">
          <a:xfrm>
            <a:off x="1982788" y="1863725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2</a:t>
            </a:r>
          </a:p>
        </p:txBody>
      </p:sp>
      <p:sp>
        <p:nvSpPr>
          <p:cNvPr id="6172" name="Text Box 71"/>
          <p:cNvSpPr txBox="1">
            <a:spLocks noChangeArrowheads="1"/>
          </p:cNvSpPr>
          <p:nvPr/>
        </p:nvSpPr>
        <p:spPr bwMode="gray">
          <a:xfrm>
            <a:off x="1882775" y="2143125"/>
            <a:ext cx="4635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Oct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20</a:t>
            </a:r>
          </a:p>
        </p:txBody>
      </p:sp>
      <p:sp>
        <p:nvSpPr>
          <p:cNvPr id="6173" name="Text Box 74"/>
          <p:cNvSpPr txBox="1">
            <a:spLocks noChangeArrowheads="1"/>
          </p:cNvSpPr>
          <p:nvPr/>
        </p:nvSpPr>
        <p:spPr bwMode="auto">
          <a:xfrm>
            <a:off x="344488" y="2806700"/>
            <a:ext cx="4349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Sept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25</a:t>
            </a:r>
          </a:p>
        </p:txBody>
      </p:sp>
      <p:sp>
        <p:nvSpPr>
          <p:cNvPr id="6174" name="Text Box 71"/>
          <p:cNvSpPr txBox="1">
            <a:spLocks noChangeArrowheads="1"/>
          </p:cNvSpPr>
          <p:nvPr/>
        </p:nvSpPr>
        <p:spPr bwMode="gray">
          <a:xfrm>
            <a:off x="336550" y="2143125"/>
            <a:ext cx="4635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Sept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25</a:t>
            </a:r>
          </a:p>
        </p:txBody>
      </p:sp>
      <p:sp>
        <p:nvSpPr>
          <p:cNvPr id="94" name="Oval 70"/>
          <p:cNvSpPr>
            <a:spLocks noChangeArrowheads="1"/>
          </p:cNvSpPr>
          <p:nvPr/>
        </p:nvSpPr>
        <p:spPr bwMode="gray">
          <a:xfrm>
            <a:off x="425450" y="1863725"/>
            <a:ext cx="274638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1</a:t>
            </a:r>
          </a:p>
        </p:txBody>
      </p:sp>
      <p:sp>
        <p:nvSpPr>
          <p:cNvPr id="6176" name="Oval 61"/>
          <p:cNvSpPr>
            <a:spLocks noChangeArrowheads="1"/>
          </p:cNvSpPr>
          <p:nvPr/>
        </p:nvSpPr>
        <p:spPr bwMode="gray">
          <a:xfrm>
            <a:off x="433388" y="2520950"/>
            <a:ext cx="274637" cy="274638"/>
          </a:xfrm>
          <a:prstGeom prst="ellipse">
            <a:avLst/>
          </a:pr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/>
              <a:t>1</a:t>
            </a:r>
          </a:p>
        </p:txBody>
      </p:sp>
      <p:sp>
        <p:nvSpPr>
          <p:cNvPr id="6177" name="Rectangle 5"/>
          <p:cNvSpPr>
            <a:spLocks noChangeArrowheads="1"/>
          </p:cNvSpPr>
          <p:nvPr/>
        </p:nvSpPr>
        <p:spPr bwMode="gray">
          <a:xfrm>
            <a:off x="903288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Sep 2011</a:t>
            </a:r>
          </a:p>
        </p:txBody>
      </p:sp>
      <p:sp>
        <p:nvSpPr>
          <p:cNvPr id="6178" name="Rectangle 5"/>
          <p:cNvSpPr>
            <a:spLocks noChangeArrowheads="1"/>
          </p:cNvSpPr>
          <p:nvPr/>
        </p:nvSpPr>
        <p:spPr bwMode="gray">
          <a:xfrm>
            <a:off x="1611313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Oct 2011</a:t>
            </a:r>
          </a:p>
        </p:txBody>
      </p:sp>
      <p:sp>
        <p:nvSpPr>
          <p:cNvPr id="6179" name="Rectangle 5"/>
          <p:cNvSpPr>
            <a:spLocks noChangeArrowheads="1"/>
          </p:cNvSpPr>
          <p:nvPr/>
        </p:nvSpPr>
        <p:spPr bwMode="gray">
          <a:xfrm>
            <a:off x="2319338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Nov 2011</a:t>
            </a:r>
          </a:p>
        </p:txBody>
      </p:sp>
      <p:sp>
        <p:nvSpPr>
          <p:cNvPr id="6180" name="Rectangle 5"/>
          <p:cNvSpPr>
            <a:spLocks noChangeArrowheads="1"/>
          </p:cNvSpPr>
          <p:nvPr/>
        </p:nvSpPr>
        <p:spPr bwMode="gray">
          <a:xfrm>
            <a:off x="3027363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Dec 2011</a:t>
            </a:r>
          </a:p>
        </p:txBody>
      </p:sp>
      <p:sp>
        <p:nvSpPr>
          <p:cNvPr id="6181" name="Rectangle 5"/>
          <p:cNvSpPr>
            <a:spLocks noChangeArrowheads="1"/>
          </p:cNvSpPr>
          <p:nvPr/>
        </p:nvSpPr>
        <p:spPr bwMode="gray">
          <a:xfrm>
            <a:off x="3733800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Jan 2012</a:t>
            </a:r>
          </a:p>
        </p:txBody>
      </p:sp>
      <p:sp>
        <p:nvSpPr>
          <p:cNvPr id="6182" name="Rectangle 5"/>
          <p:cNvSpPr>
            <a:spLocks noChangeArrowheads="1"/>
          </p:cNvSpPr>
          <p:nvPr/>
        </p:nvSpPr>
        <p:spPr bwMode="gray">
          <a:xfrm>
            <a:off x="4441825" y="1477963"/>
            <a:ext cx="693738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Feb 2012</a:t>
            </a:r>
          </a:p>
        </p:txBody>
      </p:sp>
      <p:sp>
        <p:nvSpPr>
          <p:cNvPr id="6183" name="Rectangle 5"/>
          <p:cNvSpPr>
            <a:spLocks noChangeArrowheads="1"/>
          </p:cNvSpPr>
          <p:nvPr/>
        </p:nvSpPr>
        <p:spPr bwMode="gray">
          <a:xfrm>
            <a:off x="5148263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Mar 2012</a:t>
            </a:r>
          </a:p>
        </p:txBody>
      </p:sp>
      <p:sp>
        <p:nvSpPr>
          <p:cNvPr id="6184" name="Rectangle 5"/>
          <p:cNvSpPr>
            <a:spLocks noChangeArrowheads="1"/>
          </p:cNvSpPr>
          <p:nvPr/>
        </p:nvSpPr>
        <p:spPr bwMode="gray">
          <a:xfrm>
            <a:off x="5856288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Apr 2012</a:t>
            </a:r>
          </a:p>
        </p:txBody>
      </p:sp>
      <p:sp>
        <p:nvSpPr>
          <p:cNvPr id="6185" name="Rectangle 23"/>
          <p:cNvSpPr>
            <a:spLocks noChangeArrowheads="1"/>
          </p:cNvSpPr>
          <p:nvPr/>
        </p:nvSpPr>
        <p:spPr bwMode="gray">
          <a:xfrm>
            <a:off x="2870200" y="3065463"/>
            <a:ext cx="256381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spcBef>
                <a:spcPct val="15000"/>
              </a:spcBef>
              <a:spcAft>
                <a:spcPct val="15000"/>
              </a:spcAft>
              <a:buFont typeface="Verdana" pitchFamily="34" charset="0"/>
              <a:buAutoNum type="arabicPeriod" startAt="4"/>
              <a:tabLst>
                <a:tab pos="166688" algn="l"/>
              </a:tabLst>
            </a:pPr>
            <a:r>
              <a:rPr lang="en-US" sz="1000" dirty="0"/>
              <a:t>Project Phase - TBD</a:t>
            </a:r>
          </a:p>
          <a:p>
            <a:pPr marL="228600" indent="-228600">
              <a:spcBef>
                <a:spcPct val="15000"/>
              </a:spcBef>
              <a:spcAft>
                <a:spcPct val="15000"/>
              </a:spcAft>
              <a:buFont typeface="Verdana" pitchFamily="34" charset="0"/>
              <a:buAutoNum type="arabicPeriod" startAt="4"/>
              <a:tabLst>
                <a:tab pos="166688" algn="l"/>
              </a:tabLst>
            </a:pPr>
            <a:r>
              <a:rPr lang="en-US" sz="1000" dirty="0"/>
              <a:t>Project Phase - TBD</a:t>
            </a:r>
          </a:p>
          <a:p>
            <a:pPr marL="228600" indent="-228600">
              <a:spcBef>
                <a:spcPct val="15000"/>
              </a:spcBef>
              <a:spcAft>
                <a:spcPct val="15000"/>
              </a:spcAft>
              <a:buFont typeface="Verdana" pitchFamily="34" charset="0"/>
              <a:buAutoNum type="arabicPeriod" startAt="4"/>
              <a:tabLst>
                <a:tab pos="166688" algn="l"/>
              </a:tabLst>
            </a:pPr>
            <a:r>
              <a:rPr lang="en-US" sz="1000" dirty="0"/>
              <a:t>Deployment Date - TBD</a:t>
            </a:r>
          </a:p>
        </p:txBody>
      </p:sp>
      <p:sp>
        <p:nvSpPr>
          <p:cNvPr id="6186" name="Rectangle 5"/>
          <p:cNvSpPr>
            <a:spLocks noChangeArrowheads="1"/>
          </p:cNvSpPr>
          <p:nvPr/>
        </p:nvSpPr>
        <p:spPr bwMode="gray">
          <a:xfrm>
            <a:off x="195263" y="1477963"/>
            <a:ext cx="695325" cy="2286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Aug 2011</a:t>
            </a:r>
          </a:p>
        </p:txBody>
      </p:sp>
      <p:sp>
        <p:nvSpPr>
          <p:cNvPr id="106" name="Oval 70"/>
          <p:cNvSpPr>
            <a:spLocks noChangeArrowheads="1"/>
          </p:cNvSpPr>
          <p:nvPr/>
        </p:nvSpPr>
        <p:spPr bwMode="gray">
          <a:xfrm>
            <a:off x="5757863" y="1863725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6</a:t>
            </a:r>
          </a:p>
        </p:txBody>
      </p:sp>
      <p:sp>
        <p:nvSpPr>
          <p:cNvPr id="6188" name="Text Box 71"/>
          <p:cNvSpPr txBox="1">
            <a:spLocks noChangeArrowheads="1"/>
          </p:cNvSpPr>
          <p:nvPr/>
        </p:nvSpPr>
        <p:spPr bwMode="gray">
          <a:xfrm>
            <a:off x="5668963" y="2143125"/>
            <a:ext cx="46355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Mar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30</a:t>
            </a:r>
          </a:p>
        </p:txBody>
      </p:sp>
      <p:sp>
        <p:nvSpPr>
          <p:cNvPr id="108" name="Oval 61"/>
          <p:cNvSpPr>
            <a:spLocks noChangeArrowheads="1"/>
          </p:cNvSpPr>
          <p:nvPr/>
        </p:nvSpPr>
        <p:spPr bwMode="gray">
          <a:xfrm>
            <a:off x="4227513" y="1863725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4</a:t>
            </a:r>
          </a:p>
        </p:txBody>
      </p:sp>
      <p:sp>
        <p:nvSpPr>
          <p:cNvPr id="109" name="Oval 61"/>
          <p:cNvSpPr>
            <a:spLocks noChangeArrowheads="1"/>
          </p:cNvSpPr>
          <p:nvPr/>
        </p:nvSpPr>
        <p:spPr bwMode="gray">
          <a:xfrm>
            <a:off x="5334000" y="1863725"/>
            <a:ext cx="274638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5</a:t>
            </a:r>
          </a:p>
        </p:txBody>
      </p:sp>
      <p:sp>
        <p:nvSpPr>
          <p:cNvPr id="6191" name="Text Box 71"/>
          <p:cNvSpPr txBox="1">
            <a:spLocks noChangeArrowheads="1"/>
          </p:cNvSpPr>
          <p:nvPr/>
        </p:nvSpPr>
        <p:spPr bwMode="gray">
          <a:xfrm>
            <a:off x="4151313" y="2143125"/>
            <a:ext cx="463550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Jan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29</a:t>
            </a:r>
          </a:p>
        </p:txBody>
      </p:sp>
      <p:sp>
        <p:nvSpPr>
          <p:cNvPr id="6192" name="Text Box 71"/>
          <p:cNvSpPr txBox="1">
            <a:spLocks noChangeArrowheads="1"/>
          </p:cNvSpPr>
          <p:nvPr/>
        </p:nvSpPr>
        <p:spPr bwMode="gray">
          <a:xfrm>
            <a:off x="5259388" y="2143125"/>
            <a:ext cx="46355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Mar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15</a:t>
            </a:r>
          </a:p>
        </p:txBody>
      </p:sp>
      <p:sp>
        <p:nvSpPr>
          <p:cNvPr id="112" name="Oval 70"/>
          <p:cNvSpPr>
            <a:spLocks noChangeArrowheads="1"/>
          </p:cNvSpPr>
          <p:nvPr/>
        </p:nvSpPr>
        <p:spPr bwMode="gray">
          <a:xfrm>
            <a:off x="6334125" y="2520950"/>
            <a:ext cx="274638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6</a:t>
            </a:r>
          </a:p>
        </p:txBody>
      </p:sp>
      <p:sp>
        <p:nvSpPr>
          <p:cNvPr id="6194" name="Text Box 71"/>
          <p:cNvSpPr txBox="1">
            <a:spLocks noChangeArrowheads="1"/>
          </p:cNvSpPr>
          <p:nvPr/>
        </p:nvSpPr>
        <p:spPr bwMode="gray">
          <a:xfrm>
            <a:off x="6245225" y="2806700"/>
            <a:ext cx="46355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May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1</a:t>
            </a:r>
          </a:p>
        </p:txBody>
      </p:sp>
      <p:sp>
        <p:nvSpPr>
          <p:cNvPr id="114" name="Oval 70"/>
          <p:cNvSpPr>
            <a:spLocks noChangeArrowheads="1"/>
          </p:cNvSpPr>
          <p:nvPr/>
        </p:nvSpPr>
        <p:spPr bwMode="gray">
          <a:xfrm>
            <a:off x="3211513" y="2520950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3</a:t>
            </a:r>
          </a:p>
        </p:txBody>
      </p:sp>
      <p:sp>
        <p:nvSpPr>
          <p:cNvPr id="6196" name="Text Box 71"/>
          <p:cNvSpPr txBox="1">
            <a:spLocks noChangeArrowheads="1"/>
          </p:cNvSpPr>
          <p:nvPr/>
        </p:nvSpPr>
        <p:spPr bwMode="gray">
          <a:xfrm>
            <a:off x="3122613" y="2806700"/>
            <a:ext cx="463550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Dec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16</a:t>
            </a:r>
          </a:p>
        </p:txBody>
      </p:sp>
      <p:sp>
        <p:nvSpPr>
          <p:cNvPr id="6197" name="Oval 70"/>
          <p:cNvSpPr>
            <a:spLocks noChangeArrowheads="1"/>
          </p:cNvSpPr>
          <p:nvPr/>
        </p:nvSpPr>
        <p:spPr bwMode="gray">
          <a:xfrm>
            <a:off x="2241550" y="2520950"/>
            <a:ext cx="274638" cy="274638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/>
              <a:t>2</a:t>
            </a:r>
          </a:p>
        </p:txBody>
      </p:sp>
      <p:sp>
        <p:nvSpPr>
          <p:cNvPr id="6198" name="Text Box 71"/>
          <p:cNvSpPr txBox="1">
            <a:spLocks noChangeArrowheads="1"/>
          </p:cNvSpPr>
          <p:nvPr/>
        </p:nvSpPr>
        <p:spPr bwMode="gray">
          <a:xfrm>
            <a:off x="2152650" y="2806700"/>
            <a:ext cx="46355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Nov 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1</a:t>
            </a:r>
          </a:p>
        </p:txBody>
      </p:sp>
      <p:sp>
        <p:nvSpPr>
          <p:cNvPr id="118" name="Oval 61"/>
          <p:cNvSpPr>
            <a:spLocks noChangeArrowheads="1"/>
          </p:cNvSpPr>
          <p:nvPr/>
        </p:nvSpPr>
        <p:spPr bwMode="gray">
          <a:xfrm>
            <a:off x="5783263" y="2520950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4</a:t>
            </a:r>
          </a:p>
        </p:txBody>
      </p:sp>
      <p:sp>
        <p:nvSpPr>
          <p:cNvPr id="119" name="Oval 61"/>
          <p:cNvSpPr>
            <a:spLocks noChangeArrowheads="1"/>
          </p:cNvSpPr>
          <p:nvPr/>
        </p:nvSpPr>
        <p:spPr bwMode="gray">
          <a:xfrm>
            <a:off x="6069013" y="2520950"/>
            <a:ext cx="274637" cy="274638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000" dirty="0"/>
              <a:t>5</a:t>
            </a:r>
          </a:p>
        </p:txBody>
      </p:sp>
      <p:sp>
        <p:nvSpPr>
          <p:cNvPr id="6201" name="Text Box 71"/>
          <p:cNvSpPr txBox="1">
            <a:spLocks noChangeArrowheads="1"/>
          </p:cNvSpPr>
          <p:nvPr/>
        </p:nvSpPr>
        <p:spPr bwMode="gray">
          <a:xfrm>
            <a:off x="5697538" y="2806700"/>
            <a:ext cx="46355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Mar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30</a:t>
            </a:r>
          </a:p>
        </p:txBody>
      </p:sp>
      <p:sp>
        <p:nvSpPr>
          <p:cNvPr id="6202" name="Text Box 71"/>
          <p:cNvSpPr txBox="1">
            <a:spLocks noChangeArrowheads="1"/>
          </p:cNvSpPr>
          <p:nvPr/>
        </p:nvSpPr>
        <p:spPr bwMode="gray">
          <a:xfrm>
            <a:off x="5972175" y="2806700"/>
            <a:ext cx="46355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Apr</a:t>
            </a:r>
          </a:p>
          <a:p>
            <a:pPr algn="ctr"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US" sz="700"/>
              <a:t>15</a:t>
            </a:r>
          </a:p>
        </p:txBody>
      </p:sp>
      <p:sp>
        <p:nvSpPr>
          <p:cNvPr id="6203" name="Rectangle 26"/>
          <p:cNvSpPr>
            <a:spLocks noChangeArrowheads="1"/>
          </p:cNvSpPr>
          <p:nvPr/>
        </p:nvSpPr>
        <p:spPr bwMode="gray">
          <a:xfrm>
            <a:off x="76200" y="4975225"/>
            <a:ext cx="3195638" cy="1562100"/>
          </a:xfrm>
          <a:prstGeom prst="rect">
            <a:avLst/>
          </a:prstGeom>
          <a:solidFill>
            <a:schemeClr val="bg1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rIns="0"/>
          <a:lstStyle/>
          <a:p>
            <a:pPr marL="171450" indent="-171450">
              <a:spcBef>
                <a:spcPct val="15000"/>
              </a:spcBef>
              <a:spcAft>
                <a:spcPct val="15000"/>
              </a:spcAft>
            </a:pPr>
            <a:r>
              <a:rPr lang="en-US" sz="1000" b="1" dirty="0"/>
              <a:t>Key Risks and Issues</a:t>
            </a:r>
          </a:p>
          <a:p>
            <a:pPr marL="171450" indent="-171450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71450" indent="-171450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</p:txBody>
      </p:sp>
      <p:sp>
        <p:nvSpPr>
          <p:cNvPr id="6204" name="Rectangle 27"/>
          <p:cNvSpPr>
            <a:spLocks noChangeArrowheads="1"/>
          </p:cNvSpPr>
          <p:nvPr/>
        </p:nvSpPr>
        <p:spPr bwMode="gray">
          <a:xfrm>
            <a:off x="3352800" y="4970463"/>
            <a:ext cx="3276600" cy="1560512"/>
          </a:xfrm>
          <a:prstGeom prst="rect">
            <a:avLst/>
          </a:prstGeom>
          <a:solidFill>
            <a:schemeClr val="bg1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/>
          <a:lstStyle/>
          <a:p>
            <a:pPr marL="166688" indent="-166688">
              <a:spcBef>
                <a:spcPct val="15000"/>
              </a:spcBef>
              <a:spcAft>
                <a:spcPct val="15000"/>
              </a:spcAft>
            </a:pPr>
            <a:r>
              <a:rPr lang="en-US" sz="1000" b="1" dirty="0"/>
              <a:t>Required Decisions &amp; Guidance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900" dirty="0"/>
              <a:t>TBD</a:t>
            </a:r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</a:pPr>
            <a:endParaRPr lang="en-US" sz="1100" b="1" dirty="0"/>
          </a:p>
          <a:p>
            <a:pPr marL="166688" indent="-166688">
              <a:spcBef>
                <a:spcPct val="15000"/>
              </a:spcBef>
              <a:spcAft>
                <a:spcPct val="15000"/>
              </a:spcAft>
            </a:pPr>
            <a:endParaRPr lang="en-US" sz="1100" dirty="0"/>
          </a:p>
        </p:txBody>
      </p:sp>
      <p:sp>
        <p:nvSpPr>
          <p:cNvPr id="124" name="Rectangle 42"/>
          <p:cNvSpPr>
            <a:spLocks noChangeArrowheads="1"/>
          </p:cNvSpPr>
          <p:nvPr/>
        </p:nvSpPr>
        <p:spPr bwMode="gray">
          <a:xfrm>
            <a:off x="1295400" y="6610350"/>
            <a:ext cx="609600" cy="1524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800" dirty="0">
                <a:solidFill>
                  <a:schemeClr val="bg1"/>
                </a:solidFill>
              </a:rPr>
              <a:t>Gray</a:t>
            </a:r>
          </a:p>
        </p:txBody>
      </p:sp>
      <p:sp>
        <p:nvSpPr>
          <p:cNvPr id="62" name="Footer Placeholder 3"/>
          <p:cNvSpPr txBox="1">
            <a:spLocks/>
          </p:cNvSpPr>
          <p:nvPr/>
        </p:nvSpPr>
        <p:spPr>
          <a:xfrm>
            <a:off x="6248400" y="6248400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 </a:t>
            </a:r>
            <a:fld id="{3839EE53-753A-4AE1-9B62-1070B4C7F677}" type="slidenum">
              <a:rPr lang="en-US" sz="1400" smtClean="0"/>
              <a:pPr algn="just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253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66724"/>
            <a:ext cx="8305800" cy="609600"/>
          </a:xfrm>
          <a:solidFill>
            <a:srgbClr val="0070C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pPr algn="l" eaLnBrk="1" hangingPunct="1"/>
            <a:r>
              <a:rPr lang="en-US" dirty="0"/>
              <a:t>Project Status Summary Sample 2</a:t>
            </a: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76200" y="2514600"/>
            <a:ext cx="89154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 b="1" dirty="0"/>
              <a:t>Summary of Recent Status:  </a:t>
            </a:r>
            <a:r>
              <a:rPr lang="en-US" sz="1000" dirty="0"/>
              <a:t>TBD</a:t>
            </a:r>
          </a:p>
          <a:p>
            <a:pPr eaLnBrk="1" hangingPunct="1"/>
            <a:endParaRPr lang="en-US" sz="1000" b="1" dirty="0"/>
          </a:p>
          <a:p>
            <a:pPr eaLnBrk="1" hangingPunct="1"/>
            <a:endParaRPr lang="en-US" sz="1000" b="1" dirty="0"/>
          </a:p>
          <a:p>
            <a:pPr eaLnBrk="1" hangingPunct="1"/>
            <a:r>
              <a:rPr lang="en-US" sz="1000" b="1" dirty="0"/>
              <a:t>Activities Completed: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eaLnBrk="1" hangingPunct="1"/>
            <a:r>
              <a:rPr lang="en-US" sz="1000" b="1" dirty="0"/>
              <a:t>Activities In Progress: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eaLnBrk="1" hangingPunct="1"/>
            <a:r>
              <a:rPr lang="en-US" sz="1000" b="1" dirty="0"/>
              <a:t>Issues/Risks: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sz="1000" dirty="0"/>
              <a:t>TBD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6850" y="5257800"/>
          <a:ext cx="8718551" cy="13256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1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8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8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45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Deliverable</a:t>
                      </a:r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Owner/Signoff</a:t>
                      </a:r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Status</a:t>
                      </a:r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Planned/Revised Completion Date</a:t>
                      </a:r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Comments</a:t>
                      </a:r>
                    </a:p>
                  </a:txBody>
                  <a:tcPr marL="91444" marR="91444"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0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0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0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0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78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91444" marR="91444" marT="45709" marB="4570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17" name="Rectangle 5"/>
          <p:cNvSpPr>
            <a:spLocks noChangeArrowheads="1"/>
          </p:cNvSpPr>
          <p:nvPr/>
        </p:nvSpPr>
        <p:spPr bwMode="auto">
          <a:xfrm>
            <a:off x="2209800" y="1866900"/>
            <a:ext cx="1219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1139825">
              <a:lnSpc>
                <a:spcPct val="90000"/>
              </a:lnSpc>
              <a:spcBef>
                <a:spcPct val="20000"/>
              </a:spcBef>
              <a:tabLst>
                <a:tab pos="288925" algn="l"/>
                <a:tab pos="3946525" algn="l"/>
              </a:tabLst>
            </a:pPr>
            <a:endParaRPr lang="en-US"/>
          </a:p>
        </p:txBody>
      </p:sp>
      <p:sp>
        <p:nvSpPr>
          <p:cNvPr id="7218" name="TextBox 18"/>
          <p:cNvSpPr txBox="1">
            <a:spLocks noChangeArrowheads="1"/>
          </p:cNvSpPr>
          <p:nvPr/>
        </p:nvSpPr>
        <p:spPr bwMode="auto">
          <a:xfrm>
            <a:off x="76200" y="4953000"/>
            <a:ext cx="3962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 b="1"/>
              <a:t>Key Deliverables/Milestones</a:t>
            </a:r>
            <a:r>
              <a:rPr lang="en-US" sz="1200" b="1"/>
              <a:t>:</a:t>
            </a:r>
            <a:endParaRPr lang="en-US" sz="1200"/>
          </a:p>
        </p:txBody>
      </p:sp>
      <p:sp>
        <p:nvSpPr>
          <p:cNvPr id="7219" name="TextBox 21"/>
          <p:cNvSpPr txBox="1">
            <a:spLocks noChangeArrowheads="1"/>
          </p:cNvSpPr>
          <p:nvPr/>
        </p:nvSpPr>
        <p:spPr bwMode="auto">
          <a:xfrm>
            <a:off x="76200" y="1219200"/>
            <a:ext cx="6248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 b="1" dirty="0"/>
              <a:t>Project Name:			Current Phase:</a:t>
            </a:r>
          </a:p>
          <a:p>
            <a:pPr eaLnBrk="1" hangingPunct="1"/>
            <a:r>
              <a:rPr lang="en-US" sz="1000" b="1" dirty="0"/>
              <a:t>Project Start:			Planned/Revised End:</a:t>
            </a:r>
          </a:p>
          <a:p>
            <a:pPr eaLnBrk="1" hangingPunct="1"/>
            <a:r>
              <a:rPr lang="en-US" sz="1000" b="1" dirty="0"/>
              <a:t>Baseline Budget: 		% Budget Spent:</a:t>
            </a:r>
            <a:endParaRPr lang="en-US" sz="1000" dirty="0"/>
          </a:p>
        </p:txBody>
      </p:sp>
      <p:sp>
        <p:nvSpPr>
          <p:cNvPr id="7220" name="TextBox 25"/>
          <p:cNvSpPr txBox="1">
            <a:spLocks noChangeArrowheads="1"/>
          </p:cNvSpPr>
          <p:nvPr/>
        </p:nvSpPr>
        <p:spPr bwMode="auto">
          <a:xfrm>
            <a:off x="76200" y="2114550"/>
            <a:ext cx="274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 b="1"/>
              <a:t>Overall Project Status As of </a:t>
            </a:r>
            <a:r>
              <a:rPr lang="en-US" sz="1000" i="1">
                <a:solidFill>
                  <a:srgbClr val="FF0000"/>
                </a:solidFill>
              </a:rPr>
              <a:t>&lt;Insert Date&gt;</a:t>
            </a:r>
            <a:r>
              <a:rPr lang="en-US" sz="1000"/>
              <a:t>:</a:t>
            </a:r>
          </a:p>
          <a:p>
            <a:pPr eaLnBrk="1" hangingPunct="1"/>
            <a:r>
              <a:rPr lang="en-US" sz="1000"/>
              <a:t> </a:t>
            </a:r>
          </a:p>
        </p:txBody>
      </p:sp>
      <p:sp>
        <p:nvSpPr>
          <p:cNvPr id="7221" name="Rectangle 210"/>
          <p:cNvSpPr>
            <a:spLocks noChangeArrowheads="1"/>
          </p:cNvSpPr>
          <p:nvPr/>
        </p:nvSpPr>
        <p:spPr bwMode="auto">
          <a:xfrm rot="5400000">
            <a:off x="3005137" y="1757363"/>
            <a:ext cx="390525" cy="914400"/>
          </a:xfrm>
          <a:prstGeom prst="rect">
            <a:avLst/>
          </a:prstGeom>
          <a:solidFill>
            <a:srgbClr val="96969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222" name="Oval 211"/>
          <p:cNvSpPr>
            <a:spLocks noChangeArrowheads="1"/>
          </p:cNvSpPr>
          <p:nvPr/>
        </p:nvSpPr>
        <p:spPr bwMode="auto">
          <a:xfrm rot="5400000">
            <a:off x="2753519" y="2094706"/>
            <a:ext cx="228600" cy="2492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223" name="Oval 213"/>
          <p:cNvSpPr>
            <a:spLocks noChangeArrowheads="1"/>
          </p:cNvSpPr>
          <p:nvPr/>
        </p:nvSpPr>
        <p:spPr bwMode="auto">
          <a:xfrm rot="5400000">
            <a:off x="3086101" y="2093912"/>
            <a:ext cx="228600" cy="2508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224" name="Oval 214"/>
          <p:cNvSpPr>
            <a:spLocks noChangeArrowheads="1"/>
          </p:cNvSpPr>
          <p:nvPr/>
        </p:nvSpPr>
        <p:spPr bwMode="auto">
          <a:xfrm rot="5400000">
            <a:off x="3418682" y="2094706"/>
            <a:ext cx="228600" cy="24923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225" name="Right Arrow 38"/>
          <p:cNvSpPr>
            <a:spLocks noChangeArrowheads="1"/>
          </p:cNvSpPr>
          <p:nvPr/>
        </p:nvSpPr>
        <p:spPr bwMode="auto">
          <a:xfrm rot="5400000">
            <a:off x="2740819" y="1831181"/>
            <a:ext cx="266700" cy="261938"/>
          </a:xfrm>
          <a:prstGeom prst="rightArrow">
            <a:avLst>
              <a:gd name="adj1" fmla="val 50000"/>
              <a:gd name="adj2" fmla="val 50051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1139825">
              <a:lnSpc>
                <a:spcPct val="90000"/>
              </a:lnSpc>
              <a:spcBef>
                <a:spcPct val="20000"/>
              </a:spcBef>
              <a:tabLst>
                <a:tab pos="288925" algn="l"/>
                <a:tab pos="3946525" algn="l"/>
              </a:tabLst>
            </a:pPr>
            <a:endParaRPr lang="en-US"/>
          </a:p>
        </p:txBody>
      </p:sp>
      <p:sp>
        <p:nvSpPr>
          <p:cNvPr id="15" name="Footer Placeholder 3"/>
          <p:cNvSpPr txBox="1">
            <a:spLocks/>
          </p:cNvSpPr>
          <p:nvPr/>
        </p:nvSpPr>
        <p:spPr>
          <a:xfrm>
            <a:off x="6248400" y="6248400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 </a:t>
            </a:r>
            <a:fld id="{3839EE53-753A-4AE1-9B62-1070B4C7F677}" type="slidenum">
              <a:rPr lang="en-US" sz="1400" smtClean="0"/>
              <a:pPr algn="just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581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42938"/>
            <a:ext cx="8305800" cy="609600"/>
          </a:xfrm>
          <a:solidFill>
            <a:srgbClr val="0070C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pPr algn="l" eaLnBrk="1" hangingPunct="1"/>
            <a:r>
              <a:rPr lang="en-US" dirty="0"/>
              <a:t>Project Status Summary Sample 3</a:t>
            </a:r>
          </a:p>
        </p:txBody>
      </p:sp>
      <p:graphicFrame>
        <p:nvGraphicFramePr>
          <p:cNvPr id="5" name="Group 26"/>
          <p:cNvGraphicFramePr>
            <a:graphicFrameLocks noGrp="1"/>
          </p:cNvGraphicFramePr>
          <p:nvPr>
            <p:ph sz="half" idx="1"/>
          </p:nvPr>
        </p:nvGraphicFramePr>
        <p:xfrm>
          <a:off x="152400" y="1984375"/>
          <a:ext cx="8763000" cy="4416425"/>
        </p:xfrm>
        <a:graphic>
          <a:graphicData uri="http://schemas.openxmlformats.org/drawingml/2006/table">
            <a:tbl>
              <a:tblPr/>
              <a:tblGrid>
                <a:gridCol w="4456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3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Activities Completed through </a:t>
                      </a:r>
                      <a:r>
                        <a:rPr kumimoji="0" lang="en-US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&lt;Insert Date&gt;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Next Steps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726">
                <a:tc>
                  <a:txBody>
                    <a:bodyPr/>
                    <a:lstStyle/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Phase /</a:t>
                      </a: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Workstream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TBD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Phase /</a:t>
                      </a: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Workstream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TBD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Phase /</a:t>
                      </a: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Workstream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TBD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Phase /</a:t>
                      </a: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Workstream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TBD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73038" marR="0" lvl="0" indent="-17303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19063" marR="0" lvl="0" indent="-1190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104">
                <a:tc>
                  <a:txBody>
                    <a:bodyPr/>
                    <a:lstStyle/>
                    <a:p>
                      <a:pPr marL="119063" marR="0" lvl="0" indent="-119063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Risks/Key Decisions Required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Budget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255">
                <a:tc>
                  <a:txBody>
                    <a:bodyPr/>
                    <a:lstStyle/>
                    <a:p>
                      <a:pPr marL="119063" marR="0" lvl="0" indent="-1190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19063" marR="0" lvl="0" indent="-1190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19063" marR="0" lvl="0" indent="-1190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00000"/>
                        <a:buFontTx/>
                        <a:buChar char="•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  <a:p>
                      <a:pPr marL="119063" marR="0" lvl="0" indent="-1190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Tx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TBD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213" name="TextBox 11"/>
          <p:cNvSpPr txBox="1">
            <a:spLocks noChangeArrowheads="1"/>
          </p:cNvSpPr>
          <p:nvPr/>
        </p:nvSpPr>
        <p:spPr bwMode="auto">
          <a:xfrm>
            <a:off x="76200" y="1504950"/>
            <a:ext cx="274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 b="1"/>
              <a:t>Overall Project Status As of </a:t>
            </a:r>
            <a:r>
              <a:rPr lang="en-US" sz="1000" i="1">
                <a:solidFill>
                  <a:srgbClr val="FF0000"/>
                </a:solidFill>
              </a:rPr>
              <a:t>&lt;Insert Date&gt;</a:t>
            </a:r>
            <a:r>
              <a:rPr lang="en-US" sz="1000"/>
              <a:t>:</a:t>
            </a:r>
          </a:p>
          <a:p>
            <a:pPr eaLnBrk="1" hangingPunct="1"/>
            <a:r>
              <a:rPr lang="en-US" sz="1000"/>
              <a:t> </a:t>
            </a:r>
          </a:p>
        </p:txBody>
      </p:sp>
      <p:sp>
        <p:nvSpPr>
          <p:cNvPr id="8214" name="Rectangle 210"/>
          <p:cNvSpPr>
            <a:spLocks noChangeArrowheads="1"/>
          </p:cNvSpPr>
          <p:nvPr/>
        </p:nvSpPr>
        <p:spPr bwMode="auto">
          <a:xfrm rot="5400000">
            <a:off x="3005137" y="1214438"/>
            <a:ext cx="390525" cy="914400"/>
          </a:xfrm>
          <a:prstGeom prst="rect">
            <a:avLst/>
          </a:prstGeom>
          <a:solidFill>
            <a:srgbClr val="96969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8215" name="Oval 211"/>
          <p:cNvSpPr>
            <a:spLocks noChangeArrowheads="1"/>
          </p:cNvSpPr>
          <p:nvPr/>
        </p:nvSpPr>
        <p:spPr bwMode="auto">
          <a:xfrm rot="5400000">
            <a:off x="2753519" y="1551781"/>
            <a:ext cx="228600" cy="2492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8216" name="Oval 213"/>
          <p:cNvSpPr>
            <a:spLocks noChangeArrowheads="1"/>
          </p:cNvSpPr>
          <p:nvPr/>
        </p:nvSpPr>
        <p:spPr bwMode="auto">
          <a:xfrm rot="5400000">
            <a:off x="3086101" y="1550987"/>
            <a:ext cx="228600" cy="2508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8217" name="Oval 214"/>
          <p:cNvSpPr>
            <a:spLocks noChangeArrowheads="1"/>
          </p:cNvSpPr>
          <p:nvPr/>
        </p:nvSpPr>
        <p:spPr bwMode="auto">
          <a:xfrm rot="5400000">
            <a:off x="3418682" y="1551781"/>
            <a:ext cx="228600" cy="24923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8218" name="Right Arrow 1"/>
          <p:cNvSpPr>
            <a:spLocks noChangeArrowheads="1"/>
          </p:cNvSpPr>
          <p:nvPr/>
        </p:nvSpPr>
        <p:spPr bwMode="auto">
          <a:xfrm rot="5400000">
            <a:off x="2740819" y="1297781"/>
            <a:ext cx="266700" cy="261938"/>
          </a:xfrm>
          <a:prstGeom prst="rightArrow">
            <a:avLst>
              <a:gd name="adj1" fmla="val 50000"/>
              <a:gd name="adj2" fmla="val 50051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1139825">
              <a:lnSpc>
                <a:spcPct val="90000"/>
              </a:lnSpc>
              <a:spcBef>
                <a:spcPct val="20000"/>
              </a:spcBef>
              <a:tabLst>
                <a:tab pos="288925" algn="l"/>
                <a:tab pos="3946525" algn="l"/>
              </a:tabLst>
            </a:pPr>
            <a:endParaRPr lang="en-US"/>
          </a:p>
        </p:txBody>
      </p:sp>
      <p:sp>
        <p:nvSpPr>
          <p:cNvPr id="11" name="Footer Placeholder 3"/>
          <p:cNvSpPr txBox="1">
            <a:spLocks/>
          </p:cNvSpPr>
          <p:nvPr/>
        </p:nvSpPr>
        <p:spPr>
          <a:xfrm>
            <a:off x="6248400" y="6248400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 </a:t>
            </a:r>
            <a:fld id="{3839EE53-753A-4AE1-9B62-1070B4C7F677}" type="slidenum">
              <a:rPr lang="en-US" sz="1400" smtClean="0"/>
              <a:pPr algn="just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6926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7" y="673100"/>
            <a:ext cx="8305800" cy="609600"/>
          </a:xfrm>
          <a:solidFill>
            <a:srgbClr val="0070C0"/>
          </a:solidFill>
        </p:spPr>
        <p:txBody>
          <a:bodyPr/>
          <a:lstStyle/>
          <a:p>
            <a:pPr algn="l" eaLnBrk="1" hangingPunct="1"/>
            <a:r>
              <a:rPr lang="en-US" dirty="0"/>
              <a:t>Project Status Summary Sample 4</a:t>
            </a:r>
          </a:p>
        </p:txBody>
      </p:sp>
      <p:graphicFrame>
        <p:nvGraphicFramePr>
          <p:cNvPr id="9220" name="Object 7"/>
          <p:cNvGraphicFramePr>
            <a:graphicFrameLocks noChangeAspect="1"/>
          </p:cNvGraphicFramePr>
          <p:nvPr/>
        </p:nvGraphicFramePr>
        <p:xfrm>
          <a:off x="304800" y="1600200"/>
          <a:ext cx="8558213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Worksheet" r:id="rId3" imgW="11801424" imgH="5972121" progId="Excel.Sheet.8">
                  <p:embed/>
                </p:oleObj>
              </mc:Choice>
              <mc:Fallback>
                <p:oleObj name="Worksheet" r:id="rId3" imgW="11801424" imgH="597212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00200"/>
                        <a:ext cx="8558213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3"/>
          <p:cNvSpPr txBox="1">
            <a:spLocks/>
          </p:cNvSpPr>
          <p:nvPr/>
        </p:nvSpPr>
        <p:spPr>
          <a:xfrm>
            <a:off x="6248400" y="6248400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lnSpc>
                <a:spcPct val="90000"/>
              </a:lnSpc>
              <a:spcBef>
                <a:spcPct val="20000"/>
              </a:spcBef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 dirty="0"/>
              <a:t>		               </a:t>
            </a:r>
            <a:fld id="{3839EE53-753A-4AE1-9B62-1070B4C7F677}" type="slidenum">
              <a:rPr lang="en-US" sz="1400" smtClean="0"/>
              <a:pPr algn="just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96603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139825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>
            <a:tab pos="288925" algn="l"/>
            <a:tab pos="3946525" algn="l"/>
          </a:tabLst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139825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>
            <a:tab pos="288925" algn="l"/>
            <a:tab pos="3946525" algn="l"/>
          </a:tabLst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425</Words>
  <Application>Microsoft Office PowerPoint</Application>
  <PresentationFormat>On-screen Show (4:3)</PresentationFormat>
  <Paragraphs>160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Verdana</vt:lpstr>
      <vt:lpstr>Wingdings</vt:lpstr>
      <vt:lpstr>Default Design</vt:lpstr>
      <vt:lpstr>Worksheet</vt:lpstr>
      <vt:lpstr>Sample Project Status/Schedule Summaries</vt:lpstr>
      <vt:lpstr>Project Status Summary Sample 1</vt:lpstr>
      <vt:lpstr>Project Status Summary Sample 2</vt:lpstr>
      <vt:lpstr>Project Status Summary Sample 3</vt:lpstr>
      <vt:lpstr>Project Status Summary Sample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2011-10-27T19:29:41Z</dcterms:created>
  <dcterms:modified xsi:type="dcterms:W3CDTF">2022-05-23T21:41:27Z</dcterms:modified>
</cp:coreProperties>
</file>