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Override1.xml" ContentType="application/vnd.openxmlformats-officedocument.themeOverride+xml"/>
  <Override PartName="/ppt/tags/tag29.xml" ContentType="application/vnd.openxmlformats-officedocument.presentationml.tag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tags/tag27.xml" ContentType="application/vnd.openxmlformats-officedocument.presentationml.tags+xml"/>
  <Override PartName="/docProps/custom.xml" ContentType="application/vnd.openxmlformats-officedocument.custom-propertie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customXml/itemProps4.xml" ContentType="application/vnd.openxmlformats-officedocument.customXmlProperties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Layouts/slideLayout7.xml" ContentType="application/vnd.openxmlformats-officedocument.presentationml.slideLayout+xml"/>
  <Override PartName="/ppt/tags/tag7.xml" ContentType="application/vnd.openxmlformats-officedocument.presentationml.tags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Default Extension="emf" ContentType="image/x-emf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58" r:id="rId6"/>
    <p:sldId id="257" r:id="rId7"/>
    <p:sldId id="259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>
      <p:cViewPr>
        <p:scale>
          <a:sx n="100" d="100"/>
          <a:sy n="100" d="100"/>
        </p:scale>
        <p:origin x="-1770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9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26" Type="http://schemas.openxmlformats.org/officeDocument/2006/relationships/tags" Target="../tags/tag25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34" Type="http://schemas.openxmlformats.org/officeDocument/2006/relationships/tags" Target="../tags/tag33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tags" Target="../tags/tag24.xml"/><Relationship Id="rId33" Type="http://schemas.openxmlformats.org/officeDocument/2006/relationships/tags" Target="../tags/tag32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0" Type="http://schemas.openxmlformats.org/officeDocument/2006/relationships/tags" Target="../tags/tag19.xml"/><Relationship Id="rId29" Type="http://schemas.openxmlformats.org/officeDocument/2006/relationships/tags" Target="../tags/tag28.xml"/><Relationship Id="rId1" Type="http://schemas.openxmlformats.org/officeDocument/2006/relationships/vmlDrawing" Target="../drawings/vmlDrawing1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tags" Target="../tags/tag23.xml"/><Relationship Id="rId32" Type="http://schemas.openxmlformats.org/officeDocument/2006/relationships/tags" Target="../tags/tag31.xml"/><Relationship Id="rId37" Type="http://schemas.openxmlformats.org/officeDocument/2006/relationships/oleObject" Target="../embeddings/oleObject1.bin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tags" Target="../tags/tag22.xml"/><Relationship Id="rId28" Type="http://schemas.openxmlformats.org/officeDocument/2006/relationships/tags" Target="../tags/tag27.xml"/><Relationship Id="rId36" Type="http://schemas.openxmlformats.org/officeDocument/2006/relationships/image" Target="../media/image3.png"/><Relationship Id="rId10" Type="http://schemas.openxmlformats.org/officeDocument/2006/relationships/tags" Target="../tags/tag9.xml"/><Relationship Id="rId19" Type="http://schemas.openxmlformats.org/officeDocument/2006/relationships/tags" Target="../tags/tag18.xml"/><Relationship Id="rId31" Type="http://schemas.openxmlformats.org/officeDocument/2006/relationships/tags" Target="../tags/tag30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tags" Target="../tags/tag21.xml"/><Relationship Id="rId27" Type="http://schemas.openxmlformats.org/officeDocument/2006/relationships/tags" Target="../tags/tag26.xml"/><Relationship Id="rId30" Type="http://schemas.openxmlformats.org/officeDocument/2006/relationships/tags" Target="../tags/tag29.xml"/><Relationship Id="rId35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4" name="Group 272"/>
          <p:cNvGraphicFramePr>
            <a:graphicFrameLocks noGrp="1"/>
          </p:cNvGraphicFramePr>
          <p:nvPr/>
        </p:nvGraphicFramePr>
        <p:xfrm>
          <a:off x="76202" y="2133595"/>
          <a:ext cx="4355123" cy="4114805"/>
        </p:xfrm>
        <a:graphic>
          <a:graphicData uri="http://schemas.openxmlformats.org/drawingml/2006/table">
            <a:tbl>
              <a:tblPr/>
              <a:tblGrid>
                <a:gridCol w="4355123"/>
              </a:tblGrid>
              <a:tr h="15419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B.  KEY ACCOMPLISHMENTS 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204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  <a:r>
                        <a:rPr kumimoji="0" lang="en-US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Milestone 1 – DD MMM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354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C.  ACTIVITIES BEHIND SCHEDULE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204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  <a:r>
                        <a:rPr kumimoji="0" lang="en-US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Milestone 1 – DD MMM YY (New completion date of milestone)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473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D.  KEY ACTIVITIES PLANNED NEXT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204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  <a:r>
                        <a:rPr kumimoji="0" lang="en-US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Milestone 1 – DD MMM YY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34100" name="Group 852"/>
          <p:cNvGraphicFramePr>
            <a:graphicFrameLocks noGrp="1"/>
          </p:cNvGraphicFramePr>
          <p:nvPr/>
        </p:nvGraphicFramePr>
        <p:xfrm>
          <a:off x="4572000" y="3413644"/>
          <a:ext cx="4495800" cy="2324616"/>
        </p:xfrm>
        <a:graphic>
          <a:graphicData uri="http://schemas.openxmlformats.org/drawingml/2006/table">
            <a:tbl>
              <a:tblPr/>
              <a:tblGrid>
                <a:gridCol w="1074759"/>
                <a:gridCol w="1363641"/>
                <a:gridCol w="917053"/>
                <a:gridCol w="1140347"/>
              </a:tblGrid>
              <a:tr h="162849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G. MATTERS FOR IMMEDIATE ATTENTION – typically specific current issues or scope changes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57307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Issues to be resolved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21947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I#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7721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2947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Scope Change requests to be approved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18778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/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/>
                </a:tc>
              </a:tr>
              <a:tr h="18778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299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17" name="Group 245"/>
          <p:cNvGraphicFramePr>
            <a:graphicFrameLocks noGrp="1"/>
          </p:cNvGraphicFramePr>
          <p:nvPr/>
        </p:nvGraphicFramePr>
        <p:xfrm>
          <a:off x="70338" y="838194"/>
          <a:ext cx="4360985" cy="1143006"/>
        </p:xfrm>
        <a:graphic>
          <a:graphicData uri="http://schemas.openxmlformats.org/drawingml/2006/table">
            <a:tbl>
              <a:tblPr/>
              <a:tblGrid>
                <a:gridCol w="4360985"/>
              </a:tblGrid>
              <a:tr h="175665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A.  </a:t>
                      </a:r>
                      <a:r>
                        <a:rPr kumimoji="0" lang="en-GB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EXECUTIVE SUMMARY – a summary of the progress for this period (not of the initiative)</a:t>
                      </a: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3231" marR="33231" marT="14400" marB="14400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967341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3231" marR="33231" marT="14400" marB="14400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42" name="Group 270"/>
          <p:cNvGraphicFramePr>
            <a:graphicFrameLocks noGrp="1"/>
          </p:cNvGraphicFramePr>
          <p:nvPr/>
        </p:nvGraphicFramePr>
        <p:xfrm>
          <a:off x="4572001" y="838199"/>
          <a:ext cx="4479007" cy="1167457"/>
        </p:xfrm>
        <a:graphic>
          <a:graphicData uri="http://schemas.openxmlformats.org/drawingml/2006/table">
            <a:tbl>
              <a:tblPr/>
              <a:tblGrid>
                <a:gridCol w="1475181"/>
                <a:gridCol w="773281"/>
                <a:gridCol w="773281"/>
                <a:gridCol w="386641"/>
                <a:gridCol w="541297"/>
                <a:gridCol w="529326"/>
              </a:tblGrid>
              <a:tr h="15240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E.  MILESTONES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Individual Milestone Name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Planned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Projected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Conf.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Rating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COMPLETE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813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192156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Group 270"/>
          <p:cNvGraphicFramePr>
            <a:graphicFrameLocks noGrp="1"/>
          </p:cNvGraphicFramePr>
          <p:nvPr/>
        </p:nvGraphicFramePr>
        <p:xfrm>
          <a:off x="7570453" y="69061"/>
          <a:ext cx="1503209" cy="535063"/>
        </p:xfrm>
        <a:graphic>
          <a:graphicData uri="http://schemas.openxmlformats.org/drawingml/2006/table">
            <a:tbl>
              <a:tblPr/>
              <a:tblGrid>
                <a:gridCol w="751604"/>
                <a:gridCol w="751605"/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INITIATIVE STATUS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93813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0" y="2133600"/>
          <a:ext cx="4495800" cy="1177353"/>
        </p:xfrm>
        <a:graphic>
          <a:graphicData uri="http://schemas.openxmlformats.org/drawingml/2006/table">
            <a:tbl>
              <a:tblPr/>
              <a:tblGrid>
                <a:gridCol w="1068162"/>
                <a:gridCol w="1370238"/>
                <a:gridCol w="914854"/>
                <a:gridCol w="1142546"/>
              </a:tblGrid>
              <a:tr h="138113">
                <a:tc gridSpan="2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F.  KEY RISKS – typically future challenges or external circumstances that may affect the initiative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38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Risks to be addressed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Mitigating Action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19962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R#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62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0" y="5562604"/>
          <a:ext cx="4495800" cy="685801"/>
        </p:xfrm>
        <a:graphic>
          <a:graphicData uri="http://schemas.openxmlformats.org/drawingml/2006/table">
            <a:tbl>
              <a:tblPr/>
              <a:tblGrid>
                <a:gridCol w="4495800"/>
              </a:tblGrid>
              <a:tr h="18039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H.  GENERAL COMMENTS – must include reasoning for an overall Red or Amber Status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50540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270"/>
          <p:cNvGraphicFramePr>
            <a:graphicFrameLocks noGrp="1"/>
          </p:cNvGraphicFramePr>
          <p:nvPr/>
        </p:nvGraphicFramePr>
        <p:xfrm>
          <a:off x="1187624" y="6585504"/>
          <a:ext cx="351692" cy="88326"/>
        </p:xfrm>
        <a:graphic>
          <a:graphicData uri="http://schemas.openxmlformats.org/drawingml/2006/table">
            <a:tbl>
              <a:tblPr/>
              <a:tblGrid>
                <a:gridCol w="351692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Group 270"/>
          <p:cNvGraphicFramePr>
            <a:graphicFrameLocks noGrp="1"/>
          </p:cNvGraphicFramePr>
          <p:nvPr/>
        </p:nvGraphicFramePr>
        <p:xfrm>
          <a:off x="4019816" y="6585320"/>
          <a:ext cx="483613" cy="88326"/>
        </p:xfrm>
        <a:graphic>
          <a:graphicData uri="http://schemas.openxmlformats.org/drawingml/2006/table">
            <a:tbl>
              <a:tblPr/>
              <a:tblGrid>
                <a:gridCol w="483613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Group 270"/>
          <p:cNvGraphicFramePr>
            <a:graphicFrameLocks noGrp="1"/>
          </p:cNvGraphicFramePr>
          <p:nvPr/>
        </p:nvGraphicFramePr>
        <p:xfrm>
          <a:off x="6516216" y="6573472"/>
          <a:ext cx="351692" cy="88326"/>
        </p:xfrm>
        <a:graphic>
          <a:graphicData uri="http://schemas.openxmlformats.org/drawingml/2006/table">
            <a:tbl>
              <a:tblPr/>
              <a:tblGrid>
                <a:gridCol w="351692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Group 270"/>
          <p:cNvGraphicFramePr>
            <a:graphicFrameLocks noGrp="1"/>
          </p:cNvGraphicFramePr>
          <p:nvPr/>
        </p:nvGraphicFramePr>
        <p:xfrm>
          <a:off x="70340" y="6581034"/>
          <a:ext cx="613229" cy="88326"/>
        </p:xfrm>
        <a:graphic>
          <a:graphicData uri="http://schemas.openxmlformats.org/drawingml/2006/table">
            <a:tbl>
              <a:tblPr/>
              <a:tblGrid>
                <a:gridCol w="613229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COMPLETE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27"/>
          <p:cNvGrpSpPr/>
          <p:nvPr/>
        </p:nvGrpSpPr>
        <p:grpSpPr>
          <a:xfrm>
            <a:off x="0" y="6390185"/>
            <a:ext cx="8964489" cy="540206"/>
            <a:chOff x="0" y="6505545"/>
            <a:chExt cx="9711531" cy="540206"/>
          </a:xfrm>
        </p:grpSpPr>
        <p:sp>
          <p:nvSpPr>
            <p:cNvPr id="21" name="TextBox 20"/>
            <p:cNvSpPr txBox="1"/>
            <p:nvPr/>
          </p:nvSpPr>
          <p:spPr bwMode="gray">
            <a:xfrm>
              <a:off x="1639689" y="6576570"/>
              <a:ext cx="261123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not on track and has significant challenges and/or issues that materially impact the overall successful achievement of the expected outcomes. 	</a:t>
              </a:r>
            </a:p>
          </p:txBody>
        </p:sp>
        <p:sp>
          <p:nvSpPr>
            <p:cNvPr id="23" name="TextBox 22"/>
            <p:cNvSpPr txBox="1"/>
            <p:nvPr/>
          </p:nvSpPr>
          <p:spPr bwMode="gray">
            <a:xfrm>
              <a:off x="674554" y="6657945"/>
              <a:ext cx="663724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b="1" dirty="0">
                  <a:solidFill>
                    <a:srgbClr val="646464"/>
                  </a:solidFill>
                  <a:latin typeface="EYInterstate Light" pitchFamily="2" charset="0"/>
                </a:rPr>
                <a:t>Fully achieved</a:t>
              </a:r>
              <a:endParaRPr lang="en-GB" sz="500" b="1" kern="0" dirty="0">
                <a:solidFill>
                  <a:srgbClr val="646464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 bwMode="gray">
            <a:xfrm>
              <a:off x="0" y="6505545"/>
              <a:ext cx="4881893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dirty="0">
                  <a:solidFill>
                    <a:srgbClr val="646464"/>
                  </a:solidFill>
                  <a:latin typeface="EYInterstate Light" pitchFamily="2" charset="0"/>
                </a:rPr>
                <a:t>The overall initiative status is governed by the RAG Status Guidance, summarized below. This guidance also applies to the individual Milestones Stats. </a:t>
              </a:r>
              <a:endParaRPr lang="en-GB" sz="500" kern="0" dirty="0">
                <a:solidFill>
                  <a:srgbClr val="646464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 bwMode="gray">
            <a:xfrm>
              <a:off x="7423210" y="6564722"/>
              <a:ext cx="2288321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and has no significant challenges and/or issues that may materially impact the overall successful achievement of the expected outcomes, now or in the future. 	</a:t>
              </a:r>
            </a:p>
          </p:txBody>
        </p:sp>
        <p:sp>
          <p:nvSpPr>
            <p:cNvPr id="27" name="TextBox 26"/>
            <p:cNvSpPr txBox="1"/>
            <p:nvPr/>
          </p:nvSpPr>
          <p:spPr bwMode="gray">
            <a:xfrm>
              <a:off x="4849123" y="6568697"/>
              <a:ext cx="1976087" cy="4770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but has some significant challenges and/or issues that may materially impact the overall successful achievement of the expected outcomes. 	</a:t>
              </a:r>
            </a:p>
          </p:txBody>
        </p:sp>
      </p:grpSp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 smtClean="0">
                <a:solidFill>
                  <a:srgbClr val="646464"/>
                </a:solidFill>
              </a:rPr>
              <a:t>[Ref #] - [Program/Project Name]– [DD Month YYYY]</a:t>
            </a:r>
          </a:p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400" kern="0" dirty="0" smtClean="0">
                <a:solidFill>
                  <a:srgbClr val="646464"/>
                </a:solidFill>
              </a:rPr>
              <a:t>[Program/Project Lead’s Name]</a:t>
            </a:r>
            <a:endParaRPr lang="en-US" sz="1400" kern="0" dirty="0">
              <a:solidFill>
                <a:srgbClr val="64646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 smtClean="0">
                <a:solidFill>
                  <a:srgbClr val="646464"/>
                </a:solidFill>
                <a:latin typeface="Arial" pitchFamily="34" charset="0"/>
                <a:cs typeface="Arial" pitchFamily="34" charset="0"/>
              </a:rPr>
              <a:t>&lt;&lt; Program/Project Name &gt;&gt; – DD Month YYYY</a:t>
            </a:r>
            <a:endParaRPr lang="en-US" sz="1600" b="1" kern="0" dirty="0">
              <a:solidFill>
                <a:srgbClr val="646464"/>
              </a:solidFill>
              <a:latin typeface="Arial" pitchFamily="34" charset="0"/>
              <a:cs typeface="Arial" pitchFamily="34" charset="0"/>
            </a:endParaRPr>
          </a:p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400" kern="0" dirty="0" smtClean="0">
                <a:solidFill>
                  <a:srgbClr val="646464"/>
                </a:solidFill>
                <a:latin typeface="Arial" pitchFamily="34" charset="0"/>
                <a:cs typeface="Arial" pitchFamily="34" charset="0"/>
              </a:rPr>
              <a:t>&lt;&lt; PM Name &gt;&gt;</a:t>
            </a:r>
            <a:endParaRPr lang="en-US" sz="1400" kern="0" dirty="0">
              <a:solidFill>
                <a:srgbClr val="646464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4" name="Group 270"/>
          <p:cNvGraphicFramePr>
            <a:graphicFrameLocks noGrp="1"/>
          </p:cNvGraphicFramePr>
          <p:nvPr/>
        </p:nvGraphicFramePr>
        <p:xfrm>
          <a:off x="228600" y="3276600"/>
          <a:ext cx="4752528" cy="1054968"/>
        </p:xfrm>
        <a:graphic>
          <a:graphicData uri="http://schemas.openxmlformats.org/drawingml/2006/table">
            <a:tbl>
              <a:tblPr/>
              <a:tblGrid>
                <a:gridCol w="633670"/>
                <a:gridCol w="4118858"/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Budget RAG Status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92962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</a:t>
                      </a:r>
                      <a:r>
                        <a:rPr lang="en-US" sz="700" u="sng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10% or $100,000 of current budget (baseline + approved change requests) and/or pending spend - or -  no project budget is defined/approved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</a:t>
                      </a:r>
                      <a:r>
                        <a:rPr lang="en-US" sz="700" b="0" i="0" u="sng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6% - 9% of current budget (baseline + approved change requests) and/or pending spend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 </a:t>
                      </a:r>
                      <a:r>
                        <a:rPr lang="en-US" sz="700" b="0" i="0" u="sng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5% of current budget (baseline + approved change requests) and/or pending spend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62600" y="3276600"/>
          <a:ext cx="1828800" cy="1028702"/>
        </p:xfrm>
        <a:graphic>
          <a:graphicData uri="http://schemas.openxmlformats.org/drawingml/2006/table">
            <a:tbl>
              <a:tblPr/>
              <a:tblGrid>
                <a:gridCol w="1828800"/>
              </a:tblGrid>
              <a:tr h="1322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VARIANCE FACTORS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9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capital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resource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5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project (misc)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Unused planned capital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Unused planned resources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Project not progressing as planned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OTHER (Please explain in section below)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 bwMode="gray">
          <a:xfrm>
            <a:off x="7924800" y="76200"/>
            <a:ext cx="990600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l" defTabSz="9556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Page</a:t>
            </a:r>
            <a:r>
              <a:rPr kumimoji="0" lang="en-US" sz="1600" b="1" i="0" u="none" strike="noStrike" kern="0" cap="none" spc="0" normalizeH="0" noProof="0" dirty="0" smtClean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2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Group 270"/>
          <p:cNvGraphicFramePr>
            <a:graphicFrameLocks noGrp="1"/>
          </p:cNvGraphicFramePr>
          <p:nvPr/>
        </p:nvGraphicFramePr>
        <p:xfrm>
          <a:off x="152400" y="4572000"/>
          <a:ext cx="8762999" cy="1207074"/>
        </p:xfrm>
        <a:graphic>
          <a:graphicData uri="http://schemas.openxmlformats.org/drawingml/2006/table">
            <a:tbl>
              <a:tblPr/>
              <a:tblGrid>
                <a:gridCol w="677894"/>
                <a:gridCol w="1335714"/>
                <a:gridCol w="1720192"/>
                <a:gridCol w="533400"/>
                <a:gridCol w="533400"/>
                <a:gridCol w="381000"/>
                <a:gridCol w="3581399"/>
              </a:tblGrid>
              <a:tr h="304800">
                <a:tc gridSpan="5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J.  Key Inbound Dependency View</a:t>
                      </a:r>
                      <a:endParaRPr kumimoji="0" 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Criticality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Supplying Program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Dependency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Delivery Date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Required by Date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RAG Status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Current State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D#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16474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28600" y="685800"/>
          <a:ext cx="8153403" cy="2413718"/>
        </p:xfrm>
        <a:graphic>
          <a:graphicData uri="http://schemas.openxmlformats.org/drawingml/2006/table">
            <a:tbl>
              <a:tblPr/>
              <a:tblGrid>
                <a:gridCol w="622992"/>
                <a:gridCol w="498394"/>
                <a:gridCol w="778739"/>
                <a:gridCol w="737206"/>
                <a:gridCol w="706057"/>
                <a:gridCol w="708653"/>
                <a:gridCol w="708653"/>
                <a:gridCol w="708653"/>
                <a:gridCol w="708653"/>
                <a:gridCol w="986403"/>
                <a:gridCol w="989000"/>
              </a:tblGrid>
              <a:tr h="105603">
                <a:tc gridSpan="10"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I.  BUDGET – ($)</a:t>
                      </a:r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RAG Status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GB" sz="700" b="1" i="1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206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Fiscal Year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Business Case Budget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Project Charter Budget 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PMP Budget   (baseline)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Current Budget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Spend to Date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Estimate at Completion (EAC)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681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(Baseline + Approved CRs)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Estimate to Completion (ETC)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Capital Spend ETC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Revenue Spend ETC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10560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(2+3)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(1) - (2+3)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FY11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FY12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FY13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FY14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FY15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TOTALS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995">
                <a:tc gridSpan="5"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Brief explanation for RED or AMBER variance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Variance Factor:      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E46D0A"/>
                          </a:solidFill>
                          <a:latin typeface="Calibri"/>
                        </a:rPr>
                        <a:t>  </a:t>
                      </a:r>
                      <a:r>
                        <a:rPr lang="en-GB" sz="700" b="1" i="1" u="none" strike="noStrike" dirty="0">
                          <a:solidFill>
                            <a:srgbClr val="FF0000"/>
                          </a:solidFill>
                          <a:latin typeface="Calibri"/>
                        </a:rPr>
                        <a:t>Select variance factor from list below.</a:t>
                      </a: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latin typeface="Calibri"/>
                        </a:rPr>
                        <a:t> </a:t>
                      </a:r>
                      <a:endParaRPr lang="en-GB" sz="700" b="1" i="0" u="none" strike="noStrike" dirty="0">
                        <a:solidFill>
                          <a:srgbClr val="E46D0A"/>
                        </a:solidFill>
                        <a:latin typeface="Calibri"/>
                      </a:endParaRP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664679"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en-GB" sz="7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6212" marR="6212" marT="62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6" cstate="print"/>
          <a:srcRect/>
          <a:stretch>
            <a:fillRect/>
          </a:stretch>
        </p:blipFill>
        <p:spPr bwMode="auto">
          <a:xfrm>
            <a:off x="2389187" y="695325"/>
            <a:ext cx="4849813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1" name="Object 100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026" name="think-cell Slide" r:id="rId37" imgW="476" imgH="476" progId="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Status report guidance</a:t>
            </a:r>
            <a:endParaRPr lang="en-US" dirty="0"/>
          </a:p>
        </p:txBody>
      </p:sp>
      <p:sp>
        <p:nvSpPr>
          <p:cNvPr id="5" name="Oval 4"/>
          <p:cNvSpPr/>
          <p:nvPr>
            <p:custDataLst>
              <p:tags r:id="rId3"/>
            </p:custDataLst>
          </p:nvPr>
        </p:nvSpPr>
        <p:spPr bwMode="auto">
          <a:xfrm>
            <a:off x="4114800" y="1295401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Oval 5"/>
          <p:cNvSpPr/>
          <p:nvPr>
            <p:custDataLst>
              <p:tags r:id="rId4"/>
            </p:custDataLst>
          </p:nvPr>
        </p:nvSpPr>
        <p:spPr bwMode="auto">
          <a:xfrm>
            <a:off x="5105400" y="24384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7" name="Oval 6"/>
          <p:cNvSpPr/>
          <p:nvPr>
            <p:custDataLst>
              <p:tags r:id="rId5"/>
            </p:custDataLst>
          </p:nvPr>
        </p:nvSpPr>
        <p:spPr bwMode="auto">
          <a:xfrm>
            <a:off x="4114800" y="2667001"/>
            <a:ext cx="228600" cy="2286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0" name="Oval 9"/>
          <p:cNvSpPr/>
          <p:nvPr>
            <p:custDataLst>
              <p:tags r:id="rId6"/>
            </p:custDataLst>
          </p:nvPr>
        </p:nvSpPr>
        <p:spPr bwMode="auto">
          <a:xfrm>
            <a:off x="2558283" y="4800601"/>
            <a:ext cx="108717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" name="Oval 10"/>
          <p:cNvSpPr/>
          <p:nvPr>
            <p:custDataLst>
              <p:tags r:id="rId7"/>
            </p:custDataLst>
          </p:nvPr>
        </p:nvSpPr>
        <p:spPr bwMode="auto">
          <a:xfrm>
            <a:off x="3048000" y="53340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2" name="Oval 11"/>
          <p:cNvSpPr/>
          <p:nvPr>
            <p:custDataLst>
              <p:tags r:id="rId8"/>
            </p:custDataLst>
          </p:nvPr>
        </p:nvSpPr>
        <p:spPr bwMode="auto">
          <a:xfrm>
            <a:off x="3962400" y="54102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3" name="Oval 12"/>
          <p:cNvSpPr/>
          <p:nvPr>
            <p:custDataLst>
              <p:tags r:id="rId9"/>
            </p:custDataLst>
          </p:nvPr>
        </p:nvSpPr>
        <p:spPr bwMode="auto">
          <a:xfrm>
            <a:off x="4572000" y="47244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4" name="Oval 13"/>
          <p:cNvSpPr/>
          <p:nvPr>
            <p:custDataLst>
              <p:tags r:id="rId10"/>
            </p:custDataLst>
          </p:nvPr>
        </p:nvSpPr>
        <p:spPr bwMode="auto">
          <a:xfrm>
            <a:off x="4800600" y="52578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5" name="Oval 14"/>
          <p:cNvSpPr/>
          <p:nvPr>
            <p:custDataLst>
              <p:tags r:id="rId11"/>
            </p:custDataLst>
          </p:nvPr>
        </p:nvSpPr>
        <p:spPr bwMode="auto">
          <a:xfrm>
            <a:off x="5029200" y="5410201"/>
            <a:ext cx="2286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8" name="Rectangle 17"/>
          <p:cNvSpPr/>
          <p:nvPr>
            <p:custDataLst>
              <p:tags r:id="rId12"/>
            </p:custDataLst>
          </p:nvPr>
        </p:nvSpPr>
        <p:spPr bwMode="auto">
          <a:xfrm>
            <a:off x="6172200" y="1066801"/>
            <a:ext cx="2895600" cy="762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Variances will be reported on the project budgets (over the life of the project) as either negative or positive.  </a:t>
            </a:r>
            <a:endParaRPr lang="en-US" sz="700" i="1" dirty="0" smtClean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700" i="1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If estimate at completion (EAC) exceeds the stated thresholds either negatively or positively, need to complete two additional fields.  See #3 and #4 </a:t>
            </a:r>
            <a:r>
              <a:rPr lang="en-US" sz="700" i="1" dirty="0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explanations below.</a:t>
            </a:r>
            <a:endParaRPr lang="en-GB" sz="700" i="1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0" name="Rectangle 19"/>
          <p:cNvSpPr/>
          <p:nvPr>
            <p:custDataLst>
              <p:tags r:id="rId13"/>
            </p:custDataLst>
          </p:nvPr>
        </p:nvSpPr>
        <p:spPr bwMode="auto">
          <a:xfrm>
            <a:off x="6248400" y="2286001"/>
            <a:ext cx="16002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A pre-defined list of reasons for variance.  </a:t>
            </a:r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 bwMode="auto">
          <a:xfrm>
            <a:off x="152400" y="2667001"/>
            <a:ext cx="17526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One(1) to 3 sentences explaining the reason for RED or AMBER status.</a:t>
            </a: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6" name="Rectangle 25"/>
          <p:cNvSpPr/>
          <p:nvPr>
            <p:custDataLst>
              <p:tags r:id="rId15"/>
            </p:custDataLst>
          </p:nvPr>
        </p:nvSpPr>
        <p:spPr bwMode="auto">
          <a:xfrm>
            <a:off x="7391400" y="5029201"/>
            <a:ext cx="14478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Provide a RAG status on dependency.</a:t>
            </a:r>
          </a:p>
        </p:txBody>
      </p:sp>
      <p:sp>
        <p:nvSpPr>
          <p:cNvPr id="31" name="Rectangle 30"/>
          <p:cNvSpPr/>
          <p:nvPr>
            <p:custDataLst>
              <p:tags r:id="rId16"/>
            </p:custDataLst>
          </p:nvPr>
        </p:nvSpPr>
        <p:spPr bwMode="auto">
          <a:xfrm>
            <a:off x="304800" y="5257801"/>
            <a:ext cx="1828800" cy="1524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Program(s) depending upon work/milestone.</a:t>
            </a:r>
          </a:p>
        </p:txBody>
      </p:sp>
      <p:cxnSp>
        <p:nvCxnSpPr>
          <p:cNvPr id="118" name="Straight Arrow Connector 117"/>
          <p:cNvCxnSpPr>
            <a:stCxn id="6" idx="6"/>
            <a:endCxn id="20" idx="1"/>
          </p:cNvCxnSpPr>
          <p:nvPr>
            <p:custDataLst>
              <p:tags r:id="rId17"/>
            </p:custDataLst>
          </p:nvPr>
        </p:nvCxnSpPr>
        <p:spPr>
          <a:xfrm flipV="1">
            <a:off x="5257800" y="2438401"/>
            <a:ext cx="990600" cy="76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5" idx="6"/>
          </p:cNvCxnSpPr>
          <p:nvPr>
            <p:custDataLst>
              <p:tags r:id="rId18"/>
            </p:custDataLst>
          </p:nvPr>
        </p:nvCxnSpPr>
        <p:spPr>
          <a:xfrm flipV="1">
            <a:off x="4380646" y="1219201"/>
            <a:ext cx="1791554" cy="220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7" idx="2"/>
          </p:cNvCxnSpPr>
          <p:nvPr>
            <p:custDataLst>
              <p:tags r:id="rId19"/>
            </p:custDataLst>
          </p:nvPr>
        </p:nvCxnSpPr>
        <p:spPr>
          <a:xfrm flipV="1">
            <a:off x="1905000" y="2781301"/>
            <a:ext cx="2209800" cy="381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>
            <p:custDataLst>
              <p:tags r:id="rId20"/>
            </p:custDataLst>
          </p:nvPr>
        </p:nvSpPr>
        <p:spPr bwMode="auto">
          <a:xfrm>
            <a:off x="6477000" y="5334001"/>
            <a:ext cx="2286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65" name="Rectangle 64"/>
          <p:cNvSpPr/>
          <p:nvPr>
            <p:custDataLst>
              <p:tags r:id="rId21"/>
            </p:custDataLst>
          </p:nvPr>
        </p:nvSpPr>
        <p:spPr bwMode="auto">
          <a:xfrm>
            <a:off x="7924800" y="5486401"/>
            <a:ext cx="914400" cy="1524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Self-explanatory.</a:t>
            </a:r>
          </a:p>
        </p:txBody>
      </p:sp>
      <p:cxnSp>
        <p:nvCxnSpPr>
          <p:cNvPr id="72" name="Straight Arrow Connector 71"/>
          <p:cNvCxnSpPr>
            <a:stCxn id="6" idx="5"/>
          </p:cNvCxnSpPr>
          <p:nvPr>
            <p:custDataLst>
              <p:tags r:id="rId22"/>
            </p:custDataLst>
          </p:nvPr>
        </p:nvCxnSpPr>
        <p:spPr>
          <a:xfrm>
            <a:off x="5235482" y="2568483"/>
            <a:ext cx="250918" cy="6319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>
            <p:custDataLst>
              <p:tags r:id="rId23"/>
            </p:custDataLst>
          </p:nvPr>
        </p:nvSpPr>
        <p:spPr bwMode="auto">
          <a:xfrm>
            <a:off x="7391400" y="4572001"/>
            <a:ext cx="14478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Required date for completing / delivering work / milestone.</a:t>
            </a:r>
          </a:p>
        </p:txBody>
      </p:sp>
      <p:sp>
        <p:nvSpPr>
          <p:cNvPr id="92" name="Rectangle 91"/>
          <p:cNvSpPr/>
          <p:nvPr>
            <p:custDataLst>
              <p:tags r:id="rId24"/>
            </p:custDataLst>
          </p:nvPr>
        </p:nvSpPr>
        <p:spPr bwMode="auto">
          <a:xfrm>
            <a:off x="7391400" y="4191001"/>
            <a:ext cx="1447800" cy="2286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Planned delivery date for work / milestone.</a:t>
            </a:r>
          </a:p>
        </p:txBody>
      </p:sp>
      <p:sp>
        <p:nvSpPr>
          <p:cNvPr id="107" name="Rectangle 106"/>
          <p:cNvSpPr/>
          <p:nvPr>
            <p:custDataLst>
              <p:tags r:id="rId25"/>
            </p:custDataLst>
          </p:nvPr>
        </p:nvSpPr>
        <p:spPr bwMode="auto">
          <a:xfrm>
            <a:off x="76200" y="3657601"/>
            <a:ext cx="2057400" cy="1447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650" b="1" dirty="0">
                <a:solidFill>
                  <a:srgbClr val="0070C0"/>
                </a:solidFill>
              </a:rPr>
              <a:t>NOTE:  </a:t>
            </a:r>
            <a:r>
              <a:rPr lang="en-US" sz="650" dirty="0">
                <a:solidFill>
                  <a:srgbClr val="0070C0"/>
                </a:solidFill>
              </a:rPr>
              <a:t>Reporting of critical dependencies is only expected of Enterprise Programs.  This is an optional section for all other programs/projects.</a:t>
            </a:r>
            <a:endParaRPr lang="en-US" sz="650" b="1" dirty="0">
              <a:solidFill>
                <a:srgbClr val="0070C0"/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650" u="sng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650" u="sng" dirty="0">
                <a:solidFill>
                  <a:srgbClr val="000000">
                    <a:lumMod val="50000"/>
                    <a:lumOff val="50000"/>
                  </a:srgbClr>
                </a:solidFill>
              </a:rPr>
              <a:t>Critical</a:t>
            </a:r>
            <a:r>
              <a:rPr lang="en-US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:  Program not able to execute if deliverable not available on time. No contingency available. Intense monitoring required. Dependency is directly impacting critical path. 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200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650" u="sng" dirty="0">
                <a:solidFill>
                  <a:srgbClr val="000000">
                    <a:lumMod val="50000"/>
                    <a:lumOff val="50000"/>
                  </a:srgbClr>
                </a:solidFill>
              </a:rPr>
              <a:t>Significant </a:t>
            </a:r>
            <a:r>
              <a:rPr lang="en-US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:  Program may be able to execute if deliverable  not available on time. Contingency available but at high cost and w/significant lead time. 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2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111" name="Rectangle 110"/>
          <p:cNvSpPr/>
          <p:nvPr>
            <p:custDataLst>
              <p:tags r:id="rId26"/>
            </p:custDataLst>
          </p:nvPr>
        </p:nvSpPr>
        <p:spPr bwMode="auto">
          <a:xfrm>
            <a:off x="914400" y="5562601"/>
            <a:ext cx="1208964" cy="16605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Description of dependency.</a:t>
            </a:r>
          </a:p>
        </p:txBody>
      </p:sp>
      <p:sp>
        <p:nvSpPr>
          <p:cNvPr id="145" name="Oval 144"/>
          <p:cNvSpPr/>
          <p:nvPr>
            <p:custDataLst>
              <p:tags r:id="rId27"/>
            </p:custDataLst>
          </p:nvPr>
        </p:nvSpPr>
        <p:spPr bwMode="auto">
          <a:xfrm>
            <a:off x="5486400" y="16002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46" name="Rectangle 145"/>
          <p:cNvSpPr/>
          <p:nvPr>
            <p:custDataLst>
              <p:tags r:id="rId28"/>
            </p:custDataLst>
          </p:nvPr>
        </p:nvSpPr>
        <p:spPr bwMode="auto">
          <a:xfrm>
            <a:off x="76200" y="1752601"/>
            <a:ext cx="19050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Enter RAG status based  on resulting variance.  See status definitions.</a:t>
            </a: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148" name="Straight Arrow Connector 147"/>
          <p:cNvCxnSpPr>
            <a:stCxn id="146" idx="3"/>
            <a:endCxn id="145" idx="3"/>
          </p:cNvCxnSpPr>
          <p:nvPr>
            <p:custDataLst>
              <p:tags r:id="rId29"/>
            </p:custDataLst>
          </p:nvPr>
        </p:nvCxnSpPr>
        <p:spPr>
          <a:xfrm flipV="1">
            <a:off x="1981200" y="1730283"/>
            <a:ext cx="3527518" cy="1747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>
            <a:stCxn id="146" idx="3"/>
          </p:cNvCxnSpPr>
          <p:nvPr>
            <p:custDataLst>
              <p:tags r:id="rId30"/>
            </p:custDataLst>
          </p:nvPr>
        </p:nvCxnSpPr>
        <p:spPr>
          <a:xfrm>
            <a:off x="1981200" y="1905001"/>
            <a:ext cx="457200" cy="1219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stCxn id="13" idx="6"/>
            <a:endCxn id="92" idx="1"/>
          </p:cNvCxnSpPr>
          <p:nvPr/>
        </p:nvCxnSpPr>
        <p:spPr>
          <a:xfrm flipV="1">
            <a:off x="4724400" y="4305301"/>
            <a:ext cx="2667000" cy="4953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14" idx="6"/>
            <a:endCxn id="87" idx="1"/>
          </p:cNvCxnSpPr>
          <p:nvPr/>
        </p:nvCxnSpPr>
        <p:spPr>
          <a:xfrm flipV="1">
            <a:off x="4953000" y="4724401"/>
            <a:ext cx="2438400" cy="6096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>
            <a:stCxn id="15" idx="6"/>
            <a:endCxn id="26" idx="1"/>
          </p:cNvCxnSpPr>
          <p:nvPr/>
        </p:nvCxnSpPr>
        <p:spPr>
          <a:xfrm flipV="1">
            <a:off x="5257800" y="5181601"/>
            <a:ext cx="2133600" cy="3048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>
            <a:stCxn id="64" idx="6"/>
            <a:endCxn id="65" idx="1"/>
          </p:cNvCxnSpPr>
          <p:nvPr/>
        </p:nvCxnSpPr>
        <p:spPr>
          <a:xfrm>
            <a:off x="6705600" y="5410201"/>
            <a:ext cx="1219200" cy="1524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10" idx="1"/>
            <a:endCxn id="107" idx="3"/>
          </p:cNvCxnSpPr>
          <p:nvPr>
            <p:custDataLst>
              <p:tags r:id="rId31"/>
            </p:custDataLst>
          </p:nvPr>
        </p:nvCxnSpPr>
        <p:spPr>
          <a:xfrm flipH="1" flipV="1">
            <a:off x="2133600" y="4381501"/>
            <a:ext cx="440604" cy="4414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>
            <a:stCxn id="11" idx="2"/>
            <a:endCxn id="31" idx="3"/>
          </p:cNvCxnSpPr>
          <p:nvPr>
            <p:custDataLst>
              <p:tags r:id="rId32"/>
            </p:custDataLst>
          </p:nvPr>
        </p:nvCxnSpPr>
        <p:spPr>
          <a:xfrm flipH="1" flipV="1">
            <a:off x="2133600" y="5334001"/>
            <a:ext cx="914400" cy="76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>
            <a:stCxn id="12" idx="2"/>
            <a:endCxn id="111" idx="3"/>
          </p:cNvCxnSpPr>
          <p:nvPr>
            <p:custDataLst>
              <p:tags r:id="rId33"/>
            </p:custDataLst>
          </p:nvPr>
        </p:nvCxnSpPr>
        <p:spPr>
          <a:xfrm flipH="1">
            <a:off x="2123364" y="5486401"/>
            <a:ext cx="1839036" cy="15922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>
            <p:custDataLst>
              <p:tags r:id="rId34"/>
            </p:custDataLst>
          </p:nvPr>
        </p:nvSpPr>
        <p:spPr bwMode="auto">
          <a:xfrm>
            <a:off x="6477000" y="762000"/>
            <a:ext cx="16002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ratings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71488" y="1326491"/>
          <a:ext cx="7758112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577"/>
                <a:gridCol w="857800"/>
                <a:gridCol w="2989780"/>
                <a:gridCol w="1432505"/>
                <a:gridCol w="2163450"/>
              </a:tblGrid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100" dirty="0"/>
                        <a:t>Probability</a:t>
                      </a:r>
                      <a:r>
                        <a:rPr lang="en-US" sz="1100" baseline="0" dirty="0"/>
                        <a:t> of occurrence*</a:t>
                      </a:r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Estimate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Low confidence that milestone</a:t>
                      </a:r>
                      <a:r>
                        <a:rPr lang="en-US" sz="1100" baseline="0" dirty="0"/>
                        <a:t>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Less than 50%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Very</a:t>
                      </a:r>
                      <a:r>
                        <a:rPr lang="en-US" sz="1100" baseline="0" dirty="0"/>
                        <a:t> likely </a:t>
                      </a:r>
                      <a:r>
                        <a:rPr lang="en-US" sz="1100" b="1" i="1" baseline="0" dirty="0"/>
                        <a:t>not </a:t>
                      </a:r>
                      <a:r>
                        <a:rPr lang="en-US" sz="1100" baseline="0" dirty="0"/>
                        <a:t>to occur </a:t>
                      </a:r>
                      <a:endParaRPr 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Moderate</a:t>
                      </a:r>
                      <a:r>
                        <a:rPr lang="en-US" sz="1100" baseline="0" dirty="0"/>
                        <a:t> confidence that milestone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Somewhere</a:t>
                      </a:r>
                      <a:r>
                        <a:rPr lang="en-US" sz="1100" baseline="0" dirty="0"/>
                        <a:t> in the middle - b</a:t>
                      </a:r>
                      <a:r>
                        <a:rPr lang="en-US" sz="1100" dirty="0"/>
                        <a:t>etween 51% and</a:t>
                      </a:r>
                      <a:r>
                        <a:rPr lang="en-US" sz="1100" baseline="0" dirty="0"/>
                        <a:t> 79%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Good chance, but some doubt exists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High</a:t>
                      </a:r>
                      <a:r>
                        <a:rPr lang="en-US" sz="1100" baseline="0" dirty="0"/>
                        <a:t> confidence that milestone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80% or higher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Very likely to occur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3029" y="4304872"/>
            <a:ext cx="692478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b="0" dirty="0"/>
              <a:t>This needs to be a “guesstimate” from the project manager” based on how the project is tracking in the Project Schedule. No scientific measure exists at this time.</a:t>
            </a: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5VIkG7Aa0aOcRv3Khjj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b9XBY0gky377FJpDJPJ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YyAhZ17bEeVYsJU62zkz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wPWSW3JVE27NNgc58dob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YjhTzUX2U62QhZbXGS_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v2D__WvJkaOE_3a3qspO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IuZNSzSdkORLPXYN6uyq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M01N2GuTEaIj_xfcnSAt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as3Rx3bq06cZ4Hm.3Zsm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xHf2HGse0ShOlFM.ecfM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oz_KwWfUem.t9snNIIK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JLUm0gx0mN5TukeKufk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wzphj1Uz0SYpTZT2qMM7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DJOpJPOy0OOuCQUaZ4Pj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Y.lLT1WvUOzcObN2DxEc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Ex79XPy80W7Dw_MJtLyT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A3yaywXE0CH.2L4VsX_V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J2LIVvtq0ipgRfhhrnaM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VUijZ5oDkq5VM8lmtYfp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US5.Lo50Cy8nAyOETDf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64Qi8YBS02AaVlcx.I.t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7QmUKOl7kC2oGRiqUlsD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ywdOHziUky41xO4kPvkU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.siXSWnZki5xP2OqT45Q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1B3wZjREEOo6GK2W.1Dw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KZ5w9itTEKv8iWFo8iYM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Bcd0kArPkWlVqsit75P5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GvEL5yCyECe7BvvtG9q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JLUm0gx0mN5TukeKufkQ"/>
</p:tagLst>
</file>

<file path=ppt/theme/theme1.xml><?xml version="1.0" encoding="utf-8"?>
<a:theme xmlns:a="http://schemas.openxmlformats.org/drawingml/2006/main" name="27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808080"/>
    </a:dk2>
    <a:lt2>
      <a:srgbClr val="646464"/>
    </a:lt2>
    <a:accent1>
      <a:srgbClr val="A6A6A6"/>
    </a:accent1>
    <a:accent2>
      <a:srgbClr val="CCCCCC"/>
    </a:accent2>
    <a:accent3>
      <a:srgbClr val="FFFFFF"/>
    </a:accent3>
    <a:accent4>
      <a:srgbClr val="000000"/>
    </a:accent4>
    <a:accent5>
      <a:srgbClr val="D0D0D0"/>
    </a:accent5>
    <a:accent6>
      <a:srgbClr val="B9B9B9"/>
    </a:accent6>
    <a:hlink>
      <a:srgbClr val="F2F2F2"/>
    </a:hlink>
    <a:folHlink>
      <a:srgbClr val="FFD2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57C8AC9CBE1E41A2102A222EC3580A" ma:contentTypeVersion="5" ma:contentTypeDescription="Create a new document." ma:contentTypeScope="" ma:versionID="4fffe09d9e23e892f721e717ffc59e39">
  <xsd:schema xmlns:xsd="http://www.w3.org/2001/XMLSchema" xmlns:xs="http://www.w3.org/2001/XMLSchema" xmlns:p="http://schemas.microsoft.com/office/2006/metadata/properties" xmlns:ns2="http://schemas.microsoft.com/sharepoint/v4" xmlns:ns3="0cbe1240-e4fe-486d-8edc-2712abb96eb4" targetNamespace="http://schemas.microsoft.com/office/2006/metadata/properties" ma:root="true" ma:fieldsID="a3425d7e7f8ec2c937331d02077c75c9" ns2:_="" ns3:_="">
    <xsd:import namespace="http://schemas.microsoft.com/sharepoint/v4"/>
    <xsd:import namespace="0cbe1240-e4fe-486d-8edc-2712abb96eb4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MSIBM-2-11621</_dlc_DocId>
    <_dlc_DocIdUrl xmlns="0cbe1240-e4fe-486d-8edc-2712abb96eb4">
      <Url>http://sp.ey.net/msibm/_layouts/DocIdRedir.aspx?ID=MSIBM-2-11621</Url>
      <Description>MSIBM-2-11621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13DFED2C-08AC-41D1-8B04-E48F56CD5D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0cbe1240-e4fe-486d-8edc-2712abb96e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151AB7-27D2-4331-AA13-77DE76034D71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microsoft.com/sharepoint/v4"/>
    <ds:schemaRef ds:uri="0cbe1240-e4fe-486d-8edc-2712abb96eb4"/>
    <ds:schemaRef ds:uri="http://schemas.openxmlformats.org/package/2006/metadata/core-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A6CAE92-7FB4-4C9F-BF11-621F235C5B3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6F2B75D-A58A-4320-BCB2-F858C4AA91C3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980</Words>
  <Application>Microsoft Office PowerPoint</Application>
  <PresentationFormat>On-screen Show (4:3)</PresentationFormat>
  <Paragraphs>279</Paragraphs>
  <Slides>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27_EYCspecial</vt:lpstr>
      <vt:lpstr>think-cell Slide</vt:lpstr>
      <vt:lpstr>Slide 1</vt:lpstr>
      <vt:lpstr>Slide 2</vt:lpstr>
      <vt:lpstr>Status report guidance</vt:lpstr>
      <vt:lpstr>Confidence ratings</vt:lpstr>
    </vt:vector>
  </TitlesOfParts>
  <Company>Ernst &amp; Young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 B. Fernandez</dc:creator>
  <cp:lastModifiedBy>Wale Agbaje</cp:lastModifiedBy>
  <cp:revision>37</cp:revision>
  <dcterms:created xsi:type="dcterms:W3CDTF">2011-11-18T15:43:59Z</dcterms:created>
  <dcterms:modified xsi:type="dcterms:W3CDTF">2012-10-10T11:28:05Z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0x010100D957C8AC9CBE1E41A2102A222EC3580A</vt:lpwstr>
  </property>
  <property fmtid="{D5CDD505-2E9C-101B-9397-08002B2CF9AE}" pid="3" name="_dlc_DocIdItemGuid">
    <vt:lpwstr>4438cbba-8273-4e45-b459-17e67c91cf93</vt:lpwstr>
  </property>
</Properties>
</file>