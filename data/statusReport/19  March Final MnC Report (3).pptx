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4.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2" r:id="rId5"/>
    <p:sldMasterId id="2147483655" r:id="rId6"/>
    <p:sldMasterId id="2147483656" r:id="rId7"/>
    <p:sldMasterId id="2147483657" r:id="rId8"/>
    <p:sldMasterId id="2147483658" r:id="rId9"/>
    <p:sldMasterId id="2147483659" r:id="rId10"/>
  </p:sldMasterIdLst>
  <p:notesMasterIdLst>
    <p:notesMasterId r:id="rId20"/>
  </p:notesMasterIdLst>
  <p:handoutMasterIdLst>
    <p:handoutMasterId r:id="rId21"/>
  </p:handoutMasterIdLst>
  <p:sldIdLst>
    <p:sldId id="377" r:id="rId11"/>
    <p:sldId id="494" r:id="rId12"/>
    <p:sldId id="515" r:id="rId13"/>
    <p:sldId id="786" r:id="rId14"/>
    <p:sldId id="784" r:id="rId15"/>
    <p:sldId id="794" r:id="rId16"/>
    <p:sldId id="782" r:id="rId17"/>
    <p:sldId id="764" r:id="rId18"/>
    <p:sldId id="805" r:id="rId19"/>
  </p:sldIdLst>
  <p:sldSz cx="9144000" cy="6858000" type="screen4x3"/>
  <p:notesSz cx="6797675" cy="9928225"/>
  <p:defaultTextStyle>
    <a:defPPr>
      <a:defRPr lang="en-US"/>
    </a:defPPr>
    <a:lvl1pPr algn="ctr" rtl="0" fontAlgn="base">
      <a:spcBef>
        <a:spcPct val="0"/>
      </a:spcBef>
      <a:spcAft>
        <a:spcPct val="0"/>
      </a:spcAft>
      <a:defRPr kern="1200">
        <a:solidFill>
          <a:schemeClr val="tx1"/>
        </a:solidFill>
        <a:latin typeface="Arial" charset="0"/>
        <a:ea typeface="+mn-ea"/>
        <a:cs typeface="+mn-cs"/>
      </a:defRPr>
    </a:lvl1pPr>
    <a:lvl2pPr marL="457200" algn="ctr" rtl="0" fontAlgn="base">
      <a:spcBef>
        <a:spcPct val="0"/>
      </a:spcBef>
      <a:spcAft>
        <a:spcPct val="0"/>
      </a:spcAft>
      <a:defRPr kern="1200">
        <a:solidFill>
          <a:schemeClr val="tx1"/>
        </a:solidFill>
        <a:latin typeface="Arial" charset="0"/>
        <a:ea typeface="+mn-ea"/>
        <a:cs typeface="+mn-cs"/>
      </a:defRPr>
    </a:lvl2pPr>
    <a:lvl3pPr marL="914400" algn="ctr" rtl="0" fontAlgn="base">
      <a:spcBef>
        <a:spcPct val="0"/>
      </a:spcBef>
      <a:spcAft>
        <a:spcPct val="0"/>
      </a:spcAft>
      <a:defRPr kern="1200">
        <a:solidFill>
          <a:schemeClr val="tx1"/>
        </a:solidFill>
        <a:latin typeface="Arial" charset="0"/>
        <a:ea typeface="+mn-ea"/>
        <a:cs typeface="+mn-cs"/>
      </a:defRPr>
    </a:lvl3pPr>
    <a:lvl4pPr marL="1371600" algn="ctr" rtl="0" fontAlgn="base">
      <a:spcBef>
        <a:spcPct val="0"/>
      </a:spcBef>
      <a:spcAft>
        <a:spcPct val="0"/>
      </a:spcAft>
      <a:defRPr kern="1200">
        <a:solidFill>
          <a:schemeClr val="tx1"/>
        </a:solidFill>
        <a:latin typeface="Arial" charset="0"/>
        <a:ea typeface="+mn-ea"/>
        <a:cs typeface="+mn-cs"/>
      </a:defRPr>
    </a:lvl4pPr>
    <a:lvl5pPr marL="1828800" algn="ctr"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8">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973E"/>
    <a:srgbClr val="000000"/>
    <a:srgbClr val="F04C3E"/>
    <a:srgbClr val="FAE600"/>
    <a:srgbClr val="FFFFFF"/>
    <a:srgbClr val="B4B4B4"/>
    <a:srgbClr val="808080"/>
    <a:srgbClr val="F1F1F1"/>
    <a:srgbClr val="3366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093" autoAdjust="0"/>
    <p:restoredTop sz="84979" autoAdjust="0"/>
  </p:normalViewPr>
  <p:slideViewPr>
    <p:cSldViewPr snapToObjects="1">
      <p:cViewPr varScale="1">
        <p:scale>
          <a:sx n="112" d="100"/>
          <a:sy n="112" d="100"/>
        </p:scale>
        <p:origin x="1356"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Objects="1">
      <p:cViewPr>
        <p:scale>
          <a:sx n="75" d="100"/>
          <a:sy n="75" d="100"/>
        </p:scale>
        <p:origin x="2442" y="-654"/>
      </p:cViewPr>
      <p:guideLst>
        <p:guide orient="horz" pos="3128"/>
        <p:guide pos="214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4.xml"/><Relationship Id="rId13" Type="http://schemas.openxmlformats.org/officeDocument/2006/relationships/slide" Target="slides/slide3.xml"/><Relationship Id="rId18" Type="http://schemas.openxmlformats.org/officeDocument/2006/relationships/slide" Target="slides/slide8.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Master" Target="slideMasters/slideMaster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6.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1.xml"/><Relationship Id="rId24" Type="http://schemas.openxmlformats.org/officeDocument/2006/relationships/theme" Target="theme/theme1.xml"/><Relationship Id="rId5" Type="http://schemas.openxmlformats.org/officeDocument/2006/relationships/slideMaster" Target="slideMasters/slideMaster1.xml"/><Relationship Id="rId15" Type="http://schemas.openxmlformats.org/officeDocument/2006/relationships/slide" Target="slides/slide5.xml"/><Relationship Id="rId23" Type="http://schemas.openxmlformats.org/officeDocument/2006/relationships/viewProps" Target="viewProps.xml"/><Relationship Id="rId10" Type="http://schemas.openxmlformats.org/officeDocument/2006/relationships/slideMaster" Target="slideMasters/slideMaster6.xml"/><Relationship Id="rId19" Type="http://schemas.openxmlformats.org/officeDocument/2006/relationships/slide" Target="slides/slide9.xml"/><Relationship Id="rId4" Type="http://schemas.openxmlformats.org/officeDocument/2006/relationships/customXml" Target="../customXml/item4.xml"/><Relationship Id="rId9" Type="http://schemas.openxmlformats.org/officeDocument/2006/relationships/slideMaster" Target="slideMasters/slideMaster5.xml"/><Relationship Id="rId14" Type="http://schemas.openxmlformats.org/officeDocument/2006/relationships/slide" Target="slides/slide4.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638" name="Rectangle 6"/>
          <p:cNvSpPr>
            <a:spLocks noChangeArrowheads="1"/>
          </p:cNvSpPr>
          <p:nvPr/>
        </p:nvSpPr>
        <p:spPr bwMode="auto">
          <a:xfrm>
            <a:off x="152402" y="9637715"/>
            <a:ext cx="1235075" cy="153987"/>
          </a:xfrm>
          <a:prstGeom prst="rect">
            <a:avLst/>
          </a:prstGeom>
          <a:noFill/>
          <a:ln w="9525">
            <a:noFill/>
            <a:miter lim="800000"/>
            <a:headEnd/>
            <a:tailEnd/>
          </a:ln>
          <a:effectLst/>
        </p:spPr>
        <p:txBody>
          <a:bodyPr lIns="0" tIns="0" rIns="0" bIns="0"/>
          <a:lstStyle/>
          <a:p>
            <a:pPr algn="l" defTabSz="931619">
              <a:defRPr/>
            </a:pPr>
            <a:fld id="{5BBE6DE4-E82D-4F90-96E4-E232F78FBEAF}" type="datetime1">
              <a:rPr lang="en-US" sz="1200">
                <a:cs typeface="Arial" charset="0"/>
              </a:rPr>
              <a:pPr algn="l" defTabSz="931619">
                <a:defRPr/>
              </a:pPr>
              <a:t>11/18/2016</a:t>
            </a:fld>
            <a:endParaRPr lang="en-US" sz="1200" dirty="0">
              <a:cs typeface="Arial" charset="0"/>
            </a:endParaRPr>
          </a:p>
        </p:txBody>
      </p:sp>
      <p:sp>
        <p:nvSpPr>
          <p:cNvPr id="69639" name="Rectangle 7"/>
          <p:cNvSpPr>
            <a:spLocks noChangeArrowheads="1"/>
          </p:cNvSpPr>
          <p:nvPr/>
        </p:nvSpPr>
        <p:spPr bwMode="auto">
          <a:xfrm>
            <a:off x="2381251" y="9637714"/>
            <a:ext cx="1971675" cy="207962"/>
          </a:xfrm>
          <a:prstGeom prst="rect">
            <a:avLst/>
          </a:prstGeom>
          <a:noFill/>
          <a:ln w="9525">
            <a:noFill/>
            <a:miter lim="800000"/>
            <a:headEnd/>
            <a:tailEnd/>
          </a:ln>
          <a:effectLst/>
        </p:spPr>
        <p:txBody>
          <a:bodyPr lIns="0" tIns="0" rIns="0" bIns="0"/>
          <a:lstStyle/>
          <a:p>
            <a:pPr algn="l" defTabSz="931619">
              <a:defRPr/>
            </a:pPr>
            <a:r>
              <a:rPr lang="en-US" sz="1200" dirty="0">
                <a:cs typeface="Arial" charset="0"/>
              </a:rPr>
              <a:t>Presentation title</a:t>
            </a:r>
          </a:p>
        </p:txBody>
      </p:sp>
      <p:sp>
        <p:nvSpPr>
          <p:cNvPr id="69640" name="Rectangle 8"/>
          <p:cNvSpPr>
            <a:spLocks noChangeArrowheads="1"/>
          </p:cNvSpPr>
          <p:nvPr/>
        </p:nvSpPr>
        <p:spPr bwMode="auto">
          <a:xfrm>
            <a:off x="1568451" y="9637714"/>
            <a:ext cx="636588" cy="207962"/>
          </a:xfrm>
          <a:prstGeom prst="rect">
            <a:avLst/>
          </a:prstGeom>
          <a:noFill/>
          <a:ln w="9525">
            <a:noFill/>
            <a:miter lim="800000"/>
            <a:headEnd/>
            <a:tailEnd/>
          </a:ln>
          <a:effectLst/>
        </p:spPr>
        <p:txBody>
          <a:bodyPr lIns="0" tIns="0" rIns="0" bIns="0"/>
          <a:lstStyle/>
          <a:p>
            <a:pPr algn="l" defTabSz="931619">
              <a:defRPr/>
            </a:pPr>
            <a:r>
              <a:rPr lang="en-US" sz="1200" dirty="0">
                <a:cs typeface="Arial" charset="0"/>
              </a:rPr>
              <a:t>Page </a:t>
            </a:r>
            <a:fld id="{2A07B3BF-2A67-4B01-AEB8-9C5108F06278}" type="slidenum">
              <a:rPr lang="en-US" sz="1200">
                <a:cs typeface="Arial" charset="0"/>
              </a:rPr>
              <a:pPr algn="l" defTabSz="931619">
                <a:defRPr/>
              </a:pPr>
              <a:t>‹#›</a:t>
            </a:fld>
            <a:endParaRPr lang="en-US" sz="1200" dirty="0">
              <a:cs typeface="Arial" charset="0"/>
            </a:endParaRPr>
          </a:p>
        </p:txBody>
      </p:sp>
      <p:pic>
        <p:nvPicPr>
          <p:cNvPr id="47109" name="Picture 9" descr="logo_tagblack"/>
          <p:cNvPicPr>
            <a:picLocks noChangeAspect="1" noChangeArrowheads="1"/>
          </p:cNvPicPr>
          <p:nvPr/>
        </p:nvPicPr>
        <p:blipFill>
          <a:blip r:embed="rId2" cstate="print"/>
          <a:srcRect/>
          <a:stretch>
            <a:fillRect/>
          </a:stretch>
        </p:blipFill>
        <p:spPr bwMode="auto">
          <a:xfrm>
            <a:off x="5240338" y="9445627"/>
            <a:ext cx="1423987" cy="352425"/>
          </a:xfrm>
          <a:prstGeom prst="rect">
            <a:avLst/>
          </a:prstGeom>
          <a:noFill/>
          <a:ln w="9525">
            <a:noFill/>
            <a:miter lim="800000"/>
            <a:headEnd/>
            <a:tailEnd/>
          </a:ln>
        </p:spPr>
      </p:pic>
    </p:spTree>
    <p:extLst>
      <p:ext uri="{BB962C8B-B14F-4D97-AF65-F5344CB8AC3E}">
        <p14:creationId xmlns:p14="http://schemas.microsoft.com/office/powerpoint/2010/main" val="19617499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914" name="Rectangle 4"/>
          <p:cNvSpPr>
            <a:spLocks noGrp="1" noRot="1" noChangeAspect="1" noChangeArrowheads="1" noTextEdit="1"/>
          </p:cNvSpPr>
          <p:nvPr>
            <p:ph type="sldImg" idx="2"/>
          </p:nvPr>
        </p:nvSpPr>
        <p:spPr bwMode="auto">
          <a:xfrm>
            <a:off x="915988" y="744538"/>
            <a:ext cx="4965700" cy="3724275"/>
          </a:xfrm>
          <a:prstGeom prst="rect">
            <a:avLst/>
          </a:prstGeom>
          <a:noFill/>
          <a:ln w="9525">
            <a:solidFill>
              <a:srgbClr val="000000"/>
            </a:solidFill>
            <a:miter lim="800000"/>
            <a:headEnd/>
            <a:tailEnd/>
          </a:ln>
        </p:spPr>
      </p:sp>
      <p:sp>
        <p:nvSpPr>
          <p:cNvPr id="8197" name="Rectangle 5"/>
          <p:cNvSpPr>
            <a:spLocks noGrp="1" noChangeArrowheads="1"/>
          </p:cNvSpPr>
          <p:nvPr>
            <p:ph type="body" sz="quarter" idx="3"/>
          </p:nvPr>
        </p:nvSpPr>
        <p:spPr bwMode="auto">
          <a:xfrm>
            <a:off x="677863" y="4716465"/>
            <a:ext cx="5441950" cy="4467225"/>
          </a:xfrm>
          <a:prstGeom prst="rect">
            <a:avLst/>
          </a:prstGeom>
          <a:noFill/>
          <a:ln w="9525">
            <a:noFill/>
            <a:miter lim="800000"/>
            <a:headEnd/>
            <a:tailEnd/>
          </a:ln>
          <a:effectLst/>
        </p:spPr>
        <p:txBody>
          <a:bodyPr vert="horz" wrap="square" lIns="95975" tIns="47988" rIns="95975" bIns="47988"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8200" name="Rectangle 8"/>
          <p:cNvSpPr>
            <a:spLocks noChangeArrowheads="1"/>
          </p:cNvSpPr>
          <p:nvPr/>
        </p:nvSpPr>
        <p:spPr bwMode="auto">
          <a:xfrm>
            <a:off x="152402" y="9637715"/>
            <a:ext cx="1235075" cy="153987"/>
          </a:xfrm>
          <a:prstGeom prst="rect">
            <a:avLst/>
          </a:prstGeom>
          <a:noFill/>
          <a:ln w="9525">
            <a:noFill/>
            <a:miter lim="800000"/>
            <a:headEnd/>
            <a:tailEnd/>
          </a:ln>
          <a:effectLst/>
        </p:spPr>
        <p:txBody>
          <a:bodyPr lIns="0" tIns="0" rIns="0" bIns="0"/>
          <a:lstStyle/>
          <a:p>
            <a:pPr algn="l" defTabSz="931619">
              <a:defRPr/>
            </a:pPr>
            <a:fld id="{89A86910-E513-4C4B-949B-84323FA223C3}" type="datetime1">
              <a:rPr lang="en-US" sz="1200">
                <a:cs typeface="Arial" charset="0"/>
              </a:rPr>
              <a:pPr algn="l" defTabSz="931619">
                <a:defRPr/>
              </a:pPr>
              <a:t>11/18/2016</a:t>
            </a:fld>
            <a:endParaRPr lang="en-US" sz="1200" dirty="0">
              <a:cs typeface="Arial" charset="0"/>
            </a:endParaRPr>
          </a:p>
        </p:txBody>
      </p:sp>
      <p:sp>
        <p:nvSpPr>
          <p:cNvPr id="8201" name="Rectangle 9"/>
          <p:cNvSpPr>
            <a:spLocks noChangeArrowheads="1"/>
          </p:cNvSpPr>
          <p:nvPr/>
        </p:nvSpPr>
        <p:spPr bwMode="auto">
          <a:xfrm>
            <a:off x="2381251" y="9637714"/>
            <a:ext cx="1971675" cy="207962"/>
          </a:xfrm>
          <a:prstGeom prst="rect">
            <a:avLst/>
          </a:prstGeom>
          <a:noFill/>
          <a:ln w="9525">
            <a:noFill/>
            <a:miter lim="800000"/>
            <a:headEnd/>
            <a:tailEnd/>
          </a:ln>
          <a:effectLst/>
        </p:spPr>
        <p:txBody>
          <a:bodyPr lIns="0" tIns="0" rIns="0" bIns="0"/>
          <a:lstStyle/>
          <a:p>
            <a:pPr algn="l" defTabSz="931619">
              <a:defRPr/>
            </a:pPr>
            <a:r>
              <a:rPr lang="en-US" sz="1200" dirty="0">
                <a:cs typeface="Arial" charset="0"/>
              </a:rPr>
              <a:t>Presentation title</a:t>
            </a:r>
          </a:p>
        </p:txBody>
      </p:sp>
      <p:sp>
        <p:nvSpPr>
          <p:cNvPr id="8202" name="Rectangle 10"/>
          <p:cNvSpPr>
            <a:spLocks noChangeArrowheads="1"/>
          </p:cNvSpPr>
          <p:nvPr/>
        </p:nvSpPr>
        <p:spPr bwMode="auto">
          <a:xfrm>
            <a:off x="1568451" y="9637714"/>
            <a:ext cx="636588" cy="207962"/>
          </a:xfrm>
          <a:prstGeom prst="rect">
            <a:avLst/>
          </a:prstGeom>
          <a:noFill/>
          <a:ln w="9525">
            <a:noFill/>
            <a:miter lim="800000"/>
            <a:headEnd/>
            <a:tailEnd/>
          </a:ln>
          <a:effectLst/>
        </p:spPr>
        <p:txBody>
          <a:bodyPr lIns="0" tIns="0" rIns="0" bIns="0"/>
          <a:lstStyle/>
          <a:p>
            <a:pPr algn="l" defTabSz="931619">
              <a:defRPr/>
            </a:pPr>
            <a:r>
              <a:rPr lang="en-US" sz="1200" dirty="0">
                <a:cs typeface="Arial" charset="0"/>
              </a:rPr>
              <a:t>Page </a:t>
            </a:r>
            <a:fld id="{90222F15-384C-4F8B-A461-087D94ECCB26}" type="slidenum">
              <a:rPr lang="en-US" sz="1200">
                <a:cs typeface="Arial" charset="0"/>
              </a:rPr>
              <a:pPr algn="l" defTabSz="931619">
                <a:defRPr/>
              </a:pPr>
              <a:t>‹#›</a:t>
            </a:fld>
            <a:endParaRPr lang="en-US" sz="1200" dirty="0">
              <a:cs typeface="Arial" charset="0"/>
            </a:endParaRPr>
          </a:p>
        </p:txBody>
      </p:sp>
      <p:pic>
        <p:nvPicPr>
          <p:cNvPr id="38919" name="Picture 11" descr="logo_tagblack"/>
          <p:cNvPicPr>
            <a:picLocks noChangeAspect="1" noChangeArrowheads="1"/>
          </p:cNvPicPr>
          <p:nvPr/>
        </p:nvPicPr>
        <p:blipFill>
          <a:blip r:embed="rId2"/>
          <a:srcRect/>
          <a:stretch>
            <a:fillRect/>
          </a:stretch>
        </p:blipFill>
        <p:spPr bwMode="auto">
          <a:xfrm>
            <a:off x="5240338" y="9445627"/>
            <a:ext cx="1423987" cy="352425"/>
          </a:xfrm>
          <a:prstGeom prst="rect">
            <a:avLst/>
          </a:prstGeom>
          <a:noFill/>
          <a:ln w="9525">
            <a:noFill/>
            <a:miter lim="800000"/>
            <a:headEnd/>
            <a:tailEnd/>
          </a:ln>
        </p:spPr>
      </p:pic>
    </p:spTree>
    <p:extLst>
      <p:ext uri="{BB962C8B-B14F-4D97-AF65-F5344CB8AC3E}">
        <p14:creationId xmlns:p14="http://schemas.microsoft.com/office/powerpoint/2010/main" val="122946362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buClr>
        <a:srgbClr val="FFD200"/>
      </a:buClr>
      <a:buSzPct val="75000"/>
      <a:buFont typeface="Arial" charset="0"/>
      <a:defRPr sz="1200" kern="1200">
        <a:solidFill>
          <a:schemeClr val="tx1"/>
        </a:solidFill>
        <a:latin typeface="Arial" charset="0"/>
        <a:ea typeface="+mn-ea"/>
        <a:cs typeface="+mn-cs"/>
      </a:defRPr>
    </a:lvl1pPr>
    <a:lvl2pPr marL="1588" indent="177800" algn="l" rtl="0" eaLnBrk="0" fontAlgn="base" hangingPunct="0">
      <a:spcBef>
        <a:spcPct val="30000"/>
      </a:spcBef>
      <a:spcAft>
        <a:spcPct val="0"/>
      </a:spcAft>
      <a:buClr>
        <a:srgbClr val="FFD200"/>
      </a:buClr>
      <a:buSzPct val="75000"/>
      <a:buFont typeface="Arial" charset="0"/>
      <a:buChar char="►"/>
      <a:defRPr sz="1200" kern="1200">
        <a:solidFill>
          <a:schemeClr val="tx1"/>
        </a:solidFill>
        <a:latin typeface="Arial" charset="0"/>
        <a:ea typeface="+mn-ea"/>
        <a:cs typeface="+mn-cs"/>
      </a:defRPr>
    </a:lvl2pPr>
    <a:lvl3pPr marL="358775" indent="184150" algn="l" rtl="0" eaLnBrk="0" fontAlgn="base" hangingPunct="0">
      <a:spcBef>
        <a:spcPct val="30000"/>
      </a:spcBef>
      <a:spcAft>
        <a:spcPct val="0"/>
      </a:spcAft>
      <a:buClr>
        <a:srgbClr val="FFD200"/>
      </a:buClr>
      <a:buSzPct val="75000"/>
      <a:buFont typeface="Arial" charset="0"/>
      <a:buChar char="►"/>
      <a:defRPr sz="1200" kern="1200">
        <a:solidFill>
          <a:schemeClr val="tx1"/>
        </a:solidFill>
        <a:latin typeface="Arial" charset="0"/>
        <a:ea typeface="+mn-ea"/>
        <a:cs typeface="+mn-cs"/>
      </a:defRPr>
    </a:lvl3pPr>
    <a:lvl4pPr marL="722313" indent="173038" algn="l" rtl="0" eaLnBrk="0" fontAlgn="base" hangingPunct="0">
      <a:spcBef>
        <a:spcPct val="30000"/>
      </a:spcBef>
      <a:spcAft>
        <a:spcPct val="0"/>
      </a:spcAft>
      <a:buClr>
        <a:srgbClr val="FFD200"/>
      </a:buClr>
      <a:buSzPct val="75000"/>
      <a:buFont typeface="Arial" charset="0"/>
      <a:buChar char="►"/>
      <a:defRPr sz="1200" kern="1200">
        <a:solidFill>
          <a:schemeClr val="tx1"/>
        </a:solidFill>
        <a:latin typeface="Arial" charset="0"/>
        <a:ea typeface="+mn-ea"/>
        <a:cs typeface="+mn-cs"/>
      </a:defRPr>
    </a:lvl4pPr>
    <a:lvl5pPr marL="1074738" indent="182563" algn="l" rtl="0" eaLnBrk="0" fontAlgn="base" hangingPunct="0">
      <a:spcBef>
        <a:spcPct val="30000"/>
      </a:spcBef>
      <a:spcAft>
        <a:spcPct val="0"/>
      </a:spcAft>
      <a:buClr>
        <a:srgbClr val="FFD200"/>
      </a:buClr>
      <a:buSzPct val="75000"/>
      <a:buFont typeface="Arial" charset="0"/>
      <a:buChar char="►"/>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6"/>
          <p:cNvSpPr>
            <a:spLocks noGrp="1" noRot="1" noChangeAspect="1" noChangeArrowheads="1" noTextEdit="1"/>
          </p:cNvSpPr>
          <p:nvPr>
            <p:ph type="sldImg"/>
          </p:nvPr>
        </p:nvSpPr>
        <p:spPr>
          <a:ln/>
        </p:spPr>
      </p:sp>
      <p:sp>
        <p:nvSpPr>
          <p:cNvPr id="39939" name="Rectangle 7"/>
          <p:cNvSpPr>
            <a:spLocks noGrp="1" noChangeArrowheads="1"/>
          </p:cNvSpPr>
          <p:nvPr>
            <p:ph type="body" idx="1"/>
          </p:nvPr>
        </p:nvSpPr>
        <p:spPr>
          <a:noFill/>
          <a:ln/>
        </p:spPr>
        <p:txBody>
          <a:bodyPr/>
          <a:lstStyle/>
          <a:p>
            <a:pPr eaLnBrk="1" hangingPunct="1"/>
            <a:endParaRPr lang="de-DE" smtClean="0"/>
          </a:p>
        </p:txBody>
      </p:sp>
    </p:spTree>
    <p:extLst>
      <p:ext uri="{BB962C8B-B14F-4D97-AF65-F5344CB8AC3E}">
        <p14:creationId xmlns:p14="http://schemas.microsoft.com/office/powerpoint/2010/main" val="27027650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GB" dirty="0" smtClean="0"/>
              <a:t>Cost</a:t>
            </a:r>
          </a:p>
          <a:p>
            <a:pPr defTabSz="881885">
              <a:defRPr/>
            </a:pPr>
            <a:r>
              <a:rPr lang="en-GB" dirty="0" smtClean="0"/>
              <a:t>GREEN - </a:t>
            </a:r>
            <a:r>
              <a:rPr lang="en-US" dirty="0" smtClean="0"/>
              <a:t>Estimate at Completion (EAC) = + 0 - 5% of approved spend (cost baseline + approved change requests)</a:t>
            </a:r>
            <a:endParaRPr lang="en-GB" dirty="0" smtClean="0"/>
          </a:p>
          <a:p>
            <a:pPr defTabSz="881885">
              <a:defRPr/>
            </a:pPr>
            <a:r>
              <a:rPr lang="en-GB" dirty="0" smtClean="0"/>
              <a:t>AMBER - </a:t>
            </a:r>
            <a:r>
              <a:rPr lang="en-US" dirty="0" smtClean="0"/>
              <a:t>Estimate at Completion (EAC) = + 6 - 10% of approved spend (cost baseline + approved changes) and/or pending spend</a:t>
            </a:r>
            <a:endParaRPr lang="en-GB" dirty="0" smtClean="0"/>
          </a:p>
          <a:p>
            <a:r>
              <a:rPr lang="en-GB" dirty="0" smtClean="0"/>
              <a:t>RED</a:t>
            </a:r>
            <a:r>
              <a:rPr lang="en-GB" baseline="0" dirty="0" smtClean="0"/>
              <a:t> – </a:t>
            </a:r>
            <a:r>
              <a:rPr lang="en-US" dirty="0" smtClean="0"/>
              <a:t>Estimate at Completion (EAC) exceeds + 10% or $100,000 of approved spend (cost baseline + approved changes) and/or pending spend or no project budget defined</a:t>
            </a:r>
            <a:endParaRPr lang="en-GB" baseline="0" dirty="0" smtClean="0"/>
          </a:p>
          <a:p>
            <a:endParaRPr lang="en-GB" baseline="0" dirty="0" smtClean="0"/>
          </a:p>
          <a:p>
            <a:r>
              <a:rPr lang="en-GB" dirty="0" smtClean="0"/>
              <a:t>Schedule</a:t>
            </a:r>
          </a:p>
          <a:p>
            <a:r>
              <a:rPr lang="en-GB" dirty="0" smtClean="0"/>
              <a:t>GREEN - </a:t>
            </a:r>
            <a:r>
              <a:rPr lang="en-US" dirty="0" smtClean="0"/>
              <a:t>The project schedule supports the end date of the project (with some elapsed time contingency).</a:t>
            </a:r>
            <a:endParaRPr lang="en-GB" dirty="0" smtClean="0"/>
          </a:p>
          <a:p>
            <a:r>
              <a:rPr lang="en-GB" dirty="0" smtClean="0"/>
              <a:t>AMBER - </a:t>
            </a:r>
            <a:r>
              <a:rPr lang="en-US" dirty="0" smtClean="0"/>
              <a:t>The project schedule supports the end date, but issues, risks and/or changes exist that may put the date in jeopardy.</a:t>
            </a:r>
            <a:endParaRPr lang="en-GB" dirty="0" smtClean="0"/>
          </a:p>
          <a:p>
            <a:r>
              <a:rPr lang="en-GB" dirty="0" smtClean="0"/>
              <a:t>RED</a:t>
            </a:r>
            <a:r>
              <a:rPr lang="en-GB" baseline="0" dirty="0" smtClean="0"/>
              <a:t> – </a:t>
            </a:r>
            <a:r>
              <a:rPr lang="en-US" dirty="0" smtClean="0"/>
              <a:t>The project schedule does not exist and/or the project schedule does not support the end of the project.</a:t>
            </a:r>
            <a:endParaRPr lang="en-GB" baseline="0" dirty="0" smtClean="0"/>
          </a:p>
          <a:p>
            <a:endParaRPr lang="en-GB" baseline="0" dirty="0" smtClean="0"/>
          </a:p>
          <a:p>
            <a:r>
              <a:rPr lang="en-GB" dirty="0" smtClean="0"/>
              <a:t>Scope</a:t>
            </a:r>
          </a:p>
          <a:p>
            <a:r>
              <a:rPr lang="en-GB" dirty="0" smtClean="0"/>
              <a:t>GREEN - </a:t>
            </a:r>
            <a:r>
              <a:rPr lang="en-US" dirty="0" smtClean="0"/>
              <a:t>Scope defined and </a:t>
            </a:r>
            <a:r>
              <a:rPr lang="en-US" u="sng" dirty="0" smtClean="0"/>
              <a:t>approved</a:t>
            </a:r>
            <a:r>
              <a:rPr lang="en-US" dirty="0" smtClean="0"/>
              <a:t> (scope baseline) with no pending change requests.</a:t>
            </a:r>
            <a:endParaRPr lang="en-GB" dirty="0" smtClean="0"/>
          </a:p>
          <a:p>
            <a:r>
              <a:rPr lang="en-GB" dirty="0" smtClean="0"/>
              <a:t>AMBER - </a:t>
            </a:r>
            <a:r>
              <a:rPr lang="en-US" dirty="0" smtClean="0"/>
              <a:t>Scope defined and </a:t>
            </a:r>
            <a:r>
              <a:rPr lang="en-US" u="sng" dirty="0" smtClean="0"/>
              <a:t>approved</a:t>
            </a:r>
            <a:r>
              <a:rPr lang="en-US" dirty="0" smtClean="0"/>
              <a:t> (scope baseline) with </a:t>
            </a:r>
            <a:r>
              <a:rPr lang="en-US" u="sng" dirty="0" smtClean="0"/>
              <a:t>pending</a:t>
            </a:r>
            <a:r>
              <a:rPr lang="en-US" dirty="0" smtClean="0"/>
              <a:t> change requests – known and not raised and raised but not agreed.</a:t>
            </a:r>
            <a:endParaRPr lang="en-GB" dirty="0" smtClean="0"/>
          </a:p>
          <a:p>
            <a:r>
              <a:rPr lang="en-GB" dirty="0" smtClean="0"/>
              <a:t>RED</a:t>
            </a:r>
            <a:r>
              <a:rPr lang="en-GB" baseline="0" dirty="0" smtClean="0"/>
              <a:t> – </a:t>
            </a:r>
            <a:r>
              <a:rPr lang="en-US" dirty="0" smtClean="0"/>
              <a:t>Scope undefined or unapproved (no scope baseline) and/or multiple pending change requests.</a:t>
            </a:r>
            <a:endParaRPr lang="en-GB" baseline="0" dirty="0" smtClean="0"/>
          </a:p>
          <a:p>
            <a:endParaRPr lang="en-GB" baseline="0" dirty="0" smtClean="0"/>
          </a:p>
          <a:p>
            <a:r>
              <a:rPr lang="en-GB" dirty="0" smtClean="0"/>
              <a:t>Risk</a:t>
            </a:r>
          </a:p>
          <a:p>
            <a:r>
              <a:rPr lang="en-GB" dirty="0" smtClean="0"/>
              <a:t>GREEN – Low amount of risks with negligible impact</a:t>
            </a:r>
          </a:p>
          <a:p>
            <a:r>
              <a:rPr lang="en-GB" dirty="0" smtClean="0"/>
              <a:t>AMBER – Medium amount of risks. High or medium impact but with mitigation actions in place. Time left to put in place mitigation plans.</a:t>
            </a:r>
          </a:p>
          <a:p>
            <a:r>
              <a:rPr lang="en-GB" dirty="0" smtClean="0"/>
              <a:t>RED</a:t>
            </a:r>
            <a:r>
              <a:rPr lang="en-GB" baseline="0" dirty="0" smtClean="0"/>
              <a:t> – High number of risks. High score risks which impact in the near term. No mitigation in place for High risks.</a:t>
            </a:r>
          </a:p>
          <a:p>
            <a:endParaRPr lang="en-GB" baseline="0" dirty="0" smtClean="0"/>
          </a:p>
          <a:p>
            <a:r>
              <a:rPr lang="en-GB" dirty="0" smtClean="0"/>
              <a:t>Issue</a:t>
            </a:r>
          </a:p>
          <a:p>
            <a:r>
              <a:rPr lang="en-GB" dirty="0" smtClean="0"/>
              <a:t>GREEN – No or low impact issues. Medium impact issues with resolution plans agreed and in place.</a:t>
            </a:r>
          </a:p>
          <a:p>
            <a:r>
              <a:rPr lang="en-GB" dirty="0" smtClean="0"/>
              <a:t>AMBER – Large</a:t>
            </a:r>
            <a:r>
              <a:rPr lang="en-GB" baseline="0" dirty="0" smtClean="0"/>
              <a:t> amount of issues and/or Medium impact issues with no resolution plans.</a:t>
            </a:r>
            <a:endParaRPr lang="en-GB" dirty="0" smtClean="0"/>
          </a:p>
          <a:p>
            <a:r>
              <a:rPr lang="en-GB" dirty="0" smtClean="0"/>
              <a:t>RED</a:t>
            </a:r>
            <a:r>
              <a:rPr lang="en-GB" baseline="0" dirty="0" smtClean="0"/>
              <a:t> – High impact issues present. No resolution plans in place for Medium of High level issues</a:t>
            </a:r>
          </a:p>
          <a:p>
            <a:endParaRPr lang="en-GB" baseline="0" dirty="0" smtClean="0"/>
          </a:p>
          <a:p>
            <a:r>
              <a:rPr lang="en-GB" dirty="0" smtClean="0"/>
              <a:t>Commercial</a:t>
            </a:r>
          </a:p>
          <a:p>
            <a:r>
              <a:rPr lang="en-GB" dirty="0" smtClean="0"/>
              <a:t>GREEN - TBD</a:t>
            </a:r>
          </a:p>
          <a:p>
            <a:r>
              <a:rPr lang="en-GB" dirty="0" smtClean="0"/>
              <a:t>AMBER - TBD</a:t>
            </a:r>
          </a:p>
          <a:p>
            <a:r>
              <a:rPr lang="en-GB" dirty="0" smtClean="0"/>
              <a:t>RED</a:t>
            </a:r>
            <a:r>
              <a:rPr lang="en-GB" baseline="0" dirty="0" smtClean="0"/>
              <a:t> – TBD</a:t>
            </a:r>
          </a:p>
          <a:p>
            <a:endParaRPr lang="en-GB" baseline="0" dirty="0" smtClean="0"/>
          </a:p>
          <a:p>
            <a:r>
              <a:rPr lang="en-GB" dirty="0" smtClean="0"/>
              <a:t>Resource</a:t>
            </a:r>
          </a:p>
          <a:p>
            <a:r>
              <a:rPr lang="en-GB" dirty="0" smtClean="0"/>
              <a:t>GREEN – No resource issue or constraints</a:t>
            </a:r>
          </a:p>
          <a:p>
            <a:r>
              <a:rPr lang="en-GB" dirty="0" smtClean="0"/>
              <a:t>AMBER – Resource issues exist but plans are in place to resolve.</a:t>
            </a:r>
          </a:p>
          <a:p>
            <a:r>
              <a:rPr lang="en-GB" dirty="0" smtClean="0"/>
              <a:t>RED</a:t>
            </a:r>
            <a:r>
              <a:rPr lang="en-GB" baseline="0" dirty="0" smtClean="0"/>
              <a:t> – Resource issues exist with no plans in place to resolve.</a:t>
            </a:r>
          </a:p>
          <a:p>
            <a:endParaRPr lang="en-GB" baseline="0" dirty="0" smtClean="0"/>
          </a:p>
          <a:p>
            <a:endParaRPr lang="en-GB" baseline="0" dirty="0" smtClean="0"/>
          </a:p>
        </p:txBody>
      </p:sp>
    </p:spTree>
    <p:extLst>
      <p:ext uri="{BB962C8B-B14F-4D97-AF65-F5344CB8AC3E}">
        <p14:creationId xmlns:p14="http://schemas.microsoft.com/office/powerpoint/2010/main" val="30436095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a:xfrm>
            <a:off x="3850444" y="9430091"/>
            <a:ext cx="2945659" cy="496411"/>
          </a:xfrm>
          <a:prstGeom prst="rect">
            <a:avLst/>
          </a:prstGeom>
        </p:spPr>
        <p:txBody>
          <a:bodyPr lIns="93177" tIns="46589" rIns="93177" bIns="46589"/>
          <a:lstStyle/>
          <a:p>
            <a:fld id="{D260D1BD-9247-4EDA-BDB0-B7B94C2127D8}" type="slidenum">
              <a:rPr lang="en-GB" smtClean="0"/>
              <a:pPr/>
              <a:t>4</a:t>
            </a:fld>
            <a:endParaRPr lang="en-GB" dirty="0"/>
          </a:p>
        </p:txBody>
      </p:sp>
    </p:spTree>
    <p:extLst>
      <p:ext uri="{BB962C8B-B14F-4D97-AF65-F5344CB8AC3E}">
        <p14:creationId xmlns:p14="http://schemas.microsoft.com/office/powerpoint/2010/main" val="37372662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a:xfrm>
            <a:off x="3850444" y="9430091"/>
            <a:ext cx="2945659" cy="496411"/>
          </a:xfrm>
          <a:prstGeom prst="rect">
            <a:avLst/>
          </a:prstGeom>
        </p:spPr>
        <p:txBody>
          <a:bodyPr lIns="93177" tIns="46589" rIns="93177" bIns="46589"/>
          <a:lstStyle/>
          <a:p>
            <a:fld id="{D260D1BD-9247-4EDA-BDB0-B7B94C2127D8}" type="slidenum">
              <a:rPr lang="en-GB" smtClean="0"/>
              <a:pPr/>
              <a:t>5</a:t>
            </a:fld>
            <a:endParaRPr lang="en-GB" dirty="0"/>
          </a:p>
        </p:txBody>
      </p:sp>
    </p:spTree>
    <p:extLst>
      <p:ext uri="{BB962C8B-B14F-4D97-AF65-F5344CB8AC3E}">
        <p14:creationId xmlns:p14="http://schemas.microsoft.com/office/powerpoint/2010/main" val="26710647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680034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6" name="Freeform 8"/>
          <p:cNvSpPr>
            <a:spLocks/>
          </p:cNvSpPr>
          <p:nvPr userDrawn="1"/>
        </p:nvSpPr>
        <p:spPr bwMode="auto">
          <a:xfrm>
            <a:off x="3074988" y="565150"/>
            <a:ext cx="6067425" cy="2586038"/>
          </a:xfrm>
          <a:custGeom>
            <a:avLst/>
            <a:gdLst/>
            <a:ahLst/>
            <a:cxnLst>
              <a:cxn ang="0">
                <a:pos x="0" y="1629"/>
              </a:cxn>
              <a:cxn ang="0">
                <a:pos x="3822" y="0"/>
              </a:cxn>
              <a:cxn ang="0">
                <a:pos x="3822" y="492"/>
              </a:cxn>
              <a:cxn ang="0">
                <a:pos x="0" y="1629"/>
              </a:cxn>
            </a:cxnLst>
            <a:rect l="0" t="0" r="r" b="b"/>
            <a:pathLst>
              <a:path w="3822" h="1629">
                <a:moveTo>
                  <a:pt x="0" y="1629"/>
                </a:moveTo>
                <a:lnTo>
                  <a:pt x="3822" y="0"/>
                </a:lnTo>
                <a:lnTo>
                  <a:pt x="3822" y="492"/>
                </a:lnTo>
                <a:lnTo>
                  <a:pt x="0" y="1629"/>
                </a:lnTo>
                <a:close/>
              </a:path>
            </a:pathLst>
          </a:custGeom>
          <a:solidFill>
            <a:schemeClr val="accent2"/>
          </a:solidFill>
          <a:ln w="9525">
            <a:noFill/>
            <a:round/>
            <a:headEnd/>
            <a:tailEnd/>
          </a:ln>
          <a:effectLst/>
        </p:spPr>
        <p:txBody>
          <a:bodyPr/>
          <a:lstStyle/>
          <a:p>
            <a:pPr>
              <a:defRPr/>
            </a:pPr>
            <a:endParaRPr lang="de-DE" dirty="0"/>
          </a:p>
        </p:txBody>
      </p:sp>
      <p:sp>
        <p:nvSpPr>
          <p:cNvPr id="7" name="AutoShape 10"/>
          <p:cNvSpPr>
            <a:spLocks noChangeArrowheads="1"/>
          </p:cNvSpPr>
          <p:nvPr userDrawn="1"/>
        </p:nvSpPr>
        <p:spPr bwMode="auto">
          <a:xfrm rot="5400000">
            <a:off x="-120649" y="1274762"/>
            <a:ext cx="3313112" cy="3071813"/>
          </a:xfrm>
          <a:prstGeom prst="triangle">
            <a:avLst>
              <a:gd name="adj" fmla="val 60227"/>
            </a:avLst>
          </a:prstGeom>
          <a:blipFill dpi="0" rotWithShape="0">
            <a:blip r:embed="rId2" cstate="print"/>
            <a:srcRect/>
            <a:stretch>
              <a:fillRect/>
            </a:stretch>
          </a:blipFill>
          <a:ln w="9525">
            <a:noFill/>
            <a:miter lim="800000"/>
            <a:headEnd/>
            <a:tailEnd/>
          </a:ln>
          <a:effectLst/>
        </p:spPr>
        <p:txBody>
          <a:bodyPr rot="10800000" vert="eaVert" wrap="none" anchor="ctr"/>
          <a:lstStyle/>
          <a:p>
            <a:pPr>
              <a:defRPr/>
            </a:pPr>
            <a:endParaRPr lang="de-DE" dirty="0"/>
          </a:p>
        </p:txBody>
      </p:sp>
      <p:sp>
        <p:nvSpPr>
          <p:cNvPr id="166914" name="Rectangle 2"/>
          <p:cNvSpPr>
            <a:spLocks noGrp="1" noChangeArrowheads="1"/>
          </p:cNvSpPr>
          <p:nvPr>
            <p:ph type="ctrTitle"/>
          </p:nvPr>
        </p:nvSpPr>
        <p:spPr>
          <a:xfrm>
            <a:off x="3059113" y="3457575"/>
            <a:ext cx="5541962" cy="908050"/>
          </a:xfrm>
        </p:spPr>
        <p:txBody>
          <a:bodyPr tIns="0"/>
          <a:lstStyle>
            <a:lvl1pPr>
              <a:defRPr/>
            </a:lvl1pPr>
          </a:lstStyle>
          <a:p>
            <a:r>
              <a:rPr lang="en-US"/>
              <a:t>Click to edit Master title style</a:t>
            </a:r>
          </a:p>
        </p:txBody>
      </p:sp>
      <p:sp>
        <p:nvSpPr>
          <p:cNvPr id="166915" name="Rectangle 3"/>
          <p:cNvSpPr>
            <a:spLocks noGrp="1" noChangeArrowheads="1"/>
          </p:cNvSpPr>
          <p:nvPr>
            <p:ph type="subTitle" idx="1"/>
          </p:nvPr>
        </p:nvSpPr>
        <p:spPr>
          <a:xfrm>
            <a:off x="3062288" y="4354513"/>
            <a:ext cx="5541962" cy="1019175"/>
          </a:xfrm>
        </p:spPr>
        <p:txBody>
          <a:bodyPr/>
          <a:lstStyle>
            <a:lvl1pPr marL="0" indent="0">
              <a:lnSpc>
                <a:spcPct val="85000"/>
              </a:lnSpc>
              <a:buFont typeface="Arial" charset="0"/>
              <a:buNone/>
              <a:defRPr sz="2000"/>
            </a:lvl1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de-DE"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de-DE"/>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sz="half" idx="1"/>
          </p:nvPr>
        </p:nvSpPr>
        <p:spPr>
          <a:xfrm>
            <a:off x="455613" y="1412875"/>
            <a:ext cx="4002087" cy="45196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Content Placeholder 3"/>
          <p:cNvSpPr>
            <a:spLocks noGrp="1"/>
          </p:cNvSpPr>
          <p:nvPr>
            <p:ph sz="half" idx="2"/>
          </p:nvPr>
        </p:nvSpPr>
        <p:spPr>
          <a:xfrm>
            <a:off x="4610100" y="1412875"/>
            <a:ext cx="4003675" cy="45196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de-DE"/>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de-DE"/>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de-DE"/>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30988" y="200025"/>
            <a:ext cx="2057400" cy="5732463"/>
          </a:xfrm>
        </p:spPr>
        <p:txBody>
          <a:bodyPr vert="eaVert"/>
          <a:lstStyle/>
          <a:p>
            <a:r>
              <a:rPr lang="en-US" smtClean="0"/>
              <a:t>Click to edit Master title style</a:t>
            </a:r>
            <a:endParaRPr lang="de-DE"/>
          </a:p>
        </p:txBody>
      </p:sp>
      <p:sp>
        <p:nvSpPr>
          <p:cNvPr id="3" name="Vertical Text Placeholder 2"/>
          <p:cNvSpPr>
            <a:spLocks noGrp="1"/>
          </p:cNvSpPr>
          <p:nvPr>
            <p:ph type="body" orient="vert" idx="1"/>
          </p:nvPr>
        </p:nvSpPr>
        <p:spPr>
          <a:xfrm>
            <a:off x="455613" y="200025"/>
            <a:ext cx="6022975" cy="57324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4_Title Only">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name="10_Title Only">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1_Title Only">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7_Title Only">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8_Title Only">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de-DE"/>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de-D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de-DE"/>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de-DE"/>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de-DE"/>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de-DE"/>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dirty="0" smtClean="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0025"/>
            <a:ext cx="2057400" cy="5926138"/>
          </a:xfrm>
        </p:spPr>
        <p:txBody>
          <a:bodyPr vert="eaVert"/>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200025"/>
            <a:ext cx="6019800" cy="5926138"/>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de-DE"/>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de-D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de-DE"/>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de-DE"/>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de-DE"/>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de-DE"/>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dirty="0" smtClean="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0025"/>
            <a:ext cx="2057400" cy="5926138"/>
          </a:xfrm>
        </p:spPr>
        <p:txBody>
          <a:bodyPr vert="eaVert"/>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200025"/>
            <a:ext cx="6019800" cy="5926138"/>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de-DE"/>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de-D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de-DE"/>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de-DE"/>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de-DE"/>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de-DE"/>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dirty="0" smtClean="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0025"/>
            <a:ext cx="2057400" cy="5926138"/>
          </a:xfrm>
        </p:spPr>
        <p:txBody>
          <a:bodyPr vert="eaVert"/>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200025"/>
            <a:ext cx="6019800" cy="5926138"/>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de-DE"/>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de-D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de-DE"/>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de-DE"/>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de-DE"/>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de-DE"/>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dirty="0" smtClean="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0025"/>
            <a:ext cx="2057400" cy="5926138"/>
          </a:xfrm>
        </p:spPr>
        <p:txBody>
          <a:bodyPr vert="eaVert"/>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200025"/>
            <a:ext cx="6019800" cy="5926138"/>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de-DE"/>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de-D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de-DE"/>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de-DE"/>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de-DE"/>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de-DE"/>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dirty="0" smtClean="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0025"/>
            <a:ext cx="2057400" cy="5926138"/>
          </a:xfrm>
        </p:spPr>
        <p:txBody>
          <a:bodyPr vert="eaVert"/>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200025"/>
            <a:ext cx="6019800" cy="5926138"/>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image" Target="../media/image1.png"/><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image" Target="../media/image3.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image" Target="../media/image4.png"/><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3.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image" Target="../media/image1.png"/><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theme" Target="../theme/theme4.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image" Target="../media/image5.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image" Target="../media/image6.jpeg"/><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theme" Target="../theme/theme5.xml"/><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image" Target="../media/image1.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image" Target="../media/image1.png"/><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theme" Target="../theme/theme6.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00025"/>
            <a:ext cx="8231188" cy="863600"/>
          </a:xfrm>
          <a:prstGeom prst="rect">
            <a:avLst/>
          </a:prstGeom>
          <a:noFill/>
          <a:ln w="9525">
            <a:noFill/>
            <a:miter lim="800000"/>
            <a:headEnd/>
            <a:tailEnd/>
          </a:ln>
        </p:spPr>
        <p:txBody>
          <a:bodyPr vert="horz" wrap="square" lIns="0" tIns="36000" rIns="0" bIns="0" numCol="1" anchor="t"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455613" y="1412875"/>
            <a:ext cx="8158162" cy="451961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165893" name="Rectangle 5"/>
          <p:cNvSpPr>
            <a:spLocks noChangeArrowheads="1"/>
          </p:cNvSpPr>
          <p:nvPr/>
        </p:nvSpPr>
        <p:spPr bwMode="auto">
          <a:xfrm>
            <a:off x="3962400" y="6386513"/>
            <a:ext cx="2057400" cy="196850"/>
          </a:xfrm>
          <a:prstGeom prst="rect">
            <a:avLst/>
          </a:prstGeom>
          <a:noFill/>
          <a:ln w="9525">
            <a:noFill/>
            <a:miter lim="800000"/>
            <a:headEnd/>
            <a:tailEnd/>
          </a:ln>
          <a:effectLst/>
        </p:spPr>
        <p:txBody>
          <a:bodyPr lIns="0" tIns="0" rIns="0" bIns="0"/>
          <a:lstStyle/>
          <a:p>
            <a:pPr algn="l">
              <a:defRPr/>
            </a:pPr>
            <a:r>
              <a:rPr lang="en-US" sz="1100" dirty="0" smtClean="0">
                <a:solidFill>
                  <a:srgbClr val="000000"/>
                </a:solidFill>
                <a:cs typeface="Arial" charset="0"/>
              </a:rPr>
              <a:t>DCC Program Committee</a:t>
            </a:r>
            <a:endParaRPr lang="en-US" sz="1100" dirty="0">
              <a:solidFill>
                <a:srgbClr val="000000"/>
              </a:solidFill>
              <a:cs typeface="Arial" charset="0"/>
            </a:endParaRPr>
          </a:p>
        </p:txBody>
      </p:sp>
      <p:sp>
        <p:nvSpPr>
          <p:cNvPr id="165894" name="Rectangle 6"/>
          <p:cNvSpPr>
            <a:spLocks noChangeArrowheads="1"/>
          </p:cNvSpPr>
          <p:nvPr/>
        </p:nvSpPr>
        <p:spPr bwMode="auto">
          <a:xfrm>
            <a:off x="457200" y="6419850"/>
            <a:ext cx="663575" cy="196850"/>
          </a:xfrm>
          <a:prstGeom prst="rect">
            <a:avLst/>
          </a:prstGeom>
          <a:noFill/>
          <a:ln w="9525">
            <a:noFill/>
            <a:miter lim="800000"/>
            <a:headEnd/>
            <a:tailEnd/>
          </a:ln>
          <a:effectLst/>
        </p:spPr>
        <p:txBody>
          <a:bodyPr lIns="0" tIns="0" rIns="0" bIns="0"/>
          <a:lstStyle/>
          <a:p>
            <a:pPr algn="l">
              <a:defRPr/>
            </a:pPr>
            <a:r>
              <a:rPr lang="en-US" sz="1100" dirty="0">
                <a:solidFill>
                  <a:srgbClr val="000000"/>
                </a:solidFill>
                <a:cs typeface="Arial" charset="0"/>
              </a:rPr>
              <a:t>Page </a:t>
            </a:r>
            <a:fld id="{84B491C8-BB09-42DF-B246-12EF53273C68}" type="slidenum">
              <a:rPr lang="en-US" sz="1100">
                <a:solidFill>
                  <a:srgbClr val="000000"/>
                </a:solidFill>
                <a:cs typeface="Arial" charset="0"/>
              </a:rPr>
              <a:pPr algn="l">
                <a:defRPr/>
              </a:pPr>
              <a:t>‹#›</a:t>
            </a:fld>
            <a:endParaRPr lang="en-US" sz="1100" dirty="0">
              <a:solidFill>
                <a:srgbClr val="000000"/>
              </a:solidFill>
              <a:cs typeface="Arial" charset="0"/>
            </a:endParaRPr>
          </a:p>
        </p:txBody>
      </p:sp>
      <p:sp>
        <p:nvSpPr>
          <p:cNvPr id="165895" name="Line 7"/>
          <p:cNvSpPr>
            <a:spLocks noChangeShapeType="1"/>
          </p:cNvSpPr>
          <p:nvPr/>
        </p:nvSpPr>
        <p:spPr bwMode="auto">
          <a:xfrm>
            <a:off x="455613" y="1042988"/>
            <a:ext cx="8229600" cy="0"/>
          </a:xfrm>
          <a:prstGeom prst="line">
            <a:avLst/>
          </a:prstGeom>
          <a:noFill/>
          <a:ln w="12700">
            <a:solidFill>
              <a:srgbClr val="FFD200"/>
            </a:solidFill>
            <a:round/>
            <a:headEnd/>
            <a:tailEnd/>
          </a:ln>
          <a:effectLst/>
        </p:spPr>
        <p:txBody>
          <a:bodyPr wrap="none" anchor="ctr"/>
          <a:lstStyle/>
          <a:p>
            <a:pPr>
              <a:defRPr/>
            </a:pPr>
            <a:endParaRPr lang="de-DE" dirty="0"/>
          </a:p>
        </p:txBody>
      </p:sp>
      <p:sp>
        <p:nvSpPr>
          <p:cNvPr id="165896" name="Line 8"/>
          <p:cNvSpPr>
            <a:spLocks noChangeShapeType="1"/>
          </p:cNvSpPr>
          <p:nvPr/>
        </p:nvSpPr>
        <p:spPr bwMode="auto">
          <a:xfrm>
            <a:off x="455613" y="6243638"/>
            <a:ext cx="8229600" cy="0"/>
          </a:xfrm>
          <a:prstGeom prst="line">
            <a:avLst/>
          </a:prstGeom>
          <a:noFill/>
          <a:ln w="3175">
            <a:solidFill>
              <a:srgbClr val="646464"/>
            </a:solidFill>
            <a:round/>
            <a:headEnd/>
            <a:tailEnd/>
          </a:ln>
          <a:effectLst/>
        </p:spPr>
        <p:txBody>
          <a:bodyPr wrap="none" anchor="ctr"/>
          <a:lstStyle/>
          <a:p>
            <a:pPr>
              <a:defRPr/>
            </a:pPr>
            <a:endParaRPr lang="de-DE" dirty="0"/>
          </a:p>
        </p:txBody>
      </p:sp>
      <p:sp>
        <p:nvSpPr>
          <p:cNvPr id="165897" name="Line 9"/>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pPr>
              <a:defRPr/>
            </a:pPr>
            <a:endParaRPr lang="de-DE" dirty="0"/>
          </a:p>
        </p:txBody>
      </p:sp>
      <p:pic>
        <p:nvPicPr>
          <p:cNvPr id="1033" name="Picture 10" descr="logo_tagblack"/>
          <p:cNvPicPr>
            <a:picLocks noChangeAspect="1" noChangeArrowheads="1"/>
          </p:cNvPicPr>
          <p:nvPr/>
        </p:nvPicPr>
        <p:blipFill>
          <a:blip r:embed="rId18" cstate="print"/>
          <a:srcRect/>
          <a:stretch>
            <a:fillRect/>
          </a:stretch>
        </p:blipFill>
        <p:spPr bwMode="auto">
          <a:xfrm>
            <a:off x="7226300" y="6386513"/>
            <a:ext cx="1485900" cy="333375"/>
          </a:xfrm>
          <a:prstGeom prst="rect">
            <a:avLst/>
          </a:prstGeom>
          <a:noFill/>
          <a:ln w="9525">
            <a:noFill/>
            <a:miter lim="800000"/>
            <a:headEnd/>
            <a:tailEnd/>
          </a:ln>
        </p:spPr>
      </p:pic>
      <p:sp>
        <p:nvSpPr>
          <p:cNvPr id="165899" name="Line 11"/>
          <p:cNvSpPr>
            <a:spLocks noChangeShapeType="1"/>
          </p:cNvSpPr>
          <p:nvPr/>
        </p:nvSpPr>
        <p:spPr bwMode="auto">
          <a:xfrm>
            <a:off x="455613" y="1042988"/>
            <a:ext cx="8229600" cy="0"/>
          </a:xfrm>
          <a:prstGeom prst="line">
            <a:avLst/>
          </a:prstGeom>
          <a:noFill/>
          <a:ln w="19050">
            <a:solidFill>
              <a:srgbClr val="FFD200"/>
            </a:solidFill>
            <a:round/>
            <a:headEnd/>
            <a:tailEnd/>
          </a:ln>
          <a:effectLst/>
        </p:spPr>
        <p:txBody>
          <a:bodyPr wrap="none" anchor="ctr"/>
          <a:lstStyle/>
          <a:p>
            <a:pPr>
              <a:defRPr/>
            </a:pPr>
            <a:endParaRPr lang="de-DE" dirty="0"/>
          </a:p>
        </p:txBody>
      </p:sp>
      <p:sp>
        <p:nvSpPr>
          <p:cNvPr id="165900" name="Line 12"/>
          <p:cNvSpPr>
            <a:spLocks noChangeShapeType="1"/>
          </p:cNvSpPr>
          <p:nvPr/>
        </p:nvSpPr>
        <p:spPr bwMode="auto">
          <a:xfrm>
            <a:off x="455613" y="6243638"/>
            <a:ext cx="8229600" cy="0"/>
          </a:xfrm>
          <a:prstGeom prst="line">
            <a:avLst/>
          </a:prstGeom>
          <a:noFill/>
          <a:ln w="3175">
            <a:solidFill>
              <a:srgbClr val="646464"/>
            </a:solidFill>
            <a:round/>
            <a:headEnd/>
            <a:tailEnd/>
          </a:ln>
          <a:effectLst/>
        </p:spPr>
        <p:txBody>
          <a:bodyPr wrap="none" anchor="ctr"/>
          <a:lstStyle/>
          <a:p>
            <a:pPr>
              <a:defRPr/>
            </a:pPr>
            <a:endParaRPr lang="de-DE" dirty="0"/>
          </a:p>
        </p:txBody>
      </p:sp>
      <p:sp>
        <p:nvSpPr>
          <p:cNvPr id="165901" name="Line 13"/>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pPr>
              <a:defRPr/>
            </a:pPr>
            <a:endParaRPr lang="de-DE" dirty="0"/>
          </a:p>
        </p:txBody>
      </p:sp>
      <p:pic>
        <p:nvPicPr>
          <p:cNvPr id="1037" name="Picture 14" descr="logo_tagblack"/>
          <p:cNvPicPr>
            <a:picLocks noChangeAspect="1" noChangeArrowheads="1"/>
          </p:cNvPicPr>
          <p:nvPr/>
        </p:nvPicPr>
        <p:blipFill>
          <a:blip r:embed="rId18" cstate="print"/>
          <a:srcRect/>
          <a:stretch>
            <a:fillRect/>
          </a:stretch>
        </p:blipFill>
        <p:spPr bwMode="auto">
          <a:xfrm>
            <a:off x="7226300" y="6386513"/>
            <a:ext cx="1485900" cy="33337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5816" r:id="rId1"/>
    <p:sldLayoutId id="2147485750" r:id="rId2"/>
    <p:sldLayoutId id="2147485751" r:id="rId3"/>
    <p:sldLayoutId id="2147485752" r:id="rId4"/>
    <p:sldLayoutId id="2147485753" r:id="rId5"/>
    <p:sldLayoutId id="2147485754" r:id="rId6"/>
    <p:sldLayoutId id="2147485755" r:id="rId7"/>
    <p:sldLayoutId id="2147485756" r:id="rId8"/>
    <p:sldLayoutId id="2147485757" r:id="rId9"/>
    <p:sldLayoutId id="2147485758" r:id="rId10"/>
    <p:sldLayoutId id="2147485759" r:id="rId11"/>
    <p:sldLayoutId id="2147485824" r:id="rId12"/>
    <p:sldLayoutId id="2147485825" r:id="rId13"/>
    <p:sldLayoutId id="2147485826" r:id="rId14"/>
    <p:sldLayoutId id="2147485882" r:id="rId15"/>
    <p:sldLayoutId id="2147485883" r:id="rId16"/>
  </p:sldLayoutIdLst>
  <p:timing>
    <p:tnLst>
      <p:par>
        <p:cTn id="1" dur="indefinite" restart="never" nodeType="tmRoot"/>
      </p:par>
    </p:tnLst>
  </p:timing>
  <p:hf sldNum="0" hdr="0" ftr="0" dt="0"/>
  <p:txStyles>
    <p:titleStyle>
      <a:lvl1pPr algn="l" rtl="0" eaLnBrk="0" fontAlgn="base" hangingPunct="0">
        <a:lnSpc>
          <a:spcPct val="85000"/>
        </a:lnSpc>
        <a:spcBef>
          <a:spcPct val="0"/>
        </a:spcBef>
        <a:spcAft>
          <a:spcPct val="0"/>
        </a:spcAft>
        <a:defRPr sz="3000" b="1">
          <a:solidFill>
            <a:srgbClr val="646464"/>
          </a:solidFill>
          <a:latin typeface="+mj-lt"/>
          <a:ea typeface="+mj-ea"/>
          <a:cs typeface="+mj-cs"/>
        </a:defRPr>
      </a:lvl1pPr>
      <a:lvl2pPr algn="l" rtl="0" eaLnBrk="0" fontAlgn="base" hangingPunct="0">
        <a:lnSpc>
          <a:spcPct val="85000"/>
        </a:lnSpc>
        <a:spcBef>
          <a:spcPct val="0"/>
        </a:spcBef>
        <a:spcAft>
          <a:spcPct val="0"/>
        </a:spcAft>
        <a:defRPr sz="3000" b="1">
          <a:solidFill>
            <a:srgbClr val="646464"/>
          </a:solidFill>
          <a:latin typeface="Arial" charset="0"/>
        </a:defRPr>
      </a:lvl2pPr>
      <a:lvl3pPr algn="l" rtl="0" eaLnBrk="0" fontAlgn="base" hangingPunct="0">
        <a:lnSpc>
          <a:spcPct val="85000"/>
        </a:lnSpc>
        <a:spcBef>
          <a:spcPct val="0"/>
        </a:spcBef>
        <a:spcAft>
          <a:spcPct val="0"/>
        </a:spcAft>
        <a:defRPr sz="3000" b="1">
          <a:solidFill>
            <a:srgbClr val="646464"/>
          </a:solidFill>
          <a:latin typeface="Arial" charset="0"/>
        </a:defRPr>
      </a:lvl3pPr>
      <a:lvl4pPr algn="l" rtl="0" eaLnBrk="0" fontAlgn="base" hangingPunct="0">
        <a:lnSpc>
          <a:spcPct val="85000"/>
        </a:lnSpc>
        <a:spcBef>
          <a:spcPct val="0"/>
        </a:spcBef>
        <a:spcAft>
          <a:spcPct val="0"/>
        </a:spcAft>
        <a:defRPr sz="3000" b="1">
          <a:solidFill>
            <a:srgbClr val="646464"/>
          </a:solidFill>
          <a:latin typeface="Arial" charset="0"/>
        </a:defRPr>
      </a:lvl4pPr>
      <a:lvl5pPr algn="l" rtl="0" eaLnBrk="0" fontAlgn="base" hangingPunct="0">
        <a:lnSpc>
          <a:spcPct val="85000"/>
        </a:lnSpc>
        <a:spcBef>
          <a:spcPct val="0"/>
        </a:spcBef>
        <a:spcAft>
          <a:spcPct val="0"/>
        </a:spcAft>
        <a:defRPr sz="3000" b="1">
          <a:solidFill>
            <a:srgbClr val="646464"/>
          </a:solidFill>
          <a:latin typeface="Arial" charset="0"/>
        </a:defRPr>
      </a:lvl5pPr>
      <a:lvl6pPr marL="457200" algn="l" rtl="0" fontAlgn="base">
        <a:lnSpc>
          <a:spcPct val="85000"/>
        </a:lnSpc>
        <a:spcBef>
          <a:spcPct val="0"/>
        </a:spcBef>
        <a:spcAft>
          <a:spcPct val="0"/>
        </a:spcAft>
        <a:defRPr sz="3000" b="1">
          <a:solidFill>
            <a:srgbClr val="646464"/>
          </a:solidFill>
          <a:latin typeface="Arial" charset="0"/>
        </a:defRPr>
      </a:lvl6pPr>
      <a:lvl7pPr marL="914400" algn="l" rtl="0" fontAlgn="base">
        <a:lnSpc>
          <a:spcPct val="85000"/>
        </a:lnSpc>
        <a:spcBef>
          <a:spcPct val="0"/>
        </a:spcBef>
        <a:spcAft>
          <a:spcPct val="0"/>
        </a:spcAft>
        <a:defRPr sz="3000" b="1">
          <a:solidFill>
            <a:srgbClr val="646464"/>
          </a:solidFill>
          <a:latin typeface="Arial" charset="0"/>
        </a:defRPr>
      </a:lvl7pPr>
      <a:lvl8pPr marL="1371600" algn="l" rtl="0" fontAlgn="base">
        <a:lnSpc>
          <a:spcPct val="85000"/>
        </a:lnSpc>
        <a:spcBef>
          <a:spcPct val="0"/>
        </a:spcBef>
        <a:spcAft>
          <a:spcPct val="0"/>
        </a:spcAft>
        <a:defRPr sz="3000" b="1">
          <a:solidFill>
            <a:srgbClr val="646464"/>
          </a:solidFill>
          <a:latin typeface="Arial" charset="0"/>
        </a:defRPr>
      </a:lvl8pPr>
      <a:lvl9pPr marL="1828800" algn="l" rtl="0" fontAlgn="base">
        <a:lnSpc>
          <a:spcPct val="85000"/>
        </a:lnSpc>
        <a:spcBef>
          <a:spcPct val="0"/>
        </a:spcBef>
        <a:spcAft>
          <a:spcPct val="0"/>
        </a:spcAft>
        <a:defRPr sz="3000" b="1">
          <a:solidFill>
            <a:srgbClr val="646464"/>
          </a:solidFill>
          <a:latin typeface="Arial" charset="0"/>
        </a:defRPr>
      </a:lvl9pPr>
    </p:titleStyle>
    <p:bodyStyle>
      <a:lvl1pPr marL="360363" indent="-360363" algn="l" rtl="0" eaLnBrk="0" fontAlgn="base" hangingPunct="0">
        <a:spcBef>
          <a:spcPct val="20000"/>
        </a:spcBef>
        <a:spcAft>
          <a:spcPct val="0"/>
        </a:spcAft>
        <a:buClr>
          <a:srgbClr val="FFD200"/>
        </a:buClr>
        <a:buSzPct val="75000"/>
        <a:buFont typeface="Arial" charset="0"/>
        <a:buChar char="►"/>
        <a:defRPr sz="2400">
          <a:solidFill>
            <a:srgbClr val="646464"/>
          </a:solidFill>
          <a:latin typeface="+mn-lt"/>
          <a:ea typeface="+mn-ea"/>
          <a:cs typeface="+mn-cs"/>
        </a:defRPr>
      </a:lvl1pPr>
      <a:lvl2pPr marL="717550" indent="-355600" algn="l" rtl="0" eaLnBrk="0" fontAlgn="base" hangingPunct="0">
        <a:spcBef>
          <a:spcPct val="20000"/>
        </a:spcBef>
        <a:spcAft>
          <a:spcPct val="0"/>
        </a:spcAft>
        <a:buClr>
          <a:srgbClr val="FFD200"/>
        </a:buClr>
        <a:buSzPct val="75000"/>
        <a:buFont typeface="Arial" charset="0"/>
        <a:buChar char="►"/>
        <a:defRPr sz="2000">
          <a:solidFill>
            <a:srgbClr val="646464"/>
          </a:solidFill>
          <a:latin typeface="+mn-lt"/>
        </a:defRPr>
      </a:lvl2pPr>
      <a:lvl3pPr marL="1081088" indent="-361950" algn="l" rtl="0" eaLnBrk="0" fontAlgn="base" hangingPunct="0">
        <a:spcBef>
          <a:spcPct val="20000"/>
        </a:spcBef>
        <a:spcAft>
          <a:spcPct val="0"/>
        </a:spcAft>
        <a:buClr>
          <a:srgbClr val="FFD200"/>
        </a:buClr>
        <a:buSzPct val="75000"/>
        <a:buFont typeface="Arial" charset="0"/>
        <a:buChar char="►"/>
        <a:defRPr>
          <a:solidFill>
            <a:srgbClr val="646464"/>
          </a:solidFill>
          <a:latin typeface="+mn-lt"/>
        </a:defRPr>
      </a:lvl3pPr>
      <a:lvl4pPr marL="1441450" indent="-358775" algn="l" rtl="0" eaLnBrk="0" fontAlgn="base" hangingPunct="0">
        <a:spcBef>
          <a:spcPct val="20000"/>
        </a:spcBef>
        <a:spcAft>
          <a:spcPct val="0"/>
        </a:spcAft>
        <a:buClr>
          <a:srgbClr val="FFD200"/>
        </a:buClr>
        <a:buSzPct val="75000"/>
        <a:buFont typeface="Arial" charset="0"/>
        <a:buChar char="►"/>
        <a:defRPr sz="1600">
          <a:solidFill>
            <a:srgbClr val="646464"/>
          </a:solidFill>
          <a:latin typeface="+mn-lt"/>
        </a:defRPr>
      </a:lvl4pPr>
      <a:lvl5pPr marL="1800225" indent="-357188" algn="l" rtl="0" eaLnBrk="0" fontAlgn="base" hangingPunct="0">
        <a:spcBef>
          <a:spcPct val="20000"/>
        </a:spcBef>
        <a:spcAft>
          <a:spcPct val="0"/>
        </a:spcAft>
        <a:buClr>
          <a:srgbClr val="FFD200"/>
        </a:buClr>
        <a:buSzPct val="75000"/>
        <a:buFont typeface="Arial" charset="0"/>
        <a:buChar char="►"/>
        <a:defRPr sz="1600">
          <a:solidFill>
            <a:srgbClr val="646464"/>
          </a:solidFill>
          <a:latin typeface="+mn-lt"/>
        </a:defRPr>
      </a:lvl5pPr>
      <a:lvl6pPr marL="2257425" indent="-357188" algn="l" rtl="0" fontAlgn="base">
        <a:spcBef>
          <a:spcPct val="20000"/>
        </a:spcBef>
        <a:spcAft>
          <a:spcPct val="0"/>
        </a:spcAft>
        <a:buClr>
          <a:srgbClr val="FFD200"/>
        </a:buClr>
        <a:buSzPct val="75000"/>
        <a:buFont typeface="Arial" charset="0"/>
        <a:buChar char="►"/>
        <a:defRPr sz="1600">
          <a:solidFill>
            <a:srgbClr val="646464"/>
          </a:solidFill>
          <a:latin typeface="+mn-lt"/>
        </a:defRPr>
      </a:lvl6pPr>
      <a:lvl7pPr marL="2714625" indent="-357188" algn="l" rtl="0" fontAlgn="base">
        <a:spcBef>
          <a:spcPct val="20000"/>
        </a:spcBef>
        <a:spcAft>
          <a:spcPct val="0"/>
        </a:spcAft>
        <a:buClr>
          <a:srgbClr val="FFD200"/>
        </a:buClr>
        <a:buSzPct val="75000"/>
        <a:buFont typeface="Arial" charset="0"/>
        <a:buChar char="►"/>
        <a:defRPr sz="1600">
          <a:solidFill>
            <a:srgbClr val="646464"/>
          </a:solidFill>
          <a:latin typeface="+mn-lt"/>
        </a:defRPr>
      </a:lvl7pPr>
      <a:lvl8pPr marL="3171825" indent="-357188" algn="l" rtl="0" fontAlgn="base">
        <a:spcBef>
          <a:spcPct val="20000"/>
        </a:spcBef>
        <a:spcAft>
          <a:spcPct val="0"/>
        </a:spcAft>
        <a:buClr>
          <a:srgbClr val="FFD200"/>
        </a:buClr>
        <a:buSzPct val="75000"/>
        <a:buFont typeface="Arial" charset="0"/>
        <a:buChar char="►"/>
        <a:defRPr sz="1600">
          <a:solidFill>
            <a:srgbClr val="646464"/>
          </a:solidFill>
          <a:latin typeface="+mn-lt"/>
        </a:defRPr>
      </a:lvl8pPr>
      <a:lvl9pPr marL="3629025" indent="-357188" algn="l" rtl="0" fontAlgn="base">
        <a:spcBef>
          <a:spcPct val="20000"/>
        </a:spcBef>
        <a:spcAft>
          <a:spcPct val="0"/>
        </a:spcAft>
        <a:buClr>
          <a:srgbClr val="FFD200"/>
        </a:buClr>
        <a:buSzPct val="75000"/>
        <a:buFont typeface="Arial" charset="0"/>
        <a:buChar char="►"/>
        <a:defRPr sz="1600">
          <a:solidFill>
            <a:srgbClr val="646464"/>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457200" y="200025"/>
            <a:ext cx="8229600" cy="863600"/>
          </a:xfrm>
          <a:prstGeom prst="rect">
            <a:avLst/>
          </a:prstGeom>
          <a:noFill/>
          <a:ln w="9525">
            <a:noFill/>
            <a:miter lim="800000"/>
            <a:headEnd/>
            <a:tailEnd/>
          </a:ln>
        </p:spPr>
        <p:txBody>
          <a:bodyPr vert="horz" wrap="square" lIns="0" tIns="36000" rIns="0" bIns="0" numCol="1" anchor="t" anchorCtr="0" compatLnSpc="1">
            <a:prstTxWarp prst="textNoShape">
              <a:avLst/>
            </a:prstTxWarp>
          </a:bodyPr>
          <a:lstStyle/>
          <a:p>
            <a:pPr lvl="0"/>
            <a:r>
              <a:rPr lang="en-US" smtClean="0"/>
              <a:t>Click to edit Master title style</a:t>
            </a:r>
          </a:p>
        </p:txBody>
      </p:sp>
      <p:sp>
        <p:nvSpPr>
          <p:cNvPr id="99331" name="Line 3"/>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pPr>
              <a:defRPr/>
            </a:pPr>
            <a:endParaRPr lang="de-DE" dirty="0"/>
          </a:p>
        </p:txBody>
      </p:sp>
      <p:pic>
        <p:nvPicPr>
          <p:cNvPr id="2052" name="Picture 4" descr="logo_tagblack"/>
          <p:cNvPicPr>
            <a:picLocks noChangeAspect="1" noChangeArrowheads="1"/>
          </p:cNvPicPr>
          <p:nvPr/>
        </p:nvPicPr>
        <p:blipFill>
          <a:blip r:embed="rId13" cstate="print"/>
          <a:srcRect/>
          <a:stretch>
            <a:fillRect/>
          </a:stretch>
        </p:blipFill>
        <p:spPr bwMode="auto">
          <a:xfrm>
            <a:off x="7226300" y="6386513"/>
            <a:ext cx="1485900" cy="333375"/>
          </a:xfrm>
          <a:prstGeom prst="rect">
            <a:avLst/>
          </a:prstGeom>
          <a:noFill/>
          <a:ln w="9525">
            <a:noFill/>
            <a:miter lim="800000"/>
            <a:headEnd/>
            <a:tailEnd/>
          </a:ln>
        </p:spPr>
      </p:pic>
      <p:sp>
        <p:nvSpPr>
          <p:cNvPr id="99335" name="Freeform 7"/>
          <p:cNvSpPr>
            <a:spLocks noChangeAspect="1"/>
          </p:cNvSpPr>
          <p:nvPr/>
        </p:nvSpPr>
        <p:spPr bwMode="auto">
          <a:xfrm>
            <a:off x="455613" y="1039813"/>
            <a:ext cx="8253412" cy="5194300"/>
          </a:xfrm>
          <a:custGeom>
            <a:avLst/>
            <a:gdLst/>
            <a:ahLst/>
            <a:cxnLst>
              <a:cxn ang="0">
                <a:pos x="0" y="0"/>
              </a:cxn>
              <a:cxn ang="0">
                <a:pos x="5170" y="0"/>
              </a:cxn>
              <a:cxn ang="0">
                <a:pos x="4535" y="3266"/>
              </a:cxn>
              <a:cxn ang="0">
                <a:pos x="0" y="3266"/>
              </a:cxn>
              <a:cxn ang="0">
                <a:pos x="0" y="0"/>
              </a:cxn>
            </a:cxnLst>
            <a:rect l="0" t="0" r="r" b="b"/>
            <a:pathLst>
              <a:path w="5170" h="3266">
                <a:moveTo>
                  <a:pt x="0" y="0"/>
                </a:moveTo>
                <a:lnTo>
                  <a:pt x="5170" y="0"/>
                </a:lnTo>
                <a:lnTo>
                  <a:pt x="4535" y="3266"/>
                </a:lnTo>
                <a:lnTo>
                  <a:pt x="0" y="3266"/>
                </a:lnTo>
                <a:lnTo>
                  <a:pt x="0" y="0"/>
                </a:lnTo>
                <a:close/>
              </a:path>
            </a:pathLst>
          </a:custGeom>
          <a:blipFill dpi="0" rotWithShape="1">
            <a:blip r:embed="rId14" cstate="print"/>
            <a:srcRect/>
            <a:stretch>
              <a:fillRect/>
            </a:stretch>
          </a:blipFill>
          <a:ln w="9525">
            <a:noFill/>
            <a:round/>
            <a:headEnd/>
            <a:tailEnd/>
          </a:ln>
          <a:effectLst/>
        </p:spPr>
        <p:txBody>
          <a:bodyPr/>
          <a:lstStyle/>
          <a:p>
            <a:pPr>
              <a:defRPr/>
            </a:pPr>
            <a:endParaRPr lang="de-DE" dirty="0"/>
          </a:p>
        </p:txBody>
      </p:sp>
    </p:spTree>
  </p:cSld>
  <p:clrMap bg1="lt1" tx1="dk1" bg2="lt2" tx2="dk2" accent1="accent1" accent2="accent2" accent3="accent3" accent4="accent4" accent5="accent5" accent6="accent6" hlink="hlink" folHlink="folHlink"/>
  <p:sldLayoutIdLst>
    <p:sldLayoutId id="2147485761" r:id="rId1"/>
    <p:sldLayoutId id="2147485762" r:id="rId2"/>
    <p:sldLayoutId id="2147485763" r:id="rId3"/>
    <p:sldLayoutId id="2147485764" r:id="rId4"/>
    <p:sldLayoutId id="2147485765" r:id="rId5"/>
    <p:sldLayoutId id="2147485766" r:id="rId6"/>
    <p:sldLayoutId id="2147485767" r:id="rId7"/>
    <p:sldLayoutId id="2147485768" r:id="rId8"/>
    <p:sldLayoutId id="2147485769" r:id="rId9"/>
    <p:sldLayoutId id="2147485770" r:id="rId10"/>
    <p:sldLayoutId id="2147485771" r:id="rId11"/>
  </p:sldLayoutIdLst>
  <p:timing>
    <p:tnLst>
      <p:par>
        <p:cTn id="1" dur="indefinite" restart="never" nodeType="tmRoot"/>
      </p:par>
    </p:tnLst>
  </p:timing>
  <p:hf sldNum="0" hdr="0" ftr="0" dt="0"/>
  <p:txStyles>
    <p:titleStyle>
      <a:lvl1pPr algn="l" rtl="0" eaLnBrk="0" fontAlgn="base" hangingPunct="0">
        <a:lnSpc>
          <a:spcPct val="85000"/>
        </a:lnSpc>
        <a:spcBef>
          <a:spcPct val="0"/>
        </a:spcBef>
        <a:spcAft>
          <a:spcPct val="0"/>
        </a:spcAft>
        <a:defRPr sz="3000" b="1">
          <a:solidFill>
            <a:srgbClr val="000000"/>
          </a:solidFill>
          <a:latin typeface="+mj-lt"/>
          <a:ea typeface="+mj-ea"/>
          <a:cs typeface="+mj-cs"/>
        </a:defRPr>
      </a:lvl1pPr>
      <a:lvl2pPr algn="l" rtl="0" eaLnBrk="0" fontAlgn="base" hangingPunct="0">
        <a:lnSpc>
          <a:spcPct val="85000"/>
        </a:lnSpc>
        <a:spcBef>
          <a:spcPct val="0"/>
        </a:spcBef>
        <a:spcAft>
          <a:spcPct val="0"/>
        </a:spcAft>
        <a:defRPr sz="3000" b="1">
          <a:solidFill>
            <a:srgbClr val="000000"/>
          </a:solidFill>
          <a:latin typeface="Arial" charset="0"/>
        </a:defRPr>
      </a:lvl2pPr>
      <a:lvl3pPr algn="l" rtl="0" eaLnBrk="0" fontAlgn="base" hangingPunct="0">
        <a:lnSpc>
          <a:spcPct val="85000"/>
        </a:lnSpc>
        <a:spcBef>
          <a:spcPct val="0"/>
        </a:spcBef>
        <a:spcAft>
          <a:spcPct val="0"/>
        </a:spcAft>
        <a:defRPr sz="3000" b="1">
          <a:solidFill>
            <a:srgbClr val="000000"/>
          </a:solidFill>
          <a:latin typeface="Arial" charset="0"/>
        </a:defRPr>
      </a:lvl3pPr>
      <a:lvl4pPr algn="l" rtl="0" eaLnBrk="0" fontAlgn="base" hangingPunct="0">
        <a:lnSpc>
          <a:spcPct val="85000"/>
        </a:lnSpc>
        <a:spcBef>
          <a:spcPct val="0"/>
        </a:spcBef>
        <a:spcAft>
          <a:spcPct val="0"/>
        </a:spcAft>
        <a:defRPr sz="3000" b="1">
          <a:solidFill>
            <a:srgbClr val="000000"/>
          </a:solidFill>
          <a:latin typeface="Arial" charset="0"/>
        </a:defRPr>
      </a:lvl4pPr>
      <a:lvl5pPr algn="l" rtl="0" eaLnBrk="0" fontAlgn="base" hangingPunct="0">
        <a:lnSpc>
          <a:spcPct val="85000"/>
        </a:lnSpc>
        <a:spcBef>
          <a:spcPct val="0"/>
        </a:spcBef>
        <a:spcAft>
          <a:spcPct val="0"/>
        </a:spcAft>
        <a:defRPr sz="3000" b="1">
          <a:solidFill>
            <a:srgbClr val="000000"/>
          </a:solidFill>
          <a:latin typeface="Arial" charset="0"/>
        </a:defRPr>
      </a:lvl5pPr>
      <a:lvl6pPr marL="457200" algn="l" rtl="0" fontAlgn="base">
        <a:lnSpc>
          <a:spcPct val="85000"/>
        </a:lnSpc>
        <a:spcBef>
          <a:spcPct val="0"/>
        </a:spcBef>
        <a:spcAft>
          <a:spcPct val="0"/>
        </a:spcAft>
        <a:defRPr sz="3000" b="1">
          <a:solidFill>
            <a:srgbClr val="000000"/>
          </a:solidFill>
          <a:latin typeface="Arial" charset="0"/>
        </a:defRPr>
      </a:lvl6pPr>
      <a:lvl7pPr marL="914400" algn="l" rtl="0" fontAlgn="base">
        <a:lnSpc>
          <a:spcPct val="85000"/>
        </a:lnSpc>
        <a:spcBef>
          <a:spcPct val="0"/>
        </a:spcBef>
        <a:spcAft>
          <a:spcPct val="0"/>
        </a:spcAft>
        <a:defRPr sz="3000" b="1">
          <a:solidFill>
            <a:srgbClr val="000000"/>
          </a:solidFill>
          <a:latin typeface="Arial" charset="0"/>
        </a:defRPr>
      </a:lvl7pPr>
      <a:lvl8pPr marL="1371600" algn="l" rtl="0" fontAlgn="base">
        <a:lnSpc>
          <a:spcPct val="85000"/>
        </a:lnSpc>
        <a:spcBef>
          <a:spcPct val="0"/>
        </a:spcBef>
        <a:spcAft>
          <a:spcPct val="0"/>
        </a:spcAft>
        <a:defRPr sz="3000" b="1">
          <a:solidFill>
            <a:srgbClr val="000000"/>
          </a:solidFill>
          <a:latin typeface="Arial" charset="0"/>
        </a:defRPr>
      </a:lvl8pPr>
      <a:lvl9pPr marL="1828800" algn="l" rtl="0" fontAlgn="base">
        <a:lnSpc>
          <a:spcPct val="85000"/>
        </a:lnSpc>
        <a:spcBef>
          <a:spcPct val="0"/>
        </a:spcBef>
        <a:spcAft>
          <a:spcPct val="0"/>
        </a:spcAft>
        <a:defRPr sz="3000" b="1">
          <a:solidFill>
            <a:srgbClr val="000000"/>
          </a:solidFill>
          <a:latin typeface="Arial" charset="0"/>
        </a:defRPr>
      </a:lvl9pPr>
    </p:titleStyle>
    <p:bodyStyle>
      <a:lvl1pPr marL="342900" indent="-342900" algn="l" rtl="0" eaLnBrk="0" fontAlgn="base" hangingPunct="0">
        <a:spcBef>
          <a:spcPct val="20000"/>
        </a:spcBef>
        <a:spcAft>
          <a:spcPct val="0"/>
        </a:spcAft>
        <a:buClr>
          <a:schemeClr val="hlink"/>
        </a:buClr>
        <a:buSzPct val="75000"/>
        <a:buFont typeface="Arial" charset="0"/>
        <a:buChar char="►"/>
        <a:defRPr sz="2400">
          <a:solidFill>
            <a:srgbClr val="646464"/>
          </a:solidFill>
          <a:latin typeface="+mn-lt"/>
          <a:ea typeface="+mn-ea"/>
          <a:cs typeface="+mn-cs"/>
        </a:defRPr>
      </a:lvl1pPr>
      <a:lvl2pPr marL="742950" indent="-285750" algn="l" rtl="0" eaLnBrk="0" fontAlgn="base" hangingPunct="0">
        <a:spcBef>
          <a:spcPct val="20000"/>
        </a:spcBef>
        <a:spcAft>
          <a:spcPct val="0"/>
        </a:spcAft>
        <a:buClr>
          <a:schemeClr val="hlink"/>
        </a:buClr>
        <a:buSzPct val="75000"/>
        <a:buFont typeface="Arial" charset="0"/>
        <a:buChar char="►"/>
        <a:defRPr sz="2000">
          <a:solidFill>
            <a:srgbClr val="646464"/>
          </a:solidFill>
          <a:latin typeface="+mn-lt"/>
        </a:defRPr>
      </a:lvl2pPr>
      <a:lvl3pPr marL="1143000" indent="-228600" algn="l" rtl="0" eaLnBrk="0" fontAlgn="base" hangingPunct="0">
        <a:spcBef>
          <a:spcPct val="20000"/>
        </a:spcBef>
        <a:spcAft>
          <a:spcPct val="0"/>
        </a:spcAft>
        <a:buClr>
          <a:schemeClr val="hlink"/>
        </a:buClr>
        <a:buSzPct val="75000"/>
        <a:buFont typeface="Arial" charset="0"/>
        <a:buChar char="►"/>
        <a:defRPr>
          <a:solidFill>
            <a:srgbClr val="646464"/>
          </a:solidFill>
          <a:latin typeface="+mn-lt"/>
        </a:defRPr>
      </a:lvl3pPr>
      <a:lvl4pPr marL="16002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4pPr>
      <a:lvl5pPr marL="20574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5pPr>
      <a:lvl6pPr marL="25146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6pPr>
      <a:lvl7pPr marL="29718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7pPr>
      <a:lvl8pPr marL="34290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8pPr>
      <a:lvl9pPr marL="38862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074" name="Picture 2" descr="lines11_crop_subtle_w"/>
          <p:cNvPicPr>
            <a:picLocks noChangeAspect="1" noChangeArrowheads="1"/>
          </p:cNvPicPr>
          <p:nvPr/>
        </p:nvPicPr>
        <p:blipFill>
          <a:blip r:embed="rId13" cstate="print"/>
          <a:srcRect/>
          <a:stretch>
            <a:fillRect/>
          </a:stretch>
        </p:blipFill>
        <p:spPr bwMode="auto">
          <a:xfrm>
            <a:off x="455613" y="1036638"/>
            <a:ext cx="8231187" cy="5195887"/>
          </a:xfrm>
          <a:prstGeom prst="rect">
            <a:avLst/>
          </a:prstGeom>
          <a:noFill/>
          <a:ln w="9525">
            <a:noFill/>
            <a:miter lim="800000"/>
            <a:headEnd/>
            <a:tailEnd/>
          </a:ln>
        </p:spPr>
      </p:pic>
      <p:sp>
        <p:nvSpPr>
          <p:cNvPr id="3075" name="Rectangle 3"/>
          <p:cNvSpPr>
            <a:spLocks noGrp="1" noChangeArrowheads="1"/>
          </p:cNvSpPr>
          <p:nvPr>
            <p:ph type="title"/>
          </p:nvPr>
        </p:nvSpPr>
        <p:spPr bwMode="auto">
          <a:xfrm>
            <a:off x="457200" y="200025"/>
            <a:ext cx="8229600" cy="863600"/>
          </a:xfrm>
          <a:prstGeom prst="rect">
            <a:avLst/>
          </a:prstGeom>
          <a:noFill/>
          <a:ln w="9525">
            <a:noFill/>
            <a:miter lim="800000"/>
            <a:headEnd/>
            <a:tailEnd/>
          </a:ln>
        </p:spPr>
        <p:txBody>
          <a:bodyPr vert="horz" wrap="square" lIns="0" tIns="36000" rIns="0" bIns="0" numCol="1" anchor="t" anchorCtr="0" compatLnSpc="1">
            <a:prstTxWarp prst="textNoShape">
              <a:avLst/>
            </a:prstTxWarp>
          </a:bodyPr>
          <a:lstStyle/>
          <a:p>
            <a:pPr lvl="0"/>
            <a:r>
              <a:rPr lang="en-US" smtClean="0"/>
              <a:t>Click to edit Master title style</a:t>
            </a:r>
          </a:p>
        </p:txBody>
      </p:sp>
      <p:sp>
        <p:nvSpPr>
          <p:cNvPr id="100356" name="Line 4"/>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pPr>
              <a:defRPr/>
            </a:pPr>
            <a:endParaRPr lang="de-DE" dirty="0"/>
          </a:p>
        </p:txBody>
      </p:sp>
      <p:pic>
        <p:nvPicPr>
          <p:cNvPr id="3077" name="Picture 5" descr="logo_tagblack"/>
          <p:cNvPicPr>
            <a:picLocks noChangeAspect="1" noChangeArrowheads="1"/>
          </p:cNvPicPr>
          <p:nvPr/>
        </p:nvPicPr>
        <p:blipFill>
          <a:blip r:embed="rId14" cstate="print"/>
          <a:srcRect/>
          <a:stretch>
            <a:fillRect/>
          </a:stretch>
        </p:blipFill>
        <p:spPr bwMode="auto">
          <a:xfrm>
            <a:off x="7226300" y="6386513"/>
            <a:ext cx="1485900" cy="33337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5772" r:id="rId1"/>
    <p:sldLayoutId id="2147485773" r:id="rId2"/>
    <p:sldLayoutId id="2147485774" r:id="rId3"/>
    <p:sldLayoutId id="2147485775" r:id="rId4"/>
    <p:sldLayoutId id="2147485776" r:id="rId5"/>
    <p:sldLayoutId id="2147485777" r:id="rId6"/>
    <p:sldLayoutId id="2147485778" r:id="rId7"/>
    <p:sldLayoutId id="2147485779" r:id="rId8"/>
    <p:sldLayoutId id="2147485780" r:id="rId9"/>
    <p:sldLayoutId id="2147485781" r:id="rId10"/>
    <p:sldLayoutId id="2147485782" r:id="rId11"/>
  </p:sldLayoutIdLst>
  <p:timing>
    <p:tnLst>
      <p:par>
        <p:cTn id="1" dur="indefinite" restart="never" nodeType="tmRoot"/>
      </p:par>
    </p:tnLst>
  </p:timing>
  <p:hf sldNum="0" hdr="0" ftr="0" dt="0"/>
  <p:txStyles>
    <p:titleStyle>
      <a:lvl1pPr algn="l" rtl="0" eaLnBrk="0" fontAlgn="base" hangingPunct="0">
        <a:lnSpc>
          <a:spcPct val="85000"/>
        </a:lnSpc>
        <a:spcBef>
          <a:spcPct val="0"/>
        </a:spcBef>
        <a:spcAft>
          <a:spcPct val="0"/>
        </a:spcAft>
        <a:defRPr sz="3000" b="1">
          <a:solidFill>
            <a:srgbClr val="000000"/>
          </a:solidFill>
          <a:latin typeface="+mj-lt"/>
          <a:ea typeface="+mj-ea"/>
          <a:cs typeface="+mj-cs"/>
        </a:defRPr>
      </a:lvl1pPr>
      <a:lvl2pPr algn="l" rtl="0" eaLnBrk="0" fontAlgn="base" hangingPunct="0">
        <a:lnSpc>
          <a:spcPct val="85000"/>
        </a:lnSpc>
        <a:spcBef>
          <a:spcPct val="0"/>
        </a:spcBef>
        <a:spcAft>
          <a:spcPct val="0"/>
        </a:spcAft>
        <a:defRPr sz="3000" b="1">
          <a:solidFill>
            <a:srgbClr val="000000"/>
          </a:solidFill>
          <a:latin typeface="Arial" charset="0"/>
        </a:defRPr>
      </a:lvl2pPr>
      <a:lvl3pPr algn="l" rtl="0" eaLnBrk="0" fontAlgn="base" hangingPunct="0">
        <a:lnSpc>
          <a:spcPct val="85000"/>
        </a:lnSpc>
        <a:spcBef>
          <a:spcPct val="0"/>
        </a:spcBef>
        <a:spcAft>
          <a:spcPct val="0"/>
        </a:spcAft>
        <a:defRPr sz="3000" b="1">
          <a:solidFill>
            <a:srgbClr val="000000"/>
          </a:solidFill>
          <a:latin typeface="Arial" charset="0"/>
        </a:defRPr>
      </a:lvl3pPr>
      <a:lvl4pPr algn="l" rtl="0" eaLnBrk="0" fontAlgn="base" hangingPunct="0">
        <a:lnSpc>
          <a:spcPct val="85000"/>
        </a:lnSpc>
        <a:spcBef>
          <a:spcPct val="0"/>
        </a:spcBef>
        <a:spcAft>
          <a:spcPct val="0"/>
        </a:spcAft>
        <a:defRPr sz="3000" b="1">
          <a:solidFill>
            <a:srgbClr val="000000"/>
          </a:solidFill>
          <a:latin typeface="Arial" charset="0"/>
        </a:defRPr>
      </a:lvl4pPr>
      <a:lvl5pPr algn="l" rtl="0" eaLnBrk="0" fontAlgn="base" hangingPunct="0">
        <a:lnSpc>
          <a:spcPct val="85000"/>
        </a:lnSpc>
        <a:spcBef>
          <a:spcPct val="0"/>
        </a:spcBef>
        <a:spcAft>
          <a:spcPct val="0"/>
        </a:spcAft>
        <a:defRPr sz="3000" b="1">
          <a:solidFill>
            <a:srgbClr val="000000"/>
          </a:solidFill>
          <a:latin typeface="Arial" charset="0"/>
        </a:defRPr>
      </a:lvl5pPr>
      <a:lvl6pPr marL="457200" algn="l" rtl="0" fontAlgn="base">
        <a:lnSpc>
          <a:spcPct val="85000"/>
        </a:lnSpc>
        <a:spcBef>
          <a:spcPct val="0"/>
        </a:spcBef>
        <a:spcAft>
          <a:spcPct val="0"/>
        </a:spcAft>
        <a:defRPr sz="3000" b="1">
          <a:solidFill>
            <a:srgbClr val="000000"/>
          </a:solidFill>
          <a:latin typeface="Arial" charset="0"/>
        </a:defRPr>
      </a:lvl6pPr>
      <a:lvl7pPr marL="914400" algn="l" rtl="0" fontAlgn="base">
        <a:lnSpc>
          <a:spcPct val="85000"/>
        </a:lnSpc>
        <a:spcBef>
          <a:spcPct val="0"/>
        </a:spcBef>
        <a:spcAft>
          <a:spcPct val="0"/>
        </a:spcAft>
        <a:defRPr sz="3000" b="1">
          <a:solidFill>
            <a:srgbClr val="000000"/>
          </a:solidFill>
          <a:latin typeface="Arial" charset="0"/>
        </a:defRPr>
      </a:lvl7pPr>
      <a:lvl8pPr marL="1371600" algn="l" rtl="0" fontAlgn="base">
        <a:lnSpc>
          <a:spcPct val="85000"/>
        </a:lnSpc>
        <a:spcBef>
          <a:spcPct val="0"/>
        </a:spcBef>
        <a:spcAft>
          <a:spcPct val="0"/>
        </a:spcAft>
        <a:defRPr sz="3000" b="1">
          <a:solidFill>
            <a:srgbClr val="000000"/>
          </a:solidFill>
          <a:latin typeface="Arial" charset="0"/>
        </a:defRPr>
      </a:lvl8pPr>
      <a:lvl9pPr marL="1828800" algn="l" rtl="0" fontAlgn="base">
        <a:lnSpc>
          <a:spcPct val="85000"/>
        </a:lnSpc>
        <a:spcBef>
          <a:spcPct val="0"/>
        </a:spcBef>
        <a:spcAft>
          <a:spcPct val="0"/>
        </a:spcAft>
        <a:defRPr sz="3000" b="1">
          <a:solidFill>
            <a:srgbClr val="000000"/>
          </a:solidFill>
          <a:latin typeface="Arial" charset="0"/>
        </a:defRPr>
      </a:lvl9pPr>
    </p:titleStyle>
    <p:bodyStyle>
      <a:lvl1pPr marL="342900" indent="-342900" algn="l" rtl="0" eaLnBrk="0" fontAlgn="base" hangingPunct="0">
        <a:spcBef>
          <a:spcPct val="20000"/>
        </a:spcBef>
        <a:spcAft>
          <a:spcPct val="0"/>
        </a:spcAft>
        <a:buClr>
          <a:schemeClr val="hlink"/>
        </a:buClr>
        <a:buSzPct val="75000"/>
        <a:buFont typeface="Arial" charset="0"/>
        <a:buChar char="►"/>
        <a:defRPr sz="2400">
          <a:solidFill>
            <a:srgbClr val="646464"/>
          </a:solidFill>
          <a:latin typeface="+mn-lt"/>
          <a:ea typeface="+mn-ea"/>
          <a:cs typeface="+mn-cs"/>
        </a:defRPr>
      </a:lvl1pPr>
      <a:lvl2pPr marL="742950" indent="-285750" algn="l" rtl="0" eaLnBrk="0" fontAlgn="base" hangingPunct="0">
        <a:spcBef>
          <a:spcPct val="20000"/>
        </a:spcBef>
        <a:spcAft>
          <a:spcPct val="0"/>
        </a:spcAft>
        <a:buClr>
          <a:schemeClr val="hlink"/>
        </a:buClr>
        <a:buSzPct val="75000"/>
        <a:buFont typeface="Arial" charset="0"/>
        <a:buChar char="►"/>
        <a:defRPr sz="2000">
          <a:solidFill>
            <a:srgbClr val="646464"/>
          </a:solidFill>
          <a:latin typeface="+mn-lt"/>
        </a:defRPr>
      </a:lvl2pPr>
      <a:lvl3pPr marL="1143000" indent="-228600" algn="l" rtl="0" eaLnBrk="0" fontAlgn="base" hangingPunct="0">
        <a:spcBef>
          <a:spcPct val="20000"/>
        </a:spcBef>
        <a:spcAft>
          <a:spcPct val="0"/>
        </a:spcAft>
        <a:buClr>
          <a:schemeClr val="hlink"/>
        </a:buClr>
        <a:buSzPct val="75000"/>
        <a:buFont typeface="Arial" charset="0"/>
        <a:buChar char="►"/>
        <a:defRPr>
          <a:solidFill>
            <a:srgbClr val="646464"/>
          </a:solidFill>
          <a:latin typeface="+mn-lt"/>
        </a:defRPr>
      </a:lvl3pPr>
      <a:lvl4pPr marL="16002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4pPr>
      <a:lvl5pPr marL="20574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5pPr>
      <a:lvl6pPr marL="25146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6pPr>
      <a:lvl7pPr marL="29718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7pPr>
      <a:lvl8pPr marL="34290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8pPr>
      <a:lvl9pPr marL="38862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Rectangle 3"/>
          <p:cNvSpPr>
            <a:spLocks noGrp="1" noChangeArrowheads="1"/>
          </p:cNvSpPr>
          <p:nvPr>
            <p:ph type="title"/>
          </p:nvPr>
        </p:nvSpPr>
        <p:spPr bwMode="auto">
          <a:xfrm>
            <a:off x="457200" y="200025"/>
            <a:ext cx="8229600" cy="863600"/>
          </a:xfrm>
          <a:prstGeom prst="rect">
            <a:avLst/>
          </a:prstGeom>
          <a:noFill/>
          <a:ln w="9525">
            <a:noFill/>
            <a:miter lim="800000"/>
            <a:headEnd/>
            <a:tailEnd/>
          </a:ln>
        </p:spPr>
        <p:txBody>
          <a:bodyPr vert="horz" wrap="square" lIns="0" tIns="36000" rIns="0" bIns="0" numCol="1" anchor="t" anchorCtr="0" compatLnSpc="1">
            <a:prstTxWarp prst="textNoShape">
              <a:avLst/>
            </a:prstTxWarp>
          </a:bodyPr>
          <a:lstStyle/>
          <a:p>
            <a:pPr lvl="0"/>
            <a:r>
              <a:rPr lang="en-US" smtClean="0"/>
              <a:t>Click to edit Master title style</a:t>
            </a:r>
          </a:p>
        </p:txBody>
      </p:sp>
      <p:sp>
        <p:nvSpPr>
          <p:cNvPr id="101380" name="Line 4"/>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pPr>
              <a:defRPr/>
            </a:pPr>
            <a:endParaRPr lang="de-DE" dirty="0"/>
          </a:p>
        </p:txBody>
      </p:sp>
      <p:pic>
        <p:nvPicPr>
          <p:cNvPr id="4100" name="Picture 5" descr="logo_tagblack"/>
          <p:cNvPicPr>
            <a:picLocks noChangeAspect="1" noChangeArrowheads="1"/>
          </p:cNvPicPr>
          <p:nvPr/>
        </p:nvPicPr>
        <p:blipFill>
          <a:blip r:embed="rId13" cstate="print"/>
          <a:srcRect/>
          <a:stretch>
            <a:fillRect/>
          </a:stretch>
        </p:blipFill>
        <p:spPr bwMode="auto">
          <a:xfrm>
            <a:off x="7226300" y="6386513"/>
            <a:ext cx="1485900" cy="333375"/>
          </a:xfrm>
          <a:prstGeom prst="rect">
            <a:avLst/>
          </a:prstGeom>
          <a:noFill/>
          <a:ln w="9525">
            <a:noFill/>
            <a:miter lim="800000"/>
            <a:headEnd/>
            <a:tailEnd/>
          </a:ln>
        </p:spPr>
      </p:pic>
      <p:pic>
        <p:nvPicPr>
          <p:cNvPr id="4101" name="Picture 6" descr="Motion_1"/>
          <p:cNvPicPr>
            <a:picLocks noChangeAspect="1" noChangeArrowheads="1"/>
          </p:cNvPicPr>
          <p:nvPr/>
        </p:nvPicPr>
        <p:blipFill>
          <a:blip r:embed="rId14" cstate="print"/>
          <a:srcRect/>
          <a:stretch>
            <a:fillRect/>
          </a:stretch>
        </p:blipFill>
        <p:spPr bwMode="auto">
          <a:xfrm>
            <a:off x="455613" y="1036638"/>
            <a:ext cx="8231187" cy="519747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5783" r:id="rId1"/>
    <p:sldLayoutId id="2147485784" r:id="rId2"/>
    <p:sldLayoutId id="2147485785" r:id="rId3"/>
    <p:sldLayoutId id="2147485786" r:id="rId4"/>
    <p:sldLayoutId id="2147485787" r:id="rId5"/>
    <p:sldLayoutId id="2147485788" r:id="rId6"/>
    <p:sldLayoutId id="2147485789" r:id="rId7"/>
    <p:sldLayoutId id="2147485790" r:id="rId8"/>
    <p:sldLayoutId id="2147485791" r:id="rId9"/>
    <p:sldLayoutId id="2147485792" r:id="rId10"/>
    <p:sldLayoutId id="2147485793" r:id="rId11"/>
  </p:sldLayoutIdLst>
  <p:timing>
    <p:tnLst>
      <p:par>
        <p:cTn id="1" dur="indefinite" restart="never" nodeType="tmRoot"/>
      </p:par>
    </p:tnLst>
  </p:timing>
  <p:hf sldNum="0" hdr="0" ftr="0" dt="0"/>
  <p:txStyles>
    <p:titleStyle>
      <a:lvl1pPr algn="l" rtl="0" eaLnBrk="0" fontAlgn="base" hangingPunct="0">
        <a:lnSpc>
          <a:spcPct val="85000"/>
        </a:lnSpc>
        <a:spcBef>
          <a:spcPct val="0"/>
        </a:spcBef>
        <a:spcAft>
          <a:spcPct val="0"/>
        </a:spcAft>
        <a:defRPr sz="3000" b="1">
          <a:solidFill>
            <a:srgbClr val="000000"/>
          </a:solidFill>
          <a:latin typeface="+mj-lt"/>
          <a:ea typeface="+mj-ea"/>
          <a:cs typeface="+mj-cs"/>
        </a:defRPr>
      </a:lvl1pPr>
      <a:lvl2pPr algn="l" rtl="0" eaLnBrk="0" fontAlgn="base" hangingPunct="0">
        <a:lnSpc>
          <a:spcPct val="85000"/>
        </a:lnSpc>
        <a:spcBef>
          <a:spcPct val="0"/>
        </a:spcBef>
        <a:spcAft>
          <a:spcPct val="0"/>
        </a:spcAft>
        <a:defRPr sz="3000" b="1">
          <a:solidFill>
            <a:srgbClr val="000000"/>
          </a:solidFill>
          <a:latin typeface="Arial" charset="0"/>
        </a:defRPr>
      </a:lvl2pPr>
      <a:lvl3pPr algn="l" rtl="0" eaLnBrk="0" fontAlgn="base" hangingPunct="0">
        <a:lnSpc>
          <a:spcPct val="85000"/>
        </a:lnSpc>
        <a:spcBef>
          <a:spcPct val="0"/>
        </a:spcBef>
        <a:spcAft>
          <a:spcPct val="0"/>
        </a:spcAft>
        <a:defRPr sz="3000" b="1">
          <a:solidFill>
            <a:srgbClr val="000000"/>
          </a:solidFill>
          <a:latin typeface="Arial" charset="0"/>
        </a:defRPr>
      </a:lvl3pPr>
      <a:lvl4pPr algn="l" rtl="0" eaLnBrk="0" fontAlgn="base" hangingPunct="0">
        <a:lnSpc>
          <a:spcPct val="85000"/>
        </a:lnSpc>
        <a:spcBef>
          <a:spcPct val="0"/>
        </a:spcBef>
        <a:spcAft>
          <a:spcPct val="0"/>
        </a:spcAft>
        <a:defRPr sz="3000" b="1">
          <a:solidFill>
            <a:srgbClr val="000000"/>
          </a:solidFill>
          <a:latin typeface="Arial" charset="0"/>
        </a:defRPr>
      </a:lvl4pPr>
      <a:lvl5pPr algn="l" rtl="0" eaLnBrk="0" fontAlgn="base" hangingPunct="0">
        <a:lnSpc>
          <a:spcPct val="85000"/>
        </a:lnSpc>
        <a:spcBef>
          <a:spcPct val="0"/>
        </a:spcBef>
        <a:spcAft>
          <a:spcPct val="0"/>
        </a:spcAft>
        <a:defRPr sz="3000" b="1">
          <a:solidFill>
            <a:srgbClr val="000000"/>
          </a:solidFill>
          <a:latin typeface="Arial" charset="0"/>
        </a:defRPr>
      </a:lvl5pPr>
      <a:lvl6pPr marL="457200" algn="l" rtl="0" fontAlgn="base">
        <a:lnSpc>
          <a:spcPct val="85000"/>
        </a:lnSpc>
        <a:spcBef>
          <a:spcPct val="0"/>
        </a:spcBef>
        <a:spcAft>
          <a:spcPct val="0"/>
        </a:spcAft>
        <a:defRPr sz="3000" b="1">
          <a:solidFill>
            <a:srgbClr val="000000"/>
          </a:solidFill>
          <a:latin typeface="Arial" charset="0"/>
        </a:defRPr>
      </a:lvl6pPr>
      <a:lvl7pPr marL="914400" algn="l" rtl="0" fontAlgn="base">
        <a:lnSpc>
          <a:spcPct val="85000"/>
        </a:lnSpc>
        <a:spcBef>
          <a:spcPct val="0"/>
        </a:spcBef>
        <a:spcAft>
          <a:spcPct val="0"/>
        </a:spcAft>
        <a:defRPr sz="3000" b="1">
          <a:solidFill>
            <a:srgbClr val="000000"/>
          </a:solidFill>
          <a:latin typeface="Arial" charset="0"/>
        </a:defRPr>
      </a:lvl7pPr>
      <a:lvl8pPr marL="1371600" algn="l" rtl="0" fontAlgn="base">
        <a:lnSpc>
          <a:spcPct val="85000"/>
        </a:lnSpc>
        <a:spcBef>
          <a:spcPct val="0"/>
        </a:spcBef>
        <a:spcAft>
          <a:spcPct val="0"/>
        </a:spcAft>
        <a:defRPr sz="3000" b="1">
          <a:solidFill>
            <a:srgbClr val="000000"/>
          </a:solidFill>
          <a:latin typeface="Arial" charset="0"/>
        </a:defRPr>
      </a:lvl8pPr>
      <a:lvl9pPr marL="1828800" algn="l" rtl="0" fontAlgn="base">
        <a:lnSpc>
          <a:spcPct val="85000"/>
        </a:lnSpc>
        <a:spcBef>
          <a:spcPct val="0"/>
        </a:spcBef>
        <a:spcAft>
          <a:spcPct val="0"/>
        </a:spcAft>
        <a:defRPr sz="3000" b="1">
          <a:solidFill>
            <a:srgbClr val="000000"/>
          </a:solidFill>
          <a:latin typeface="Arial" charset="0"/>
        </a:defRPr>
      </a:lvl9pPr>
    </p:titleStyle>
    <p:bodyStyle>
      <a:lvl1pPr marL="342900" indent="-342900" algn="l" rtl="0" eaLnBrk="0" fontAlgn="base" hangingPunct="0">
        <a:spcBef>
          <a:spcPct val="20000"/>
        </a:spcBef>
        <a:spcAft>
          <a:spcPct val="0"/>
        </a:spcAft>
        <a:buClr>
          <a:schemeClr val="hlink"/>
        </a:buClr>
        <a:buSzPct val="75000"/>
        <a:buFont typeface="Arial" charset="0"/>
        <a:buChar char="►"/>
        <a:defRPr sz="2400">
          <a:solidFill>
            <a:srgbClr val="646464"/>
          </a:solidFill>
          <a:latin typeface="+mn-lt"/>
          <a:ea typeface="+mn-ea"/>
          <a:cs typeface="+mn-cs"/>
        </a:defRPr>
      </a:lvl1pPr>
      <a:lvl2pPr marL="742950" indent="-285750" algn="l" rtl="0" eaLnBrk="0" fontAlgn="base" hangingPunct="0">
        <a:spcBef>
          <a:spcPct val="20000"/>
        </a:spcBef>
        <a:spcAft>
          <a:spcPct val="0"/>
        </a:spcAft>
        <a:buClr>
          <a:schemeClr val="hlink"/>
        </a:buClr>
        <a:buSzPct val="75000"/>
        <a:buFont typeface="Arial" charset="0"/>
        <a:buChar char="►"/>
        <a:defRPr sz="2000">
          <a:solidFill>
            <a:srgbClr val="646464"/>
          </a:solidFill>
          <a:latin typeface="+mn-lt"/>
        </a:defRPr>
      </a:lvl2pPr>
      <a:lvl3pPr marL="1143000" indent="-228600" algn="l" rtl="0" eaLnBrk="0" fontAlgn="base" hangingPunct="0">
        <a:spcBef>
          <a:spcPct val="20000"/>
        </a:spcBef>
        <a:spcAft>
          <a:spcPct val="0"/>
        </a:spcAft>
        <a:buClr>
          <a:schemeClr val="hlink"/>
        </a:buClr>
        <a:buSzPct val="75000"/>
        <a:buFont typeface="Arial" charset="0"/>
        <a:buChar char="►"/>
        <a:defRPr>
          <a:solidFill>
            <a:srgbClr val="646464"/>
          </a:solidFill>
          <a:latin typeface="+mn-lt"/>
        </a:defRPr>
      </a:lvl3pPr>
      <a:lvl4pPr marL="16002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4pPr>
      <a:lvl5pPr marL="20574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5pPr>
      <a:lvl6pPr marL="25146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6pPr>
      <a:lvl7pPr marL="29718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7pPr>
      <a:lvl8pPr marL="34290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8pPr>
      <a:lvl9pPr marL="38862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122" name="Picture 2" descr="lines11_fade_crop_subtle"/>
          <p:cNvPicPr>
            <a:picLocks noChangeAspect="1" noChangeArrowheads="1"/>
          </p:cNvPicPr>
          <p:nvPr/>
        </p:nvPicPr>
        <p:blipFill>
          <a:blip r:embed="rId13" cstate="print"/>
          <a:srcRect/>
          <a:stretch>
            <a:fillRect/>
          </a:stretch>
        </p:blipFill>
        <p:spPr bwMode="auto">
          <a:xfrm>
            <a:off x="455613" y="1036638"/>
            <a:ext cx="8231187" cy="5197475"/>
          </a:xfrm>
          <a:prstGeom prst="rect">
            <a:avLst/>
          </a:prstGeom>
          <a:noFill/>
          <a:ln w="9525">
            <a:noFill/>
            <a:miter lim="800000"/>
            <a:headEnd/>
            <a:tailEnd/>
          </a:ln>
        </p:spPr>
      </p:pic>
      <p:sp>
        <p:nvSpPr>
          <p:cNvPr id="5123" name="Rectangle 3"/>
          <p:cNvSpPr>
            <a:spLocks noGrp="1" noChangeArrowheads="1"/>
          </p:cNvSpPr>
          <p:nvPr>
            <p:ph type="title"/>
          </p:nvPr>
        </p:nvSpPr>
        <p:spPr bwMode="auto">
          <a:xfrm>
            <a:off x="457200" y="200025"/>
            <a:ext cx="8229600" cy="863600"/>
          </a:xfrm>
          <a:prstGeom prst="rect">
            <a:avLst/>
          </a:prstGeom>
          <a:noFill/>
          <a:ln w="9525">
            <a:noFill/>
            <a:miter lim="800000"/>
            <a:headEnd/>
            <a:tailEnd/>
          </a:ln>
        </p:spPr>
        <p:txBody>
          <a:bodyPr vert="horz" wrap="square" lIns="0" tIns="36000" rIns="0" bIns="0" numCol="1" anchor="t" anchorCtr="0" compatLnSpc="1">
            <a:prstTxWarp prst="textNoShape">
              <a:avLst/>
            </a:prstTxWarp>
          </a:bodyPr>
          <a:lstStyle/>
          <a:p>
            <a:pPr lvl="0"/>
            <a:r>
              <a:rPr lang="en-US" smtClean="0"/>
              <a:t>Click to edit Master title style</a:t>
            </a:r>
          </a:p>
        </p:txBody>
      </p:sp>
      <p:sp>
        <p:nvSpPr>
          <p:cNvPr id="102404" name="Line 4"/>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pPr>
              <a:defRPr/>
            </a:pPr>
            <a:endParaRPr lang="de-DE" dirty="0"/>
          </a:p>
        </p:txBody>
      </p:sp>
      <p:pic>
        <p:nvPicPr>
          <p:cNvPr id="5125" name="Picture 5" descr="logo_tagblack"/>
          <p:cNvPicPr>
            <a:picLocks noChangeAspect="1" noChangeArrowheads="1"/>
          </p:cNvPicPr>
          <p:nvPr/>
        </p:nvPicPr>
        <p:blipFill>
          <a:blip r:embed="rId14" cstate="print"/>
          <a:srcRect/>
          <a:stretch>
            <a:fillRect/>
          </a:stretch>
        </p:blipFill>
        <p:spPr bwMode="auto">
          <a:xfrm>
            <a:off x="7226300" y="6386513"/>
            <a:ext cx="1485900" cy="33337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5794" r:id="rId1"/>
    <p:sldLayoutId id="2147485795" r:id="rId2"/>
    <p:sldLayoutId id="2147485796" r:id="rId3"/>
    <p:sldLayoutId id="2147485797" r:id="rId4"/>
    <p:sldLayoutId id="2147485798" r:id="rId5"/>
    <p:sldLayoutId id="2147485799" r:id="rId6"/>
    <p:sldLayoutId id="2147485800" r:id="rId7"/>
    <p:sldLayoutId id="2147485801" r:id="rId8"/>
    <p:sldLayoutId id="2147485802" r:id="rId9"/>
    <p:sldLayoutId id="2147485803" r:id="rId10"/>
    <p:sldLayoutId id="2147485804" r:id="rId11"/>
  </p:sldLayoutIdLst>
  <p:timing>
    <p:tnLst>
      <p:par>
        <p:cTn id="1" dur="indefinite" restart="never" nodeType="tmRoot"/>
      </p:par>
    </p:tnLst>
  </p:timing>
  <p:hf sldNum="0" hdr="0" ftr="0" dt="0"/>
  <p:txStyles>
    <p:titleStyle>
      <a:lvl1pPr algn="l" rtl="0" eaLnBrk="0" fontAlgn="base" hangingPunct="0">
        <a:lnSpc>
          <a:spcPct val="85000"/>
        </a:lnSpc>
        <a:spcBef>
          <a:spcPct val="0"/>
        </a:spcBef>
        <a:spcAft>
          <a:spcPct val="0"/>
        </a:spcAft>
        <a:defRPr sz="3000" b="1">
          <a:solidFill>
            <a:srgbClr val="000000"/>
          </a:solidFill>
          <a:latin typeface="+mj-lt"/>
          <a:ea typeface="+mj-ea"/>
          <a:cs typeface="+mj-cs"/>
        </a:defRPr>
      </a:lvl1pPr>
      <a:lvl2pPr algn="l" rtl="0" eaLnBrk="0" fontAlgn="base" hangingPunct="0">
        <a:lnSpc>
          <a:spcPct val="85000"/>
        </a:lnSpc>
        <a:spcBef>
          <a:spcPct val="0"/>
        </a:spcBef>
        <a:spcAft>
          <a:spcPct val="0"/>
        </a:spcAft>
        <a:defRPr sz="3000" b="1">
          <a:solidFill>
            <a:srgbClr val="000000"/>
          </a:solidFill>
          <a:latin typeface="Arial" charset="0"/>
        </a:defRPr>
      </a:lvl2pPr>
      <a:lvl3pPr algn="l" rtl="0" eaLnBrk="0" fontAlgn="base" hangingPunct="0">
        <a:lnSpc>
          <a:spcPct val="85000"/>
        </a:lnSpc>
        <a:spcBef>
          <a:spcPct val="0"/>
        </a:spcBef>
        <a:spcAft>
          <a:spcPct val="0"/>
        </a:spcAft>
        <a:defRPr sz="3000" b="1">
          <a:solidFill>
            <a:srgbClr val="000000"/>
          </a:solidFill>
          <a:latin typeface="Arial" charset="0"/>
        </a:defRPr>
      </a:lvl3pPr>
      <a:lvl4pPr algn="l" rtl="0" eaLnBrk="0" fontAlgn="base" hangingPunct="0">
        <a:lnSpc>
          <a:spcPct val="85000"/>
        </a:lnSpc>
        <a:spcBef>
          <a:spcPct val="0"/>
        </a:spcBef>
        <a:spcAft>
          <a:spcPct val="0"/>
        </a:spcAft>
        <a:defRPr sz="3000" b="1">
          <a:solidFill>
            <a:srgbClr val="000000"/>
          </a:solidFill>
          <a:latin typeface="Arial" charset="0"/>
        </a:defRPr>
      </a:lvl4pPr>
      <a:lvl5pPr algn="l" rtl="0" eaLnBrk="0" fontAlgn="base" hangingPunct="0">
        <a:lnSpc>
          <a:spcPct val="85000"/>
        </a:lnSpc>
        <a:spcBef>
          <a:spcPct val="0"/>
        </a:spcBef>
        <a:spcAft>
          <a:spcPct val="0"/>
        </a:spcAft>
        <a:defRPr sz="3000" b="1">
          <a:solidFill>
            <a:srgbClr val="000000"/>
          </a:solidFill>
          <a:latin typeface="Arial" charset="0"/>
        </a:defRPr>
      </a:lvl5pPr>
      <a:lvl6pPr marL="457200" algn="l" rtl="0" fontAlgn="base">
        <a:lnSpc>
          <a:spcPct val="85000"/>
        </a:lnSpc>
        <a:spcBef>
          <a:spcPct val="0"/>
        </a:spcBef>
        <a:spcAft>
          <a:spcPct val="0"/>
        </a:spcAft>
        <a:defRPr sz="3000" b="1">
          <a:solidFill>
            <a:srgbClr val="000000"/>
          </a:solidFill>
          <a:latin typeface="Arial" charset="0"/>
        </a:defRPr>
      </a:lvl6pPr>
      <a:lvl7pPr marL="914400" algn="l" rtl="0" fontAlgn="base">
        <a:lnSpc>
          <a:spcPct val="85000"/>
        </a:lnSpc>
        <a:spcBef>
          <a:spcPct val="0"/>
        </a:spcBef>
        <a:spcAft>
          <a:spcPct val="0"/>
        </a:spcAft>
        <a:defRPr sz="3000" b="1">
          <a:solidFill>
            <a:srgbClr val="000000"/>
          </a:solidFill>
          <a:latin typeface="Arial" charset="0"/>
        </a:defRPr>
      </a:lvl7pPr>
      <a:lvl8pPr marL="1371600" algn="l" rtl="0" fontAlgn="base">
        <a:lnSpc>
          <a:spcPct val="85000"/>
        </a:lnSpc>
        <a:spcBef>
          <a:spcPct val="0"/>
        </a:spcBef>
        <a:spcAft>
          <a:spcPct val="0"/>
        </a:spcAft>
        <a:defRPr sz="3000" b="1">
          <a:solidFill>
            <a:srgbClr val="000000"/>
          </a:solidFill>
          <a:latin typeface="Arial" charset="0"/>
        </a:defRPr>
      </a:lvl8pPr>
      <a:lvl9pPr marL="1828800" algn="l" rtl="0" fontAlgn="base">
        <a:lnSpc>
          <a:spcPct val="85000"/>
        </a:lnSpc>
        <a:spcBef>
          <a:spcPct val="0"/>
        </a:spcBef>
        <a:spcAft>
          <a:spcPct val="0"/>
        </a:spcAft>
        <a:defRPr sz="3000" b="1">
          <a:solidFill>
            <a:srgbClr val="000000"/>
          </a:solidFill>
          <a:latin typeface="Arial" charset="0"/>
        </a:defRPr>
      </a:lvl9pPr>
    </p:titleStyle>
    <p:bodyStyle>
      <a:lvl1pPr marL="342900" indent="-342900" algn="l" rtl="0" eaLnBrk="0" fontAlgn="base" hangingPunct="0">
        <a:spcBef>
          <a:spcPct val="20000"/>
        </a:spcBef>
        <a:spcAft>
          <a:spcPct val="0"/>
        </a:spcAft>
        <a:buClr>
          <a:schemeClr val="hlink"/>
        </a:buClr>
        <a:buSzPct val="75000"/>
        <a:buFont typeface="Arial" charset="0"/>
        <a:buChar char="►"/>
        <a:defRPr sz="2400">
          <a:solidFill>
            <a:srgbClr val="646464"/>
          </a:solidFill>
          <a:latin typeface="+mn-lt"/>
          <a:ea typeface="+mn-ea"/>
          <a:cs typeface="+mn-cs"/>
        </a:defRPr>
      </a:lvl1pPr>
      <a:lvl2pPr marL="742950" indent="-285750" algn="l" rtl="0" eaLnBrk="0" fontAlgn="base" hangingPunct="0">
        <a:spcBef>
          <a:spcPct val="20000"/>
        </a:spcBef>
        <a:spcAft>
          <a:spcPct val="0"/>
        </a:spcAft>
        <a:buClr>
          <a:schemeClr val="hlink"/>
        </a:buClr>
        <a:buSzPct val="75000"/>
        <a:buFont typeface="Arial" charset="0"/>
        <a:buChar char="►"/>
        <a:defRPr sz="2000">
          <a:solidFill>
            <a:srgbClr val="646464"/>
          </a:solidFill>
          <a:latin typeface="+mn-lt"/>
        </a:defRPr>
      </a:lvl2pPr>
      <a:lvl3pPr marL="1143000" indent="-228600" algn="l" rtl="0" eaLnBrk="0" fontAlgn="base" hangingPunct="0">
        <a:spcBef>
          <a:spcPct val="20000"/>
        </a:spcBef>
        <a:spcAft>
          <a:spcPct val="0"/>
        </a:spcAft>
        <a:buClr>
          <a:schemeClr val="hlink"/>
        </a:buClr>
        <a:buSzPct val="75000"/>
        <a:buFont typeface="Arial" charset="0"/>
        <a:buChar char="►"/>
        <a:defRPr>
          <a:solidFill>
            <a:srgbClr val="646464"/>
          </a:solidFill>
          <a:latin typeface="+mn-lt"/>
        </a:defRPr>
      </a:lvl3pPr>
      <a:lvl4pPr marL="16002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4pPr>
      <a:lvl5pPr marL="20574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5pPr>
      <a:lvl6pPr marL="25146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6pPr>
      <a:lvl7pPr marL="29718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7pPr>
      <a:lvl8pPr marL="34290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8pPr>
      <a:lvl9pPr marL="38862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bwMode="auto">
          <a:xfrm>
            <a:off x="457200" y="200025"/>
            <a:ext cx="8229600" cy="863600"/>
          </a:xfrm>
          <a:prstGeom prst="rect">
            <a:avLst/>
          </a:prstGeom>
          <a:noFill/>
          <a:ln w="9525">
            <a:noFill/>
            <a:miter lim="800000"/>
            <a:headEnd/>
            <a:tailEnd/>
          </a:ln>
        </p:spPr>
        <p:txBody>
          <a:bodyPr vert="horz" wrap="square" lIns="0" tIns="36000" rIns="0" bIns="0" numCol="1" anchor="t" anchorCtr="0" compatLnSpc="1">
            <a:prstTxWarp prst="textNoShape">
              <a:avLst/>
            </a:prstTxWarp>
          </a:bodyPr>
          <a:lstStyle/>
          <a:p>
            <a:pPr lvl="0"/>
            <a:r>
              <a:rPr lang="en-US" smtClean="0"/>
              <a:t>Click to edit Master title style</a:t>
            </a:r>
          </a:p>
        </p:txBody>
      </p:sp>
      <p:sp>
        <p:nvSpPr>
          <p:cNvPr id="103427" name="Line 3"/>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pPr>
              <a:defRPr/>
            </a:pPr>
            <a:endParaRPr lang="de-DE" dirty="0"/>
          </a:p>
        </p:txBody>
      </p:sp>
      <p:pic>
        <p:nvPicPr>
          <p:cNvPr id="6148" name="Picture 4" descr="logo_tagblack"/>
          <p:cNvPicPr>
            <a:picLocks noChangeAspect="1" noChangeArrowheads="1"/>
          </p:cNvPicPr>
          <p:nvPr/>
        </p:nvPicPr>
        <p:blipFill>
          <a:blip r:embed="rId13" cstate="print"/>
          <a:srcRect/>
          <a:stretch>
            <a:fillRect/>
          </a:stretch>
        </p:blipFill>
        <p:spPr bwMode="auto">
          <a:xfrm>
            <a:off x="7226300" y="6386513"/>
            <a:ext cx="1485900" cy="333375"/>
          </a:xfrm>
          <a:prstGeom prst="rect">
            <a:avLst/>
          </a:prstGeom>
          <a:noFill/>
          <a:ln w="9525">
            <a:noFill/>
            <a:miter lim="800000"/>
            <a:headEnd/>
            <a:tailEnd/>
          </a:ln>
        </p:spPr>
      </p:pic>
      <p:sp>
        <p:nvSpPr>
          <p:cNvPr id="103444" name="Freeform 20"/>
          <p:cNvSpPr>
            <a:spLocks noChangeAspect="1"/>
          </p:cNvSpPr>
          <p:nvPr/>
        </p:nvSpPr>
        <p:spPr bwMode="auto">
          <a:xfrm>
            <a:off x="457200" y="1028700"/>
            <a:ext cx="8242300" cy="5232400"/>
          </a:xfrm>
          <a:custGeom>
            <a:avLst/>
            <a:gdLst/>
            <a:ahLst/>
            <a:cxnLst>
              <a:cxn ang="0">
                <a:pos x="632" y="0"/>
              </a:cxn>
              <a:cxn ang="0">
                <a:pos x="0" y="3272"/>
              </a:cxn>
              <a:cxn ang="0">
                <a:pos x="5192" y="3272"/>
              </a:cxn>
              <a:cxn ang="0">
                <a:pos x="5192" y="0"/>
              </a:cxn>
              <a:cxn ang="0">
                <a:pos x="632" y="0"/>
              </a:cxn>
            </a:cxnLst>
            <a:rect l="0" t="0" r="r" b="b"/>
            <a:pathLst>
              <a:path w="5192" h="3272">
                <a:moveTo>
                  <a:pt x="632" y="0"/>
                </a:moveTo>
                <a:lnTo>
                  <a:pt x="0" y="3272"/>
                </a:lnTo>
                <a:lnTo>
                  <a:pt x="5192" y="3272"/>
                </a:lnTo>
                <a:lnTo>
                  <a:pt x="5192" y="0"/>
                </a:lnTo>
                <a:lnTo>
                  <a:pt x="632" y="0"/>
                </a:lnTo>
                <a:close/>
              </a:path>
            </a:pathLst>
          </a:custGeom>
          <a:solidFill>
            <a:srgbClr val="FFD200"/>
          </a:solidFill>
          <a:ln w="9525">
            <a:noFill/>
            <a:round/>
            <a:headEnd/>
            <a:tailEnd/>
          </a:ln>
          <a:effectLst/>
        </p:spPr>
        <p:txBody>
          <a:bodyPr/>
          <a:lstStyle/>
          <a:p>
            <a:pPr>
              <a:defRPr/>
            </a:pPr>
            <a:endParaRPr lang="de-DE" dirty="0"/>
          </a:p>
        </p:txBody>
      </p:sp>
    </p:spTree>
  </p:cSld>
  <p:clrMap bg1="lt1" tx1="dk1" bg2="lt2" tx2="dk2" accent1="accent1" accent2="accent2" accent3="accent3" accent4="accent4" accent5="accent5" accent6="accent6" hlink="hlink" folHlink="folHlink"/>
  <p:sldLayoutIdLst>
    <p:sldLayoutId id="2147485805" r:id="rId1"/>
    <p:sldLayoutId id="2147485806" r:id="rId2"/>
    <p:sldLayoutId id="2147485807" r:id="rId3"/>
    <p:sldLayoutId id="2147485808" r:id="rId4"/>
    <p:sldLayoutId id="2147485809" r:id="rId5"/>
    <p:sldLayoutId id="2147485810" r:id="rId6"/>
    <p:sldLayoutId id="2147485811" r:id="rId7"/>
    <p:sldLayoutId id="2147485812" r:id="rId8"/>
    <p:sldLayoutId id="2147485813" r:id="rId9"/>
    <p:sldLayoutId id="2147485814" r:id="rId10"/>
    <p:sldLayoutId id="2147485815" r:id="rId11"/>
  </p:sldLayoutIdLst>
  <p:timing>
    <p:tnLst>
      <p:par>
        <p:cTn id="1" dur="indefinite" restart="never" nodeType="tmRoot"/>
      </p:par>
    </p:tnLst>
  </p:timing>
  <p:hf sldNum="0" hdr="0" ftr="0" dt="0"/>
  <p:txStyles>
    <p:titleStyle>
      <a:lvl1pPr algn="l" rtl="0" eaLnBrk="0" fontAlgn="base" hangingPunct="0">
        <a:lnSpc>
          <a:spcPct val="85000"/>
        </a:lnSpc>
        <a:spcBef>
          <a:spcPct val="0"/>
        </a:spcBef>
        <a:spcAft>
          <a:spcPct val="0"/>
        </a:spcAft>
        <a:defRPr sz="3000" b="1">
          <a:solidFill>
            <a:srgbClr val="000000"/>
          </a:solidFill>
          <a:latin typeface="+mj-lt"/>
          <a:ea typeface="+mj-ea"/>
          <a:cs typeface="+mj-cs"/>
        </a:defRPr>
      </a:lvl1pPr>
      <a:lvl2pPr algn="l" rtl="0" eaLnBrk="0" fontAlgn="base" hangingPunct="0">
        <a:lnSpc>
          <a:spcPct val="85000"/>
        </a:lnSpc>
        <a:spcBef>
          <a:spcPct val="0"/>
        </a:spcBef>
        <a:spcAft>
          <a:spcPct val="0"/>
        </a:spcAft>
        <a:defRPr sz="3000" b="1">
          <a:solidFill>
            <a:srgbClr val="000000"/>
          </a:solidFill>
          <a:latin typeface="Arial" charset="0"/>
        </a:defRPr>
      </a:lvl2pPr>
      <a:lvl3pPr algn="l" rtl="0" eaLnBrk="0" fontAlgn="base" hangingPunct="0">
        <a:lnSpc>
          <a:spcPct val="85000"/>
        </a:lnSpc>
        <a:spcBef>
          <a:spcPct val="0"/>
        </a:spcBef>
        <a:spcAft>
          <a:spcPct val="0"/>
        </a:spcAft>
        <a:defRPr sz="3000" b="1">
          <a:solidFill>
            <a:srgbClr val="000000"/>
          </a:solidFill>
          <a:latin typeface="Arial" charset="0"/>
        </a:defRPr>
      </a:lvl3pPr>
      <a:lvl4pPr algn="l" rtl="0" eaLnBrk="0" fontAlgn="base" hangingPunct="0">
        <a:lnSpc>
          <a:spcPct val="85000"/>
        </a:lnSpc>
        <a:spcBef>
          <a:spcPct val="0"/>
        </a:spcBef>
        <a:spcAft>
          <a:spcPct val="0"/>
        </a:spcAft>
        <a:defRPr sz="3000" b="1">
          <a:solidFill>
            <a:srgbClr val="000000"/>
          </a:solidFill>
          <a:latin typeface="Arial" charset="0"/>
        </a:defRPr>
      </a:lvl4pPr>
      <a:lvl5pPr algn="l" rtl="0" eaLnBrk="0" fontAlgn="base" hangingPunct="0">
        <a:lnSpc>
          <a:spcPct val="85000"/>
        </a:lnSpc>
        <a:spcBef>
          <a:spcPct val="0"/>
        </a:spcBef>
        <a:spcAft>
          <a:spcPct val="0"/>
        </a:spcAft>
        <a:defRPr sz="3000" b="1">
          <a:solidFill>
            <a:srgbClr val="000000"/>
          </a:solidFill>
          <a:latin typeface="Arial" charset="0"/>
        </a:defRPr>
      </a:lvl5pPr>
      <a:lvl6pPr marL="457200" algn="l" rtl="0" fontAlgn="base">
        <a:lnSpc>
          <a:spcPct val="85000"/>
        </a:lnSpc>
        <a:spcBef>
          <a:spcPct val="0"/>
        </a:spcBef>
        <a:spcAft>
          <a:spcPct val="0"/>
        </a:spcAft>
        <a:defRPr sz="3000" b="1">
          <a:solidFill>
            <a:srgbClr val="000000"/>
          </a:solidFill>
          <a:latin typeface="Arial" charset="0"/>
        </a:defRPr>
      </a:lvl6pPr>
      <a:lvl7pPr marL="914400" algn="l" rtl="0" fontAlgn="base">
        <a:lnSpc>
          <a:spcPct val="85000"/>
        </a:lnSpc>
        <a:spcBef>
          <a:spcPct val="0"/>
        </a:spcBef>
        <a:spcAft>
          <a:spcPct val="0"/>
        </a:spcAft>
        <a:defRPr sz="3000" b="1">
          <a:solidFill>
            <a:srgbClr val="000000"/>
          </a:solidFill>
          <a:latin typeface="Arial" charset="0"/>
        </a:defRPr>
      </a:lvl7pPr>
      <a:lvl8pPr marL="1371600" algn="l" rtl="0" fontAlgn="base">
        <a:lnSpc>
          <a:spcPct val="85000"/>
        </a:lnSpc>
        <a:spcBef>
          <a:spcPct val="0"/>
        </a:spcBef>
        <a:spcAft>
          <a:spcPct val="0"/>
        </a:spcAft>
        <a:defRPr sz="3000" b="1">
          <a:solidFill>
            <a:srgbClr val="000000"/>
          </a:solidFill>
          <a:latin typeface="Arial" charset="0"/>
        </a:defRPr>
      </a:lvl8pPr>
      <a:lvl9pPr marL="1828800" algn="l" rtl="0" fontAlgn="base">
        <a:lnSpc>
          <a:spcPct val="85000"/>
        </a:lnSpc>
        <a:spcBef>
          <a:spcPct val="0"/>
        </a:spcBef>
        <a:spcAft>
          <a:spcPct val="0"/>
        </a:spcAft>
        <a:defRPr sz="3000" b="1">
          <a:solidFill>
            <a:srgbClr val="000000"/>
          </a:solidFill>
          <a:latin typeface="Arial" charset="0"/>
        </a:defRPr>
      </a:lvl9pPr>
    </p:titleStyle>
    <p:bodyStyle>
      <a:lvl1pPr marL="342900" indent="-342900" algn="l" rtl="0" eaLnBrk="0" fontAlgn="base" hangingPunct="0">
        <a:spcBef>
          <a:spcPct val="20000"/>
        </a:spcBef>
        <a:spcAft>
          <a:spcPct val="0"/>
        </a:spcAft>
        <a:buClr>
          <a:schemeClr val="hlink"/>
        </a:buClr>
        <a:buSzPct val="75000"/>
        <a:buFont typeface="Arial" charset="0"/>
        <a:buChar char="►"/>
        <a:defRPr sz="2400">
          <a:solidFill>
            <a:srgbClr val="646464"/>
          </a:solidFill>
          <a:latin typeface="+mn-lt"/>
          <a:ea typeface="+mn-ea"/>
          <a:cs typeface="+mn-cs"/>
        </a:defRPr>
      </a:lvl1pPr>
      <a:lvl2pPr marL="742950" indent="-285750" algn="l" rtl="0" eaLnBrk="0" fontAlgn="base" hangingPunct="0">
        <a:spcBef>
          <a:spcPct val="20000"/>
        </a:spcBef>
        <a:spcAft>
          <a:spcPct val="0"/>
        </a:spcAft>
        <a:buClr>
          <a:schemeClr val="hlink"/>
        </a:buClr>
        <a:buSzPct val="75000"/>
        <a:buFont typeface="Arial" charset="0"/>
        <a:buChar char="►"/>
        <a:defRPr sz="2000">
          <a:solidFill>
            <a:srgbClr val="646464"/>
          </a:solidFill>
          <a:latin typeface="+mn-lt"/>
        </a:defRPr>
      </a:lvl2pPr>
      <a:lvl3pPr marL="1143000" indent="-228600" algn="l" rtl="0" eaLnBrk="0" fontAlgn="base" hangingPunct="0">
        <a:spcBef>
          <a:spcPct val="20000"/>
        </a:spcBef>
        <a:spcAft>
          <a:spcPct val="0"/>
        </a:spcAft>
        <a:buClr>
          <a:schemeClr val="hlink"/>
        </a:buClr>
        <a:buSzPct val="75000"/>
        <a:buFont typeface="Arial" charset="0"/>
        <a:buChar char="►"/>
        <a:defRPr>
          <a:solidFill>
            <a:srgbClr val="646464"/>
          </a:solidFill>
          <a:latin typeface="+mn-lt"/>
        </a:defRPr>
      </a:lvl3pPr>
      <a:lvl4pPr marL="16002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4pPr>
      <a:lvl5pPr marL="20574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5pPr>
      <a:lvl6pPr marL="25146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6pPr>
      <a:lvl7pPr marL="29718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7pPr>
      <a:lvl8pPr marL="34290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8pPr>
      <a:lvl9pPr marL="38862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5"/>
          <p:cNvSpPr>
            <a:spLocks noGrp="1" noChangeArrowheads="1"/>
          </p:cNvSpPr>
          <p:nvPr>
            <p:ph type="ctrTitle"/>
          </p:nvPr>
        </p:nvSpPr>
        <p:spPr>
          <a:xfrm>
            <a:off x="3062288" y="3429001"/>
            <a:ext cx="5541962" cy="1066800"/>
          </a:xfrm>
        </p:spPr>
        <p:txBody>
          <a:bodyPr/>
          <a:lstStyle/>
          <a:p>
            <a:pPr eaLnBrk="1" hangingPunct="1"/>
            <a:r>
              <a:rPr lang="en-US" sz="2400" b="0" dirty="0" smtClean="0">
                <a:latin typeface="+mn-lt"/>
              </a:rPr>
              <a:t>IT Services</a:t>
            </a:r>
            <a:br>
              <a:rPr lang="en-US" sz="2400" b="0" dirty="0" smtClean="0">
                <a:latin typeface="+mn-lt"/>
              </a:rPr>
            </a:br>
            <a:r>
              <a:rPr lang="en-US" sz="2400" b="0" dirty="0" smtClean="0">
                <a:latin typeface="+mn-lt"/>
              </a:rPr>
              <a:t>ABCD Program IT Service Delivery </a:t>
            </a:r>
            <a:br>
              <a:rPr lang="en-US" sz="2400" b="0" dirty="0" smtClean="0">
                <a:latin typeface="+mn-lt"/>
              </a:rPr>
            </a:br>
            <a:r>
              <a:rPr lang="en-US" sz="2400" b="0" dirty="0" smtClean="0">
                <a:latin typeface="+mn-lt"/>
              </a:rPr>
              <a:t>Weekly report</a:t>
            </a:r>
            <a:endParaRPr lang="en-US" sz="2400" b="0" dirty="0">
              <a:latin typeface="+mn-lt"/>
            </a:endParaRPr>
          </a:p>
        </p:txBody>
      </p:sp>
      <p:sp>
        <p:nvSpPr>
          <p:cNvPr id="8195" name="Rectangle 6"/>
          <p:cNvSpPr>
            <a:spLocks noGrp="1" noChangeArrowheads="1"/>
          </p:cNvSpPr>
          <p:nvPr>
            <p:ph type="subTitle" idx="1"/>
          </p:nvPr>
        </p:nvSpPr>
        <p:spPr>
          <a:xfrm>
            <a:off x="3062288" y="4953000"/>
            <a:ext cx="5541962" cy="1019175"/>
          </a:xfrm>
        </p:spPr>
        <p:txBody>
          <a:bodyPr/>
          <a:lstStyle/>
          <a:p>
            <a:pPr eaLnBrk="1" hangingPunct="1"/>
            <a:r>
              <a:rPr lang="en-GB" sz="1600" dirty="0" smtClean="0">
                <a:latin typeface="EYInterstate" pitchFamily="2" charset="0"/>
              </a:rPr>
              <a:t>19 March 2012</a:t>
            </a:r>
            <a:endParaRPr lang="en-GB" sz="1600" dirty="0">
              <a:latin typeface="EYInterstate" pitchFamily="2" charset="0"/>
            </a:endParaRPr>
          </a:p>
        </p:txBody>
      </p:sp>
    </p:spTree>
  </p:cSld>
  <p:clrMapOvr>
    <a:masterClrMapping/>
  </p:clrMapOvr>
  <p:transition advTm="1157"/>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Freeform 94"/>
          <p:cNvSpPr>
            <a:spLocks/>
          </p:cNvSpPr>
          <p:nvPr/>
        </p:nvSpPr>
        <p:spPr bwMode="gray">
          <a:xfrm>
            <a:off x="-2459" y="-3263"/>
            <a:ext cx="6022259"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a:endParaRPr lang="en-GB" sz="2000" dirty="0">
              <a:solidFill>
                <a:srgbClr val="000000"/>
              </a:solidFill>
              <a:latin typeface="Times New Roman" pitchFamily="18" charset="0"/>
            </a:endParaRPr>
          </a:p>
        </p:txBody>
      </p:sp>
      <p:sp>
        <p:nvSpPr>
          <p:cNvPr id="14" name="Rectangle 183"/>
          <p:cNvSpPr txBox="1">
            <a:spLocks noChangeArrowheads="1"/>
          </p:cNvSpPr>
          <p:nvPr/>
        </p:nvSpPr>
        <p:spPr bwMode="gray">
          <a:xfrm>
            <a:off x="2" y="0"/>
            <a:ext cx="7729904" cy="338554"/>
          </a:xfrm>
          <a:prstGeom prst="rect">
            <a:avLst/>
          </a:prstGeom>
        </p:spPr>
        <p:txBody>
          <a:bodyPr>
            <a:spAutoFit/>
          </a:bodyPr>
          <a:lstStyle/>
          <a:p>
            <a:pPr algn="l" defTabSz="955675" eaLnBrk="0" hangingPunct="0">
              <a:spcAft>
                <a:spcPts val="0"/>
              </a:spcAft>
              <a:defRPr/>
            </a:pPr>
            <a:r>
              <a:rPr lang="en-US" sz="1600" b="1" kern="0" dirty="0" smtClean="0">
                <a:solidFill>
                  <a:srgbClr val="646464"/>
                </a:solidFill>
                <a:latin typeface="Courier New" panose="02070309020205020404" pitchFamily="49" charset="0"/>
                <a:cs typeface="Courier New" panose="02070309020205020404" pitchFamily="49" charset="0"/>
              </a:rPr>
              <a:t>2. Overall assessment of Program health</a:t>
            </a:r>
            <a:endParaRPr lang="en-US" sz="1600" b="1" kern="0" dirty="0">
              <a:solidFill>
                <a:srgbClr val="646464"/>
              </a:solidFill>
              <a:latin typeface="Courier New" panose="02070309020205020404" pitchFamily="49" charset="0"/>
              <a:cs typeface="Courier New" panose="02070309020205020404" pitchFamily="49" charset="0"/>
            </a:endParaRPr>
          </a:p>
        </p:txBody>
      </p:sp>
      <p:graphicFrame>
        <p:nvGraphicFramePr>
          <p:cNvPr id="10" name="Group 852"/>
          <p:cNvGraphicFramePr>
            <a:graphicFrameLocks noGrp="1"/>
          </p:cNvGraphicFramePr>
          <p:nvPr>
            <p:extLst>
              <p:ext uri="{D42A27DB-BD31-4B8C-83A1-F6EECF244321}">
                <p14:modId xmlns:p14="http://schemas.microsoft.com/office/powerpoint/2010/main" val="3276438243"/>
              </p:ext>
            </p:extLst>
          </p:nvPr>
        </p:nvGraphicFramePr>
        <p:xfrm>
          <a:off x="5867400" y="1"/>
          <a:ext cx="3276600" cy="6648387"/>
        </p:xfrm>
        <a:graphic>
          <a:graphicData uri="http://schemas.openxmlformats.org/drawingml/2006/table">
            <a:tbl>
              <a:tblPr/>
              <a:tblGrid>
                <a:gridCol w="3276600"/>
              </a:tblGrid>
              <a:tr h="133412">
                <a:tc>
                  <a:txBody>
                    <a:bodyPr/>
                    <a:lstStyle/>
                    <a:p>
                      <a:pPr marL="0" marR="0" lvl="0" indent="0" algn="l" defTabSz="947738" rtl="0" eaLnBrk="0" fontAlgn="base" latinLnBrk="0" hangingPunct="0">
                        <a:lnSpc>
                          <a:spcPct val="100000"/>
                        </a:lnSpc>
                        <a:spcBef>
                          <a:spcPct val="0"/>
                        </a:spcBef>
                        <a:spcAft>
                          <a:spcPct val="0"/>
                        </a:spcAft>
                        <a:buClrTx/>
                        <a:buSzTx/>
                        <a:buFont typeface="Wingdings" pitchFamily="2" charset="2"/>
                        <a:buChar char="Ø"/>
                        <a:tabLst/>
                      </a:pPr>
                      <a:r>
                        <a:rPr kumimoji="0" lang="en-US" sz="700" b="1" i="0" u="none" strike="noStrike" cap="none" normalizeH="0" baseline="0" dirty="0" smtClean="0">
                          <a:ln>
                            <a:noFill/>
                          </a:ln>
                          <a:solidFill>
                            <a:schemeClr val="tx1"/>
                          </a:solidFill>
                          <a:effectLst/>
                          <a:latin typeface="+mn-lt"/>
                        </a:rPr>
                        <a:t>PMO Narrative</a:t>
                      </a:r>
                      <a:endParaRPr kumimoji="0" lang="en-US" sz="700" b="1" i="0" u="none" strike="noStrike" cap="none" normalizeH="0" baseline="0" dirty="0">
                        <a:ln>
                          <a:noFill/>
                        </a:ln>
                        <a:solidFill>
                          <a:schemeClr val="tx1"/>
                        </a:solidFill>
                        <a:effectLst/>
                        <a:latin typeface="+mn-lt"/>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704153">
                <a:tc>
                  <a:txBody>
                    <a:bodyPr/>
                    <a:lstStyle/>
                    <a:p>
                      <a:pPr marL="85725" marR="0" lvl="0" indent="-85725" algn="l" defTabSz="947738" rtl="0" eaLnBrk="0" fontAlgn="base" latinLnBrk="0" hangingPunct="0">
                        <a:lnSpc>
                          <a:spcPct val="100000"/>
                        </a:lnSpc>
                        <a:spcBef>
                          <a:spcPct val="0"/>
                        </a:spcBef>
                        <a:spcAft>
                          <a:spcPct val="10000"/>
                        </a:spcAft>
                        <a:buClrTx/>
                        <a:buSzTx/>
                        <a:buFont typeface="Wingdings" pitchFamily="2" charset="2"/>
                        <a:buChar char="Ø"/>
                        <a:tabLst/>
                      </a:pPr>
                      <a:endParaRPr kumimoji="0" lang="en-US" sz="700" b="1" i="0" u="none" strike="noStrike" cap="none" normalizeH="0" baseline="0" dirty="0" smtClean="0">
                        <a:ln>
                          <a:noFill/>
                        </a:ln>
                        <a:solidFill>
                          <a:srgbClr val="000000"/>
                        </a:solidFill>
                        <a:effectLst/>
                        <a:latin typeface="+mn-lt"/>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146836">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pPr>
                      <a:r>
                        <a:rPr kumimoji="0" lang="en-US" sz="700" b="1" i="0" u="none" strike="noStrike" cap="none" normalizeH="0" baseline="0" dirty="0" smtClean="0">
                          <a:ln>
                            <a:noFill/>
                          </a:ln>
                          <a:solidFill>
                            <a:srgbClr val="000000"/>
                          </a:solidFill>
                          <a:effectLst/>
                          <a:latin typeface="+mn-lt"/>
                        </a:rPr>
                        <a:t>Schedule – Overall status AMBER</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000000"/>
                          </a:solidFill>
                          <a:effectLst/>
                          <a:latin typeface="+mn-lt"/>
                        </a:rPr>
                        <a:t>Detailed MS Project schedules now all </a:t>
                      </a:r>
                      <a:r>
                        <a:rPr kumimoji="0" lang="en-US" sz="700" b="0" i="0" u="none" strike="noStrike" cap="none" normalizeH="0" baseline="0" dirty="0" err="1" smtClean="0">
                          <a:ln>
                            <a:noFill/>
                          </a:ln>
                          <a:solidFill>
                            <a:srgbClr val="000000"/>
                          </a:solidFill>
                          <a:effectLst/>
                          <a:latin typeface="+mn-lt"/>
                        </a:rPr>
                        <a:t>baselined</a:t>
                      </a:r>
                      <a:r>
                        <a:rPr kumimoji="0" lang="en-US" sz="700" b="0" i="0" u="none" strike="noStrike" cap="none" normalizeH="0" baseline="0" dirty="0" smtClean="0">
                          <a:ln>
                            <a:noFill/>
                          </a:ln>
                          <a:solidFill>
                            <a:srgbClr val="000000"/>
                          </a:solidFill>
                          <a:effectLst/>
                          <a:latin typeface="+mn-lt"/>
                        </a:rPr>
                        <a:t> with the exception of Business Deployment. </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000000"/>
                          </a:solidFill>
                          <a:effectLst/>
                          <a:latin typeface="+mn-lt"/>
                        </a:rPr>
                        <a:t>Low confidence level in all plans has caused a “30 day get to green” plan to be constructed and driven by A. Guthrie. </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000000"/>
                          </a:solidFill>
                          <a:effectLst/>
                          <a:latin typeface="+mn-lt"/>
                        </a:rPr>
                        <a:t>Draft re-</a:t>
                      </a:r>
                      <a:r>
                        <a:rPr kumimoji="0" lang="en-US" sz="700" b="0" i="0" u="none" strike="noStrike" cap="none" normalizeH="0" baseline="0" dirty="0" err="1" smtClean="0">
                          <a:ln>
                            <a:noFill/>
                          </a:ln>
                          <a:solidFill>
                            <a:srgbClr val="000000"/>
                          </a:solidFill>
                          <a:effectLst/>
                          <a:latin typeface="+mn-lt"/>
                        </a:rPr>
                        <a:t>baselined</a:t>
                      </a:r>
                      <a:r>
                        <a:rPr kumimoji="0" lang="en-US" sz="700" b="0" i="0" u="none" strike="noStrike" cap="none" normalizeH="0" baseline="0" dirty="0" smtClean="0">
                          <a:ln>
                            <a:noFill/>
                          </a:ln>
                          <a:solidFill>
                            <a:srgbClr val="000000"/>
                          </a:solidFill>
                          <a:effectLst/>
                          <a:latin typeface="+mn-lt"/>
                        </a:rPr>
                        <a:t> plans to be submitted to the PMO by 19</a:t>
                      </a:r>
                      <a:r>
                        <a:rPr kumimoji="0" lang="en-US" sz="700" b="0" i="0" u="none" strike="noStrike" cap="none" normalizeH="0" baseline="30000" dirty="0" smtClean="0">
                          <a:ln>
                            <a:noFill/>
                          </a:ln>
                          <a:solidFill>
                            <a:srgbClr val="000000"/>
                          </a:solidFill>
                          <a:effectLst/>
                          <a:latin typeface="+mn-lt"/>
                        </a:rPr>
                        <a:t>th</a:t>
                      </a:r>
                      <a:r>
                        <a:rPr kumimoji="0" lang="en-US" sz="700" b="0" i="0" u="none" strike="noStrike" cap="none" normalizeH="0" baseline="0" dirty="0" smtClean="0">
                          <a:ln>
                            <a:noFill/>
                          </a:ln>
                          <a:solidFill>
                            <a:srgbClr val="000000"/>
                          </a:solidFill>
                          <a:effectLst/>
                          <a:latin typeface="+mn-lt"/>
                        </a:rPr>
                        <a:t> march. </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000000"/>
                          </a:solidFill>
                          <a:effectLst/>
                          <a:latin typeface="+mn-lt"/>
                        </a:rPr>
                        <a:t>Full Re-</a:t>
                      </a:r>
                      <a:r>
                        <a:rPr kumimoji="0" lang="en-US" sz="700" b="0" i="0" u="none" strike="noStrike" cap="none" normalizeH="0" baseline="0" dirty="0" err="1" smtClean="0">
                          <a:ln>
                            <a:noFill/>
                          </a:ln>
                          <a:solidFill>
                            <a:srgbClr val="000000"/>
                          </a:solidFill>
                          <a:effectLst/>
                          <a:latin typeface="+mn-lt"/>
                        </a:rPr>
                        <a:t>baselined</a:t>
                      </a:r>
                      <a:r>
                        <a:rPr kumimoji="0" lang="en-US" sz="700" b="0" i="0" u="none" strike="noStrike" cap="none" normalizeH="0" baseline="0" dirty="0" smtClean="0">
                          <a:ln>
                            <a:noFill/>
                          </a:ln>
                          <a:solidFill>
                            <a:srgbClr val="000000"/>
                          </a:solidFill>
                          <a:effectLst/>
                          <a:latin typeface="+mn-lt"/>
                        </a:rPr>
                        <a:t> final plans which Work stream leads will be accountable for delivering against – 2</a:t>
                      </a:r>
                      <a:r>
                        <a:rPr kumimoji="0" lang="en-US" sz="700" b="0" i="0" u="none" strike="noStrike" cap="none" normalizeH="0" baseline="30000" dirty="0" smtClean="0">
                          <a:ln>
                            <a:noFill/>
                          </a:ln>
                          <a:solidFill>
                            <a:srgbClr val="000000"/>
                          </a:solidFill>
                          <a:effectLst/>
                          <a:latin typeface="+mn-lt"/>
                        </a:rPr>
                        <a:t>nd</a:t>
                      </a:r>
                      <a:r>
                        <a:rPr kumimoji="0" lang="en-US" sz="700" b="0" i="0" u="none" strike="noStrike" cap="none" normalizeH="0" baseline="0" dirty="0" smtClean="0">
                          <a:ln>
                            <a:noFill/>
                          </a:ln>
                          <a:solidFill>
                            <a:srgbClr val="000000"/>
                          </a:solidFill>
                          <a:effectLst/>
                          <a:latin typeface="+mn-lt"/>
                        </a:rPr>
                        <a:t> April . </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000000"/>
                          </a:solidFill>
                          <a:effectLst/>
                          <a:latin typeface="+mn-lt"/>
                        </a:rPr>
                        <a:t>Enterprise Planning team have taken new baseline plans, but as thought dependency alignment has reduced to 31%. Working with all streams to improve this over the coming weeks with a full review of dependencies being complete as of 2</a:t>
                      </a:r>
                      <a:r>
                        <a:rPr kumimoji="0" lang="en-US" sz="700" b="0" i="0" u="none" strike="noStrike" cap="none" normalizeH="0" baseline="30000" dirty="0" smtClean="0">
                          <a:ln>
                            <a:noFill/>
                          </a:ln>
                          <a:solidFill>
                            <a:srgbClr val="000000"/>
                          </a:solidFill>
                          <a:effectLst/>
                          <a:latin typeface="+mn-lt"/>
                        </a:rPr>
                        <a:t>nd</a:t>
                      </a:r>
                      <a:r>
                        <a:rPr kumimoji="0" lang="en-US" sz="700" b="0" i="0" u="none" strike="noStrike" cap="none" normalizeH="0" baseline="0" dirty="0" smtClean="0">
                          <a:ln>
                            <a:noFill/>
                          </a:ln>
                          <a:solidFill>
                            <a:srgbClr val="000000"/>
                          </a:solidFill>
                          <a:effectLst/>
                          <a:latin typeface="+mn-lt"/>
                        </a:rPr>
                        <a:t> April.</a:t>
                      </a:r>
                      <a:endParaRPr kumimoji="0" lang="en-US" sz="700" b="0" i="0" u="none" strike="noStrike" cap="none" normalizeH="0" baseline="0" dirty="0">
                        <a:ln>
                          <a:noFill/>
                        </a:ln>
                        <a:solidFill>
                          <a:srgbClr val="FF0000"/>
                        </a:solidFill>
                        <a:effectLst/>
                        <a:latin typeface="+mn-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222469">
                <a:tc>
                  <a:txBody>
                    <a:bodyPr/>
                    <a:lstStyle/>
                    <a:p>
                      <a:pPr marL="85725" marR="0" lvl="0" indent="-85725" algn="l" defTabSz="947738" rtl="0" eaLnBrk="0" fontAlgn="base" latinLnBrk="0" hangingPunct="0">
                        <a:lnSpc>
                          <a:spcPct val="100000"/>
                        </a:lnSpc>
                        <a:spcBef>
                          <a:spcPct val="0"/>
                        </a:spcBef>
                        <a:spcAft>
                          <a:spcPct val="10000"/>
                        </a:spcAft>
                        <a:buClrTx/>
                        <a:buSzTx/>
                        <a:buFont typeface="Wingdings" pitchFamily="2" charset="2"/>
                        <a:buChar char="Ø"/>
                        <a:tabLst/>
                      </a:pPr>
                      <a:r>
                        <a:rPr kumimoji="0" lang="en-US" sz="700" b="1" i="0" u="none" strike="noStrike" cap="none" normalizeH="0" baseline="0" dirty="0" smtClean="0">
                          <a:ln>
                            <a:noFill/>
                          </a:ln>
                          <a:solidFill>
                            <a:srgbClr val="000000"/>
                          </a:solidFill>
                          <a:effectLst/>
                          <a:latin typeface="+mn-lt"/>
                        </a:rPr>
                        <a:t>Resource.</a:t>
                      </a:r>
                    </a:p>
                    <a:p>
                      <a:pPr marL="85725" marR="0" lvl="0" indent="-85725" algn="l" defTabSz="947738" rtl="0" eaLnBrk="0" fontAlgn="base" latinLnBrk="0" hangingPunct="0">
                        <a:lnSpc>
                          <a:spcPct val="100000"/>
                        </a:lnSpc>
                        <a:spcBef>
                          <a:spcPct val="0"/>
                        </a:spcBef>
                        <a:spcAft>
                          <a:spcPct val="10000"/>
                        </a:spcAft>
                        <a:buClrTx/>
                        <a:buSzPct val="56000"/>
                        <a:buFont typeface="Wingdings" pitchFamily="2" charset="2"/>
                        <a:buChar char="Ø"/>
                        <a:tabLst/>
                        <a:defRPr/>
                      </a:pPr>
                      <a:r>
                        <a:rPr kumimoji="0" lang="en-GB" sz="700" b="0" i="0" u="none" strike="noStrike" kern="1200" cap="none" normalizeH="0" baseline="0" dirty="0" smtClean="0">
                          <a:ln>
                            <a:noFill/>
                          </a:ln>
                          <a:solidFill>
                            <a:srgbClr val="000000"/>
                          </a:solidFill>
                          <a:effectLst/>
                          <a:latin typeface="+mn-lt"/>
                          <a:ea typeface="+mn-ea"/>
                          <a:cs typeface="+mn-cs"/>
                        </a:rPr>
                        <a:t>AMBER status for  </a:t>
                      </a:r>
                      <a:r>
                        <a:rPr kumimoji="0" lang="en-GB" sz="700" b="0" i="0" u="none" strike="noStrike" kern="1200" cap="none" normalizeH="0" baseline="0" dirty="0" err="1" smtClean="0">
                          <a:ln>
                            <a:noFill/>
                          </a:ln>
                          <a:solidFill>
                            <a:srgbClr val="000000"/>
                          </a:solidFill>
                          <a:effectLst/>
                          <a:latin typeface="+mn-lt"/>
                          <a:ea typeface="+mn-ea"/>
                          <a:cs typeface="+mn-cs"/>
                        </a:rPr>
                        <a:t>App&amp;Data</a:t>
                      </a:r>
                      <a:r>
                        <a:rPr kumimoji="0" lang="en-GB" sz="700" b="0" i="0" u="none" strike="noStrike" kern="1200" cap="none" normalizeH="0" baseline="0" dirty="0" smtClean="0">
                          <a:ln>
                            <a:noFill/>
                          </a:ln>
                          <a:solidFill>
                            <a:srgbClr val="000000"/>
                          </a:solidFill>
                          <a:effectLst/>
                          <a:latin typeface="+mn-lt"/>
                          <a:ea typeface="+mn-ea"/>
                          <a:cs typeface="+mn-cs"/>
                        </a:rPr>
                        <a:t> only resourcing all others RED.</a:t>
                      </a:r>
                    </a:p>
                    <a:p>
                      <a:pPr marL="85725" marR="0" lvl="0" indent="-85725" algn="l" defTabSz="947738" rtl="0" eaLnBrk="0" fontAlgn="base" latinLnBrk="0" hangingPunct="0">
                        <a:lnSpc>
                          <a:spcPct val="100000"/>
                        </a:lnSpc>
                        <a:spcBef>
                          <a:spcPct val="0"/>
                        </a:spcBef>
                        <a:spcAft>
                          <a:spcPct val="10000"/>
                        </a:spcAft>
                        <a:buClrTx/>
                        <a:buSzPct val="56000"/>
                        <a:buFont typeface="Wingdings" pitchFamily="2" charset="2"/>
                        <a:buChar char="Ø"/>
                        <a:tabLst/>
                        <a:defRPr/>
                      </a:pPr>
                      <a:r>
                        <a:rPr kumimoji="0" lang="en-US" sz="700" b="0" i="0" u="none" strike="noStrike" cap="none" normalizeH="0" baseline="0" dirty="0" smtClean="0">
                          <a:ln>
                            <a:noFill/>
                          </a:ln>
                          <a:solidFill>
                            <a:srgbClr val="000000"/>
                          </a:solidFill>
                          <a:effectLst/>
                          <a:latin typeface="+mn-lt"/>
                        </a:rPr>
                        <a:t>Although detailed plans should have been available at start of March this has not been the case and without these it is not possible to clearly define resource requirements.  This is what is driving the red statuses below.</a:t>
                      </a:r>
                      <a:endParaRPr kumimoji="0" lang="en-GB" sz="700" b="0" i="0" u="none" strike="noStrike" kern="1200" cap="none" normalizeH="0" baseline="0" noProof="0" dirty="0" smtClean="0">
                        <a:ln>
                          <a:noFill/>
                        </a:ln>
                        <a:solidFill>
                          <a:srgbClr val="000000"/>
                        </a:solidFill>
                        <a:effectLst/>
                        <a:latin typeface="+mn-lt"/>
                        <a:ea typeface="+mn-ea"/>
                        <a:cs typeface="+mn-cs"/>
                      </a:endParaRPr>
                    </a:p>
                    <a:p>
                      <a:pPr marL="85725" marR="0" lvl="0" indent="-85725" algn="l" defTabSz="947738" rtl="0" eaLnBrk="0" fontAlgn="base" latinLnBrk="0" hangingPunct="0">
                        <a:lnSpc>
                          <a:spcPct val="100000"/>
                        </a:lnSpc>
                        <a:spcBef>
                          <a:spcPct val="0"/>
                        </a:spcBef>
                        <a:spcAft>
                          <a:spcPct val="10000"/>
                        </a:spcAft>
                        <a:buClrTx/>
                        <a:buSzPct val="56000"/>
                        <a:buFont typeface="Wingdings" pitchFamily="2" charset="2"/>
                        <a:buChar char="Ø"/>
                        <a:tabLst/>
                      </a:pPr>
                      <a:r>
                        <a:rPr kumimoji="0" lang="en-US" sz="700" b="0" i="0" u="none" strike="noStrike" cap="none" normalizeH="0" baseline="0" dirty="0" smtClean="0">
                          <a:ln>
                            <a:noFill/>
                          </a:ln>
                          <a:solidFill>
                            <a:srgbClr val="000000"/>
                          </a:solidFill>
                          <a:effectLst/>
                          <a:latin typeface="+mn-lt"/>
                        </a:rPr>
                        <a:t>Awaiting new plan for SharePoint Foundation.</a:t>
                      </a:r>
                    </a:p>
                    <a:p>
                      <a:pPr marL="85725" marR="0" lvl="0" indent="-85725" algn="l" defTabSz="947738" rtl="0" eaLnBrk="0" fontAlgn="base" latinLnBrk="0" hangingPunct="0">
                        <a:lnSpc>
                          <a:spcPct val="100000"/>
                        </a:lnSpc>
                        <a:spcBef>
                          <a:spcPct val="0"/>
                        </a:spcBef>
                        <a:spcAft>
                          <a:spcPct val="10000"/>
                        </a:spcAft>
                        <a:buClrTx/>
                        <a:buSzPct val="56000"/>
                        <a:buFont typeface="Wingdings" pitchFamily="2" charset="2"/>
                        <a:buChar char="Ø"/>
                        <a:tabLst/>
                        <a:defRPr/>
                      </a:pPr>
                      <a:r>
                        <a:rPr kumimoji="0" lang="en-US" sz="700" b="0" i="0" u="none" strike="noStrike" cap="none" normalizeH="0" baseline="0" dirty="0" smtClean="0">
                          <a:ln>
                            <a:noFill/>
                          </a:ln>
                          <a:solidFill>
                            <a:srgbClr val="000000"/>
                          </a:solidFill>
                          <a:effectLst/>
                          <a:latin typeface="+mn-lt"/>
                        </a:rPr>
                        <a:t>Uncertainty around organizational structure and plans is limiting activity. </a:t>
                      </a:r>
                    </a:p>
                    <a:p>
                      <a:pPr marL="85725" marR="0" lvl="0" indent="-85725" algn="l" defTabSz="947738" rtl="0" eaLnBrk="0" fontAlgn="base" latinLnBrk="0" hangingPunct="0">
                        <a:lnSpc>
                          <a:spcPct val="100000"/>
                        </a:lnSpc>
                        <a:spcBef>
                          <a:spcPct val="0"/>
                        </a:spcBef>
                        <a:spcAft>
                          <a:spcPct val="10000"/>
                        </a:spcAft>
                        <a:buClrTx/>
                        <a:buSzPct val="56000"/>
                        <a:buFont typeface="Wingdings" pitchFamily="2" charset="2"/>
                        <a:buChar char="Ø"/>
                        <a:tabLst/>
                        <a:defRPr/>
                      </a:pPr>
                      <a:r>
                        <a:rPr kumimoji="0" lang="en-US" sz="700" b="0" i="0" u="none" strike="noStrike" cap="none" normalizeH="0" baseline="0" dirty="0" smtClean="0">
                          <a:ln>
                            <a:noFill/>
                          </a:ln>
                          <a:solidFill>
                            <a:srgbClr val="000000"/>
                          </a:solidFill>
                          <a:effectLst/>
                          <a:latin typeface="+mn-lt"/>
                        </a:rPr>
                        <a:t>Initial meeting held with </a:t>
                      </a:r>
                      <a:r>
                        <a:rPr kumimoji="0" lang="en-US" sz="700" b="0" i="0" u="none" strike="noStrike" cap="none" normalizeH="0" baseline="0" dirty="0" err="1" smtClean="0">
                          <a:ln>
                            <a:noFill/>
                          </a:ln>
                          <a:solidFill>
                            <a:srgbClr val="000000"/>
                          </a:solidFill>
                          <a:effectLst/>
                          <a:latin typeface="+mn-lt"/>
                        </a:rPr>
                        <a:t>Experimentus</a:t>
                      </a:r>
                      <a:r>
                        <a:rPr kumimoji="0" lang="en-US" sz="700" b="0" i="0" u="none" strike="noStrike" cap="none" normalizeH="0" baseline="0" dirty="0" smtClean="0">
                          <a:ln>
                            <a:noFill/>
                          </a:ln>
                          <a:solidFill>
                            <a:srgbClr val="000000"/>
                          </a:solidFill>
                          <a:effectLst/>
                          <a:latin typeface="+mn-lt"/>
                        </a:rPr>
                        <a:t> around environment management. We should have a clearer role description and framework for this area in a few weeks but need agreement between I&amp;O and Cross Org about where these resources will come out of. </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109342">
                <a:tc>
                  <a:txBody>
                    <a:bodyPr/>
                    <a:lstStyle/>
                    <a:p>
                      <a:pPr marL="85725" marR="0" lvl="0" indent="-85725" algn="l" defTabSz="947738" rtl="0" eaLnBrk="0" fontAlgn="base" latinLnBrk="0" hangingPunct="0">
                        <a:lnSpc>
                          <a:spcPct val="100000"/>
                        </a:lnSpc>
                        <a:spcBef>
                          <a:spcPct val="0"/>
                        </a:spcBef>
                        <a:spcAft>
                          <a:spcPct val="10000"/>
                        </a:spcAft>
                        <a:buClrTx/>
                        <a:buSzTx/>
                        <a:buFont typeface="Wingdings" pitchFamily="2" charset="2"/>
                        <a:buChar char="Ø"/>
                        <a:tabLst/>
                      </a:pPr>
                      <a:r>
                        <a:rPr lang="en-GB" sz="700" b="1" i="0" kern="1200" baseline="0" dirty="0" smtClean="0">
                          <a:solidFill>
                            <a:srgbClr val="000000"/>
                          </a:solidFill>
                          <a:latin typeface="+mn-lt"/>
                          <a:ea typeface="+mn-ea"/>
                          <a:cs typeface="+mn-cs"/>
                        </a:rPr>
                        <a:t>RAIDs.</a:t>
                      </a:r>
                      <a:r>
                        <a:rPr kumimoji="0" lang="en-US" sz="700" b="0" i="0" u="none" strike="noStrike" kern="1200" cap="none" normalizeH="0" baseline="0" dirty="0" smtClean="0">
                          <a:ln>
                            <a:noFill/>
                          </a:ln>
                          <a:solidFill>
                            <a:srgbClr val="000000"/>
                          </a:solidFill>
                          <a:effectLst/>
                          <a:latin typeface="+mn-lt"/>
                          <a:ea typeface="+mn-ea"/>
                          <a:cs typeface="+mn-cs"/>
                        </a:rPr>
                        <a:t> </a:t>
                      </a:r>
                    </a:p>
                    <a:p>
                      <a:pPr marL="85725" marR="0" lvl="0" indent="-85725" algn="l" defTabSz="947738" rtl="0" eaLnBrk="0" fontAlgn="base" latinLnBrk="0" hangingPunct="0">
                        <a:lnSpc>
                          <a:spcPct val="100000"/>
                        </a:lnSpc>
                        <a:spcBef>
                          <a:spcPct val="0"/>
                        </a:spcBef>
                        <a:spcAft>
                          <a:spcPct val="10000"/>
                        </a:spcAft>
                        <a:buClrTx/>
                        <a:buSzPct val="59000"/>
                        <a:buFont typeface="Wingdings" pitchFamily="2" charset="2"/>
                        <a:buChar char="Ø"/>
                        <a:tabLst/>
                        <a:defRPr/>
                      </a:pPr>
                      <a:r>
                        <a:rPr kumimoji="0" lang="en-US" sz="700" b="0" i="0" u="none" strike="noStrike" kern="1200" cap="none" normalizeH="0" baseline="0" dirty="0" smtClean="0">
                          <a:ln>
                            <a:noFill/>
                          </a:ln>
                          <a:solidFill>
                            <a:srgbClr val="000000"/>
                          </a:solidFill>
                          <a:effectLst/>
                          <a:latin typeface="+mn-lt"/>
                          <a:ea typeface="+mn-ea"/>
                          <a:cs typeface="+mn-cs"/>
                        </a:rPr>
                        <a:t>RAG status reflects  the </a:t>
                      </a:r>
                      <a:r>
                        <a:rPr kumimoji="0" lang="en-US" sz="700" b="0" i="0" u="none" strike="noStrike" kern="1200" cap="none" normalizeH="0" baseline="0" dirty="0" err="1" smtClean="0">
                          <a:ln>
                            <a:noFill/>
                          </a:ln>
                          <a:solidFill>
                            <a:srgbClr val="000000"/>
                          </a:solidFill>
                          <a:effectLst/>
                          <a:latin typeface="+mn-lt"/>
                          <a:ea typeface="+mn-ea"/>
                          <a:cs typeface="+mn-cs"/>
                        </a:rPr>
                        <a:t>workstream’s</a:t>
                      </a:r>
                      <a:r>
                        <a:rPr kumimoji="0" lang="en-US" sz="700" b="0" i="0" u="none" strike="noStrike" kern="1200" cap="none" normalizeH="0" baseline="0" dirty="0" smtClean="0">
                          <a:ln>
                            <a:noFill/>
                          </a:ln>
                          <a:solidFill>
                            <a:srgbClr val="000000"/>
                          </a:solidFill>
                          <a:effectLst/>
                          <a:latin typeface="+mn-lt"/>
                          <a:ea typeface="+mn-ea"/>
                          <a:cs typeface="+mn-cs"/>
                        </a:rPr>
                        <a:t> progress with regards to  the  completion of cleaning up of their RAIDs (taking into account updated details and overdue items).</a:t>
                      </a:r>
                    </a:p>
                    <a:p>
                      <a:pPr marL="85725" marR="0" lvl="0" indent="-85725" algn="l" defTabSz="947738" rtl="0" eaLnBrk="0" fontAlgn="base" latinLnBrk="0" hangingPunct="0">
                        <a:lnSpc>
                          <a:spcPct val="100000"/>
                        </a:lnSpc>
                        <a:spcBef>
                          <a:spcPct val="0"/>
                        </a:spcBef>
                        <a:spcAft>
                          <a:spcPct val="10000"/>
                        </a:spcAft>
                        <a:buClrTx/>
                        <a:buSzPct val="59000"/>
                        <a:buFont typeface="Wingdings" pitchFamily="2" charset="2"/>
                        <a:buChar char="Ø"/>
                        <a:tabLst/>
                        <a:defRPr/>
                      </a:pPr>
                      <a:r>
                        <a:rPr kumimoji="0" lang="en-US" sz="700" b="0" i="0" u="none" strike="noStrike" kern="1200" cap="none" normalizeH="0" baseline="0" dirty="0" smtClean="0">
                          <a:ln>
                            <a:noFill/>
                          </a:ln>
                          <a:solidFill>
                            <a:srgbClr val="000000"/>
                          </a:solidFill>
                          <a:effectLst/>
                          <a:latin typeface="+mn-lt"/>
                          <a:ea typeface="+mn-ea"/>
                          <a:cs typeface="+mn-cs"/>
                        </a:rPr>
                        <a:t>RAID activity continues to progress with the advancement of the M&amp;C Get to Green 30 day plan.  Overdue items are steadily declining.</a:t>
                      </a:r>
                    </a:p>
                    <a:p>
                      <a:pPr marL="85725" marR="0" lvl="0" indent="-85725" algn="l" defTabSz="947738" rtl="0" eaLnBrk="0" fontAlgn="base" latinLnBrk="0" hangingPunct="0">
                        <a:lnSpc>
                          <a:spcPct val="100000"/>
                        </a:lnSpc>
                        <a:spcBef>
                          <a:spcPct val="0"/>
                        </a:spcBef>
                        <a:spcAft>
                          <a:spcPct val="10000"/>
                        </a:spcAft>
                        <a:buClrTx/>
                        <a:buSzPct val="59000"/>
                        <a:buFont typeface="Wingdings" pitchFamily="2" charset="2"/>
                        <a:buChar char="Ø"/>
                        <a:tabLst/>
                        <a:defRPr/>
                      </a:pPr>
                      <a:r>
                        <a:rPr kumimoji="0" lang="en-US" sz="700" b="0" i="0" u="none" strike="noStrike" kern="1200" cap="none" normalizeH="0" baseline="0" dirty="0" smtClean="0">
                          <a:ln>
                            <a:noFill/>
                          </a:ln>
                          <a:solidFill>
                            <a:srgbClr val="000000"/>
                          </a:solidFill>
                          <a:effectLst/>
                          <a:latin typeface="+mn-lt"/>
                          <a:ea typeface="+mn-ea"/>
                          <a:cs typeface="+mn-cs"/>
                        </a:rPr>
                        <a:t>Assumptions to be validated remain in need of review, as do both pending decisions and decisions to be revalidated. </a:t>
                      </a:r>
                    </a:p>
                    <a:p>
                      <a:pPr marL="85725" marR="0" lvl="0" indent="-85725" algn="l" defTabSz="947738" rtl="0" eaLnBrk="0" fontAlgn="base" latinLnBrk="0" hangingPunct="0">
                        <a:lnSpc>
                          <a:spcPct val="100000"/>
                        </a:lnSpc>
                        <a:spcBef>
                          <a:spcPct val="0"/>
                        </a:spcBef>
                        <a:spcAft>
                          <a:spcPct val="10000"/>
                        </a:spcAft>
                        <a:buClrTx/>
                        <a:buSzPct val="59000"/>
                        <a:buFont typeface="Wingdings" pitchFamily="2" charset="2"/>
                        <a:buChar char="Ø"/>
                        <a:tabLst/>
                        <a:defRPr/>
                      </a:pPr>
                      <a:r>
                        <a:rPr kumimoji="0" lang="en-US" sz="700" b="0" i="0" u="none" strike="noStrike" kern="1200" cap="none" normalizeH="0" baseline="0" dirty="0" smtClean="0">
                          <a:ln>
                            <a:noFill/>
                          </a:ln>
                          <a:solidFill>
                            <a:srgbClr val="000000"/>
                          </a:solidFill>
                          <a:effectLst/>
                          <a:latin typeface="+mn-lt"/>
                          <a:ea typeface="+mn-ea"/>
                          <a:cs typeface="+mn-cs"/>
                        </a:rPr>
                        <a:t>Weekly M&amp;C Program RAID meetings are on hold for four weeks, as attention will be dedicated to the daily reviews instead.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900124">
                <a:tc>
                  <a:txBody>
                    <a:bodyPr/>
                    <a:lstStyle/>
                    <a:p>
                      <a:pPr marL="85725" marR="0" lvl="0" indent="-85725" algn="l" defTabSz="947738" rtl="0" eaLnBrk="0" fontAlgn="base" latinLnBrk="0" hangingPunct="0">
                        <a:lnSpc>
                          <a:spcPct val="100000"/>
                        </a:lnSpc>
                        <a:spcBef>
                          <a:spcPct val="0"/>
                        </a:spcBef>
                        <a:spcAft>
                          <a:spcPct val="10000"/>
                        </a:spcAft>
                        <a:buClrTx/>
                        <a:buSzTx/>
                        <a:buFont typeface="Wingdings" pitchFamily="2" charset="2"/>
                        <a:buChar char="Ø"/>
                        <a:tabLst/>
                        <a:defRPr/>
                      </a:pPr>
                      <a:r>
                        <a:rPr kumimoji="0" lang="en-US" sz="700" b="1" i="0" u="none" strike="noStrike" cap="none" normalizeH="0" baseline="0" dirty="0" smtClean="0">
                          <a:ln>
                            <a:noFill/>
                          </a:ln>
                          <a:solidFill>
                            <a:srgbClr val="000000"/>
                          </a:solidFill>
                          <a:effectLst/>
                          <a:latin typeface="+mn-lt"/>
                        </a:rPr>
                        <a:t>Change Control.</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GB" sz="700" b="0" i="0" u="none" strike="noStrike" cap="none" normalizeH="0" baseline="0" dirty="0" err="1" smtClean="0">
                          <a:ln>
                            <a:noFill/>
                          </a:ln>
                          <a:solidFill>
                            <a:srgbClr val="000000"/>
                          </a:solidFill>
                          <a:effectLst/>
                          <a:latin typeface="+mn-lt"/>
                        </a:rPr>
                        <a:t>Lync</a:t>
                      </a:r>
                      <a:r>
                        <a:rPr kumimoji="0" lang="en-GB" sz="700" b="0" i="0" u="none" strike="noStrike" cap="none" normalizeH="0" baseline="0" dirty="0" smtClean="0">
                          <a:ln>
                            <a:noFill/>
                          </a:ln>
                          <a:solidFill>
                            <a:srgbClr val="000000"/>
                          </a:solidFill>
                          <a:effectLst/>
                          <a:latin typeface="+mn-lt"/>
                        </a:rPr>
                        <a:t> Planning – Approved as a legacy change by CCB.</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GB" sz="700" b="0" i="0" u="none" strike="noStrike" cap="none" normalizeH="0" baseline="0" dirty="0" smtClean="0">
                          <a:ln>
                            <a:noFill/>
                          </a:ln>
                          <a:solidFill>
                            <a:srgbClr val="000000"/>
                          </a:solidFill>
                          <a:effectLst/>
                          <a:latin typeface="+mn-lt"/>
                        </a:rPr>
                        <a:t>ADM  Ramp Down – Approved by CCB, Approved by </a:t>
                      </a:r>
                      <a:r>
                        <a:rPr kumimoji="0" lang="en-GB" sz="700" b="0" i="0" u="none" strike="noStrike" kern="1200" cap="none" normalizeH="0" baseline="0" dirty="0" smtClean="0">
                          <a:ln>
                            <a:noFill/>
                          </a:ln>
                          <a:solidFill>
                            <a:srgbClr val="000000"/>
                          </a:solidFill>
                          <a:effectLst/>
                          <a:latin typeface="+mn-lt"/>
                          <a:ea typeface="+mn-ea"/>
                          <a:cs typeface="+mn-cs"/>
                        </a:rPr>
                        <a:t>Alan Guthrie and Bob  Reiner</a:t>
                      </a:r>
                      <a:endParaRPr kumimoji="0" lang="en-GB" sz="700" b="0" i="0" u="none" strike="noStrike" cap="none" normalizeH="0" baseline="0" dirty="0" smtClean="0">
                        <a:ln>
                          <a:noFill/>
                        </a:ln>
                        <a:solidFill>
                          <a:srgbClr val="000000"/>
                        </a:solidFill>
                        <a:effectLst/>
                        <a:latin typeface="+mn-lt"/>
                      </a:endParaRP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GB" sz="700" b="0" i="0" u="none" strike="noStrike" kern="1200" cap="none" normalizeH="0" baseline="0" dirty="0" smtClean="0">
                          <a:ln>
                            <a:noFill/>
                          </a:ln>
                          <a:solidFill>
                            <a:srgbClr val="000000"/>
                          </a:solidFill>
                          <a:effectLst/>
                          <a:latin typeface="+mn-lt"/>
                          <a:ea typeface="+mn-ea"/>
                          <a:cs typeface="+mn-cs"/>
                        </a:rPr>
                        <a:t>Tech Foundation - Messaging Design O365D Impact – approved by Alan Guthrie and Bob  Reiner</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rgbClr val="000000"/>
                          </a:solidFill>
                          <a:effectLst/>
                          <a:latin typeface="+mn-lt"/>
                          <a:ea typeface="+mn-ea"/>
                          <a:cs typeface="+mn-cs"/>
                        </a:rPr>
                        <a:t>Unified </a:t>
                      </a:r>
                      <a:r>
                        <a:rPr kumimoji="0" lang="en-GB" sz="700" b="0" i="0" u="none" strike="noStrike" kern="1200" cap="none" normalizeH="0" baseline="0" dirty="0" err="1" smtClean="0">
                          <a:ln>
                            <a:noFill/>
                          </a:ln>
                          <a:solidFill>
                            <a:srgbClr val="000000"/>
                          </a:solidFill>
                          <a:effectLst/>
                          <a:latin typeface="+mn-lt"/>
                          <a:ea typeface="+mn-ea"/>
                          <a:cs typeface="+mn-cs"/>
                        </a:rPr>
                        <a:t>Comms</a:t>
                      </a:r>
                      <a:r>
                        <a:rPr kumimoji="0" lang="en-GB" sz="700" b="0" i="0" u="none" strike="noStrike" kern="1200" cap="none" normalizeH="0" baseline="0" dirty="0" smtClean="0">
                          <a:ln>
                            <a:noFill/>
                          </a:ln>
                          <a:solidFill>
                            <a:srgbClr val="000000"/>
                          </a:solidFill>
                          <a:effectLst/>
                          <a:latin typeface="+mn-lt"/>
                          <a:ea typeface="+mn-ea"/>
                          <a:cs typeface="+mn-cs"/>
                        </a:rPr>
                        <a:t> - MMD – </a:t>
                      </a:r>
                      <a:r>
                        <a:rPr kumimoji="0" lang="en-GB" sz="700" b="0" i="0" u="none" strike="noStrike" kern="1200" cap="none" normalizeH="0" baseline="0" dirty="0" err="1" smtClean="0">
                          <a:ln>
                            <a:noFill/>
                          </a:ln>
                          <a:solidFill>
                            <a:srgbClr val="000000"/>
                          </a:solidFill>
                          <a:effectLst/>
                          <a:latin typeface="+mn-lt"/>
                          <a:ea typeface="+mn-ea"/>
                          <a:cs typeface="+mn-cs"/>
                        </a:rPr>
                        <a:t>descope</a:t>
                      </a:r>
                      <a:r>
                        <a:rPr kumimoji="0" lang="en-GB" sz="700" b="0" i="0" u="none" strike="noStrike" kern="1200" cap="none" normalizeH="0" baseline="0" dirty="0" smtClean="0">
                          <a:ln>
                            <a:noFill/>
                          </a:ln>
                          <a:solidFill>
                            <a:srgbClr val="000000"/>
                          </a:solidFill>
                          <a:effectLst/>
                          <a:latin typeface="+mn-lt"/>
                          <a:ea typeface="+mn-ea"/>
                          <a:cs typeface="+mn-cs"/>
                        </a:rPr>
                        <a:t> – CR rejected pending action from PM.</a:t>
                      </a:r>
                      <a:endParaRPr kumimoji="0" lang="en-US" sz="700" b="0" i="0" u="none" strike="noStrike" cap="none" normalizeH="0" baseline="0" dirty="0">
                        <a:ln>
                          <a:noFill/>
                        </a:ln>
                        <a:solidFill>
                          <a:srgbClr val="000000"/>
                        </a:solidFill>
                        <a:effectLst/>
                        <a:latin typeface="+mn-lt"/>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032437">
                <a:tc>
                  <a:txBody>
                    <a:bodyPr/>
                    <a:lstStyle/>
                    <a:p>
                      <a:pPr marL="85725" marR="0" lvl="0" indent="-85725" algn="l" defTabSz="947738" rtl="0" eaLnBrk="0" fontAlgn="base" latinLnBrk="0" hangingPunct="0">
                        <a:lnSpc>
                          <a:spcPct val="100000"/>
                        </a:lnSpc>
                        <a:spcBef>
                          <a:spcPct val="0"/>
                        </a:spcBef>
                        <a:spcAft>
                          <a:spcPct val="10000"/>
                        </a:spcAft>
                        <a:buClrTx/>
                        <a:buSzTx/>
                        <a:buFont typeface="Wingdings" pitchFamily="2" charset="2"/>
                        <a:buChar char="Ø"/>
                        <a:tabLst/>
                      </a:pPr>
                      <a:r>
                        <a:rPr kumimoji="0" lang="en-US" sz="700" b="1" i="0" u="none" strike="noStrike" cap="none" normalizeH="0" baseline="0" dirty="0" smtClean="0">
                          <a:ln>
                            <a:noFill/>
                          </a:ln>
                          <a:solidFill>
                            <a:srgbClr val="000000"/>
                          </a:solidFill>
                          <a:effectLst/>
                          <a:latin typeface="+mn-lt"/>
                        </a:rPr>
                        <a:t>General .</a:t>
                      </a:r>
                    </a:p>
                    <a:p>
                      <a:pPr marL="85725" marR="0" lvl="0" indent="-85725" algn="l" defTabSz="947738" rtl="0" eaLnBrk="0" fontAlgn="base" latinLnBrk="0" hangingPunct="0">
                        <a:lnSpc>
                          <a:spcPct val="100000"/>
                        </a:lnSpc>
                        <a:spcBef>
                          <a:spcPct val="0"/>
                        </a:spcBef>
                        <a:spcAft>
                          <a:spcPct val="10000"/>
                        </a:spcAft>
                        <a:buClrTx/>
                        <a:buSzPct val="50000"/>
                        <a:buFont typeface="Wingdings" pitchFamily="2" charset="2"/>
                        <a:buChar char="Ø"/>
                        <a:tabLst/>
                      </a:pPr>
                      <a:r>
                        <a:rPr kumimoji="0" lang="en-US" sz="700" b="0" i="0" u="none" strike="noStrike" cap="none" normalizeH="0" baseline="0" dirty="0" smtClean="0">
                          <a:ln>
                            <a:noFill/>
                          </a:ln>
                          <a:solidFill>
                            <a:srgbClr val="000000"/>
                          </a:solidFill>
                          <a:effectLst/>
                          <a:latin typeface="+mn-lt"/>
                        </a:rPr>
                        <a:t>Program generally rated as RED budgeting has declined for 4 programs this week.</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GB" sz="700" b="0" i="0" u="none" strike="noStrike" cap="none" normalizeH="0" baseline="0" dirty="0" smtClean="0">
                          <a:ln>
                            <a:noFill/>
                          </a:ln>
                          <a:solidFill>
                            <a:srgbClr val="000000"/>
                          </a:solidFill>
                          <a:effectLst/>
                          <a:latin typeface="+mn-lt"/>
                        </a:rPr>
                        <a:t> MS Project schedules now all </a:t>
                      </a:r>
                      <a:r>
                        <a:rPr kumimoji="0" lang="en-GB" sz="700" b="0" i="0" u="none" strike="noStrike" cap="none" normalizeH="0" baseline="0" dirty="0" err="1" smtClean="0">
                          <a:ln>
                            <a:noFill/>
                          </a:ln>
                          <a:solidFill>
                            <a:srgbClr val="000000"/>
                          </a:solidFill>
                          <a:effectLst/>
                          <a:latin typeface="+mn-lt"/>
                        </a:rPr>
                        <a:t>baselined</a:t>
                      </a:r>
                      <a:r>
                        <a:rPr kumimoji="0" lang="en-GB" sz="700" b="0" i="0" u="none" strike="noStrike" cap="none" normalizeH="0" baseline="0" dirty="0" smtClean="0">
                          <a:ln>
                            <a:noFill/>
                          </a:ln>
                          <a:solidFill>
                            <a:srgbClr val="000000"/>
                          </a:solidFill>
                          <a:effectLst/>
                          <a:latin typeface="+mn-lt"/>
                        </a:rPr>
                        <a:t> except business deployment, new AMBER status for schedule.</a:t>
                      </a:r>
                      <a:endParaRPr kumimoji="0" lang="en-US" sz="700" b="0" i="0" u="none" strike="noStrike" cap="none" normalizeH="0" baseline="0" dirty="0" smtClean="0">
                        <a:ln>
                          <a:noFill/>
                        </a:ln>
                        <a:solidFill>
                          <a:srgbClr val="000000"/>
                        </a:solidFill>
                        <a:effectLst/>
                        <a:latin typeface="+mn-lt"/>
                      </a:endParaRP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GB" sz="700" b="0" i="0" u="none" strike="noStrike" cap="none" normalizeH="0" baseline="0" dirty="0" smtClean="0">
                          <a:ln>
                            <a:noFill/>
                          </a:ln>
                          <a:solidFill>
                            <a:srgbClr val="000000"/>
                          </a:solidFill>
                          <a:effectLst/>
                          <a:latin typeface="+mn-lt"/>
                        </a:rPr>
                        <a:t>Program Planning still ongoing and POAP expected 5</a:t>
                      </a:r>
                      <a:r>
                        <a:rPr kumimoji="0" lang="en-GB" sz="700" b="0" i="0" u="none" strike="noStrike" cap="none" normalizeH="0" baseline="30000" dirty="0" smtClean="0">
                          <a:ln>
                            <a:noFill/>
                          </a:ln>
                          <a:solidFill>
                            <a:srgbClr val="000000"/>
                          </a:solidFill>
                          <a:effectLst/>
                          <a:latin typeface="+mn-lt"/>
                        </a:rPr>
                        <a:t>th</a:t>
                      </a:r>
                      <a:r>
                        <a:rPr kumimoji="0" lang="en-GB" sz="700" b="0" i="0" u="none" strike="noStrike" cap="none" normalizeH="0" baseline="0" dirty="0" smtClean="0">
                          <a:ln>
                            <a:noFill/>
                          </a:ln>
                          <a:solidFill>
                            <a:srgbClr val="000000"/>
                          </a:solidFill>
                          <a:effectLst/>
                          <a:latin typeface="+mn-lt"/>
                        </a:rPr>
                        <a:t> of March.</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GB" sz="700" b="0" i="0" u="none" strike="noStrike" cap="none" normalizeH="0" baseline="0" dirty="0" smtClean="0">
                          <a:ln>
                            <a:noFill/>
                          </a:ln>
                          <a:solidFill>
                            <a:srgbClr val="000000"/>
                          </a:solidFill>
                          <a:effectLst/>
                          <a:latin typeface="+mn-lt"/>
                        </a:rPr>
                        <a:t> Resourcing RED due to Planning and changes in scope.</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GB" sz="700" b="0" i="0" u="none" strike="noStrike" cap="none" normalizeH="0" baseline="0" dirty="0" smtClean="0">
                          <a:ln>
                            <a:noFill/>
                          </a:ln>
                          <a:solidFill>
                            <a:srgbClr val="000000"/>
                          </a:solidFill>
                          <a:effectLst/>
                          <a:latin typeface="+mn-lt"/>
                        </a:rPr>
                        <a:t>M&amp;C 30 day Get to Green exercise in progress and significant progress is being made.</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GB" sz="700" b="0" i="0" u="none" strike="noStrike" cap="none" normalizeH="0" baseline="0" dirty="0" smtClean="0">
                          <a:ln>
                            <a:noFill/>
                          </a:ln>
                          <a:solidFill>
                            <a:srgbClr val="000000"/>
                          </a:solidFill>
                          <a:effectLst/>
                          <a:latin typeface="+mn-lt"/>
                        </a:rPr>
                        <a:t>Weekly report review process now in place. (PMO)</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99069787"/>
              </p:ext>
            </p:extLst>
          </p:nvPr>
        </p:nvGraphicFramePr>
        <p:xfrm>
          <a:off x="-2460" y="4267200"/>
          <a:ext cx="5869857" cy="2556052"/>
        </p:xfrm>
        <a:graphic>
          <a:graphicData uri="http://schemas.openxmlformats.org/drawingml/2006/table">
            <a:tbl>
              <a:tblPr/>
              <a:tblGrid>
                <a:gridCol w="881791"/>
                <a:gridCol w="678550"/>
                <a:gridCol w="668718"/>
                <a:gridCol w="668718"/>
                <a:gridCol w="668718"/>
                <a:gridCol w="668718"/>
                <a:gridCol w="743020"/>
                <a:gridCol w="891624"/>
              </a:tblGrid>
              <a:tr h="20788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dirty="0">
                        <a:ln>
                          <a:noFill/>
                        </a:ln>
                        <a:solidFill>
                          <a:schemeClr val="tx1"/>
                        </a:solidFill>
                        <a:effectLst/>
                        <a:latin typeface="+mn-lt"/>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dirty="0">
                        <a:ln>
                          <a:noFill/>
                        </a:ln>
                        <a:solidFill>
                          <a:schemeClr val="tx1"/>
                        </a:solidFill>
                        <a:effectLst/>
                        <a:latin typeface="+mn-lt"/>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gridSpan="6">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smtClean="0">
                          <a:ln>
                            <a:noFill/>
                          </a:ln>
                          <a:solidFill>
                            <a:schemeClr val="tx1"/>
                          </a:solidFill>
                          <a:effectLst/>
                          <a:latin typeface="+mn-lt"/>
                          <a:ea typeface="+mn-ea"/>
                          <a:cs typeface="+mn-cs"/>
                        </a:rPr>
                        <a:t>RAG Trend</a:t>
                      </a:r>
                      <a:endParaRPr kumimoji="0" lang="en-US" sz="700" b="0" i="0" u="none" strike="noStrike" kern="1200" cap="none" normalizeH="0" baseline="0" dirty="0">
                        <a:ln>
                          <a:noFill/>
                        </a:ln>
                        <a:solidFill>
                          <a:schemeClr val="tx1"/>
                        </a:solidFill>
                        <a:effectLst/>
                        <a:latin typeface="+mn-lt"/>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endParaRPr lang="en-GB"/>
                    </a:p>
                  </a:txBody>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endParaRPr lang="en-GB"/>
                    </a:p>
                  </a:txBody>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tx1"/>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233103">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mn-lt"/>
                        </a:rPr>
                        <a:t>Program</a:t>
                      </a:r>
                      <a:endParaRPr kumimoji="0" lang="en-US" sz="700" b="1" i="0" u="none" strike="noStrike" cap="none" normalizeH="0" baseline="0" dirty="0">
                        <a:ln>
                          <a:noFill/>
                        </a:ln>
                        <a:solidFill>
                          <a:srgbClr val="000000"/>
                        </a:solidFill>
                        <a:effectLst/>
                        <a:latin typeface="+mn-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mn-lt"/>
                        </a:rPr>
                        <a:t>This week</a:t>
                      </a:r>
                      <a:endParaRPr kumimoji="0" lang="en-US" sz="700" b="1" i="0" u="none" strike="noStrike" cap="none" normalizeH="0" baseline="0" dirty="0">
                        <a:ln>
                          <a:noFill/>
                        </a:ln>
                        <a:solidFill>
                          <a:srgbClr val="000000"/>
                        </a:solidFill>
                        <a:effectLst/>
                        <a:latin typeface="+mn-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cap="none" normalizeH="0" baseline="0" dirty="0" smtClean="0">
                          <a:ln>
                            <a:noFill/>
                          </a:ln>
                          <a:solidFill>
                            <a:srgbClr val="000000"/>
                          </a:solidFill>
                          <a:effectLst/>
                          <a:latin typeface="+mn-lt"/>
                        </a:rPr>
                        <a:t>Last week</a:t>
                      </a:r>
                      <a:endParaRPr kumimoji="0" lang="en-US" sz="700" b="1" i="0" u="none" strike="noStrike" cap="none" normalizeH="0" baseline="0" dirty="0">
                        <a:ln>
                          <a:noFill/>
                        </a:ln>
                        <a:solidFill>
                          <a:srgbClr val="000000"/>
                        </a:solidFill>
                        <a:effectLst/>
                        <a:latin typeface="+mn-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mn-lt"/>
                        </a:rPr>
                        <a:t>Week -2</a:t>
                      </a:r>
                      <a:endParaRPr kumimoji="0" lang="en-US" sz="700" b="1" i="0" u="none" strike="noStrike" cap="none" normalizeH="0" baseline="0" dirty="0">
                        <a:ln>
                          <a:noFill/>
                        </a:ln>
                        <a:solidFill>
                          <a:srgbClr val="000000"/>
                        </a:solidFill>
                        <a:effectLst/>
                        <a:latin typeface="+mn-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mn-lt"/>
                        </a:rPr>
                        <a:t>Week -3</a:t>
                      </a:r>
                      <a:endParaRPr kumimoji="0" lang="en-US" sz="700" b="1" i="0" u="none" strike="noStrike" cap="none" normalizeH="0" baseline="0" dirty="0">
                        <a:ln>
                          <a:noFill/>
                        </a:ln>
                        <a:solidFill>
                          <a:srgbClr val="000000"/>
                        </a:solidFill>
                        <a:effectLst/>
                        <a:latin typeface="+mn-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mn-lt"/>
                        </a:rPr>
                        <a:t>Week -4</a:t>
                      </a:r>
                      <a:endParaRPr kumimoji="0" lang="en-US" sz="700" b="1" i="0" u="none" strike="noStrike" cap="none" normalizeH="0" baseline="0" dirty="0">
                        <a:ln>
                          <a:noFill/>
                        </a:ln>
                        <a:solidFill>
                          <a:srgbClr val="000000"/>
                        </a:solidFill>
                        <a:effectLst/>
                        <a:latin typeface="+mn-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rgbClr val="000000"/>
                          </a:solidFill>
                          <a:effectLst/>
                          <a:latin typeface="+mn-lt"/>
                        </a:rPr>
                        <a:t>Week -5</a:t>
                      </a:r>
                      <a:endParaRPr kumimoji="0" lang="en-US" sz="700" b="1" i="0" u="none" strike="noStrike" cap="none" normalizeH="0" baseline="0" dirty="0">
                        <a:ln>
                          <a:noFill/>
                        </a:ln>
                        <a:solidFill>
                          <a:srgbClr val="000000"/>
                        </a:solidFill>
                        <a:effectLst/>
                        <a:latin typeface="+mn-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rgbClr val="000000"/>
                          </a:solidFill>
                          <a:effectLst/>
                          <a:latin typeface="+mn-lt"/>
                        </a:rPr>
                        <a:t>Week -6</a:t>
                      </a:r>
                      <a:endParaRPr kumimoji="0" lang="en-US" sz="700" b="1" i="0" u="none" strike="noStrike" cap="none" normalizeH="0" baseline="0" dirty="0">
                        <a:ln>
                          <a:noFill/>
                        </a:ln>
                        <a:solidFill>
                          <a:srgbClr val="000000"/>
                        </a:solidFill>
                        <a:effectLst/>
                        <a:latin typeface="+mn-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256431">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mn-lt"/>
                          <a:ea typeface="+mn-ea"/>
                          <a:cs typeface="+mn-cs"/>
                        </a:rPr>
                        <a:t>SharePoint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a:r>
                        <a:rPr lang="en-GB" sz="700" dirty="0" smtClean="0">
                          <a:solidFill>
                            <a:srgbClr val="000000"/>
                          </a:solidFill>
                          <a:latin typeface="+mn-lt"/>
                        </a:rPr>
                        <a:t>RED</a:t>
                      </a:r>
                      <a:endParaRPr lang="en-GB" sz="700" dirty="0">
                        <a:solidFill>
                          <a:srgbClr val="000000"/>
                        </a:solidFill>
                        <a:latin typeface="+mn-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600" b="0" i="0" u="none" strike="noStrike" kern="1200" cap="none" normalizeH="0" baseline="0" dirty="0" smtClean="0">
                          <a:ln>
                            <a:noFill/>
                          </a:ln>
                          <a:solidFill>
                            <a:srgbClr val="000000"/>
                          </a:solidFill>
                          <a:effectLst/>
                          <a:latin typeface="+mn-lt"/>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rgbClr val="000000"/>
                          </a:solidFill>
                          <a:effectLst/>
                          <a:latin typeface="+mn-lt"/>
                          <a:ea typeface="+mn-ea"/>
                          <a:cs typeface="+mn-cs"/>
                        </a:rPr>
                        <a:t>RED</a:t>
                      </a:r>
                      <a:endParaRPr kumimoji="0" lang="en-US" sz="700" b="0" i="0" u="none" strike="noStrike" kern="1200" cap="none" normalizeH="0" baseline="0" dirty="0">
                        <a:ln>
                          <a:noFill/>
                        </a:ln>
                        <a:solidFill>
                          <a:srgbClr val="000000"/>
                        </a:solidFill>
                        <a:effectLst/>
                        <a:latin typeface="+mn-lt"/>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252038">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mn-lt"/>
                          <a:ea typeface="+mn-ea"/>
                          <a:cs typeface="+mn-cs"/>
                        </a:rPr>
                        <a:t>App &amp; Data</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normalizeH="0" baseline="0" dirty="0" smtClean="0">
                          <a:ln>
                            <a:noFill/>
                          </a:ln>
                          <a:solidFill>
                            <a:srgbClr val="000000"/>
                          </a:solidFill>
                          <a:effectLst/>
                          <a:latin typeface="+mn-lt"/>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rgbClr val="000000"/>
                          </a:solidFill>
                          <a:effectLst/>
                          <a:latin typeface="+mn-lt"/>
                          <a:ea typeface="+mn-ea"/>
                          <a:cs typeface="+mn-cs"/>
                        </a:rPr>
                        <a:t>RED</a:t>
                      </a:r>
                      <a:endParaRPr kumimoji="0" lang="en-US" sz="700" b="0" i="0" u="none" strike="noStrike" kern="1200" cap="none" normalizeH="0" baseline="0" dirty="0">
                        <a:ln>
                          <a:noFill/>
                        </a:ln>
                        <a:solidFill>
                          <a:srgbClr val="000000"/>
                        </a:solidFill>
                        <a:effectLst/>
                        <a:latin typeface="+mn-lt"/>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270033">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mn-lt"/>
                          <a:ea typeface="+mn-ea"/>
                          <a:cs typeface="+mn-cs"/>
                        </a:rPr>
                        <a:t>Change Management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a:r>
                        <a:rPr lang="en-GB" sz="700" dirty="0" smtClean="0">
                          <a:solidFill>
                            <a:srgbClr val="000000"/>
                          </a:solidFill>
                          <a:latin typeface="+mn-lt"/>
                        </a:rPr>
                        <a:t>RED</a:t>
                      </a:r>
                      <a:endParaRPr lang="en-GB" sz="700" dirty="0">
                        <a:solidFill>
                          <a:srgbClr val="000000"/>
                        </a:solidFill>
                        <a:latin typeface="+mn-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normalizeH="0" baseline="0" dirty="0" smtClean="0">
                          <a:ln>
                            <a:noFill/>
                          </a:ln>
                          <a:solidFill>
                            <a:srgbClr val="000000"/>
                          </a:solidFill>
                          <a:effectLst/>
                          <a:latin typeface="+mn-lt"/>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rgbClr val="000000"/>
                          </a:solidFill>
                          <a:effectLst/>
                          <a:latin typeface="+mn-lt"/>
                          <a:ea typeface="+mn-ea"/>
                          <a:cs typeface="+mn-cs"/>
                        </a:rPr>
                        <a:t>AMBER</a:t>
                      </a:r>
                      <a:endParaRPr kumimoji="0" lang="en-US" sz="700" b="0" i="0" u="none" strike="noStrike" kern="1200" cap="none" normalizeH="0" baseline="0" dirty="0">
                        <a:ln>
                          <a:noFill/>
                        </a:ln>
                        <a:solidFill>
                          <a:srgbClr val="000000"/>
                        </a:solidFill>
                        <a:effectLst/>
                        <a:latin typeface="+mn-lt"/>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256431">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mn-lt"/>
                          <a:ea typeface="+mn-ea"/>
                          <a:cs typeface="+mn-cs"/>
                        </a:rPr>
                        <a:t>Tech  Foundation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a:r>
                        <a:rPr lang="en-GB" sz="700" dirty="0" smtClean="0">
                          <a:solidFill>
                            <a:srgbClr val="000000"/>
                          </a:solidFill>
                          <a:latin typeface="+mn-lt"/>
                        </a:rPr>
                        <a:t>RED</a:t>
                      </a:r>
                      <a:endParaRPr lang="en-GB" sz="700" dirty="0">
                        <a:solidFill>
                          <a:srgbClr val="000000"/>
                        </a:solidFill>
                        <a:latin typeface="+mn-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normalizeH="0" baseline="0" dirty="0" smtClean="0">
                          <a:ln>
                            <a:noFill/>
                          </a:ln>
                          <a:solidFill>
                            <a:srgbClr val="000000"/>
                          </a:solidFill>
                          <a:effectLst/>
                          <a:latin typeface="+mn-lt"/>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NO REPORT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rgbClr val="000000"/>
                          </a:solidFill>
                          <a:effectLst/>
                          <a:latin typeface="+mn-lt"/>
                          <a:ea typeface="+mn-ea"/>
                          <a:cs typeface="+mn-cs"/>
                        </a:rPr>
                        <a:t>AMBER</a:t>
                      </a:r>
                      <a:endParaRPr kumimoji="0" lang="en-US" sz="700" b="0" i="0" u="none" strike="noStrike" kern="1200" cap="none" normalizeH="0" baseline="0" dirty="0">
                        <a:ln>
                          <a:noFill/>
                        </a:ln>
                        <a:solidFill>
                          <a:srgbClr val="000000"/>
                        </a:solidFill>
                        <a:effectLst/>
                        <a:latin typeface="+mn-lt"/>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270033">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mn-lt"/>
                          <a:ea typeface="+mn-ea"/>
                          <a:cs typeface="+mn-cs"/>
                        </a:rPr>
                        <a:t>Unified Communications</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a:r>
                        <a:rPr lang="en-GB" sz="700" dirty="0" smtClean="0">
                          <a:solidFill>
                            <a:srgbClr val="000000"/>
                          </a:solidFill>
                          <a:latin typeface="+mn-lt"/>
                        </a:rPr>
                        <a:t>RED</a:t>
                      </a:r>
                      <a:endParaRPr lang="en-GB" sz="700" dirty="0">
                        <a:solidFill>
                          <a:srgbClr val="000000"/>
                        </a:solidFill>
                        <a:latin typeface="+mn-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normalizeH="0" baseline="0" dirty="0" smtClean="0">
                          <a:ln>
                            <a:noFill/>
                          </a:ln>
                          <a:solidFill>
                            <a:srgbClr val="000000"/>
                          </a:solidFill>
                          <a:effectLst/>
                          <a:latin typeface="+mn-lt"/>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rgbClr val="000000"/>
                          </a:solidFill>
                          <a:effectLst/>
                          <a:latin typeface="+mn-lt"/>
                          <a:ea typeface="+mn-ea"/>
                          <a:cs typeface="+mn-cs"/>
                        </a:rPr>
                        <a:t>RED</a:t>
                      </a:r>
                      <a:endParaRPr kumimoji="0" lang="en-US" sz="700" b="0" i="0" u="none" strike="noStrike" kern="1200" cap="none" normalizeH="0" baseline="0" dirty="0">
                        <a:ln>
                          <a:noFill/>
                        </a:ln>
                        <a:solidFill>
                          <a:srgbClr val="000000"/>
                        </a:solidFill>
                        <a:effectLst/>
                        <a:latin typeface="+mn-lt"/>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270033">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mn-lt"/>
                          <a:ea typeface="+mn-ea"/>
                          <a:cs typeface="+mn-cs"/>
                        </a:rPr>
                        <a:t>IT Transition Management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a:r>
                        <a:rPr lang="en-GB" sz="700" dirty="0" smtClean="0">
                          <a:solidFill>
                            <a:srgbClr val="000000"/>
                          </a:solidFill>
                          <a:latin typeface="+mn-lt"/>
                        </a:rPr>
                        <a:t>AMBER</a:t>
                      </a:r>
                      <a:endParaRPr lang="en-GB" sz="700" dirty="0">
                        <a:solidFill>
                          <a:srgbClr val="000000"/>
                        </a:solidFill>
                        <a:latin typeface="+mn-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normalizeH="0" baseline="0" dirty="0" smtClean="0">
                          <a:ln>
                            <a:noFill/>
                          </a:ln>
                          <a:solidFill>
                            <a:srgbClr val="000000"/>
                          </a:solidFill>
                          <a:effectLst/>
                          <a:latin typeface="+mn-lt"/>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rgbClr val="000000"/>
                          </a:solidFill>
                          <a:effectLst/>
                          <a:latin typeface="+mn-lt"/>
                          <a:ea typeface="+mn-ea"/>
                          <a:cs typeface="+mn-cs"/>
                        </a:rPr>
                        <a:t>AMBER</a:t>
                      </a:r>
                      <a:endParaRPr kumimoji="0" lang="en-US" sz="700" b="0" i="0" u="none" strike="noStrike" kern="1200" cap="none" normalizeH="0" baseline="0" dirty="0">
                        <a:ln>
                          <a:noFill/>
                        </a:ln>
                        <a:solidFill>
                          <a:srgbClr val="000000"/>
                        </a:solidFill>
                        <a:effectLst/>
                        <a:latin typeface="+mn-lt"/>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270033">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mn-lt"/>
                          <a:ea typeface="+mn-ea"/>
                          <a:cs typeface="+mn-cs"/>
                        </a:rPr>
                        <a:t>Business Deployment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a:r>
                        <a:rPr lang="en-GB" sz="700" dirty="0" smtClean="0">
                          <a:solidFill>
                            <a:srgbClr val="000000"/>
                          </a:solidFill>
                          <a:latin typeface="+mn-lt"/>
                        </a:rPr>
                        <a:t>TBC</a:t>
                      </a:r>
                      <a:endParaRPr lang="en-GB" sz="700" dirty="0">
                        <a:solidFill>
                          <a:srgbClr val="000000"/>
                        </a:solidFill>
                        <a:latin typeface="+mn-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normalizeH="0" baseline="0" dirty="0" smtClean="0">
                          <a:ln>
                            <a:noFill/>
                          </a:ln>
                          <a:solidFill>
                            <a:srgbClr val="000000"/>
                          </a:solidFill>
                          <a:effectLst/>
                          <a:latin typeface="+mn-lt"/>
                          <a:ea typeface="+mn-ea"/>
                          <a:cs typeface="+mn-cs"/>
                        </a:rPr>
                        <a:t>TBC</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TBC</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TBC</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TBC</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TBC</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chemeClr val="tx1"/>
                          </a:solidFill>
                          <a:effectLst/>
                          <a:latin typeface="+mn-lt"/>
                          <a:ea typeface="+mn-ea"/>
                          <a:cs typeface="+mn-cs"/>
                        </a:rPr>
                        <a:t>TBC</a:t>
                      </a:r>
                      <a:endParaRPr kumimoji="0" lang="en-US" sz="700" b="0" i="0" u="none" strike="noStrike" kern="1200" cap="none" normalizeH="0" baseline="0" dirty="0">
                        <a:ln>
                          <a:noFill/>
                        </a:ln>
                        <a:solidFill>
                          <a:schemeClr val="tx1"/>
                        </a:solidFill>
                        <a:effectLst/>
                        <a:latin typeface="+mn-lt"/>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70033">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mn-lt"/>
                          <a:ea typeface="+mn-ea"/>
                          <a:cs typeface="+mn-cs"/>
                        </a:rPr>
                        <a:t>Release Management</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algn="ctr"/>
                      <a:r>
                        <a:rPr lang="en-GB" sz="700" dirty="0" smtClean="0">
                          <a:solidFill>
                            <a:srgbClr val="000000"/>
                          </a:solidFill>
                          <a:latin typeface="+mn-lt"/>
                        </a:rPr>
                        <a:t>TBC</a:t>
                      </a:r>
                      <a:endParaRPr lang="en-GB" sz="700" dirty="0">
                        <a:solidFill>
                          <a:srgbClr val="000000"/>
                        </a:solidFill>
                        <a:latin typeface="+mn-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normalizeH="0" baseline="0" dirty="0" smtClean="0">
                          <a:ln>
                            <a:noFill/>
                          </a:ln>
                          <a:solidFill>
                            <a:srgbClr val="000000"/>
                          </a:solidFill>
                          <a:effectLst/>
                          <a:latin typeface="+mn-lt"/>
                          <a:ea typeface="+mn-ea"/>
                          <a:cs typeface="+mn-cs"/>
                        </a:rPr>
                        <a:t>TBC</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TBC</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TBC</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TBC</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mn-lt"/>
                          <a:ea typeface="+mn-ea"/>
                          <a:cs typeface="+mn-cs"/>
                        </a:rPr>
                        <a:t>TBC</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pPr>
                      <a:r>
                        <a:rPr kumimoji="0" lang="en-US" sz="700" b="0" i="0" u="none" strike="noStrike" kern="1200" cap="none" normalizeH="0" baseline="0" dirty="0" smtClean="0">
                          <a:ln>
                            <a:noFill/>
                          </a:ln>
                          <a:solidFill>
                            <a:schemeClr val="tx1"/>
                          </a:solidFill>
                          <a:effectLst/>
                          <a:latin typeface="+mn-lt"/>
                          <a:ea typeface="+mn-ea"/>
                          <a:cs typeface="+mn-cs"/>
                        </a:rPr>
                        <a:t>TBC</a:t>
                      </a:r>
                      <a:endParaRPr kumimoji="0" lang="en-US" sz="700" b="0" i="0" u="none" strike="noStrike" kern="1200" cap="none" normalizeH="0" baseline="0" dirty="0">
                        <a:ln>
                          <a:noFill/>
                        </a:ln>
                        <a:solidFill>
                          <a:schemeClr val="tx1"/>
                        </a:solidFill>
                        <a:effectLst/>
                        <a:latin typeface="+mn-lt"/>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4017617187"/>
              </p:ext>
            </p:extLst>
          </p:nvPr>
        </p:nvGraphicFramePr>
        <p:xfrm>
          <a:off x="2" y="530137"/>
          <a:ext cx="5867398" cy="3632235"/>
        </p:xfrm>
        <a:graphic>
          <a:graphicData uri="http://schemas.openxmlformats.org/drawingml/2006/table">
            <a:tbl>
              <a:tblPr/>
              <a:tblGrid>
                <a:gridCol w="893240"/>
                <a:gridCol w="429561"/>
                <a:gridCol w="429797"/>
                <a:gridCol w="609600"/>
                <a:gridCol w="609600"/>
                <a:gridCol w="457200"/>
                <a:gridCol w="609600"/>
                <a:gridCol w="609600"/>
                <a:gridCol w="609600"/>
                <a:gridCol w="609600"/>
              </a:tblGrid>
              <a:tr h="170512">
                <a:tc gridSpan="10">
                  <a:txBody>
                    <a:bodyPr/>
                    <a:lstStyle/>
                    <a:p>
                      <a:pPr algn="l" rtl="0" fontAlgn="ctr"/>
                      <a:r>
                        <a:rPr lang="en-GB" sz="700" b="1" i="0" u="none" strike="noStrike" dirty="0">
                          <a:solidFill>
                            <a:srgbClr val="646464"/>
                          </a:solidFill>
                          <a:latin typeface="+mn-lt"/>
                        </a:rPr>
                        <a:t>Weekly Ratings</a:t>
                      </a:r>
                      <a:r>
                        <a:rPr lang="en-GB" sz="700" b="0" i="0" u="none" strike="noStrike" dirty="0">
                          <a:solidFill>
                            <a:srgbClr val="646464"/>
                          </a:solidFill>
                          <a:latin typeface="+mn-lt"/>
                        </a:rPr>
                        <a:t> </a:t>
                      </a:r>
                      <a:endParaRPr lang="en-GB" sz="700" b="1" i="0" u="none" strike="noStrike" dirty="0">
                        <a:solidFill>
                          <a:srgbClr val="646464"/>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C1C1C1"/>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r>
              <a:tr h="170512">
                <a:tc>
                  <a:txBody>
                    <a:bodyPr/>
                    <a:lstStyle/>
                    <a:p>
                      <a:pPr algn="l" fontAlgn="ctr"/>
                      <a:r>
                        <a:rPr lang="en-GB" sz="700" b="0" i="0" u="none" strike="noStrike">
                          <a:solidFill>
                            <a:srgbClr val="646464"/>
                          </a:solidFill>
                          <a:latin typeface="+mn-lt"/>
                        </a:rPr>
                        <a:t> </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C1C1C1"/>
                    </a:solidFill>
                  </a:tcPr>
                </a:tc>
                <a:tc gridSpan="4">
                  <a:txBody>
                    <a:bodyPr/>
                    <a:lstStyle/>
                    <a:p>
                      <a:pPr algn="l" rtl="0" fontAlgn="ctr"/>
                      <a:r>
                        <a:rPr lang="en-GB" sz="700" b="1" i="0" u="none" strike="noStrike" dirty="0">
                          <a:solidFill>
                            <a:srgbClr val="646464"/>
                          </a:solidFill>
                          <a:latin typeface="+mn-lt"/>
                        </a:rPr>
                        <a:t>Program Assessment (Per PM Tool)</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C1C1C1"/>
                    </a:solidFill>
                  </a:tcPr>
                </a:tc>
                <a:tc hMerge="1">
                  <a:txBody>
                    <a:bodyPr/>
                    <a:lstStyle/>
                    <a:p>
                      <a:endParaRPr lang="en-GB"/>
                    </a:p>
                  </a:txBody>
                  <a:tcPr/>
                </a:tc>
                <a:tc hMerge="1">
                  <a:txBody>
                    <a:bodyPr/>
                    <a:lstStyle/>
                    <a:p>
                      <a:endParaRPr lang="en-GB"/>
                    </a:p>
                  </a:txBody>
                  <a:tcPr/>
                </a:tc>
                <a:tc hMerge="1">
                  <a:txBody>
                    <a:bodyPr/>
                    <a:lstStyle/>
                    <a:p>
                      <a:endParaRPr lang="en-GB"/>
                    </a:p>
                  </a:txBody>
                  <a:tcPr/>
                </a:tc>
                <a:tc gridSpan="5">
                  <a:txBody>
                    <a:bodyPr/>
                    <a:lstStyle/>
                    <a:p>
                      <a:pPr algn="l" rtl="0" fontAlgn="ctr"/>
                      <a:r>
                        <a:rPr lang="en-GB" sz="700" b="1" i="0" u="none" strike="noStrike" dirty="0">
                          <a:solidFill>
                            <a:srgbClr val="646464"/>
                          </a:solidFill>
                          <a:latin typeface="+mn-lt"/>
                        </a:rPr>
                        <a:t>PMO Assessment</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C1C1C1"/>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r>
              <a:tr h="240723">
                <a:tc>
                  <a:txBody>
                    <a:bodyPr/>
                    <a:lstStyle/>
                    <a:p>
                      <a:pPr algn="ctr" rtl="0" fontAlgn="ctr"/>
                      <a:r>
                        <a:rPr lang="en-GB" sz="700" b="1" i="0" u="none" strike="noStrike" dirty="0">
                          <a:solidFill>
                            <a:srgbClr val="000000"/>
                          </a:solidFill>
                          <a:latin typeface="+mn-lt"/>
                        </a:rPr>
                        <a:t>Program </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a:solidFill>
                            <a:srgbClr val="000000"/>
                          </a:solidFill>
                          <a:latin typeface="+mn-lt"/>
                        </a:rPr>
                        <a:t>Overall </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smtClean="0">
                          <a:solidFill>
                            <a:srgbClr val="000000"/>
                          </a:solidFill>
                          <a:latin typeface="+mn-lt"/>
                        </a:rPr>
                        <a:t>Scope </a:t>
                      </a:r>
                      <a:endParaRPr lang="en-GB" sz="700" b="1"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smtClean="0">
                          <a:solidFill>
                            <a:srgbClr val="000000"/>
                          </a:solidFill>
                          <a:latin typeface="+mn-lt"/>
                        </a:rPr>
                        <a:t>Time</a:t>
                      </a:r>
                      <a:endParaRPr lang="en-GB" sz="700" b="1"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smtClean="0">
                          <a:solidFill>
                            <a:srgbClr val="000000"/>
                          </a:solidFill>
                          <a:latin typeface="+mn-lt"/>
                        </a:rPr>
                        <a:t>Cost</a:t>
                      </a:r>
                      <a:endParaRPr lang="en-GB" sz="700" b="1"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a:solidFill>
                            <a:srgbClr val="000000"/>
                          </a:solidFill>
                          <a:latin typeface="+mn-lt"/>
                        </a:rPr>
                        <a:t>RAID </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a:solidFill>
                            <a:srgbClr val="000000"/>
                          </a:solidFill>
                          <a:latin typeface="+mn-lt"/>
                        </a:rPr>
                        <a:t>Resource </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a:solidFill>
                            <a:srgbClr val="000000"/>
                          </a:solidFill>
                          <a:latin typeface="+mn-lt"/>
                        </a:rPr>
                        <a:t>Financial </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smtClean="0">
                          <a:solidFill>
                            <a:srgbClr val="000000"/>
                          </a:solidFill>
                          <a:latin typeface="+mn-lt"/>
                        </a:rPr>
                        <a:t>Schedule</a:t>
                      </a:r>
                      <a:endParaRPr lang="en-GB" sz="700" b="1"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c>
                  <a:txBody>
                    <a:bodyPr/>
                    <a:lstStyle/>
                    <a:p>
                      <a:pPr algn="ctr" rtl="0" fontAlgn="ctr"/>
                      <a:r>
                        <a:rPr lang="en-GB" sz="700" b="1" i="0" u="none" strike="noStrike" dirty="0">
                          <a:solidFill>
                            <a:srgbClr val="000000"/>
                          </a:solidFill>
                          <a:latin typeface="+mn-lt"/>
                        </a:rPr>
                        <a:t>Vendor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2F2F2"/>
                    </a:solidFill>
                  </a:tcPr>
                </a:tc>
              </a:tr>
              <a:tr h="292456">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mn-lt"/>
                          <a:ea typeface="+mn-ea"/>
                          <a:cs typeface="+mn-cs"/>
                        </a:rPr>
                        <a:t>SharePoint</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kern="1200" dirty="0" smtClean="0">
                          <a:solidFill>
                            <a:srgbClr val="000000"/>
                          </a:solidFill>
                          <a:latin typeface="+mn-lt"/>
                          <a:ea typeface="+mn-ea"/>
                          <a:cs typeface="+mn-cs"/>
                        </a:rPr>
                        <a:t>RED</a:t>
                      </a:r>
                      <a:endParaRPr lang="en-GB" sz="700" b="0" i="0" u="none" strike="noStrike" kern="1200" dirty="0">
                        <a:solidFill>
                          <a:srgbClr val="000000"/>
                        </a:solidFill>
                        <a:latin typeface="+mn-lt"/>
                        <a:ea typeface="+mn-ea"/>
                        <a:cs typeface="+mn-cs"/>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kern="1200" dirty="0" smtClean="0">
                          <a:solidFill>
                            <a:srgbClr val="000000"/>
                          </a:solidFill>
                          <a:latin typeface="+mn-lt"/>
                          <a:ea typeface="+mn-ea"/>
                          <a:cs typeface="+mn-cs"/>
                        </a:rPr>
                        <a:t>RED</a:t>
                      </a:r>
                      <a:endParaRPr lang="en-GB" sz="700" b="0" i="0" u="none" strike="noStrike" kern="1200" dirty="0">
                        <a:solidFill>
                          <a:srgbClr val="000000"/>
                        </a:solidFill>
                        <a:latin typeface="+mn-lt"/>
                        <a:ea typeface="+mn-ea"/>
                        <a:cs typeface="+mn-cs"/>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kern="1200" dirty="0" smtClean="0">
                          <a:solidFill>
                            <a:srgbClr val="000000"/>
                          </a:solidFill>
                          <a:latin typeface="+mn-lt"/>
                          <a:ea typeface="+mn-ea"/>
                          <a:cs typeface="+mn-cs"/>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kern="1200" dirty="0" smtClean="0">
                          <a:solidFill>
                            <a:srgbClr val="000000"/>
                          </a:solidFill>
                          <a:latin typeface="+mn-lt"/>
                          <a:ea typeface="+mn-ea"/>
                          <a:cs typeface="+mn-cs"/>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kern="1200" dirty="0" smtClean="0">
                          <a:solidFill>
                            <a:srgbClr val="000000"/>
                          </a:solidFill>
                          <a:latin typeface="+mn-lt"/>
                          <a:ea typeface="+mn-ea"/>
                          <a:cs typeface="+mn-cs"/>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kern="1200" dirty="0" smtClean="0">
                          <a:solidFill>
                            <a:srgbClr val="000000"/>
                          </a:solidFill>
                          <a:latin typeface="+mn-lt"/>
                          <a:ea typeface="+mn-ea"/>
                          <a:cs typeface="+mn-cs"/>
                        </a:rPr>
                        <a:t>RED</a:t>
                      </a:r>
                      <a:endParaRPr lang="en-GB" sz="700" b="0" i="0" u="none" strike="noStrike" kern="1200" dirty="0">
                        <a:solidFill>
                          <a:srgbClr val="000000"/>
                        </a:solidFill>
                        <a:latin typeface="+mn-lt"/>
                        <a:ea typeface="+mn-ea"/>
                        <a:cs typeface="+mn-cs"/>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kern="1200" dirty="0" smtClean="0">
                          <a:solidFill>
                            <a:srgbClr val="000000"/>
                          </a:solidFill>
                          <a:latin typeface="+mn-lt"/>
                          <a:ea typeface="+mn-ea"/>
                          <a:cs typeface="+mn-cs"/>
                        </a:rPr>
                        <a:t>RED</a:t>
                      </a:r>
                      <a:endParaRPr lang="en-GB" sz="700" b="0" i="0" u="none" strike="noStrike" kern="1200" dirty="0">
                        <a:solidFill>
                          <a:srgbClr val="000000"/>
                        </a:solidFill>
                        <a:latin typeface="+mn-lt"/>
                        <a:ea typeface="+mn-ea"/>
                        <a:cs typeface="+mn-cs"/>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algn="ctr" defTabSz="914400" rtl="0" eaLnBrk="1" fontAlgn="ctr" latinLnBrk="0" hangingPunct="1"/>
                      <a:r>
                        <a:rPr lang="en-GB" sz="700" b="0" i="0" u="none" strike="noStrike" kern="1200" dirty="0" smtClean="0">
                          <a:solidFill>
                            <a:srgbClr val="000000"/>
                          </a:solidFill>
                          <a:latin typeface="+mn-lt"/>
                          <a:ea typeface="+mn-ea"/>
                          <a:cs typeface="+mn-cs"/>
                        </a:rPr>
                        <a:t>AMBER</a:t>
                      </a:r>
                      <a:endParaRPr lang="en-GB" sz="700" b="0" i="0" u="none" strike="noStrike" kern="1200" dirty="0">
                        <a:solidFill>
                          <a:srgbClr val="000000"/>
                        </a:solidFill>
                        <a:latin typeface="+mn-lt"/>
                        <a:ea typeface="+mn-ea"/>
                        <a:cs typeface="+mn-cs"/>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accent2"/>
                    </a:solidFill>
                  </a:tcPr>
                </a:tc>
                <a:tc>
                  <a:txBody>
                    <a:bodyPr/>
                    <a:lstStyle/>
                    <a:p>
                      <a:pPr marL="0" algn="ctr" defTabSz="914400" rtl="0" eaLnBrk="1" fontAlgn="ctr" latinLnBrk="0" hangingPunct="1"/>
                      <a:r>
                        <a:rPr lang="en-GB" sz="700" b="0" i="0" u="none" strike="noStrike" kern="1200" dirty="0" smtClean="0">
                          <a:solidFill>
                            <a:srgbClr val="000000"/>
                          </a:solidFill>
                          <a:latin typeface="+mn-lt"/>
                          <a:ea typeface="+mn-ea"/>
                          <a:cs typeface="+mn-cs"/>
                        </a:rPr>
                        <a:t>TBC</a:t>
                      </a:r>
                      <a:endParaRPr lang="en-GB" sz="700" b="0" i="0" u="none" strike="noStrike" kern="1200" dirty="0">
                        <a:solidFill>
                          <a:srgbClr val="000000"/>
                        </a:solidFill>
                        <a:latin typeface="+mn-lt"/>
                        <a:ea typeface="+mn-ea"/>
                        <a:cs typeface="+mn-cs"/>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r>
              <a:tr h="378092">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mn-lt"/>
                          <a:ea typeface="+mn-ea"/>
                          <a:cs typeface="+mn-cs"/>
                        </a:rPr>
                        <a:t>App &amp; Data</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algn="ctr" rtl="0" fontAlgn="ctr"/>
                      <a:r>
                        <a:rPr lang="en-GB" sz="700" b="0" i="0" u="none" strike="noStrike" dirty="0" smtClean="0">
                          <a:solidFill>
                            <a:srgbClr val="000000"/>
                          </a:solidFill>
                          <a:latin typeface="+mn-lt"/>
                        </a:rPr>
                        <a:t>RED</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GREEN</a:t>
                      </a:r>
                      <a:endParaRPr lang="en-GB" sz="700" b="0" i="0" u="none" strike="noStrike" kern="1200" dirty="0" smtClean="0">
                        <a:solidFill>
                          <a:srgbClr val="000000"/>
                        </a:solidFill>
                        <a:latin typeface="+mn-lt"/>
                        <a:ea typeface="+mn-ea"/>
                        <a:cs typeface="+mn-cs"/>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2C973E"/>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RED</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algn="ctr" rtl="0" fontAlgn="ctr"/>
                      <a:r>
                        <a:rPr lang="en-GB" sz="700" b="0" i="0" u="none" strike="noStrike" dirty="0" smtClean="0">
                          <a:solidFill>
                            <a:srgbClr val="000000"/>
                          </a:solidFill>
                          <a:latin typeface="+mn-lt"/>
                        </a:rPr>
                        <a:t>AMBER</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accent2"/>
                    </a:solidFill>
                  </a:tcPr>
                </a:tc>
                <a:tc>
                  <a:txBody>
                    <a:bodyPr/>
                    <a:lstStyle/>
                    <a:p>
                      <a:pPr algn="ctr" rtl="0" fontAlgn="ctr"/>
                      <a:r>
                        <a:rPr lang="en-GB" sz="700" b="0" i="0" u="none" strike="noStrike" dirty="0" smtClean="0">
                          <a:solidFill>
                            <a:srgbClr val="000000"/>
                          </a:solidFill>
                          <a:latin typeface="+mn-lt"/>
                        </a:rPr>
                        <a:t>TBC</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r>
              <a:tr h="343628">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mn-lt"/>
                          <a:ea typeface="+mn-ea"/>
                          <a:cs typeface="+mn-cs"/>
                        </a:rPr>
                        <a:t>Change Management</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RED</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GREEN</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2C973E"/>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algn="ctr" rtl="0" fontAlgn="ctr"/>
                      <a:r>
                        <a:rPr lang="en-GB" sz="700" b="0" i="0" u="none" strike="noStrike" dirty="0" smtClean="0">
                          <a:solidFill>
                            <a:srgbClr val="000000"/>
                          </a:solidFill>
                          <a:latin typeface="+mn-lt"/>
                        </a:rPr>
                        <a:t>AMBER</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algn="ctr" rtl="0" fontAlgn="ctr"/>
                      <a:r>
                        <a:rPr lang="en-GB" sz="700" b="0" i="0" u="none" strike="noStrike" dirty="0" smtClean="0">
                          <a:solidFill>
                            <a:srgbClr val="000000"/>
                          </a:solidFill>
                          <a:latin typeface="+mn-lt"/>
                        </a:rPr>
                        <a:t>TBC</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r>
              <a:tr h="348326">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mn-lt"/>
                          <a:ea typeface="+mn-ea"/>
                          <a:cs typeface="+mn-cs"/>
                        </a:rPr>
                        <a:t>Unified Communications</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RED</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GREEN</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2C973E"/>
                    </a:solidFill>
                  </a:tcPr>
                </a:tc>
                <a:tc>
                  <a:txBody>
                    <a:bodyPr/>
                    <a:lstStyle/>
                    <a:p>
                      <a:pPr algn="ctr" rtl="0" fontAlgn="ctr"/>
                      <a:r>
                        <a:rPr lang="en-GB" sz="700" b="0" i="0" u="none" strike="noStrike" dirty="0" smtClean="0">
                          <a:solidFill>
                            <a:srgbClr val="000000"/>
                          </a:solidFill>
                          <a:latin typeface="+mn-lt"/>
                        </a:rPr>
                        <a:t>AMBER</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accent2"/>
                    </a:solidFill>
                  </a:tcPr>
                </a:tc>
                <a:tc>
                  <a:txBody>
                    <a:bodyPr/>
                    <a:lstStyle/>
                    <a:p>
                      <a:pPr algn="ctr" rtl="0" fontAlgn="ctr"/>
                      <a:r>
                        <a:rPr lang="en-GB" sz="700" b="0" i="0" u="none" strike="noStrike" dirty="0" smtClean="0">
                          <a:solidFill>
                            <a:srgbClr val="000000"/>
                          </a:solidFill>
                          <a:latin typeface="+mn-lt"/>
                        </a:rPr>
                        <a:t>TBC</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r>
              <a:tr h="254402">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mn-lt"/>
                          <a:ea typeface="+mn-ea"/>
                          <a:cs typeface="+mn-cs"/>
                        </a:rPr>
                        <a:t>Tech Foundation</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RED</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algn="ctr" rtl="0" fontAlgn="ctr"/>
                      <a:r>
                        <a:rPr lang="en-GB" sz="700" b="0" i="0" u="none" strike="noStrike" dirty="0" smtClean="0">
                          <a:solidFill>
                            <a:srgbClr val="000000"/>
                          </a:solidFill>
                          <a:latin typeface="+mn-lt"/>
                        </a:rPr>
                        <a:t>AMBER</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accent2"/>
                    </a:solidFill>
                  </a:tcPr>
                </a:tc>
                <a:tc>
                  <a:txBody>
                    <a:bodyPr/>
                    <a:lstStyle/>
                    <a:p>
                      <a:pPr algn="ctr" rtl="0" fontAlgn="ctr"/>
                      <a:r>
                        <a:rPr lang="en-GB" sz="700" b="0" i="0" u="none" strike="noStrike" dirty="0" smtClean="0">
                          <a:solidFill>
                            <a:srgbClr val="000000"/>
                          </a:solidFill>
                          <a:latin typeface="+mn-lt"/>
                        </a:rPr>
                        <a:t>TBC</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r>
              <a:tr h="276172">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mn-lt"/>
                          <a:ea typeface="+mn-ea"/>
                          <a:cs typeface="+mn-cs"/>
                        </a:rPr>
                        <a:t>IT Transition Management</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AMBER</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AMBER</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GREEN</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2C973E"/>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GREEN</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2C973E"/>
                    </a:solidFill>
                  </a:tcPr>
                </a:tc>
                <a:tc>
                  <a:txBody>
                    <a:bodyPr/>
                    <a:lstStyle/>
                    <a:p>
                      <a:pPr algn="ctr" rtl="0" fontAlgn="ctr"/>
                      <a:r>
                        <a:rPr lang="en-GB" sz="700" b="0" i="0" u="none" strike="noStrike" dirty="0" smtClean="0">
                          <a:solidFill>
                            <a:srgbClr val="000000"/>
                          </a:solidFill>
                          <a:latin typeface="+mn-lt"/>
                        </a:rPr>
                        <a:t>AMBER</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accent2"/>
                    </a:solidFill>
                  </a:tcPr>
                </a:tc>
                <a:tc>
                  <a:txBody>
                    <a:bodyPr/>
                    <a:lstStyle/>
                    <a:p>
                      <a:pPr algn="ctr" rtl="0" fontAlgn="ctr"/>
                      <a:r>
                        <a:rPr lang="en-GB" sz="700" b="0" i="0" u="none" strike="noStrike" dirty="0" smtClean="0">
                          <a:solidFill>
                            <a:srgbClr val="000000"/>
                          </a:solidFill>
                          <a:latin typeface="+mn-lt"/>
                        </a:rPr>
                        <a:t>TBC</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r>
              <a:tr h="276172">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mn-lt"/>
                          <a:ea typeface="+mn-ea"/>
                          <a:cs typeface="+mn-cs"/>
                        </a:rPr>
                        <a:t>Business Deployment</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TBC</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FFFF"/>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FFFF"/>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FFFF"/>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FFFF"/>
                    </a:solidFill>
                  </a:tcPr>
                </a:tc>
                <a:tc>
                  <a:txBody>
                    <a:bodyPr/>
                    <a:lstStyle/>
                    <a:p>
                      <a:pPr algn="ctr" rtl="0" fontAlgn="ctr"/>
                      <a:r>
                        <a:rPr lang="en-GB" sz="700" b="0" i="0" u="none" strike="noStrike" dirty="0" smtClean="0">
                          <a:solidFill>
                            <a:srgbClr val="000000"/>
                          </a:solidFill>
                          <a:latin typeface="+mn-lt"/>
                        </a:rPr>
                        <a:t>TBC</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FFFF"/>
                    </a:solidFill>
                  </a:tcPr>
                </a:tc>
                <a:tc>
                  <a:txBody>
                    <a:bodyPr/>
                    <a:lstStyle/>
                    <a:p>
                      <a:pPr algn="ctr" rtl="0" fontAlgn="ctr"/>
                      <a:r>
                        <a:rPr lang="en-GB" sz="700" b="0" i="0" u="none" strike="noStrike" dirty="0" smtClean="0">
                          <a:solidFill>
                            <a:srgbClr val="000000"/>
                          </a:solidFill>
                          <a:latin typeface="+mn-lt"/>
                        </a:rPr>
                        <a:t>TBC</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algn="ctr" rtl="0" fontAlgn="ctr"/>
                      <a:r>
                        <a:rPr lang="en-GB" sz="700" b="0" i="0" u="none" strike="noStrike" dirty="0" smtClean="0">
                          <a:solidFill>
                            <a:srgbClr val="000000"/>
                          </a:solidFill>
                          <a:latin typeface="+mn-lt"/>
                        </a:rPr>
                        <a:t>TBC</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r>
              <a:tr h="276172">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mn-lt"/>
                          <a:ea typeface="+mn-ea"/>
                          <a:cs typeface="+mn-cs"/>
                        </a:rPr>
                        <a:t>TOM</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TBC</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FFFF"/>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FFFF"/>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FFFF"/>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FFFF"/>
                    </a:solidFill>
                  </a:tcPr>
                </a:tc>
                <a:tc>
                  <a:txBody>
                    <a:bodyPr/>
                    <a:lstStyle/>
                    <a:p>
                      <a:pPr algn="ctr" rtl="0" fontAlgn="ctr"/>
                      <a:r>
                        <a:rPr lang="en-GB" sz="700" b="0" i="0" u="none" strike="noStrike" dirty="0" smtClean="0">
                          <a:solidFill>
                            <a:srgbClr val="000000"/>
                          </a:solidFill>
                          <a:latin typeface="+mn-lt"/>
                        </a:rPr>
                        <a:t>TBC</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FFFF"/>
                    </a:solidFill>
                  </a:tcPr>
                </a:tc>
                <a:tc>
                  <a:txBody>
                    <a:bodyPr/>
                    <a:lstStyle/>
                    <a:p>
                      <a:pPr algn="ctr" rtl="0" fontAlgn="ctr"/>
                      <a:r>
                        <a:rPr lang="en-GB" sz="700" b="0" i="0" u="none" strike="noStrike" dirty="0" smtClean="0">
                          <a:solidFill>
                            <a:srgbClr val="000000"/>
                          </a:solidFill>
                          <a:latin typeface="+mn-lt"/>
                        </a:rPr>
                        <a:t>TBC</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algn="ctr" rtl="0" fontAlgn="ctr"/>
                      <a:r>
                        <a:rPr lang="en-GB" sz="700" b="0" i="0" u="none" strike="noStrike" dirty="0" smtClean="0">
                          <a:solidFill>
                            <a:srgbClr val="000000"/>
                          </a:solidFill>
                          <a:latin typeface="+mn-lt"/>
                        </a:rPr>
                        <a:t>TBC</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r>
              <a:tr h="276172">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1" i="0" u="none" strike="noStrike" kern="1200" cap="none" normalizeH="0" baseline="0" dirty="0" smtClean="0">
                          <a:ln>
                            <a:noFill/>
                          </a:ln>
                          <a:solidFill>
                            <a:srgbClr val="000000"/>
                          </a:solidFill>
                          <a:effectLst/>
                          <a:latin typeface="+mn-lt"/>
                          <a:ea typeface="+mn-ea"/>
                          <a:cs typeface="+mn-cs"/>
                        </a:rPr>
                        <a:t>Release Management</a:t>
                      </a:r>
                    </a:p>
                  </a:txBody>
                  <a:tcPr marL="34208" marR="34208" marT="13683" marB="13683" anchor="ctr" horzOverflow="overflow">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TBC</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algn="ctr" rtl="0" fontAlgn="ctr"/>
                      <a:r>
                        <a:rPr lang="en-GB" sz="700" b="0" i="0" u="none" strike="noStrike" dirty="0" smtClean="0">
                          <a:solidFill>
                            <a:srgbClr val="000000"/>
                          </a:solidFill>
                          <a:latin typeface="+mn-lt"/>
                        </a:rPr>
                        <a:t>TBC</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algn="ctr" rtl="0" fontAlgn="ctr"/>
                      <a:r>
                        <a:rPr lang="en-GB" sz="700" b="0" i="0" u="none" strike="noStrike" dirty="0" smtClean="0">
                          <a:solidFill>
                            <a:srgbClr val="000000"/>
                          </a:solidFill>
                          <a:latin typeface="+mn-lt"/>
                        </a:rPr>
                        <a:t>TBC</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TBC</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algn="ctr" rtl="0" fontAlgn="ctr"/>
                      <a:r>
                        <a:rPr lang="en-GB" sz="700" b="0" i="0" u="none" strike="noStrike" dirty="0" smtClean="0">
                          <a:solidFill>
                            <a:srgbClr val="000000"/>
                          </a:solidFill>
                          <a:latin typeface="+mn-lt"/>
                        </a:rPr>
                        <a:t>TBC</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c>
                  <a:txBody>
                    <a:bodyPr/>
                    <a:lstStyle/>
                    <a:p>
                      <a:pPr algn="ctr" rtl="0" fontAlgn="ctr"/>
                      <a:r>
                        <a:rPr lang="en-GB" sz="700" b="0" i="0" u="none" strike="noStrike" dirty="0" smtClean="0">
                          <a:solidFill>
                            <a:srgbClr val="000000"/>
                          </a:solidFill>
                          <a:latin typeface="+mn-lt"/>
                        </a:rPr>
                        <a:t>TBC</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r>
              <a:tr h="328896">
                <a:tc>
                  <a:txBody>
                    <a:bodyPr/>
                    <a:lstStyle/>
                    <a:p>
                      <a:pPr algn="ctr" rtl="0" fontAlgn="ctr"/>
                      <a:r>
                        <a:rPr lang="en-GB" sz="700" b="1" i="0" u="none" strike="noStrike" dirty="0" smtClean="0">
                          <a:solidFill>
                            <a:srgbClr val="000000"/>
                          </a:solidFill>
                          <a:latin typeface="+mn-lt"/>
                        </a:rPr>
                        <a:t>Overall</a:t>
                      </a:r>
                      <a:endParaRPr lang="en-GB" sz="700" b="1"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RED</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algn="ctr" rtl="0" fontAlgn="ctr"/>
                      <a:r>
                        <a:rPr lang="en-GB" sz="700" b="0" i="0" u="none" strike="noStrike" dirty="0" smtClean="0">
                          <a:solidFill>
                            <a:srgbClr val="000000"/>
                          </a:solidFill>
                          <a:latin typeface="+mn-lt"/>
                        </a:rPr>
                        <a:t>RED</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algn="ctr" rtl="0" fontAlgn="ctr"/>
                      <a:r>
                        <a:rPr lang="en-GB" sz="700" b="0" i="0" u="none" strike="noStrike" dirty="0" smtClean="0">
                          <a:solidFill>
                            <a:srgbClr val="000000"/>
                          </a:solidFill>
                          <a:latin typeface="+mn-lt"/>
                        </a:rPr>
                        <a:t>RED</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700" b="0" i="0" u="none" strike="noStrike" dirty="0" smtClean="0">
                          <a:solidFill>
                            <a:srgbClr val="000000"/>
                          </a:solidFill>
                          <a:latin typeface="+mn-lt"/>
                        </a:rPr>
                        <a:t>RED</a:t>
                      </a: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algn="ctr" rtl="0" fontAlgn="ctr"/>
                      <a:r>
                        <a:rPr lang="en-GB" sz="700" b="0" i="0" u="none" strike="noStrike" dirty="0" smtClean="0">
                          <a:solidFill>
                            <a:srgbClr val="000000"/>
                          </a:solidFill>
                          <a:latin typeface="+mn-lt"/>
                        </a:rPr>
                        <a:t>RED</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0000"/>
                    </a:solidFill>
                  </a:tcPr>
                </a:tc>
                <a:tc>
                  <a:txBody>
                    <a:bodyPr/>
                    <a:lstStyle/>
                    <a:p>
                      <a:pPr algn="ctr" rtl="0" fontAlgn="ctr"/>
                      <a:r>
                        <a:rPr lang="en-GB" sz="700" b="0" i="0" u="none" strike="noStrike" dirty="0" smtClean="0">
                          <a:solidFill>
                            <a:srgbClr val="000000"/>
                          </a:solidFill>
                          <a:latin typeface="+mn-lt"/>
                        </a:rPr>
                        <a:t>TBC</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rgbClr val="FFC000"/>
                    </a:solidFill>
                  </a:tcPr>
                </a:tc>
                <a:tc>
                  <a:txBody>
                    <a:bodyPr/>
                    <a:lstStyle/>
                    <a:p>
                      <a:pPr algn="ctr" rtl="0" fontAlgn="ctr"/>
                      <a:r>
                        <a:rPr lang="en-GB" sz="700" b="0" i="0" u="none" strike="noStrike" dirty="0" smtClean="0">
                          <a:solidFill>
                            <a:srgbClr val="000000"/>
                          </a:solidFill>
                          <a:latin typeface="+mn-lt"/>
                        </a:rPr>
                        <a:t>TBC</a:t>
                      </a:r>
                      <a:endParaRPr lang="en-GB" sz="700" b="0" i="0" u="none" strike="noStrike" dirty="0">
                        <a:solidFill>
                          <a:srgbClr val="000000"/>
                        </a:solidFill>
                        <a:latin typeface="+mn-lt"/>
                      </a:endParaRPr>
                    </a:p>
                  </a:txBody>
                  <a:tcPr marL="9525" marR="9525" marT="9525" marB="0" anchor="ctr">
                    <a:lnL w="6350" cap="flat" cmpd="sng" algn="ctr">
                      <a:solidFill>
                        <a:srgbClr val="FFD200"/>
                      </a:solidFill>
                      <a:prstDash val="solid"/>
                      <a:round/>
                      <a:headEnd type="none" w="med" len="med"/>
                      <a:tailEnd type="none" w="med" len="med"/>
                    </a:lnL>
                    <a:lnR w="6350" cap="flat" cmpd="sng" algn="ctr">
                      <a:solidFill>
                        <a:srgbClr val="FFD200"/>
                      </a:solidFill>
                      <a:prstDash val="solid"/>
                      <a:round/>
                      <a:headEnd type="none" w="med" len="med"/>
                      <a:tailEnd type="none" w="med" len="med"/>
                    </a:lnR>
                    <a:lnT w="6350" cap="flat" cmpd="sng" algn="ctr">
                      <a:solidFill>
                        <a:srgbClr val="FFD200"/>
                      </a:solidFill>
                      <a:prstDash val="solid"/>
                      <a:round/>
                      <a:headEnd type="none" w="med" len="med"/>
                      <a:tailEnd type="none" w="med" len="med"/>
                    </a:lnT>
                    <a:lnB w="6350" cap="flat" cmpd="sng" algn="ctr">
                      <a:solidFill>
                        <a:srgbClr val="FFD200"/>
                      </a:solidFill>
                      <a:prstDash val="solid"/>
                      <a:round/>
                      <a:headEnd type="none" w="med" len="med"/>
                      <a:tailEnd type="none" w="med" len="med"/>
                    </a:lnB>
                    <a:solidFill>
                      <a:schemeClr val="bg1"/>
                    </a:solidFill>
                  </a:tcPr>
                </a:tc>
              </a:tr>
            </a:tbl>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Appendix A – ABCD Reports.</a:t>
            </a:r>
            <a:endParaRPr lang="en-GB"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44" name="Group 272"/>
          <p:cNvGraphicFramePr>
            <a:graphicFrameLocks noGrp="1"/>
          </p:cNvGraphicFramePr>
          <p:nvPr>
            <p:extLst>
              <p:ext uri="{D42A27DB-BD31-4B8C-83A1-F6EECF244321}">
                <p14:modId xmlns:p14="http://schemas.microsoft.com/office/powerpoint/2010/main" val="105224004"/>
              </p:ext>
            </p:extLst>
          </p:nvPr>
        </p:nvGraphicFramePr>
        <p:xfrm>
          <a:off x="150408" y="1772816"/>
          <a:ext cx="4288654" cy="3807502"/>
        </p:xfrm>
        <a:graphic>
          <a:graphicData uri="http://schemas.openxmlformats.org/drawingml/2006/table">
            <a:tbl>
              <a:tblPr/>
              <a:tblGrid>
                <a:gridCol w="4288654"/>
              </a:tblGrid>
              <a:tr h="154385">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smtClean="0">
                          <a:ln>
                            <a:noFill/>
                          </a:ln>
                          <a:solidFill>
                            <a:schemeClr val="tx1"/>
                          </a:solidFill>
                          <a:effectLst/>
                          <a:latin typeface="+mn-lt"/>
                        </a:rPr>
                        <a:t>B.  KEY ACCOMPLISHMENTS 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129185">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mn-lt"/>
                          <a:ea typeface="+mn-ea"/>
                          <a:cs typeface="+mn-cs"/>
                        </a:rPr>
                        <a:t>Benefits: (</a:t>
                      </a:r>
                      <a:r>
                        <a:rPr kumimoji="0" lang="en-GB" sz="700" b="0" i="0" u="none" strike="noStrike" kern="1200" cap="none" normalizeH="0" baseline="0" dirty="0" smtClean="0">
                          <a:ln>
                            <a:noFill/>
                          </a:ln>
                          <a:solidFill>
                            <a:srgbClr val="646464"/>
                          </a:solidFill>
                          <a:effectLst/>
                          <a:latin typeface="+mn-lt"/>
                          <a:ea typeface="+mn-ea"/>
                          <a:cs typeface="+mn-cs"/>
                        </a:rPr>
                        <a:t>1) Continued development of the refreshed M&amp;C Business Case, (2) Developed high level summary of potential </a:t>
                      </a:r>
                      <a:r>
                        <a:rPr kumimoji="0" lang="en-GB" sz="700" b="0" i="0" u="none" strike="noStrike" kern="1200" cap="none" normalizeH="0" baseline="0" dirty="0" err="1" smtClean="0">
                          <a:ln>
                            <a:noFill/>
                          </a:ln>
                          <a:solidFill>
                            <a:srgbClr val="646464"/>
                          </a:solidFill>
                          <a:effectLst/>
                          <a:latin typeface="+mn-lt"/>
                          <a:ea typeface="+mn-ea"/>
                          <a:cs typeface="+mn-cs"/>
                        </a:rPr>
                        <a:t>Lync</a:t>
                      </a:r>
                      <a:r>
                        <a:rPr kumimoji="0" lang="en-GB" sz="700" b="0" i="0" u="none" strike="noStrike" kern="1200" cap="none" normalizeH="0" baseline="0" dirty="0" smtClean="0">
                          <a:ln>
                            <a:noFill/>
                          </a:ln>
                          <a:solidFill>
                            <a:srgbClr val="646464"/>
                          </a:solidFill>
                          <a:effectLst/>
                          <a:latin typeface="+mn-lt"/>
                          <a:ea typeface="+mn-ea"/>
                          <a:cs typeface="+mn-cs"/>
                        </a:rPr>
                        <a:t> Benefits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err="1" smtClean="0">
                          <a:ln>
                            <a:noFill/>
                          </a:ln>
                          <a:solidFill>
                            <a:srgbClr val="646464"/>
                          </a:solidFill>
                          <a:effectLst/>
                          <a:latin typeface="+mn-lt"/>
                          <a:ea typeface="+mn-ea"/>
                          <a:cs typeface="+mn-cs"/>
                        </a:rPr>
                        <a:t>Comms</a:t>
                      </a:r>
                      <a:r>
                        <a:rPr kumimoji="0" lang="en-GB" sz="700" b="0" i="0" u="none" strike="noStrike" kern="1200" cap="none" normalizeH="0" baseline="0" dirty="0" smtClean="0">
                          <a:ln>
                            <a:noFill/>
                          </a:ln>
                          <a:solidFill>
                            <a:srgbClr val="646464"/>
                          </a:solidFill>
                          <a:effectLst/>
                          <a:latin typeface="+mn-lt"/>
                          <a:ea typeface="+mn-ea"/>
                          <a:cs typeface="+mn-cs"/>
                        </a:rPr>
                        <a:t>: (1) First review of M&amp;C refreshed </a:t>
                      </a:r>
                      <a:r>
                        <a:rPr kumimoji="0" lang="en-GB" sz="700" b="0" i="0" u="none" strike="noStrike" kern="1200" cap="none" normalizeH="0" baseline="0" dirty="0" err="1" smtClean="0">
                          <a:ln>
                            <a:noFill/>
                          </a:ln>
                          <a:solidFill>
                            <a:srgbClr val="646464"/>
                          </a:solidFill>
                          <a:effectLst/>
                          <a:latin typeface="+mn-lt"/>
                          <a:ea typeface="+mn-ea"/>
                          <a:cs typeface="+mn-cs"/>
                        </a:rPr>
                        <a:t>comms</a:t>
                      </a:r>
                      <a:r>
                        <a:rPr kumimoji="0" lang="en-GB" sz="700" b="0" i="0" u="none" strike="noStrike" kern="1200" cap="none" normalizeH="0" baseline="0" dirty="0" smtClean="0">
                          <a:ln>
                            <a:noFill/>
                          </a:ln>
                          <a:solidFill>
                            <a:srgbClr val="646464"/>
                          </a:solidFill>
                          <a:effectLst/>
                          <a:latin typeface="+mn-lt"/>
                          <a:ea typeface="+mn-ea"/>
                          <a:cs typeface="+mn-cs"/>
                        </a:rPr>
                        <a:t> strategy, (2) Decision on </a:t>
                      </a:r>
                      <a:r>
                        <a:rPr kumimoji="0" lang="en-GB" sz="700" b="0" i="0" u="none" strike="noStrike" kern="1200" cap="none" normalizeH="0" baseline="0" dirty="0" err="1" smtClean="0">
                          <a:ln>
                            <a:noFill/>
                          </a:ln>
                          <a:solidFill>
                            <a:srgbClr val="646464"/>
                          </a:solidFill>
                          <a:effectLst/>
                          <a:latin typeface="+mn-lt"/>
                          <a:ea typeface="+mn-ea"/>
                          <a:cs typeface="+mn-cs"/>
                        </a:rPr>
                        <a:t>Epipheo</a:t>
                      </a:r>
                      <a:r>
                        <a:rPr kumimoji="0" lang="en-GB" sz="700" b="0" i="0" u="none" strike="noStrike" kern="1200" cap="none" normalizeH="0" baseline="0" dirty="0" smtClean="0">
                          <a:ln>
                            <a:noFill/>
                          </a:ln>
                          <a:solidFill>
                            <a:srgbClr val="646464"/>
                          </a:solidFill>
                          <a:effectLst/>
                          <a:latin typeface="+mn-lt"/>
                          <a:ea typeface="+mn-ea"/>
                          <a:cs typeface="+mn-cs"/>
                        </a:rPr>
                        <a:t> voiceover artist, (3</a:t>
                      </a:r>
                      <a:r>
                        <a:rPr kumimoji="0" lang="en-GB" sz="700" b="0" i="0" u="none" strike="noStrike" kern="1200" cap="none" normalizeH="0" baseline="0" dirty="0" smtClean="0">
                          <a:ln>
                            <a:noFill/>
                          </a:ln>
                          <a:solidFill>
                            <a:srgbClr val="646464"/>
                          </a:solidFill>
                          <a:effectLst/>
                          <a:latin typeface="+mn-lt"/>
                          <a:ea typeface="+mn-ea"/>
                          <a:cs typeface="+mn-cs"/>
                        </a:rPr>
                        <a:t>)</a:t>
                      </a:r>
                      <a:endParaRPr kumimoji="0" lang="en-GB" sz="700" b="0" i="0" u="none" strike="noStrike" kern="1200" cap="none" normalizeH="0" baseline="0" dirty="0" smtClean="0">
                        <a:ln>
                          <a:noFill/>
                        </a:ln>
                        <a:solidFill>
                          <a:srgbClr val="646464"/>
                        </a:solidFill>
                        <a:effectLst/>
                        <a:latin typeface="+mn-lt"/>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dirty="0" smtClean="0">
                        <a:ln>
                          <a:noFill/>
                        </a:ln>
                        <a:solidFill>
                          <a:srgbClr val="FF0000"/>
                        </a:solidFill>
                        <a:effectLst/>
                        <a:latin typeface="+mn-lt"/>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r h="183776">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smtClean="0">
                          <a:ln>
                            <a:noFill/>
                          </a:ln>
                          <a:solidFill>
                            <a:schemeClr val="tx1"/>
                          </a:solidFill>
                          <a:effectLst/>
                          <a:latin typeface="+mn-lt"/>
                        </a:rPr>
                        <a:t>C.  ACTIVITIES BEHIND SCHEDULE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786581">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err="1" smtClean="0">
                          <a:ln>
                            <a:noFill/>
                          </a:ln>
                          <a:solidFill>
                            <a:srgbClr val="646464"/>
                          </a:solidFill>
                          <a:effectLst/>
                          <a:latin typeface="+mn-lt"/>
                          <a:ea typeface="+mn-ea"/>
                          <a:cs typeface="+mn-cs"/>
                        </a:rPr>
                        <a:t>Comms</a:t>
                      </a:r>
                      <a:r>
                        <a:rPr kumimoji="0" lang="en-US" sz="700" b="0" i="0" u="none" strike="noStrike" kern="1200" cap="none" normalizeH="0" baseline="0" dirty="0" smtClean="0">
                          <a:ln>
                            <a:noFill/>
                          </a:ln>
                          <a:solidFill>
                            <a:srgbClr val="646464"/>
                          </a:solidFill>
                          <a:effectLst/>
                          <a:latin typeface="+mn-lt"/>
                          <a:ea typeface="+mn-ea"/>
                          <a:cs typeface="+mn-cs"/>
                        </a:rPr>
                        <a:t>: (1) Progress visual design themes, (2) revised </a:t>
                      </a:r>
                      <a:r>
                        <a:rPr kumimoji="0" lang="en-US" sz="700" b="0" i="0" u="none" strike="noStrike" kern="1200" cap="none" normalizeH="0" baseline="0" dirty="0" err="1" smtClean="0">
                          <a:ln>
                            <a:noFill/>
                          </a:ln>
                          <a:solidFill>
                            <a:srgbClr val="646464"/>
                          </a:solidFill>
                          <a:effectLst/>
                          <a:latin typeface="+mn-lt"/>
                          <a:ea typeface="+mn-ea"/>
                          <a:cs typeface="+mn-cs"/>
                        </a:rPr>
                        <a:t>comms</a:t>
                      </a:r>
                      <a:r>
                        <a:rPr kumimoji="0" lang="en-US" sz="700" b="0" i="0" u="none" strike="noStrike" kern="1200" cap="none" normalizeH="0" baseline="0" dirty="0" smtClean="0">
                          <a:ln>
                            <a:noFill/>
                          </a:ln>
                          <a:solidFill>
                            <a:srgbClr val="646464"/>
                          </a:solidFill>
                          <a:effectLst/>
                          <a:latin typeface="+mn-lt"/>
                          <a:ea typeface="+mn-ea"/>
                          <a:cs typeface="+mn-cs"/>
                        </a:rPr>
                        <a:t> strategy and plan</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dirty="0" smtClean="0">
                        <a:ln>
                          <a:noFill/>
                        </a:ln>
                        <a:solidFill>
                          <a:srgbClr val="FF0000"/>
                        </a:solidFill>
                        <a:effectLst/>
                        <a:latin typeface="+mn-lt"/>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64937">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mn-lt"/>
                        </a:rPr>
                        <a:t>D.  KEY ACTIVITIES PLANNED NEXT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38863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err="1" smtClean="0">
                          <a:ln>
                            <a:noFill/>
                          </a:ln>
                          <a:solidFill>
                            <a:srgbClr val="646464"/>
                          </a:solidFill>
                          <a:effectLst/>
                          <a:latin typeface="+mn-lt"/>
                          <a:ea typeface="+mn-ea"/>
                          <a:cs typeface="+mn-cs"/>
                        </a:rPr>
                        <a:t>Comms</a:t>
                      </a:r>
                      <a:r>
                        <a:rPr kumimoji="0" lang="en-US" sz="700" b="0" i="0" u="none" strike="noStrike" kern="1200" cap="none" normalizeH="0" baseline="0" dirty="0" smtClean="0">
                          <a:ln>
                            <a:noFill/>
                          </a:ln>
                          <a:solidFill>
                            <a:srgbClr val="646464"/>
                          </a:solidFill>
                          <a:effectLst/>
                          <a:latin typeface="+mn-lt"/>
                          <a:ea typeface="+mn-ea"/>
                          <a:cs typeface="+mn-cs"/>
                        </a:rPr>
                        <a:t>: (1) </a:t>
                      </a:r>
                      <a:r>
                        <a:rPr kumimoji="0" lang="en-GB" sz="700" b="0" i="0" u="none" strike="noStrike" kern="1200" cap="none" normalizeH="0" baseline="0" dirty="0" smtClean="0">
                          <a:ln>
                            <a:noFill/>
                          </a:ln>
                          <a:solidFill>
                            <a:srgbClr val="646464"/>
                          </a:solidFill>
                          <a:effectLst/>
                          <a:latin typeface="+mn-lt"/>
                          <a:ea typeface="+mn-ea"/>
                          <a:cs typeface="+mn-cs"/>
                        </a:rPr>
                        <a:t>Develop communications plan and strategy following 1st drafts, (2) Develop </a:t>
                      </a:r>
                      <a:r>
                        <a:rPr kumimoji="0" lang="en-GB" sz="700" b="0" i="0" u="none" strike="noStrike" kern="1200" cap="none" normalizeH="0" baseline="0" dirty="0" err="1" smtClean="0">
                          <a:ln>
                            <a:noFill/>
                          </a:ln>
                          <a:solidFill>
                            <a:srgbClr val="646464"/>
                          </a:solidFill>
                          <a:effectLst/>
                          <a:latin typeface="+mn-lt"/>
                          <a:ea typeface="+mn-ea"/>
                          <a:cs typeface="+mn-cs"/>
                        </a:rPr>
                        <a:t>Epipheo</a:t>
                      </a:r>
                      <a:r>
                        <a:rPr kumimoji="0" lang="en-GB" sz="700" b="0" i="0" u="none" strike="noStrike" kern="1200" cap="none" normalizeH="0" baseline="0" dirty="0" smtClean="0">
                          <a:ln>
                            <a:noFill/>
                          </a:ln>
                          <a:solidFill>
                            <a:srgbClr val="646464"/>
                          </a:solidFill>
                          <a:effectLst/>
                          <a:latin typeface="+mn-lt"/>
                          <a:ea typeface="+mn-ea"/>
                          <a:cs typeface="+mn-cs"/>
                        </a:rPr>
                        <a:t> animation story based on </a:t>
                      </a:r>
                      <a:r>
                        <a:rPr kumimoji="0" lang="en-GB" sz="700" b="0" i="0" u="none" strike="noStrike" kern="1200" cap="none" normalizeH="0" baseline="0" dirty="0" err="1" smtClean="0">
                          <a:ln>
                            <a:noFill/>
                          </a:ln>
                          <a:solidFill>
                            <a:srgbClr val="646464"/>
                          </a:solidFill>
                          <a:effectLst/>
                          <a:latin typeface="+mn-lt"/>
                          <a:ea typeface="+mn-ea"/>
                          <a:cs typeface="+mn-cs"/>
                        </a:rPr>
                        <a:t>Comms</a:t>
                      </a:r>
                      <a:r>
                        <a:rPr kumimoji="0" lang="en-GB" sz="700" b="0" i="0" u="none" strike="noStrike" kern="1200" cap="none" normalizeH="0" baseline="0" dirty="0" smtClean="0">
                          <a:ln>
                            <a:noFill/>
                          </a:ln>
                          <a:solidFill>
                            <a:srgbClr val="646464"/>
                          </a:solidFill>
                          <a:effectLst/>
                          <a:latin typeface="+mn-lt"/>
                          <a:ea typeface="+mn-ea"/>
                          <a:cs typeface="+mn-cs"/>
                        </a:rPr>
                        <a:t> feedback, (3)  Start work on one-pager for stakeholders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mn-lt"/>
                          <a:ea typeface="+mn-ea"/>
                          <a:cs typeface="+mn-cs"/>
                        </a:rPr>
                        <a:t>Outlook and </a:t>
                      </a:r>
                      <a:r>
                        <a:rPr kumimoji="0" lang="en-US" sz="700" b="0" i="0" u="none" strike="noStrike" kern="1200" cap="none" normalizeH="0" baseline="0" dirty="0" err="1" smtClean="0">
                          <a:ln>
                            <a:noFill/>
                          </a:ln>
                          <a:solidFill>
                            <a:srgbClr val="646464"/>
                          </a:solidFill>
                          <a:effectLst/>
                          <a:latin typeface="+mn-lt"/>
                          <a:ea typeface="+mn-ea"/>
                          <a:cs typeface="+mn-cs"/>
                        </a:rPr>
                        <a:t>Lync</a:t>
                      </a:r>
                      <a:r>
                        <a:rPr kumimoji="0" lang="en-US" sz="700" b="0" i="0" u="none" strike="noStrike" kern="1200" cap="none" normalizeH="0" baseline="0" dirty="0" smtClean="0">
                          <a:ln>
                            <a:noFill/>
                          </a:ln>
                          <a:solidFill>
                            <a:srgbClr val="646464"/>
                          </a:solidFill>
                          <a:effectLst/>
                          <a:latin typeface="+mn-lt"/>
                          <a:ea typeface="+mn-ea"/>
                          <a:cs typeface="+mn-cs"/>
                        </a:rPr>
                        <a:t>: (1) </a:t>
                      </a:r>
                      <a:r>
                        <a:rPr kumimoji="0" lang="en-GB" sz="700" b="0" i="0" u="none" strike="noStrike" kern="1200" cap="none" normalizeH="0" baseline="0" dirty="0" smtClean="0">
                          <a:ln>
                            <a:noFill/>
                          </a:ln>
                          <a:solidFill>
                            <a:srgbClr val="646464"/>
                          </a:solidFill>
                          <a:effectLst/>
                          <a:latin typeface="+mn-lt"/>
                          <a:ea typeface="+mn-ea"/>
                          <a:cs typeface="+mn-cs"/>
                        </a:rPr>
                        <a:t>Complete Impact Assessment update, (2) Set up and run sessions with ‘approvers’ within L&amp;O governance proposal to run through governance and confirm the right people have been identified</a:t>
                      </a:r>
                    </a:p>
                    <a:p>
                      <a:pPr marL="85725" marR="0" lvl="0" indent="-85725" algn="l" defTabSz="947738" rtl="0" eaLnBrk="0" fontAlgn="base" latinLnBrk="0" hangingPunct="0">
                        <a:lnSpc>
                          <a:spcPct val="100000"/>
                        </a:lnSpc>
                        <a:spcBef>
                          <a:spcPct val="0"/>
                        </a:spcBef>
                        <a:spcAft>
                          <a:spcPct val="10000"/>
                        </a:spcAft>
                        <a:buClrTx/>
                        <a:buSzTx/>
                        <a:buFontTx/>
                        <a:buNone/>
                        <a:tabLst/>
                        <a:defRPr/>
                      </a:pPr>
                      <a:endParaRPr kumimoji="0" lang="en-US" sz="700" b="0" i="0" u="none" strike="noStrike" kern="1200" cap="none" normalizeH="0" baseline="0" dirty="0" smtClean="0">
                        <a:ln>
                          <a:noFill/>
                        </a:ln>
                        <a:solidFill>
                          <a:srgbClr val="646464"/>
                        </a:solidFill>
                        <a:effectLst/>
                        <a:latin typeface="+mn-lt"/>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3317" name="Group 245"/>
          <p:cNvGraphicFramePr>
            <a:graphicFrameLocks noGrp="1"/>
          </p:cNvGraphicFramePr>
          <p:nvPr>
            <p:extLst>
              <p:ext uri="{D42A27DB-BD31-4B8C-83A1-F6EECF244321}">
                <p14:modId xmlns:p14="http://schemas.microsoft.com/office/powerpoint/2010/main" val="1409180796"/>
              </p:ext>
            </p:extLst>
          </p:nvPr>
        </p:nvGraphicFramePr>
        <p:xfrm>
          <a:off x="118582" y="570690"/>
          <a:ext cx="4320480" cy="1058111"/>
        </p:xfrm>
        <a:graphic>
          <a:graphicData uri="http://schemas.openxmlformats.org/drawingml/2006/table">
            <a:tbl>
              <a:tblPr/>
              <a:tblGrid>
                <a:gridCol w="4320480"/>
              </a:tblGrid>
              <a:tr h="143867">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mn-lt"/>
                        </a:rPr>
                        <a:t>A.  </a:t>
                      </a:r>
                      <a:r>
                        <a:rPr kumimoji="0" lang="en-GB" sz="700" b="1" i="0" u="none" strike="noStrike" cap="none" normalizeH="0" baseline="0" dirty="0" smtClean="0">
                          <a:ln>
                            <a:noFill/>
                          </a:ln>
                          <a:solidFill>
                            <a:schemeClr val="tx1"/>
                          </a:solidFill>
                          <a:effectLst/>
                          <a:latin typeface="+mn-lt"/>
                        </a:rPr>
                        <a:t>EXECUTIVE SUMMARY – a summary of the progress for this period (not of the initiative)</a:t>
                      </a:r>
                      <a:endParaRPr kumimoji="0" lang="en-US" sz="700" b="1" i="0" u="none" strike="noStrike" cap="none" normalizeH="0" baseline="0" dirty="0" smtClean="0">
                        <a:ln>
                          <a:noFill/>
                        </a:ln>
                        <a:solidFill>
                          <a:schemeClr val="tx1"/>
                        </a:solidFill>
                        <a:effectLst/>
                        <a:latin typeface="+mn-lt"/>
                      </a:endParaRPr>
                    </a:p>
                  </a:txBody>
                  <a:tcPr marL="33231" marR="33231" marT="14400" marB="14400"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91424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err="1" smtClean="0">
                          <a:ln>
                            <a:noFill/>
                          </a:ln>
                          <a:solidFill>
                            <a:srgbClr val="646464"/>
                          </a:solidFill>
                          <a:effectLst/>
                          <a:latin typeface="+mn-lt"/>
                          <a:ea typeface="+mn-ea"/>
                          <a:cs typeface="+mn-cs"/>
                        </a:rPr>
                        <a:t>Comms</a:t>
                      </a:r>
                      <a:r>
                        <a:rPr kumimoji="0" lang="en-US" sz="700" b="0" i="0" u="none" strike="noStrike" kern="1200" cap="none" normalizeH="0" baseline="0" dirty="0" smtClean="0">
                          <a:ln>
                            <a:noFill/>
                          </a:ln>
                          <a:solidFill>
                            <a:srgbClr val="646464"/>
                          </a:solidFill>
                          <a:effectLst/>
                          <a:latin typeface="+mn-lt"/>
                          <a:ea typeface="+mn-ea"/>
                          <a:cs typeface="+mn-cs"/>
                        </a:rPr>
                        <a:t>: continuing to work on the creation and implementation of the </a:t>
                      </a:r>
                      <a:r>
                        <a:rPr kumimoji="0" lang="en-US" sz="700" b="0" i="0" u="none" strike="noStrike" kern="1200" cap="none" normalizeH="0" baseline="0" dirty="0" err="1" smtClean="0">
                          <a:ln>
                            <a:noFill/>
                          </a:ln>
                          <a:solidFill>
                            <a:srgbClr val="646464"/>
                          </a:solidFill>
                          <a:effectLst/>
                          <a:latin typeface="+mn-lt"/>
                          <a:ea typeface="+mn-ea"/>
                          <a:cs typeface="+mn-cs"/>
                        </a:rPr>
                        <a:t>comms</a:t>
                      </a:r>
                      <a:r>
                        <a:rPr kumimoji="0" lang="en-US" sz="700" b="0" i="0" u="none" strike="noStrike" kern="1200" cap="none" normalizeH="0" baseline="0" dirty="0" smtClean="0">
                          <a:ln>
                            <a:noFill/>
                          </a:ln>
                          <a:solidFill>
                            <a:srgbClr val="646464"/>
                          </a:solidFill>
                          <a:effectLst/>
                          <a:latin typeface="+mn-lt"/>
                          <a:ea typeface="+mn-ea"/>
                          <a:cs typeface="+mn-cs"/>
                        </a:rPr>
                        <a:t> strategy and to support the change management team.</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mn-lt"/>
                          <a:ea typeface="+mn-ea"/>
                          <a:cs typeface="+mn-cs"/>
                        </a:rPr>
                        <a:t>Learning : </a:t>
                      </a:r>
                      <a:r>
                        <a:rPr kumimoji="0" lang="en-GB" sz="700" b="0" i="0" u="none" strike="noStrike" kern="1200" cap="none" normalizeH="0" baseline="0" dirty="0" smtClean="0">
                          <a:ln>
                            <a:noFill/>
                          </a:ln>
                          <a:solidFill>
                            <a:srgbClr val="646464"/>
                          </a:solidFill>
                          <a:effectLst/>
                          <a:latin typeface="+mn-lt"/>
                          <a:ea typeface="+mn-ea"/>
                          <a:cs typeface="+mn-cs"/>
                        </a:rPr>
                        <a:t>Learning lead for Lync &amp; Outlook and </a:t>
                      </a:r>
                      <a:r>
                        <a:rPr kumimoji="0" lang="en-GB" sz="700" b="0" i="0" u="none" strike="noStrike" kern="1200" cap="none" normalizeH="0" baseline="0" dirty="0" err="1" smtClean="0">
                          <a:ln>
                            <a:noFill/>
                          </a:ln>
                          <a:solidFill>
                            <a:srgbClr val="646464"/>
                          </a:solidFill>
                          <a:effectLst/>
                          <a:latin typeface="+mn-lt"/>
                          <a:ea typeface="+mn-ea"/>
                          <a:cs typeface="+mn-cs"/>
                        </a:rPr>
                        <a:t>Sharepoint</a:t>
                      </a:r>
                      <a:r>
                        <a:rPr kumimoji="0" lang="en-GB" sz="700" b="0" i="0" u="none" strike="noStrike" kern="1200" cap="none" normalizeH="0" baseline="0" dirty="0" smtClean="0">
                          <a:ln>
                            <a:noFill/>
                          </a:ln>
                          <a:solidFill>
                            <a:srgbClr val="646464"/>
                          </a:solidFill>
                          <a:effectLst/>
                          <a:latin typeface="+mn-lt"/>
                          <a:ea typeface="+mn-ea"/>
                          <a:cs typeface="+mn-cs"/>
                        </a:rPr>
                        <a:t> not recruited, so limited activity beyond initial preparation, planning and learning inventory creation</a:t>
                      </a:r>
                      <a:r>
                        <a:rPr kumimoji="0" lang="en-GB" sz="700" b="0" i="0" u="none" strike="noStrike" kern="1200" cap="none" normalizeH="0" baseline="0" dirty="0" smtClean="0">
                          <a:ln>
                            <a:noFill/>
                          </a:ln>
                          <a:solidFill>
                            <a:srgbClr val="646464"/>
                          </a:solidFill>
                          <a:effectLst/>
                          <a:latin typeface="+mn-lt"/>
                          <a:ea typeface="+mn-ea"/>
                          <a:cs typeface="+mn-cs"/>
                        </a:rPr>
                        <a:t>.</a:t>
                      </a:r>
                      <a:endParaRPr kumimoji="0" lang="en-GB" sz="700" b="0" i="0" u="none" strike="noStrike" kern="1200" cap="none" normalizeH="0" baseline="0" dirty="0" smtClean="0">
                        <a:ln>
                          <a:noFill/>
                        </a:ln>
                        <a:solidFill>
                          <a:srgbClr val="646464"/>
                        </a:solidFill>
                        <a:effectLst/>
                        <a:latin typeface="+mn-lt"/>
                        <a:ea typeface="+mn-ea"/>
                        <a:cs typeface="+mn-cs"/>
                      </a:endParaRPr>
                    </a:p>
                  </a:txBody>
                  <a:tcPr marL="33231" marR="33231" marT="14400" marB="14400"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15" name="Group 270"/>
          <p:cNvGraphicFramePr>
            <a:graphicFrameLocks noGrp="1"/>
          </p:cNvGraphicFramePr>
          <p:nvPr/>
        </p:nvGraphicFramePr>
        <p:xfrm>
          <a:off x="7429777" y="44624"/>
          <a:ext cx="1503209" cy="465206"/>
        </p:xfrm>
        <a:graphic>
          <a:graphicData uri="http://schemas.openxmlformats.org/drawingml/2006/table">
            <a:tbl>
              <a:tblPr/>
              <a:tblGrid>
                <a:gridCol w="751604"/>
                <a:gridCol w="751605"/>
              </a:tblGrid>
              <a:tr h="131895">
                <a:tc gridSpan="2">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OVERALL INITIATIVE STATUS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63430">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6773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646464"/>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646464"/>
                        </a:solidFill>
                        <a:effectLst/>
                        <a:latin typeface="EYInterstate Light"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graphicFrame>
        <p:nvGraphicFramePr>
          <p:cNvPr id="18" name="Group 270"/>
          <p:cNvGraphicFramePr>
            <a:graphicFrameLocks noGrp="1"/>
          </p:cNvGraphicFramePr>
          <p:nvPr/>
        </p:nvGraphicFramePr>
        <p:xfrm>
          <a:off x="1187624" y="6585504"/>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04C3E"/>
                    </a:solidFill>
                  </a:tcPr>
                </a:tc>
              </a:tr>
            </a:tbl>
          </a:graphicData>
        </a:graphic>
      </p:graphicFrame>
      <p:graphicFrame>
        <p:nvGraphicFramePr>
          <p:cNvPr id="19" name="Group 270"/>
          <p:cNvGraphicFramePr>
            <a:graphicFrameLocks noGrp="1"/>
          </p:cNvGraphicFramePr>
          <p:nvPr/>
        </p:nvGraphicFramePr>
        <p:xfrm>
          <a:off x="4019816" y="6585320"/>
          <a:ext cx="483613" cy="88326"/>
        </p:xfrm>
        <a:graphic>
          <a:graphicData uri="http://schemas.openxmlformats.org/drawingml/2006/table">
            <a:tbl>
              <a:tblPr/>
              <a:tblGrid>
                <a:gridCol w="483613"/>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20" name="Group 270"/>
          <p:cNvGraphicFramePr>
            <a:graphicFrameLocks noGrp="1"/>
          </p:cNvGraphicFramePr>
          <p:nvPr/>
        </p:nvGraphicFramePr>
        <p:xfrm>
          <a:off x="6516216" y="6573472"/>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graphicFrame>
        <p:nvGraphicFramePr>
          <p:cNvPr id="22" name="Group 270"/>
          <p:cNvGraphicFramePr>
            <a:graphicFrameLocks noGrp="1"/>
          </p:cNvGraphicFramePr>
          <p:nvPr/>
        </p:nvGraphicFramePr>
        <p:xfrm>
          <a:off x="70533" y="6581034"/>
          <a:ext cx="613229" cy="88326"/>
        </p:xfrm>
        <a:graphic>
          <a:graphicData uri="http://schemas.openxmlformats.org/drawingml/2006/table">
            <a:tbl>
              <a:tblPr/>
              <a:tblGrid>
                <a:gridCol w="613229"/>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COMPLETE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2" name="Group 27"/>
          <p:cNvGrpSpPr/>
          <p:nvPr/>
        </p:nvGrpSpPr>
        <p:grpSpPr>
          <a:xfrm>
            <a:off x="-174678" y="6390185"/>
            <a:ext cx="9139167" cy="540206"/>
            <a:chOff x="-189235" y="6505545"/>
            <a:chExt cx="9900766" cy="540206"/>
          </a:xfrm>
        </p:grpSpPr>
        <p:sp>
          <p:nvSpPr>
            <p:cNvPr id="21" name="TextBox 20"/>
            <p:cNvSpPr txBox="1"/>
            <p:nvPr/>
          </p:nvSpPr>
          <p:spPr bwMode="gray">
            <a:xfrm>
              <a:off x="1639689" y="6576570"/>
              <a:ext cx="2611234" cy="400110"/>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not on track and has significant challenges and/or issues that materially impact the overall successful achievement of the expected outcomes. 	</a:t>
              </a:r>
            </a:p>
          </p:txBody>
        </p:sp>
        <p:sp>
          <p:nvSpPr>
            <p:cNvPr id="23" name="TextBox 22"/>
            <p:cNvSpPr txBox="1"/>
            <p:nvPr/>
          </p:nvSpPr>
          <p:spPr bwMode="gray">
            <a:xfrm>
              <a:off x="649026" y="6657945"/>
              <a:ext cx="663724" cy="169277"/>
            </a:xfrm>
            <a:prstGeom prst="rect">
              <a:avLst/>
            </a:prstGeom>
          </p:spPr>
          <p:txBody>
            <a:bodyPr wrap="none" rtlCol="0">
              <a:spAutoFit/>
            </a:bodyPr>
            <a:lstStyle/>
            <a:p>
              <a:pPr defTabSz="955675" eaLnBrk="0" fontAlgn="base" hangingPunct="0">
                <a:spcBef>
                  <a:spcPct val="0"/>
                </a:spcBef>
              </a:pPr>
              <a:r>
                <a:rPr lang="en-US" sz="500" b="1" dirty="0">
                  <a:solidFill>
                    <a:srgbClr val="646464"/>
                  </a:solidFill>
                  <a:latin typeface="EYInterstate Light" pitchFamily="2" charset="0"/>
                </a:rPr>
                <a:t>Fully achieved</a:t>
              </a:r>
              <a:endParaRPr lang="en-GB" sz="500" b="1" kern="0" dirty="0">
                <a:solidFill>
                  <a:srgbClr val="646464"/>
                </a:solidFill>
              </a:endParaRPr>
            </a:p>
          </p:txBody>
        </p:sp>
        <p:sp>
          <p:nvSpPr>
            <p:cNvPr id="25" name="TextBox 24"/>
            <p:cNvSpPr txBox="1"/>
            <p:nvPr/>
          </p:nvSpPr>
          <p:spPr bwMode="gray">
            <a:xfrm>
              <a:off x="-189235" y="6505545"/>
              <a:ext cx="4920098" cy="169277"/>
            </a:xfrm>
            <a:prstGeom prst="rect">
              <a:avLst/>
            </a:prstGeom>
          </p:spPr>
          <p:txBody>
            <a:bodyPr wrap="none" rtlCol="0">
              <a:spAutoFit/>
            </a:bodyPr>
            <a:lstStyle/>
            <a:p>
              <a:pPr defTabSz="955675" eaLnBrk="0" fontAlgn="base" hangingPunct="0">
                <a:spcBef>
                  <a:spcPct val="0"/>
                </a:spcBef>
              </a:pPr>
              <a:r>
                <a:rPr lang="en-US" sz="500" dirty="0">
                  <a:solidFill>
                    <a:srgbClr val="646464"/>
                  </a:solidFill>
                  <a:latin typeface="EYInterstate Light" pitchFamily="2" charset="0"/>
                </a:rPr>
                <a:t>The overall initiative status is governed by the RAG Status Guidance, summarized below. This guidance also applies to the individual Milestones Stats. </a:t>
              </a:r>
              <a:endParaRPr lang="en-GB" sz="500" kern="0" dirty="0">
                <a:solidFill>
                  <a:srgbClr val="646464"/>
                </a:solidFill>
              </a:endParaRPr>
            </a:p>
          </p:txBody>
        </p:sp>
        <p:sp>
          <p:nvSpPr>
            <p:cNvPr id="26" name="TextBox 25"/>
            <p:cNvSpPr txBox="1"/>
            <p:nvPr/>
          </p:nvSpPr>
          <p:spPr bwMode="gray">
            <a:xfrm>
              <a:off x="7423210" y="6564722"/>
              <a:ext cx="2288321" cy="400110"/>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on track and has no significant challenges and/or issues that may materially impact the overall successful achievement of the expected outcomes, now or in the future. 	</a:t>
              </a:r>
            </a:p>
          </p:txBody>
        </p:sp>
        <p:sp>
          <p:nvSpPr>
            <p:cNvPr id="27" name="TextBox 26"/>
            <p:cNvSpPr txBox="1"/>
            <p:nvPr/>
          </p:nvSpPr>
          <p:spPr bwMode="gray">
            <a:xfrm>
              <a:off x="4849123" y="6568697"/>
              <a:ext cx="1976087" cy="477054"/>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on track but has some significant challenges and/or issues that may materially impact the overall successful achievement of the expected outcomes. 	</a:t>
              </a:r>
            </a:p>
          </p:txBody>
        </p:sp>
      </p:grpSp>
      <p:sp>
        <p:nvSpPr>
          <p:cNvPr id="30" name="Freeform 94"/>
          <p:cNvSpPr>
            <a:spLocks/>
          </p:cNvSpPr>
          <p:nvPr/>
        </p:nvSpPr>
        <p:spPr bwMode="gray">
          <a:xfrm>
            <a:off x="-2459" y="-3265"/>
            <a:ext cx="7025054"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fontAlgn="base">
              <a:spcBef>
                <a:spcPct val="0"/>
              </a:spcBef>
              <a:spcAft>
                <a:spcPct val="0"/>
              </a:spcAft>
            </a:pPr>
            <a:endParaRPr lang="en-GB" sz="2000" dirty="0">
              <a:solidFill>
                <a:srgbClr val="000000"/>
              </a:solidFill>
              <a:latin typeface="Times New Roman" pitchFamily="18" charset="0"/>
            </a:endParaRPr>
          </a:p>
        </p:txBody>
      </p:sp>
      <p:sp>
        <p:nvSpPr>
          <p:cNvPr id="14" name="Rectangle 183"/>
          <p:cNvSpPr txBox="1">
            <a:spLocks noChangeArrowheads="1"/>
          </p:cNvSpPr>
          <p:nvPr/>
        </p:nvSpPr>
        <p:spPr bwMode="gray">
          <a:xfrm>
            <a:off x="2" y="0"/>
            <a:ext cx="7729904" cy="338554"/>
          </a:xfrm>
          <a:prstGeom prst="rect">
            <a:avLst/>
          </a:prstGeom>
        </p:spPr>
        <p:txBody>
          <a:bodyPr>
            <a:spAutoFit/>
          </a:bodyPr>
          <a:lstStyle/>
          <a:p>
            <a:pPr algn="l" defTabSz="955675" eaLnBrk="0" fontAlgn="base" hangingPunct="0">
              <a:spcBef>
                <a:spcPct val="0"/>
              </a:spcBef>
              <a:defRPr/>
            </a:pPr>
            <a:r>
              <a:rPr lang="en-US" sz="1600" b="1" kern="0" dirty="0" smtClean="0">
                <a:solidFill>
                  <a:srgbClr val="646464"/>
                </a:solidFill>
              </a:rPr>
              <a:t>Messaging and Collaboration Business Change </a:t>
            </a:r>
            <a:endParaRPr lang="en-US" sz="1600" b="1" kern="0" dirty="0">
              <a:solidFill>
                <a:srgbClr val="646464"/>
              </a:solidFill>
            </a:endParaRPr>
          </a:p>
        </p:txBody>
      </p:sp>
      <p:graphicFrame>
        <p:nvGraphicFramePr>
          <p:cNvPr id="24" name="Group 270"/>
          <p:cNvGraphicFramePr>
            <a:graphicFrameLocks noGrp="1"/>
          </p:cNvGraphicFramePr>
          <p:nvPr>
            <p:extLst>
              <p:ext uri="{D42A27DB-BD31-4B8C-83A1-F6EECF244321}">
                <p14:modId xmlns:p14="http://schemas.microsoft.com/office/powerpoint/2010/main" val="1646652008"/>
              </p:ext>
            </p:extLst>
          </p:nvPr>
        </p:nvGraphicFramePr>
        <p:xfrm>
          <a:off x="4572000" y="548680"/>
          <a:ext cx="4383817" cy="1419466"/>
        </p:xfrm>
        <a:graphic>
          <a:graphicData uri="http://schemas.openxmlformats.org/drawingml/2006/table">
            <a:tbl>
              <a:tblPr/>
              <a:tblGrid>
                <a:gridCol w="2392881"/>
                <a:gridCol w="595088"/>
                <a:gridCol w="598220"/>
                <a:gridCol w="398814"/>
                <a:gridCol w="398814"/>
              </a:tblGrid>
              <a:tr h="153438">
                <a:tc>
                  <a:txBody>
                    <a:bodyPr/>
                    <a:lstStyle/>
                    <a:p>
                      <a:pPr marL="228600" marR="0" lvl="0" indent="-228600" algn="l" defTabSz="947738" rtl="0" eaLnBrk="0" fontAlgn="base" latinLnBrk="0" hangingPunct="0">
                        <a:lnSpc>
                          <a:spcPct val="100000"/>
                        </a:lnSpc>
                        <a:spcBef>
                          <a:spcPct val="0"/>
                        </a:spcBef>
                        <a:spcAft>
                          <a:spcPct val="10000"/>
                        </a:spcAft>
                        <a:buClr>
                          <a:schemeClr val="hlink"/>
                        </a:buClr>
                        <a:buSzTx/>
                        <a:buFont typeface="EYInterstate" pitchFamily="2" charset="0"/>
                        <a:buAutoNum type="alphaUcPeriod" startAt="5"/>
                        <a:tabLst/>
                      </a:pPr>
                      <a:r>
                        <a:rPr kumimoji="0" lang="en-US" sz="700" b="1" i="0" u="none" strike="noStrike" kern="1200" cap="none" normalizeH="0" baseline="0" dirty="0" smtClean="0">
                          <a:ln>
                            <a:noFill/>
                          </a:ln>
                          <a:solidFill>
                            <a:schemeClr val="tx1"/>
                          </a:solidFill>
                          <a:effectLst/>
                          <a:latin typeface="+mj-lt"/>
                          <a:ea typeface="+mn-ea"/>
                          <a:cs typeface="+mn-cs"/>
                        </a:rPr>
                        <a:t>MILESTONES</a:t>
                      </a:r>
                      <a:endParaRPr kumimoji="0" lang="en-US" sz="700" b="0" i="0" u="none" strike="noStrike" kern="1200" cap="none" normalizeH="0" baseline="0" dirty="0" smtClean="0">
                        <a:ln>
                          <a:noFill/>
                        </a:ln>
                        <a:solidFill>
                          <a:schemeClr val="tx1"/>
                        </a:solidFill>
                        <a:effectLst/>
                        <a:latin typeface="+mj-lt"/>
                        <a:ea typeface="+mn-ea"/>
                        <a:cs typeface="+mn-cs"/>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278610">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mj-lt"/>
                        </a:rPr>
                        <a:t>Individual Milestone Name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mj-lt"/>
                        </a:rPr>
                        <a:t>Planned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mj-lt"/>
                        </a:rPr>
                        <a:t>Projected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mj-lt"/>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mj-lt"/>
                        </a:rPr>
                        <a:t>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44016">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cap="none" normalizeH="0" baseline="0" dirty="0" smtClean="0">
                          <a:ln>
                            <a:noFill/>
                          </a:ln>
                          <a:solidFill>
                            <a:schemeClr val="tx1"/>
                          </a:solidFill>
                          <a:effectLst/>
                          <a:latin typeface="+mj-lt"/>
                        </a:rPr>
                        <a:t>CHS/intranet site</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mj-lt"/>
                        </a:rPr>
                        <a:t>30  April</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mj-lt"/>
                        </a:rPr>
                        <a:t>30 April</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646464"/>
                        </a:solidFill>
                        <a:effectLst/>
                        <a:latin typeface="+mj-lt"/>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646464"/>
                        </a:solidFill>
                        <a:effectLst/>
                        <a:latin typeface="+mj-lt"/>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r h="144016">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cap="none" normalizeH="0" baseline="0" dirty="0" err="1" smtClean="0">
                          <a:ln>
                            <a:noFill/>
                          </a:ln>
                          <a:solidFill>
                            <a:schemeClr val="tx1"/>
                          </a:solidFill>
                          <a:effectLst/>
                          <a:latin typeface="+mj-lt"/>
                        </a:rPr>
                        <a:t>Epipheo</a:t>
                      </a:r>
                      <a:r>
                        <a:rPr kumimoji="0" lang="en-US" sz="700" b="0" i="0" u="none" strike="noStrike" cap="none" normalizeH="0" baseline="0" dirty="0" smtClean="0">
                          <a:ln>
                            <a:noFill/>
                          </a:ln>
                          <a:solidFill>
                            <a:schemeClr val="tx1"/>
                          </a:solidFill>
                          <a:effectLst/>
                          <a:latin typeface="+mj-lt"/>
                        </a:rPr>
                        <a:t> video/animation graphic</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mj-lt"/>
                        </a:rPr>
                        <a:t>TBC</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mj-lt"/>
                        </a:rPr>
                        <a:t>TBC</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646464"/>
                        </a:solidFill>
                        <a:effectLst/>
                        <a:latin typeface="+mj-lt"/>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endParaRPr kumimoji="0" lang="en-US" sz="700" b="0" i="0" u="none" strike="noStrike" cap="none" normalizeH="0" baseline="0" dirty="0" smtClean="0">
                        <a:ln>
                          <a:noFill/>
                        </a:ln>
                        <a:solidFill>
                          <a:srgbClr val="646464"/>
                        </a:solidFill>
                        <a:effectLst/>
                        <a:latin typeface="+mj-lt"/>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144016">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1" i="0" u="none" strike="noStrike" kern="1200" cap="none" normalizeH="0" baseline="0" dirty="0" smtClean="0">
                          <a:ln>
                            <a:noFill/>
                          </a:ln>
                          <a:solidFill>
                            <a:srgbClr val="646464"/>
                          </a:solidFill>
                          <a:effectLst/>
                          <a:latin typeface="+mj-lt"/>
                          <a:ea typeface="+mn-ea"/>
                          <a:cs typeface="+mn-cs"/>
                        </a:rPr>
                        <a:t>Identify </a:t>
                      </a:r>
                      <a:r>
                        <a:rPr kumimoji="0" lang="en-US" sz="700" b="1" i="0" u="none" strike="noStrike" kern="1200" cap="none" normalizeH="0" baseline="0" dirty="0" err="1" smtClean="0">
                          <a:ln>
                            <a:noFill/>
                          </a:ln>
                          <a:solidFill>
                            <a:srgbClr val="646464"/>
                          </a:solidFill>
                          <a:effectLst/>
                          <a:latin typeface="+mj-lt"/>
                          <a:ea typeface="+mn-ea"/>
                          <a:cs typeface="+mn-cs"/>
                        </a:rPr>
                        <a:t>Lync</a:t>
                      </a:r>
                      <a:r>
                        <a:rPr kumimoji="0" lang="en-US" sz="700" b="1" i="0" u="none" strike="noStrike" kern="1200" cap="none" normalizeH="0" baseline="0" dirty="0" smtClean="0">
                          <a:ln>
                            <a:noFill/>
                          </a:ln>
                          <a:solidFill>
                            <a:srgbClr val="646464"/>
                          </a:solidFill>
                          <a:effectLst/>
                          <a:latin typeface="+mj-lt"/>
                          <a:ea typeface="+mn-ea"/>
                          <a:cs typeface="+mn-cs"/>
                        </a:rPr>
                        <a:t>/Outlook Change network</a:t>
                      </a:r>
                      <a:endParaRPr kumimoji="0" lang="en-US" sz="700" b="1" i="0" u="none" strike="noStrike" kern="1200" cap="none" normalizeH="0" baseline="0" dirty="0">
                        <a:ln>
                          <a:noFill/>
                        </a:ln>
                        <a:solidFill>
                          <a:srgbClr val="646464"/>
                        </a:solidFill>
                        <a:effectLst/>
                        <a:latin typeface="+mj-lt"/>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mj-lt"/>
                        </a:rPr>
                        <a:t>20/07/12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mj-lt"/>
                        </a:rPr>
                        <a:t>20/07/12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FF0000"/>
                        </a:solidFill>
                        <a:effectLst/>
                        <a:latin typeface="+mj-lt"/>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FF0000"/>
                        </a:solidFill>
                        <a:effectLst/>
                        <a:latin typeface="+mj-lt"/>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r h="170628">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GB" sz="700" b="0" i="0" u="none" strike="noStrike" kern="1200" cap="none" normalizeH="0" baseline="0" dirty="0" smtClean="0">
                          <a:ln>
                            <a:noFill/>
                          </a:ln>
                          <a:solidFill>
                            <a:srgbClr val="646464"/>
                          </a:solidFill>
                          <a:effectLst/>
                          <a:latin typeface="+mj-lt"/>
                          <a:ea typeface="+mn-ea"/>
                          <a:cs typeface="+mn-cs"/>
                        </a:rPr>
                        <a:t>Identify '</a:t>
                      </a:r>
                      <a:r>
                        <a:rPr kumimoji="0" lang="en-GB" sz="700" b="0" i="0" u="none" strike="noStrike" kern="1200" cap="none" normalizeH="0" baseline="0" dirty="0" err="1" smtClean="0">
                          <a:ln>
                            <a:noFill/>
                          </a:ln>
                          <a:solidFill>
                            <a:srgbClr val="646464"/>
                          </a:solidFill>
                          <a:effectLst/>
                          <a:latin typeface="+mj-lt"/>
                          <a:ea typeface="+mn-ea"/>
                          <a:cs typeface="+mn-cs"/>
                        </a:rPr>
                        <a:t>Lync</a:t>
                      </a:r>
                      <a:r>
                        <a:rPr kumimoji="0" lang="en-GB" sz="700" b="0" i="0" u="none" strike="noStrike" kern="1200" cap="none" normalizeH="0" baseline="0" dirty="0" smtClean="0">
                          <a:ln>
                            <a:noFill/>
                          </a:ln>
                          <a:solidFill>
                            <a:srgbClr val="646464"/>
                          </a:solidFill>
                          <a:effectLst/>
                          <a:latin typeface="+mj-lt"/>
                          <a:ea typeface="+mn-ea"/>
                          <a:cs typeface="+mn-cs"/>
                        </a:rPr>
                        <a:t> &amp; Outlook Community' volunteers/EAs</a:t>
                      </a:r>
                      <a:endParaRPr kumimoji="0" lang="en-US" sz="700" b="0" i="0" u="none" strike="noStrike" kern="1200" cap="none" normalizeH="0" baseline="0" dirty="0">
                        <a:ln>
                          <a:noFill/>
                        </a:ln>
                        <a:solidFill>
                          <a:srgbClr val="646464"/>
                        </a:solidFill>
                        <a:effectLst/>
                        <a:latin typeface="+mj-lt"/>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mj-lt"/>
                        </a:rPr>
                        <a:t>12/10/12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mj-lt"/>
                        </a:rPr>
                        <a:t>12/10/12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FF0000"/>
                        </a:solidFill>
                        <a:effectLst/>
                        <a:latin typeface="+mj-lt"/>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FF0000"/>
                        </a:solidFill>
                        <a:effectLst/>
                        <a:latin typeface="+mj-lt"/>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r h="144016">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GB" sz="700" b="0" i="0" u="none" strike="noStrike" kern="1200" cap="none" normalizeH="0" baseline="0" dirty="0" smtClean="0">
                          <a:ln>
                            <a:noFill/>
                          </a:ln>
                          <a:solidFill>
                            <a:srgbClr val="646464"/>
                          </a:solidFill>
                          <a:effectLst/>
                          <a:latin typeface="+mj-lt"/>
                          <a:ea typeface="+mn-ea"/>
                          <a:cs typeface="+mn-cs"/>
                        </a:rPr>
                        <a:t>Sign-off </a:t>
                      </a:r>
                      <a:r>
                        <a:rPr kumimoji="0" lang="en-GB" sz="700" b="0" i="0" u="none" strike="noStrike" kern="1200" cap="none" normalizeH="0" baseline="0" dirty="0" err="1" smtClean="0">
                          <a:ln>
                            <a:noFill/>
                          </a:ln>
                          <a:solidFill>
                            <a:srgbClr val="646464"/>
                          </a:solidFill>
                          <a:effectLst/>
                          <a:latin typeface="+mj-lt"/>
                          <a:ea typeface="+mn-ea"/>
                          <a:cs typeface="+mn-cs"/>
                        </a:rPr>
                        <a:t>Lync</a:t>
                      </a:r>
                      <a:r>
                        <a:rPr kumimoji="0" lang="en-GB" sz="700" b="0" i="0" u="none" strike="noStrike" kern="1200" cap="none" normalizeH="0" baseline="0" dirty="0" smtClean="0">
                          <a:ln>
                            <a:noFill/>
                          </a:ln>
                          <a:solidFill>
                            <a:srgbClr val="646464"/>
                          </a:solidFill>
                          <a:effectLst/>
                          <a:latin typeface="+mj-lt"/>
                          <a:ea typeface="+mn-ea"/>
                          <a:cs typeface="+mn-cs"/>
                        </a:rPr>
                        <a:t> High Level Business Change Readiness Plan</a:t>
                      </a:r>
                      <a:endParaRPr kumimoji="0" lang="en-US" sz="700" b="0" i="0" u="none" strike="noStrike" kern="1200" cap="none" normalizeH="0" baseline="0" dirty="0">
                        <a:ln>
                          <a:noFill/>
                        </a:ln>
                        <a:solidFill>
                          <a:srgbClr val="646464"/>
                        </a:solidFill>
                        <a:effectLst/>
                        <a:latin typeface="+mj-lt"/>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mj-lt"/>
                        </a:rPr>
                        <a:t>06/08/12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mj-lt"/>
                        </a:rPr>
                        <a:t>06/08/12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FF0000"/>
                        </a:solidFill>
                        <a:effectLst/>
                        <a:latin typeface="+mj-lt"/>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FF0000"/>
                        </a:solidFill>
                        <a:effectLst/>
                        <a:latin typeface="+mj-lt"/>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r h="144016">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kern="1200" cap="none" normalizeH="0" baseline="0" dirty="0" smtClean="0">
                          <a:ln>
                            <a:noFill/>
                          </a:ln>
                          <a:solidFill>
                            <a:srgbClr val="646464"/>
                          </a:solidFill>
                          <a:effectLst/>
                          <a:latin typeface="+mj-lt"/>
                          <a:ea typeface="+mn-ea"/>
                          <a:cs typeface="+mn-cs"/>
                        </a:rPr>
                        <a:t>Sign-off HL Impact assessment for </a:t>
                      </a:r>
                      <a:r>
                        <a:rPr kumimoji="0" lang="en-US" sz="700" b="0" i="0" u="none" strike="noStrike" kern="1200" cap="none" normalizeH="0" baseline="0" dirty="0" err="1" smtClean="0">
                          <a:ln>
                            <a:noFill/>
                          </a:ln>
                          <a:solidFill>
                            <a:srgbClr val="646464"/>
                          </a:solidFill>
                          <a:effectLst/>
                          <a:latin typeface="+mj-lt"/>
                          <a:ea typeface="+mn-ea"/>
                          <a:cs typeface="+mn-cs"/>
                        </a:rPr>
                        <a:t>Lync</a:t>
                      </a:r>
                      <a:endParaRPr kumimoji="0" lang="en-US" sz="700" b="0" i="0" u="none" strike="noStrike" kern="1200" cap="none" normalizeH="0" baseline="0" dirty="0">
                        <a:ln>
                          <a:noFill/>
                        </a:ln>
                        <a:solidFill>
                          <a:srgbClr val="646464"/>
                        </a:solidFill>
                        <a:effectLst/>
                        <a:latin typeface="+mj-lt"/>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mj-lt"/>
                        </a:rPr>
                        <a:t>09/07/12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chemeClr val="tx1"/>
                          </a:solidFill>
                          <a:effectLst/>
                          <a:latin typeface="+mj-lt"/>
                        </a:rPr>
                        <a:t>09/07/12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646464"/>
                        </a:solidFill>
                        <a:effectLst/>
                        <a:latin typeface="+mj-lt"/>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endParaRPr kumimoji="0" lang="en-US" sz="700" b="0" i="0" u="none" strike="noStrike" cap="none" normalizeH="0" baseline="0" dirty="0" smtClean="0">
                        <a:ln>
                          <a:noFill/>
                        </a:ln>
                        <a:solidFill>
                          <a:srgbClr val="646464"/>
                        </a:solidFill>
                        <a:effectLst/>
                        <a:latin typeface="+mj-lt"/>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graphicFrame>
        <p:nvGraphicFramePr>
          <p:cNvPr id="28" name="Table 27"/>
          <p:cNvGraphicFramePr>
            <a:graphicFrameLocks noGrp="1"/>
          </p:cNvGraphicFramePr>
          <p:nvPr>
            <p:extLst>
              <p:ext uri="{D42A27DB-BD31-4B8C-83A1-F6EECF244321}">
                <p14:modId xmlns:p14="http://schemas.microsoft.com/office/powerpoint/2010/main" val="1780233000"/>
              </p:ext>
            </p:extLst>
          </p:nvPr>
        </p:nvGraphicFramePr>
        <p:xfrm>
          <a:off x="4572000" y="2132856"/>
          <a:ext cx="4355123" cy="1632891"/>
        </p:xfrm>
        <a:graphic>
          <a:graphicData uri="http://schemas.openxmlformats.org/drawingml/2006/table">
            <a:tbl>
              <a:tblPr/>
              <a:tblGrid>
                <a:gridCol w="1994068"/>
                <a:gridCol w="2361055"/>
              </a:tblGrid>
              <a:tr h="157905">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600" b="1" i="0" u="none" strike="noStrike" cap="none" normalizeH="0" baseline="0" dirty="0" smtClean="0">
                          <a:ln>
                            <a:noFill/>
                          </a:ln>
                          <a:solidFill>
                            <a:schemeClr val="tx1"/>
                          </a:solidFill>
                          <a:effectLst/>
                          <a:latin typeface="+mn-lt"/>
                        </a:rPr>
                        <a:t>F.  KEY RISKS – typically future challenges or external circumstances that may affect the initiative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r>
              <a:tr h="187339">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600" b="1" i="0" u="none" strike="noStrike" cap="none" normalizeH="0" baseline="0" dirty="0" smtClean="0">
                          <a:ln>
                            <a:noFill/>
                          </a:ln>
                          <a:solidFill>
                            <a:schemeClr val="bg2"/>
                          </a:solidFill>
                          <a:effectLst/>
                          <a:latin typeface="+mn-lt"/>
                        </a:rPr>
                        <a:t>Risks to be addressed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600" b="1" i="0" u="none" strike="noStrike" cap="none" normalizeH="0" baseline="0" dirty="0" smtClean="0">
                          <a:ln>
                            <a:noFill/>
                          </a:ln>
                          <a:solidFill>
                            <a:schemeClr val="bg2"/>
                          </a:solidFill>
                          <a:effectLst/>
                          <a:latin typeface="+mn-lt"/>
                        </a:rPr>
                        <a:t>Mitigating Action</a:t>
                      </a:r>
                      <a:endParaRPr kumimoji="0" lang="en-US" sz="600" b="0" i="0" u="none" strike="noStrike" cap="none" normalizeH="0" baseline="0" dirty="0" smtClean="0">
                        <a:ln>
                          <a:noFill/>
                        </a:ln>
                        <a:solidFill>
                          <a:schemeClr val="bg2"/>
                        </a:solidFill>
                        <a:effectLst/>
                        <a:latin typeface="+mn-lt"/>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149683">
                <a:tc>
                  <a:txBody>
                    <a:bodyPr/>
                    <a:lstStyle/>
                    <a:p>
                      <a:r>
                        <a:rPr kumimoji="0" lang="en-GB" sz="600" b="1" i="0" u="none" strike="noStrike" kern="1200" cap="none" normalizeH="0" baseline="0" noProof="0" dirty="0" smtClean="0">
                          <a:ln>
                            <a:noFill/>
                          </a:ln>
                          <a:solidFill>
                            <a:srgbClr val="646464"/>
                          </a:solidFill>
                          <a:effectLst/>
                          <a:latin typeface="+mn-lt"/>
                          <a:ea typeface="+mn-ea"/>
                          <a:cs typeface="+mn-cs"/>
                        </a:rPr>
                        <a:t>Potential for rumours and </a:t>
                      </a:r>
                      <a:r>
                        <a:rPr kumimoji="0" lang="en-GB" sz="600" b="1" i="0" u="none" strike="noStrike" kern="1200" cap="none" normalizeH="0" baseline="0" noProof="0" dirty="0" err="1" smtClean="0">
                          <a:ln>
                            <a:noFill/>
                          </a:ln>
                          <a:solidFill>
                            <a:srgbClr val="646464"/>
                          </a:solidFill>
                          <a:effectLst/>
                          <a:latin typeface="+mn-lt"/>
                          <a:ea typeface="+mn-ea"/>
                          <a:cs typeface="+mn-cs"/>
                        </a:rPr>
                        <a:t>mis</a:t>
                      </a:r>
                      <a:r>
                        <a:rPr kumimoji="0" lang="en-GB" sz="600" b="1" i="0" u="none" strike="noStrike" kern="1200" cap="none" normalizeH="0" baseline="0" noProof="0" dirty="0" smtClean="0">
                          <a:ln>
                            <a:noFill/>
                          </a:ln>
                          <a:solidFill>
                            <a:srgbClr val="646464"/>
                          </a:solidFill>
                          <a:effectLst/>
                          <a:latin typeface="+mn-lt"/>
                          <a:ea typeface="+mn-ea"/>
                          <a:cs typeface="+mn-cs"/>
                        </a:rPr>
                        <a:t>-information on M&amp;C based on not having communicated to wider audiences since initial announcement</a:t>
                      </a:r>
                      <a:endParaRPr kumimoji="0" lang="en-GB" sz="600" b="1" i="0" u="none" strike="noStrike" kern="1200" cap="none" normalizeH="0" baseline="0" noProof="0" dirty="0">
                        <a:ln>
                          <a:noFill/>
                        </a:ln>
                        <a:solidFill>
                          <a:srgbClr val="646464"/>
                        </a:solidFill>
                        <a:effectLst/>
                        <a:latin typeface="+mn-lt"/>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r>
                        <a:rPr kumimoji="0" lang="en-GB" sz="600" b="1" i="0" u="none" strike="noStrike" kern="1200" cap="none" normalizeH="0" baseline="0" noProof="0" dirty="0" smtClean="0">
                          <a:ln>
                            <a:noFill/>
                          </a:ln>
                          <a:solidFill>
                            <a:srgbClr val="646464"/>
                          </a:solidFill>
                          <a:effectLst/>
                          <a:latin typeface="+mn-lt"/>
                          <a:ea typeface="+mn-ea"/>
                          <a:cs typeface="+mn-cs"/>
                        </a:rPr>
                        <a:t>Still considering ‘holding statement’ </a:t>
                      </a:r>
                      <a:r>
                        <a:rPr kumimoji="0" lang="en-GB" sz="600" b="1" i="0" u="none" strike="noStrike" kern="1200" cap="none" normalizeH="0" baseline="0" noProof="0" dirty="0" err="1" smtClean="0">
                          <a:ln>
                            <a:noFill/>
                          </a:ln>
                          <a:solidFill>
                            <a:srgbClr val="646464"/>
                          </a:solidFill>
                          <a:effectLst/>
                          <a:latin typeface="+mn-lt"/>
                          <a:ea typeface="+mn-ea"/>
                          <a:cs typeface="+mn-cs"/>
                        </a:rPr>
                        <a:t>comms</a:t>
                      </a:r>
                      <a:r>
                        <a:rPr kumimoji="0" lang="en-GB" sz="600" b="1" i="0" u="none" strike="noStrike" kern="1200" cap="none" normalizeH="0" baseline="0" noProof="0" dirty="0" smtClean="0">
                          <a:ln>
                            <a:noFill/>
                          </a:ln>
                          <a:solidFill>
                            <a:srgbClr val="646464"/>
                          </a:solidFill>
                          <a:effectLst/>
                          <a:latin typeface="+mn-lt"/>
                          <a:ea typeface="+mn-ea"/>
                          <a:cs typeface="+mn-cs"/>
                        </a:rPr>
                        <a:t> to global leadership teams, and Daily News </a:t>
                      </a:r>
                      <a:r>
                        <a:rPr kumimoji="0" lang="en-GB" sz="600" b="1" i="0" u="none" strike="noStrike" kern="1200" cap="none" normalizeH="0" baseline="0" noProof="0" smtClean="0">
                          <a:ln>
                            <a:noFill/>
                          </a:ln>
                          <a:solidFill>
                            <a:srgbClr val="646464"/>
                          </a:solidFill>
                          <a:effectLst/>
                          <a:latin typeface="+mn-lt"/>
                          <a:ea typeface="+mn-ea"/>
                          <a:cs typeface="+mn-cs"/>
                        </a:rPr>
                        <a:t>Alert story</a:t>
                      </a:r>
                      <a:endParaRPr kumimoji="0" lang="en-GB" sz="600" b="1" i="0" u="none" strike="noStrike" kern="1200" cap="none" normalizeH="0" baseline="0" noProof="0" dirty="0">
                        <a:ln>
                          <a:noFill/>
                        </a:ln>
                        <a:solidFill>
                          <a:srgbClr val="646464"/>
                        </a:solidFill>
                        <a:effectLst/>
                        <a:latin typeface="+mn-lt"/>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49683">
                <a:tc>
                  <a:txBody>
                    <a:bodyPr/>
                    <a:lstStyle/>
                    <a:p>
                      <a:pPr>
                        <a:buFont typeface="Arial" pitchFamily="34" charset="0"/>
                        <a:buNone/>
                      </a:pPr>
                      <a:r>
                        <a:rPr kumimoji="0" lang="en-GB" sz="600" b="1" i="0" u="none" strike="noStrike" kern="1200" cap="none" normalizeH="0" baseline="0" noProof="0" dirty="0" smtClean="0">
                          <a:ln>
                            <a:noFill/>
                          </a:ln>
                          <a:solidFill>
                            <a:srgbClr val="646464"/>
                          </a:solidFill>
                          <a:effectLst/>
                          <a:latin typeface="+mn-lt"/>
                          <a:ea typeface="+mn-ea"/>
                          <a:cs typeface="+mn-cs"/>
                        </a:rPr>
                        <a:t>Recruitment of </a:t>
                      </a:r>
                      <a:r>
                        <a:rPr kumimoji="0" lang="en-GB" sz="600" b="1" i="0" u="none" strike="noStrike" kern="1200" cap="none" normalizeH="0" baseline="0" noProof="0" dirty="0" err="1" smtClean="0">
                          <a:ln>
                            <a:noFill/>
                          </a:ln>
                          <a:solidFill>
                            <a:srgbClr val="646464"/>
                          </a:solidFill>
                          <a:effectLst/>
                          <a:latin typeface="+mn-lt"/>
                          <a:ea typeface="+mn-ea"/>
                          <a:cs typeface="+mn-cs"/>
                        </a:rPr>
                        <a:t>comms</a:t>
                      </a:r>
                      <a:r>
                        <a:rPr kumimoji="0" lang="en-GB" sz="600" b="1" i="0" u="none" strike="noStrike" kern="1200" cap="none" normalizeH="0" baseline="0" noProof="0" dirty="0" smtClean="0">
                          <a:ln>
                            <a:noFill/>
                          </a:ln>
                          <a:solidFill>
                            <a:srgbClr val="646464"/>
                          </a:solidFill>
                          <a:effectLst/>
                          <a:latin typeface="+mn-lt"/>
                          <a:ea typeface="+mn-ea"/>
                          <a:cs typeface="+mn-cs"/>
                        </a:rPr>
                        <a:t> support on-hold</a:t>
                      </a:r>
                      <a:endParaRPr kumimoji="0" lang="en-GB" sz="600" b="1" i="0" u="none" strike="noStrike" kern="1200" cap="none" normalizeH="0" baseline="0" noProof="0" dirty="0">
                        <a:ln>
                          <a:noFill/>
                        </a:ln>
                        <a:solidFill>
                          <a:srgbClr val="646464"/>
                        </a:solidFill>
                        <a:effectLst/>
                        <a:latin typeface="+mn-lt"/>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algn="l" defTabSz="914400" rtl="0" eaLnBrk="1" latinLnBrk="0" hangingPunct="1"/>
                      <a:r>
                        <a:rPr kumimoji="0" lang="en-GB" sz="600" b="1" i="0" u="none" strike="noStrike" kern="1200" cap="none" normalizeH="0" baseline="0" noProof="0" dirty="0" err="1" smtClean="0">
                          <a:ln>
                            <a:noFill/>
                          </a:ln>
                          <a:solidFill>
                            <a:srgbClr val="646464"/>
                          </a:solidFill>
                          <a:effectLst/>
                          <a:latin typeface="+mn-lt"/>
                          <a:ea typeface="+mn-ea"/>
                          <a:cs typeface="+mn-cs"/>
                        </a:rPr>
                        <a:t>Marianela</a:t>
                      </a:r>
                      <a:r>
                        <a:rPr kumimoji="0" lang="en-GB" sz="600" b="1" i="0" u="none" strike="noStrike" kern="1200" cap="none" normalizeH="0" baseline="0" noProof="0" dirty="0" smtClean="0">
                          <a:ln>
                            <a:noFill/>
                          </a:ln>
                          <a:solidFill>
                            <a:srgbClr val="646464"/>
                          </a:solidFill>
                          <a:effectLst/>
                          <a:latin typeface="+mn-lt"/>
                          <a:ea typeface="+mn-ea"/>
                          <a:cs typeface="+mn-cs"/>
                        </a:rPr>
                        <a:t>  </a:t>
                      </a:r>
                      <a:r>
                        <a:rPr kumimoji="0" lang="en-GB" sz="600" b="1" i="0" u="none" strike="noStrike" kern="1200" cap="none" normalizeH="0" baseline="0" noProof="0" dirty="0" err="1" smtClean="0">
                          <a:ln>
                            <a:noFill/>
                          </a:ln>
                          <a:solidFill>
                            <a:srgbClr val="646464"/>
                          </a:solidFill>
                          <a:effectLst/>
                          <a:latin typeface="+mn-lt"/>
                          <a:ea typeface="+mn-ea"/>
                          <a:cs typeface="+mn-cs"/>
                        </a:rPr>
                        <a:t>Venables</a:t>
                      </a:r>
                      <a:r>
                        <a:rPr kumimoji="0" lang="en-GB" sz="600" b="1" i="0" u="none" strike="noStrike" kern="1200" cap="none" normalizeH="0" baseline="0" noProof="0" dirty="0" smtClean="0">
                          <a:ln>
                            <a:noFill/>
                          </a:ln>
                          <a:solidFill>
                            <a:srgbClr val="646464"/>
                          </a:solidFill>
                          <a:effectLst/>
                          <a:latin typeface="+mn-lt"/>
                          <a:ea typeface="+mn-ea"/>
                          <a:cs typeface="+mn-cs"/>
                        </a:rPr>
                        <a:t> supporting on intranet work. Potential for using GSS </a:t>
                      </a:r>
                      <a:r>
                        <a:rPr kumimoji="0" lang="en-GB" sz="600" b="1" i="0" u="none" strike="noStrike" kern="1200" cap="none" normalizeH="0" baseline="0" noProof="0" dirty="0" err="1" smtClean="0">
                          <a:ln>
                            <a:noFill/>
                          </a:ln>
                          <a:solidFill>
                            <a:srgbClr val="646464"/>
                          </a:solidFill>
                          <a:effectLst/>
                          <a:latin typeface="+mn-lt"/>
                          <a:ea typeface="+mn-ea"/>
                          <a:cs typeface="+mn-cs"/>
                        </a:rPr>
                        <a:t>comms</a:t>
                      </a:r>
                      <a:r>
                        <a:rPr kumimoji="0" lang="en-GB" sz="600" b="1" i="0" u="none" strike="noStrike" kern="1200" cap="none" normalizeH="0" baseline="0" noProof="0" dirty="0" smtClean="0">
                          <a:ln>
                            <a:noFill/>
                          </a:ln>
                          <a:solidFill>
                            <a:srgbClr val="646464"/>
                          </a:solidFill>
                          <a:effectLst/>
                          <a:latin typeface="+mn-lt"/>
                          <a:ea typeface="+mn-ea"/>
                          <a:cs typeface="+mn-cs"/>
                        </a:rPr>
                        <a:t>/design services.</a:t>
                      </a:r>
                      <a:endParaRPr kumimoji="0" lang="en-GB" sz="600" b="1" i="0" u="none" strike="noStrike" kern="1200" cap="none" normalizeH="0" baseline="0" noProof="0" dirty="0">
                        <a:ln>
                          <a:noFill/>
                        </a:ln>
                        <a:solidFill>
                          <a:srgbClr val="646464"/>
                        </a:solidFill>
                        <a:effectLst/>
                        <a:latin typeface="+mn-lt"/>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49683">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600" b="1" i="0" u="none" strike="noStrike" kern="1200" cap="none" normalizeH="0" baseline="0" noProof="0" dirty="0" smtClean="0">
                          <a:ln>
                            <a:noFill/>
                          </a:ln>
                          <a:solidFill>
                            <a:srgbClr val="646464"/>
                          </a:solidFill>
                          <a:effectLst/>
                          <a:latin typeface="+mn-lt"/>
                          <a:ea typeface="+mn-ea"/>
                          <a:cs typeface="+mn-cs"/>
                        </a:rPr>
                        <a:t>Recruitment of required resources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88900" algn="l" defTabSz="914400" rtl="0" eaLnBrk="1" fontAlgn="base" latinLnBrk="0" hangingPunct="1">
                        <a:lnSpc>
                          <a:spcPct val="100000"/>
                        </a:lnSpc>
                        <a:spcBef>
                          <a:spcPct val="0"/>
                        </a:spcBef>
                        <a:spcAft>
                          <a:spcPct val="10000"/>
                        </a:spcAft>
                        <a:buClrTx/>
                        <a:buSzTx/>
                        <a:buFont typeface="Arial" pitchFamily="34" charset="0"/>
                        <a:buNone/>
                        <a:tabLst/>
                        <a:defRPr/>
                      </a:pPr>
                      <a:r>
                        <a:rPr kumimoji="0" lang="en-US" sz="600" b="1" i="0" u="none" strike="noStrike" kern="1200" cap="none" normalizeH="0" baseline="0" noProof="0" dirty="0" smtClean="0">
                          <a:ln>
                            <a:noFill/>
                          </a:ln>
                          <a:solidFill>
                            <a:srgbClr val="646464"/>
                          </a:solidFill>
                          <a:effectLst/>
                          <a:latin typeface="+mn-lt"/>
                          <a:ea typeface="+mn-ea"/>
                          <a:cs typeface="+mn-cs"/>
                        </a:rPr>
                        <a:t>Recruitment underway but decisions on which function these people will be recruited into are unanswered.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38943">
                <a:tc>
                  <a:txBody>
                    <a:bodyPr/>
                    <a:lstStyle/>
                    <a:p>
                      <a:pPr marL="0" marR="0" lvl="0" indent="-88900" algn="l" defTabSz="914400" rtl="0" eaLnBrk="1" fontAlgn="base" latinLnBrk="0" hangingPunct="1">
                        <a:lnSpc>
                          <a:spcPct val="100000"/>
                        </a:lnSpc>
                        <a:spcBef>
                          <a:spcPct val="0"/>
                        </a:spcBef>
                        <a:spcAft>
                          <a:spcPct val="10000"/>
                        </a:spcAft>
                        <a:buClrTx/>
                        <a:buSzTx/>
                        <a:buFont typeface="Arial" pitchFamily="34" charset="0"/>
                        <a:buNone/>
                        <a:tabLst/>
                        <a:defRPr/>
                      </a:pPr>
                      <a:r>
                        <a:rPr kumimoji="0" lang="en-US" sz="600" b="1" i="0" u="none" strike="noStrike" kern="1200" cap="none" normalizeH="0" baseline="0" noProof="0" dirty="0" smtClean="0">
                          <a:ln>
                            <a:noFill/>
                          </a:ln>
                          <a:solidFill>
                            <a:srgbClr val="646464"/>
                          </a:solidFill>
                          <a:effectLst/>
                          <a:latin typeface="+mn-lt"/>
                          <a:ea typeface="+mn-ea"/>
                          <a:cs typeface="+mn-cs"/>
                        </a:rPr>
                        <a:t>Alignment of M&amp;C with GCL5.0 and DECC</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88900" algn="l" defTabSz="914400" rtl="0" eaLnBrk="1" fontAlgn="base" latinLnBrk="0" hangingPunct="1">
                        <a:lnSpc>
                          <a:spcPct val="100000"/>
                        </a:lnSpc>
                        <a:spcBef>
                          <a:spcPct val="0"/>
                        </a:spcBef>
                        <a:spcAft>
                          <a:spcPct val="10000"/>
                        </a:spcAft>
                        <a:buClrTx/>
                        <a:buSzTx/>
                        <a:buFont typeface="Arial" pitchFamily="34" charset="0"/>
                        <a:buNone/>
                        <a:tabLst/>
                        <a:defRPr/>
                      </a:pPr>
                      <a:r>
                        <a:rPr kumimoji="0" lang="en-US" sz="600" b="1" i="0" u="none" strike="noStrike" kern="1200" cap="none" normalizeH="0" baseline="0" noProof="0" dirty="0" smtClean="0">
                          <a:ln>
                            <a:noFill/>
                          </a:ln>
                          <a:solidFill>
                            <a:srgbClr val="646464"/>
                          </a:solidFill>
                          <a:effectLst/>
                          <a:latin typeface="+mn-lt"/>
                          <a:ea typeface="+mn-ea"/>
                          <a:cs typeface="+mn-cs"/>
                        </a:rPr>
                        <a:t>Meetings established with Catherine Graham’s team (Learning) and investigation of enterprise plans (CM).</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326526">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600" b="1" i="0" u="none" strike="noStrike" kern="1200" cap="none" normalizeH="0" baseline="0" noProof="0" dirty="0" smtClean="0">
                          <a:ln>
                            <a:noFill/>
                          </a:ln>
                          <a:solidFill>
                            <a:srgbClr val="646464"/>
                          </a:solidFill>
                          <a:effectLst/>
                          <a:latin typeface="+mn-lt"/>
                          <a:ea typeface="+mn-ea"/>
                          <a:cs typeface="+mn-cs"/>
                        </a:rPr>
                        <a:t>Any agreement to go to Cloud may have implications on the Change interventions if we have a different solutions for Cloud and on </a:t>
                      </a:r>
                      <a:r>
                        <a:rPr kumimoji="0" lang="en-US" sz="600" b="1" i="0" u="none" strike="noStrike" kern="1200" cap="none" normalizeH="0" baseline="0" noProof="0" dirty="0" err="1" smtClean="0">
                          <a:ln>
                            <a:noFill/>
                          </a:ln>
                          <a:solidFill>
                            <a:srgbClr val="646464"/>
                          </a:solidFill>
                          <a:effectLst/>
                          <a:latin typeface="+mn-lt"/>
                          <a:ea typeface="+mn-ea"/>
                          <a:cs typeface="+mn-cs"/>
                        </a:rPr>
                        <a:t>prem</a:t>
                      </a:r>
                      <a:endParaRPr kumimoji="0" lang="en-US" sz="600" b="1" i="0" u="none" strike="noStrike" kern="1200" cap="none" normalizeH="0" baseline="0" noProof="0" dirty="0">
                        <a:ln>
                          <a:noFill/>
                        </a:ln>
                        <a:solidFill>
                          <a:srgbClr val="646464"/>
                        </a:solidFill>
                        <a:effectLst/>
                        <a:latin typeface="+mn-lt"/>
                        <a:ea typeface="+mn-ea"/>
                        <a:cs typeface="+mn-cs"/>
                      </a:endParaRPr>
                    </a:p>
                  </a:txBody>
                  <a:tcPr marL="31587" marR="3158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600" b="1" i="0" u="none" strike="noStrike" kern="1200" cap="none" normalizeH="0" baseline="0" noProof="0" dirty="0" smtClean="0">
                          <a:ln>
                            <a:noFill/>
                          </a:ln>
                          <a:solidFill>
                            <a:srgbClr val="646464"/>
                          </a:solidFill>
                          <a:effectLst/>
                          <a:latin typeface="+mn-lt"/>
                          <a:ea typeface="+mn-ea"/>
                          <a:cs typeface="+mn-cs"/>
                        </a:rPr>
                        <a:t>Align with Technical teams to understand and close gap between the two solutions or identify different interventions required to address differences.</a:t>
                      </a:r>
                      <a:endParaRPr kumimoji="0" lang="en-US" sz="600" b="1" i="0" u="none" strike="noStrike" kern="1200" cap="none" normalizeH="0" baseline="0" noProof="0" dirty="0">
                        <a:ln>
                          <a:noFill/>
                        </a:ln>
                        <a:solidFill>
                          <a:srgbClr val="646464"/>
                        </a:solidFill>
                        <a:effectLst/>
                        <a:latin typeface="+mn-lt"/>
                        <a:ea typeface="+mn-ea"/>
                        <a:cs typeface="+mn-cs"/>
                      </a:endParaRPr>
                    </a:p>
                  </a:txBody>
                  <a:tcPr marL="31587" marR="3158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29" name="Group 852"/>
          <p:cNvGraphicFramePr>
            <a:graphicFrameLocks noGrp="1"/>
          </p:cNvGraphicFramePr>
          <p:nvPr>
            <p:extLst>
              <p:ext uri="{D42A27DB-BD31-4B8C-83A1-F6EECF244321}">
                <p14:modId xmlns:p14="http://schemas.microsoft.com/office/powerpoint/2010/main" val="1405387476"/>
              </p:ext>
            </p:extLst>
          </p:nvPr>
        </p:nvGraphicFramePr>
        <p:xfrm>
          <a:off x="4572000" y="3933056"/>
          <a:ext cx="4355124" cy="1149356"/>
        </p:xfrm>
        <a:graphic>
          <a:graphicData uri="http://schemas.openxmlformats.org/drawingml/2006/table">
            <a:tbl>
              <a:tblPr/>
              <a:tblGrid>
                <a:gridCol w="2127006"/>
                <a:gridCol w="2228118"/>
              </a:tblGrid>
              <a:tr h="190854">
                <a:tc gridSpan="2">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600" b="1" i="0" u="none" strike="noStrike" cap="none" normalizeH="0" baseline="0" dirty="0" smtClean="0">
                          <a:ln>
                            <a:noFill/>
                          </a:ln>
                          <a:solidFill>
                            <a:schemeClr val="tx1"/>
                          </a:solidFill>
                          <a:effectLst/>
                          <a:latin typeface="+mn-lt"/>
                        </a:rPr>
                        <a:t>G. MATTERS FOR IMMEDIATE ATTENTION – typically specific current issues or scope changes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r>
              <a:tr h="184359">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600" b="1" i="0" u="none" strike="noStrike" cap="none" normalizeH="0" baseline="0" dirty="0" smtClean="0">
                          <a:ln>
                            <a:noFill/>
                          </a:ln>
                          <a:solidFill>
                            <a:schemeClr val="bg2"/>
                          </a:solidFill>
                          <a:effectLst/>
                          <a:latin typeface="+mn-lt"/>
                        </a:rPr>
                        <a:t>Issues to be resolved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600" b="1" i="0" u="none" strike="noStrike" cap="none" normalizeH="0" baseline="0" dirty="0" smtClean="0">
                          <a:ln>
                            <a:noFill/>
                          </a:ln>
                          <a:solidFill>
                            <a:schemeClr val="bg2"/>
                          </a:solidFill>
                          <a:effectLst/>
                          <a:latin typeface="+mn-lt"/>
                        </a:rPr>
                        <a:t>Recommended Action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235832">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cap="none" normalizeH="0" baseline="0" dirty="0" smtClean="0">
                          <a:ln>
                            <a:noFill/>
                          </a:ln>
                          <a:solidFill>
                            <a:srgbClr val="646464"/>
                          </a:solidFill>
                          <a:effectLst/>
                          <a:latin typeface="+mn-lt"/>
                        </a:rPr>
                        <a:t>Engagement with the Areas is well behind schedule which prevents direct preparation of a Change/ Deployment network and understanding of local impacts. </a:t>
                      </a:r>
                      <a:endParaRPr kumimoji="0" lang="en-US" sz="600" b="0" i="0" u="none" strike="noStrike" cap="none" normalizeH="0" baseline="0" dirty="0">
                        <a:ln>
                          <a:noFill/>
                        </a:ln>
                        <a:solidFill>
                          <a:srgbClr val="646464"/>
                        </a:solidFill>
                        <a:effectLst/>
                        <a:latin typeface="+mn-lt"/>
                      </a:endParaRPr>
                    </a:p>
                  </a:txBody>
                  <a:tcPr marL="31587" marR="3158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GB" sz="600" b="0" i="0" u="none" strike="noStrike" kern="1200" cap="none" normalizeH="0" baseline="0" dirty="0" smtClean="0">
                          <a:ln>
                            <a:noFill/>
                          </a:ln>
                          <a:solidFill>
                            <a:srgbClr val="646464"/>
                          </a:solidFill>
                          <a:effectLst/>
                          <a:latin typeface="+mn-lt"/>
                          <a:ea typeface="+mn-ea"/>
                          <a:cs typeface="+mn-cs"/>
                        </a:rPr>
                        <a:t>Initial calls taken place with </a:t>
                      </a:r>
                      <a:r>
                        <a:rPr kumimoji="0" lang="en-GB" sz="600" b="0" i="0" u="none" strike="noStrike" kern="1200" cap="none" normalizeH="0" baseline="0" dirty="0" err="1" smtClean="0">
                          <a:ln>
                            <a:noFill/>
                          </a:ln>
                          <a:solidFill>
                            <a:srgbClr val="646464"/>
                          </a:solidFill>
                          <a:effectLst/>
                          <a:latin typeface="+mn-lt"/>
                          <a:ea typeface="+mn-ea"/>
                          <a:cs typeface="+mn-cs"/>
                        </a:rPr>
                        <a:t>AsiaPac</a:t>
                      </a:r>
                      <a:r>
                        <a:rPr kumimoji="0" lang="en-GB" sz="600" b="0" i="0" u="none" strike="noStrike" kern="1200" cap="none" normalizeH="0" baseline="0" dirty="0" smtClean="0">
                          <a:ln>
                            <a:noFill/>
                          </a:ln>
                          <a:solidFill>
                            <a:srgbClr val="646464"/>
                          </a:solidFill>
                          <a:effectLst/>
                          <a:latin typeface="+mn-lt"/>
                          <a:ea typeface="+mn-ea"/>
                          <a:cs typeface="+mn-cs"/>
                        </a:rPr>
                        <a:t> and Americas </a:t>
                      </a:r>
                      <a:r>
                        <a:rPr kumimoji="0" lang="en-US" sz="600" b="0" i="0" u="none" strike="noStrike" kern="1200" cap="none" normalizeH="0" baseline="0" dirty="0" smtClean="0">
                          <a:ln>
                            <a:noFill/>
                          </a:ln>
                          <a:solidFill>
                            <a:schemeClr val="tx1"/>
                          </a:solidFill>
                          <a:effectLst/>
                          <a:latin typeface="+mn-lt"/>
                          <a:ea typeface="+mn-ea"/>
                          <a:cs typeface="+mn-cs"/>
                        </a:rPr>
                        <a:t>Sophie and Martin have had discussions with Margaret Walsh for ITSD. And now we are working on a joint governance approach with DCC. EMEAIA rep identified.</a:t>
                      </a:r>
                      <a:endParaRPr kumimoji="0" lang="en-GB" sz="600" b="0" i="0" u="none" strike="noStrike" kern="1200" cap="none" normalizeH="0" baseline="0" dirty="0" smtClean="0">
                        <a:ln>
                          <a:noFill/>
                        </a:ln>
                        <a:solidFill>
                          <a:srgbClr val="646464"/>
                        </a:solidFill>
                        <a:effectLst/>
                        <a:latin typeface="+mn-lt"/>
                        <a:ea typeface="+mn-ea"/>
                        <a:cs typeface="+mn-cs"/>
                      </a:endParaRPr>
                    </a:p>
                  </a:txBody>
                  <a:tcPr marL="31587" marR="3158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381017">
                <a:tc>
                  <a:txBody>
                    <a:bodyPr/>
                    <a:lstStyle/>
                    <a:p>
                      <a:pPr>
                        <a:buFont typeface="Arial" pitchFamily="34" charset="0"/>
                        <a:buChar char="•"/>
                      </a:pPr>
                      <a:r>
                        <a:rPr kumimoji="0" lang="en-GB" sz="600" b="0" i="0" u="none" strike="noStrike" kern="1200" cap="none" normalizeH="0" baseline="0" dirty="0" smtClean="0">
                          <a:ln>
                            <a:noFill/>
                          </a:ln>
                          <a:solidFill>
                            <a:srgbClr val="646464"/>
                          </a:solidFill>
                          <a:effectLst/>
                          <a:latin typeface="+mn-lt"/>
                          <a:ea typeface="+mn-ea"/>
                          <a:cs typeface="+mn-cs"/>
                        </a:rPr>
                        <a:t>  Decision making in business for </a:t>
                      </a:r>
                      <a:r>
                        <a:rPr kumimoji="0" lang="en-GB" sz="600" b="0" i="0" u="none" strike="noStrike" kern="1200" cap="none" normalizeH="0" baseline="0" dirty="0" err="1" smtClean="0">
                          <a:ln>
                            <a:noFill/>
                          </a:ln>
                          <a:solidFill>
                            <a:srgbClr val="646464"/>
                          </a:solidFill>
                          <a:effectLst/>
                          <a:latin typeface="+mn-lt"/>
                          <a:ea typeface="+mn-ea"/>
                          <a:cs typeface="+mn-cs"/>
                        </a:rPr>
                        <a:t>Lync</a:t>
                      </a:r>
                      <a:r>
                        <a:rPr kumimoji="0" lang="en-GB" sz="600" b="0" i="0" u="none" strike="noStrike" kern="1200" cap="none" normalizeH="0" baseline="0" dirty="0" smtClean="0">
                          <a:ln>
                            <a:noFill/>
                          </a:ln>
                          <a:solidFill>
                            <a:srgbClr val="646464"/>
                          </a:solidFill>
                          <a:effectLst/>
                          <a:latin typeface="+mn-lt"/>
                          <a:ea typeface="+mn-ea"/>
                          <a:cs typeface="+mn-cs"/>
                        </a:rPr>
                        <a:t> and Outlook is unclear. FSG not engaged over L&amp;O. L&amp;O Governance required</a:t>
                      </a:r>
                      <a:endParaRPr kumimoji="0" lang="en-GB" sz="600" b="0" i="0" u="none" strike="noStrike" kern="1200" cap="none" normalizeH="0" baseline="0" dirty="0">
                        <a:ln>
                          <a:noFill/>
                        </a:ln>
                        <a:solidFill>
                          <a:srgbClr val="646464"/>
                        </a:solidFill>
                        <a:effectLst/>
                        <a:latin typeface="+mn-lt"/>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buFont typeface="Arial" pitchFamily="34" charset="0"/>
                        <a:buChar char="•"/>
                      </a:pPr>
                      <a:r>
                        <a:rPr kumimoji="0" lang="en-GB" sz="600" b="0" i="0" u="none" strike="noStrike" kern="1200" cap="none" normalizeH="0" baseline="0" dirty="0" smtClean="0">
                          <a:ln>
                            <a:noFill/>
                          </a:ln>
                          <a:solidFill>
                            <a:srgbClr val="646464"/>
                          </a:solidFill>
                          <a:effectLst/>
                          <a:latin typeface="+mn-lt"/>
                          <a:ea typeface="+mn-ea"/>
                          <a:cs typeface="+mn-cs"/>
                        </a:rPr>
                        <a:t> Drafted L&amp;O governance and reviewed with Jeremy Brown.   A matrix of reviewers, approvers and escalation point has been prepared for functional areas and Areas. </a:t>
                      </a:r>
                      <a:endParaRPr kumimoji="0" lang="en-GB" sz="600" b="0" i="0" u="none" strike="noStrike" kern="1200" cap="none" normalizeH="0" baseline="0" dirty="0">
                        <a:ln>
                          <a:noFill/>
                        </a:ln>
                        <a:solidFill>
                          <a:srgbClr val="646464"/>
                        </a:solidFill>
                        <a:effectLst/>
                        <a:latin typeface="+mn-lt"/>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32" name="Table 31"/>
          <p:cNvGraphicFramePr>
            <a:graphicFrameLocks noGrp="1"/>
          </p:cNvGraphicFramePr>
          <p:nvPr>
            <p:extLst>
              <p:ext uri="{D42A27DB-BD31-4B8C-83A1-F6EECF244321}">
                <p14:modId xmlns:p14="http://schemas.microsoft.com/office/powerpoint/2010/main" val="3566102788"/>
              </p:ext>
            </p:extLst>
          </p:nvPr>
        </p:nvGraphicFramePr>
        <p:xfrm>
          <a:off x="4572000" y="5229201"/>
          <a:ext cx="4386949" cy="671753"/>
        </p:xfrm>
        <a:graphic>
          <a:graphicData uri="http://schemas.openxmlformats.org/drawingml/2006/table">
            <a:tbl>
              <a:tblPr/>
              <a:tblGrid>
                <a:gridCol w="4386949"/>
              </a:tblGrid>
              <a:tr h="95125">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600" b="1" i="0" u="none" strike="noStrike" cap="none" normalizeH="0" baseline="0" dirty="0" smtClean="0">
                          <a:ln>
                            <a:noFill/>
                          </a:ln>
                          <a:solidFill>
                            <a:schemeClr val="tx1"/>
                          </a:solidFill>
                          <a:effectLst/>
                          <a:latin typeface="+mn-lt"/>
                        </a:rPr>
                        <a:t>H.  GENERAL COMMENTS – must include reasoning for an overall Red or Amber Status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552947">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600" b="1" i="0" u="none" strike="noStrike" kern="1200" cap="none" normalizeH="0" baseline="0" dirty="0" smtClean="0">
                          <a:ln>
                            <a:noFill/>
                          </a:ln>
                          <a:solidFill>
                            <a:srgbClr val="646464"/>
                          </a:solidFill>
                          <a:effectLst/>
                          <a:latin typeface="+mn-lt"/>
                          <a:ea typeface="+mn-ea"/>
                          <a:cs typeface="+mn-cs"/>
                        </a:rPr>
                        <a:t>All areas are now green due to re-planning exercise </a:t>
                      </a:r>
                      <a:endParaRPr kumimoji="0" lang="en-US" sz="600" b="1" i="0" u="none" strike="noStrike" kern="1200" cap="none" normalizeH="0" baseline="0" dirty="0" smtClean="0">
                        <a:ln>
                          <a:noFill/>
                        </a:ln>
                        <a:solidFill>
                          <a:srgbClr val="646464"/>
                        </a:solidFill>
                        <a:effectLst/>
                        <a:latin typeface="+mn-lt"/>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44" name="Group 272"/>
          <p:cNvGraphicFramePr>
            <a:graphicFrameLocks noGrp="1"/>
          </p:cNvGraphicFramePr>
          <p:nvPr>
            <p:extLst>
              <p:ext uri="{D42A27DB-BD31-4B8C-83A1-F6EECF244321}">
                <p14:modId xmlns:p14="http://schemas.microsoft.com/office/powerpoint/2010/main" val="3281065643"/>
              </p:ext>
            </p:extLst>
          </p:nvPr>
        </p:nvGraphicFramePr>
        <p:xfrm>
          <a:off x="185051" y="1700809"/>
          <a:ext cx="4320480" cy="3888431"/>
        </p:xfrm>
        <a:graphic>
          <a:graphicData uri="http://schemas.openxmlformats.org/drawingml/2006/table">
            <a:tbl>
              <a:tblPr/>
              <a:tblGrid>
                <a:gridCol w="4320480"/>
              </a:tblGrid>
              <a:tr h="160966">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a:ln>
                            <a:noFill/>
                          </a:ln>
                          <a:solidFill>
                            <a:schemeClr val="tx1"/>
                          </a:solidFill>
                          <a:effectLst/>
                          <a:latin typeface="+mn-lt"/>
                        </a:rPr>
                        <a:t>B.  KEY ACCOMPLISHMENTS 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98255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chemeClr val="tx2"/>
                          </a:solidFill>
                          <a:effectLst/>
                          <a:latin typeface="+mn-lt"/>
                          <a:ea typeface="+mn-ea"/>
                          <a:cs typeface="+mn-cs"/>
                        </a:rPr>
                        <a:t>Team workshop in Secaucus to focus on detailed plans and service design approach.</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chemeClr val="tx2"/>
                          </a:solidFill>
                          <a:effectLst/>
                          <a:latin typeface="+mn-lt"/>
                          <a:ea typeface="+mn-ea"/>
                          <a:cs typeface="+mn-cs"/>
                        </a:rPr>
                        <a:t>Established weekly checkpoint call with Operational stakeholders.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chemeClr val="tx2"/>
                          </a:solidFill>
                          <a:effectLst/>
                          <a:latin typeface="+mn-lt"/>
                          <a:ea typeface="+mn-ea"/>
                          <a:cs typeface="+mn-cs"/>
                        </a:rPr>
                        <a:t>Began discussion with Microsoft with approach to design and O365 service integration</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700" b="0" i="0" u="none" strike="noStrike" kern="1200" cap="none" normalizeH="0" baseline="0" dirty="0" smtClean="0">
                          <a:ln>
                            <a:noFill/>
                          </a:ln>
                          <a:solidFill>
                            <a:schemeClr val="tx2"/>
                          </a:solidFill>
                          <a:effectLst/>
                          <a:latin typeface="+mn-lt"/>
                          <a:ea typeface="+mn-ea"/>
                          <a:cs typeface="+mn-cs"/>
                        </a:rPr>
                        <a:t>Redefined the transition management planning approach and aligned with CLEAR.</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GB" sz="700" b="0" i="0" u="none" strike="noStrike" kern="1200" cap="none" normalizeH="0" baseline="0" dirty="0" smtClean="0">
                        <a:ln>
                          <a:noFill/>
                        </a:ln>
                        <a:solidFill>
                          <a:schemeClr val="tx2"/>
                        </a:solidFill>
                        <a:effectLst/>
                        <a:latin typeface="+mn-lt"/>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GB" sz="700" b="0" i="0" u="none" strike="noStrike" kern="1200" cap="none" normalizeH="0" baseline="0" dirty="0">
                        <a:ln>
                          <a:noFill/>
                        </a:ln>
                        <a:solidFill>
                          <a:schemeClr val="tx2"/>
                        </a:solidFill>
                        <a:effectLst/>
                        <a:latin typeface="+mn-lt"/>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GB" sz="700" b="0" i="0" u="sng" strike="noStrike" kern="1200" cap="none" normalizeH="0" baseline="0" dirty="0">
                        <a:ln>
                          <a:noFill/>
                        </a:ln>
                        <a:solidFill>
                          <a:schemeClr val="tx2"/>
                        </a:solidFill>
                        <a:effectLst/>
                        <a:latin typeface="+mn-lt"/>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r h="191610">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a:ln>
                            <a:noFill/>
                          </a:ln>
                          <a:solidFill>
                            <a:schemeClr val="tx1"/>
                          </a:solidFill>
                          <a:effectLst/>
                          <a:latin typeface="+mn-lt"/>
                        </a:rPr>
                        <a:t>C.  ACTIVITIES BEHIND SCHEDULE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653320">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dirty="0">
                          <a:ln>
                            <a:noFill/>
                          </a:ln>
                          <a:solidFill>
                            <a:schemeClr val="tx2"/>
                          </a:solidFill>
                          <a:effectLst/>
                          <a:latin typeface="+mn-lt"/>
                          <a:ea typeface="+mn-ea"/>
                          <a:cs typeface="+mn-cs"/>
                        </a:rPr>
                        <a:t>Recruitment of TM resources</a:t>
                      </a:r>
                      <a:r>
                        <a:rPr kumimoji="0" lang="en-US" sz="700" b="0" i="0" u="none" strike="noStrike" kern="1200" cap="none" normalizeH="0" baseline="0" dirty="0" smtClean="0">
                          <a:ln>
                            <a:noFill/>
                          </a:ln>
                          <a:solidFill>
                            <a:schemeClr val="tx2"/>
                          </a:solidFill>
                          <a:effectLst/>
                          <a:latin typeface="+mn-lt"/>
                          <a:ea typeface="+mn-ea"/>
                          <a:cs typeface="+mn-cs"/>
                        </a:rPr>
                        <a:t>.</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71968">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mn-lt"/>
                        </a:rPr>
                        <a:t>D.  KEY ACTIVITIES PLANNED NEXT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728009">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1" i="0" u="none" strike="noStrike" kern="1200" cap="none" normalizeH="0" baseline="0" dirty="0" smtClean="0">
                          <a:ln>
                            <a:noFill/>
                          </a:ln>
                          <a:solidFill>
                            <a:schemeClr val="tx2"/>
                          </a:solidFill>
                          <a:effectLst/>
                          <a:latin typeface="+mn-lt"/>
                          <a:ea typeface="+mn-ea"/>
                          <a:cs typeface="+mn-cs"/>
                        </a:rPr>
                        <a:t>Preparation for Microsoft meeting w/c 26 March</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1" i="0" u="none" strike="noStrike" kern="1200" cap="none" normalizeH="0" baseline="0" dirty="0" smtClean="0">
                          <a:ln>
                            <a:noFill/>
                          </a:ln>
                          <a:solidFill>
                            <a:schemeClr val="tx2"/>
                          </a:solidFill>
                          <a:effectLst/>
                          <a:latin typeface="+mn-lt"/>
                          <a:ea typeface="+mn-ea"/>
                          <a:cs typeface="+mn-cs"/>
                        </a:rPr>
                        <a:t>Baseline service design plan</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1" i="0" u="none" strike="noStrike" kern="1200" cap="none" normalizeH="0" baseline="0" dirty="0" smtClean="0">
                          <a:ln>
                            <a:noFill/>
                          </a:ln>
                          <a:solidFill>
                            <a:schemeClr val="tx2"/>
                          </a:solidFill>
                          <a:effectLst/>
                          <a:latin typeface="+mn-lt"/>
                          <a:ea typeface="+mn-ea"/>
                          <a:cs typeface="+mn-cs"/>
                        </a:rPr>
                        <a:t>Baseline service transition plan.</a:t>
                      </a:r>
                      <a:endParaRPr kumimoji="0" lang="en-US" sz="700" b="1" i="0" u="none" strike="noStrike" kern="1200" cap="none" normalizeH="0" baseline="0" dirty="0">
                        <a:ln>
                          <a:noFill/>
                        </a:ln>
                        <a:solidFill>
                          <a:schemeClr val="tx2"/>
                        </a:solidFill>
                        <a:effectLst/>
                        <a:latin typeface="+mn-lt"/>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1" i="0" u="none" strike="noStrike" kern="1200" cap="none" normalizeH="0" baseline="0" dirty="0" smtClean="0">
                          <a:ln>
                            <a:noFill/>
                          </a:ln>
                          <a:solidFill>
                            <a:schemeClr val="tx2"/>
                          </a:solidFill>
                          <a:effectLst/>
                          <a:latin typeface="+mn-lt"/>
                          <a:ea typeface="+mn-ea"/>
                          <a:cs typeface="+mn-cs"/>
                        </a:rPr>
                        <a:t>Schedule Service Transition and Service Design workshop.</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1" i="0" u="none" strike="noStrike" kern="1200" cap="none" normalizeH="0" baseline="0" dirty="0" smtClean="0">
                          <a:ln>
                            <a:noFill/>
                          </a:ln>
                          <a:solidFill>
                            <a:schemeClr val="tx2"/>
                          </a:solidFill>
                          <a:effectLst/>
                          <a:latin typeface="+mn-lt"/>
                          <a:ea typeface="+mn-ea"/>
                          <a:cs typeface="+mn-cs"/>
                        </a:rPr>
                        <a:t>Review RACI for </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1" i="0" u="none" strike="noStrike" kern="1200" cap="none" normalizeH="0" baseline="0" dirty="0" smtClean="0">
                          <a:ln>
                            <a:noFill/>
                          </a:ln>
                          <a:solidFill>
                            <a:schemeClr val="tx2"/>
                          </a:solidFill>
                          <a:effectLst/>
                          <a:latin typeface="+mn-lt"/>
                          <a:ea typeface="+mn-ea"/>
                          <a:cs typeface="+mn-cs"/>
                        </a:rPr>
                        <a:t>Engaging formally with Operations leadership regarding formal engagement of I&amp;O resources.</a:t>
                      </a:r>
                      <a:endParaRPr kumimoji="0" lang="en-US" sz="700" b="1" i="0" u="none" strike="noStrike" kern="1200" cap="none" normalizeH="0" baseline="0" dirty="0">
                        <a:ln>
                          <a:noFill/>
                        </a:ln>
                        <a:solidFill>
                          <a:schemeClr val="tx2"/>
                        </a:solidFill>
                        <a:effectLst/>
                        <a:latin typeface="+mn-lt"/>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334100" name="Group 852"/>
          <p:cNvGraphicFramePr>
            <a:graphicFrameLocks noGrp="1"/>
          </p:cNvGraphicFramePr>
          <p:nvPr>
            <p:extLst>
              <p:ext uri="{D42A27DB-BD31-4B8C-83A1-F6EECF244321}">
                <p14:modId xmlns:p14="http://schemas.microsoft.com/office/powerpoint/2010/main" val="2218277072"/>
              </p:ext>
            </p:extLst>
          </p:nvPr>
        </p:nvGraphicFramePr>
        <p:xfrm>
          <a:off x="4572000" y="4077072"/>
          <a:ext cx="4355123" cy="1770542"/>
        </p:xfrm>
        <a:graphic>
          <a:graphicData uri="http://schemas.openxmlformats.org/drawingml/2006/table">
            <a:tbl>
              <a:tblPr/>
              <a:tblGrid>
                <a:gridCol w="2193474"/>
                <a:gridCol w="2161649"/>
              </a:tblGrid>
              <a:tr h="138975">
                <a:tc gridSpan="2">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mn-lt"/>
                        </a:rPr>
                        <a:t>G. MATTERS FOR IMMEDIATE ATTENTION – typically specific current issues or scope changes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r>
              <a:tr h="134245">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mn-lt"/>
                        </a:rPr>
                        <a:t>Issues to be resolved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mn-lt"/>
                        </a:rPr>
                        <a:t>Recommended Action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324313">
                <a:tc>
                  <a:txBody>
                    <a:bodyPr/>
                    <a:lstStyle/>
                    <a:p>
                      <a:pPr algn="l" fontAlgn="t"/>
                      <a:r>
                        <a:rPr lang="en-US" sz="700" b="0" i="0" u="none" strike="noStrike" dirty="0">
                          <a:solidFill>
                            <a:srgbClr val="000000"/>
                          </a:solidFill>
                          <a:latin typeface="+mn-lt"/>
                        </a:rPr>
                        <a:t>The common SP infrastructure for the firm does not have clear business ownership therefore we need new governance that will be responsible long term for communication of emergency outages and planning for regular maintenance</a:t>
                      </a:r>
                      <a:br>
                        <a:rPr lang="en-US" sz="700" b="0" i="0" u="none" strike="noStrike" dirty="0">
                          <a:solidFill>
                            <a:srgbClr val="000000"/>
                          </a:solidFill>
                          <a:latin typeface="+mn-lt"/>
                        </a:rPr>
                      </a:br>
                      <a:r>
                        <a:rPr lang="en-US" sz="700" b="0" i="0" u="none" strike="noStrike" dirty="0">
                          <a:solidFill>
                            <a:srgbClr val="000000"/>
                          </a:solidFill>
                          <a:latin typeface="+mn-lt"/>
                        </a:rPr>
                        <a:t/>
                      </a:r>
                      <a:br>
                        <a:rPr lang="en-US" sz="700" b="0" i="0" u="none" strike="noStrike" dirty="0">
                          <a:solidFill>
                            <a:srgbClr val="000000"/>
                          </a:solidFill>
                          <a:latin typeface="+mn-lt"/>
                        </a:rPr>
                      </a:br>
                      <a:r>
                        <a:rPr lang="en-US" sz="700" b="0" i="0" u="none" strike="noStrike" dirty="0">
                          <a:solidFill>
                            <a:srgbClr val="000000"/>
                          </a:solidFill>
                          <a:latin typeface="+mn-lt"/>
                        </a:rPr>
                        <a:t>System will not meet expectations post go live as it may not be available (due to an emergency, without prior communication) and patches may not occur per the schedule causing instability</a:t>
                      </a:r>
                    </a:p>
                  </a:txBody>
                  <a:tcPr marL="0" marR="0" marT="0" marB="0">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l" fontAlgn="t"/>
                      <a:r>
                        <a:rPr lang="en-US" sz="700" b="0" i="0" u="none" strike="noStrike" dirty="0">
                          <a:solidFill>
                            <a:srgbClr val="000000"/>
                          </a:solidFill>
                          <a:latin typeface="+mn-lt"/>
                        </a:rPr>
                        <a:t>To be determined via new Support model needed to support </a:t>
                      </a:r>
                      <a:r>
                        <a:rPr lang="en-US" sz="700" b="0" i="0" u="none" strike="noStrike" dirty="0" err="1">
                          <a:solidFill>
                            <a:srgbClr val="000000"/>
                          </a:solidFill>
                          <a:latin typeface="+mn-lt"/>
                        </a:rPr>
                        <a:t>Sharepoint</a:t>
                      </a:r>
                      <a:endParaRPr lang="en-US" sz="700" b="0" i="0" u="none" strike="noStrike" dirty="0">
                        <a:solidFill>
                          <a:srgbClr val="000000"/>
                        </a:solidFill>
                        <a:latin typeface="+mn-lt"/>
                      </a:endParaRPr>
                    </a:p>
                  </a:txBody>
                  <a:tcPr marL="0" marR="0" marT="0" marB="0">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25136">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mn-lt"/>
                        </a:rPr>
                        <a:t>Scope Change requests to be approved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mn-lt"/>
                        </a:rPr>
                        <a:t>Recommended Action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296476">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a:ln>
                            <a:noFill/>
                          </a:ln>
                          <a:solidFill>
                            <a:schemeClr val="tx2"/>
                          </a:solidFill>
                          <a:effectLst/>
                          <a:latin typeface="+mn-lt"/>
                        </a:rPr>
                        <a:t>None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endParaRPr kumimoji="0" lang="en-US" sz="700" b="0" i="0" u="none" strike="noStrike" cap="none" normalizeH="0" baseline="0" dirty="0">
                        <a:ln>
                          <a:noFill/>
                        </a:ln>
                        <a:solidFill>
                          <a:schemeClr val="tx2"/>
                        </a:solidFill>
                        <a:effectLst/>
                        <a:latin typeface="+mn-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3317" name="Group 245"/>
          <p:cNvGraphicFramePr>
            <a:graphicFrameLocks noGrp="1"/>
          </p:cNvGraphicFramePr>
          <p:nvPr>
            <p:extLst>
              <p:ext uri="{D42A27DB-BD31-4B8C-83A1-F6EECF244321}">
                <p14:modId xmlns:p14="http://schemas.microsoft.com/office/powerpoint/2010/main" val="3185003915"/>
              </p:ext>
            </p:extLst>
          </p:nvPr>
        </p:nvGraphicFramePr>
        <p:xfrm>
          <a:off x="185051" y="548680"/>
          <a:ext cx="4254011" cy="1008112"/>
        </p:xfrm>
        <a:graphic>
          <a:graphicData uri="http://schemas.openxmlformats.org/drawingml/2006/table">
            <a:tbl>
              <a:tblPr/>
              <a:tblGrid>
                <a:gridCol w="4254011"/>
              </a:tblGrid>
              <a:tr h="199200">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mn-lt"/>
                        </a:rPr>
                        <a:t>A.  </a:t>
                      </a:r>
                      <a:r>
                        <a:rPr kumimoji="0" lang="en-GB" sz="700" b="1" i="0" u="none" strike="noStrike" cap="none" normalizeH="0" baseline="0" dirty="0">
                          <a:ln>
                            <a:noFill/>
                          </a:ln>
                          <a:solidFill>
                            <a:schemeClr val="tx1"/>
                          </a:solidFill>
                          <a:effectLst/>
                          <a:latin typeface="+mn-lt"/>
                        </a:rPr>
                        <a:t>EXECUTIVE SUMMARY – a summary of the progress for this period (not of the initiative)</a:t>
                      </a:r>
                      <a:endParaRPr kumimoji="0" lang="en-US" sz="700" b="1" i="0" u="none" strike="noStrike" cap="none" normalizeH="0" baseline="0" dirty="0">
                        <a:ln>
                          <a:noFill/>
                        </a:ln>
                        <a:solidFill>
                          <a:schemeClr val="tx1"/>
                        </a:solidFill>
                        <a:effectLst/>
                        <a:latin typeface="+mn-lt"/>
                      </a:endParaRPr>
                    </a:p>
                  </a:txBody>
                  <a:tcPr marL="33231" marR="33231" marT="14400" marB="14400"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808912">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Char char="•"/>
                        <a:tabLst/>
                        <a:defRPr/>
                      </a:pPr>
                      <a:r>
                        <a:rPr kumimoji="0" lang="en-US" sz="700" b="0" i="0" u="none" strike="noStrike" kern="1200" cap="none" normalizeH="0" baseline="0" dirty="0">
                          <a:ln>
                            <a:noFill/>
                          </a:ln>
                          <a:solidFill>
                            <a:schemeClr val="tx2"/>
                          </a:solidFill>
                          <a:effectLst/>
                          <a:latin typeface="+mn-lt"/>
                          <a:ea typeface="+mn-ea"/>
                          <a:cs typeface="+mn-cs"/>
                        </a:rPr>
                        <a:t> Developing transition plans with each </a:t>
                      </a:r>
                      <a:r>
                        <a:rPr kumimoji="0" lang="en-US" sz="700" b="0" i="0" u="none" strike="noStrike" kern="1200" cap="none" normalizeH="0" baseline="0" dirty="0" err="1">
                          <a:ln>
                            <a:noFill/>
                          </a:ln>
                          <a:solidFill>
                            <a:schemeClr val="tx2"/>
                          </a:solidFill>
                          <a:effectLst/>
                          <a:latin typeface="+mn-lt"/>
                          <a:ea typeface="+mn-ea"/>
                          <a:cs typeface="+mn-cs"/>
                        </a:rPr>
                        <a:t>workstream</a:t>
                      </a:r>
                      <a:r>
                        <a:rPr kumimoji="0" lang="en-US" sz="700" b="0" i="0" u="none" strike="noStrike" kern="1200" cap="none" normalizeH="0" baseline="0" dirty="0">
                          <a:ln>
                            <a:noFill/>
                          </a:ln>
                          <a:solidFill>
                            <a:schemeClr val="tx2"/>
                          </a:solidFill>
                          <a:effectLst/>
                          <a:latin typeface="+mn-lt"/>
                          <a:ea typeface="+mn-ea"/>
                          <a:cs typeface="+mn-cs"/>
                        </a:rPr>
                        <a:t> based on current Transition methodology.</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Char char="•"/>
                        <a:tabLst/>
                        <a:defRPr/>
                      </a:pPr>
                      <a:r>
                        <a:rPr kumimoji="0" lang="en-US" sz="700" b="0" i="0" u="none" strike="noStrike" kern="1200" cap="none" normalizeH="0" baseline="0" dirty="0">
                          <a:ln>
                            <a:noFill/>
                          </a:ln>
                          <a:solidFill>
                            <a:schemeClr val="tx2"/>
                          </a:solidFill>
                          <a:effectLst/>
                          <a:latin typeface="+mn-lt"/>
                          <a:ea typeface="+mn-ea"/>
                          <a:cs typeface="+mn-cs"/>
                        </a:rPr>
                        <a:t>Deployment of the dormant Lync client has reached full saturation.</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Char char="•"/>
                        <a:tabLst/>
                        <a:defRPr/>
                      </a:pPr>
                      <a:r>
                        <a:rPr kumimoji="0" lang="en-US" sz="700" b="0" i="0" u="none" strike="noStrike" kern="1200" cap="none" normalizeH="0" baseline="0" dirty="0">
                          <a:ln>
                            <a:noFill/>
                          </a:ln>
                          <a:solidFill>
                            <a:schemeClr val="tx2"/>
                          </a:solidFill>
                          <a:effectLst/>
                          <a:latin typeface="+mn-lt"/>
                          <a:ea typeface="+mn-ea"/>
                          <a:cs typeface="+mn-cs"/>
                        </a:rPr>
                        <a:t>Deployment of the dormant Outlook client </a:t>
                      </a:r>
                      <a:r>
                        <a:rPr kumimoji="0" lang="en-US" sz="700" b="0" i="0" u="none" strike="noStrike" kern="1200" cap="none" normalizeH="0" baseline="0" dirty="0" smtClean="0">
                          <a:ln>
                            <a:noFill/>
                          </a:ln>
                          <a:solidFill>
                            <a:schemeClr val="tx2"/>
                          </a:solidFill>
                          <a:effectLst/>
                          <a:latin typeface="+mn-lt"/>
                          <a:ea typeface="+mn-ea"/>
                          <a:cs typeface="+mn-cs"/>
                        </a:rPr>
                        <a:t>has started</a:t>
                      </a:r>
                      <a:endParaRPr kumimoji="0" lang="en-US" sz="700" b="0" i="0" u="none" strike="noStrike" kern="1200" cap="none" normalizeH="0" baseline="0" dirty="0">
                        <a:ln>
                          <a:noFill/>
                        </a:ln>
                        <a:solidFill>
                          <a:schemeClr val="tx2"/>
                        </a:solidFill>
                        <a:effectLst/>
                        <a:latin typeface="+mn-lt"/>
                        <a:ea typeface="+mn-ea"/>
                        <a:cs typeface="+mn-cs"/>
                      </a:endParaRP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Char char="•"/>
                        <a:tabLst/>
                        <a:defRPr/>
                      </a:pPr>
                      <a:r>
                        <a:rPr kumimoji="0" lang="en-US" sz="700" b="0" i="0" u="none" strike="noStrike" kern="1200" cap="none" normalizeH="0" baseline="0" dirty="0" smtClean="0">
                          <a:ln>
                            <a:noFill/>
                          </a:ln>
                          <a:solidFill>
                            <a:schemeClr val="tx2"/>
                          </a:solidFill>
                          <a:effectLst/>
                          <a:latin typeface="+mn-lt"/>
                          <a:ea typeface="+mn-ea"/>
                          <a:cs typeface="+mn-cs"/>
                        </a:rPr>
                        <a:t>M&amp;C </a:t>
                      </a:r>
                      <a:r>
                        <a:rPr kumimoji="0" lang="en-US" sz="700" b="0" i="0" u="none" strike="noStrike" kern="1200" cap="none" normalizeH="0" baseline="0" dirty="0">
                          <a:ln>
                            <a:noFill/>
                          </a:ln>
                          <a:solidFill>
                            <a:schemeClr val="tx2"/>
                          </a:solidFill>
                          <a:effectLst/>
                          <a:latin typeface="+mn-lt"/>
                          <a:ea typeface="+mn-ea"/>
                          <a:cs typeface="+mn-cs"/>
                        </a:rPr>
                        <a:t>Transition </a:t>
                      </a:r>
                      <a:r>
                        <a:rPr kumimoji="0" lang="en-US" sz="700" b="0" i="0" u="none" strike="noStrike" kern="1200" cap="none" normalizeH="0" baseline="0" dirty="0" smtClean="0">
                          <a:ln>
                            <a:noFill/>
                          </a:ln>
                          <a:solidFill>
                            <a:schemeClr val="tx2"/>
                          </a:solidFill>
                          <a:effectLst/>
                          <a:latin typeface="+mn-lt"/>
                          <a:ea typeface="+mn-ea"/>
                          <a:cs typeface="+mn-cs"/>
                        </a:rPr>
                        <a:t>team developing the </a:t>
                      </a:r>
                      <a:r>
                        <a:rPr kumimoji="0" lang="en-US" sz="700" b="0" i="0" u="none" strike="noStrike" kern="1200" cap="none" normalizeH="0" baseline="0" dirty="0">
                          <a:ln>
                            <a:noFill/>
                          </a:ln>
                          <a:solidFill>
                            <a:schemeClr val="tx2"/>
                          </a:solidFill>
                          <a:effectLst/>
                          <a:latin typeface="+mn-lt"/>
                          <a:ea typeface="+mn-ea"/>
                          <a:cs typeface="+mn-cs"/>
                        </a:rPr>
                        <a:t>future </a:t>
                      </a:r>
                      <a:r>
                        <a:rPr kumimoji="0" lang="en-US" sz="700" b="0" i="0" u="none" strike="noStrike" kern="1200" cap="none" normalizeH="0" baseline="0" dirty="0" smtClean="0">
                          <a:ln>
                            <a:noFill/>
                          </a:ln>
                          <a:solidFill>
                            <a:schemeClr val="tx2"/>
                          </a:solidFill>
                          <a:effectLst/>
                          <a:latin typeface="+mn-lt"/>
                          <a:ea typeface="+mn-ea"/>
                          <a:cs typeface="+mn-cs"/>
                        </a:rPr>
                        <a:t>Service Design and resulting program </a:t>
                      </a:r>
                      <a:r>
                        <a:rPr kumimoji="0" lang="en-US" sz="700" b="0" i="0" u="none" strike="noStrike" kern="1200" cap="none" normalizeH="0" baseline="0" dirty="0">
                          <a:ln>
                            <a:noFill/>
                          </a:ln>
                          <a:solidFill>
                            <a:schemeClr val="tx2"/>
                          </a:solidFill>
                          <a:effectLst/>
                          <a:latin typeface="+mn-lt"/>
                          <a:ea typeface="+mn-ea"/>
                          <a:cs typeface="+mn-cs"/>
                        </a:rPr>
                        <a:t>transition plan</a:t>
                      </a:r>
                      <a:r>
                        <a:rPr kumimoji="0" lang="en-US" sz="700" b="0" i="0" u="none" strike="noStrike" kern="1200" cap="none" normalizeH="0" baseline="0" dirty="0" smtClean="0">
                          <a:ln>
                            <a:noFill/>
                          </a:ln>
                          <a:solidFill>
                            <a:schemeClr val="tx2"/>
                          </a:solidFill>
                          <a:effectLst/>
                          <a:latin typeface="+mn-lt"/>
                          <a:ea typeface="+mn-ea"/>
                          <a:cs typeface="+mn-cs"/>
                        </a:rPr>
                        <a:t>.</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Char char="•"/>
                        <a:tabLst/>
                        <a:defRPr/>
                      </a:pPr>
                      <a:r>
                        <a:rPr kumimoji="0" lang="en-US" sz="700" b="0" i="0" u="none" strike="noStrike" kern="1200" cap="none" normalizeH="0" baseline="0" dirty="0" smtClean="0">
                          <a:ln>
                            <a:noFill/>
                          </a:ln>
                          <a:solidFill>
                            <a:schemeClr val="tx2"/>
                          </a:solidFill>
                          <a:effectLst/>
                          <a:latin typeface="+mn-lt"/>
                          <a:ea typeface="+mn-ea"/>
                          <a:cs typeface="+mn-cs"/>
                        </a:rPr>
                        <a:t>Recruitment activities ongoing.  Candidate identified, due to move on offer.</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Char char="•"/>
                        <a:tabLst/>
                        <a:defRPr/>
                      </a:pPr>
                      <a:r>
                        <a:rPr kumimoji="0" lang="en-US" sz="700" b="0" i="0" u="none" strike="noStrike" kern="1200" cap="none" normalizeH="0" baseline="0" dirty="0" smtClean="0">
                          <a:ln>
                            <a:noFill/>
                          </a:ln>
                          <a:solidFill>
                            <a:schemeClr val="tx2"/>
                          </a:solidFill>
                          <a:effectLst/>
                          <a:latin typeface="+mn-lt"/>
                          <a:ea typeface="+mn-ea"/>
                          <a:cs typeface="+mn-cs"/>
                        </a:rPr>
                        <a:t>Defining approach to ensure all transition and service design activity is aligned to CLEAR.</a:t>
                      </a:r>
                      <a:endParaRPr kumimoji="0" lang="en-US" sz="700" b="0" i="0" u="none" strike="noStrike" kern="1200" cap="none" normalizeH="0" baseline="0" dirty="0">
                        <a:ln>
                          <a:noFill/>
                        </a:ln>
                        <a:solidFill>
                          <a:schemeClr val="tx2"/>
                        </a:solidFill>
                        <a:effectLst/>
                        <a:latin typeface="+mn-lt"/>
                        <a:ea typeface="+mn-ea"/>
                        <a:cs typeface="+mn-cs"/>
                      </a:endParaRPr>
                    </a:p>
                  </a:txBody>
                  <a:tcPr marL="33231" marR="33231" marT="14400" marB="14400"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3342" name="Group 270"/>
          <p:cNvGraphicFramePr>
            <a:graphicFrameLocks noGrp="1"/>
          </p:cNvGraphicFramePr>
          <p:nvPr>
            <p:extLst>
              <p:ext uri="{D42A27DB-BD31-4B8C-83A1-F6EECF244321}">
                <p14:modId xmlns:p14="http://schemas.microsoft.com/office/powerpoint/2010/main" val="4012257226"/>
              </p:ext>
            </p:extLst>
          </p:nvPr>
        </p:nvGraphicFramePr>
        <p:xfrm>
          <a:off x="4572000" y="548680"/>
          <a:ext cx="4386947" cy="1590580"/>
        </p:xfrm>
        <a:graphic>
          <a:graphicData uri="http://schemas.openxmlformats.org/drawingml/2006/table">
            <a:tbl>
              <a:tblPr/>
              <a:tblGrid>
                <a:gridCol w="1412869"/>
                <a:gridCol w="708114"/>
                <a:gridCol w="752649"/>
                <a:gridCol w="756657"/>
                <a:gridCol w="756658"/>
              </a:tblGrid>
              <a:tr h="149129">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a:ln>
                            <a:noFill/>
                          </a:ln>
                          <a:solidFill>
                            <a:schemeClr val="tx1"/>
                          </a:solidFill>
                          <a:effectLst/>
                          <a:latin typeface="+mj-lt"/>
                          <a:ea typeface="+mn-ea"/>
                          <a:cs typeface="+mn-cs"/>
                        </a:rPr>
                        <a:t>E.  MILESTONES</a:t>
                      </a:r>
                      <a:endParaRPr kumimoji="0" lang="en-US" sz="700" b="0" i="0" u="none" strike="noStrike" kern="1200" cap="none" normalizeH="0" baseline="0" dirty="0">
                        <a:ln>
                          <a:noFill/>
                        </a:ln>
                        <a:solidFill>
                          <a:schemeClr val="tx1"/>
                        </a:solidFill>
                        <a:effectLst/>
                        <a:latin typeface="+mj-lt"/>
                        <a:ea typeface="+mn-ea"/>
                        <a:cs typeface="+mn-cs"/>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329816">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mj-lt"/>
                        </a:rPr>
                        <a:t>Individual Milestone Name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mj-lt"/>
                        </a:rPr>
                        <a:t>Planned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mj-lt"/>
                        </a:rPr>
                        <a:t>Projected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mj-lt"/>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mj-lt"/>
                        </a:rPr>
                        <a:t>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241135">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a:ln>
                            <a:noFill/>
                          </a:ln>
                          <a:solidFill>
                            <a:srgbClr val="646464"/>
                          </a:solidFill>
                          <a:effectLst/>
                          <a:latin typeface="+mj-lt"/>
                        </a:rPr>
                        <a:t>IT Transition Plan for SharePoint</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a:ln>
                            <a:noFill/>
                          </a:ln>
                          <a:solidFill>
                            <a:srgbClr val="646464"/>
                          </a:solidFill>
                          <a:effectLst/>
                          <a:latin typeface="+mj-lt"/>
                        </a:rPr>
                        <a:t>1 Feb </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a:ln>
                            <a:noFill/>
                          </a:ln>
                          <a:solidFill>
                            <a:srgbClr val="646464"/>
                          </a:solidFill>
                          <a:effectLst/>
                          <a:latin typeface="+mj-lt"/>
                        </a:rPr>
                        <a:t>16 Mar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rgbClr val="646464"/>
                          </a:solidFill>
                          <a:effectLst/>
                          <a:latin typeface="+mj-lt"/>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rgbClr val="646464"/>
                          </a:solidFill>
                          <a:effectLst/>
                          <a:latin typeface="+mj-lt"/>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72008">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a:ln>
                            <a:noFill/>
                          </a:ln>
                          <a:solidFill>
                            <a:srgbClr val="646464"/>
                          </a:solidFill>
                          <a:effectLst/>
                          <a:latin typeface="+mj-lt"/>
                        </a:rPr>
                        <a:t>IT Transition Plan for Lync &amp; Messaging</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a:ln>
                            <a:noFill/>
                          </a:ln>
                          <a:solidFill>
                            <a:srgbClr val="646464"/>
                          </a:solidFill>
                          <a:effectLst/>
                          <a:latin typeface="+mj-lt"/>
                        </a:rPr>
                        <a:t>1 Feb </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a:ln>
                            <a:noFill/>
                          </a:ln>
                          <a:solidFill>
                            <a:srgbClr val="646464"/>
                          </a:solidFill>
                          <a:effectLst/>
                          <a:latin typeface="+mj-lt"/>
                        </a:rPr>
                        <a:t>16 Mar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rgbClr val="646464"/>
                          </a:solidFill>
                          <a:effectLst/>
                          <a:latin typeface="+mj-lt"/>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rgbClr val="646464"/>
                          </a:solidFill>
                          <a:effectLst/>
                          <a:latin typeface="+mj-lt"/>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72008">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a:ln>
                            <a:noFill/>
                          </a:ln>
                          <a:solidFill>
                            <a:srgbClr val="646464"/>
                          </a:solidFill>
                          <a:effectLst/>
                          <a:latin typeface="+mj-lt"/>
                        </a:rPr>
                        <a:t>IT Transition Plan for Exchange</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a:ln>
                            <a:noFill/>
                          </a:ln>
                          <a:solidFill>
                            <a:srgbClr val="646464"/>
                          </a:solidFill>
                          <a:effectLst/>
                          <a:latin typeface="+mj-lt"/>
                        </a:rPr>
                        <a:t>1 Feb</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a:ln>
                            <a:noFill/>
                          </a:ln>
                          <a:solidFill>
                            <a:srgbClr val="646464"/>
                          </a:solidFill>
                          <a:effectLst/>
                          <a:latin typeface="+mj-lt"/>
                        </a:rPr>
                        <a:t>16 Mar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rgbClr val="646464"/>
                          </a:solidFill>
                          <a:effectLst/>
                          <a:latin typeface="+mj-lt"/>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rgbClr val="646464"/>
                          </a:solidFill>
                          <a:effectLst/>
                          <a:latin typeface="+mj-lt"/>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244334">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a:ln>
                            <a:noFill/>
                          </a:ln>
                          <a:solidFill>
                            <a:srgbClr val="646464"/>
                          </a:solidFill>
                          <a:effectLst/>
                          <a:latin typeface="+mj-lt"/>
                        </a:rPr>
                        <a:t>IT Transition Plan for A&amp;DM</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a:ln>
                            <a:noFill/>
                          </a:ln>
                          <a:solidFill>
                            <a:srgbClr val="646464"/>
                          </a:solidFill>
                          <a:effectLst/>
                          <a:latin typeface="+mj-lt"/>
                        </a:rPr>
                        <a:t>TBD</a:t>
                      </a:r>
                    </a:p>
                    <a:p>
                      <a:pPr marL="85725" marR="0" lvl="0" indent="-85725" algn="l" defTabSz="947738" rtl="0" eaLnBrk="0" fontAlgn="base" latinLnBrk="0" hangingPunct="0">
                        <a:lnSpc>
                          <a:spcPct val="100000"/>
                        </a:lnSpc>
                        <a:spcBef>
                          <a:spcPct val="0"/>
                        </a:spcBef>
                        <a:spcAft>
                          <a:spcPct val="10000"/>
                        </a:spcAft>
                        <a:buClrTx/>
                        <a:buSzTx/>
                        <a:buFontTx/>
                        <a:buNone/>
                        <a:tabLst/>
                        <a:defRPr/>
                      </a:pPr>
                      <a:endParaRPr kumimoji="0" lang="en-US" sz="700" b="0" i="0" u="none" strike="noStrike" cap="none" normalizeH="0" baseline="0" dirty="0">
                        <a:ln>
                          <a:noFill/>
                        </a:ln>
                        <a:solidFill>
                          <a:srgbClr val="646464"/>
                        </a:solidFill>
                        <a:effectLst/>
                        <a:latin typeface="+mj-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a:ln>
                            <a:noFill/>
                          </a:ln>
                          <a:solidFill>
                            <a:srgbClr val="646464"/>
                          </a:solidFill>
                          <a:effectLst/>
                          <a:latin typeface="+mj-lt"/>
                        </a:rPr>
                        <a:t>TBD</a:t>
                      </a:r>
                    </a:p>
                    <a:p>
                      <a:pPr marL="85725" marR="0" lvl="0" indent="-85725" algn="l" defTabSz="947738" rtl="0" eaLnBrk="0" fontAlgn="base" latinLnBrk="0" hangingPunct="0">
                        <a:lnSpc>
                          <a:spcPct val="100000"/>
                        </a:lnSpc>
                        <a:spcBef>
                          <a:spcPct val="0"/>
                        </a:spcBef>
                        <a:spcAft>
                          <a:spcPct val="10000"/>
                        </a:spcAft>
                        <a:buClrTx/>
                        <a:buSzTx/>
                        <a:buFontTx/>
                        <a:buNone/>
                        <a:tabLst/>
                        <a:defRPr/>
                      </a:pPr>
                      <a:endParaRPr kumimoji="0" lang="en-US" sz="700" b="0" i="0" u="none" strike="noStrike" cap="none" normalizeH="0" baseline="0" dirty="0">
                        <a:ln>
                          <a:noFill/>
                        </a:ln>
                        <a:solidFill>
                          <a:srgbClr val="646464"/>
                        </a:solidFill>
                        <a:effectLst/>
                        <a:latin typeface="+mj-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rgbClr val="646464"/>
                          </a:solidFill>
                          <a:effectLst/>
                          <a:latin typeface="+mj-lt"/>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rgbClr val="646464"/>
                          </a:solidFill>
                          <a:effectLst/>
                          <a:latin typeface="+mj-lt"/>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244334">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a:ln>
                            <a:noFill/>
                          </a:ln>
                          <a:solidFill>
                            <a:srgbClr val="646464"/>
                          </a:solidFill>
                          <a:effectLst/>
                          <a:latin typeface="+mj-lt"/>
                        </a:rPr>
                        <a:t>Overall M&amp;C  Transition Plan</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a:ln>
                            <a:noFill/>
                          </a:ln>
                          <a:solidFill>
                            <a:srgbClr val="646464"/>
                          </a:solidFill>
                          <a:effectLst/>
                          <a:latin typeface="+mj-lt"/>
                        </a:rPr>
                        <a:t>17 Feb</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cap="none" normalizeH="0" baseline="0">
                          <a:ln>
                            <a:noFill/>
                          </a:ln>
                          <a:solidFill>
                            <a:srgbClr val="646464"/>
                          </a:solidFill>
                          <a:effectLst/>
                          <a:latin typeface="+mj-lt"/>
                        </a:rPr>
                        <a:t>16 Mar</a:t>
                      </a:r>
                      <a:endParaRPr kumimoji="0" lang="en-US" sz="700" b="0" i="0" u="none" strike="noStrike" cap="none" normalizeH="0" baseline="0" dirty="0">
                        <a:ln>
                          <a:noFill/>
                        </a:ln>
                        <a:solidFill>
                          <a:srgbClr val="646464"/>
                        </a:solidFill>
                        <a:effectLst/>
                        <a:latin typeface="+mj-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rgbClr val="646464"/>
                          </a:solidFill>
                          <a:effectLst/>
                          <a:latin typeface="+mj-lt"/>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rgbClr val="646464"/>
                          </a:solidFill>
                          <a:effectLst/>
                          <a:latin typeface="+mj-lt"/>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15" name="Group 270"/>
          <p:cNvGraphicFramePr>
            <a:graphicFrameLocks noGrp="1"/>
          </p:cNvGraphicFramePr>
          <p:nvPr>
            <p:extLst>
              <p:ext uri="{D42A27DB-BD31-4B8C-83A1-F6EECF244321}">
                <p14:modId xmlns:p14="http://schemas.microsoft.com/office/powerpoint/2010/main" val="2010413048"/>
              </p:ext>
            </p:extLst>
          </p:nvPr>
        </p:nvGraphicFramePr>
        <p:xfrm>
          <a:off x="7430164" y="1"/>
          <a:ext cx="1503209" cy="535063"/>
        </p:xfrm>
        <a:graphic>
          <a:graphicData uri="http://schemas.openxmlformats.org/drawingml/2006/table">
            <a:tbl>
              <a:tblPr/>
              <a:tblGrid>
                <a:gridCol w="751604"/>
                <a:gridCol w="751605"/>
              </a:tblGrid>
              <a:tr h="152406">
                <a:tc gridSpan="2">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kern="1200" cap="none" normalizeH="0" baseline="0" dirty="0">
                          <a:ln>
                            <a:noFill/>
                          </a:ln>
                          <a:solidFill>
                            <a:schemeClr val="tx1"/>
                          </a:solidFill>
                          <a:effectLst/>
                          <a:latin typeface="EYInterstate" pitchFamily="2" charset="0"/>
                          <a:ea typeface="+mn-ea"/>
                          <a:cs typeface="+mn-cs"/>
                        </a:rPr>
                        <a:t>OVERALL INITIATIVE STATUS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8884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93813">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chemeClr val="tx1"/>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1328356871"/>
              </p:ext>
            </p:extLst>
          </p:nvPr>
        </p:nvGraphicFramePr>
        <p:xfrm>
          <a:off x="4572000" y="2276873"/>
          <a:ext cx="4355123" cy="1728193"/>
        </p:xfrm>
        <a:graphic>
          <a:graphicData uri="http://schemas.openxmlformats.org/drawingml/2006/table">
            <a:tbl>
              <a:tblPr/>
              <a:tblGrid>
                <a:gridCol w="2193474"/>
                <a:gridCol w="2161649"/>
              </a:tblGrid>
              <a:tr h="181418">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600" b="1" i="0" u="none" strike="noStrike" cap="none" normalizeH="0" baseline="0" dirty="0">
                          <a:ln>
                            <a:noFill/>
                          </a:ln>
                          <a:solidFill>
                            <a:schemeClr val="tx1"/>
                          </a:solidFill>
                          <a:effectLst/>
                          <a:latin typeface="+mn-lt"/>
                        </a:rPr>
                        <a:t>F.  KEY RISKS – typically future challenges or external circumstances that may affect the initiative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r>
              <a:tr h="221746">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600" b="1" i="0" u="none" strike="noStrike" cap="none" normalizeH="0" baseline="0" dirty="0">
                          <a:ln>
                            <a:noFill/>
                          </a:ln>
                          <a:solidFill>
                            <a:schemeClr val="bg2"/>
                          </a:solidFill>
                          <a:effectLst/>
                          <a:latin typeface="+mn-lt"/>
                        </a:rPr>
                        <a:t>Risks to be addressed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600" b="1" i="0" u="none" strike="noStrike" cap="none" normalizeH="0" baseline="0" dirty="0">
                          <a:ln>
                            <a:noFill/>
                          </a:ln>
                          <a:solidFill>
                            <a:schemeClr val="bg2"/>
                          </a:solidFill>
                          <a:effectLst/>
                          <a:latin typeface="+mn-lt"/>
                        </a:rPr>
                        <a:t>Mitigating Action</a:t>
                      </a:r>
                      <a:endParaRPr kumimoji="0" lang="en-US" sz="600" b="0" i="0" u="none" strike="noStrike" cap="none" normalizeH="0" baseline="0" dirty="0">
                        <a:ln>
                          <a:noFill/>
                        </a:ln>
                        <a:solidFill>
                          <a:schemeClr val="bg2"/>
                        </a:solidFill>
                        <a:effectLst/>
                        <a:latin typeface="+mn-lt"/>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542789">
                <a:tc>
                  <a:txBody>
                    <a:bodyPr/>
                    <a:lstStyle/>
                    <a:p>
                      <a:pPr algn="l" fontAlgn="t"/>
                      <a:r>
                        <a:rPr lang="en-US" sz="600" b="0" i="0" u="none" strike="noStrike" dirty="0">
                          <a:solidFill>
                            <a:srgbClr val="000000"/>
                          </a:solidFill>
                          <a:latin typeface="+mn-lt"/>
                        </a:rPr>
                        <a:t>There is a risk that revised project timelines may impact the timeline of TOM design. If we do this too early we may not get buy in and could potentially create rework later in the process. </a:t>
                      </a:r>
                    </a:p>
                  </a:txBody>
                  <a:tcPr marL="0" marR="0" marT="0" marB="0">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l" fontAlgn="t"/>
                      <a:r>
                        <a:rPr lang="en-US" sz="600" b="0" i="0" u="none" strike="noStrike">
                          <a:solidFill>
                            <a:srgbClr val="000000"/>
                          </a:solidFill>
                          <a:latin typeface="+mn-lt"/>
                        </a:rPr>
                        <a:t>Will need to revisit once all plans are baselined and following 30 day 'get to green' approach to assess if our current plan timeline remains valid.</a:t>
                      </a:r>
                    </a:p>
                  </a:txBody>
                  <a:tcPr marL="0" marR="0" marT="0" marB="0">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407092">
                <a:tc>
                  <a:txBody>
                    <a:bodyPr/>
                    <a:lstStyle/>
                    <a:p>
                      <a:pPr algn="l" fontAlgn="t"/>
                      <a:r>
                        <a:rPr lang="en-US" sz="600" b="0" i="0" u="none" strike="noStrike">
                          <a:solidFill>
                            <a:srgbClr val="000000"/>
                          </a:solidFill>
                          <a:latin typeface="+mn-lt"/>
                        </a:rPr>
                        <a:t>The deployment approach for Outlook and SharePoint could significantly increased the cost associated with both internal and external support.</a:t>
                      </a:r>
                    </a:p>
                  </a:txBody>
                  <a:tcPr marL="0" marR="0" marT="0" marB="0">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l" fontAlgn="t"/>
                      <a:r>
                        <a:rPr lang="en-US" sz="600" b="0" i="0" u="none" strike="noStrike">
                          <a:solidFill>
                            <a:srgbClr val="000000"/>
                          </a:solidFill>
                          <a:latin typeface="+mn-lt"/>
                        </a:rPr>
                        <a:t>Will be validated via Service Design approach and better understanding of external support costs from external vendors for Cloud and On Premise.</a:t>
                      </a:r>
                    </a:p>
                  </a:txBody>
                  <a:tcPr marL="0" marR="0" marT="0" marB="0">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375148">
                <a:tc>
                  <a:txBody>
                    <a:bodyPr/>
                    <a:lstStyle/>
                    <a:p>
                      <a:pPr algn="l" fontAlgn="t"/>
                      <a:r>
                        <a:rPr lang="en-US" sz="600" b="0" i="0" u="none" strike="noStrike" dirty="0">
                          <a:solidFill>
                            <a:srgbClr val="000000"/>
                          </a:solidFill>
                          <a:latin typeface="+mn-lt"/>
                        </a:rPr>
                        <a:t>Lack of Enterprise Standards for Disaster Recovery (DR) may affect quality of design deliverables</a:t>
                      </a:r>
                    </a:p>
                  </a:txBody>
                  <a:tcPr marL="0" marR="0" marT="0" marB="0">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algn="l" fontAlgn="t"/>
                      <a:r>
                        <a:rPr lang="en-US" sz="600" b="0" i="0" u="none" strike="noStrike" dirty="0">
                          <a:solidFill>
                            <a:srgbClr val="000000"/>
                          </a:solidFill>
                          <a:latin typeface="+mn-lt"/>
                        </a:rPr>
                        <a:t>Review current DR strategy </a:t>
                      </a:r>
                      <a:r>
                        <a:rPr lang="en-US" sz="600" b="0" i="0" u="none" strike="noStrike" dirty="0" err="1">
                          <a:solidFill>
                            <a:srgbClr val="000000"/>
                          </a:solidFill>
                          <a:latin typeface="+mn-lt"/>
                        </a:rPr>
                        <a:t>wth</a:t>
                      </a:r>
                      <a:r>
                        <a:rPr lang="en-US" sz="600" b="0" i="0" u="none" strike="noStrike" dirty="0">
                          <a:solidFill>
                            <a:srgbClr val="000000"/>
                          </a:solidFill>
                          <a:latin typeface="+mn-lt"/>
                        </a:rPr>
                        <a:t> Ops and define next steps.</a:t>
                      </a:r>
                    </a:p>
                  </a:txBody>
                  <a:tcPr marL="0" marR="0" marT="0" marB="0">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8" name="Group 270"/>
          <p:cNvGraphicFramePr>
            <a:graphicFrameLocks noGrp="1"/>
          </p:cNvGraphicFramePr>
          <p:nvPr>
            <p:extLst>
              <p:ext uri="{D42A27DB-BD31-4B8C-83A1-F6EECF244321}">
                <p14:modId xmlns:p14="http://schemas.microsoft.com/office/powerpoint/2010/main" val="3621095484"/>
              </p:ext>
            </p:extLst>
          </p:nvPr>
        </p:nvGraphicFramePr>
        <p:xfrm>
          <a:off x="1187624" y="6585504"/>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04C3E"/>
                    </a:solidFill>
                  </a:tcPr>
                </a:tc>
              </a:tr>
            </a:tbl>
          </a:graphicData>
        </a:graphic>
      </p:graphicFrame>
      <p:graphicFrame>
        <p:nvGraphicFramePr>
          <p:cNvPr id="19" name="Group 270"/>
          <p:cNvGraphicFramePr>
            <a:graphicFrameLocks noGrp="1"/>
          </p:cNvGraphicFramePr>
          <p:nvPr>
            <p:extLst>
              <p:ext uri="{D42A27DB-BD31-4B8C-83A1-F6EECF244321}">
                <p14:modId xmlns:p14="http://schemas.microsoft.com/office/powerpoint/2010/main" val="3015080437"/>
              </p:ext>
            </p:extLst>
          </p:nvPr>
        </p:nvGraphicFramePr>
        <p:xfrm>
          <a:off x="4019816" y="6585320"/>
          <a:ext cx="483613" cy="88326"/>
        </p:xfrm>
        <a:graphic>
          <a:graphicData uri="http://schemas.openxmlformats.org/drawingml/2006/table">
            <a:tbl>
              <a:tblPr/>
              <a:tblGrid>
                <a:gridCol w="483613"/>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20" name="Group 270"/>
          <p:cNvGraphicFramePr>
            <a:graphicFrameLocks noGrp="1"/>
          </p:cNvGraphicFramePr>
          <p:nvPr>
            <p:extLst>
              <p:ext uri="{D42A27DB-BD31-4B8C-83A1-F6EECF244321}">
                <p14:modId xmlns:p14="http://schemas.microsoft.com/office/powerpoint/2010/main" val="2640038505"/>
              </p:ext>
            </p:extLst>
          </p:nvPr>
        </p:nvGraphicFramePr>
        <p:xfrm>
          <a:off x="6516216" y="6573472"/>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graphicFrame>
        <p:nvGraphicFramePr>
          <p:cNvPr id="22" name="Group 270"/>
          <p:cNvGraphicFramePr>
            <a:graphicFrameLocks noGrp="1"/>
          </p:cNvGraphicFramePr>
          <p:nvPr>
            <p:extLst>
              <p:ext uri="{D42A27DB-BD31-4B8C-83A1-F6EECF244321}">
                <p14:modId xmlns:p14="http://schemas.microsoft.com/office/powerpoint/2010/main" val="600429244"/>
              </p:ext>
            </p:extLst>
          </p:nvPr>
        </p:nvGraphicFramePr>
        <p:xfrm>
          <a:off x="70533" y="6581034"/>
          <a:ext cx="613229" cy="88326"/>
        </p:xfrm>
        <a:graphic>
          <a:graphicData uri="http://schemas.openxmlformats.org/drawingml/2006/table">
            <a:tbl>
              <a:tblPr/>
              <a:tblGrid>
                <a:gridCol w="613229"/>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COMPLETE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2" name="Group 27"/>
          <p:cNvGrpSpPr/>
          <p:nvPr/>
        </p:nvGrpSpPr>
        <p:grpSpPr>
          <a:xfrm>
            <a:off x="-174678" y="6390185"/>
            <a:ext cx="9139167" cy="540206"/>
            <a:chOff x="-189235" y="6505545"/>
            <a:chExt cx="9900766" cy="540206"/>
          </a:xfrm>
        </p:grpSpPr>
        <p:sp>
          <p:nvSpPr>
            <p:cNvPr id="21" name="TextBox 20"/>
            <p:cNvSpPr txBox="1"/>
            <p:nvPr/>
          </p:nvSpPr>
          <p:spPr bwMode="gray">
            <a:xfrm>
              <a:off x="1639689" y="6576570"/>
              <a:ext cx="2611234" cy="400110"/>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mj-lt"/>
              </a:endParaRPr>
            </a:p>
            <a:p>
              <a:pPr defTabSz="955675" eaLnBrk="0" fontAlgn="base" hangingPunct="0">
                <a:spcBef>
                  <a:spcPct val="0"/>
                </a:spcBef>
              </a:pPr>
              <a:r>
                <a:rPr lang="en-GB" sz="500" b="1" dirty="0">
                  <a:solidFill>
                    <a:srgbClr val="646464"/>
                  </a:solidFill>
                  <a:latin typeface="+mj-lt"/>
                </a:rPr>
                <a:t>Project is not on track and has significant challenges and/or issues that materially impact the overall successful achievement of the expected outcomes. 	</a:t>
              </a:r>
            </a:p>
          </p:txBody>
        </p:sp>
        <p:sp>
          <p:nvSpPr>
            <p:cNvPr id="23" name="TextBox 22"/>
            <p:cNvSpPr txBox="1"/>
            <p:nvPr/>
          </p:nvSpPr>
          <p:spPr bwMode="gray">
            <a:xfrm>
              <a:off x="644684" y="6657945"/>
              <a:ext cx="672408" cy="169277"/>
            </a:xfrm>
            <a:prstGeom prst="rect">
              <a:avLst/>
            </a:prstGeom>
          </p:spPr>
          <p:txBody>
            <a:bodyPr wrap="none" rtlCol="0">
              <a:spAutoFit/>
            </a:bodyPr>
            <a:lstStyle/>
            <a:p>
              <a:pPr defTabSz="955675" eaLnBrk="0" fontAlgn="base" hangingPunct="0">
                <a:spcBef>
                  <a:spcPct val="0"/>
                </a:spcBef>
              </a:pPr>
              <a:r>
                <a:rPr lang="en-US" sz="500" b="1" dirty="0">
                  <a:solidFill>
                    <a:srgbClr val="646464"/>
                  </a:solidFill>
                  <a:latin typeface="+mj-lt"/>
                </a:rPr>
                <a:t>Fully achieved</a:t>
              </a:r>
              <a:endParaRPr lang="en-GB" sz="500" b="1" kern="0" dirty="0">
                <a:solidFill>
                  <a:srgbClr val="646464"/>
                </a:solidFill>
                <a:latin typeface="+mj-lt"/>
              </a:endParaRPr>
            </a:p>
          </p:txBody>
        </p:sp>
        <p:sp>
          <p:nvSpPr>
            <p:cNvPr id="25" name="TextBox 24"/>
            <p:cNvSpPr txBox="1"/>
            <p:nvPr/>
          </p:nvSpPr>
          <p:spPr bwMode="gray">
            <a:xfrm>
              <a:off x="-189235" y="6505545"/>
              <a:ext cx="4920098" cy="169277"/>
            </a:xfrm>
            <a:prstGeom prst="rect">
              <a:avLst/>
            </a:prstGeom>
          </p:spPr>
          <p:txBody>
            <a:bodyPr wrap="none" rtlCol="0">
              <a:spAutoFit/>
            </a:bodyPr>
            <a:lstStyle/>
            <a:p>
              <a:pPr defTabSz="955675" eaLnBrk="0" fontAlgn="base" hangingPunct="0">
                <a:spcBef>
                  <a:spcPct val="0"/>
                </a:spcBef>
              </a:pPr>
              <a:r>
                <a:rPr lang="en-US" sz="500" dirty="0">
                  <a:solidFill>
                    <a:srgbClr val="646464"/>
                  </a:solidFill>
                  <a:latin typeface="+mj-lt"/>
                </a:rPr>
                <a:t>The overall initiative status is governed by the RAG Status Guidance, summarized below. This guidance also applies to the individual Milestones Stats. </a:t>
              </a:r>
              <a:endParaRPr lang="en-GB" sz="500" kern="0" dirty="0">
                <a:solidFill>
                  <a:srgbClr val="646464"/>
                </a:solidFill>
                <a:latin typeface="+mj-lt"/>
              </a:endParaRPr>
            </a:p>
          </p:txBody>
        </p:sp>
        <p:sp>
          <p:nvSpPr>
            <p:cNvPr id="26" name="TextBox 25"/>
            <p:cNvSpPr txBox="1"/>
            <p:nvPr/>
          </p:nvSpPr>
          <p:spPr bwMode="gray">
            <a:xfrm>
              <a:off x="7423210" y="6564722"/>
              <a:ext cx="2288321" cy="400110"/>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mj-lt"/>
              </a:endParaRPr>
            </a:p>
            <a:p>
              <a:pPr defTabSz="955675" eaLnBrk="0" fontAlgn="base" hangingPunct="0">
                <a:spcBef>
                  <a:spcPct val="0"/>
                </a:spcBef>
              </a:pPr>
              <a:r>
                <a:rPr lang="en-GB" sz="500" b="1" dirty="0">
                  <a:solidFill>
                    <a:srgbClr val="646464"/>
                  </a:solidFill>
                  <a:latin typeface="+mj-lt"/>
                </a:rPr>
                <a:t>Project is on track and has no significant challenges and/or issues that may materially impact the overall successful achievement of the expected outcomes, now or in the future. 	</a:t>
              </a:r>
            </a:p>
          </p:txBody>
        </p:sp>
        <p:sp>
          <p:nvSpPr>
            <p:cNvPr id="27" name="TextBox 26"/>
            <p:cNvSpPr txBox="1"/>
            <p:nvPr/>
          </p:nvSpPr>
          <p:spPr bwMode="gray">
            <a:xfrm>
              <a:off x="4849123" y="6568697"/>
              <a:ext cx="1976087" cy="477054"/>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mj-lt"/>
              </a:endParaRPr>
            </a:p>
            <a:p>
              <a:pPr defTabSz="955675" eaLnBrk="0" fontAlgn="base" hangingPunct="0">
                <a:spcBef>
                  <a:spcPct val="0"/>
                </a:spcBef>
              </a:pPr>
              <a:r>
                <a:rPr lang="en-GB" sz="500" b="1" dirty="0">
                  <a:solidFill>
                    <a:srgbClr val="646464"/>
                  </a:solidFill>
                  <a:latin typeface="+mj-lt"/>
                </a:rPr>
                <a:t>Project is on track but has some significant challenges and/or issues that may materially impact the overall successful achievement of the expected outcomes. 	</a:t>
              </a:r>
            </a:p>
          </p:txBody>
        </p:sp>
      </p:grpSp>
      <p:sp>
        <p:nvSpPr>
          <p:cNvPr id="30" name="Freeform 94"/>
          <p:cNvSpPr>
            <a:spLocks/>
          </p:cNvSpPr>
          <p:nvPr/>
        </p:nvSpPr>
        <p:spPr bwMode="gray">
          <a:xfrm>
            <a:off x="-2459" y="-3265"/>
            <a:ext cx="7025054"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fontAlgn="base">
              <a:spcBef>
                <a:spcPct val="0"/>
              </a:spcBef>
              <a:spcAft>
                <a:spcPct val="0"/>
              </a:spcAft>
            </a:pPr>
            <a:endParaRPr lang="en-GB" sz="2000" dirty="0">
              <a:solidFill>
                <a:srgbClr val="000000"/>
              </a:solidFill>
              <a:latin typeface="+mj-lt"/>
            </a:endParaRPr>
          </a:p>
        </p:txBody>
      </p:sp>
      <p:sp>
        <p:nvSpPr>
          <p:cNvPr id="14" name="Rectangle 183"/>
          <p:cNvSpPr txBox="1">
            <a:spLocks noChangeArrowheads="1"/>
          </p:cNvSpPr>
          <p:nvPr/>
        </p:nvSpPr>
        <p:spPr bwMode="gray">
          <a:xfrm>
            <a:off x="2" y="0"/>
            <a:ext cx="7729904" cy="338554"/>
          </a:xfrm>
          <a:prstGeom prst="rect">
            <a:avLst/>
          </a:prstGeom>
        </p:spPr>
        <p:txBody>
          <a:bodyPr>
            <a:spAutoFit/>
          </a:bodyPr>
          <a:lstStyle/>
          <a:p>
            <a:pPr algn="l" defTabSz="955675" eaLnBrk="0" fontAlgn="base" hangingPunct="0">
              <a:spcBef>
                <a:spcPct val="0"/>
              </a:spcBef>
              <a:defRPr/>
            </a:pPr>
            <a:r>
              <a:rPr lang="en-US" sz="1600" b="1" kern="0" dirty="0">
                <a:solidFill>
                  <a:srgbClr val="646464"/>
                </a:solidFill>
                <a:latin typeface="+mj-lt"/>
              </a:rPr>
              <a:t>IT Transition Management – </a:t>
            </a:r>
            <a:r>
              <a:rPr lang="en-US" sz="1600" b="1" kern="0" dirty="0" smtClean="0">
                <a:solidFill>
                  <a:srgbClr val="646464"/>
                </a:solidFill>
                <a:latin typeface="+mj-lt"/>
              </a:rPr>
              <a:t>16 March</a:t>
            </a:r>
            <a:endParaRPr lang="en-US" sz="1600" b="1" kern="0" dirty="0">
              <a:solidFill>
                <a:srgbClr val="646464"/>
              </a:solidFill>
              <a:latin typeface="+mj-lt"/>
            </a:endParaRPr>
          </a:p>
        </p:txBody>
      </p:sp>
      <p:graphicFrame>
        <p:nvGraphicFramePr>
          <p:cNvPr id="24" name="Table 23"/>
          <p:cNvGraphicFramePr>
            <a:graphicFrameLocks noGrp="1"/>
          </p:cNvGraphicFramePr>
          <p:nvPr>
            <p:extLst>
              <p:ext uri="{D42A27DB-BD31-4B8C-83A1-F6EECF244321}">
                <p14:modId xmlns:p14="http://schemas.microsoft.com/office/powerpoint/2010/main" val="3251485979"/>
              </p:ext>
            </p:extLst>
          </p:nvPr>
        </p:nvGraphicFramePr>
        <p:xfrm>
          <a:off x="4572000" y="5661248"/>
          <a:ext cx="4355123" cy="576064"/>
        </p:xfrm>
        <a:graphic>
          <a:graphicData uri="http://schemas.openxmlformats.org/drawingml/2006/table">
            <a:tbl>
              <a:tblPr/>
              <a:tblGrid>
                <a:gridCol w="4355123"/>
              </a:tblGrid>
              <a:tr h="248236">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mn-lt"/>
                        </a:rPr>
                        <a:t>H.  GENERAL COMMENTS – must include reasoning for an overall Red or Amber Status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32782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a:ln>
                            <a:noFill/>
                          </a:ln>
                          <a:solidFill>
                            <a:srgbClr val="646464"/>
                          </a:solidFill>
                          <a:effectLst/>
                          <a:latin typeface="+mn-lt"/>
                        </a:rPr>
                        <a:t>The overall Amber assessment is due to current status of </a:t>
                      </a:r>
                      <a:r>
                        <a:rPr kumimoji="0" lang="en-US" sz="700" b="0" i="0" u="none" strike="noStrike" cap="none" normalizeH="0" baseline="0" dirty="0" err="1">
                          <a:ln>
                            <a:noFill/>
                          </a:ln>
                          <a:solidFill>
                            <a:srgbClr val="646464"/>
                          </a:solidFill>
                          <a:effectLst/>
                          <a:latin typeface="+mn-lt"/>
                        </a:rPr>
                        <a:t>workstream</a:t>
                      </a:r>
                      <a:r>
                        <a:rPr kumimoji="0" lang="en-US" sz="700" b="0" i="0" u="none" strike="noStrike" cap="none" normalizeH="0" baseline="0" dirty="0">
                          <a:ln>
                            <a:noFill/>
                          </a:ln>
                          <a:solidFill>
                            <a:srgbClr val="646464"/>
                          </a:solidFill>
                          <a:effectLst/>
                          <a:latin typeface="+mn-lt"/>
                        </a:rPr>
                        <a:t> delivery dates to baseline a transition plan.  Red A&amp;DM status due to the overall status of A&amp;DM</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44" name="Group 272"/>
          <p:cNvGraphicFramePr>
            <a:graphicFrameLocks noGrp="1"/>
          </p:cNvGraphicFramePr>
          <p:nvPr>
            <p:extLst>
              <p:ext uri="{D42A27DB-BD31-4B8C-83A1-F6EECF244321}">
                <p14:modId xmlns:p14="http://schemas.microsoft.com/office/powerpoint/2010/main" val="2983658065"/>
              </p:ext>
            </p:extLst>
          </p:nvPr>
        </p:nvGraphicFramePr>
        <p:xfrm>
          <a:off x="107504" y="1916833"/>
          <a:ext cx="4320479" cy="4555106"/>
        </p:xfrm>
        <a:graphic>
          <a:graphicData uri="http://schemas.openxmlformats.org/drawingml/2006/table">
            <a:tbl>
              <a:tblPr/>
              <a:tblGrid>
                <a:gridCol w="4320479"/>
              </a:tblGrid>
              <a:tr h="125280">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smtClean="0">
                          <a:ln>
                            <a:noFill/>
                          </a:ln>
                          <a:solidFill>
                            <a:schemeClr val="tx1"/>
                          </a:solidFill>
                          <a:effectLst/>
                          <a:latin typeface="+mn-lt"/>
                        </a:rPr>
                        <a:t>B.  KEY ACCOMPLISHMENTS 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214629">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GB" sz="700" b="0" i="0" u="sng" strike="noStrike" kern="1200" cap="none" normalizeH="0" baseline="0" dirty="0" smtClean="0">
                          <a:ln>
                            <a:noFill/>
                          </a:ln>
                          <a:solidFill>
                            <a:srgbClr val="646464"/>
                          </a:solidFill>
                          <a:effectLst/>
                          <a:latin typeface="+mn-lt"/>
                          <a:ea typeface="+mn-ea"/>
                          <a:cs typeface="+mn-cs"/>
                        </a:rPr>
                        <a:t>Lync</a:t>
                      </a:r>
                    </a:p>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GB" sz="700" b="0" i="0" u="none" strike="noStrike" kern="1200" cap="none" normalizeH="0" baseline="0" dirty="0" smtClean="0">
                          <a:ln>
                            <a:noFill/>
                          </a:ln>
                          <a:solidFill>
                            <a:srgbClr val="646464"/>
                          </a:solidFill>
                          <a:effectLst/>
                          <a:latin typeface="+mn-lt"/>
                          <a:ea typeface="+mn-ea"/>
                          <a:cs typeface="+mn-cs"/>
                        </a:rPr>
                        <a:t>Submitted CR to refine MCS SOW down scope and ongoing resource requirements </a:t>
                      </a:r>
                    </a:p>
                    <a:p>
                      <a:pPr marL="85725" marR="0" lvl="0" indent="-85725" algn="l" defTabSz="947738" rtl="0" eaLnBrk="0" fontAlgn="base" latinLnBrk="0" hangingPunct="0">
                        <a:lnSpc>
                          <a:spcPct val="100000"/>
                        </a:lnSpc>
                        <a:spcBef>
                          <a:spcPct val="0"/>
                        </a:spcBef>
                        <a:spcAft>
                          <a:spcPct val="10000"/>
                        </a:spcAft>
                        <a:buClrTx/>
                        <a:buSzTx/>
                        <a:buFontTx/>
                        <a:buNone/>
                        <a:tabLst/>
                        <a:defRPr/>
                      </a:pPr>
                      <a:endParaRPr kumimoji="0" lang="en-GB" sz="700" b="0" i="0" u="none" strike="noStrike" kern="1200" cap="none" normalizeH="0" baseline="0" dirty="0" smtClean="0">
                        <a:ln>
                          <a:noFill/>
                        </a:ln>
                        <a:solidFill>
                          <a:srgbClr val="646464"/>
                        </a:solidFill>
                        <a:effectLst/>
                        <a:latin typeface="+mn-lt"/>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GB" sz="700" b="0" i="0" u="sng" strike="noStrike" kern="1200" cap="none" normalizeH="0" baseline="0" dirty="0" smtClean="0">
                          <a:ln>
                            <a:noFill/>
                          </a:ln>
                          <a:solidFill>
                            <a:srgbClr val="646464"/>
                          </a:solidFill>
                          <a:effectLst/>
                          <a:latin typeface="+mn-lt"/>
                          <a:ea typeface="+mn-ea"/>
                          <a:cs typeface="+mn-cs"/>
                        </a:rPr>
                        <a:t>Messaging</a:t>
                      </a:r>
                    </a:p>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GB" sz="700" b="0" i="0" u="none" strike="noStrike" kern="1200" cap="none" normalizeH="0" baseline="0" dirty="0" smtClean="0">
                          <a:ln>
                            <a:noFill/>
                          </a:ln>
                          <a:solidFill>
                            <a:srgbClr val="646464"/>
                          </a:solidFill>
                          <a:effectLst/>
                          <a:latin typeface="+mn-lt"/>
                          <a:ea typeface="+mn-ea"/>
                          <a:cs typeface="+mn-cs"/>
                        </a:rPr>
                        <a:t>Functional Specification Change Request Impact Assessment now completed </a:t>
                      </a:r>
                    </a:p>
                    <a:p>
                      <a:pPr marL="85725" marR="0" lvl="0" indent="-85725" algn="l" defTabSz="947738" rtl="0" eaLnBrk="0" fontAlgn="base" latinLnBrk="0" hangingPunct="0">
                        <a:lnSpc>
                          <a:spcPct val="100000"/>
                        </a:lnSpc>
                        <a:spcBef>
                          <a:spcPct val="0"/>
                        </a:spcBef>
                        <a:spcAft>
                          <a:spcPct val="10000"/>
                        </a:spcAft>
                        <a:buClrTx/>
                        <a:buSzTx/>
                        <a:buFontTx/>
                        <a:buNone/>
                        <a:tabLst/>
                        <a:defRPr/>
                      </a:pPr>
                      <a:endParaRPr kumimoji="0" lang="en-GB" sz="700" b="0" i="0" u="none" strike="noStrike" kern="1200" cap="none" normalizeH="0" baseline="0" dirty="0" smtClean="0">
                        <a:ln>
                          <a:noFill/>
                        </a:ln>
                        <a:solidFill>
                          <a:srgbClr val="646464"/>
                        </a:solidFill>
                        <a:effectLst/>
                        <a:latin typeface="+mn-lt"/>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GB" sz="700" b="0" i="0" u="sng" strike="noStrike" kern="1200" cap="none" normalizeH="0" baseline="0" dirty="0" smtClean="0">
                          <a:ln>
                            <a:noFill/>
                          </a:ln>
                          <a:solidFill>
                            <a:srgbClr val="646464"/>
                          </a:solidFill>
                          <a:effectLst/>
                          <a:latin typeface="+mn-lt"/>
                          <a:ea typeface="+mn-ea"/>
                          <a:cs typeface="+mn-cs"/>
                        </a:rPr>
                        <a:t>Sharepoint</a:t>
                      </a:r>
                    </a:p>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GB" sz="700" b="0" i="0" u="none" strike="noStrike" kern="1200" cap="none" normalizeH="0" baseline="0" dirty="0" smtClean="0">
                          <a:ln>
                            <a:noFill/>
                          </a:ln>
                          <a:solidFill>
                            <a:srgbClr val="646464"/>
                          </a:solidFill>
                          <a:effectLst/>
                          <a:latin typeface="+mn-lt"/>
                          <a:ea typeface="+mn-ea"/>
                          <a:cs typeface="+mn-cs"/>
                        </a:rPr>
                        <a:t>O365 Draft Discovery Documentation completed and uploaded and currently being reviewed by O365 Engineering team</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25280">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smtClean="0">
                          <a:ln>
                            <a:noFill/>
                          </a:ln>
                          <a:solidFill>
                            <a:schemeClr val="tx1"/>
                          </a:solidFill>
                          <a:effectLst/>
                          <a:latin typeface="+mn-lt"/>
                        </a:rPr>
                        <a:t>C.  ACTIVITIES BEHIND SCHEDULE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821956">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US" sz="700" b="0" i="0" u="sng" strike="noStrike" kern="1200" cap="none" normalizeH="0" baseline="0" dirty="0" smtClean="0">
                          <a:ln>
                            <a:noFill/>
                          </a:ln>
                          <a:solidFill>
                            <a:schemeClr val="tx2"/>
                          </a:solidFill>
                          <a:effectLst/>
                          <a:latin typeface="+mn-lt"/>
                          <a:ea typeface="+mn-ea"/>
                          <a:cs typeface="+mn-cs"/>
                        </a:rPr>
                        <a:t>Lync</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2"/>
                          </a:solidFill>
                          <a:effectLst/>
                          <a:latin typeface="+mn-lt"/>
                          <a:ea typeface="+mn-ea"/>
                          <a:cs typeface="+mn-cs"/>
                        </a:rPr>
                        <a:t>Vendor  RFP down selection, interim SOW and Cloud Topology  decision remains outstanding and the work stream is still engaged with both vendors further refining the pricing and progressing the independence issue .</a:t>
                      </a:r>
                    </a:p>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US" sz="700" b="0" i="0" u="sng" strike="noStrike" kern="1200" cap="none" normalizeH="0" baseline="0" dirty="0" smtClean="0">
                          <a:ln>
                            <a:noFill/>
                          </a:ln>
                          <a:solidFill>
                            <a:schemeClr val="tx2"/>
                          </a:solidFill>
                          <a:effectLst/>
                          <a:latin typeface="+mn-lt"/>
                          <a:ea typeface="+mn-ea"/>
                          <a:cs typeface="+mn-cs"/>
                        </a:rPr>
                        <a:t>Messaging</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2"/>
                          </a:solidFill>
                          <a:effectLst/>
                          <a:latin typeface="+mn-lt"/>
                          <a:ea typeface="+mn-ea"/>
                          <a:cs typeface="+mn-cs"/>
                        </a:rPr>
                        <a:t>Approval of re scoping CR026 is not complete and impacting resource allocation</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2"/>
                          </a:solidFill>
                          <a:effectLst/>
                          <a:latin typeface="+mn-lt"/>
                          <a:ea typeface="+mn-ea"/>
                          <a:cs typeface="+mn-cs"/>
                        </a:rPr>
                        <a:t>Decision on </a:t>
                      </a:r>
                      <a:r>
                        <a:rPr kumimoji="0" lang="en-US" sz="700" b="0" i="0" u="none" strike="noStrike" kern="1200" cap="none" normalizeH="0" baseline="0" dirty="0" err="1" smtClean="0">
                          <a:ln>
                            <a:noFill/>
                          </a:ln>
                          <a:solidFill>
                            <a:schemeClr val="tx2"/>
                          </a:solidFill>
                          <a:effectLst/>
                          <a:latin typeface="+mn-lt"/>
                          <a:ea typeface="+mn-ea"/>
                          <a:cs typeface="+mn-cs"/>
                        </a:rPr>
                        <a:t>On</a:t>
                      </a:r>
                      <a:r>
                        <a:rPr kumimoji="0" lang="en-US" sz="700" b="0" i="0" u="none" strike="noStrike" kern="1200" cap="none" normalizeH="0" baseline="0" dirty="0" smtClean="0">
                          <a:ln>
                            <a:noFill/>
                          </a:ln>
                          <a:solidFill>
                            <a:schemeClr val="tx2"/>
                          </a:solidFill>
                          <a:effectLst/>
                          <a:latin typeface="+mn-lt"/>
                          <a:ea typeface="+mn-ea"/>
                          <a:cs typeface="+mn-cs"/>
                        </a:rPr>
                        <a:t> Premise locations remains outstanding</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2"/>
                          </a:solidFill>
                          <a:effectLst/>
                          <a:latin typeface="+mn-lt"/>
                          <a:ea typeface="+mn-ea"/>
                          <a:cs typeface="+mn-cs"/>
                        </a:rPr>
                        <a:t>Network connectivity to O365 activity is being impacted by lack of dedicated resource and delivery dates are at risk</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2"/>
                          </a:solidFill>
                          <a:effectLst/>
                          <a:latin typeface="+mn-lt"/>
                          <a:ea typeface="+mn-ea"/>
                          <a:cs typeface="+mn-cs"/>
                        </a:rPr>
                        <a:t>Final Architecture for  On Premise design not agreed and RTO RPO not aligned</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dirty="0" smtClean="0">
                        <a:ln>
                          <a:noFill/>
                        </a:ln>
                        <a:solidFill>
                          <a:schemeClr val="tx2"/>
                        </a:solidFill>
                        <a:effectLst/>
                        <a:latin typeface="+mn-lt"/>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US" sz="700" b="0" i="0" u="sng" strike="noStrike" kern="1200" cap="none" normalizeH="0" baseline="0" dirty="0" smtClean="0">
                          <a:ln>
                            <a:noFill/>
                          </a:ln>
                          <a:solidFill>
                            <a:schemeClr val="tx2"/>
                          </a:solidFill>
                          <a:effectLst/>
                          <a:latin typeface="+mn-lt"/>
                          <a:ea typeface="+mn-ea"/>
                          <a:cs typeface="+mn-cs"/>
                        </a:rPr>
                        <a:t>Sharepoint</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2"/>
                          </a:solidFill>
                          <a:effectLst/>
                          <a:latin typeface="+mn-lt"/>
                          <a:ea typeface="+mn-ea"/>
                          <a:cs typeface="+mn-cs"/>
                        </a:rPr>
                        <a:t>Change Request for current On </a:t>
                      </a:r>
                      <a:r>
                        <a:rPr kumimoji="0" lang="en-US" sz="700" b="0" i="0" u="none" strike="noStrike" kern="1200" cap="none" normalizeH="0" baseline="0" dirty="0" err="1" smtClean="0">
                          <a:ln>
                            <a:noFill/>
                          </a:ln>
                          <a:solidFill>
                            <a:schemeClr val="tx2"/>
                          </a:solidFill>
                          <a:effectLst/>
                          <a:latin typeface="+mn-lt"/>
                          <a:ea typeface="+mn-ea"/>
                          <a:cs typeface="+mn-cs"/>
                        </a:rPr>
                        <a:t>Prem</a:t>
                      </a:r>
                      <a:r>
                        <a:rPr kumimoji="0" lang="en-US" sz="700" b="0" i="0" u="none" strike="noStrike" kern="1200" cap="none" normalizeH="0" baseline="0" dirty="0" smtClean="0">
                          <a:ln>
                            <a:noFill/>
                          </a:ln>
                          <a:solidFill>
                            <a:schemeClr val="tx2"/>
                          </a:solidFill>
                          <a:effectLst/>
                          <a:latin typeface="+mn-lt"/>
                          <a:ea typeface="+mn-ea"/>
                          <a:cs typeface="+mn-cs"/>
                        </a:rPr>
                        <a:t> Functional Specification and </a:t>
                      </a:r>
                      <a:r>
                        <a:rPr kumimoji="0" lang="en-US" sz="700" b="0" i="0" u="none" strike="noStrike" kern="1200" cap="none" normalizeH="0" baseline="0" dirty="0" err="1" smtClean="0">
                          <a:ln>
                            <a:noFill/>
                          </a:ln>
                          <a:solidFill>
                            <a:schemeClr val="tx2"/>
                          </a:solidFill>
                          <a:effectLst/>
                          <a:latin typeface="+mn-lt"/>
                          <a:ea typeface="+mn-ea"/>
                          <a:cs typeface="+mn-cs"/>
                        </a:rPr>
                        <a:t>methodolgy</a:t>
                      </a:r>
                      <a:r>
                        <a:rPr kumimoji="0" lang="en-US" sz="700" b="0" i="0" u="none" strike="noStrike" kern="1200" cap="none" normalizeH="0" baseline="0" dirty="0" smtClean="0">
                          <a:ln>
                            <a:noFill/>
                          </a:ln>
                          <a:solidFill>
                            <a:schemeClr val="tx2"/>
                          </a:solidFill>
                          <a:effectLst/>
                          <a:latin typeface="+mn-lt"/>
                          <a:ea typeface="+mn-ea"/>
                          <a:cs typeface="+mn-cs"/>
                        </a:rPr>
                        <a:t> remains outstanding from MCS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2"/>
                          </a:solidFill>
                          <a:effectLst/>
                          <a:latin typeface="+mn-lt"/>
                          <a:ea typeface="+mn-ea"/>
                          <a:cs typeface="+mn-cs"/>
                        </a:rPr>
                        <a:t>Replanning of SP environments is requested to improve on  the iteration lifecycle </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2"/>
                          </a:solidFill>
                          <a:effectLst/>
                          <a:latin typeface="+mn-lt"/>
                          <a:ea typeface="+mn-ea"/>
                          <a:cs typeface="+mn-cs"/>
                        </a:rPr>
                        <a:t>Extranet requirement roadmap (EYD &amp; Enablement phase 2) remains undefined but some  progress is being made in line with the Blue Print activity stream</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25280">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mn-lt"/>
                        </a:rPr>
                        <a:t>D.  KEY ACTIVITIES PLANNED NEXT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980065">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mn-lt"/>
                        </a:rPr>
                        <a:t>Further </a:t>
                      </a:r>
                      <a:r>
                        <a:rPr kumimoji="0" lang="en-US" sz="700" b="0" i="0" u="none" strike="noStrike" cap="none" normalizeH="0" baseline="0" dirty="0" smtClean="0">
                          <a:ln>
                            <a:noFill/>
                          </a:ln>
                          <a:solidFill>
                            <a:srgbClr val="646464"/>
                          </a:solidFill>
                          <a:effectLst/>
                          <a:latin typeface="+mn-lt"/>
                        </a:rPr>
                        <a:t>refine GWAN engagement and deliverables </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mn-lt"/>
                        </a:rPr>
                        <a:t>Refine resource requests </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334100" name="Group 852"/>
          <p:cNvGraphicFramePr>
            <a:graphicFrameLocks noGrp="1"/>
          </p:cNvGraphicFramePr>
          <p:nvPr>
            <p:extLst>
              <p:ext uri="{D42A27DB-BD31-4B8C-83A1-F6EECF244321}">
                <p14:modId xmlns:p14="http://schemas.microsoft.com/office/powerpoint/2010/main" val="3686935280"/>
              </p:ext>
            </p:extLst>
          </p:nvPr>
        </p:nvGraphicFramePr>
        <p:xfrm>
          <a:off x="4716016" y="3861048"/>
          <a:ext cx="4355123" cy="1064292"/>
        </p:xfrm>
        <a:graphic>
          <a:graphicData uri="http://schemas.openxmlformats.org/drawingml/2006/table">
            <a:tbl>
              <a:tblPr/>
              <a:tblGrid>
                <a:gridCol w="2113085"/>
                <a:gridCol w="2242038"/>
              </a:tblGrid>
              <a:tr h="174018">
                <a:tc gridSpan="2">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mn-lt"/>
                        </a:rPr>
                        <a:t>G. MATTERS FOR IMMEDIATE ATTENTION – typically specific current issues or scope changes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r>
              <a:tr h="168096">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mn-lt"/>
                        </a:rPr>
                        <a:t>Issues to be resolved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mn-lt"/>
                        </a:rPr>
                        <a:t>Recommended Action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18766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mn-lt"/>
                        </a:rPr>
                        <a:t>Critical resource issues in engineering, Architecture and Program</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mn-lt"/>
                        </a:rPr>
                        <a:t>Requests in place but not being progressed </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8766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mn-lt"/>
                        </a:rPr>
                        <a:t>O365 Team are being impacted by EY lack of dedicated resource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endParaRPr kumimoji="0" lang="en-US" sz="700" b="0" i="0" u="none" strike="noStrike" cap="none" normalizeH="0" baseline="0" dirty="0" smtClean="0">
                        <a:ln>
                          <a:noFill/>
                        </a:ln>
                        <a:solidFill>
                          <a:srgbClr val="646464"/>
                        </a:solidFill>
                        <a:effectLst/>
                        <a:latin typeface="+mn-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8766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mn-lt"/>
                        </a:rPr>
                        <a:t>CR generation and approval is slow and impacting SP and messaging</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mn-lt"/>
                        </a:rPr>
                        <a:t>MCS are being advised daily </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3317" name="Group 245"/>
          <p:cNvGraphicFramePr>
            <a:graphicFrameLocks noGrp="1"/>
          </p:cNvGraphicFramePr>
          <p:nvPr>
            <p:extLst>
              <p:ext uri="{D42A27DB-BD31-4B8C-83A1-F6EECF244321}">
                <p14:modId xmlns:p14="http://schemas.microsoft.com/office/powerpoint/2010/main" val="664652148"/>
              </p:ext>
            </p:extLst>
          </p:nvPr>
        </p:nvGraphicFramePr>
        <p:xfrm>
          <a:off x="107505" y="620689"/>
          <a:ext cx="4320479" cy="1096921"/>
        </p:xfrm>
        <a:graphic>
          <a:graphicData uri="http://schemas.openxmlformats.org/drawingml/2006/table">
            <a:tbl>
              <a:tblPr/>
              <a:tblGrid>
                <a:gridCol w="4320479"/>
              </a:tblGrid>
              <a:tr h="118678">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mj-lt"/>
                        </a:rPr>
                        <a:t>A.  </a:t>
                      </a:r>
                      <a:r>
                        <a:rPr kumimoji="0" lang="en-GB" sz="700" b="1" i="0" u="none" strike="noStrike" cap="none" normalizeH="0" baseline="0" dirty="0" smtClean="0">
                          <a:ln>
                            <a:noFill/>
                          </a:ln>
                          <a:solidFill>
                            <a:schemeClr val="tx1"/>
                          </a:solidFill>
                          <a:effectLst/>
                          <a:latin typeface="+mj-lt"/>
                        </a:rPr>
                        <a:t>EXECUTIVE SUMMARY – a summary of the progress for this period (not of the initiative)</a:t>
                      </a:r>
                      <a:endParaRPr kumimoji="0" lang="en-US" sz="700" b="1" i="0" u="none" strike="noStrike" cap="none" normalizeH="0" baseline="0" dirty="0" smtClean="0">
                        <a:ln>
                          <a:noFill/>
                        </a:ln>
                        <a:solidFill>
                          <a:schemeClr val="tx1"/>
                        </a:solidFill>
                        <a:effectLst/>
                        <a:latin typeface="+mj-lt"/>
                      </a:endParaRPr>
                    </a:p>
                  </a:txBody>
                  <a:tcPr marL="33231" marR="33231" marT="14400" marB="14400"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961441">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US" sz="700" b="0" i="0" u="none" strike="noStrike" cap="none" normalizeH="0" baseline="0" dirty="0" smtClean="0">
                          <a:ln>
                            <a:noFill/>
                          </a:ln>
                          <a:solidFill>
                            <a:srgbClr val="646464"/>
                          </a:solidFill>
                          <a:effectLst/>
                          <a:latin typeface="+mj-lt"/>
                        </a:rPr>
                        <a:t>The team has made progress on a number of open items:</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US" sz="700" b="0" i="0" u="none" strike="noStrike" cap="none" normalizeH="0" baseline="0" dirty="0" smtClean="0">
                          <a:ln>
                            <a:noFill/>
                          </a:ln>
                          <a:solidFill>
                            <a:srgbClr val="646464"/>
                          </a:solidFill>
                          <a:effectLst/>
                          <a:latin typeface="+mj-lt"/>
                        </a:rPr>
                        <a:t>O365 Messaging discovery documentation is being iterated by MCS engineering team</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endParaRPr kumimoji="0" lang="en-US" sz="700" b="0" i="0" u="none" strike="noStrike" cap="none" normalizeH="0" baseline="0" dirty="0" smtClean="0">
                        <a:ln>
                          <a:noFill/>
                        </a:ln>
                        <a:solidFill>
                          <a:srgbClr val="646464"/>
                        </a:solidFill>
                        <a:effectLst/>
                        <a:latin typeface="+mj-lt"/>
                      </a:endParaRPr>
                    </a:p>
                  </a:txBody>
                  <a:tcPr marL="33231" marR="33231" marT="14400" marB="14400"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3342" name="Group 270"/>
          <p:cNvGraphicFramePr>
            <a:graphicFrameLocks noGrp="1"/>
          </p:cNvGraphicFramePr>
          <p:nvPr>
            <p:extLst>
              <p:ext uri="{D42A27DB-BD31-4B8C-83A1-F6EECF244321}">
                <p14:modId xmlns:p14="http://schemas.microsoft.com/office/powerpoint/2010/main" val="280284656"/>
              </p:ext>
            </p:extLst>
          </p:nvPr>
        </p:nvGraphicFramePr>
        <p:xfrm>
          <a:off x="4644008" y="660940"/>
          <a:ext cx="4357650" cy="1062472"/>
        </p:xfrm>
        <a:graphic>
          <a:graphicData uri="http://schemas.openxmlformats.org/drawingml/2006/table">
            <a:tbl>
              <a:tblPr/>
              <a:tblGrid>
                <a:gridCol w="1656183"/>
                <a:gridCol w="720080"/>
                <a:gridCol w="720080"/>
                <a:gridCol w="576064"/>
                <a:gridCol w="685243"/>
              </a:tblGrid>
              <a:tr h="152406">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smtClean="0">
                          <a:ln>
                            <a:noFill/>
                          </a:ln>
                          <a:solidFill>
                            <a:schemeClr val="tx1"/>
                          </a:solidFill>
                          <a:effectLst/>
                          <a:latin typeface="+mj-lt"/>
                          <a:ea typeface="+mn-ea"/>
                          <a:cs typeface="+mn-cs"/>
                        </a:rPr>
                        <a:t>E.  MILESTONES</a:t>
                      </a:r>
                      <a:endParaRPr kumimoji="0" lang="en-US" sz="700" b="0" i="0" u="none" strike="noStrike" kern="1200" cap="none" normalizeH="0" baseline="0" dirty="0" smtClean="0">
                        <a:ln>
                          <a:noFill/>
                        </a:ln>
                        <a:solidFill>
                          <a:schemeClr val="tx1"/>
                        </a:solidFill>
                        <a:effectLst/>
                        <a:latin typeface="+mj-lt"/>
                        <a:ea typeface="+mn-ea"/>
                        <a:cs typeface="+mn-cs"/>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88844">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mj-lt"/>
                        </a:rPr>
                        <a:t>Individual Milestone Name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mj-lt"/>
                        </a:rPr>
                        <a:t>Planned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mj-lt"/>
                        </a:rPr>
                        <a:t>Projected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mj-lt"/>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smtClean="0">
                          <a:ln>
                            <a:noFill/>
                          </a:ln>
                          <a:solidFill>
                            <a:schemeClr val="bg2"/>
                          </a:solidFill>
                          <a:effectLst/>
                          <a:latin typeface="+mj-lt"/>
                        </a:rPr>
                        <a:t>This Period</a:t>
                      </a:r>
                      <a:endParaRPr kumimoji="0" lang="en-US" sz="700" b="1" i="0" u="none" strike="noStrike" cap="none" normalizeH="0" baseline="0" dirty="0" smtClean="0">
                        <a:ln>
                          <a:noFill/>
                        </a:ln>
                        <a:solidFill>
                          <a:schemeClr val="bg2"/>
                        </a:solidFill>
                        <a:effectLst/>
                        <a:latin typeface="+mj-lt"/>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93813">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rgbClr val="646464"/>
                          </a:solidFill>
                          <a:effectLst/>
                          <a:latin typeface="+mj-lt"/>
                        </a:rPr>
                        <a:t>Finalize In Country Locations</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mj-lt"/>
                        </a:rPr>
                        <a:t>17 Nov 2011</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mj-lt"/>
                        </a:rPr>
                        <a:t>30 Mar 2012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mj-lt"/>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646464"/>
                          </a:solidFill>
                          <a:effectLst/>
                          <a:latin typeface="+mj-lt"/>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193813">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rgbClr val="646464"/>
                          </a:solidFill>
                          <a:effectLst/>
                          <a:latin typeface="+mj-lt"/>
                        </a:rPr>
                        <a:t>O365 Messaging Scope Lock</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mj-lt"/>
                        </a:rPr>
                        <a:t>2</a:t>
                      </a:r>
                      <a:r>
                        <a:rPr kumimoji="0" lang="en-US" sz="700" b="0" i="0" u="none" strike="noStrike" cap="none" normalizeH="0" baseline="30000" dirty="0" smtClean="0">
                          <a:ln>
                            <a:noFill/>
                          </a:ln>
                          <a:solidFill>
                            <a:srgbClr val="646464"/>
                          </a:solidFill>
                          <a:effectLst/>
                          <a:latin typeface="+mj-lt"/>
                        </a:rPr>
                        <a:t>nd</a:t>
                      </a:r>
                      <a:r>
                        <a:rPr kumimoji="0" lang="en-US" sz="700" b="0" i="0" u="none" strike="noStrike" cap="none" normalizeH="0" baseline="0" dirty="0" smtClean="0">
                          <a:ln>
                            <a:noFill/>
                          </a:ln>
                          <a:solidFill>
                            <a:srgbClr val="646464"/>
                          </a:solidFill>
                          <a:effectLst/>
                          <a:latin typeface="+mj-lt"/>
                        </a:rPr>
                        <a:t> March</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mj-lt"/>
                        </a:rPr>
                        <a:t>9</a:t>
                      </a:r>
                      <a:r>
                        <a:rPr kumimoji="0" lang="en-US" sz="700" b="0" i="0" u="none" strike="noStrike" cap="none" normalizeH="0" baseline="30000" dirty="0" smtClean="0">
                          <a:ln>
                            <a:noFill/>
                          </a:ln>
                          <a:solidFill>
                            <a:srgbClr val="646464"/>
                          </a:solidFill>
                          <a:effectLst/>
                          <a:latin typeface="+mj-lt"/>
                        </a:rPr>
                        <a:t>th</a:t>
                      </a:r>
                      <a:r>
                        <a:rPr kumimoji="0" lang="en-US" sz="700" b="0" i="0" u="none" strike="noStrike" cap="none" normalizeH="0" baseline="0" dirty="0" smtClean="0">
                          <a:ln>
                            <a:noFill/>
                          </a:ln>
                          <a:solidFill>
                            <a:srgbClr val="646464"/>
                          </a:solidFill>
                          <a:effectLst/>
                          <a:latin typeface="+mj-lt"/>
                        </a:rPr>
                        <a:t> March</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mj-lt"/>
                        </a:rPr>
                        <a:t>Complete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646464"/>
                          </a:solidFill>
                          <a:effectLst/>
                          <a:latin typeface="+mj-lt"/>
                        </a:rPr>
                        <a:t>Complete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r h="139783">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rgbClr val="646464"/>
                          </a:solidFill>
                          <a:effectLst/>
                          <a:latin typeface="+mj-lt"/>
                        </a:rPr>
                        <a:t>O365 Sharepoint Scope Lock</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smtClean="0">
                          <a:ln>
                            <a:noFill/>
                          </a:ln>
                          <a:solidFill>
                            <a:srgbClr val="646464"/>
                          </a:solidFill>
                          <a:effectLst/>
                          <a:latin typeface="+mj-lt"/>
                        </a:rPr>
                        <a:t>16</a:t>
                      </a:r>
                      <a:r>
                        <a:rPr kumimoji="0" lang="en-US" sz="700" b="0" i="0" u="none" strike="noStrike" cap="none" normalizeH="0" baseline="30000" smtClean="0">
                          <a:ln>
                            <a:noFill/>
                          </a:ln>
                          <a:solidFill>
                            <a:srgbClr val="646464"/>
                          </a:solidFill>
                          <a:effectLst/>
                          <a:latin typeface="+mj-lt"/>
                        </a:rPr>
                        <a:t>th</a:t>
                      </a:r>
                      <a:r>
                        <a:rPr kumimoji="0" lang="en-US" sz="700" b="0" i="0" u="none" strike="noStrike" cap="none" normalizeH="0" baseline="0" smtClean="0">
                          <a:ln>
                            <a:noFill/>
                          </a:ln>
                          <a:solidFill>
                            <a:srgbClr val="646464"/>
                          </a:solidFill>
                          <a:effectLst/>
                          <a:latin typeface="+mj-lt"/>
                        </a:rPr>
                        <a:t> March</a:t>
                      </a:r>
                      <a:endParaRPr kumimoji="0" lang="en-US" sz="700" b="0" i="0" u="none" strike="noStrike" cap="none" normalizeH="0" baseline="0" dirty="0" smtClean="0">
                        <a:ln>
                          <a:noFill/>
                        </a:ln>
                        <a:solidFill>
                          <a:srgbClr val="646464"/>
                        </a:solidFill>
                        <a:effectLst/>
                        <a:latin typeface="+mj-lt"/>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mj-lt"/>
                        </a:rPr>
                        <a:t>26</a:t>
                      </a:r>
                      <a:r>
                        <a:rPr kumimoji="0" lang="en-US" sz="700" b="0" i="0" u="none" strike="noStrike" cap="none" normalizeH="0" baseline="30000" dirty="0" smtClean="0">
                          <a:ln>
                            <a:noFill/>
                          </a:ln>
                          <a:solidFill>
                            <a:srgbClr val="646464"/>
                          </a:solidFill>
                          <a:effectLst/>
                          <a:latin typeface="+mj-lt"/>
                        </a:rPr>
                        <a:t>th</a:t>
                      </a:r>
                      <a:r>
                        <a:rPr kumimoji="0" lang="en-US" sz="700" b="0" i="0" u="none" strike="noStrike" cap="none" normalizeH="0" baseline="0" dirty="0" smtClean="0">
                          <a:ln>
                            <a:noFill/>
                          </a:ln>
                          <a:solidFill>
                            <a:srgbClr val="646464"/>
                          </a:solidFill>
                          <a:effectLst/>
                          <a:latin typeface="+mj-lt"/>
                        </a:rPr>
                        <a:t>  March</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mj-lt"/>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646464"/>
                          </a:solidFill>
                          <a:effectLst/>
                          <a:latin typeface="+mj-lt"/>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193813">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700" b="0" i="0" u="none" strike="noStrike" cap="none" normalizeH="0" baseline="0" dirty="0" smtClean="0">
                          <a:ln>
                            <a:noFill/>
                          </a:ln>
                          <a:solidFill>
                            <a:srgbClr val="646464"/>
                          </a:solidFill>
                          <a:effectLst/>
                          <a:latin typeface="+mj-lt"/>
                        </a:rPr>
                        <a:t>Lync Vendor Selection</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mj-lt"/>
                        </a:rPr>
                        <a:t>Jan 30th</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mj-lt"/>
                        </a:rPr>
                        <a:t>April 6</a:t>
                      </a:r>
                      <a:r>
                        <a:rPr kumimoji="0" lang="en-US" sz="700" b="0" i="0" u="none" strike="noStrike" cap="none" normalizeH="0" baseline="30000" dirty="0" smtClean="0">
                          <a:ln>
                            <a:noFill/>
                          </a:ln>
                          <a:solidFill>
                            <a:srgbClr val="646464"/>
                          </a:solidFill>
                          <a:effectLst/>
                          <a:latin typeface="+mj-lt"/>
                        </a:rPr>
                        <a:t>th</a:t>
                      </a:r>
                      <a:r>
                        <a:rPr kumimoji="0" lang="en-US" sz="700" b="0" i="0" u="none" strike="noStrike" cap="none" normalizeH="0" baseline="0" dirty="0" smtClean="0">
                          <a:ln>
                            <a:noFill/>
                          </a:ln>
                          <a:solidFill>
                            <a:srgbClr val="646464"/>
                          </a:solidFill>
                          <a:effectLst/>
                          <a:latin typeface="+mj-lt"/>
                        </a:rPr>
                        <a:t> </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mj-lt"/>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700" b="0" i="0" u="none" strike="noStrike" cap="none" normalizeH="0" baseline="0" dirty="0" smtClean="0">
                          <a:ln>
                            <a:noFill/>
                          </a:ln>
                          <a:solidFill>
                            <a:srgbClr val="646464"/>
                          </a:solidFill>
                          <a:effectLst/>
                          <a:latin typeface="+mj-lt"/>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bl>
          </a:graphicData>
        </a:graphic>
      </p:graphicFrame>
      <p:graphicFrame>
        <p:nvGraphicFramePr>
          <p:cNvPr id="15" name="Group 270"/>
          <p:cNvGraphicFramePr>
            <a:graphicFrameLocks noGrp="1"/>
          </p:cNvGraphicFramePr>
          <p:nvPr/>
        </p:nvGraphicFramePr>
        <p:xfrm>
          <a:off x="7570453" y="69061"/>
          <a:ext cx="1503209" cy="535063"/>
        </p:xfrm>
        <a:graphic>
          <a:graphicData uri="http://schemas.openxmlformats.org/drawingml/2006/table">
            <a:tbl>
              <a:tblPr/>
              <a:tblGrid>
                <a:gridCol w="751604"/>
                <a:gridCol w="751605"/>
              </a:tblGrid>
              <a:tr h="152406">
                <a:tc gridSpan="2">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OVERALL INITIATIVE STATUS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8884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93813">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320919899"/>
              </p:ext>
            </p:extLst>
          </p:nvPr>
        </p:nvGraphicFramePr>
        <p:xfrm>
          <a:off x="4716016" y="2348880"/>
          <a:ext cx="4283115" cy="864096"/>
        </p:xfrm>
        <a:graphic>
          <a:graphicData uri="http://schemas.openxmlformats.org/drawingml/2006/table">
            <a:tbl>
              <a:tblPr/>
              <a:tblGrid>
                <a:gridCol w="2069499"/>
                <a:gridCol w="2213616"/>
              </a:tblGrid>
              <a:tr h="289441">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mn-lt"/>
                        </a:rPr>
                        <a:t>F.  KEY RISKS – typically future challenges or external circumstances that may affect the initiative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r>
              <a:tr h="237452">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mn-lt"/>
                        </a:rPr>
                        <a:t>Risks to be addressed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mn-lt"/>
                        </a:rPr>
                        <a:t>Mitigating Action</a:t>
                      </a:r>
                      <a:endParaRPr kumimoji="0" lang="en-US" sz="700" b="0" i="0" u="none" strike="noStrike" cap="none" normalizeH="0" baseline="0" dirty="0" smtClean="0">
                        <a:ln>
                          <a:noFill/>
                        </a:ln>
                        <a:solidFill>
                          <a:schemeClr val="bg2"/>
                        </a:solidFill>
                        <a:effectLst/>
                        <a:latin typeface="+mn-lt"/>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337203">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mn-lt"/>
                        </a:rPr>
                        <a:t>Absence of  any BA resource is impacting SP and Lync </a:t>
                      </a:r>
                      <a:r>
                        <a:rPr kumimoji="0" lang="en-US" sz="700" b="0" i="0" u="none" strike="noStrike" cap="none" normalizeH="0" baseline="0" dirty="0" err="1" smtClean="0">
                          <a:ln>
                            <a:noFill/>
                          </a:ln>
                          <a:solidFill>
                            <a:srgbClr val="646464"/>
                          </a:solidFill>
                          <a:effectLst/>
                          <a:latin typeface="+mn-lt"/>
                        </a:rPr>
                        <a:t>workstream</a:t>
                      </a:r>
                      <a:endParaRPr kumimoji="0" lang="en-US" sz="700" b="0" i="0" u="none" strike="noStrike" cap="none" normalizeH="0" baseline="0" dirty="0" smtClean="0">
                        <a:ln>
                          <a:noFill/>
                        </a:ln>
                        <a:solidFill>
                          <a:srgbClr val="646464"/>
                        </a:solidFill>
                        <a:effectLst/>
                        <a:latin typeface="+mn-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noProof="0" dirty="0" smtClean="0">
                          <a:ln>
                            <a:noFill/>
                          </a:ln>
                          <a:solidFill>
                            <a:schemeClr val="bg2"/>
                          </a:solidFill>
                          <a:effectLst/>
                          <a:latin typeface="+mn-lt"/>
                          <a:ea typeface="+mn-ea"/>
                          <a:cs typeface="+mn-cs"/>
                        </a:rPr>
                        <a:t>Resource requests in place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2605509881"/>
              </p:ext>
            </p:extLst>
          </p:nvPr>
        </p:nvGraphicFramePr>
        <p:xfrm>
          <a:off x="4716016" y="6021288"/>
          <a:ext cx="4355123" cy="378796"/>
        </p:xfrm>
        <a:graphic>
          <a:graphicData uri="http://schemas.openxmlformats.org/drawingml/2006/table">
            <a:tbl>
              <a:tblPr/>
              <a:tblGrid>
                <a:gridCol w="4355123"/>
              </a:tblGrid>
              <a:tr h="115290">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mn-lt"/>
                        </a:rPr>
                        <a:t>H.  GENERAL COMMENTS – must include reasoning for an overall Red or Amber Status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24475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mn-lt"/>
                        </a:rPr>
                        <a:t> Project is RED due to work stream issues and O365 implications,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8" name="Group 270"/>
          <p:cNvGraphicFramePr>
            <a:graphicFrameLocks noGrp="1"/>
          </p:cNvGraphicFramePr>
          <p:nvPr/>
        </p:nvGraphicFramePr>
        <p:xfrm>
          <a:off x="1187624" y="6585504"/>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04C3E"/>
                    </a:solidFill>
                  </a:tcPr>
                </a:tc>
              </a:tr>
            </a:tbl>
          </a:graphicData>
        </a:graphic>
      </p:graphicFrame>
      <p:graphicFrame>
        <p:nvGraphicFramePr>
          <p:cNvPr id="19" name="Group 270"/>
          <p:cNvGraphicFramePr>
            <a:graphicFrameLocks noGrp="1"/>
          </p:cNvGraphicFramePr>
          <p:nvPr/>
        </p:nvGraphicFramePr>
        <p:xfrm>
          <a:off x="4019816" y="6585320"/>
          <a:ext cx="483613" cy="88326"/>
        </p:xfrm>
        <a:graphic>
          <a:graphicData uri="http://schemas.openxmlformats.org/drawingml/2006/table">
            <a:tbl>
              <a:tblPr/>
              <a:tblGrid>
                <a:gridCol w="483613"/>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20" name="Group 270"/>
          <p:cNvGraphicFramePr>
            <a:graphicFrameLocks noGrp="1"/>
          </p:cNvGraphicFramePr>
          <p:nvPr/>
        </p:nvGraphicFramePr>
        <p:xfrm>
          <a:off x="6516216" y="6573472"/>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graphicFrame>
        <p:nvGraphicFramePr>
          <p:cNvPr id="22" name="Group 270"/>
          <p:cNvGraphicFramePr>
            <a:graphicFrameLocks noGrp="1"/>
          </p:cNvGraphicFramePr>
          <p:nvPr/>
        </p:nvGraphicFramePr>
        <p:xfrm>
          <a:off x="70340" y="6581034"/>
          <a:ext cx="613229" cy="88326"/>
        </p:xfrm>
        <a:graphic>
          <a:graphicData uri="http://schemas.openxmlformats.org/drawingml/2006/table">
            <a:tbl>
              <a:tblPr/>
              <a:tblGrid>
                <a:gridCol w="613229"/>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COMPLETE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2" name="Group 27"/>
          <p:cNvGrpSpPr/>
          <p:nvPr/>
        </p:nvGrpSpPr>
        <p:grpSpPr>
          <a:xfrm>
            <a:off x="622665" y="6376971"/>
            <a:ext cx="8341824" cy="481029"/>
            <a:chOff x="674554" y="6564722"/>
            <a:chExt cx="9036977" cy="481029"/>
          </a:xfrm>
        </p:grpSpPr>
        <p:sp>
          <p:nvSpPr>
            <p:cNvPr id="21" name="TextBox 20"/>
            <p:cNvSpPr txBox="1"/>
            <p:nvPr/>
          </p:nvSpPr>
          <p:spPr bwMode="gray">
            <a:xfrm>
              <a:off x="1639689" y="6576570"/>
              <a:ext cx="2611234" cy="400110"/>
            </a:xfrm>
            <a:prstGeom prst="rect">
              <a:avLst/>
            </a:prstGeom>
          </p:spPr>
          <p:txBody>
            <a:bodyPr wrap="square" rtlCol="0">
              <a:spAutoFit/>
            </a:bodyPr>
            <a:lstStyle/>
            <a:p>
              <a:pPr defTabSz="955675" eaLnBrk="0" hangingPunct="0">
                <a:spcAft>
                  <a:spcPts val="0"/>
                </a:spcAft>
              </a:pPr>
              <a:endParaRPr lang="en-GB" sz="500" b="1" dirty="0" smtClean="0">
                <a:solidFill>
                  <a:srgbClr val="646464"/>
                </a:solidFill>
                <a:latin typeface="EYInterstate Light" pitchFamily="2" charset="0"/>
              </a:endParaRPr>
            </a:p>
            <a:p>
              <a:pPr defTabSz="955675" eaLnBrk="0" hangingPunct="0">
                <a:spcAft>
                  <a:spcPts val="0"/>
                </a:spcAft>
              </a:pPr>
              <a:r>
                <a:rPr lang="en-GB" sz="500" b="1" dirty="0" smtClean="0">
                  <a:solidFill>
                    <a:srgbClr val="646464"/>
                  </a:solidFill>
                  <a:latin typeface="EYInterstate Light" pitchFamily="2" charset="0"/>
                </a:rPr>
                <a:t>Project is not on track and has significant challenges and/or issues that materially impact the overall successful achievement of the expected outcomes. 	</a:t>
              </a:r>
            </a:p>
          </p:txBody>
        </p:sp>
        <p:sp>
          <p:nvSpPr>
            <p:cNvPr id="23" name="TextBox 22"/>
            <p:cNvSpPr txBox="1"/>
            <p:nvPr/>
          </p:nvSpPr>
          <p:spPr bwMode="gray">
            <a:xfrm>
              <a:off x="674554" y="6657945"/>
              <a:ext cx="663724" cy="169277"/>
            </a:xfrm>
            <a:prstGeom prst="rect">
              <a:avLst/>
            </a:prstGeom>
          </p:spPr>
          <p:txBody>
            <a:bodyPr wrap="none" rtlCol="0">
              <a:spAutoFit/>
            </a:bodyPr>
            <a:lstStyle/>
            <a:p>
              <a:pPr defTabSz="955675" eaLnBrk="0" hangingPunct="0">
                <a:spcAft>
                  <a:spcPts val="0"/>
                </a:spcAft>
              </a:pPr>
              <a:r>
                <a:rPr lang="en-US" sz="500" b="1" dirty="0" smtClean="0">
                  <a:solidFill>
                    <a:srgbClr val="646464"/>
                  </a:solidFill>
                  <a:latin typeface="EYInterstate Light" pitchFamily="2" charset="0"/>
                </a:rPr>
                <a:t>F</a:t>
              </a:r>
              <a:r>
                <a:rPr lang="en-US" sz="500" b="1" dirty="0" err="1" smtClean="0">
                  <a:solidFill>
                    <a:srgbClr val="646464"/>
                  </a:solidFill>
                  <a:latin typeface="EYInterstate Light" pitchFamily="2" charset="0"/>
                </a:rPr>
                <a:t>ully</a:t>
              </a:r>
              <a:r>
                <a:rPr lang="en-US" sz="500" b="1" dirty="0" smtClean="0">
                  <a:solidFill>
                    <a:srgbClr val="646464"/>
                  </a:solidFill>
                  <a:latin typeface="EYInterstate Light" pitchFamily="2" charset="0"/>
                </a:rPr>
                <a:t> achieved</a:t>
              </a:r>
              <a:endParaRPr lang="en-GB" sz="500" b="1" kern="0" dirty="0" smtClean="0">
                <a:solidFill>
                  <a:srgbClr val="646464"/>
                </a:solidFill>
                <a:latin typeface="EYInterstate"/>
              </a:endParaRPr>
            </a:p>
          </p:txBody>
        </p:sp>
        <p:sp>
          <p:nvSpPr>
            <p:cNvPr id="26" name="TextBox 25"/>
            <p:cNvSpPr txBox="1"/>
            <p:nvPr/>
          </p:nvSpPr>
          <p:spPr bwMode="gray">
            <a:xfrm>
              <a:off x="7423210" y="6564722"/>
              <a:ext cx="2288321" cy="400110"/>
            </a:xfrm>
            <a:prstGeom prst="rect">
              <a:avLst/>
            </a:prstGeom>
          </p:spPr>
          <p:txBody>
            <a:bodyPr wrap="square" rtlCol="0">
              <a:spAutoFit/>
            </a:bodyPr>
            <a:lstStyle/>
            <a:p>
              <a:pPr defTabSz="955675" eaLnBrk="0" hangingPunct="0">
                <a:spcAft>
                  <a:spcPts val="0"/>
                </a:spcAft>
              </a:pPr>
              <a:endParaRPr lang="en-GB" sz="500" b="1" dirty="0" smtClean="0">
                <a:solidFill>
                  <a:srgbClr val="646464"/>
                </a:solidFill>
                <a:latin typeface="EYInterstate Light" pitchFamily="2" charset="0"/>
              </a:endParaRPr>
            </a:p>
            <a:p>
              <a:pPr defTabSz="955675" eaLnBrk="0" hangingPunct="0">
                <a:spcAft>
                  <a:spcPts val="0"/>
                </a:spcAft>
              </a:pPr>
              <a:r>
                <a:rPr lang="en-GB" sz="500" b="1" dirty="0" smtClean="0">
                  <a:solidFill>
                    <a:srgbClr val="646464"/>
                  </a:solidFill>
                  <a:latin typeface="EYInterstate Light" pitchFamily="2" charset="0"/>
                </a:rPr>
                <a:t>Project is on track and has no significant challenges and/or issues that may materially impact the overall successful achievement of the expected outcomes, now or in the future. 	</a:t>
              </a:r>
            </a:p>
          </p:txBody>
        </p:sp>
        <p:sp>
          <p:nvSpPr>
            <p:cNvPr id="27" name="TextBox 26"/>
            <p:cNvSpPr txBox="1"/>
            <p:nvPr/>
          </p:nvSpPr>
          <p:spPr bwMode="gray">
            <a:xfrm>
              <a:off x="4849123" y="6568697"/>
              <a:ext cx="1976087" cy="477054"/>
            </a:xfrm>
            <a:prstGeom prst="rect">
              <a:avLst/>
            </a:prstGeom>
          </p:spPr>
          <p:txBody>
            <a:bodyPr wrap="square" rtlCol="0">
              <a:spAutoFit/>
            </a:bodyPr>
            <a:lstStyle/>
            <a:p>
              <a:pPr defTabSz="955675" eaLnBrk="0" hangingPunct="0">
                <a:spcAft>
                  <a:spcPts val="0"/>
                </a:spcAft>
              </a:pPr>
              <a:endParaRPr lang="en-GB" sz="500" b="1" dirty="0" smtClean="0">
                <a:solidFill>
                  <a:srgbClr val="646464"/>
                </a:solidFill>
                <a:latin typeface="EYInterstate Light" pitchFamily="2" charset="0"/>
              </a:endParaRPr>
            </a:p>
            <a:p>
              <a:pPr defTabSz="955675" eaLnBrk="0" hangingPunct="0">
                <a:spcAft>
                  <a:spcPts val="0"/>
                </a:spcAft>
              </a:pPr>
              <a:r>
                <a:rPr lang="en-GB" sz="500" b="1" dirty="0" smtClean="0">
                  <a:solidFill>
                    <a:srgbClr val="646464"/>
                  </a:solidFill>
                  <a:latin typeface="EYInterstate Light" pitchFamily="2" charset="0"/>
                </a:rPr>
                <a:t>Project is on track but has some significant challenges and/or issues that may materially impact the overall successful achievement of the expected outcomes. 	</a:t>
              </a:r>
            </a:p>
          </p:txBody>
        </p:sp>
      </p:grpSp>
      <p:sp>
        <p:nvSpPr>
          <p:cNvPr id="30" name="Freeform 94"/>
          <p:cNvSpPr>
            <a:spLocks/>
          </p:cNvSpPr>
          <p:nvPr/>
        </p:nvSpPr>
        <p:spPr bwMode="gray">
          <a:xfrm>
            <a:off x="-2459" y="-3265"/>
            <a:ext cx="7025054"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a:endParaRPr lang="en-GB" sz="2000" dirty="0">
              <a:solidFill>
                <a:srgbClr val="000000"/>
              </a:solidFill>
              <a:latin typeface="Times New Roman" pitchFamily="18" charset="0"/>
            </a:endParaRPr>
          </a:p>
        </p:txBody>
      </p:sp>
      <p:sp>
        <p:nvSpPr>
          <p:cNvPr id="14" name="Rectangle 183"/>
          <p:cNvSpPr txBox="1">
            <a:spLocks noChangeArrowheads="1"/>
          </p:cNvSpPr>
          <p:nvPr/>
        </p:nvSpPr>
        <p:spPr bwMode="gray">
          <a:xfrm>
            <a:off x="2" y="0"/>
            <a:ext cx="7729904" cy="338554"/>
          </a:xfrm>
          <a:prstGeom prst="rect">
            <a:avLst/>
          </a:prstGeom>
        </p:spPr>
        <p:txBody>
          <a:bodyPr>
            <a:spAutoFit/>
          </a:bodyPr>
          <a:lstStyle/>
          <a:p>
            <a:pPr algn="l" defTabSz="955675" eaLnBrk="0" hangingPunct="0">
              <a:spcAft>
                <a:spcPts val="0"/>
              </a:spcAft>
              <a:defRPr/>
            </a:pPr>
            <a:r>
              <a:rPr lang="en-US" sz="1600" b="1" kern="0" dirty="0" smtClean="0">
                <a:solidFill>
                  <a:srgbClr val="646464"/>
                </a:solidFill>
                <a:latin typeface="EYInterstate"/>
              </a:rPr>
              <a:t>Technology Foundation March</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44" name="Group 272"/>
          <p:cNvGraphicFramePr>
            <a:graphicFrameLocks noGrp="1"/>
          </p:cNvGraphicFramePr>
          <p:nvPr>
            <p:extLst>
              <p:ext uri="{D42A27DB-BD31-4B8C-83A1-F6EECF244321}">
                <p14:modId xmlns:p14="http://schemas.microsoft.com/office/powerpoint/2010/main" val="2242730131"/>
              </p:ext>
            </p:extLst>
          </p:nvPr>
        </p:nvGraphicFramePr>
        <p:xfrm>
          <a:off x="152400" y="3352800"/>
          <a:ext cx="4468688" cy="2709902"/>
        </p:xfrm>
        <a:graphic>
          <a:graphicData uri="http://schemas.openxmlformats.org/drawingml/2006/table">
            <a:tbl>
              <a:tblPr/>
              <a:tblGrid>
                <a:gridCol w="4468688"/>
              </a:tblGrid>
              <a:tr h="107326">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CA" sz="600" b="1" i="0" u="none" strike="noStrike" kern="1200" cap="none" normalizeH="0" baseline="0" dirty="0" smtClean="0">
                          <a:ln>
                            <a:noFill/>
                          </a:ln>
                          <a:solidFill>
                            <a:schemeClr val="tx1"/>
                          </a:solidFill>
                          <a:effectLst/>
                          <a:latin typeface="+mn-lt"/>
                          <a:ea typeface="+mn-ea"/>
                          <a:cs typeface="+mn-cs"/>
                        </a:rPr>
                        <a:t>B</a:t>
                      </a:r>
                      <a:r>
                        <a:rPr kumimoji="0" lang="en-CA" sz="600" b="1" i="0" u="none" strike="noStrike" kern="1200" cap="none" normalizeH="0" baseline="0" noProof="0" dirty="0" smtClean="0">
                          <a:ln>
                            <a:noFill/>
                          </a:ln>
                          <a:solidFill>
                            <a:schemeClr val="tx1"/>
                          </a:solidFill>
                          <a:effectLst/>
                          <a:latin typeface="+mn-lt"/>
                          <a:ea typeface="+mn-ea"/>
                          <a:cs typeface="+mn-cs"/>
                        </a:rPr>
                        <a:t>.  KEY ACCOMPLISHMENTS THIS PERIOD</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accent2"/>
                    </a:solidFill>
                  </a:tcPr>
                </a:tc>
              </a:tr>
              <a:tr h="176438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kern="1200" cap="none" normalizeH="0" baseline="0" noProof="0" dirty="0" err="1" smtClean="0">
                          <a:ln>
                            <a:noFill/>
                          </a:ln>
                          <a:solidFill>
                            <a:schemeClr val="tx1"/>
                          </a:solidFill>
                          <a:effectLst/>
                          <a:latin typeface="+mn-lt"/>
                          <a:ea typeface="+mn-ea"/>
                          <a:cs typeface="+mn-cs"/>
                        </a:rPr>
                        <a:t>Lync</a:t>
                      </a:r>
                      <a:r>
                        <a:rPr kumimoji="0" lang="en-US" sz="600" b="0" i="0" u="none" strike="noStrike" kern="1200" cap="none" normalizeH="0" baseline="0" noProof="0" dirty="0" smtClean="0">
                          <a:ln>
                            <a:noFill/>
                          </a:ln>
                          <a:solidFill>
                            <a:schemeClr val="tx1"/>
                          </a:solidFill>
                          <a:effectLst/>
                          <a:latin typeface="+mn-lt"/>
                          <a:ea typeface="+mn-ea"/>
                          <a:cs typeface="+mn-cs"/>
                        </a:rPr>
                        <a:t> Devices: </a:t>
                      </a:r>
                      <a:r>
                        <a:rPr kumimoji="0" lang="en-GB" sz="600" b="0" i="0" u="none" strike="noStrike" kern="1200" cap="none" normalizeH="0" baseline="0" noProof="0" dirty="0" smtClean="0">
                          <a:ln>
                            <a:noFill/>
                          </a:ln>
                          <a:solidFill>
                            <a:schemeClr val="tx1"/>
                          </a:solidFill>
                          <a:effectLst/>
                          <a:latin typeface="+mn-lt"/>
                          <a:ea typeface="+mn-ea"/>
                          <a:cs typeface="+mn-cs"/>
                        </a:rPr>
                        <a:t>Evaluations are currently under review - Once the S&amp;I approval has been granted Global Procurement will finalise the device list with Dell and Lenovo and arrange global resell channels. </a:t>
                      </a:r>
                    </a:p>
                  </a:txBody>
                  <a:tcPr marL="31577" marR="31577"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noFill/>
                  </a:tcPr>
                </a:tc>
              </a:tr>
              <a:tr h="107326">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CA" sz="600" b="1" i="0" u="none" strike="noStrike" cap="none" normalizeH="0" baseline="0" dirty="0" smtClean="0">
                          <a:ln>
                            <a:noFill/>
                          </a:ln>
                          <a:solidFill>
                            <a:schemeClr val="tx1"/>
                          </a:solidFill>
                          <a:effectLst/>
                          <a:latin typeface="+mn-lt"/>
                        </a:rPr>
                        <a:t>C</a:t>
                      </a:r>
                      <a:r>
                        <a:rPr kumimoji="0" lang="en-CA" sz="600" b="1" i="0" u="none" strike="noStrike" kern="1200" cap="none" normalizeH="0" baseline="0" noProof="0" dirty="0" smtClean="0">
                          <a:ln>
                            <a:noFill/>
                          </a:ln>
                          <a:solidFill>
                            <a:schemeClr val="tx1"/>
                          </a:solidFill>
                          <a:effectLst/>
                          <a:latin typeface="+mn-lt"/>
                          <a:ea typeface="+mn-ea"/>
                          <a:cs typeface="+mn-cs"/>
                        </a:rPr>
                        <a:t>.  ACTIVITIES BEHIND SCHEDULE</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accent2"/>
                    </a:solidFill>
                  </a:tcPr>
                </a:tc>
              </a:tr>
              <a:tr h="21600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kern="1200" cap="none" normalizeH="0" baseline="0" dirty="0" smtClean="0">
                          <a:ln>
                            <a:noFill/>
                          </a:ln>
                          <a:solidFill>
                            <a:schemeClr val="tx1"/>
                          </a:solidFill>
                          <a:effectLst/>
                          <a:latin typeface="+mn-lt"/>
                          <a:ea typeface="+mn-ea"/>
                          <a:cs typeface="+mn-cs"/>
                        </a:rPr>
                        <a:t>Deployment plan contingent on Business Deployment Strategy, DCC schedule and bandwidth </a:t>
                      </a:r>
                      <a:r>
                        <a:rPr kumimoji="0" lang="en-US" sz="600" b="0" i="0" u="none" strike="noStrike" kern="1200" cap="none" normalizeH="0" baseline="0" dirty="0" smtClean="0">
                          <a:ln>
                            <a:noFill/>
                          </a:ln>
                          <a:solidFill>
                            <a:schemeClr val="tx1"/>
                          </a:solidFill>
                          <a:effectLst/>
                          <a:latin typeface="+mn-lt"/>
                          <a:ea typeface="+mn-ea"/>
                          <a:cs typeface="+mn-cs"/>
                        </a:rPr>
                        <a:t>analysis</a:t>
                      </a:r>
                      <a:endParaRPr kumimoji="0" lang="en-US" sz="600" b="0" i="0" u="none" strike="noStrike" kern="1200" cap="none" normalizeH="0" baseline="0" dirty="0" smtClean="0">
                        <a:ln>
                          <a:noFill/>
                        </a:ln>
                        <a:solidFill>
                          <a:schemeClr val="tx1"/>
                        </a:solidFill>
                        <a:effectLst/>
                        <a:latin typeface="+mn-lt"/>
                        <a:ea typeface="+mn-ea"/>
                        <a:cs typeface="+mn-cs"/>
                      </a:endParaRPr>
                    </a:p>
                  </a:txBody>
                  <a:tcPr marL="31577" marR="31577"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noFill/>
                  </a:tcPr>
                </a:tc>
              </a:tr>
              <a:tr h="107326">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600" b="1" i="0" u="none" strike="noStrike" kern="1200" cap="none" normalizeH="0" baseline="0" noProof="0" dirty="0" smtClean="0">
                          <a:ln>
                            <a:noFill/>
                          </a:ln>
                          <a:solidFill>
                            <a:schemeClr val="tx1"/>
                          </a:solidFill>
                          <a:effectLst/>
                          <a:latin typeface="+mn-lt"/>
                          <a:ea typeface="+mn-ea"/>
                          <a:cs typeface="+mn-cs"/>
                        </a:rPr>
                        <a:t>D.  KEY ACTIVITIES PLANNED NEXT PERIOD</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accent2"/>
                    </a:solidFill>
                  </a:tcPr>
                </a:tc>
              </a:tr>
              <a:tr h="37310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cap="none" normalizeH="0" baseline="0" dirty="0" smtClean="0">
                          <a:ln>
                            <a:noFill/>
                          </a:ln>
                          <a:solidFill>
                            <a:schemeClr val="tx1"/>
                          </a:solidFill>
                          <a:effectLst/>
                          <a:latin typeface="+mn-lt"/>
                          <a:cs typeface="Arial" charset="0"/>
                        </a:rPr>
                        <a:t>Publish Lync and Outlook governance </a:t>
                      </a:r>
                      <a:r>
                        <a:rPr kumimoji="0" lang="en-US" sz="600" b="0" i="0" u="none" strike="noStrike" cap="none" normalizeH="0" baseline="0" dirty="0" smtClean="0">
                          <a:ln>
                            <a:noFill/>
                          </a:ln>
                          <a:solidFill>
                            <a:schemeClr val="tx1"/>
                          </a:solidFill>
                          <a:effectLst/>
                          <a:latin typeface="+mn-lt"/>
                          <a:cs typeface="Arial" charset="0"/>
                        </a:rPr>
                        <a:t>model</a:t>
                      </a:r>
                      <a:endParaRPr kumimoji="0" lang="en-US" sz="600" b="0" i="0" u="none" strike="noStrike" cap="none" normalizeH="0" baseline="0" dirty="0" smtClean="0">
                        <a:ln>
                          <a:noFill/>
                        </a:ln>
                        <a:solidFill>
                          <a:schemeClr val="tx1"/>
                        </a:solidFill>
                        <a:effectLst/>
                        <a:latin typeface="+mn-lt"/>
                        <a:cs typeface="Arial" charset="0"/>
                      </a:endParaRPr>
                    </a:p>
                  </a:txBody>
                  <a:tcPr marL="31577" marR="31577"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noFill/>
                  </a:tcPr>
                </a:tc>
              </a:tr>
            </a:tbl>
          </a:graphicData>
        </a:graphic>
      </p:graphicFrame>
      <p:graphicFrame>
        <p:nvGraphicFramePr>
          <p:cNvPr id="1334100" name="Group 852"/>
          <p:cNvGraphicFramePr>
            <a:graphicFrameLocks noGrp="1"/>
          </p:cNvGraphicFramePr>
          <p:nvPr>
            <p:extLst>
              <p:ext uri="{D42A27DB-BD31-4B8C-83A1-F6EECF244321}">
                <p14:modId xmlns:p14="http://schemas.microsoft.com/office/powerpoint/2010/main" val="3714316665"/>
              </p:ext>
            </p:extLst>
          </p:nvPr>
        </p:nvGraphicFramePr>
        <p:xfrm>
          <a:off x="4712677" y="3962400"/>
          <a:ext cx="4355123" cy="1020146"/>
        </p:xfrm>
        <a:graphic>
          <a:graphicData uri="http://schemas.openxmlformats.org/drawingml/2006/table">
            <a:tbl>
              <a:tblPr/>
              <a:tblGrid>
                <a:gridCol w="2113085"/>
                <a:gridCol w="2242038"/>
              </a:tblGrid>
              <a:tr h="144000">
                <a:tc gridSpan="2">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600" b="1" i="0" u="none" strike="noStrike" cap="none" normalizeH="0" baseline="0" dirty="0" smtClean="0">
                          <a:ln>
                            <a:noFill/>
                          </a:ln>
                          <a:solidFill>
                            <a:schemeClr val="tx1"/>
                          </a:solidFill>
                          <a:effectLst/>
                          <a:latin typeface="+mj-lt"/>
                        </a:rPr>
                        <a:t>G. </a:t>
                      </a:r>
                      <a:r>
                        <a:rPr kumimoji="0" lang="en-US" sz="600" b="1" i="0" u="none" strike="noStrike" kern="1200" cap="none" normalizeH="0" baseline="0" noProof="0" dirty="0" smtClean="0">
                          <a:ln>
                            <a:noFill/>
                          </a:ln>
                          <a:solidFill>
                            <a:schemeClr val="tx1"/>
                          </a:solidFill>
                          <a:effectLst/>
                          <a:latin typeface="+mj-lt"/>
                          <a:ea typeface="+mn-ea"/>
                          <a:cs typeface="+mn-cs"/>
                        </a:rPr>
                        <a:t>MATTERS FOR IMMEDIATE ATTENTION – typically specific current issues or scope changes</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r>
              <a:tr h="184597">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600" b="1" i="0" u="none" strike="noStrike" cap="none" normalizeH="0" baseline="0" dirty="0" smtClean="0">
                          <a:ln>
                            <a:noFill/>
                          </a:ln>
                          <a:solidFill>
                            <a:schemeClr val="bg1"/>
                          </a:solidFill>
                          <a:effectLst/>
                          <a:latin typeface="+mj-lt"/>
                        </a:rPr>
                        <a:t>Issues to be resolved</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600" b="1" i="0" u="none" strike="noStrike" cap="none" normalizeH="0" baseline="0" dirty="0" smtClean="0">
                          <a:ln>
                            <a:noFill/>
                          </a:ln>
                          <a:solidFill>
                            <a:schemeClr val="bg1"/>
                          </a:solidFill>
                          <a:effectLst/>
                          <a:latin typeface="+mj-lt"/>
                        </a:rPr>
                        <a:t>Recommended Action</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hlink"/>
                    </a:solidFill>
                  </a:tcPr>
                </a:tc>
              </a:tr>
              <a:tr h="310102">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kern="1200" cap="none" normalizeH="0" baseline="0" dirty="0" smtClean="0">
                          <a:ln>
                            <a:noFill/>
                          </a:ln>
                          <a:solidFill>
                            <a:schemeClr val="tx1"/>
                          </a:solidFill>
                          <a:effectLst/>
                          <a:latin typeface="+mj-lt"/>
                          <a:ea typeface="+mn-ea"/>
                          <a:cs typeface="+mn-cs"/>
                        </a:rPr>
                        <a:t>No forum for business validation and sign off of </a:t>
                      </a:r>
                      <a:r>
                        <a:rPr kumimoji="0" lang="en-US" sz="600" b="0" i="0" u="none" strike="noStrike" kern="1200" cap="none" normalizeH="0" baseline="0" dirty="0" err="1" smtClean="0">
                          <a:ln>
                            <a:noFill/>
                          </a:ln>
                          <a:solidFill>
                            <a:schemeClr val="tx1"/>
                          </a:solidFill>
                          <a:effectLst/>
                          <a:latin typeface="+mj-lt"/>
                          <a:ea typeface="+mn-ea"/>
                          <a:cs typeface="+mn-cs"/>
                        </a:rPr>
                        <a:t>Lync</a:t>
                      </a:r>
                      <a:r>
                        <a:rPr kumimoji="0" lang="en-US" sz="600" b="0" i="0" u="none" strike="noStrike" kern="1200" cap="none" normalizeH="0" baseline="0" dirty="0" smtClean="0">
                          <a:ln>
                            <a:noFill/>
                          </a:ln>
                          <a:solidFill>
                            <a:schemeClr val="tx1"/>
                          </a:solidFill>
                          <a:effectLst/>
                          <a:latin typeface="+mj-lt"/>
                          <a:ea typeface="+mn-ea"/>
                          <a:cs typeface="+mn-cs"/>
                        </a:rPr>
                        <a:t> and Outlook business requirements and configuration settings</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kern="1200" cap="none" normalizeH="0" baseline="0" dirty="0" smtClean="0">
                          <a:ln>
                            <a:noFill/>
                          </a:ln>
                          <a:solidFill>
                            <a:schemeClr val="tx1"/>
                          </a:solidFill>
                          <a:effectLst/>
                          <a:latin typeface="+mj-lt"/>
                          <a:ea typeface="+mn-ea"/>
                          <a:cs typeface="+mn-cs"/>
                        </a:rPr>
                        <a:t>Deadline for completion and sign-off for business requirements now at risk due to lack of identified SMEs who can provide/sign off </a:t>
                      </a:r>
                      <a:r>
                        <a:rPr kumimoji="0" lang="en-US" sz="600" b="0" i="0" u="none" strike="noStrike" kern="1200" cap="none" normalizeH="0" baseline="0" dirty="0" err="1" smtClean="0">
                          <a:ln>
                            <a:noFill/>
                          </a:ln>
                          <a:solidFill>
                            <a:schemeClr val="tx1"/>
                          </a:solidFill>
                          <a:effectLst/>
                          <a:latin typeface="+mj-lt"/>
                          <a:ea typeface="+mn-ea"/>
                          <a:cs typeface="+mn-cs"/>
                        </a:rPr>
                        <a:t>reqs</a:t>
                      </a:r>
                      <a:r>
                        <a:rPr kumimoji="0" lang="en-US" sz="600" b="0" i="0" u="none" strike="noStrike" kern="1200" cap="none" normalizeH="0" baseline="0" dirty="0" smtClean="0">
                          <a:ln>
                            <a:noFill/>
                          </a:ln>
                          <a:solidFill>
                            <a:schemeClr val="tx1"/>
                          </a:solidFill>
                          <a:effectLst/>
                          <a:latin typeface="+mj-lt"/>
                          <a:ea typeface="+mn-ea"/>
                          <a:cs typeface="+mn-cs"/>
                        </a:rPr>
                        <a:t>. Status is RED</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noFill/>
                  </a:tcPr>
                </a:tc>
              </a:tr>
              <a:tr h="171201">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600" b="1" i="0" u="none" strike="noStrike" cap="none" normalizeH="0" baseline="0" dirty="0" smtClean="0">
                          <a:ln>
                            <a:noFill/>
                          </a:ln>
                          <a:solidFill>
                            <a:schemeClr val="bg1"/>
                          </a:solidFill>
                          <a:effectLst/>
                          <a:latin typeface="+mj-lt"/>
                        </a:rPr>
                        <a:t>Scope Change requests to be approved</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600" b="1" i="0" u="none" strike="noStrike" cap="none" normalizeH="0" baseline="0" dirty="0" smtClean="0">
                          <a:ln>
                            <a:noFill/>
                          </a:ln>
                          <a:solidFill>
                            <a:schemeClr val="bg1"/>
                          </a:solidFill>
                          <a:effectLst/>
                          <a:latin typeface="+mj-lt"/>
                        </a:rPr>
                        <a:t>Recommended Action</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hlink"/>
                    </a:solidFill>
                  </a:tcPr>
                </a:tc>
              </a:tr>
              <a:tr h="171201">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kern="1200" cap="none" normalizeH="0" baseline="0" dirty="0" smtClean="0">
                          <a:ln>
                            <a:noFill/>
                          </a:ln>
                          <a:solidFill>
                            <a:schemeClr val="tx1"/>
                          </a:solidFill>
                          <a:effectLst/>
                          <a:latin typeface="+mj-lt"/>
                          <a:ea typeface="+mn-ea"/>
                          <a:cs typeface="+mn-cs"/>
                        </a:rPr>
                        <a:t>CR to be raised pending clarity on UC scope in relation to TF, Transition, Business Deployment</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kern="1200" cap="none" normalizeH="0" baseline="0" dirty="0" smtClean="0">
                          <a:ln>
                            <a:noFill/>
                          </a:ln>
                          <a:solidFill>
                            <a:schemeClr val="tx1"/>
                          </a:solidFill>
                          <a:effectLst/>
                          <a:latin typeface="+mj-lt"/>
                          <a:ea typeface="+mn-ea"/>
                          <a:cs typeface="+mn-cs"/>
                        </a:rPr>
                        <a:t>Await publication of Org Chart and Roles and Responsibilities, and publication of Bus. Deployment Strategy</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noFill/>
                  </a:tcPr>
                </a:tc>
              </a:tr>
            </a:tbl>
          </a:graphicData>
        </a:graphic>
      </p:graphicFrame>
      <p:graphicFrame>
        <p:nvGraphicFramePr>
          <p:cNvPr id="3317" name="Group 245"/>
          <p:cNvGraphicFramePr>
            <a:graphicFrameLocks noGrp="1"/>
          </p:cNvGraphicFramePr>
          <p:nvPr>
            <p:extLst>
              <p:ext uri="{D42A27DB-BD31-4B8C-83A1-F6EECF244321}">
                <p14:modId xmlns:p14="http://schemas.microsoft.com/office/powerpoint/2010/main" val="1278778916"/>
              </p:ext>
            </p:extLst>
          </p:nvPr>
        </p:nvGraphicFramePr>
        <p:xfrm>
          <a:off x="152400" y="675892"/>
          <a:ext cx="4458451" cy="1897630"/>
        </p:xfrm>
        <a:graphic>
          <a:graphicData uri="http://schemas.openxmlformats.org/drawingml/2006/table">
            <a:tbl>
              <a:tblPr/>
              <a:tblGrid>
                <a:gridCol w="4458451"/>
              </a:tblGrid>
              <a:tr h="153320">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600" b="1" i="0" u="none" strike="noStrike" kern="1200" cap="none" normalizeH="0" baseline="0" noProof="0" dirty="0" smtClean="0">
                          <a:ln>
                            <a:noFill/>
                          </a:ln>
                          <a:solidFill>
                            <a:schemeClr val="tx1"/>
                          </a:solidFill>
                          <a:effectLst/>
                          <a:latin typeface="+mn-lt"/>
                          <a:ea typeface="+mn-ea"/>
                          <a:cs typeface="+mn-cs"/>
                        </a:rPr>
                        <a:t>A.  </a:t>
                      </a:r>
                      <a:r>
                        <a:rPr kumimoji="0" lang="en-GB" sz="600" b="1" i="0" u="none" strike="noStrike" kern="1200" cap="none" normalizeH="0" baseline="0" noProof="0" dirty="0" smtClean="0">
                          <a:ln>
                            <a:noFill/>
                          </a:ln>
                          <a:solidFill>
                            <a:schemeClr val="tx1"/>
                          </a:solidFill>
                          <a:effectLst/>
                          <a:latin typeface="+mn-lt"/>
                          <a:ea typeface="+mn-ea"/>
                          <a:cs typeface="+mn-cs"/>
                        </a:rPr>
                        <a:t>EXECUTIVE SUMMARY – a summary of the progress for this period  (not of the initiative)</a:t>
                      </a:r>
                      <a:endParaRPr kumimoji="0" lang="en-US" sz="600" b="1" i="0" u="none" strike="noStrike" kern="1200" cap="none" normalizeH="0" baseline="0" noProof="0" dirty="0" smtClean="0">
                        <a:ln>
                          <a:noFill/>
                        </a:ln>
                        <a:solidFill>
                          <a:schemeClr val="tx1"/>
                        </a:solidFill>
                        <a:effectLst/>
                        <a:latin typeface="+mn-lt"/>
                        <a:ea typeface="+mn-ea"/>
                        <a:cs typeface="+mn-cs"/>
                      </a:endParaRPr>
                    </a:p>
                  </a:txBody>
                  <a:tcPr marL="33231" marR="33231" marT="14400" marB="14400"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accent2"/>
                    </a:solidFill>
                  </a:tcPr>
                </a:tc>
              </a:tr>
              <a:tr h="174431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600" b="0" i="0" u="none" strike="noStrike" kern="1200" cap="none" normalizeH="0" baseline="0" dirty="0" smtClean="0">
                          <a:ln>
                            <a:noFill/>
                          </a:ln>
                          <a:solidFill>
                            <a:schemeClr val="tx1"/>
                          </a:solidFill>
                          <a:effectLst/>
                          <a:latin typeface="+mn-lt"/>
                          <a:ea typeface="+mn-ea"/>
                          <a:cs typeface="+mn-cs"/>
                        </a:rPr>
                        <a:t>Work is underway with </a:t>
                      </a:r>
                      <a:r>
                        <a:rPr kumimoji="0" lang="en-GB" sz="600" b="0" i="0" u="none" strike="noStrike" kern="1200" cap="none" normalizeH="0" baseline="0" dirty="0" smtClean="0">
                          <a:ln>
                            <a:noFill/>
                          </a:ln>
                          <a:solidFill>
                            <a:schemeClr val="tx1"/>
                          </a:solidFill>
                          <a:effectLst/>
                          <a:latin typeface="+mn-lt"/>
                          <a:ea typeface="+mn-ea"/>
                          <a:cs typeface="+mn-cs"/>
                        </a:rPr>
                        <a:t>Joe Grey </a:t>
                      </a:r>
                      <a:r>
                        <a:rPr kumimoji="0" lang="en-GB" sz="600" b="0" i="0" u="none" strike="noStrike" kern="1200" cap="none" normalizeH="0" baseline="0" dirty="0" smtClean="0">
                          <a:ln>
                            <a:noFill/>
                          </a:ln>
                          <a:solidFill>
                            <a:schemeClr val="tx1"/>
                          </a:solidFill>
                          <a:effectLst/>
                          <a:latin typeface="+mn-lt"/>
                          <a:ea typeface="+mn-ea"/>
                          <a:cs typeface="+mn-cs"/>
                        </a:rPr>
                        <a:t>and </a:t>
                      </a:r>
                      <a:r>
                        <a:rPr kumimoji="0" lang="en-GB" sz="600" b="0" i="0" u="none" strike="noStrike" kern="1200" cap="none" normalizeH="0" baseline="0" dirty="0" smtClean="0">
                          <a:ln>
                            <a:noFill/>
                          </a:ln>
                          <a:solidFill>
                            <a:schemeClr val="tx1"/>
                          </a:solidFill>
                          <a:effectLst/>
                          <a:latin typeface="+mn-lt"/>
                          <a:ea typeface="+mn-ea"/>
                          <a:cs typeface="+mn-cs"/>
                        </a:rPr>
                        <a:t>Black Knight </a:t>
                      </a:r>
                      <a:r>
                        <a:rPr kumimoji="0" lang="en-GB" sz="600" b="0" i="0" u="none" strike="noStrike" kern="1200" cap="none" normalizeH="0" baseline="0" dirty="0" smtClean="0">
                          <a:ln>
                            <a:noFill/>
                          </a:ln>
                          <a:solidFill>
                            <a:schemeClr val="tx1"/>
                          </a:solidFill>
                          <a:effectLst/>
                          <a:latin typeface="+mn-lt"/>
                          <a:ea typeface="+mn-ea"/>
                          <a:cs typeface="+mn-cs"/>
                        </a:rPr>
                        <a:t>to develop a governance model for review and approval of Unified Communications deliverables, including business requirements/configuration for Lync and Outlook, and Day 1 Plug in list. RB and JK will begin engaging proposed members of review/approval groups to determine whether they can act in this capacity. JB will publish proposed governance model for Lync and Outlook to FSG and Leadership as part of overall M&amp;C Governance </a:t>
                      </a:r>
                      <a:r>
                        <a:rPr kumimoji="0" lang="en-GB" sz="600" b="0" i="0" u="none" strike="noStrike" kern="1200" cap="none" normalizeH="0" baseline="0" dirty="0" smtClean="0">
                          <a:ln>
                            <a:noFill/>
                          </a:ln>
                          <a:solidFill>
                            <a:schemeClr val="tx1"/>
                          </a:solidFill>
                          <a:effectLst/>
                          <a:latin typeface="+mn-lt"/>
                          <a:ea typeface="+mn-ea"/>
                          <a:cs typeface="+mn-cs"/>
                        </a:rPr>
                        <a:t>structure</a:t>
                      </a:r>
                      <a:endParaRPr kumimoji="0" lang="en-GB" sz="600" b="0" i="0" u="none" strike="noStrike" kern="1200" cap="none" normalizeH="0" baseline="0" dirty="0" smtClean="0">
                        <a:ln>
                          <a:noFill/>
                        </a:ln>
                        <a:solidFill>
                          <a:schemeClr val="tx1"/>
                        </a:solidFill>
                        <a:effectLst/>
                        <a:latin typeface="+mn-lt"/>
                        <a:ea typeface="+mn-ea"/>
                        <a:cs typeface="+mn-cs"/>
                      </a:endParaRPr>
                    </a:p>
                  </a:txBody>
                  <a:tcPr marL="33231" marR="33231" marT="14400" marB="14400"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3342" name="Group 270"/>
          <p:cNvGraphicFramePr>
            <a:graphicFrameLocks noGrp="1"/>
          </p:cNvGraphicFramePr>
          <p:nvPr>
            <p:extLst>
              <p:ext uri="{D42A27DB-BD31-4B8C-83A1-F6EECF244321}">
                <p14:modId xmlns:p14="http://schemas.microsoft.com/office/powerpoint/2010/main" val="3291853853"/>
              </p:ext>
            </p:extLst>
          </p:nvPr>
        </p:nvGraphicFramePr>
        <p:xfrm>
          <a:off x="4718050" y="678047"/>
          <a:ext cx="4355126" cy="932582"/>
        </p:xfrm>
        <a:graphic>
          <a:graphicData uri="http://schemas.openxmlformats.org/drawingml/2006/table">
            <a:tbl>
              <a:tblPr/>
              <a:tblGrid>
                <a:gridCol w="1530350"/>
                <a:gridCol w="685800"/>
                <a:gridCol w="685800"/>
                <a:gridCol w="701571"/>
                <a:gridCol w="751605"/>
              </a:tblGrid>
              <a:tr h="178298">
                <a:tc gridSpan="5">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smtClean="0">
                          <a:ln>
                            <a:noFill/>
                          </a:ln>
                          <a:solidFill>
                            <a:schemeClr val="tx1"/>
                          </a:solidFill>
                          <a:effectLst/>
                          <a:latin typeface="+mn-lt"/>
                          <a:ea typeface="+mn-ea"/>
                          <a:cs typeface="+mn-cs"/>
                        </a:rPr>
                        <a:t>E.  </a:t>
                      </a:r>
                      <a:r>
                        <a:rPr kumimoji="0" lang="en-US" sz="700" b="1" i="0" u="none" strike="noStrike" kern="1200" cap="none" normalizeH="0" baseline="0" noProof="0" dirty="0" smtClean="0">
                          <a:ln>
                            <a:noFill/>
                          </a:ln>
                          <a:solidFill>
                            <a:schemeClr val="tx1"/>
                          </a:solidFill>
                          <a:effectLst/>
                          <a:latin typeface="+mn-lt"/>
                          <a:ea typeface="+mn-ea"/>
                          <a:cs typeface="+mn-cs"/>
                        </a:rPr>
                        <a:t>MILESTONES</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accent2"/>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tx1">
                        <a:lumMod val="20000"/>
                        <a:lumOff val="8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tx1">
                        <a:lumMod val="20000"/>
                        <a:lumOff val="8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tx1">
                        <a:lumMod val="20000"/>
                        <a:lumOff val="8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1577" marR="31577" marT="13683" marB="13683"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tx1">
                        <a:lumMod val="20000"/>
                        <a:lumOff val="80000"/>
                      </a:schemeClr>
                    </a:solidFill>
                  </a:tcPr>
                </a:tc>
              </a:tr>
              <a:tr h="178284">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mn-lt"/>
                          <a:ea typeface="+mn-ea"/>
                          <a:cs typeface="+mn-cs"/>
                        </a:rPr>
                        <a:t>Individual Milestone Name</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mn-lt"/>
                          <a:ea typeface="+mn-ea"/>
                          <a:cs typeface="+mn-cs"/>
                        </a:rPr>
                        <a:t>Planned Date</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mn-lt"/>
                          <a:ea typeface="+mn-ea"/>
                          <a:cs typeface="+mn-cs"/>
                        </a:rPr>
                        <a:t>Projected Date</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mn-lt"/>
                          <a:ea typeface="+mn-ea"/>
                          <a:cs typeface="+mn-cs"/>
                        </a:rPr>
                        <a:t>Last Period</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mn-lt"/>
                          <a:ea typeface="+mn-ea"/>
                          <a:cs typeface="+mn-cs"/>
                        </a:rPr>
                        <a:t>This Period</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bg1">
                        <a:lumMod val="95000"/>
                      </a:schemeClr>
                    </a:solidFill>
                  </a:tcPr>
                </a:tc>
              </a:tr>
              <a:tr h="144000">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noProof="0" dirty="0" smtClean="0">
                          <a:ln>
                            <a:noFill/>
                          </a:ln>
                          <a:solidFill>
                            <a:schemeClr val="tx1"/>
                          </a:solidFill>
                          <a:effectLst/>
                          <a:latin typeface="+mn-lt"/>
                          <a:ea typeface="+mn-ea"/>
                          <a:cs typeface="+mn-cs"/>
                        </a:rPr>
                        <a:t>Migration Master DB Live</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mn-lt"/>
                          <a:ea typeface="+mn-ea"/>
                          <a:cs typeface="+mn-cs"/>
                        </a:rPr>
                        <a:t>11-MAY-12</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FFFF"/>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mn-lt"/>
                          <a:ea typeface="+mn-ea"/>
                          <a:cs typeface="+mn-cs"/>
                        </a:rPr>
                        <a:t>01-JUN-12</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FFFF"/>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mn-lt"/>
                          <a:ea typeface="+mn-ea"/>
                          <a:cs typeface="+mn-cs"/>
                        </a:rPr>
                        <a:t>GREEN</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mn-lt"/>
                          <a:ea typeface="+mn-ea"/>
                          <a:cs typeface="+mn-cs"/>
                        </a:rPr>
                        <a:t>AMBER</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accent2"/>
                    </a:solidFill>
                  </a:tcPr>
                </a:tc>
              </a:tr>
              <a:tr h="144000">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noProof="0" dirty="0" smtClean="0">
                          <a:ln>
                            <a:noFill/>
                          </a:ln>
                          <a:solidFill>
                            <a:schemeClr val="tx1"/>
                          </a:solidFill>
                          <a:effectLst/>
                          <a:latin typeface="+mn-lt"/>
                          <a:ea typeface="+mn-ea"/>
                          <a:cs typeface="+mn-cs"/>
                        </a:rPr>
                        <a:t>Migration Self-service Portal Live</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mn-lt"/>
                          <a:ea typeface="+mn-ea"/>
                          <a:cs typeface="+mn-cs"/>
                        </a:rPr>
                        <a:t>11-MAY-12</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FFFF"/>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mn-lt"/>
                          <a:ea typeface="+mn-ea"/>
                          <a:cs typeface="+mn-cs"/>
                        </a:rPr>
                        <a:t>01-JUN-12</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FFFF"/>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mn-lt"/>
                          <a:ea typeface="+mn-ea"/>
                          <a:cs typeface="+mn-cs"/>
                        </a:rPr>
                        <a:t>N/A</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mn-lt"/>
                          <a:ea typeface="+mn-ea"/>
                          <a:cs typeface="+mn-cs"/>
                        </a:rPr>
                        <a:t>AMBER</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CC00"/>
                    </a:solidFill>
                  </a:tcPr>
                </a:tc>
              </a:tr>
              <a:tr h="144000">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noProof="0" dirty="0" err="1" smtClean="0">
                          <a:ln>
                            <a:noFill/>
                          </a:ln>
                          <a:solidFill>
                            <a:schemeClr val="tx1"/>
                          </a:solidFill>
                          <a:effectLst/>
                          <a:latin typeface="+mn-lt"/>
                          <a:ea typeface="+mn-ea"/>
                          <a:cs typeface="+mn-cs"/>
                        </a:rPr>
                        <a:t>Lync</a:t>
                      </a:r>
                      <a:r>
                        <a:rPr kumimoji="0" lang="en-US" sz="700" b="0" i="0" u="none" strike="noStrike" kern="1200" cap="none" normalizeH="0" baseline="0" noProof="0" dirty="0" smtClean="0">
                          <a:ln>
                            <a:noFill/>
                          </a:ln>
                          <a:solidFill>
                            <a:schemeClr val="tx1"/>
                          </a:solidFill>
                          <a:effectLst/>
                          <a:latin typeface="+mn-lt"/>
                          <a:ea typeface="+mn-ea"/>
                          <a:cs typeface="+mn-cs"/>
                        </a:rPr>
                        <a:t> Device Provisioning in place</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mn-lt"/>
                          <a:ea typeface="+mn-ea"/>
                          <a:cs typeface="+mn-cs"/>
                        </a:rPr>
                        <a:t>29-JUN-12</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FFFF"/>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mn-lt"/>
                          <a:ea typeface="+mn-ea"/>
                          <a:cs typeface="+mn-cs"/>
                        </a:rPr>
                        <a:t>29-JUN-12</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FFFF"/>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mn-lt"/>
                          <a:ea typeface="+mn-ea"/>
                          <a:cs typeface="+mn-cs"/>
                        </a:rPr>
                        <a:t>AMBER</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CC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mn-lt"/>
                          <a:ea typeface="+mn-ea"/>
                          <a:cs typeface="+mn-cs"/>
                        </a:rPr>
                        <a:t>AMBER</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CC00"/>
                    </a:solidFill>
                  </a:tcPr>
                </a:tc>
              </a:tr>
              <a:tr h="144000">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700" b="0" i="0" u="none" strike="noStrike" kern="1200" cap="none" normalizeH="0" baseline="0" noProof="0" dirty="0" smtClean="0">
                          <a:ln>
                            <a:noFill/>
                          </a:ln>
                          <a:solidFill>
                            <a:schemeClr val="tx1"/>
                          </a:solidFill>
                          <a:effectLst/>
                          <a:latin typeface="+mn-lt"/>
                          <a:ea typeface="+mn-ea"/>
                          <a:cs typeface="+mn-cs"/>
                        </a:rPr>
                        <a:t>Outlook &amp; </a:t>
                      </a:r>
                      <a:r>
                        <a:rPr kumimoji="0" lang="en-US" sz="700" b="0" i="0" u="none" strike="noStrike" kern="1200" cap="none" normalizeH="0" baseline="0" noProof="0" dirty="0" err="1" smtClean="0">
                          <a:ln>
                            <a:noFill/>
                          </a:ln>
                          <a:solidFill>
                            <a:schemeClr val="tx1"/>
                          </a:solidFill>
                          <a:effectLst/>
                          <a:latin typeface="+mn-lt"/>
                          <a:ea typeface="+mn-ea"/>
                          <a:cs typeface="+mn-cs"/>
                        </a:rPr>
                        <a:t>Lync</a:t>
                      </a:r>
                      <a:r>
                        <a:rPr kumimoji="0" lang="en-US" sz="700" b="0" i="0" u="none" strike="noStrike" kern="1200" cap="none" normalizeH="0" baseline="0" noProof="0" dirty="0" smtClean="0">
                          <a:ln>
                            <a:noFill/>
                          </a:ln>
                          <a:solidFill>
                            <a:schemeClr val="tx1"/>
                          </a:solidFill>
                          <a:effectLst/>
                          <a:latin typeface="+mn-lt"/>
                          <a:ea typeface="+mn-ea"/>
                          <a:cs typeface="+mn-cs"/>
                        </a:rPr>
                        <a:t> </a:t>
                      </a:r>
                      <a:r>
                        <a:rPr kumimoji="0" lang="en-US" sz="700" b="0" i="0" u="none" strike="noStrike" kern="1200" cap="none" normalizeH="0" baseline="0" noProof="0" dirty="0" err="1" smtClean="0">
                          <a:ln>
                            <a:noFill/>
                          </a:ln>
                          <a:solidFill>
                            <a:schemeClr val="tx1"/>
                          </a:solidFill>
                          <a:effectLst/>
                          <a:latin typeface="+mn-lt"/>
                          <a:ea typeface="+mn-ea"/>
                          <a:cs typeface="+mn-cs"/>
                        </a:rPr>
                        <a:t>Config</a:t>
                      </a:r>
                      <a:r>
                        <a:rPr kumimoji="0" lang="en-US" sz="700" b="0" i="0" u="none" strike="noStrike" kern="1200" cap="none" normalizeH="0" baseline="0" noProof="0" dirty="0" smtClean="0">
                          <a:ln>
                            <a:noFill/>
                          </a:ln>
                          <a:solidFill>
                            <a:schemeClr val="tx1"/>
                          </a:solidFill>
                          <a:effectLst/>
                          <a:latin typeface="+mn-lt"/>
                          <a:ea typeface="+mn-ea"/>
                          <a:cs typeface="+mn-cs"/>
                        </a:rPr>
                        <a:t> </a:t>
                      </a:r>
                      <a:r>
                        <a:rPr kumimoji="0" lang="en-US" sz="700" b="0" i="0" u="none" strike="noStrike" kern="1200" cap="none" normalizeH="0" baseline="0" noProof="0" dirty="0" err="1" smtClean="0">
                          <a:ln>
                            <a:noFill/>
                          </a:ln>
                          <a:solidFill>
                            <a:schemeClr val="tx1"/>
                          </a:solidFill>
                          <a:effectLst/>
                          <a:latin typeface="+mn-lt"/>
                          <a:ea typeface="+mn-ea"/>
                          <a:cs typeface="+mn-cs"/>
                        </a:rPr>
                        <a:t>reqs</a:t>
                      </a:r>
                      <a:r>
                        <a:rPr kumimoji="0" lang="en-US" sz="700" b="0" i="0" u="none" strike="noStrike" kern="1200" cap="none" normalizeH="0" baseline="0" noProof="0" dirty="0" smtClean="0">
                          <a:ln>
                            <a:noFill/>
                          </a:ln>
                          <a:solidFill>
                            <a:schemeClr val="tx1"/>
                          </a:solidFill>
                          <a:effectLst/>
                          <a:latin typeface="+mn-lt"/>
                          <a:ea typeface="+mn-ea"/>
                          <a:cs typeface="+mn-cs"/>
                        </a:rPr>
                        <a:t>.</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bg1"/>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mn-lt"/>
                          <a:ea typeface="+mn-ea"/>
                          <a:cs typeface="+mn-cs"/>
                        </a:rPr>
                        <a:t>20-APR-12</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FFFF"/>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mn-lt"/>
                          <a:ea typeface="+mn-ea"/>
                          <a:cs typeface="+mn-cs"/>
                        </a:rPr>
                        <a:t>20-APR-12</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FFFF"/>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mn-lt"/>
                          <a:ea typeface="+mn-ea"/>
                          <a:cs typeface="+mn-cs"/>
                        </a:rPr>
                        <a:t>GREEN</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92D05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noProof="0" dirty="0" smtClean="0">
                          <a:ln>
                            <a:noFill/>
                          </a:ln>
                          <a:solidFill>
                            <a:schemeClr val="tx1"/>
                          </a:solidFill>
                          <a:effectLst/>
                          <a:latin typeface="+mn-lt"/>
                          <a:ea typeface="+mn-ea"/>
                          <a:cs typeface="+mn-cs"/>
                        </a:rPr>
                        <a:t>RED</a:t>
                      </a:r>
                    </a:p>
                  </a:txBody>
                  <a:tcPr marL="34208" marR="34208"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0000"/>
                    </a:solidFill>
                  </a:tcPr>
                </a:tc>
              </a:tr>
            </a:tbl>
          </a:graphicData>
        </a:graphic>
      </p:graphicFrame>
      <p:graphicFrame>
        <p:nvGraphicFramePr>
          <p:cNvPr id="15" name="Group 270"/>
          <p:cNvGraphicFramePr>
            <a:graphicFrameLocks noGrp="1"/>
          </p:cNvGraphicFramePr>
          <p:nvPr/>
        </p:nvGraphicFramePr>
        <p:xfrm>
          <a:off x="7570788" y="69850"/>
          <a:ext cx="1503209" cy="535063"/>
        </p:xfrm>
        <a:graphic>
          <a:graphicData uri="http://schemas.openxmlformats.org/drawingml/2006/table">
            <a:tbl>
              <a:tblPr/>
              <a:tblGrid>
                <a:gridCol w="751604"/>
                <a:gridCol w="751605"/>
              </a:tblGrid>
              <a:tr h="152406">
                <a:tc gridSpan="2">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OVERALL INITIATIVE STATUS</a:t>
                      </a:r>
                    </a:p>
                  </a:txBody>
                  <a:tcPr marL="31577" marR="31577"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8884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Last Period</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This Period</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bg1">
                        <a:lumMod val="95000"/>
                      </a:schemeClr>
                    </a:solidFill>
                  </a:tcPr>
                </a:tc>
              </a:tr>
              <a:tr h="193813">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kern="1200" cap="none" normalizeH="0" baseline="0" dirty="0" smtClean="0">
                          <a:ln>
                            <a:noFill/>
                          </a:ln>
                          <a:solidFill>
                            <a:srgbClr val="646464"/>
                          </a:solidFill>
                          <a:effectLst/>
                          <a:latin typeface="EYInterstate Light" pitchFamily="2" charset="0"/>
                          <a:ea typeface="+mn-ea"/>
                          <a:cs typeface="+mn-cs"/>
                        </a:rPr>
                        <a:t>AMBER</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rgbClr val="FF0000"/>
                    </a:solidFill>
                  </a:tcPr>
                </a:tc>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174756463"/>
              </p:ext>
            </p:extLst>
          </p:nvPr>
        </p:nvGraphicFramePr>
        <p:xfrm>
          <a:off x="4718050" y="2819400"/>
          <a:ext cx="4355123" cy="1028150"/>
        </p:xfrm>
        <a:graphic>
          <a:graphicData uri="http://schemas.openxmlformats.org/drawingml/2006/table">
            <a:tbl>
              <a:tblPr/>
              <a:tblGrid>
                <a:gridCol w="2104292"/>
                <a:gridCol w="2250831"/>
              </a:tblGrid>
              <a:tr h="155512">
                <a:tc gridSpan="2">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600" b="1" i="0" u="none" strike="noStrike" kern="1200" cap="none" normalizeH="0" baseline="0" noProof="0" dirty="0" smtClean="0">
                          <a:ln>
                            <a:noFill/>
                          </a:ln>
                          <a:solidFill>
                            <a:schemeClr val="tx1"/>
                          </a:solidFill>
                          <a:effectLst/>
                          <a:latin typeface="+mj-lt"/>
                          <a:ea typeface="+mn-ea"/>
                          <a:cs typeface="+mn-cs"/>
                        </a:rPr>
                        <a:t>F.  KEY RISKS – typically future challenges or external circumstances that may affect the initiative</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r>
              <a:tr h="155512">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600" b="1" i="0" u="none" strike="noStrike" kern="1200" cap="none" normalizeH="0" baseline="0" noProof="0" dirty="0" smtClean="0">
                          <a:ln>
                            <a:noFill/>
                          </a:ln>
                          <a:solidFill>
                            <a:schemeClr val="bg1"/>
                          </a:solidFill>
                          <a:effectLst/>
                          <a:latin typeface="+mj-lt"/>
                          <a:ea typeface="+mn-ea"/>
                          <a:cs typeface="+mn-cs"/>
                        </a:rPr>
                        <a:t>Risks to be addressed</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hlink"/>
                    </a:solidFill>
                  </a:tcPr>
                </a:tc>
                <a:tc>
                  <a:txBody>
                    <a:bodyPr/>
                    <a:lstStyle/>
                    <a:p>
                      <a:pPr marL="85725" marR="0" lvl="0" indent="-85725"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600" b="1" i="0" u="none" strike="noStrike" kern="1200" cap="none" normalizeH="0" baseline="0" noProof="0" dirty="0" smtClean="0">
                          <a:ln>
                            <a:noFill/>
                          </a:ln>
                          <a:solidFill>
                            <a:schemeClr val="bg1"/>
                          </a:solidFill>
                          <a:effectLst/>
                          <a:latin typeface="+mj-lt"/>
                          <a:ea typeface="+mn-ea"/>
                          <a:cs typeface="+mn-cs"/>
                        </a:rPr>
                        <a:t>Mitigating Action</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hlink"/>
                    </a:solidFill>
                  </a:tcPr>
                </a:tc>
              </a:tr>
              <a:tr h="32400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kern="1200" cap="none" normalizeH="0" baseline="0" noProof="0" dirty="0" smtClean="0">
                          <a:ln>
                            <a:noFill/>
                          </a:ln>
                          <a:solidFill>
                            <a:schemeClr val="tx1"/>
                          </a:solidFill>
                          <a:effectLst/>
                          <a:latin typeface="+mj-lt"/>
                          <a:ea typeface="+mn-ea"/>
                          <a:cs typeface="+mn-cs"/>
                        </a:rPr>
                        <a:t>Network bandwidth impact on migration velocity and likely </a:t>
                      </a:r>
                      <a:r>
                        <a:rPr kumimoji="0" lang="en-US" sz="600" b="0" i="0" u="none" strike="noStrike" kern="1200" cap="none" normalizeH="0" baseline="0" noProof="0" dirty="0" err="1" smtClean="0">
                          <a:ln>
                            <a:noFill/>
                          </a:ln>
                          <a:solidFill>
                            <a:schemeClr val="tx1"/>
                          </a:solidFill>
                          <a:effectLst/>
                          <a:latin typeface="+mj-lt"/>
                          <a:ea typeface="+mn-ea"/>
                          <a:cs typeface="+mn-cs"/>
                        </a:rPr>
                        <a:t>Lync</a:t>
                      </a:r>
                      <a:r>
                        <a:rPr kumimoji="0" lang="en-US" sz="600" b="0" i="0" u="none" strike="noStrike" kern="1200" cap="none" normalizeH="0" baseline="0" noProof="0" dirty="0" smtClean="0">
                          <a:ln>
                            <a:noFill/>
                          </a:ln>
                          <a:solidFill>
                            <a:schemeClr val="tx1"/>
                          </a:solidFill>
                          <a:effectLst/>
                          <a:latin typeface="+mj-lt"/>
                          <a:ea typeface="+mn-ea"/>
                          <a:cs typeface="+mn-cs"/>
                        </a:rPr>
                        <a:t> performance will result in significant impact to current migration planning assumptions and end user experience</a:t>
                      </a:r>
                    </a:p>
                  </a:txBody>
                  <a:tcPr marL="31577" marR="31577"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kern="1200" cap="none" normalizeH="0" baseline="0" dirty="0" smtClean="0">
                          <a:ln>
                            <a:noFill/>
                          </a:ln>
                          <a:solidFill>
                            <a:schemeClr val="tx1"/>
                          </a:solidFill>
                          <a:effectLst/>
                          <a:latin typeface="+mj-lt"/>
                          <a:ea typeface="+mn-ea"/>
                          <a:cs typeface="+mn-cs"/>
                        </a:rPr>
                        <a:t>Meeting scheduled for 21/03 between UC, TF, Business Deployment, Transition and Operations Intake to agree migration approach</a:t>
                      </a:r>
                    </a:p>
                  </a:txBody>
                  <a:tcPr marL="31577" marR="31577"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noFill/>
                  </a:tcPr>
                </a:tc>
              </a:tr>
              <a:tr h="32400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kern="1200" cap="none" normalizeH="0" baseline="0" noProof="0" dirty="0" smtClean="0">
                          <a:ln>
                            <a:noFill/>
                          </a:ln>
                          <a:solidFill>
                            <a:schemeClr val="tx1"/>
                          </a:solidFill>
                          <a:effectLst/>
                          <a:latin typeface="+mj-lt"/>
                          <a:ea typeface="+mn-ea"/>
                          <a:cs typeface="+mn-cs"/>
                        </a:rPr>
                        <a:t>Risk that IAM will not deliver AD to UAT environments in time for UAT to start</a:t>
                      </a:r>
                    </a:p>
                  </a:txBody>
                  <a:tcPr marL="31577" marR="31577"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kern="1200" cap="none" normalizeH="0" baseline="0" dirty="0" smtClean="0">
                          <a:ln>
                            <a:noFill/>
                          </a:ln>
                          <a:solidFill>
                            <a:schemeClr val="tx1"/>
                          </a:solidFill>
                          <a:effectLst/>
                          <a:latin typeface="+mj-lt"/>
                          <a:ea typeface="+mn-ea"/>
                          <a:cs typeface="+mn-cs"/>
                        </a:rPr>
                        <a:t>Working with TF and QA on environment provisioning strategy and aligning with IAM to ensure AD delivery to the necessary timelines</a:t>
                      </a:r>
                    </a:p>
                  </a:txBody>
                  <a:tcPr marL="31577" marR="31577"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noFill/>
                  </a:tcPr>
                </a:tc>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1238606399"/>
              </p:ext>
            </p:extLst>
          </p:nvPr>
        </p:nvGraphicFramePr>
        <p:xfrm>
          <a:off x="4724400" y="5888868"/>
          <a:ext cx="4355123" cy="420492"/>
        </p:xfrm>
        <a:graphic>
          <a:graphicData uri="http://schemas.openxmlformats.org/drawingml/2006/table">
            <a:tbl>
              <a:tblPr/>
              <a:tblGrid>
                <a:gridCol w="4355123"/>
              </a:tblGrid>
              <a:tr h="100223">
                <a:tc>
                  <a:txBody>
                    <a:bodyPr/>
                    <a:lstStyle/>
                    <a:p>
                      <a:pPr marL="85725" marR="0" lvl="0" indent="-85725" algn="l" defTabSz="947738" rtl="0" eaLnBrk="0" fontAlgn="base" latinLnBrk="0" hangingPunct="0">
                        <a:lnSpc>
                          <a:spcPct val="100000"/>
                        </a:lnSpc>
                        <a:spcBef>
                          <a:spcPct val="0"/>
                        </a:spcBef>
                        <a:spcAft>
                          <a:spcPct val="10000"/>
                        </a:spcAft>
                        <a:buClrTx/>
                        <a:buSzTx/>
                        <a:buFontTx/>
                        <a:buNone/>
                        <a:tabLst/>
                        <a:defRPr/>
                      </a:pPr>
                      <a:r>
                        <a:rPr kumimoji="0" lang="en-US" sz="600" b="0" i="0" u="none" strike="noStrike" kern="1200" cap="none" normalizeH="0" baseline="0" noProof="0" dirty="0" smtClean="0">
                          <a:ln>
                            <a:noFill/>
                          </a:ln>
                          <a:solidFill>
                            <a:srgbClr val="646464"/>
                          </a:solidFill>
                          <a:effectLst/>
                          <a:latin typeface="+mn-lt"/>
                          <a:ea typeface="+mn-ea"/>
                          <a:cs typeface="+mn-cs"/>
                        </a:rPr>
                        <a:t>H.  GENERAL COMMENTS – must</a:t>
                      </a:r>
                      <a:r>
                        <a:rPr kumimoji="0" lang="en-US" sz="600" b="0" i="0" u="none" strike="noStrike" kern="1200" cap="none" normalizeH="0" baseline="0" dirty="0" smtClean="0">
                          <a:ln>
                            <a:noFill/>
                          </a:ln>
                          <a:solidFill>
                            <a:srgbClr val="646464"/>
                          </a:solidFill>
                          <a:effectLst/>
                          <a:latin typeface="+mn-lt"/>
                          <a:ea typeface="+mn-ea"/>
                          <a:cs typeface="+mn-cs"/>
                        </a:rPr>
                        <a:t> </a:t>
                      </a:r>
                      <a:r>
                        <a:rPr kumimoji="0" lang="en-US" sz="600" b="0" i="0" u="none" strike="noStrike" kern="1200" cap="none" normalizeH="0" baseline="0" noProof="0" dirty="0" smtClean="0">
                          <a:ln>
                            <a:noFill/>
                          </a:ln>
                          <a:solidFill>
                            <a:srgbClr val="646464"/>
                          </a:solidFill>
                          <a:effectLst/>
                          <a:latin typeface="+mn-lt"/>
                          <a:ea typeface="+mn-ea"/>
                          <a:cs typeface="+mn-cs"/>
                        </a:rPr>
                        <a:t>include reasoning for an overall Red or Amber Status</a:t>
                      </a:r>
                    </a:p>
                  </a:txBody>
                  <a:tcPr marL="31577" marR="31577" marT="13683" marB="13683" anchor="ctr"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solidFill>
                      <a:schemeClr val="accent2"/>
                    </a:solidFill>
                  </a:tcPr>
                </a:tc>
              </a:tr>
              <a:tr h="280782">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00" b="0" i="0" u="none" strike="noStrike" kern="1200" cap="none" normalizeH="0" baseline="0" dirty="0" smtClean="0">
                          <a:ln>
                            <a:noFill/>
                          </a:ln>
                          <a:solidFill>
                            <a:srgbClr val="646464"/>
                          </a:solidFill>
                          <a:effectLst/>
                          <a:latin typeface="+mn-lt"/>
                          <a:ea typeface="+mn-ea"/>
                          <a:cs typeface="+mn-cs"/>
                        </a:rPr>
                        <a:t>Deployment strategy still unknown, and new M&amp;C Transition Approach to be understood before further TM planning is possible. Engagement of business owners impacted by proposal to work through IT SDLs who have limited capacity to support the program</a:t>
                      </a:r>
                    </a:p>
                  </a:txBody>
                  <a:tcPr marL="31577" marR="31577" marT="13683" marB="13683" horzOverflow="overflow">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lnTlToBr>
                      <a:noFill/>
                    </a:lnTlToBr>
                    <a:lnBlToTr>
                      <a:noFill/>
                    </a:lnBlToTr>
                    <a:noFill/>
                  </a:tcPr>
                </a:tc>
              </a:tr>
            </a:tbl>
          </a:graphicData>
        </a:graphic>
      </p:graphicFrame>
      <p:graphicFrame>
        <p:nvGraphicFramePr>
          <p:cNvPr id="18" name="Group 270"/>
          <p:cNvGraphicFramePr>
            <a:graphicFrameLocks noGrp="1"/>
          </p:cNvGraphicFramePr>
          <p:nvPr/>
        </p:nvGraphicFramePr>
        <p:xfrm>
          <a:off x="1187450" y="6584950"/>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04C3E"/>
                    </a:solidFill>
                  </a:tcPr>
                </a:tc>
              </a:tr>
            </a:tbl>
          </a:graphicData>
        </a:graphic>
      </p:graphicFrame>
      <p:graphicFrame>
        <p:nvGraphicFramePr>
          <p:cNvPr id="19" name="Group 270"/>
          <p:cNvGraphicFramePr>
            <a:graphicFrameLocks noGrp="1"/>
          </p:cNvGraphicFramePr>
          <p:nvPr/>
        </p:nvGraphicFramePr>
        <p:xfrm>
          <a:off x="4019550" y="6584950"/>
          <a:ext cx="483613" cy="88326"/>
        </p:xfrm>
        <a:graphic>
          <a:graphicData uri="http://schemas.openxmlformats.org/drawingml/2006/table">
            <a:tbl>
              <a:tblPr/>
              <a:tblGrid>
                <a:gridCol w="483613"/>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20" name="Group 270"/>
          <p:cNvGraphicFramePr>
            <a:graphicFrameLocks noGrp="1"/>
          </p:cNvGraphicFramePr>
          <p:nvPr/>
        </p:nvGraphicFramePr>
        <p:xfrm>
          <a:off x="6516688" y="6573838"/>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graphicFrame>
        <p:nvGraphicFramePr>
          <p:cNvPr id="22" name="Group 270"/>
          <p:cNvGraphicFramePr>
            <a:graphicFrameLocks noGrp="1"/>
          </p:cNvGraphicFramePr>
          <p:nvPr/>
        </p:nvGraphicFramePr>
        <p:xfrm>
          <a:off x="69850" y="6581775"/>
          <a:ext cx="613229" cy="88326"/>
        </p:xfrm>
        <a:graphic>
          <a:graphicData uri="http://schemas.openxmlformats.org/drawingml/2006/table">
            <a:tbl>
              <a:tblPr/>
              <a:tblGrid>
                <a:gridCol w="613229"/>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COMPLETE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2" name="Group 27"/>
          <p:cNvGrpSpPr>
            <a:grpSpLocks/>
          </p:cNvGrpSpPr>
          <p:nvPr/>
        </p:nvGrpSpPr>
        <p:grpSpPr bwMode="auto">
          <a:xfrm>
            <a:off x="0" y="6389688"/>
            <a:ext cx="8964613" cy="541337"/>
            <a:chOff x="0" y="6505545"/>
            <a:chExt cx="9711531" cy="540206"/>
          </a:xfrm>
        </p:grpSpPr>
        <p:sp>
          <p:nvSpPr>
            <p:cNvPr id="31949" name="TextBox 20"/>
            <p:cNvSpPr txBox="1">
              <a:spLocks noChangeArrowheads="1"/>
            </p:cNvSpPr>
            <p:nvPr/>
          </p:nvSpPr>
          <p:spPr bwMode="gray">
            <a:xfrm>
              <a:off x="1639689" y="6576570"/>
              <a:ext cx="2611234" cy="400110"/>
            </a:xfrm>
            <a:prstGeom prst="rect">
              <a:avLst/>
            </a:prstGeom>
            <a:noFill/>
            <a:ln w="9525">
              <a:noFill/>
              <a:miter lim="800000"/>
              <a:headEnd/>
              <a:tailEnd/>
            </a:ln>
          </p:spPr>
          <p:txBody>
            <a:bodyPr>
              <a:spAutoFit/>
            </a:bodyPr>
            <a:lstStyle/>
            <a:p>
              <a:pPr algn="ctr" defTabSz="955675" eaLnBrk="0" hangingPunct="0"/>
              <a:endParaRPr lang="en-GB" sz="500" b="1">
                <a:solidFill>
                  <a:srgbClr val="646464"/>
                </a:solidFill>
                <a:latin typeface="EYInterstate Light" pitchFamily="2" charset="0"/>
                <a:cs typeface="+mn-cs"/>
              </a:endParaRPr>
            </a:p>
            <a:p>
              <a:pPr algn="ctr" defTabSz="955675" eaLnBrk="0" hangingPunct="0"/>
              <a:r>
                <a:rPr lang="en-GB" sz="500" b="1">
                  <a:solidFill>
                    <a:srgbClr val="646464"/>
                  </a:solidFill>
                  <a:latin typeface="EYInterstate Light" pitchFamily="2" charset="0"/>
                  <a:cs typeface="+mn-cs"/>
                </a:rPr>
                <a:t>Project is not on track and has significant challenges and/or issues that materially impact the overall successful achievement of the expected outcomes. 	</a:t>
              </a:r>
            </a:p>
          </p:txBody>
        </p:sp>
        <p:sp>
          <p:nvSpPr>
            <p:cNvPr id="23" name="TextBox 22"/>
            <p:cNvSpPr txBox="1"/>
            <p:nvPr/>
          </p:nvSpPr>
          <p:spPr bwMode="gray">
            <a:xfrm>
              <a:off x="674149" y="6657627"/>
              <a:ext cx="663830" cy="169507"/>
            </a:xfrm>
            <a:prstGeom prst="rect">
              <a:avLst/>
            </a:prstGeom>
          </p:spPr>
          <p:txBody>
            <a:bodyPr wrap="none">
              <a:spAutoFit/>
            </a:bodyPr>
            <a:lstStyle/>
            <a:p>
              <a:pPr algn="ctr" defTabSz="955675" eaLnBrk="0" hangingPunct="0">
                <a:spcAft>
                  <a:spcPts val="0"/>
                </a:spcAft>
                <a:defRPr/>
              </a:pPr>
              <a:r>
                <a:rPr lang="en-US" sz="500" b="1" dirty="0">
                  <a:solidFill>
                    <a:srgbClr val="646464"/>
                  </a:solidFill>
                  <a:latin typeface="EYInterstate Light" pitchFamily="2" charset="0"/>
                  <a:cs typeface="+mn-cs"/>
                </a:rPr>
                <a:t>F</a:t>
              </a:r>
              <a:r>
                <a:rPr lang="en-US" sz="500" b="1" dirty="0" err="1">
                  <a:solidFill>
                    <a:srgbClr val="646464"/>
                  </a:solidFill>
                  <a:latin typeface="EYInterstate Light" pitchFamily="2" charset="0"/>
                  <a:cs typeface="+mn-cs"/>
                </a:rPr>
                <a:t>ully</a:t>
              </a:r>
              <a:r>
                <a:rPr lang="en-US" sz="500" b="1" dirty="0">
                  <a:solidFill>
                    <a:srgbClr val="646464"/>
                  </a:solidFill>
                  <a:latin typeface="EYInterstate Light" pitchFamily="2" charset="0"/>
                  <a:cs typeface="+mn-cs"/>
                </a:rPr>
                <a:t> achieved</a:t>
              </a:r>
              <a:endParaRPr lang="en-GB" sz="500" b="1" kern="0" dirty="0">
                <a:solidFill>
                  <a:srgbClr val="646464"/>
                </a:solidFill>
                <a:latin typeface="EYInterstate"/>
                <a:cs typeface="+mn-cs"/>
              </a:endParaRPr>
            </a:p>
          </p:txBody>
        </p:sp>
        <p:sp>
          <p:nvSpPr>
            <p:cNvPr id="25" name="TextBox 24"/>
            <p:cNvSpPr txBox="1"/>
            <p:nvPr/>
          </p:nvSpPr>
          <p:spPr bwMode="gray">
            <a:xfrm>
              <a:off x="0" y="6505545"/>
              <a:ext cx="4882422" cy="169507"/>
            </a:xfrm>
            <a:prstGeom prst="rect">
              <a:avLst/>
            </a:prstGeom>
          </p:spPr>
          <p:txBody>
            <a:bodyPr wrap="none">
              <a:spAutoFit/>
            </a:bodyPr>
            <a:lstStyle/>
            <a:p>
              <a:pPr algn="ctr" defTabSz="955675" eaLnBrk="0" hangingPunct="0">
                <a:spcAft>
                  <a:spcPts val="0"/>
                </a:spcAft>
                <a:defRPr/>
              </a:pPr>
              <a:r>
                <a:rPr lang="en-US" sz="500" dirty="0">
                  <a:solidFill>
                    <a:srgbClr val="646464"/>
                  </a:solidFill>
                  <a:latin typeface="EYInterstate Light" pitchFamily="2" charset="0"/>
                  <a:cs typeface="+mn-cs"/>
                </a:rPr>
                <a:t>The overall initiative status is governed by the RAG Status Guidance, summarized below. This guidance also applies to the individual Milestones Stats. </a:t>
              </a:r>
              <a:endParaRPr lang="en-GB" sz="500" kern="0" dirty="0">
                <a:solidFill>
                  <a:srgbClr val="646464"/>
                </a:solidFill>
                <a:latin typeface="EYInterstate"/>
                <a:cs typeface="+mn-cs"/>
              </a:endParaRPr>
            </a:p>
          </p:txBody>
        </p:sp>
        <p:sp>
          <p:nvSpPr>
            <p:cNvPr id="31952" name="TextBox 25"/>
            <p:cNvSpPr txBox="1">
              <a:spLocks noChangeArrowheads="1"/>
            </p:cNvSpPr>
            <p:nvPr/>
          </p:nvSpPr>
          <p:spPr bwMode="gray">
            <a:xfrm>
              <a:off x="7423210" y="6564722"/>
              <a:ext cx="2288321" cy="400110"/>
            </a:xfrm>
            <a:prstGeom prst="rect">
              <a:avLst/>
            </a:prstGeom>
            <a:noFill/>
            <a:ln w="9525">
              <a:noFill/>
              <a:miter lim="800000"/>
              <a:headEnd/>
              <a:tailEnd/>
            </a:ln>
          </p:spPr>
          <p:txBody>
            <a:bodyPr>
              <a:spAutoFit/>
            </a:bodyPr>
            <a:lstStyle/>
            <a:p>
              <a:pPr algn="ctr" defTabSz="955675" eaLnBrk="0" hangingPunct="0"/>
              <a:endParaRPr lang="en-GB" sz="500" b="1">
                <a:solidFill>
                  <a:srgbClr val="646464"/>
                </a:solidFill>
                <a:latin typeface="EYInterstate Light" pitchFamily="2" charset="0"/>
                <a:cs typeface="+mn-cs"/>
              </a:endParaRPr>
            </a:p>
            <a:p>
              <a:pPr algn="ctr" defTabSz="955675" eaLnBrk="0" hangingPunct="0"/>
              <a:r>
                <a:rPr lang="en-GB" sz="500" b="1">
                  <a:solidFill>
                    <a:srgbClr val="646464"/>
                  </a:solidFill>
                  <a:latin typeface="EYInterstate Light" pitchFamily="2" charset="0"/>
                  <a:cs typeface="+mn-cs"/>
                </a:rPr>
                <a:t>Project is on track and has no significant challenges and/or issues that may materially impact the overall successful achievement of the expected outcomes, now or in the future. 	</a:t>
              </a:r>
            </a:p>
          </p:txBody>
        </p:sp>
        <p:sp>
          <p:nvSpPr>
            <p:cNvPr id="31953" name="TextBox 26"/>
            <p:cNvSpPr txBox="1">
              <a:spLocks noChangeArrowheads="1"/>
            </p:cNvSpPr>
            <p:nvPr/>
          </p:nvSpPr>
          <p:spPr bwMode="gray">
            <a:xfrm>
              <a:off x="4849123" y="6568697"/>
              <a:ext cx="1976087" cy="477054"/>
            </a:xfrm>
            <a:prstGeom prst="rect">
              <a:avLst/>
            </a:prstGeom>
            <a:noFill/>
            <a:ln w="9525">
              <a:noFill/>
              <a:miter lim="800000"/>
              <a:headEnd/>
              <a:tailEnd/>
            </a:ln>
          </p:spPr>
          <p:txBody>
            <a:bodyPr>
              <a:spAutoFit/>
            </a:bodyPr>
            <a:lstStyle/>
            <a:p>
              <a:pPr algn="ctr" defTabSz="955675" eaLnBrk="0" hangingPunct="0"/>
              <a:endParaRPr lang="en-GB" sz="500" b="1" dirty="0">
                <a:solidFill>
                  <a:srgbClr val="646464"/>
                </a:solidFill>
                <a:latin typeface="EYInterstate Light" pitchFamily="2" charset="0"/>
                <a:cs typeface="+mn-cs"/>
              </a:endParaRPr>
            </a:p>
            <a:p>
              <a:pPr algn="ctr" defTabSz="955675" eaLnBrk="0" hangingPunct="0"/>
              <a:r>
                <a:rPr lang="en-GB" sz="500" b="1" dirty="0">
                  <a:solidFill>
                    <a:srgbClr val="646464"/>
                  </a:solidFill>
                  <a:latin typeface="EYInterstate Light" pitchFamily="2" charset="0"/>
                  <a:cs typeface="+mn-cs"/>
                </a:rPr>
                <a:t>Project is on track but has some significant challenges and/or issues that may materially impact the overall successful achievement of the expected outcomes. 	</a:t>
              </a:r>
            </a:p>
          </p:txBody>
        </p:sp>
      </p:grpSp>
      <p:sp>
        <p:nvSpPr>
          <p:cNvPr id="31910" name="Freeform 94"/>
          <p:cNvSpPr>
            <a:spLocks/>
          </p:cNvSpPr>
          <p:nvPr/>
        </p:nvSpPr>
        <p:spPr bwMode="gray">
          <a:xfrm>
            <a:off x="-3175" y="-3175"/>
            <a:ext cx="7546975" cy="307975"/>
          </a:xfrm>
          <a:custGeom>
            <a:avLst/>
            <a:gdLst>
              <a:gd name="T0" fmla="*/ 2147483647 w 6000"/>
              <a:gd name="T1" fmla="*/ 0 h 754"/>
              <a:gd name="T2" fmla="*/ 2147483647 w 6000"/>
              <a:gd name="T3" fmla="*/ 125460203 h 754"/>
              <a:gd name="T4" fmla="*/ 0 w 6000"/>
              <a:gd name="T5" fmla="*/ 125793910 h 754"/>
              <a:gd name="T6" fmla="*/ 0 w 6000"/>
              <a:gd name="T7" fmla="*/ 500357 h 754"/>
              <a:gd name="T8" fmla="*/ 2147483647 w 6000"/>
              <a:gd name="T9" fmla="*/ 0 h 754"/>
              <a:gd name="T10" fmla="*/ 0 60000 65536"/>
              <a:gd name="T11" fmla="*/ 0 60000 65536"/>
              <a:gd name="T12" fmla="*/ 0 60000 65536"/>
              <a:gd name="T13" fmla="*/ 0 60000 65536"/>
              <a:gd name="T14" fmla="*/ 0 60000 65536"/>
              <a:gd name="T15" fmla="*/ 0 w 6000"/>
              <a:gd name="T16" fmla="*/ 0 h 754"/>
              <a:gd name="T17" fmla="*/ 6000 w 6000"/>
              <a:gd name="T18" fmla="*/ 754 h 754"/>
            </a:gdLst>
            <a:ahLst/>
            <a:cxnLst>
              <a:cxn ang="T10">
                <a:pos x="T0" y="T1"/>
              </a:cxn>
              <a:cxn ang="T11">
                <a:pos x="T2" y="T3"/>
              </a:cxn>
              <a:cxn ang="T12">
                <a:pos x="T4" y="T5"/>
              </a:cxn>
              <a:cxn ang="T13">
                <a:pos x="T6" y="T7"/>
              </a:cxn>
              <a:cxn ang="T14">
                <a:pos x="T8" y="T9"/>
              </a:cxn>
            </a:cxnLst>
            <a:rect l="T15" t="T16" r="T17" b="T18"/>
            <a:pathLst>
              <a:path w="6000" h="754">
                <a:moveTo>
                  <a:pt x="6000" y="0"/>
                </a:moveTo>
                <a:lnTo>
                  <a:pt x="5854" y="752"/>
                </a:lnTo>
                <a:lnTo>
                  <a:pt x="0" y="754"/>
                </a:lnTo>
                <a:lnTo>
                  <a:pt x="0" y="3"/>
                </a:lnTo>
                <a:lnTo>
                  <a:pt x="6000" y="0"/>
                </a:lnTo>
                <a:close/>
              </a:path>
            </a:pathLst>
          </a:custGeom>
          <a:solidFill>
            <a:srgbClr val="FFD200"/>
          </a:solidFill>
          <a:ln w="9525">
            <a:noFill/>
            <a:round/>
            <a:headEnd/>
            <a:tailEnd/>
          </a:ln>
        </p:spPr>
        <p:txBody>
          <a:bodyPr/>
          <a:lstStyle/>
          <a:p>
            <a:endParaRPr lang="en-GB">
              <a:solidFill>
                <a:srgbClr val="000000"/>
              </a:solidFill>
              <a:latin typeface="Arial" pitchFamily="34" charset="0"/>
              <a:cs typeface="+mn-cs"/>
            </a:endParaRPr>
          </a:p>
        </p:txBody>
      </p:sp>
      <p:sp>
        <p:nvSpPr>
          <p:cNvPr id="67" name="Rectangle 183"/>
          <p:cNvSpPr txBox="1">
            <a:spLocks noChangeArrowheads="1"/>
          </p:cNvSpPr>
          <p:nvPr/>
        </p:nvSpPr>
        <p:spPr bwMode="gray">
          <a:xfrm>
            <a:off x="152400" y="0"/>
            <a:ext cx="7620000" cy="338554"/>
          </a:xfrm>
          <a:prstGeom prst="rect">
            <a:avLst/>
          </a:prstGeom>
        </p:spPr>
        <p:txBody>
          <a:bodyPr wrap="square">
            <a:spAutoFit/>
          </a:bodyPr>
          <a:lstStyle/>
          <a:p>
            <a:pPr algn="l" defTabSz="955675" eaLnBrk="0" hangingPunct="0">
              <a:spcAft>
                <a:spcPts val="0"/>
              </a:spcAft>
              <a:defRPr/>
            </a:pPr>
            <a:r>
              <a:rPr lang="en-US" sz="1600" b="1" kern="0" dirty="0" smtClean="0">
                <a:solidFill>
                  <a:srgbClr val="646464"/>
                </a:solidFill>
                <a:latin typeface="EYInterstate"/>
                <a:cs typeface="+mn-cs"/>
              </a:rPr>
              <a:t>R19913 – Unified Communications – </a:t>
            </a:r>
            <a:r>
              <a:rPr lang="en-US" sz="1600" b="1" kern="0" dirty="0" smtClean="0">
                <a:solidFill>
                  <a:srgbClr val="646464"/>
                </a:solidFill>
                <a:latin typeface="EYInterstate"/>
              </a:rPr>
              <a:t>Ray Wilkinson </a:t>
            </a:r>
            <a:endParaRPr lang="en-US" sz="1400" kern="0" dirty="0">
              <a:solidFill>
                <a:srgbClr val="646464"/>
              </a:solidFill>
              <a:latin typeface="EYInterstate"/>
              <a:cs typeface="+mn-cs"/>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a:spLocks noGrp="1" noChangeArrowheads="1"/>
          </p:cNvSpPr>
          <p:nvPr>
            <p:ph type="ctrTitle"/>
          </p:nvPr>
        </p:nvSpPr>
        <p:spPr>
          <a:xfrm>
            <a:off x="3059113" y="3722687"/>
            <a:ext cx="5932487" cy="908050"/>
          </a:xfrm>
        </p:spPr>
        <p:txBody>
          <a:bodyPr/>
          <a:lstStyle/>
          <a:p>
            <a:pPr eaLnBrk="1" hangingPunct="1"/>
            <a:r>
              <a:rPr lang="en-US" dirty="0" smtClean="0">
                <a:solidFill>
                  <a:schemeClr val="tx1"/>
                </a:solidFill>
              </a:rPr>
              <a:t>AB</a:t>
            </a:r>
            <a:r>
              <a:rPr lang="en-US" dirty="0" smtClean="0">
                <a:solidFill>
                  <a:schemeClr val="tx1"/>
                </a:solidFill>
              </a:rPr>
              <a:t>&amp;C</a:t>
            </a:r>
            <a:r>
              <a:rPr lang="en-US" sz="2800" dirty="0" smtClean="0">
                <a:solidFill>
                  <a:schemeClr val="tx1"/>
                </a:solidFill>
              </a:rPr>
              <a:t> </a:t>
            </a:r>
            <a:r>
              <a:rPr lang="en-US" sz="2000" dirty="0" smtClean="0">
                <a:solidFill>
                  <a:schemeClr val="tx1"/>
                </a:solidFill>
              </a:rPr>
              <a:t/>
            </a:r>
            <a:br>
              <a:rPr lang="en-US" sz="2000" dirty="0" smtClean="0">
                <a:solidFill>
                  <a:schemeClr val="tx1"/>
                </a:solidFill>
              </a:rPr>
            </a:br>
            <a:r>
              <a:rPr lang="en-US" sz="2000" b="0" dirty="0" smtClean="0">
                <a:solidFill>
                  <a:schemeClr val="tx1"/>
                </a:solidFill>
              </a:rPr>
              <a:t>TF Program Update by </a:t>
            </a:r>
            <a:r>
              <a:rPr lang="en-US" sz="2000" b="0" dirty="0" err="1" smtClean="0">
                <a:solidFill>
                  <a:schemeClr val="tx1"/>
                </a:solidFill>
              </a:rPr>
              <a:t>Workstream</a:t>
            </a:r>
            <a:endParaRPr lang="en-US" sz="2800" b="0" dirty="0" smtClean="0"/>
          </a:p>
        </p:txBody>
      </p:sp>
      <p:sp>
        <p:nvSpPr>
          <p:cNvPr id="15363" name="Rectangle 5"/>
          <p:cNvSpPr>
            <a:spLocks noGrp="1" noChangeArrowheads="1"/>
          </p:cNvSpPr>
          <p:nvPr>
            <p:ph type="subTitle" idx="1"/>
          </p:nvPr>
        </p:nvSpPr>
        <p:spPr>
          <a:xfrm>
            <a:off x="3062288" y="4619625"/>
            <a:ext cx="5541962" cy="485775"/>
          </a:xfrm>
        </p:spPr>
        <p:txBody>
          <a:bodyPr/>
          <a:lstStyle/>
          <a:p>
            <a:pPr eaLnBrk="1" hangingPunct="1"/>
            <a:r>
              <a:rPr lang="en-US" dirty="0" smtClean="0"/>
              <a:t>19</a:t>
            </a:r>
            <a:r>
              <a:rPr lang="en-US" baseline="30000" dirty="0" smtClean="0"/>
              <a:t>th</a:t>
            </a:r>
            <a:r>
              <a:rPr lang="en-US" dirty="0" smtClean="0"/>
              <a:t> March 2015</a:t>
            </a:r>
            <a:endParaRPr lang="en-US" dirty="0" smtClean="0"/>
          </a:p>
          <a:p>
            <a:pPr eaLnBrk="1" hangingPunct="1"/>
            <a:endParaRPr lang="en-US" dirty="0" smtClean="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44" name="Group 272"/>
          <p:cNvGraphicFramePr>
            <a:graphicFrameLocks noGrp="1"/>
          </p:cNvGraphicFramePr>
          <p:nvPr>
            <p:extLst>
              <p:ext uri="{D42A27DB-BD31-4B8C-83A1-F6EECF244321}">
                <p14:modId xmlns:p14="http://schemas.microsoft.com/office/powerpoint/2010/main" val="3028185366"/>
              </p:ext>
            </p:extLst>
          </p:nvPr>
        </p:nvGraphicFramePr>
        <p:xfrm>
          <a:off x="99488" y="3212976"/>
          <a:ext cx="4355123" cy="2551203"/>
        </p:xfrm>
        <a:graphic>
          <a:graphicData uri="http://schemas.openxmlformats.org/drawingml/2006/table">
            <a:tbl>
              <a:tblPr/>
              <a:tblGrid>
                <a:gridCol w="4355123"/>
              </a:tblGrid>
              <a:tr h="121902">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smtClean="0">
                          <a:ln>
                            <a:noFill/>
                          </a:ln>
                          <a:solidFill>
                            <a:schemeClr val="tx1"/>
                          </a:solidFill>
                          <a:effectLst/>
                          <a:latin typeface="+mj-lt"/>
                        </a:rPr>
                        <a:t>B.  KEY ACCOMPLISHMENTS 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298002">
                <a:tc>
                  <a:txBody>
                    <a:bodyPr/>
                    <a:lstStyle/>
                    <a:p>
                      <a:pPr marL="234950" marR="0" lvl="0" indent="-85725" algn="l" defTabSz="947738" rtl="0" eaLnBrk="0" fontAlgn="base" latinLnBrk="0" hangingPunct="0">
                        <a:lnSpc>
                          <a:spcPct val="100000"/>
                        </a:lnSpc>
                        <a:spcBef>
                          <a:spcPct val="0"/>
                        </a:spcBef>
                        <a:spcAft>
                          <a:spcPct val="10000"/>
                        </a:spcAft>
                        <a:buClrTx/>
                        <a:buSzTx/>
                        <a:buFontTx/>
                        <a:buChar char="•"/>
                        <a:tabLst/>
                        <a:defRPr/>
                      </a:pPr>
                      <a:r>
                        <a:rPr kumimoji="0" lang="en-AU" sz="700" b="0" i="0" u="none" strike="noStrike" kern="1200" cap="none" normalizeH="0" baseline="0" dirty="0" smtClean="0">
                          <a:ln>
                            <a:noFill/>
                          </a:ln>
                          <a:solidFill>
                            <a:srgbClr val="646464"/>
                          </a:solidFill>
                          <a:effectLst/>
                          <a:latin typeface="+mj-lt"/>
                          <a:ea typeface="+mn-ea"/>
                          <a:cs typeface="+mn-cs"/>
                        </a:rPr>
                        <a:t>O365: Online Services Messaging discovery review complete</a:t>
                      </a:r>
                    </a:p>
                    <a:p>
                      <a:pPr marL="234950" marR="0" lvl="0" indent="-85725" algn="l" defTabSz="947738" rtl="0" eaLnBrk="0" fontAlgn="base" latinLnBrk="0" hangingPunct="0">
                        <a:lnSpc>
                          <a:spcPct val="100000"/>
                        </a:lnSpc>
                        <a:spcBef>
                          <a:spcPct val="0"/>
                        </a:spcBef>
                        <a:spcAft>
                          <a:spcPct val="10000"/>
                        </a:spcAft>
                        <a:buClrTx/>
                        <a:buSzTx/>
                        <a:buFontTx/>
                        <a:buChar char="•"/>
                        <a:tabLst/>
                        <a:defRPr/>
                      </a:pPr>
                      <a:r>
                        <a:rPr kumimoji="0" lang="en-AU" sz="700" b="0" i="0" u="none" strike="noStrike" kern="1200" cap="none" normalizeH="0" baseline="0" dirty="0" smtClean="0">
                          <a:ln>
                            <a:noFill/>
                          </a:ln>
                          <a:solidFill>
                            <a:srgbClr val="646464"/>
                          </a:solidFill>
                          <a:effectLst/>
                          <a:latin typeface="+mj-lt"/>
                          <a:ea typeface="+mn-ea"/>
                          <a:cs typeface="+mn-cs"/>
                        </a:rPr>
                        <a:t>Messaging: CR026 approved</a:t>
                      </a:r>
                    </a:p>
                    <a:p>
                      <a:pPr marL="234950" marR="0" lvl="0" indent="-85725" algn="l" defTabSz="947738" rtl="0" eaLnBrk="0" fontAlgn="base" latinLnBrk="0" hangingPunct="0">
                        <a:lnSpc>
                          <a:spcPct val="100000"/>
                        </a:lnSpc>
                        <a:spcBef>
                          <a:spcPct val="0"/>
                        </a:spcBef>
                        <a:spcAft>
                          <a:spcPct val="10000"/>
                        </a:spcAft>
                        <a:buClrTx/>
                        <a:buSzTx/>
                        <a:buFontTx/>
                        <a:buChar char="•"/>
                        <a:tabLst/>
                        <a:defRPr/>
                      </a:pPr>
                      <a:r>
                        <a:rPr kumimoji="0" lang="en-AU" sz="700" b="0" i="0" u="none" strike="noStrike" kern="1200" cap="none" normalizeH="0" baseline="0" dirty="0" smtClean="0">
                          <a:ln>
                            <a:noFill/>
                          </a:ln>
                          <a:solidFill>
                            <a:srgbClr val="646464"/>
                          </a:solidFill>
                          <a:effectLst/>
                          <a:latin typeface="+mj-lt"/>
                          <a:ea typeface="+mn-ea"/>
                          <a:cs typeface="+mn-cs"/>
                        </a:rPr>
                        <a:t>Identity: CR025 Approved</a:t>
                      </a:r>
                    </a:p>
                    <a:p>
                      <a:pPr marL="234950" marR="0" lvl="0" indent="-85725" algn="l" defTabSz="947738" rtl="0" eaLnBrk="0" fontAlgn="base" latinLnBrk="0" hangingPunct="0">
                        <a:lnSpc>
                          <a:spcPct val="100000"/>
                        </a:lnSpc>
                        <a:spcBef>
                          <a:spcPct val="0"/>
                        </a:spcBef>
                        <a:spcAft>
                          <a:spcPct val="10000"/>
                        </a:spcAft>
                        <a:buClrTx/>
                        <a:buSzTx/>
                        <a:buFontTx/>
                        <a:buChar char="•"/>
                        <a:tabLst/>
                        <a:defRPr/>
                      </a:pPr>
                      <a:r>
                        <a:rPr kumimoji="0" lang="en-AU" sz="700" b="0" i="0" u="none" strike="noStrike" kern="1200" cap="none" normalizeH="0" baseline="0" dirty="0" smtClean="0">
                          <a:ln>
                            <a:noFill/>
                          </a:ln>
                          <a:solidFill>
                            <a:srgbClr val="646464"/>
                          </a:solidFill>
                          <a:effectLst/>
                          <a:latin typeface="+mj-lt"/>
                          <a:ea typeface="+mn-ea"/>
                          <a:cs typeface="+mn-cs"/>
                        </a:rPr>
                        <a:t>Lync:</a:t>
                      </a:r>
                    </a:p>
                    <a:p>
                      <a:pPr marL="234950" marR="0" lvl="0" indent="-85725" algn="l" defTabSz="947738" rtl="0" eaLnBrk="0" fontAlgn="base" latinLnBrk="0" hangingPunct="0">
                        <a:lnSpc>
                          <a:spcPct val="100000"/>
                        </a:lnSpc>
                        <a:spcBef>
                          <a:spcPct val="0"/>
                        </a:spcBef>
                        <a:spcAft>
                          <a:spcPct val="10000"/>
                        </a:spcAft>
                        <a:buClrTx/>
                        <a:buSzTx/>
                        <a:buFontTx/>
                        <a:buChar char="•"/>
                        <a:tabLst/>
                        <a:defRPr/>
                      </a:pPr>
                      <a:r>
                        <a:rPr kumimoji="0" lang="en-AU" sz="700" b="0" i="0" u="none" strike="noStrike" kern="1200" cap="none" normalizeH="0" baseline="0" dirty="0" smtClean="0">
                          <a:ln>
                            <a:noFill/>
                          </a:ln>
                          <a:solidFill>
                            <a:srgbClr val="646464"/>
                          </a:solidFill>
                          <a:effectLst/>
                          <a:latin typeface="+mj-lt"/>
                          <a:ea typeface="+mn-ea"/>
                          <a:cs typeface="+mn-cs"/>
                        </a:rPr>
                        <a:t>SharePoint Enablement: </a:t>
                      </a:r>
                      <a:r>
                        <a:rPr kumimoji="0" lang="en-GB" sz="700" b="0" i="0" u="none" strike="noStrike" kern="1200" cap="none" normalizeH="0" baseline="0" dirty="0" smtClean="0">
                          <a:ln>
                            <a:noFill/>
                          </a:ln>
                          <a:solidFill>
                            <a:srgbClr val="646464"/>
                          </a:solidFill>
                          <a:effectLst/>
                          <a:latin typeface="+mj-lt"/>
                          <a:ea typeface="+mn-ea"/>
                          <a:cs typeface="+mn-cs"/>
                        </a:rPr>
                        <a:t>POC  assessment continues  (DTU), Development continues (Search), People, Communities bug fixes</a:t>
                      </a:r>
                    </a:p>
                    <a:p>
                      <a:pPr marL="234950"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2"/>
                          </a:solidFill>
                          <a:effectLst/>
                          <a:latin typeface="+mj-lt"/>
                          <a:ea typeface="+mn-ea"/>
                          <a:cs typeface="+mn-cs"/>
                        </a:rPr>
                        <a:t>SharePoint Foundations: CR for O365 retro fit being developed</a:t>
                      </a:r>
                    </a:p>
                    <a:p>
                      <a:pPr marL="234950"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chemeClr val="tx2"/>
                          </a:solidFill>
                          <a:effectLst/>
                          <a:latin typeface="+mj-lt"/>
                          <a:ea typeface="+mn-ea"/>
                          <a:cs typeface="+mn-cs"/>
                        </a:rPr>
                        <a:t>SharePoint ADM: Stalled</a:t>
                      </a:r>
                      <a:endParaRPr kumimoji="0" lang="en-US" sz="700" b="0" i="0" u="none" strike="noStrike" cap="none" normalizeH="0" baseline="0" dirty="0" smtClean="0">
                        <a:ln>
                          <a:noFill/>
                        </a:ln>
                        <a:solidFill>
                          <a:schemeClr val="bg2"/>
                        </a:solidFill>
                        <a:effectLst/>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21902">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smtClean="0">
                          <a:ln>
                            <a:noFill/>
                          </a:ln>
                          <a:solidFill>
                            <a:schemeClr val="tx1"/>
                          </a:solidFill>
                          <a:effectLst/>
                          <a:latin typeface="+mj-lt"/>
                        </a:rPr>
                        <a:t>C.  ACTIVITIES BEHIND SCHEDULE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33533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mj-lt"/>
                        </a:rPr>
                        <a:t>O365  Scope lock after engineering review</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700" b="0" i="0" u="none" strike="noStrike" cap="none" normalizeH="0" baseline="0" dirty="0" smtClean="0">
                          <a:ln>
                            <a:noFill/>
                          </a:ln>
                          <a:solidFill>
                            <a:srgbClr val="646464"/>
                          </a:solidFill>
                          <a:effectLst/>
                          <a:latin typeface="+mj-lt"/>
                        </a:rPr>
                        <a:t>Signature on Deliverables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21902">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mj-lt"/>
                        </a:rPr>
                        <a:t>D.  KEY ACTIVITIES PLANNED NEXT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868917">
                <a:tc>
                  <a:txBody>
                    <a:bodyPr/>
                    <a:lstStyle/>
                    <a:p>
                      <a:pPr marL="0" marR="0" lvl="0" indent="-314325" algn="l" defTabSz="947738" rtl="0" eaLnBrk="0" fontAlgn="base" latinLnBrk="0" hangingPunct="0">
                        <a:lnSpc>
                          <a:spcPct val="100000"/>
                        </a:lnSpc>
                        <a:spcBef>
                          <a:spcPct val="0"/>
                        </a:spcBef>
                        <a:spcAft>
                          <a:spcPct val="10000"/>
                        </a:spcAft>
                        <a:buClrTx/>
                        <a:buSzTx/>
                        <a:buFontTx/>
                        <a:buChar char="•"/>
                        <a:tabLst/>
                      </a:pPr>
                      <a:endParaRPr kumimoji="0" lang="en-US" sz="700" b="0" i="0" u="none" strike="noStrike" cap="none" normalizeH="0" baseline="0" dirty="0" smtClean="0">
                        <a:ln>
                          <a:noFill/>
                        </a:ln>
                        <a:solidFill>
                          <a:srgbClr val="646464"/>
                        </a:solidFill>
                        <a:effectLst/>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334100" name="Group 852"/>
          <p:cNvGraphicFramePr>
            <a:graphicFrameLocks noGrp="1"/>
          </p:cNvGraphicFramePr>
          <p:nvPr>
            <p:extLst>
              <p:ext uri="{D42A27DB-BD31-4B8C-83A1-F6EECF244321}">
                <p14:modId xmlns:p14="http://schemas.microsoft.com/office/powerpoint/2010/main" val="2446487213"/>
              </p:ext>
            </p:extLst>
          </p:nvPr>
        </p:nvGraphicFramePr>
        <p:xfrm>
          <a:off x="4674631" y="4077072"/>
          <a:ext cx="4355123" cy="869989"/>
        </p:xfrm>
        <a:graphic>
          <a:graphicData uri="http://schemas.openxmlformats.org/drawingml/2006/table">
            <a:tbl>
              <a:tblPr/>
              <a:tblGrid>
                <a:gridCol w="2113085"/>
                <a:gridCol w="2242038"/>
              </a:tblGrid>
              <a:tr h="175793">
                <a:tc gridSpan="2">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mj-lt"/>
                        </a:rPr>
                        <a:t>G. MATTERS FOR IMMEDIATE ATTENTION – typically specific current issues or scope changes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r>
              <a:tr h="169810">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mj-lt"/>
                        </a:rPr>
                        <a:t>Issues to be resolved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bg2"/>
                          </a:solidFill>
                          <a:effectLst/>
                          <a:latin typeface="+mj-lt"/>
                        </a:rPr>
                        <a:t>Recommended Action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14183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mj-lt"/>
                          <a:ea typeface="+mn-ea"/>
                          <a:cs typeface="+mn-cs"/>
                        </a:rPr>
                        <a:t>Signature for DESIGN Deliverables for Lync, SPF and Messaging</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cap="none" normalizeH="0" baseline="0" dirty="0" smtClean="0">
                          <a:ln>
                            <a:noFill/>
                          </a:ln>
                          <a:solidFill>
                            <a:srgbClr val="646464"/>
                          </a:solidFill>
                          <a:effectLst/>
                          <a:latin typeface="+mj-lt"/>
                        </a:rPr>
                        <a:t>Obtain executive signatures </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4183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mj-lt"/>
                          <a:ea typeface="+mn-ea"/>
                          <a:cs typeface="+mn-cs"/>
                        </a:rPr>
                        <a:t>Confirm approach for ADM</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cap="none" normalizeH="0" baseline="0" dirty="0" smtClean="0">
                        <a:ln>
                          <a:noFill/>
                        </a:ln>
                        <a:solidFill>
                          <a:srgbClr val="646464"/>
                        </a:solidFill>
                        <a:effectLst/>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4183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700" b="0" i="0" u="none" strike="noStrike" kern="1200" cap="none" normalizeH="0" baseline="0" dirty="0" smtClean="0">
                        <a:ln>
                          <a:noFill/>
                        </a:ln>
                        <a:solidFill>
                          <a:srgbClr val="646464"/>
                        </a:solidFill>
                        <a:effectLst/>
                        <a:latin typeface="+mj-lt"/>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US" sz="700" b="0" i="0" u="none" strike="noStrike" cap="none" normalizeH="0" baseline="0" dirty="0" smtClean="0">
                        <a:ln>
                          <a:noFill/>
                        </a:ln>
                        <a:solidFill>
                          <a:srgbClr val="646464"/>
                        </a:solidFill>
                        <a:effectLst/>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3317" name="Group 245"/>
          <p:cNvGraphicFramePr>
            <a:graphicFrameLocks noGrp="1"/>
          </p:cNvGraphicFramePr>
          <p:nvPr>
            <p:extLst>
              <p:ext uri="{D42A27DB-BD31-4B8C-83A1-F6EECF244321}">
                <p14:modId xmlns:p14="http://schemas.microsoft.com/office/powerpoint/2010/main" val="2551003144"/>
              </p:ext>
            </p:extLst>
          </p:nvPr>
        </p:nvGraphicFramePr>
        <p:xfrm>
          <a:off x="107504" y="586296"/>
          <a:ext cx="4360985" cy="2124800"/>
        </p:xfrm>
        <a:graphic>
          <a:graphicData uri="http://schemas.openxmlformats.org/drawingml/2006/table">
            <a:tbl>
              <a:tblPr/>
              <a:tblGrid>
                <a:gridCol w="4360985"/>
              </a:tblGrid>
              <a:tr h="102137">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mn-lt"/>
                        </a:rPr>
                        <a:t>A.  </a:t>
                      </a:r>
                      <a:r>
                        <a:rPr kumimoji="0" lang="en-GB" sz="700" b="1" i="0" u="none" strike="noStrike" cap="none" normalizeH="0" baseline="0" dirty="0" smtClean="0">
                          <a:ln>
                            <a:noFill/>
                          </a:ln>
                          <a:solidFill>
                            <a:schemeClr val="tx1"/>
                          </a:solidFill>
                          <a:effectLst/>
                          <a:latin typeface="+mn-lt"/>
                        </a:rPr>
                        <a:t>EXECUTIVE SUMMARY – a summary of the progress for this period (not of the initiative)</a:t>
                      </a:r>
                      <a:endParaRPr kumimoji="0" lang="en-US" sz="700" b="1" i="0" u="none" strike="noStrike" cap="none" normalizeH="0" baseline="0" dirty="0" smtClean="0">
                        <a:ln>
                          <a:noFill/>
                        </a:ln>
                        <a:solidFill>
                          <a:schemeClr val="tx1"/>
                        </a:solidFill>
                        <a:effectLst/>
                        <a:latin typeface="+mn-lt"/>
                      </a:endParaRPr>
                    </a:p>
                  </a:txBody>
                  <a:tcPr marL="33231" marR="33231" marT="14400" marB="14400"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989320">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0" i="0" u="none" strike="noStrike" cap="none" normalizeH="0" baseline="0" dirty="0" smtClean="0">
                          <a:ln>
                            <a:noFill/>
                          </a:ln>
                          <a:solidFill>
                            <a:schemeClr val="bg2"/>
                          </a:solidFill>
                          <a:effectLst/>
                          <a:latin typeface="+mn-lt"/>
                        </a:rPr>
                        <a:t>O365 Services</a:t>
                      </a:r>
                    </a:p>
                    <a:p>
                      <a:pPr marL="234950"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mn-lt"/>
                          <a:ea typeface="+mn-ea"/>
                          <a:cs typeface="+mn-cs"/>
                        </a:rPr>
                        <a:t>All information has been submitted to engineering to drive towards scope lock.  Roles &amp; responsibilities were clarified and project is now moving forward at a good pace. </a:t>
                      </a: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0" i="0" u="none" strike="noStrike" cap="none" normalizeH="0" baseline="0" dirty="0" smtClean="0">
                          <a:ln>
                            <a:noFill/>
                          </a:ln>
                          <a:solidFill>
                            <a:schemeClr val="bg2"/>
                          </a:solidFill>
                          <a:effectLst/>
                          <a:latin typeface="+mn-lt"/>
                        </a:rPr>
                        <a:t>Messaging:</a:t>
                      </a:r>
                    </a:p>
                    <a:p>
                      <a:pPr marL="234950"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mn-lt"/>
                          <a:ea typeface="+mn-ea"/>
                          <a:cs typeface="+mn-cs"/>
                        </a:rPr>
                        <a:t>Change Request (CR0026) for O365 retrofit approved to the EY PjM and EY PMO on March 4.  Still requires commercial execution</a:t>
                      </a: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0" i="0" u="none" strike="noStrike" cap="none" normalizeH="0" baseline="0" dirty="0" smtClean="0">
                          <a:ln>
                            <a:noFill/>
                          </a:ln>
                          <a:solidFill>
                            <a:srgbClr val="646464"/>
                          </a:solidFill>
                          <a:effectLst/>
                          <a:latin typeface="+mn-lt"/>
                        </a:rPr>
                        <a:t>Lync:</a:t>
                      </a:r>
                    </a:p>
                    <a:p>
                      <a:pPr marL="234950"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mn-lt"/>
                          <a:ea typeface="+mn-ea"/>
                          <a:cs typeface="+mn-cs"/>
                        </a:rPr>
                        <a:t>CR to close out the project needs to be finalized</a:t>
                      </a: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0" i="0" u="none" strike="noStrike" cap="none" normalizeH="0" baseline="0" dirty="0" smtClean="0">
                          <a:ln>
                            <a:noFill/>
                          </a:ln>
                          <a:solidFill>
                            <a:srgbClr val="646464"/>
                          </a:solidFill>
                          <a:effectLst/>
                          <a:latin typeface="+mn-lt"/>
                        </a:rPr>
                        <a:t>Identity Management:</a:t>
                      </a:r>
                    </a:p>
                    <a:p>
                      <a:pPr marL="234950"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mn-lt"/>
                          <a:ea typeface="+mn-ea"/>
                          <a:cs typeface="+mn-cs"/>
                        </a:rPr>
                        <a:t>Deliverable approval process running slow</a:t>
                      </a:r>
                    </a:p>
                    <a:p>
                      <a:pPr marL="234950"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sng" strike="noStrike" kern="1200" cap="none" normalizeH="0" baseline="0" dirty="0" smtClean="0">
                          <a:ln>
                            <a:noFill/>
                          </a:ln>
                          <a:solidFill>
                            <a:srgbClr val="646464"/>
                          </a:solidFill>
                          <a:effectLst/>
                          <a:latin typeface="+mn-lt"/>
                          <a:ea typeface="+mn-ea"/>
                          <a:cs typeface="+mn-cs"/>
                        </a:rPr>
                        <a:t>Budget Over Run</a:t>
                      </a:r>
                    </a:p>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0" i="0" u="none" strike="noStrike" kern="1200" cap="none" normalizeH="0" baseline="0" dirty="0" smtClean="0">
                          <a:ln>
                            <a:noFill/>
                          </a:ln>
                          <a:solidFill>
                            <a:srgbClr val="646464"/>
                          </a:solidFill>
                          <a:effectLst/>
                          <a:latin typeface="+mn-lt"/>
                          <a:ea typeface="+mn-ea"/>
                          <a:cs typeface="+mn-cs"/>
                        </a:rPr>
                        <a:t>SharePoint ADM</a:t>
                      </a:r>
                    </a:p>
                    <a:p>
                      <a:pPr marL="234950"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mn-lt"/>
                          <a:ea typeface="+mn-ea"/>
                          <a:cs typeface="+mn-cs"/>
                        </a:rPr>
                        <a:t>Project postponed by EY ADM team until further notice.   As per EY ADM, a new SOW is required.   Estimated restart: August, 2012.</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US" sz="700" b="0" i="0" u="none" strike="noStrike" cap="none" normalizeH="0" baseline="0" dirty="0" smtClean="0">
                          <a:ln>
                            <a:noFill/>
                          </a:ln>
                          <a:solidFill>
                            <a:srgbClr val="646464"/>
                          </a:solidFill>
                          <a:effectLst/>
                          <a:latin typeface="+mn-lt"/>
                        </a:rPr>
                        <a:t>SharePoint Foundation</a:t>
                      </a:r>
                    </a:p>
                    <a:p>
                      <a:pPr marL="234950"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700" b="0" i="0" u="none" strike="noStrike" kern="1200" cap="none" normalizeH="0" baseline="0" dirty="0" smtClean="0">
                          <a:ln>
                            <a:noFill/>
                          </a:ln>
                          <a:solidFill>
                            <a:srgbClr val="646464"/>
                          </a:solidFill>
                          <a:effectLst/>
                          <a:latin typeface="+mn-lt"/>
                          <a:ea typeface="+mn-ea"/>
                          <a:cs typeface="+mn-cs"/>
                        </a:rPr>
                        <a:t>CR being developed to retrofit for O365, draft being delivered Monday 3/19</a:t>
                      </a:r>
                    </a:p>
                    <a:p>
                      <a:pPr marL="0" marR="0" lvl="0" indent="0" algn="l" defTabSz="947738" rtl="0" eaLnBrk="0" fontAlgn="base" latinLnBrk="0" hangingPunct="0">
                        <a:lnSpc>
                          <a:spcPct val="100000"/>
                        </a:lnSpc>
                        <a:spcBef>
                          <a:spcPct val="0"/>
                        </a:spcBef>
                        <a:spcAft>
                          <a:spcPct val="10000"/>
                        </a:spcAft>
                        <a:buClr>
                          <a:schemeClr val="hlink"/>
                        </a:buClr>
                        <a:buSzTx/>
                        <a:buFont typeface="Arial" pitchFamily="34" charset="0"/>
                        <a:buNone/>
                        <a:tabLst/>
                        <a:defRPr/>
                      </a:pPr>
                      <a:r>
                        <a:rPr kumimoji="0" lang="en-US" sz="700" b="0" i="0" u="none" strike="noStrike" cap="none" normalizeH="0" baseline="0" dirty="0" smtClean="0">
                          <a:ln>
                            <a:noFill/>
                          </a:ln>
                          <a:solidFill>
                            <a:srgbClr val="646464"/>
                          </a:solidFill>
                          <a:effectLst/>
                          <a:latin typeface="+mn-lt"/>
                        </a:rPr>
                        <a:t>SharePoint Enablement</a:t>
                      </a:r>
                    </a:p>
                  </a:txBody>
                  <a:tcPr marL="33231" marR="33231" marT="14400" marB="14400"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3342" name="Group 270"/>
          <p:cNvGraphicFramePr>
            <a:graphicFrameLocks noGrp="1"/>
          </p:cNvGraphicFramePr>
          <p:nvPr>
            <p:extLst>
              <p:ext uri="{D42A27DB-BD31-4B8C-83A1-F6EECF244321}">
                <p14:modId xmlns:p14="http://schemas.microsoft.com/office/powerpoint/2010/main" val="169286186"/>
              </p:ext>
            </p:extLst>
          </p:nvPr>
        </p:nvGraphicFramePr>
        <p:xfrm>
          <a:off x="4674630" y="764704"/>
          <a:ext cx="4355126" cy="1572859"/>
        </p:xfrm>
        <a:graphic>
          <a:graphicData uri="http://schemas.openxmlformats.org/drawingml/2006/table">
            <a:tbl>
              <a:tblPr/>
              <a:tblGrid>
                <a:gridCol w="1400909"/>
                <a:gridCol w="800717"/>
                <a:gridCol w="678694"/>
                <a:gridCol w="723201"/>
                <a:gridCol w="751605"/>
              </a:tblGrid>
              <a:tr h="131410">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800" b="1" i="0" u="none" strike="noStrike" kern="1200" cap="none" normalizeH="0" baseline="0" dirty="0" smtClean="0">
                          <a:ln>
                            <a:noFill/>
                          </a:ln>
                          <a:solidFill>
                            <a:schemeClr val="tx1"/>
                          </a:solidFill>
                          <a:effectLst/>
                          <a:latin typeface="+mj-lt"/>
                          <a:ea typeface="+mn-ea"/>
                          <a:cs typeface="+mn-cs"/>
                        </a:rPr>
                        <a:t>E.  MILESTONES</a:t>
                      </a:r>
                      <a:endParaRPr kumimoji="0" lang="en-US" sz="800" b="0" i="0" u="none" strike="noStrike" kern="1200" cap="none" normalizeH="0" baseline="0" dirty="0" smtClean="0">
                        <a:ln>
                          <a:noFill/>
                        </a:ln>
                        <a:solidFill>
                          <a:schemeClr val="tx1"/>
                        </a:solidFill>
                        <a:effectLst/>
                        <a:latin typeface="+mj-lt"/>
                        <a:ea typeface="+mn-ea"/>
                        <a:cs typeface="+mn-cs"/>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800" b="1" i="0" u="none" strike="noStrike" cap="none" normalizeH="0" baseline="0" dirty="0" smtClean="0">
                        <a:ln>
                          <a:noFill/>
                        </a:ln>
                        <a:solidFill>
                          <a:schemeClr val="bg2"/>
                        </a:solidFill>
                        <a:effectLst/>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800" b="1" i="0" u="none" strike="noStrike" cap="none" normalizeH="0" baseline="0" dirty="0" smtClean="0">
                        <a:ln>
                          <a:noFill/>
                        </a:ln>
                        <a:solidFill>
                          <a:schemeClr val="bg2"/>
                        </a:solidFill>
                        <a:effectLst/>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800" b="1" i="0" u="none" strike="noStrike" cap="none" normalizeH="0" baseline="0" dirty="0" smtClean="0">
                        <a:ln>
                          <a:noFill/>
                        </a:ln>
                        <a:solidFill>
                          <a:schemeClr val="bg2"/>
                        </a:solidFill>
                        <a:effectLst/>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800" b="1" i="0" u="none" strike="noStrike" cap="none" normalizeH="0" baseline="0" dirty="0" smtClean="0">
                        <a:ln>
                          <a:noFill/>
                        </a:ln>
                        <a:solidFill>
                          <a:schemeClr val="bg2"/>
                        </a:solidFill>
                        <a:effectLst/>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62828">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800" b="1" i="0" u="none" strike="noStrike" cap="none" normalizeH="0" baseline="0" dirty="0" smtClean="0">
                          <a:ln>
                            <a:noFill/>
                          </a:ln>
                          <a:solidFill>
                            <a:schemeClr val="bg2"/>
                          </a:solidFill>
                          <a:effectLst/>
                          <a:latin typeface="+mj-lt"/>
                        </a:rPr>
                        <a:t>Individual Milestone Name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800" b="1" i="0" u="none" strike="noStrike" cap="none" normalizeH="0" baseline="0" dirty="0" smtClean="0">
                          <a:ln>
                            <a:noFill/>
                          </a:ln>
                          <a:solidFill>
                            <a:schemeClr val="bg2"/>
                          </a:solidFill>
                          <a:effectLst/>
                          <a:latin typeface="+mj-lt"/>
                        </a:rPr>
                        <a:t>Planned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800" b="1" i="0" u="none" strike="noStrike" cap="none" normalizeH="0" baseline="0" dirty="0" smtClean="0">
                          <a:ln>
                            <a:noFill/>
                          </a:ln>
                          <a:solidFill>
                            <a:schemeClr val="bg2"/>
                          </a:solidFill>
                          <a:effectLst/>
                          <a:latin typeface="+mj-lt"/>
                        </a:rPr>
                        <a:t>Projected Date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800" b="1" i="0" u="none" strike="noStrike" cap="none" normalizeH="0" baseline="0" dirty="0" smtClean="0">
                          <a:ln>
                            <a:noFill/>
                          </a:ln>
                          <a:solidFill>
                            <a:schemeClr val="bg2"/>
                          </a:solidFill>
                          <a:effectLst/>
                          <a:latin typeface="+mj-lt"/>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800" b="1" i="0" u="none" strike="noStrike" cap="none" normalizeH="0" baseline="0" dirty="0" smtClean="0">
                          <a:ln>
                            <a:noFill/>
                          </a:ln>
                          <a:solidFill>
                            <a:schemeClr val="bg2"/>
                          </a:solidFill>
                          <a:effectLst/>
                          <a:latin typeface="+mj-lt"/>
                        </a:rPr>
                        <a:t>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0">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pPr>
                      <a:r>
                        <a:rPr kumimoji="0" lang="en-US" sz="800" b="0" i="0" u="none" strike="noStrike" cap="none" normalizeH="0" baseline="0" dirty="0" smtClean="0">
                          <a:ln>
                            <a:noFill/>
                          </a:ln>
                          <a:solidFill>
                            <a:srgbClr val="646464"/>
                          </a:solidFill>
                          <a:effectLst/>
                          <a:latin typeface="+mj-lt"/>
                        </a:rPr>
                        <a:t>O365</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US" sz="800" b="0" i="0" u="none" strike="noStrike" cap="none" normalizeH="0" baseline="0" dirty="0" smtClean="0">
                          <a:ln>
                            <a:noFill/>
                          </a:ln>
                          <a:solidFill>
                            <a:srgbClr val="646464"/>
                          </a:solidFill>
                          <a:effectLst/>
                          <a:latin typeface="+mj-lt"/>
                        </a:rPr>
                        <a:t>3/23/12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US" sz="800" b="0" i="0" u="none" strike="noStrike" cap="none" normalizeH="0" baseline="0" dirty="0" smtClean="0">
                          <a:ln>
                            <a:noFill/>
                          </a:ln>
                          <a:solidFill>
                            <a:srgbClr val="FF0000"/>
                          </a:solidFill>
                          <a:effectLst/>
                          <a:latin typeface="+mj-lt"/>
                        </a:rPr>
                        <a:t>3/30/12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800" b="0" i="0" u="none" strike="noStrike" cap="none" normalizeH="0" baseline="0" dirty="0" smtClean="0">
                          <a:ln>
                            <a:noFill/>
                          </a:ln>
                          <a:solidFill>
                            <a:schemeClr val="accent3"/>
                          </a:solidFill>
                          <a:effectLst/>
                          <a:latin typeface="+mj-lt"/>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800" b="0" i="0" u="none" strike="noStrike" cap="none" normalizeH="0" baseline="0" dirty="0" smtClean="0">
                          <a:ln>
                            <a:noFill/>
                          </a:ln>
                          <a:solidFill>
                            <a:schemeClr val="accent3"/>
                          </a:solidFill>
                          <a:effectLst/>
                          <a:latin typeface="+mj-lt"/>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0">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pPr>
                      <a:r>
                        <a:rPr kumimoji="0" lang="en-US" sz="800" b="0" i="0" u="none" strike="noStrike" cap="none" normalizeH="0" baseline="0" dirty="0" smtClean="0">
                          <a:ln>
                            <a:noFill/>
                          </a:ln>
                          <a:solidFill>
                            <a:srgbClr val="646464"/>
                          </a:solidFill>
                          <a:effectLst/>
                          <a:latin typeface="+mj-lt"/>
                        </a:rPr>
                        <a:t>Messaging  Plan</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US" sz="800" b="0" i="0" u="none" strike="noStrike" cap="none" normalizeH="0" baseline="0" dirty="0" smtClean="0">
                          <a:ln>
                            <a:noFill/>
                          </a:ln>
                          <a:solidFill>
                            <a:srgbClr val="646464"/>
                          </a:solidFill>
                          <a:effectLst/>
                          <a:latin typeface="+mj-lt"/>
                        </a:rPr>
                        <a:t>3/9/12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US" sz="800" b="0" i="0" u="none" strike="noStrike" cap="none" normalizeH="0" baseline="0" dirty="0" smtClean="0">
                          <a:ln>
                            <a:noFill/>
                          </a:ln>
                          <a:solidFill>
                            <a:srgbClr val="FF0000"/>
                          </a:solidFill>
                          <a:effectLst/>
                          <a:latin typeface="+mj-lt"/>
                        </a:rPr>
                        <a:t>TBD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800" b="0" i="0" u="none" strike="noStrike" cap="none" normalizeH="0" baseline="0" dirty="0" smtClean="0">
                          <a:ln>
                            <a:noFill/>
                          </a:ln>
                          <a:solidFill>
                            <a:schemeClr val="accent3"/>
                          </a:solidFill>
                          <a:effectLst/>
                          <a:latin typeface="+mj-lt"/>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800" b="0" i="0" u="none" strike="noStrike" cap="none" normalizeH="0" baseline="0" dirty="0" smtClean="0">
                          <a:ln>
                            <a:noFill/>
                          </a:ln>
                          <a:solidFill>
                            <a:schemeClr val="accent3"/>
                          </a:solidFill>
                          <a:effectLst/>
                          <a:latin typeface="+mj-lt"/>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r h="167113">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800" b="0" i="0" u="none" strike="noStrike" cap="none" normalizeH="0" baseline="0" dirty="0" smtClean="0">
                          <a:ln>
                            <a:noFill/>
                          </a:ln>
                          <a:solidFill>
                            <a:srgbClr val="646464"/>
                          </a:solidFill>
                          <a:effectLst/>
                          <a:latin typeface="+mj-lt"/>
                        </a:rPr>
                        <a:t>Lync Plan</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US" sz="800" b="0" i="0" u="none" strike="noStrike" cap="none" normalizeH="0" baseline="0" dirty="0" smtClean="0">
                          <a:ln>
                            <a:noFill/>
                          </a:ln>
                          <a:solidFill>
                            <a:srgbClr val="646464"/>
                          </a:solidFill>
                          <a:effectLst/>
                          <a:latin typeface="+mj-lt"/>
                        </a:rPr>
                        <a:t>3/18/12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US" sz="800" b="0" i="0" u="none" strike="noStrike" cap="none" normalizeH="0" baseline="0" dirty="0" smtClean="0">
                          <a:ln>
                            <a:noFill/>
                          </a:ln>
                          <a:solidFill>
                            <a:srgbClr val="FF0000"/>
                          </a:solidFill>
                          <a:effectLst/>
                          <a:latin typeface="+mj-lt"/>
                        </a:rPr>
                        <a:t>On Hold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800" b="0" i="0" u="none" strike="noStrike" cap="none" normalizeH="0" baseline="0" dirty="0" smtClean="0">
                          <a:ln>
                            <a:noFill/>
                          </a:ln>
                          <a:solidFill>
                            <a:schemeClr val="accent3"/>
                          </a:solidFill>
                          <a:effectLst/>
                          <a:latin typeface="+mj-lt"/>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800" b="0" i="0" u="none" strike="noStrike" cap="none" normalizeH="0" baseline="0" dirty="0" smtClean="0">
                          <a:ln>
                            <a:noFill/>
                          </a:ln>
                          <a:solidFill>
                            <a:schemeClr val="accent3"/>
                          </a:solidFill>
                          <a:effectLst/>
                          <a:latin typeface="+mj-lt"/>
                        </a:rPr>
                        <a:t>RED</a:t>
                      </a:r>
                      <a:endParaRPr kumimoji="0" lang="en-US" sz="800" b="0" i="0" u="none" strike="noStrike" cap="none" normalizeH="0" baseline="0" dirty="0" smtClean="0">
                        <a:ln>
                          <a:noFill/>
                        </a:ln>
                        <a:solidFill>
                          <a:srgbClr val="FFC000"/>
                        </a:solidFill>
                        <a:effectLst/>
                        <a:latin typeface="+mj-lt"/>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162828">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800" b="0" i="0" u="none" strike="noStrike" cap="none" normalizeH="0" baseline="0" dirty="0" smtClean="0">
                          <a:ln>
                            <a:noFill/>
                          </a:ln>
                          <a:solidFill>
                            <a:srgbClr val="646464"/>
                          </a:solidFill>
                          <a:effectLst/>
                          <a:latin typeface="+mj-lt"/>
                        </a:rPr>
                        <a:t>SharePoint Foundation</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endParaRPr kumimoji="0" lang="en-US" sz="800" b="0" i="0" u="none" strike="noStrike" cap="none" normalizeH="0" baseline="0" dirty="0" smtClean="0">
                        <a:ln>
                          <a:noFill/>
                        </a:ln>
                        <a:solidFill>
                          <a:srgbClr val="646464"/>
                        </a:solidFill>
                        <a:effectLst/>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US" sz="800" b="0" i="0" u="none" strike="noStrike" cap="none" normalizeH="0" baseline="0" dirty="0" smtClean="0">
                        <a:ln>
                          <a:noFill/>
                        </a:ln>
                        <a:solidFill>
                          <a:srgbClr val="FF0000"/>
                        </a:solidFill>
                        <a:effectLst/>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800" b="0" i="0" u="none" strike="noStrike" cap="none" normalizeH="0" baseline="0" dirty="0" smtClean="0">
                          <a:ln>
                            <a:noFill/>
                          </a:ln>
                          <a:solidFill>
                            <a:schemeClr val="accent3"/>
                          </a:solidFill>
                          <a:effectLst/>
                          <a:latin typeface="+mj-lt"/>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800" b="0" i="0" u="none" strike="noStrike" cap="none" normalizeH="0" baseline="0" dirty="0" smtClean="0">
                          <a:ln>
                            <a:noFill/>
                          </a:ln>
                          <a:solidFill>
                            <a:schemeClr val="accent3"/>
                          </a:solidFill>
                          <a:effectLst/>
                          <a:latin typeface="+mj-lt"/>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198198">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800" b="0" i="0" u="none" strike="noStrike" cap="none" normalizeH="0" baseline="0" dirty="0" smtClean="0">
                          <a:ln>
                            <a:noFill/>
                          </a:ln>
                          <a:solidFill>
                            <a:srgbClr val="646464"/>
                          </a:solidFill>
                          <a:effectLst/>
                          <a:latin typeface="+mj-lt"/>
                        </a:rPr>
                        <a:t>Application Transformation</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US" sz="800" b="0" i="0" u="none" strike="noStrike" cap="none" normalizeH="0" baseline="0" dirty="0" smtClean="0">
                          <a:ln>
                            <a:noFill/>
                          </a:ln>
                          <a:solidFill>
                            <a:srgbClr val="646464"/>
                          </a:solidFill>
                          <a:effectLst/>
                          <a:latin typeface="+mj-lt"/>
                        </a:rPr>
                        <a:t>Feb 6</a:t>
                      </a:r>
                      <a:r>
                        <a:rPr kumimoji="0" lang="en-US" sz="800" b="0" i="0" u="none" strike="noStrike" cap="none" normalizeH="0" baseline="30000" dirty="0" smtClean="0">
                          <a:ln>
                            <a:noFill/>
                          </a:ln>
                          <a:solidFill>
                            <a:srgbClr val="646464"/>
                          </a:solidFill>
                          <a:effectLst/>
                          <a:latin typeface="+mj-lt"/>
                        </a:rPr>
                        <a:t>th</a:t>
                      </a:r>
                      <a:r>
                        <a:rPr kumimoji="0" lang="en-US" sz="800" b="0" i="0" u="none" strike="noStrike" cap="none" normalizeH="0" baseline="0" dirty="0" smtClean="0">
                          <a:ln>
                            <a:noFill/>
                          </a:ln>
                          <a:solidFill>
                            <a:srgbClr val="646464"/>
                          </a:solidFill>
                          <a:effectLst/>
                          <a:latin typeface="+mj-lt"/>
                        </a:rPr>
                        <a:t> 2012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US" sz="800" b="0" i="0" u="none" strike="noStrike" cap="none" normalizeH="0" baseline="0" dirty="0" smtClean="0">
                          <a:ln>
                            <a:noFill/>
                          </a:ln>
                          <a:solidFill>
                            <a:srgbClr val="FF0000"/>
                          </a:solidFill>
                          <a:effectLst/>
                          <a:latin typeface="+mj-lt"/>
                        </a:rPr>
                        <a:t>On Hold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800" b="0" i="0" u="none" strike="noStrike" cap="none" normalizeH="0" baseline="0" dirty="0" smtClean="0">
                          <a:ln>
                            <a:noFill/>
                          </a:ln>
                          <a:solidFill>
                            <a:schemeClr val="accent3"/>
                          </a:solidFill>
                          <a:effectLst/>
                          <a:latin typeface="+mj-lt"/>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endParaRPr kumimoji="0" lang="en-US" sz="800" b="0" i="0" u="none" strike="noStrike" cap="none" normalizeH="0" baseline="0" dirty="0" smtClean="0">
                        <a:ln>
                          <a:noFill/>
                        </a:ln>
                        <a:solidFill>
                          <a:schemeClr val="accent3"/>
                        </a:solidFill>
                        <a:effectLst/>
                        <a:latin typeface="+mj-lt"/>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62828">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800" b="0" i="0" u="none" strike="noStrike" cap="none" normalizeH="0" baseline="0" dirty="0" smtClean="0">
                          <a:ln>
                            <a:noFill/>
                          </a:ln>
                          <a:solidFill>
                            <a:srgbClr val="646464"/>
                          </a:solidFill>
                          <a:effectLst/>
                          <a:latin typeface="+mj-lt"/>
                        </a:rPr>
                        <a:t>SharePoint Enablement</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US" sz="800" b="0" i="0" u="none" strike="noStrike" cap="none" normalizeH="0" baseline="0" dirty="0" smtClean="0">
                          <a:ln>
                            <a:noFill/>
                          </a:ln>
                          <a:solidFill>
                            <a:srgbClr val="646464"/>
                          </a:solidFill>
                          <a:effectLst/>
                          <a:latin typeface="+mj-lt"/>
                        </a:rPr>
                        <a:t>6/29/12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US" sz="800" b="0" i="0" u="none" strike="noStrike" cap="none" normalizeH="0" baseline="0" dirty="0" smtClean="0">
                          <a:ln>
                            <a:noFill/>
                          </a:ln>
                          <a:solidFill>
                            <a:srgbClr val="FF0000"/>
                          </a:solidFill>
                          <a:effectLst/>
                          <a:latin typeface="+mj-lt"/>
                        </a:rPr>
                        <a:t>TBD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800" b="0" i="0" u="none" strike="noStrike" cap="none" normalizeH="0" baseline="0" dirty="0" smtClean="0">
                          <a:ln>
                            <a:noFill/>
                          </a:ln>
                          <a:solidFill>
                            <a:schemeClr val="accent3"/>
                          </a:solidFill>
                          <a:effectLst/>
                          <a:latin typeface="+mj-lt"/>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800" b="0" i="0" u="none" strike="noStrike" cap="none" normalizeH="0" baseline="0" dirty="0" smtClean="0">
                          <a:ln>
                            <a:noFill/>
                          </a:ln>
                          <a:solidFill>
                            <a:schemeClr val="accent3"/>
                          </a:solidFill>
                          <a:effectLst/>
                          <a:latin typeface="+mj-lt"/>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162828">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800" b="0" i="0" u="none" strike="noStrike" cap="none" normalizeH="0" baseline="0" dirty="0" smtClean="0">
                          <a:ln>
                            <a:noFill/>
                          </a:ln>
                          <a:solidFill>
                            <a:srgbClr val="646464"/>
                          </a:solidFill>
                          <a:effectLst/>
                          <a:latin typeface="+mj-lt"/>
                        </a:rPr>
                        <a:t>Identity Management</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US" sz="800" b="0" i="0" u="none" strike="noStrike" cap="none" normalizeH="0" baseline="0" dirty="0" smtClean="0">
                          <a:ln>
                            <a:noFill/>
                          </a:ln>
                          <a:solidFill>
                            <a:srgbClr val="646464"/>
                          </a:solidFill>
                          <a:effectLst/>
                          <a:latin typeface="+mj-lt"/>
                        </a:rPr>
                        <a:t>5/9/12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US" sz="800" b="0" i="0" u="none" strike="noStrike" cap="none" normalizeH="0" baseline="0" dirty="0" smtClean="0">
                          <a:ln>
                            <a:noFill/>
                          </a:ln>
                          <a:solidFill>
                            <a:srgbClr val="FF0000"/>
                          </a:solidFill>
                          <a:effectLst/>
                          <a:latin typeface="+mj-lt"/>
                        </a:rPr>
                        <a:t>5/4/12</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800" b="0" i="0" u="none" strike="noStrike" cap="none" normalizeH="0" baseline="0" dirty="0" smtClean="0">
                          <a:ln>
                            <a:noFill/>
                          </a:ln>
                          <a:solidFill>
                            <a:schemeClr val="accent3"/>
                          </a:solidFill>
                          <a:effectLst/>
                          <a:latin typeface="+mj-lt"/>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800" b="0" i="0" u="none" strike="noStrike" cap="none" normalizeH="0" baseline="0" dirty="0" smtClean="0">
                          <a:ln>
                            <a:noFill/>
                          </a:ln>
                          <a:solidFill>
                            <a:schemeClr val="accent3"/>
                          </a:solidFill>
                          <a:effectLst/>
                          <a:latin typeface="+mj-lt"/>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710204590"/>
              </p:ext>
            </p:extLst>
          </p:nvPr>
        </p:nvGraphicFramePr>
        <p:xfrm>
          <a:off x="4674631" y="2636912"/>
          <a:ext cx="4355123" cy="1013246"/>
        </p:xfrm>
        <a:graphic>
          <a:graphicData uri="http://schemas.openxmlformats.org/drawingml/2006/table">
            <a:tbl>
              <a:tblPr/>
              <a:tblGrid>
                <a:gridCol w="2104292"/>
                <a:gridCol w="2250831"/>
              </a:tblGrid>
              <a:tr h="138113">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800" b="1" i="0" u="none" strike="noStrike" cap="none" normalizeH="0" baseline="0" dirty="0" smtClean="0">
                          <a:ln>
                            <a:noFill/>
                          </a:ln>
                          <a:solidFill>
                            <a:schemeClr val="tx1"/>
                          </a:solidFill>
                          <a:effectLst/>
                          <a:latin typeface="+mj-lt"/>
                        </a:rPr>
                        <a:t>F.  KEY RISKS – typically future challenges or external circumstances that may affect the initiative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endParaRPr lang="en-US"/>
                    </a:p>
                  </a:txBody>
                  <a:tcPr/>
                </a:tc>
              </a:tr>
              <a:tr h="138113">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800" b="1" i="0" u="none" strike="noStrike" cap="none" normalizeH="0" baseline="0" dirty="0" smtClean="0">
                          <a:ln>
                            <a:noFill/>
                          </a:ln>
                          <a:solidFill>
                            <a:schemeClr val="bg2"/>
                          </a:solidFill>
                          <a:effectLst/>
                          <a:latin typeface="+mj-lt"/>
                        </a:rPr>
                        <a:t>Risks to be addressed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800" b="1" i="0" u="none" strike="noStrike" cap="none" normalizeH="0" baseline="0" dirty="0" smtClean="0">
                          <a:ln>
                            <a:noFill/>
                          </a:ln>
                          <a:solidFill>
                            <a:schemeClr val="bg2"/>
                          </a:solidFill>
                          <a:effectLst/>
                          <a:latin typeface="+mj-lt"/>
                        </a:rPr>
                        <a:t>Mitigating Action</a:t>
                      </a:r>
                      <a:endParaRPr kumimoji="0" lang="en-US" sz="800" b="0" i="0" u="none" strike="noStrike" cap="none" normalizeH="0" baseline="0" dirty="0" smtClean="0">
                        <a:ln>
                          <a:noFill/>
                        </a:ln>
                        <a:solidFill>
                          <a:schemeClr val="bg2"/>
                        </a:solidFill>
                        <a:effectLst/>
                        <a:latin typeface="+mj-lt"/>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hlink"/>
                    </a:solidFill>
                  </a:tcPr>
                </a:tc>
              </a:tr>
              <a:tr h="19962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800" b="0" i="0" u="none" strike="noStrike" cap="none" normalizeH="0" baseline="0" dirty="0" smtClean="0">
                          <a:ln>
                            <a:noFill/>
                          </a:ln>
                          <a:solidFill>
                            <a:srgbClr val="646464"/>
                          </a:solidFill>
                          <a:effectLst/>
                          <a:latin typeface="+mj-lt"/>
                        </a:rPr>
                        <a:t> Office 365 impacts across program</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800" b="0" i="0" u="none" strike="noStrike" cap="none" normalizeH="0" baseline="0" dirty="0" smtClean="0">
                          <a:ln>
                            <a:noFill/>
                          </a:ln>
                          <a:solidFill>
                            <a:srgbClr val="646464"/>
                          </a:solidFill>
                          <a:effectLst/>
                          <a:latin typeface="+mj-lt"/>
                        </a:rPr>
                        <a:t>Jointly work to execute the appropriate changes to each work stream affected by this agreement.  </a:t>
                      </a:r>
                      <a:endParaRPr lang="en-US" sz="800" dirty="0" smtClean="0">
                        <a:solidFill>
                          <a:schemeClr val="bg2"/>
                        </a:solidFill>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9962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800" b="0" i="0" u="none" strike="noStrike" cap="none" normalizeH="0" baseline="0" dirty="0" smtClean="0">
                        <a:ln>
                          <a:noFill/>
                        </a:ln>
                        <a:solidFill>
                          <a:srgbClr val="646464"/>
                        </a:solidFill>
                        <a:effectLst/>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endParaRPr kumimoji="0" lang="en-US" sz="800" b="0" i="0" u="none" strike="noStrike" cap="none" normalizeH="0" baseline="0" dirty="0" smtClean="0">
                        <a:ln>
                          <a:noFill/>
                        </a:ln>
                        <a:solidFill>
                          <a:srgbClr val="646464"/>
                        </a:solidFill>
                        <a:effectLst/>
                        <a:latin typeface="+mj-lt"/>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3421745810"/>
              </p:ext>
            </p:extLst>
          </p:nvPr>
        </p:nvGraphicFramePr>
        <p:xfrm>
          <a:off x="4674631" y="5517232"/>
          <a:ext cx="4355123" cy="467684"/>
        </p:xfrm>
        <a:graphic>
          <a:graphicData uri="http://schemas.openxmlformats.org/drawingml/2006/table">
            <a:tbl>
              <a:tblPr/>
              <a:tblGrid>
                <a:gridCol w="4355123"/>
              </a:tblGrid>
              <a:tr h="113650">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800" b="1" i="0" u="none" strike="noStrike" cap="none" normalizeH="0" baseline="0" dirty="0" smtClean="0">
                          <a:ln>
                            <a:noFill/>
                          </a:ln>
                          <a:solidFill>
                            <a:schemeClr val="tx1"/>
                          </a:solidFill>
                          <a:effectLst/>
                          <a:latin typeface="+mj-lt"/>
                        </a:rPr>
                        <a:t>H.  GENERAL COMMENTS – must include reasoning for an overall Red or Amber Status</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318398">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800" b="0" i="0" u="none" strike="noStrike" cap="none" normalizeH="0" baseline="0" dirty="0" smtClean="0">
                          <a:ln>
                            <a:noFill/>
                          </a:ln>
                          <a:solidFill>
                            <a:schemeClr val="tx1">
                              <a:lumMod val="50000"/>
                              <a:lumOff val="50000"/>
                            </a:schemeClr>
                          </a:solidFill>
                          <a:effectLst/>
                          <a:latin typeface="+mj-lt"/>
                        </a:rPr>
                        <a:t>EY Senior management has a strong desire to progress quickly but numerous activities are late, postponed, canceled or not started.</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8" name="Group 270"/>
          <p:cNvGraphicFramePr>
            <a:graphicFrameLocks noGrp="1"/>
          </p:cNvGraphicFramePr>
          <p:nvPr/>
        </p:nvGraphicFramePr>
        <p:xfrm>
          <a:off x="1187624" y="6585504"/>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04C3E"/>
                    </a:solidFill>
                  </a:tcPr>
                </a:tc>
              </a:tr>
            </a:tbl>
          </a:graphicData>
        </a:graphic>
      </p:graphicFrame>
      <p:graphicFrame>
        <p:nvGraphicFramePr>
          <p:cNvPr id="19" name="Group 270"/>
          <p:cNvGraphicFramePr>
            <a:graphicFrameLocks noGrp="1"/>
          </p:cNvGraphicFramePr>
          <p:nvPr/>
        </p:nvGraphicFramePr>
        <p:xfrm>
          <a:off x="4019816" y="6585320"/>
          <a:ext cx="483613" cy="88326"/>
        </p:xfrm>
        <a:graphic>
          <a:graphicData uri="http://schemas.openxmlformats.org/drawingml/2006/table">
            <a:tbl>
              <a:tblPr/>
              <a:tblGrid>
                <a:gridCol w="483613"/>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AMBER</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20" name="Group 270"/>
          <p:cNvGraphicFramePr>
            <a:graphicFrameLocks noGrp="1"/>
          </p:cNvGraphicFramePr>
          <p:nvPr/>
        </p:nvGraphicFramePr>
        <p:xfrm>
          <a:off x="6516216" y="6573472"/>
          <a:ext cx="351692" cy="88326"/>
        </p:xfrm>
        <a:graphic>
          <a:graphicData uri="http://schemas.openxmlformats.org/drawingml/2006/table">
            <a:tbl>
              <a:tblPr/>
              <a:tblGrid>
                <a:gridCol w="351692"/>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GREEN</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graphicFrame>
        <p:nvGraphicFramePr>
          <p:cNvPr id="22" name="Group 270"/>
          <p:cNvGraphicFramePr>
            <a:graphicFrameLocks noGrp="1"/>
          </p:cNvGraphicFramePr>
          <p:nvPr/>
        </p:nvGraphicFramePr>
        <p:xfrm>
          <a:off x="70340" y="6581034"/>
          <a:ext cx="613229" cy="88326"/>
        </p:xfrm>
        <a:graphic>
          <a:graphicData uri="http://schemas.openxmlformats.org/drawingml/2006/table">
            <a:tbl>
              <a:tblPr/>
              <a:tblGrid>
                <a:gridCol w="613229"/>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smtClean="0">
                          <a:ln>
                            <a:noFill/>
                          </a:ln>
                          <a:solidFill>
                            <a:srgbClr val="646464"/>
                          </a:solidFill>
                          <a:effectLst/>
                          <a:latin typeface="EYInterstate Light" pitchFamily="2" charset="0"/>
                        </a:rPr>
                        <a:t>COMPLETE</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2" name="Group 27"/>
          <p:cNvGrpSpPr/>
          <p:nvPr/>
        </p:nvGrpSpPr>
        <p:grpSpPr>
          <a:xfrm>
            <a:off x="0" y="6390185"/>
            <a:ext cx="8964489" cy="540206"/>
            <a:chOff x="0" y="6505545"/>
            <a:chExt cx="9711531" cy="540206"/>
          </a:xfrm>
        </p:grpSpPr>
        <p:sp>
          <p:nvSpPr>
            <p:cNvPr id="21" name="TextBox 20"/>
            <p:cNvSpPr txBox="1"/>
            <p:nvPr/>
          </p:nvSpPr>
          <p:spPr bwMode="gray">
            <a:xfrm>
              <a:off x="1639689" y="6576570"/>
              <a:ext cx="2611234" cy="400110"/>
            </a:xfrm>
            <a:prstGeom prst="rect">
              <a:avLst/>
            </a:prstGeom>
          </p:spPr>
          <p:txBody>
            <a:bodyPr wrap="square" rtlCol="0">
              <a:spAutoFit/>
            </a:bodyPr>
            <a:lstStyle/>
            <a:p>
              <a:pPr defTabSz="955675" eaLnBrk="0" hangingPunct="0">
                <a:spcAft>
                  <a:spcPts val="0"/>
                </a:spcAft>
              </a:pPr>
              <a:endParaRPr lang="en-GB" sz="500" b="1" dirty="0" smtClean="0">
                <a:solidFill>
                  <a:srgbClr val="646464"/>
                </a:solidFill>
                <a:latin typeface="EYInterstate Light" pitchFamily="2" charset="0"/>
              </a:endParaRPr>
            </a:p>
            <a:p>
              <a:pPr defTabSz="955675" eaLnBrk="0" hangingPunct="0">
                <a:spcAft>
                  <a:spcPts val="0"/>
                </a:spcAft>
              </a:pPr>
              <a:r>
                <a:rPr lang="en-GB" sz="500" b="1" dirty="0" smtClean="0">
                  <a:solidFill>
                    <a:srgbClr val="646464"/>
                  </a:solidFill>
                  <a:latin typeface="EYInterstate Light" pitchFamily="2" charset="0"/>
                </a:rPr>
                <a:t>Project is not on track and has significant challenges and/or issues that materially impact the overall successful achievement of the expected outcomes. 	</a:t>
              </a:r>
            </a:p>
          </p:txBody>
        </p:sp>
        <p:sp>
          <p:nvSpPr>
            <p:cNvPr id="23" name="TextBox 22"/>
            <p:cNvSpPr txBox="1"/>
            <p:nvPr/>
          </p:nvSpPr>
          <p:spPr bwMode="gray">
            <a:xfrm>
              <a:off x="674554" y="6657945"/>
              <a:ext cx="663724" cy="169277"/>
            </a:xfrm>
            <a:prstGeom prst="rect">
              <a:avLst/>
            </a:prstGeom>
          </p:spPr>
          <p:txBody>
            <a:bodyPr wrap="none" rtlCol="0">
              <a:spAutoFit/>
            </a:bodyPr>
            <a:lstStyle/>
            <a:p>
              <a:pPr defTabSz="955675" eaLnBrk="0" hangingPunct="0">
                <a:spcAft>
                  <a:spcPts val="0"/>
                </a:spcAft>
              </a:pPr>
              <a:r>
                <a:rPr lang="en-US" sz="500" b="1" dirty="0" smtClean="0">
                  <a:solidFill>
                    <a:srgbClr val="646464"/>
                  </a:solidFill>
                  <a:latin typeface="EYInterstate Light" pitchFamily="2" charset="0"/>
                </a:rPr>
                <a:t>Fully achieved</a:t>
              </a:r>
              <a:endParaRPr lang="en-GB" sz="500" b="1" kern="0" dirty="0" smtClean="0">
                <a:solidFill>
                  <a:srgbClr val="646464"/>
                </a:solidFill>
                <a:latin typeface="EYInterstate"/>
              </a:endParaRPr>
            </a:p>
          </p:txBody>
        </p:sp>
        <p:sp>
          <p:nvSpPr>
            <p:cNvPr id="25" name="TextBox 24"/>
            <p:cNvSpPr txBox="1"/>
            <p:nvPr/>
          </p:nvSpPr>
          <p:spPr bwMode="gray">
            <a:xfrm>
              <a:off x="0" y="6505545"/>
              <a:ext cx="4881893" cy="169277"/>
            </a:xfrm>
            <a:prstGeom prst="rect">
              <a:avLst/>
            </a:prstGeom>
          </p:spPr>
          <p:txBody>
            <a:bodyPr wrap="none" rtlCol="0">
              <a:spAutoFit/>
            </a:bodyPr>
            <a:lstStyle/>
            <a:p>
              <a:pPr defTabSz="955675" eaLnBrk="0" hangingPunct="0">
                <a:spcAft>
                  <a:spcPts val="0"/>
                </a:spcAft>
              </a:pPr>
              <a:r>
                <a:rPr lang="en-US" sz="500" dirty="0" smtClean="0">
                  <a:solidFill>
                    <a:srgbClr val="646464"/>
                  </a:solidFill>
                  <a:latin typeface="EYInterstate Light" pitchFamily="2" charset="0"/>
                </a:rPr>
                <a:t>The overall initiative status is governed by the RAG Status Guidance, summarized below. This guidance also applies to the individual Milestones Stats. </a:t>
              </a:r>
              <a:endParaRPr lang="en-GB" sz="500" kern="0" dirty="0" smtClean="0">
                <a:solidFill>
                  <a:srgbClr val="646464"/>
                </a:solidFill>
                <a:latin typeface="EYInterstate"/>
              </a:endParaRPr>
            </a:p>
          </p:txBody>
        </p:sp>
        <p:sp>
          <p:nvSpPr>
            <p:cNvPr id="26" name="TextBox 25"/>
            <p:cNvSpPr txBox="1"/>
            <p:nvPr/>
          </p:nvSpPr>
          <p:spPr bwMode="gray">
            <a:xfrm>
              <a:off x="7423210" y="6564722"/>
              <a:ext cx="2288321" cy="400110"/>
            </a:xfrm>
            <a:prstGeom prst="rect">
              <a:avLst/>
            </a:prstGeom>
          </p:spPr>
          <p:txBody>
            <a:bodyPr wrap="square" rtlCol="0">
              <a:spAutoFit/>
            </a:bodyPr>
            <a:lstStyle/>
            <a:p>
              <a:pPr defTabSz="955675" eaLnBrk="0" hangingPunct="0">
                <a:spcAft>
                  <a:spcPts val="0"/>
                </a:spcAft>
              </a:pPr>
              <a:endParaRPr lang="en-GB" sz="500" b="1" dirty="0" smtClean="0">
                <a:solidFill>
                  <a:srgbClr val="646464"/>
                </a:solidFill>
                <a:latin typeface="EYInterstate Light" pitchFamily="2" charset="0"/>
              </a:endParaRPr>
            </a:p>
            <a:p>
              <a:pPr defTabSz="955675" eaLnBrk="0" hangingPunct="0">
                <a:spcAft>
                  <a:spcPts val="0"/>
                </a:spcAft>
              </a:pPr>
              <a:r>
                <a:rPr lang="en-GB" sz="500" b="1" dirty="0" smtClean="0">
                  <a:solidFill>
                    <a:srgbClr val="646464"/>
                  </a:solidFill>
                  <a:latin typeface="EYInterstate Light" pitchFamily="2" charset="0"/>
                </a:rPr>
                <a:t>Project is on track and has no significant challenges and/or issues that may materially impact the overall successful achievement of the expected outcomes, now or in the future. 	</a:t>
              </a:r>
            </a:p>
          </p:txBody>
        </p:sp>
        <p:sp>
          <p:nvSpPr>
            <p:cNvPr id="27" name="TextBox 26"/>
            <p:cNvSpPr txBox="1"/>
            <p:nvPr/>
          </p:nvSpPr>
          <p:spPr bwMode="gray">
            <a:xfrm>
              <a:off x="4849123" y="6568697"/>
              <a:ext cx="1976087" cy="477054"/>
            </a:xfrm>
            <a:prstGeom prst="rect">
              <a:avLst/>
            </a:prstGeom>
          </p:spPr>
          <p:txBody>
            <a:bodyPr wrap="square" rtlCol="0">
              <a:spAutoFit/>
            </a:bodyPr>
            <a:lstStyle/>
            <a:p>
              <a:pPr defTabSz="955675" eaLnBrk="0" hangingPunct="0">
                <a:spcAft>
                  <a:spcPts val="0"/>
                </a:spcAft>
              </a:pPr>
              <a:endParaRPr lang="en-GB" sz="500" b="1" dirty="0" smtClean="0">
                <a:solidFill>
                  <a:srgbClr val="646464"/>
                </a:solidFill>
                <a:latin typeface="EYInterstate Light" pitchFamily="2" charset="0"/>
              </a:endParaRPr>
            </a:p>
            <a:p>
              <a:pPr defTabSz="955675" eaLnBrk="0" hangingPunct="0">
                <a:spcAft>
                  <a:spcPts val="0"/>
                </a:spcAft>
              </a:pPr>
              <a:r>
                <a:rPr lang="en-GB" sz="500" b="1" dirty="0" smtClean="0">
                  <a:solidFill>
                    <a:srgbClr val="646464"/>
                  </a:solidFill>
                  <a:latin typeface="EYInterstate Light" pitchFamily="2" charset="0"/>
                </a:rPr>
                <a:t>Project is on track but has some significant challenges and/or issues that may materially impact the overall successful achievement of the expected outcomes. 	</a:t>
              </a:r>
            </a:p>
          </p:txBody>
        </p:sp>
      </p:grpSp>
      <p:sp>
        <p:nvSpPr>
          <p:cNvPr id="30" name="Freeform 94"/>
          <p:cNvSpPr>
            <a:spLocks/>
          </p:cNvSpPr>
          <p:nvPr/>
        </p:nvSpPr>
        <p:spPr bwMode="gray">
          <a:xfrm>
            <a:off x="-2459" y="-3265"/>
            <a:ext cx="7025054"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a:endParaRPr lang="en-GB" sz="2000" dirty="0">
              <a:solidFill>
                <a:srgbClr val="000000"/>
              </a:solidFill>
              <a:latin typeface="Times New Roman" pitchFamily="18" charset="0"/>
            </a:endParaRPr>
          </a:p>
        </p:txBody>
      </p:sp>
      <p:sp>
        <p:nvSpPr>
          <p:cNvPr id="14" name="Rectangle 183"/>
          <p:cNvSpPr txBox="1">
            <a:spLocks noChangeArrowheads="1"/>
          </p:cNvSpPr>
          <p:nvPr/>
        </p:nvSpPr>
        <p:spPr bwMode="gray">
          <a:xfrm>
            <a:off x="2" y="0"/>
            <a:ext cx="7729904" cy="338554"/>
          </a:xfrm>
          <a:prstGeom prst="rect">
            <a:avLst/>
          </a:prstGeom>
        </p:spPr>
        <p:txBody>
          <a:bodyPr>
            <a:spAutoFit/>
          </a:bodyPr>
          <a:lstStyle/>
          <a:p>
            <a:pPr defTabSz="955675" eaLnBrk="0" hangingPunct="0">
              <a:spcAft>
                <a:spcPts val="0"/>
              </a:spcAft>
              <a:defRPr/>
            </a:pPr>
            <a:r>
              <a:rPr lang="en-US" sz="1600" b="1" kern="0" dirty="0" smtClean="0">
                <a:solidFill>
                  <a:srgbClr val="646464"/>
                </a:solidFill>
                <a:latin typeface="EYInterstate"/>
              </a:rPr>
              <a:t>EY Messaging &amp; Collaboration Program –March  PMO</a:t>
            </a:r>
          </a:p>
        </p:txBody>
      </p:sp>
      <p:graphicFrame>
        <p:nvGraphicFramePr>
          <p:cNvPr id="24" name="Group 270"/>
          <p:cNvGraphicFramePr>
            <a:graphicFrameLocks noGrp="1"/>
          </p:cNvGraphicFramePr>
          <p:nvPr>
            <p:extLst>
              <p:ext uri="{D42A27DB-BD31-4B8C-83A1-F6EECF244321}">
                <p14:modId xmlns:p14="http://schemas.microsoft.com/office/powerpoint/2010/main" val="3081450159"/>
              </p:ext>
            </p:extLst>
          </p:nvPr>
        </p:nvGraphicFramePr>
        <p:xfrm>
          <a:off x="7570453" y="69061"/>
          <a:ext cx="1503209" cy="535063"/>
        </p:xfrm>
        <a:graphic>
          <a:graphicData uri="http://schemas.openxmlformats.org/drawingml/2006/table">
            <a:tbl>
              <a:tblPr/>
              <a:tblGrid>
                <a:gridCol w="751604"/>
                <a:gridCol w="751605"/>
              </a:tblGrid>
              <a:tr h="152406">
                <a:tc gridSpan="2">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OVERALL INITIATIVE STATUS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8884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Last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smtClean="0">
                          <a:ln>
                            <a:noFill/>
                          </a:ln>
                          <a:solidFill>
                            <a:schemeClr val="bg2"/>
                          </a:solidFill>
                          <a:effectLst/>
                          <a:latin typeface="EYInterstate Light" pitchFamily="2" charset="0"/>
                        </a:rPr>
                        <a:t>This Period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93813">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chemeClr val="bg1"/>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chemeClr val="bg1"/>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bl>
          </a:graphicData>
        </a:graphic>
      </p:graphicFrame>
    </p:spTree>
    <p:extLst>
      <p:ext uri="{BB962C8B-B14F-4D97-AF65-F5344CB8AC3E}">
        <p14:creationId xmlns:p14="http://schemas.microsoft.com/office/powerpoint/2010/main" val="1310579198"/>
      </p:ext>
    </p:extLst>
  </p:cSld>
  <p:clrMapOvr>
    <a:masterClrMapping/>
  </p:clrMapOvr>
  <p:timing>
    <p:tnLst>
      <p:par>
        <p:cTn id="1" dur="indefinite" restart="never" nodeType="tmRoot"/>
      </p:par>
    </p:tnLst>
  </p:timing>
</p:sld>
</file>

<file path=ppt/theme/theme1.xml><?xml version="1.0" encoding="utf-8"?>
<a:theme xmlns:a="http://schemas.openxmlformats.org/drawingml/2006/main" name="1_Bullet text">
  <a:themeElements>
    <a:clrScheme name="1_Bullet text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fontScheme name="1_Bullet tex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1_Bullet text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Grey fill divider">
  <a:themeElements>
    <a:clrScheme name="Grey fill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fontScheme name="Grey fill divider">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Grey fill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Line 1 divider">
  <a:themeElements>
    <a:clrScheme name="Line 1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fontScheme name="Line 1 divider">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Line 1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Line 2 divider">
  <a:themeElements>
    <a:clrScheme name="Line 2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fontScheme name="Line 2 divider">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Line 2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Line 3 divider">
  <a:themeElements>
    <a:clrScheme name="Line 3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fontScheme name="Line 3 divider">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Line 3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Yellow fill divider">
  <a:themeElements>
    <a:clrScheme name="Yellow fill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fontScheme name="Yellow fill divider">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Yellow fill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Office Theme">
  <a:themeElements>
    <a:clrScheme name="">
      <a:dk1>
        <a:srgbClr val="000000"/>
      </a:dk1>
      <a:lt1>
        <a:srgbClr val="FFFFFF"/>
      </a:lt1>
      <a:dk2>
        <a:srgbClr val="000000"/>
      </a:dk2>
      <a:lt2>
        <a:srgbClr val="808080"/>
      </a:lt2>
      <a:accent1>
        <a:srgbClr val="808080"/>
      </a:accent1>
      <a:accent2>
        <a:srgbClr val="FFD200"/>
      </a:accent2>
      <a:accent3>
        <a:srgbClr val="FFFFFF"/>
      </a:accent3>
      <a:accent4>
        <a:srgbClr val="000000"/>
      </a:accent4>
      <a:accent5>
        <a:srgbClr val="C0C0C0"/>
      </a:accent5>
      <a:accent6>
        <a:srgbClr val="E7BE00"/>
      </a:accent6>
      <a:hlink>
        <a:srgbClr val="808080"/>
      </a:hlink>
      <a:folHlink>
        <a:srgbClr val="C0C0C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IconOverlay xmlns="http://schemas.microsoft.com/sharepoint/v4" xsi:nil="true"/>
    <_dlc_DocId xmlns="0cbe1240-e4fe-486d-8edc-2712abb96eb4">MSIBM-2-6886</_dlc_DocId>
    <_dlc_DocIdUrl xmlns="0cbe1240-e4fe-486d-8edc-2712abb96eb4">
      <Url>http://sp.ey.net/msibm/_layouts/DocIdRedir.aspx?ID=MSIBM-2-6886</Url>
      <Description>MSIBM-2-6886</Description>
    </_dlc_DocIdUrl>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957C8AC9CBE1E41A2102A222EC3580A" ma:contentTypeVersion="3" ma:contentTypeDescription="Create a new document." ma:contentTypeScope="" ma:versionID="abc6be5a7620dcb7711b0f96b151bb65">
  <xsd:schema xmlns:xsd="http://www.w3.org/2001/XMLSchema" xmlns:xs="http://www.w3.org/2001/XMLSchema" xmlns:p="http://schemas.microsoft.com/office/2006/metadata/properties" xmlns:ns2="http://schemas.microsoft.com/sharepoint/v4" xmlns:ns3="0cbe1240-e4fe-486d-8edc-2712abb96eb4" targetNamespace="http://schemas.microsoft.com/office/2006/metadata/properties" ma:root="true" ma:fieldsID="6de1d13258d2b99d584b28ddcc0f79a5" ns2:_="" ns3:_="">
    <xsd:import namespace="http://schemas.microsoft.com/sharepoint/v4"/>
    <xsd:import namespace="0cbe1240-e4fe-486d-8edc-2712abb96eb4"/>
    <xsd:element name="properties">
      <xsd:complexType>
        <xsd:sequence>
          <xsd:element name="documentManagement">
            <xsd:complexType>
              <xsd:all>
                <xsd:element ref="ns2:IconOverlay" minOccurs="0"/>
                <xsd:element ref="ns3:_dlc_DocId" minOccurs="0"/>
                <xsd:element ref="ns3:_dlc_DocIdUrl" minOccurs="0"/>
                <xsd:element ref="ns3: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8" nillable="true" ma:displayName="IconOverlay" ma:hidden="true" ma:internalName="IconOverlay">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cbe1240-e4fe-486d-8edc-2712abb96eb4" elementFormDefault="qualified">
    <xsd:import namespace="http://schemas.microsoft.com/office/2006/documentManagement/types"/>
    <xsd:import namespace="http://schemas.microsoft.com/office/infopath/2007/PartnerControls"/>
    <xsd:element name="_dlc_DocId" ma:index="9" nillable="true" ma:displayName="Document ID Value" ma:description="The value of the document ID assigned to this item." ma:internalName="_dlc_DocId" ma:readOnly="true">
      <xsd:simpleType>
        <xsd:restriction base="dms:Text"/>
      </xsd:simpleType>
    </xsd:element>
    <xsd:element name="_dlc_DocIdUrl" ma:index="10"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1"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2255E905-F312-48EC-8CD7-BA2AFBA2E81A}">
  <ds:schemaRefs>
    <ds:schemaRef ds:uri="http://schemas.microsoft.com/sharepoint/v3/contenttype/forms"/>
  </ds:schemaRefs>
</ds:datastoreItem>
</file>

<file path=customXml/itemProps2.xml><?xml version="1.0" encoding="utf-8"?>
<ds:datastoreItem xmlns:ds="http://schemas.openxmlformats.org/officeDocument/2006/customXml" ds:itemID="{FAA29CDC-F850-4B23-A92A-C0DE79151CEB}">
  <ds:schemaRefs>
    <ds:schemaRef ds:uri="http://purl.org/dc/elements/1.1/"/>
    <ds:schemaRef ds:uri="http://schemas.microsoft.com/office/2006/metadata/properties"/>
    <ds:schemaRef ds:uri="http://schemas.microsoft.com/sharepoint/v4"/>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0cbe1240-e4fe-486d-8edc-2712abb96eb4"/>
    <ds:schemaRef ds:uri="http://www.w3.org/XML/1998/namespace"/>
    <ds:schemaRef ds:uri="http://purl.org/dc/dcmitype/"/>
  </ds:schemaRefs>
</ds:datastoreItem>
</file>

<file path=customXml/itemProps3.xml><?xml version="1.0" encoding="utf-8"?>
<ds:datastoreItem xmlns:ds="http://schemas.openxmlformats.org/officeDocument/2006/customXml" ds:itemID="{52E9966B-742D-4731-B983-6ACC307271E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4"/>
    <ds:schemaRef ds:uri="0cbe1240-e4fe-486d-8edc-2712abb96eb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1F188C4F-5FD9-4056-B158-71E8F45D3348}">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otalTime>28177</TotalTime>
  <Words>4100</Words>
  <Application>Microsoft Office PowerPoint</Application>
  <PresentationFormat>On-screen Show (4:3)</PresentationFormat>
  <Paragraphs>674</Paragraphs>
  <Slides>9</Slides>
  <Notes>5</Notes>
  <HiddenSlides>0</HiddenSlides>
  <MMClips>0</MMClips>
  <ScaleCrop>false</ScaleCrop>
  <HeadingPairs>
    <vt:vector size="6" baseType="variant">
      <vt:variant>
        <vt:lpstr>Fonts Used</vt:lpstr>
      </vt:variant>
      <vt:variant>
        <vt:i4>6</vt:i4>
      </vt:variant>
      <vt:variant>
        <vt:lpstr>Theme</vt:lpstr>
      </vt:variant>
      <vt:variant>
        <vt:i4>6</vt:i4>
      </vt:variant>
      <vt:variant>
        <vt:lpstr>Slide Titles</vt:lpstr>
      </vt:variant>
      <vt:variant>
        <vt:i4>9</vt:i4>
      </vt:variant>
    </vt:vector>
  </HeadingPairs>
  <TitlesOfParts>
    <vt:vector size="21" baseType="lpstr">
      <vt:lpstr>Times New Roman</vt:lpstr>
      <vt:lpstr>Arial</vt:lpstr>
      <vt:lpstr>Wingdings</vt:lpstr>
      <vt:lpstr>EYInterstate</vt:lpstr>
      <vt:lpstr>Courier New</vt:lpstr>
      <vt:lpstr>EYInterstate Light</vt:lpstr>
      <vt:lpstr>1_Bullet text</vt:lpstr>
      <vt:lpstr>Grey fill divider</vt:lpstr>
      <vt:lpstr>Line 1 divider</vt:lpstr>
      <vt:lpstr>Line 2 divider</vt:lpstr>
      <vt:lpstr>Line 3 divider</vt:lpstr>
      <vt:lpstr>Yellow fill divider</vt:lpstr>
      <vt:lpstr>IT Services ABCD Program IT Service Delivery  Weekly report</vt:lpstr>
      <vt:lpstr>PowerPoint Presentation</vt:lpstr>
      <vt:lpstr>Appendix A – ABCD Reports.</vt:lpstr>
      <vt:lpstr>PowerPoint Presentation</vt:lpstr>
      <vt:lpstr>PowerPoint Presentation</vt:lpstr>
      <vt:lpstr>PowerPoint Presentation</vt:lpstr>
      <vt:lpstr>PowerPoint Presentation</vt:lpstr>
      <vt:lpstr>AB&amp;C  TF Program Update by Workstream</vt:lpstr>
      <vt:lpstr>PowerPoint Presentation</vt:lpstr>
    </vt:vector>
  </TitlesOfParts>
  <Company>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12 March Final MnC Report</dc:title>
  <dc:creator>Anon</dc:creator>
  <cp:lastModifiedBy>Wale Agbaje</cp:lastModifiedBy>
  <cp:revision>2394</cp:revision>
  <dcterms:created xsi:type="dcterms:W3CDTF">2007-11-06T15:04:41Z</dcterms:created>
  <dcterms:modified xsi:type="dcterms:W3CDTF">2016-11-18T20:29:02Z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0x010100D957C8AC9CBE1E41A2102A222EC3580A</vt:lpwstr>
  </property>
  <property fmtid="{D5CDD505-2E9C-101B-9397-08002B2CF9AE}" pid="3" name="_dlc_DocIdItemGuid">
    <vt:lpwstr>e1e0c1b5-f6bd-4bff-ac6a-2043230f7543</vt:lpwstr>
  </property>
</Properties>
</file>