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5"/>
    <p:sldMasterId id="2147483655" r:id="rId6"/>
    <p:sldMasterId id="2147483656" r:id="rId7"/>
    <p:sldMasterId id="2147483657" r:id="rId8"/>
    <p:sldMasterId id="2147483658" r:id="rId9"/>
    <p:sldMasterId id="2147483659" r:id="rId10"/>
  </p:sldMasterIdLst>
  <p:notesMasterIdLst>
    <p:notesMasterId r:id="rId20"/>
  </p:notesMasterIdLst>
  <p:handoutMasterIdLst>
    <p:handoutMasterId r:id="rId21"/>
  </p:handoutMasterIdLst>
  <p:sldIdLst>
    <p:sldId id="377" r:id="rId11"/>
    <p:sldId id="494" r:id="rId12"/>
    <p:sldId id="515" r:id="rId13"/>
    <p:sldId id="786" r:id="rId14"/>
    <p:sldId id="784" r:id="rId15"/>
    <p:sldId id="794" r:id="rId16"/>
    <p:sldId id="782" r:id="rId17"/>
    <p:sldId id="764" r:id="rId18"/>
    <p:sldId id="805" r:id="rId19"/>
  </p:sldIdLst>
  <p:sldSz cx="9144000" cy="6858000" type="screen4x3"/>
  <p:notesSz cx="6797675" cy="9928225"/>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973E"/>
    <a:srgbClr val="000000"/>
    <a:srgbClr val="F04C3E"/>
    <a:srgbClr val="FAE600"/>
    <a:srgbClr val="FFFFFF"/>
    <a:srgbClr val="B4B4B4"/>
    <a:srgbClr val="808080"/>
    <a:srgbClr val="F1F1F1"/>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93" autoAdjust="0"/>
    <p:restoredTop sz="84979" autoAdjust="0"/>
  </p:normalViewPr>
  <p:slideViewPr>
    <p:cSldViewPr snapToObjects="1">
      <p:cViewPr varScale="1">
        <p:scale>
          <a:sx n="112" d="100"/>
          <a:sy n="112" d="100"/>
        </p:scale>
        <p:origin x="135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2442" y="-654"/>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9.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5BBE6DE4-E82D-4F90-96E4-E232F78FBEAF}" type="datetime1">
              <a:rPr lang="en-US" sz="1200">
                <a:cs typeface="Arial" charset="0"/>
              </a:rPr>
              <a:pPr algn="l" defTabSz="931619">
                <a:defRPr/>
              </a:pPr>
              <a:t>11/18/2016</a:t>
            </a:fld>
            <a:endParaRPr lang="en-US" sz="1200" dirty="0">
              <a:cs typeface="Arial" charset="0"/>
            </a:endParaRPr>
          </a:p>
        </p:txBody>
      </p:sp>
      <p:sp>
        <p:nvSpPr>
          <p:cNvPr id="69639" name="Rectangle 7"/>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69640" name="Rectangle 8"/>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2A07B3BF-2A67-4B01-AEB8-9C5108F06278}" type="slidenum">
              <a:rPr lang="en-US" sz="1200">
                <a:cs typeface="Arial" charset="0"/>
              </a:rPr>
              <a:pPr algn="l" defTabSz="93161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240338" y="9445627"/>
            <a:ext cx="1423987" cy="352425"/>
          </a:xfrm>
          <a:prstGeom prst="rect">
            <a:avLst/>
          </a:prstGeom>
          <a:noFill/>
          <a:ln w="9525">
            <a:noFill/>
            <a:miter lim="800000"/>
            <a:headEnd/>
            <a:tailEnd/>
          </a:ln>
        </p:spPr>
      </p:pic>
    </p:spTree>
    <p:extLst>
      <p:ext uri="{BB962C8B-B14F-4D97-AF65-F5344CB8AC3E}">
        <p14:creationId xmlns:p14="http://schemas.microsoft.com/office/powerpoint/2010/main" val="19617499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77863" y="4716465"/>
            <a:ext cx="5441950" cy="4467225"/>
          </a:xfrm>
          <a:prstGeom prst="rect">
            <a:avLst/>
          </a:prstGeom>
          <a:noFill/>
          <a:ln w="9525">
            <a:noFill/>
            <a:miter lim="800000"/>
            <a:headEnd/>
            <a:tailEnd/>
          </a:ln>
          <a:effectLst/>
        </p:spPr>
        <p:txBody>
          <a:bodyPr vert="horz" wrap="square" lIns="95975" tIns="47988" rIns="95975" bIns="479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89A86910-E513-4C4B-949B-84323FA223C3}" type="datetime1">
              <a:rPr lang="en-US" sz="1200">
                <a:cs typeface="Arial" charset="0"/>
              </a:rPr>
              <a:pPr algn="l" defTabSz="931619">
                <a:defRPr/>
              </a:pPr>
              <a:t>11/18/2016</a:t>
            </a:fld>
            <a:endParaRPr lang="en-US" sz="1200" dirty="0">
              <a:cs typeface="Arial" charset="0"/>
            </a:endParaRPr>
          </a:p>
        </p:txBody>
      </p:sp>
      <p:sp>
        <p:nvSpPr>
          <p:cNvPr id="8201" name="Rectangle 9"/>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8202" name="Rectangle 10"/>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90222F15-384C-4F8B-A461-087D94ECCB26}" type="slidenum">
              <a:rPr lang="en-US" sz="1200">
                <a:cs typeface="Arial" charset="0"/>
              </a:rPr>
              <a:pPr algn="l" defTabSz="93161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240338" y="9445627"/>
            <a:ext cx="1423987" cy="352425"/>
          </a:xfrm>
          <a:prstGeom prst="rect">
            <a:avLst/>
          </a:prstGeom>
          <a:noFill/>
          <a:ln w="9525">
            <a:noFill/>
            <a:miter lim="800000"/>
            <a:headEnd/>
            <a:tailEnd/>
          </a:ln>
        </p:spPr>
      </p:pic>
    </p:spTree>
    <p:extLst>
      <p:ext uri="{BB962C8B-B14F-4D97-AF65-F5344CB8AC3E}">
        <p14:creationId xmlns:p14="http://schemas.microsoft.com/office/powerpoint/2010/main" val="12294636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Rot="1" noChangeAspect="1" noChangeArrowheads="1" noTextEdit="1"/>
          </p:cNvSpPr>
          <p:nvPr>
            <p:ph type="sldImg"/>
          </p:nvPr>
        </p:nvSpPr>
        <p:spPr>
          <a:ln/>
        </p:spPr>
      </p:sp>
      <p:sp>
        <p:nvSpPr>
          <p:cNvPr id="39939" name="Rectangle 7"/>
          <p:cNvSpPr>
            <a:spLocks noGrp="1" noChangeArrowheads="1"/>
          </p:cNvSpPr>
          <p:nvPr>
            <p:ph type="body" idx="1"/>
          </p:nvPr>
        </p:nvSpPr>
        <p:spPr>
          <a:noFill/>
          <a:ln/>
        </p:spPr>
        <p:txBody>
          <a:bodyPr/>
          <a:lstStyle/>
          <a:p>
            <a:pPr eaLnBrk="1" hangingPunct="1"/>
            <a:endParaRPr lang="de-DE" smtClean="0"/>
          </a:p>
        </p:txBody>
      </p:sp>
    </p:spTree>
    <p:extLst>
      <p:ext uri="{BB962C8B-B14F-4D97-AF65-F5344CB8AC3E}">
        <p14:creationId xmlns:p14="http://schemas.microsoft.com/office/powerpoint/2010/main" val="270276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smtClean="0"/>
              <a:t>Cost</a:t>
            </a:r>
          </a:p>
          <a:p>
            <a:pPr defTabSz="881885">
              <a:defRPr/>
            </a:pPr>
            <a:r>
              <a:rPr lang="en-GB" dirty="0" smtClean="0"/>
              <a:t>GREEN - </a:t>
            </a:r>
            <a:r>
              <a:rPr lang="en-US" dirty="0" smtClean="0"/>
              <a:t>Estimate at Completion (EAC) = + 0 - 5% of approved spend (cost baseline + approved change requests)</a:t>
            </a:r>
            <a:endParaRPr lang="en-GB" dirty="0" smtClean="0"/>
          </a:p>
          <a:p>
            <a:pPr defTabSz="881885">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extLst>
      <p:ext uri="{BB962C8B-B14F-4D97-AF65-F5344CB8AC3E}">
        <p14:creationId xmlns:p14="http://schemas.microsoft.com/office/powerpoint/2010/main" val="3043609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4</a:t>
            </a:fld>
            <a:endParaRPr lang="en-GB" dirty="0"/>
          </a:p>
        </p:txBody>
      </p:sp>
    </p:spTree>
    <p:extLst>
      <p:ext uri="{BB962C8B-B14F-4D97-AF65-F5344CB8AC3E}">
        <p14:creationId xmlns:p14="http://schemas.microsoft.com/office/powerpoint/2010/main" val="3737266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5</a:t>
            </a:fld>
            <a:endParaRPr lang="en-GB" dirty="0"/>
          </a:p>
        </p:txBody>
      </p:sp>
    </p:spTree>
    <p:extLst>
      <p:ext uri="{BB962C8B-B14F-4D97-AF65-F5344CB8AC3E}">
        <p14:creationId xmlns:p14="http://schemas.microsoft.com/office/powerpoint/2010/main" val="2671064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8003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2"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0_Title Only">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7_Title Only">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8_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4.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1.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6.jpe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5.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18"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18"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24" r:id="rId12"/>
    <p:sldLayoutId id="2147485825" r:id="rId13"/>
    <p:sldLayoutId id="2147485826" r:id="rId14"/>
    <p:sldLayoutId id="2147485882" r:id="rId15"/>
    <p:sldLayoutId id="2147485883" r:id="rId16"/>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ctrTitle"/>
          </p:nvPr>
        </p:nvSpPr>
        <p:spPr>
          <a:xfrm>
            <a:off x="3062288" y="3429001"/>
            <a:ext cx="5541962" cy="1066800"/>
          </a:xfrm>
        </p:spPr>
        <p:txBody>
          <a:bodyPr/>
          <a:lstStyle/>
          <a:p>
            <a:pPr eaLnBrk="1" hangingPunct="1"/>
            <a:r>
              <a:rPr lang="en-US" sz="2400" b="0" dirty="0" smtClean="0">
                <a:latin typeface="+mn-lt"/>
              </a:rPr>
              <a:t>IT Services</a:t>
            </a:r>
            <a:br>
              <a:rPr lang="en-US" sz="2400" b="0" dirty="0" smtClean="0">
                <a:latin typeface="+mn-lt"/>
              </a:rPr>
            </a:br>
            <a:r>
              <a:rPr lang="en-US" sz="2400" b="0" dirty="0" smtClean="0">
                <a:latin typeface="+mn-lt"/>
              </a:rPr>
              <a:t>ABCD Program IT Service Delivery </a:t>
            </a:r>
            <a:br>
              <a:rPr lang="en-US" sz="2400" b="0" dirty="0" smtClean="0">
                <a:latin typeface="+mn-lt"/>
              </a:rPr>
            </a:br>
            <a:r>
              <a:rPr lang="en-US" sz="2400" b="0" dirty="0" smtClean="0">
                <a:latin typeface="+mn-lt"/>
              </a:rPr>
              <a:t>Weekly report</a:t>
            </a:r>
            <a:endParaRPr lang="en-US" sz="2400" b="0" dirty="0">
              <a:latin typeface="+mn-lt"/>
            </a:endParaRPr>
          </a:p>
        </p:txBody>
      </p:sp>
      <p:sp>
        <p:nvSpPr>
          <p:cNvPr id="8195" name="Rectangle 6"/>
          <p:cNvSpPr>
            <a:spLocks noGrp="1" noChangeArrowheads="1"/>
          </p:cNvSpPr>
          <p:nvPr>
            <p:ph type="subTitle" idx="1"/>
          </p:nvPr>
        </p:nvSpPr>
        <p:spPr>
          <a:xfrm>
            <a:off x="3062288" y="4953000"/>
            <a:ext cx="5541962" cy="1019175"/>
          </a:xfrm>
        </p:spPr>
        <p:txBody>
          <a:bodyPr/>
          <a:lstStyle/>
          <a:p>
            <a:pPr eaLnBrk="1" hangingPunct="1"/>
            <a:r>
              <a:rPr lang="en-GB" sz="1600" dirty="0" smtClean="0">
                <a:latin typeface="EYInterstate" pitchFamily="2" charset="0"/>
              </a:rPr>
              <a:t>19 March 2012</a:t>
            </a:r>
            <a:endParaRPr lang="en-GB" sz="1600" dirty="0">
              <a:latin typeface="EYInterstate" pitchFamily="2" charset="0"/>
            </a:endParaRPr>
          </a:p>
        </p:txBody>
      </p:sp>
    </p:spTree>
  </p:cSld>
  <p:clrMapOvr>
    <a:masterClrMapping/>
  </p:clrMapOvr>
  <p:transition advTm="115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02225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Courier New" panose="02070309020205020404" pitchFamily="49" charset="0"/>
                <a:cs typeface="Courier New" panose="02070309020205020404" pitchFamily="49" charset="0"/>
              </a:rPr>
              <a:t>2. Overall assessment of Program health</a:t>
            </a:r>
            <a:endParaRPr lang="en-US" sz="1600" b="1" kern="0" dirty="0">
              <a:solidFill>
                <a:srgbClr val="646464"/>
              </a:solidFill>
              <a:latin typeface="Courier New" panose="02070309020205020404" pitchFamily="49" charset="0"/>
              <a:cs typeface="Courier New" panose="02070309020205020404" pitchFamily="49" charset="0"/>
            </a:endParaRPr>
          </a:p>
        </p:txBody>
      </p:sp>
      <p:graphicFrame>
        <p:nvGraphicFramePr>
          <p:cNvPr id="10" name="Group 852"/>
          <p:cNvGraphicFramePr>
            <a:graphicFrameLocks noGrp="1"/>
          </p:cNvGraphicFramePr>
          <p:nvPr>
            <p:extLst>
              <p:ext uri="{D42A27DB-BD31-4B8C-83A1-F6EECF244321}">
                <p14:modId xmlns:p14="http://schemas.microsoft.com/office/powerpoint/2010/main" val="3276438243"/>
              </p:ext>
            </p:extLst>
          </p:nvPr>
        </p:nvGraphicFramePr>
        <p:xfrm>
          <a:off x="5867400" y="1"/>
          <a:ext cx="3276600" cy="6648387"/>
        </p:xfrm>
        <a:graphic>
          <a:graphicData uri="http://schemas.openxmlformats.org/drawingml/2006/table">
            <a:tbl>
              <a:tblPr/>
              <a:tblGrid>
                <a:gridCol w="3276600"/>
              </a:tblGrid>
              <a:tr h="133412">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mn-lt"/>
                        </a:rPr>
                        <a:t>PMO Narrative</a:t>
                      </a:r>
                      <a:endParaRPr kumimoji="0" lang="en-US" sz="700" b="1" i="0" u="none" strike="noStrike" cap="none" normalizeH="0" baseline="0" dirty="0">
                        <a:ln>
                          <a:noFill/>
                        </a:ln>
                        <a:solidFill>
                          <a:schemeClr val="tx1"/>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70415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endParaRPr kumimoji="0" lang="en-US" sz="700" b="1" i="0" u="none" strike="noStrike" cap="none" normalizeH="0" baseline="0" dirty="0" smtClean="0">
                        <a:ln>
                          <a:noFill/>
                        </a:ln>
                        <a:solidFill>
                          <a:srgbClr val="000000"/>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4683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cap="none" normalizeH="0" baseline="0" dirty="0" smtClean="0">
                          <a:ln>
                            <a:noFill/>
                          </a:ln>
                          <a:solidFill>
                            <a:srgbClr val="000000"/>
                          </a:solidFill>
                          <a:effectLst/>
                          <a:latin typeface="+mn-lt"/>
                        </a:rPr>
                        <a:t>Schedule – Overall status AMBER</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Detailed MS Project schedules now all </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with the exception of Business Deployment.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Low confidence level in all plans has caused a “30 day get to green” plan to be constructed and driven by A. Guthrie.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Draft re-</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plans to be submitted to the PMO by 19</a:t>
                      </a:r>
                      <a:r>
                        <a:rPr kumimoji="0" lang="en-US" sz="700" b="0" i="0" u="none" strike="noStrike" cap="none" normalizeH="0" baseline="30000" dirty="0" smtClean="0">
                          <a:ln>
                            <a:noFill/>
                          </a:ln>
                          <a:solidFill>
                            <a:srgbClr val="000000"/>
                          </a:solidFill>
                          <a:effectLst/>
                          <a:latin typeface="+mn-lt"/>
                        </a:rPr>
                        <a:t>th</a:t>
                      </a:r>
                      <a:r>
                        <a:rPr kumimoji="0" lang="en-US" sz="700" b="0" i="0" u="none" strike="noStrike" cap="none" normalizeH="0" baseline="0" dirty="0" smtClean="0">
                          <a:ln>
                            <a:noFill/>
                          </a:ln>
                          <a:solidFill>
                            <a:srgbClr val="000000"/>
                          </a:solidFill>
                          <a:effectLst/>
                          <a:latin typeface="+mn-lt"/>
                        </a:rPr>
                        <a:t> march.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Full Re-</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final plans which Work stream leads will be accountable for delivering against – 2</a:t>
                      </a:r>
                      <a:r>
                        <a:rPr kumimoji="0" lang="en-US" sz="700" b="0" i="0" u="none" strike="noStrike" cap="none" normalizeH="0" baseline="30000" dirty="0" smtClean="0">
                          <a:ln>
                            <a:noFill/>
                          </a:ln>
                          <a:solidFill>
                            <a:srgbClr val="000000"/>
                          </a:solidFill>
                          <a:effectLst/>
                          <a:latin typeface="+mn-lt"/>
                        </a:rPr>
                        <a:t>nd</a:t>
                      </a:r>
                      <a:r>
                        <a:rPr kumimoji="0" lang="en-US" sz="700" b="0" i="0" u="none" strike="noStrike" cap="none" normalizeH="0" baseline="0" dirty="0" smtClean="0">
                          <a:ln>
                            <a:noFill/>
                          </a:ln>
                          <a:solidFill>
                            <a:srgbClr val="000000"/>
                          </a:solidFill>
                          <a:effectLst/>
                          <a:latin typeface="+mn-lt"/>
                        </a:rPr>
                        <a:t> April .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Enterprise Planning team have taken new baseline plans, but as thought dependency alignment has reduced to 31%. Working with all streams to improve this over the coming weeks with a full review of dependencies being complete as of 2</a:t>
                      </a:r>
                      <a:r>
                        <a:rPr kumimoji="0" lang="en-US" sz="700" b="0" i="0" u="none" strike="noStrike" cap="none" normalizeH="0" baseline="30000" dirty="0" smtClean="0">
                          <a:ln>
                            <a:noFill/>
                          </a:ln>
                          <a:solidFill>
                            <a:srgbClr val="000000"/>
                          </a:solidFill>
                          <a:effectLst/>
                          <a:latin typeface="+mn-lt"/>
                        </a:rPr>
                        <a:t>nd</a:t>
                      </a:r>
                      <a:r>
                        <a:rPr kumimoji="0" lang="en-US" sz="700" b="0" i="0" u="none" strike="noStrike" cap="none" normalizeH="0" baseline="0" dirty="0" smtClean="0">
                          <a:ln>
                            <a:noFill/>
                          </a:ln>
                          <a:solidFill>
                            <a:srgbClr val="000000"/>
                          </a:solidFill>
                          <a:effectLst/>
                          <a:latin typeface="+mn-lt"/>
                        </a:rPr>
                        <a:t> April.</a:t>
                      </a:r>
                      <a:endParaRPr kumimoji="0" lang="en-US" sz="700" b="0" i="0" u="none" strike="noStrike" cap="none" normalizeH="0" baseline="0" dirty="0">
                        <a:ln>
                          <a:noFill/>
                        </a:ln>
                        <a:solidFill>
                          <a:srgbClr val="FF0000"/>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2469">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mn-lt"/>
                        </a:rPr>
                        <a:t>Resource.</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GB" sz="700" b="0" i="0" u="none" strike="noStrike" kern="1200" cap="none" normalizeH="0" baseline="0" dirty="0" smtClean="0">
                          <a:ln>
                            <a:noFill/>
                          </a:ln>
                          <a:solidFill>
                            <a:srgbClr val="000000"/>
                          </a:solidFill>
                          <a:effectLst/>
                          <a:latin typeface="+mn-lt"/>
                          <a:ea typeface="+mn-ea"/>
                          <a:cs typeface="+mn-cs"/>
                        </a:rPr>
                        <a:t>AMBER status for  </a:t>
                      </a:r>
                      <a:r>
                        <a:rPr kumimoji="0" lang="en-GB" sz="700" b="0" i="0" u="none" strike="noStrike" kern="1200" cap="none" normalizeH="0" baseline="0" dirty="0" err="1" smtClean="0">
                          <a:ln>
                            <a:noFill/>
                          </a:ln>
                          <a:solidFill>
                            <a:srgbClr val="000000"/>
                          </a:solidFill>
                          <a:effectLst/>
                          <a:latin typeface="+mn-lt"/>
                          <a:ea typeface="+mn-ea"/>
                          <a:cs typeface="+mn-cs"/>
                        </a:rPr>
                        <a:t>App&amp;Data</a:t>
                      </a:r>
                      <a:r>
                        <a:rPr kumimoji="0" lang="en-GB" sz="700" b="0" i="0" u="none" strike="noStrike" kern="1200" cap="none" normalizeH="0" baseline="0" dirty="0" smtClean="0">
                          <a:ln>
                            <a:noFill/>
                          </a:ln>
                          <a:solidFill>
                            <a:srgbClr val="000000"/>
                          </a:solidFill>
                          <a:effectLst/>
                          <a:latin typeface="+mn-lt"/>
                          <a:ea typeface="+mn-ea"/>
                          <a:cs typeface="+mn-cs"/>
                        </a:rPr>
                        <a:t> only resourcing all others RED.</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Although detailed plans should have been available at start of March this has not been the case and without these it is not possible to clearly define resource requirements.  This is what is driving the red statuses below.</a:t>
                      </a:r>
                      <a:endParaRPr kumimoji="0" lang="en-GB" sz="700" b="0" i="0" u="none" strike="noStrike" kern="1200" cap="none" normalizeH="0" baseline="0" noProof="0" dirty="0" smtClean="0">
                        <a:ln>
                          <a:noFill/>
                        </a:ln>
                        <a:solidFill>
                          <a:srgbClr val="000000"/>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pPr>
                      <a:r>
                        <a:rPr kumimoji="0" lang="en-US" sz="700" b="0" i="0" u="none" strike="noStrike" cap="none" normalizeH="0" baseline="0" dirty="0" smtClean="0">
                          <a:ln>
                            <a:noFill/>
                          </a:ln>
                          <a:solidFill>
                            <a:srgbClr val="000000"/>
                          </a:solidFill>
                          <a:effectLst/>
                          <a:latin typeface="+mn-lt"/>
                        </a:rPr>
                        <a:t>Awaiting new plan for SharePoint Foundation.</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Uncertainty around organizational structure and plans is limiting activity. </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Initial meeting held with </a:t>
                      </a:r>
                      <a:r>
                        <a:rPr kumimoji="0" lang="en-US" sz="700" b="0" i="0" u="none" strike="noStrike" cap="none" normalizeH="0" baseline="0" dirty="0" err="1" smtClean="0">
                          <a:ln>
                            <a:noFill/>
                          </a:ln>
                          <a:solidFill>
                            <a:srgbClr val="000000"/>
                          </a:solidFill>
                          <a:effectLst/>
                          <a:latin typeface="+mn-lt"/>
                        </a:rPr>
                        <a:t>Experimentus</a:t>
                      </a:r>
                      <a:r>
                        <a:rPr kumimoji="0" lang="en-US" sz="700" b="0" i="0" u="none" strike="noStrike" cap="none" normalizeH="0" baseline="0" dirty="0" smtClean="0">
                          <a:ln>
                            <a:noFill/>
                          </a:ln>
                          <a:solidFill>
                            <a:srgbClr val="000000"/>
                          </a:solidFill>
                          <a:effectLst/>
                          <a:latin typeface="+mn-lt"/>
                        </a:rPr>
                        <a:t> around environment management. We should have a clearer role description and framework for this area in a few weeks but need agreement between I&amp;O and Cross Org about where these resources will come out of.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09342">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smtClean="0">
                          <a:solidFill>
                            <a:srgbClr val="000000"/>
                          </a:solidFill>
                          <a:latin typeface="+mn-lt"/>
                          <a:ea typeface="+mn-ea"/>
                          <a:cs typeface="+mn-cs"/>
                        </a:rPr>
                        <a:t>RAIDs.</a:t>
                      </a:r>
                      <a:r>
                        <a:rPr kumimoji="0" lang="en-US" sz="700" b="0" i="0" u="none" strike="noStrike" kern="1200" cap="none" normalizeH="0" baseline="0" dirty="0" smtClean="0">
                          <a:ln>
                            <a:noFill/>
                          </a:ln>
                          <a:solidFill>
                            <a:srgbClr val="000000"/>
                          </a:solidFill>
                          <a:effectLst/>
                          <a:latin typeface="+mn-lt"/>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RAG status reflects  the </a:t>
                      </a:r>
                      <a:r>
                        <a:rPr kumimoji="0" lang="en-US" sz="700" b="0" i="0" u="none" strike="noStrike" kern="1200" cap="none" normalizeH="0" baseline="0" dirty="0" err="1" smtClean="0">
                          <a:ln>
                            <a:noFill/>
                          </a:ln>
                          <a:solidFill>
                            <a:srgbClr val="000000"/>
                          </a:solidFill>
                          <a:effectLst/>
                          <a:latin typeface="+mn-lt"/>
                          <a:ea typeface="+mn-ea"/>
                          <a:cs typeface="+mn-cs"/>
                        </a:rPr>
                        <a:t>workstream’s</a:t>
                      </a:r>
                      <a:r>
                        <a:rPr kumimoji="0" lang="en-US" sz="700" b="0" i="0" u="none" strike="noStrike" kern="1200" cap="none" normalizeH="0" baseline="0" dirty="0" smtClean="0">
                          <a:ln>
                            <a:noFill/>
                          </a:ln>
                          <a:solidFill>
                            <a:srgbClr val="000000"/>
                          </a:solidFill>
                          <a:effectLst/>
                          <a:latin typeface="+mn-lt"/>
                          <a:ea typeface="+mn-ea"/>
                          <a:cs typeface="+mn-cs"/>
                        </a:rPr>
                        <a:t> progress with regards to  the  completion of cleaning up of their RAIDs (taking into account updated details and overdue items).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RAID activity continues to progress with the advancement of the M&amp;C Get to Green 30 day plan.  Overdue items are steadily declining.</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Assumptions to be validated remain in need of review, as do both pending decisions and decisions to be revalidated.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Weekly M&amp;C Program RAID meetings are on hold for four weeks, as attention will be dedicated to the daily reviews instead.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00124">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rgbClr val="000000"/>
                          </a:solidFill>
                          <a:effectLst/>
                          <a:latin typeface="+mn-lt"/>
                        </a:rPr>
                        <a:t>Change Control.</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err="1" smtClean="0">
                          <a:ln>
                            <a:noFill/>
                          </a:ln>
                          <a:solidFill>
                            <a:srgbClr val="000000"/>
                          </a:solidFill>
                          <a:effectLst/>
                          <a:latin typeface="+mn-lt"/>
                        </a:rPr>
                        <a:t>Lync</a:t>
                      </a:r>
                      <a:r>
                        <a:rPr kumimoji="0" lang="en-GB" sz="700" b="0" i="0" u="none" strike="noStrike" cap="none" normalizeH="0" baseline="0" dirty="0" smtClean="0">
                          <a:ln>
                            <a:noFill/>
                          </a:ln>
                          <a:solidFill>
                            <a:srgbClr val="000000"/>
                          </a:solidFill>
                          <a:effectLst/>
                          <a:latin typeface="+mn-lt"/>
                        </a:rPr>
                        <a:t> Planning – Approved as a legacy change by CCB.</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ADM  Ramp Down – Approved by CCB, Approved by </a:t>
                      </a:r>
                      <a:r>
                        <a:rPr kumimoji="0" lang="en-GB" sz="700" b="0" i="0" u="none" strike="noStrike" kern="1200" cap="none" normalizeH="0" baseline="0" dirty="0" smtClean="0">
                          <a:ln>
                            <a:noFill/>
                          </a:ln>
                          <a:solidFill>
                            <a:srgbClr val="000000"/>
                          </a:solidFill>
                          <a:effectLst/>
                          <a:latin typeface="+mn-lt"/>
                          <a:ea typeface="+mn-ea"/>
                          <a:cs typeface="+mn-cs"/>
                        </a:rPr>
                        <a:t>Alan Guthrie and Bob  Reiner</a:t>
                      </a:r>
                      <a:endParaRPr kumimoji="0" lang="en-GB" sz="700" b="0" i="0" u="none" strike="noStrike" cap="none" normalizeH="0" baseline="0" dirty="0" smtClean="0">
                        <a:ln>
                          <a:noFill/>
                        </a:ln>
                        <a:solidFill>
                          <a:srgbClr val="000000"/>
                        </a:solidFill>
                        <a:effectLst/>
                        <a:latin typeface="+mn-lt"/>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rgbClr val="000000"/>
                          </a:solidFill>
                          <a:effectLst/>
                          <a:latin typeface="+mn-lt"/>
                          <a:ea typeface="+mn-ea"/>
                          <a:cs typeface="+mn-cs"/>
                        </a:rPr>
                        <a:t>Tech Foundation - Messaging Design O365D Impact – approved by Alan Guthrie and Bob  Reiner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000000"/>
                          </a:solidFill>
                          <a:effectLst/>
                          <a:latin typeface="+mn-lt"/>
                          <a:ea typeface="+mn-ea"/>
                          <a:cs typeface="+mn-cs"/>
                        </a:rPr>
                        <a:t>Unified </a:t>
                      </a:r>
                      <a:r>
                        <a:rPr kumimoji="0" lang="en-GB" sz="700" b="0" i="0" u="none" strike="noStrike" kern="1200" cap="none" normalizeH="0" baseline="0" dirty="0" err="1" smtClean="0">
                          <a:ln>
                            <a:noFill/>
                          </a:ln>
                          <a:solidFill>
                            <a:srgbClr val="000000"/>
                          </a:solidFill>
                          <a:effectLst/>
                          <a:latin typeface="+mn-lt"/>
                          <a:ea typeface="+mn-ea"/>
                          <a:cs typeface="+mn-cs"/>
                        </a:rPr>
                        <a:t>Comms</a:t>
                      </a:r>
                      <a:r>
                        <a:rPr kumimoji="0" lang="en-GB" sz="700" b="0" i="0" u="none" strike="noStrike" kern="1200" cap="none" normalizeH="0" baseline="0" dirty="0" smtClean="0">
                          <a:ln>
                            <a:noFill/>
                          </a:ln>
                          <a:solidFill>
                            <a:srgbClr val="000000"/>
                          </a:solidFill>
                          <a:effectLst/>
                          <a:latin typeface="+mn-lt"/>
                          <a:ea typeface="+mn-ea"/>
                          <a:cs typeface="+mn-cs"/>
                        </a:rPr>
                        <a:t> - MMD – </a:t>
                      </a:r>
                      <a:r>
                        <a:rPr kumimoji="0" lang="en-GB" sz="700" b="0" i="0" u="none" strike="noStrike" kern="1200" cap="none" normalizeH="0" baseline="0" dirty="0" err="1" smtClean="0">
                          <a:ln>
                            <a:noFill/>
                          </a:ln>
                          <a:solidFill>
                            <a:srgbClr val="000000"/>
                          </a:solidFill>
                          <a:effectLst/>
                          <a:latin typeface="+mn-lt"/>
                          <a:ea typeface="+mn-ea"/>
                          <a:cs typeface="+mn-cs"/>
                        </a:rPr>
                        <a:t>descope</a:t>
                      </a:r>
                      <a:r>
                        <a:rPr kumimoji="0" lang="en-GB" sz="700" b="0" i="0" u="none" strike="noStrike" kern="1200" cap="none" normalizeH="0" baseline="0" dirty="0" smtClean="0">
                          <a:ln>
                            <a:noFill/>
                          </a:ln>
                          <a:solidFill>
                            <a:srgbClr val="000000"/>
                          </a:solidFill>
                          <a:effectLst/>
                          <a:latin typeface="+mn-lt"/>
                          <a:ea typeface="+mn-ea"/>
                          <a:cs typeface="+mn-cs"/>
                        </a:rPr>
                        <a:t> – CR rejected pending action from PM.</a:t>
                      </a:r>
                      <a:endParaRPr kumimoji="0" lang="en-US" sz="700" b="0" i="0" u="none" strike="noStrike" cap="none" normalizeH="0" baseline="0" dirty="0">
                        <a:ln>
                          <a:noFill/>
                        </a:ln>
                        <a:solidFill>
                          <a:srgbClr val="000000"/>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03243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mn-lt"/>
                        </a:rPr>
                        <a:t>General .</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smtClean="0">
                          <a:ln>
                            <a:noFill/>
                          </a:ln>
                          <a:solidFill>
                            <a:srgbClr val="000000"/>
                          </a:solidFill>
                          <a:effectLst/>
                          <a:latin typeface="+mn-lt"/>
                        </a:rPr>
                        <a:t>Program generally rated as RED budgeting has declined for 4 programs this week.</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 MS Project schedules now all </a:t>
                      </a:r>
                      <a:r>
                        <a:rPr kumimoji="0" lang="en-GB" sz="700" b="0" i="0" u="none" strike="noStrike" cap="none" normalizeH="0" baseline="0" dirty="0" err="1" smtClean="0">
                          <a:ln>
                            <a:noFill/>
                          </a:ln>
                          <a:solidFill>
                            <a:srgbClr val="000000"/>
                          </a:solidFill>
                          <a:effectLst/>
                          <a:latin typeface="+mn-lt"/>
                        </a:rPr>
                        <a:t>baselined</a:t>
                      </a:r>
                      <a:r>
                        <a:rPr kumimoji="0" lang="en-GB" sz="700" b="0" i="0" u="none" strike="noStrike" cap="none" normalizeH="0" baseline="0" dirty="0" smtClean="0">
                          <a:ln>
                            <a:noFill/>
                          </a:ln>
                          <a:solidFill>
                            <a:srgbClr val="000000"/>
                          </a:solidFill>
                          <a:effectLst/>
                          <a:latin typeface="+mn-lt"/>
                        </a:rPr>
                        <a:t> except business deployment, new AMBER status for schedule.</a:t>
                      </a:r>
                      <a:endParaRPr kumimoji="0" lang="en-US" sz="700" b="0" i="0" u="none" strike="noStrike" cap="none" normalizeH="0" baseline="0" dirty="0" smtClean="0">
                        <a:ln>
                          <a:noFill/>
                        </a:ln>
                        <a:solidFill>
                          <a:srgbClr val="000000"/>
                        </a:solidFill>
                        <a:effectLst/>
                        <a:latin typeface="+mn-lt"/>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Program Planning still ongoing and POAP expected 5</a:t>
                      </a:r>
                      <a:r>
                        <a:rPr kumimoji="0" lang="en-GB" sz="700" b="0" i="0" u="none" strike="noStrike" cap="none" normalizeH="0" baseline="30000" dirty="0" smtClean="0">
                          <a:ln>
                            <a:noFill/>
                          </a:ln>
                          <a:solidFill>
                            <a:srgbClr val="000000"/>
                          </a:solidFill>
                          <a:effectLst/>
                          <a:latin typeface="+mn-lt"/>
                        </a:rPr>
                        <a:t>th</a:t>
                      </a:r>
                      <a:r>
                        <a:rPr kumimoji="0" lang="en-GB" sz="700" b="0" i="0" u="none" strike="noStrike" cap="none" normalizeH="0" baseline="0" dirty="0" smtClean="0">
                          <a:ln>
                            <a:noFill/>
                          </a:ln>
                          <a:solidFill>
                            <a:srgbClr val="000000"/>
                          </a:solidFill>
                          <a:effectLst/>
                          <a:latin typeface="+mn-lt"/>
                        </a:rPr>
                        <a:t> of March.</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 Resourcing RED due to Planning and changes in scope.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M&amp;C 30 day Get to Green exercise in progress and significant progress is being made.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Weekly report review process now in place. (PMO)</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99069787"/>
              </p:ext>
            </p:extLst>
          </p:nvPr>
        </p:nvGraphicFramePr>
        <p:xfrm>
          <a:off x="-2460" y="4267200"/>
          <a:ext cx="5869857" cy="2556052"/>
        </p:xfrm>
        <a:graphic>
          <a:graphicData uri="http://schemas.openxmlformats.org/drawingml/2006/table">
            <a:tbl>
              <a:tblPr/>
              <a:tblGrid>
                <a:gridCol w="881791"/>
                <a:gridCol w="678550"/>
                <a:gridCol w="668718"/>
                <a:gridCol w="668718"/>
                <a:gridCol w="668718"/>
                <a:gridCol w="668718"/>
                <a:gridCol w="743020"/>
                <a:gridCol w="891624"/>
              </a:tblGrid>
              <a:tr h="20788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n-lt"/>
                          <a:ea typeface="+mn-ea"/>
                          <a:cs typeface="+mn-cs"/>
                        </a:rPr>
                        <a:t>RAG Trend</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3310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Program</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This week</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mn-lt"/>
                        </a:rPr>
                        <a:t>Last week</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-2</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-3</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-4</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-5</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mn-lt"/>
                        </a:rPr>
                        <a:t>Week -6</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5203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AMBER</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TBC</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tx1"/>
                          </a:solidFill>
                          <a:effectLst/>
                          <a:latin typeface="+mn-lt"/>
                          <a:ea typeface="+mn-ea"/>
                          <a:cs typeface="+mn-cs"/>
                        </a:rPr>
                        <a:t>TBC</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Release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TBC</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tx1"/>
                          </a:solidFill>
                          <a:effectLst/>
                          <a:latin typeface="+mn-lt"/>
                          <a:ea typeface="+mn-ea"/>
                          <a:cs typeface="+mn-cs"/>
                        </a:rPr>
                        <a:t>TBC</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017617187"/>
              </p:ext>
            </p:extLst>
          </p:nvPr>
        </p:nvGraphicFramePr>
        <p:xfrm>
          <a:off x="2" y="530137"/>
          <a:ext cx="5867398" cy="3632235"/>
        </p:xfrm>
        <a:graphic>
          <a:graphicData uri="http://schemas.openxmlformats.org/drawingml/2006/table">
            <a:tbl>
              <a:tblPr/>
              <a:tblGrid>
                <a:gridCol w="893240"/>
                <a:gridCol w="429561"/>
                <a:gridCol w="429797"/>
                <a:gridCol w="609600"/>
                <a:gridCol w="609600"/>
                <a:gridCol w="457200"/>
                <a:gridCol w="609600"/>
                <a:gridCol w="609600"/>
                <a:gridCol w="609600"/>
                <a:gridCol w="609600"/>
              </a:tblGrid>
              <a:tr h="170512">
                <a:tc gridSpan="10">
                  <a:txBody>
                    <a:bodyPr/>
                    <a:lstStyle/>
                    <a:p>
                      <a:pPr algn="l" rtl="0" fontAlgn="ctr"/>
                      <a:r>
                        <a:rPr lang="en-GB" sz="700" b="1" i="0" u="none" strike="noStrike" dirty="0">
                          <a:solidFill>
                            <a:srgbClr val="646464"/>
                          </a:solidFill>
                          <a:latin typeface="+mn-lt"/>
                        </a:rPr>
                        <a:t>Weekly Ratings</a:t>
                      </a:r>
                      <a:r>
                        <a:rPr lang="en-GB" sz="700" b="0" i="0" u="none" strike="noStrike" dirty="0">
                          <a:solidFill>
                            <a:srgbClr val="646464"/>
                          </a:solidFill>
                          <a:latin typeface="+mn-lt"/>
                        </a:rPr>
                        <a:t> </a:t>
                      </a:r>
                      <a:endParaRPr lang="en-GB" sz="700" b="1" i="0" u="none" strike="noStrike" dirty="0">
                        <a:solidFill>
                          <a:srgbClr val="646464"/>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170512">
                <a:tc>
                  <a:txBody>
                    <a:bodyPr/>
                    <a:lstStyle/>
                    <a:p>
                      <a:pPr algn="l" fontAlgn="ctr"/>
                      <a:r>
                        <a:rPr lang="en-GB" sz="700" b="0" i="0" u="none" strike="noStrike">
                          <a:solidFill>
                            <a:srgbClr val="646464"/>
                          </a:solidFill>
                          <a:latin typeface="+mn-lt"/>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mn-lt"/>
                        </a:rPr>
                        <a:t>Program Assessment (Per PM Tool)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lgn="l" rtl="0" fontAlgn="ctr"/>
                      <a:r>
                        <a:rPr lang="en-GB" sz="700" b="1" i="0" u="none" strike="noStrike" dirty="0">
                          <a:solidFill>
                            <a:srgbClr val="646464"/>
                          </a:solidFill>
                          <a:latin typeface="+mn-lt"/>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40723">
                <a:tc>
                  <a:txBody>
                    <a:bodyPr/>
                    <a:lstStyle/>
                    <a:p>
                      <a:pPr algn="ctr" rtl="0" fontAlgn="ctr"/>
                      <a:r>
                        <a:rPr lang="en-GB" sz="700" b="1" i="0" u="none" strike="noStrike" dirty="0">
                          <a:solidFill>
                            <a:srgbClr val="000000"/>
                          </a:solidFill>
                          <a:latin typeface="+mn-l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Scope </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Time</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Cost</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Schedule</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9245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SharePoint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n-GB" sz="700" b="0" i="0" u="none" strike="noStrike" kern="1200" dirty="0" smtClean="0">
                          <a:solidFill>
                            <a:srgbClr val="000000"/>
                          </a:solidFill>
                          <a:latin typeface="+mn-lt"/>
                          <a:ea typeface="+mn-ea"/>
                          <a:cs typeface="+mn-cs"/>
                        </a:rPr>
                        <a:t>AMBER</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en-GB" sz="700" b="0" i="0" u="none" strike="noStrike" kern="1200" dirty="0" smtClean="0">
                          <a:solidFill>
                            <a:srgbClr val="000000"/>
                          </a:solidFill>
                          <a:latin typeface="+mn-lt"/>
                          <a:ea typeface="+mn-ea"/>
                          <a:cs typeface="+mn-cs"/>
                        </a:rPr>
                        <a:t>TBC</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7809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endParaRPr lang="en-GB" sz="700" b="0" i="0" u="none" strike="noStrike" kern="1200" dirty="0" smtClean="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362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832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Unified Communications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5440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Tech Foundation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TOM</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Release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8896">
                <a:tc>
                  <a:txBody>
                    <a:bodyPr/>
                    <a:lstStyle/>
                    <a:p>
                      <a:pPr algn="ctr" rtl="0" fontAlgn="ctr"/>
                      <a:r>
                        <a:rPr lang="en-GB" sz="700" b="1" i="0" u="none" strike="noStrike" dirty="0" smtClean="0">
                          <a:solidFill>
                            <a:srgbClr val="000000"/>
                          </a:solidFill>
                          <a:latin typeface="+mn-lt"/>
                        </a:rPr>
                        <a:t>Overall</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Appendix A – ABCD Reports.</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105224004"/>
              </p:ext>
            </p:extLst>
          </p:nvPr>
        </p:nvGraphicFramePr>
        <p:xfrm>
          <a:off x="150408" y="1772816"/>
          <a:ext cx="4288654" cy="3807502"/>
        </p:xfrm>
        <a:graphic>
          <a:graphicData uri="http://schemas.openxmlformats.org/drawingml/2006/table">
            <a:tbl>
              <a:tblPr/>
              <a:tblGrid>
                <a:gridCol w="4288654"/>
              </a:tblGrid>
              <a:tr h="15438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291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Benefits: (</a:t>
                      </a:r>
                      <a:r>
                        <a:rPr kumimoji="0" lang="en-GB" sz="700" b="0" i="0" u="none" strike="noStrike" kern="1200" cap="none" normalizeH="0" baseline="0" dirty="0" smtClean="0">
                          <a:ln>
                            <a:noFill/>
                          </a:ln>
                          <a:solidFill>
                            <a:srgbClr val="646464"/>
                          </a:solidFill>
                          <a:effectLst/>
                          <a:latin typeface="+mn-lt"/>
                          <a:ea typeface="+mn-ea"/>
                          <a:cs typeface="+mn-cs"/>
                        </a:rPr>
                        <a:t>1) Continued development of the refreshed M&amp;C Business Case, (2) Developed high level summary of potential </a:t>
                      </a:r>
                      <a:r>
                        <a:rPr kumimoji="0" lang="en-GB" sz="700" b="0" i="0" u="none" strike="noStrike" kern="1200" cap="none" normalizeH="0" baseline="0" dirty="0" err="1" smtClean="0">
                          <a:ln>
                            <a:noFill/>
                          </a:ln>
                          <a:solidFill>
                            <a:srgbClr val="646464"/>
                          </a:solidFill>
                          <a:effectLst/>
                          <a:latin typeface="+mn-lt"/>
                          <a:ea typeface="+mn-ea"/>
                          <a:cs typeface="+mn-cs"/>
                        </a:rPr>
                        <a:t>Lync</a:t>
                      </a:r>
                      <a:r>
                        <a:rPr kumimoji="0" lang="en-GB" sz="700" b="0" i="0" u="none" strike="noStrike" kern="1200" cap="none" normalizeH="0" baseline="0" dirty="0" smtClean="0">
                          <a:ln>
                            <a:noFill/>
                          </a:ln>
                          <a:solidFill>
                            <a:srgbClr val="646464"/>
                          </a:solidFill>
                          <a:effectLst/>
                          <a:latin typeface="+mn-lt"/>
                          <a:ea typeface="+mn-ea"/>
                          <a:cs typeface="+mn-cs"/>
                        </a:rPr>
                        <a:t> Benefits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(1) First review of M&amp;C refreshed </a:t>
                      </a: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strategy, (2) Decision on </a:t>
                      </a:r>
                      <a:r>
                        <a:rPr kumimoji="0" lang="en-GB" sz="700" b="0" i="0" u="none" strike="noStrike" kern="1200" cap="none" normalizeH="0" baseline="0" dirty="0" err="1" smtClean="0">
                          <a:ln>
                            <a:noFill/>
                          </a:ln>
                          <a:solidFill>
                            <a:srgbClr val="646464"/>
                          </a:solidFill>
                          <a:effectLst/>
                          <a:latin typeface="+mn-lt"/>
                          <a:ea typeface="+mn-ea"/>
                          <a:cs typeface="+mn-cs"/>
                        </a:rPr>
                        <a:t>Epipheo</a:t>
                      </a:r>
                      <a:r>
                        <a:rPr kumimoji="0" lang="en-GB" sz="700" b="0" i="0" u="none" strike="noStrike" kern="1200" cap="none" normalizeH="0" baseline="0" dirty="0" smtClean="0">
                          <a:ln>
                            <a:noFill/>
                          </a:ln>
                          <a:solidFill>
                            <a:srgbClr val="646464"/>
                          </a:solidFill>
                          <a:effectLst/>
                          <a:latin typeface="+mn-lt"/>
                          <a:ea typeface="+mn-ea"/>
                          <a:cs typeface="+mn-cs"/>
                        </a:rPr>
                        <a:t> voiceover artist, (3</a:t>
                      </a:r>
                      <a:r>
                        <a:rPr kumimoji="0" lang="en-GB" sz="700" b="0" i="0" u="none" strike="noStrike" kern="1200" cap="none" normalizeH="0" baseline="0" dirty="0" smtClean="0">
                          <a:ln>
                            <a:noFill/>
                          </a:ln>
                          <a:solidFill>
                            <a:srgbClr val="646464"/>
                          </a:solidFill>
                          <a:effectLst/>
                          <a:latin typeface="+mn-lt"/>
                          <a:ea typeface="+mn-ea"/>
                          <a:cs typeface="+mn-cs"/>
                        </a:rPr>
                        <a:t>)</a:t>
                      </a: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FF0000"/>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8377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8658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(1) Progress visual design themes, (2) revised </a:t>
                      </a: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strategy and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FF0000"/>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493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8863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(1) </a:t>
                      </a:r>
                      <a:r>
                        <a:rPr kumimoji="0" lang="en-GB" sz="700" b="0" i="0" u="none" strike="noStrike" kern="1200" cap="none" normalizeH="0" baseline="0" dirty="0" smtClean="0">
                          <a:ln>
                            <a:noFill/>
                          </a:ln>
                          <a:solidFill>
                            <a:srgbClr val="646464"/>
                          </a:solidFill>
                          <a:effectLst/>
                          <a:latin typeface="+mn-lt"/>
                          <a:ea typeface="+mn-ea"/>
                          <a:cs typeface="+mn-cs"/>
                        </a:rPr>
                        <a:t>Develop communications plan and strategy following 1st drafts, (2) Develop </a:t>
                      </a:r>
                      <a:r>
                        <a:rPr kumimoji="0" lang="en-GB" sz="700" b="0" i="0" u="none" strike="noStrike" kern="1200" cap="none" normalizeH="0" baseline="0" dirty="0" err="1" smtClean="0">
                          <a:ln>
                            <a:noFill/>
                          </a:ln>
                          <a:solidFill>
                            <a:srgbClr val="646464"/>
                          </a:solidFill>
                          <a:effectLst/>
                          <a:latin typeface="+mn-lt"/>
                          <a:ea typeface="+mn-ea"/>
                          <a:cs typeface="+mn-cs"/>
                        </a:rPr>
                        <a:t>Epipheo</a:t>
                      </a:r>
                      <a:r>
                        <a:rPr kumimoji="0" lang="en-GB" sz="700" b="0" i="0" u="none" strike="noStrike" kern="1200" cap="none" normalizeH="0" baseline="0" dirty="0" smtClean="0">
                          <a:ln>
                            <a:noFill/>
                          </a:ln>
                          <a:solidFill>
                            <a:srgbClr val="646464"/>
                          </a:solidFill>
                          <a:effectLst/>
                          <a:latin typeface="+mn-lt"/>
                          <a:ea typeface="+mn-ea"/>
                          <a:cs typeface="+mn-cs"/>
                        </a:rPr>
                        <a:t> animation story based on </a:t>
                      </a: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feedback, (3)  Start work on one-pager for stakeholders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Outlook and </a:t>
                      </a:r>
                      <a:r>
                        <a:rPr kumimoji="0" lang="en-US" sz="700" b="0" i="0" u="none" strike="noStrike" kern="1200" cap="none" normalizeH="0" baseline="0" dirty="0" err="1" smtClean="0">
                          <a:ln>
                            <a:noFill/>
                          </a:ln>
                          <a:solidFill>
                            <a:srgbClr val="646464"/>
                          </a:solidFill>
                          <a:effectLst/>
                          <a:latin typeface="+mn-lt"/>
                          <a:ea typeface="+mn-ea"/>
                          <a:cs typeface="+mn-cs"/>
                        </a:rPr>
                        <a:t>Lync</a:t>
                      </a:r>
                      <a:r>
                        <a:rPr kumimoji="0" lang="en-US" sz="700" b="0" i="0" u="none" strike="noStrike" kern="1200" cap="none" normalizeH="0" baseline="0" dirty="0" smtClean="0">
                          <a:ln>
                            <a:noFill/>
                          </a:ln>
                          <a:solidFill>
                            <a:srgbClr val="646464"/>
                          </a:solidFill>
                          <a:effectLst/>
                          <a:latin typeface="+mn-lt"/>
                          <a:ea typeface="+mn-ea"/>
                          <a:cs typeface="+mn-cs"/>
                        </a:rPr>
                        <a:t>: (1) </a:t>
                      </a:r>
                      <a:r>
                        <a:rPr kumimoji="0" lang="en-GB" sz="700" b="0" i="0" u="none" strike="noStrike" kern="1200" cap="none" normalizeH="0" baseline="0" dirty="0" smtClean="0">
                          <a:ln>
                            <a:noFill/>
                          </a:ln>
                          <a:solidFill>
                            <a:srgbClr val="646464"/>
                          </a:solidFill>
                          <a:effectLst/>
                          <a:latin typeface="+mn-lt"/>
                          <a:ea typeface="+mn-ea"/>
                          <a:cs typeface="+mn-cs"/>
                        </a:rPr>
                        <a:t>Complete Impact Assessment update, (2) Set up and run sessions with ‘approvers’ within L&amp;O governance proposal to run through governance and confirm the right people have been identified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kern="1200" cap="none" normalizeH="0" baseline="0" dirty="0" smtClean="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1409180796"/>
              </p:ext>
            </p:extLst>
          </p:nvPr>
        </p:nvGraphicFramePr>
        <p:xfrm>
          <a:off x="118582" y="570690"/>
          <a:ext cx="4320480" cy="1058111"/>
        </p:xfrm>
        <a:graphic>
          <a:graphicData uri="http://schemas.openxmlformats.org/drawingml/2006/table">
            <a:tbl>
              <a:tblPr/>
              <a:tblGrid>
                <a:gridCol w="4320480"/>
              </a:tblGrid>
              <a:tr h="14386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A.  </a:t>
                      </a:r>
                      <a:r>
                        <a:rPr kumimoji="0" lang="en-GB" sz="700" b="1" i="0" u="none" strike="noStrike" cap="none" normalizeH="0" baseline="0" dirty="0" smtClean="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142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continuing to work on the creation and implementation of the </a:t>
                      </a: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strategy and to support the change management team.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Learning : </a:t>
                      </a:r>
                      <a:r>
                        <a:rPr kumimoji="0" lang="en-GB" sz="700" b="0" i="0" u="none" strike="noStrike" kern="1200" cap="none" normalizeH="0" baseline="0" dirty="0" smtClean="0">
                          <a:ln>
                            <a:noFill/>
                          </a:ln>
                          <a:solidFill>
                            <a:srgbClr val="646464"/>
                          </a:solidFill>
                          <a:effectLst/>
                          <a:latin typeface="+mn-lt"/>
                          <a:ea typeface="+mn-ea"/>
                          <a:cs typeface="+mn-cs"/>
                        </a:rPr>
                        <a:t>Learning lead for Lync &amp; Outlook and </a:t>
                      </a:r>
                      <a:r>
                        <a:rPr kumimoji="0" lang="en-GB" sz="700" b="0" i="0" u="none" strike="noStrike" kern="1200" cap="none" normalizeH="0" baseline="0" dirty="0" err="1" smtClean="0">
                          <a:ln>
                            <a:noFill/>
                          </a:ln>
                          <a:solidFill>
                            <a:srgbClr val="646464"/>
                          </a:solidFill>
                          <a:effectLst/>
                          <a:latin typeface="+mn-lt"/>
                          <a:ea typeface="+mn-ea"/>
                          <a:cs typeface="+mn-cs"/>
                        </a:rPr>
                        <a:t>Sharepoint</a:t>
                      </a:r>
                      <a:r>
                        <a:rPr kumimoji="0" lang="en-GB" sz="700" b="0" i="0" u="none" strike="noStrike" kern="1200" cap="none" normalizeH="0" baseline="0" dirty="0" smtClean="0">
                          <a:ln>
                            <a:noFill/>
                          </a:ln>
                          <a:solidFill>
                            <a:srgbClr val="646464"/>
                          </a:solidFill>
                          <a:effectLst/>
                          <a:latin typeface="+mn-lt"/>
                          <a:ea typeface="+mn-ea"/>
                          <a:cs typeface="+mn-cs"/>
                        </a:rPr>
                        <a:t> not recruited, so limited activity beyond initial preparation, planning and learning inventory creation</a:t>
                      </a:r>
                      <a:r>
                        <a:rPr kumimoji="0" lang="en-GB" sz="700" b="0" i="0" u="none" strike="noStrike" kern="1200" cap="none" normalizeH="0" baseline="0" dirty="0" smtClean="0">
                          <a:ln>
                            <a:noFill/>
                          </a:ln>
                          <a:solidFill>
                            <a:srgbClr val="646464"/>
                          </a:solidFill>
                          <a:effectLst/>
                          <a:latin typeface="+mn-lt"/>
                          <a:ea typeface="+mn-ea"/>
                          <a:cs typeface="+mn-cs"/>
                        </a:rPr>
                        <a:t>.</a:t>
                      </a:r>
                      <a:endParaRPr kumimoji="0" lang="en-GB" sz="700" b="0" i="0" u="none" strike="noStrike" kern="1200" cap="none" normalizeH="0" baseline="0" dirty="0" smtClean="0">
                        <a:ln>
                          <a:noFill/>
                        </a:ln>
                        <a:solidFill>
                          <a:srgbClr val="646464"/>
                        </a:solidFill>
                        <a:effectLst/>
                        <a:latin typeface="+mn-lt"/>
                        <a:ea typeface="+mn-ea"/>
                        <a:cs typeface="+mn-cs"/>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 name="Group 270"/>
          <p:cNvGraphicFramePr>
            <a:graphicFrameLocks noGrp="1"/>
          </p:cNvGraphicFramePr>
          <p:nvPr/>
        </p:nvGraphicFramePr>
        <p:xfrm>
          <a:off x="7429777" y="44624"/>
          <a:ext cx="1503209" cy="465206"/>
        </p:xfrm>
        <a:graphic>
          <a:graphicData uri="http://schemas.openxmlformats.org/drawingml/2006/table">
            <a:tbl>
              <a:tblPr/>
              <a:tblGrid>
                <a:gridCol w="751604"/>
                <a:gridCol w="751605"/>
              </a:tblGrid>
              <a:tr h="131895">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343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6773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9026"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fontAlgn="base" hangingPunct="0">
              <a:spcBef>
                <a:spcPct val="0"/>
              </a:spcBef>
              <a:defRPr/>
            </a:pPr>
            <a:r>
              <a:rPr lang="en-US" sz="1600" b="1" kern="0" dirty="0" smtClean="0">
                <a:solidFill>
                  <a:srgbClr val="646464"/>
                </a:solidFill>
              </a:rPr>
              <a:t>Messaging and Collaboration Business Change </a:t>
            </a:r>
            <a:endParaRPr lang="en-US" sz="1600" b="1" kern="0" dirty="0">
              <a:solidFill>
                <a:srgbClr val="646464"/>
              </a:solidFill>
            </a:endParaRPr>
          </a:p>
        </p:txBody>
      </p:sp>
      <p:graphicFrame>
        <p:nvGraphicFramePr>
          <p:cNvPr id="24" name="Group 270"/>
          <p:cNvGraphicFramePr>
            <a:graphicFrameLocks noGrp="1"/>
          </p:cNvGraphicFramePr>
          <p:nvPr>
            <p:extLst>
              <p:ext uri="{D42A27DB-BD31-4B8C-83A1-F6EECF244321}">
                <p14:modId xmlns:p14="http://schemas.microsoft.com/office/powerpoint/2010/main" val="1646652008"/>
              </p:ext>
            </p:extLst>
          </p:nvPr>
        </p:nvGraphicFramePr>
        <p:xfrm>
          <a:off x="4572000" y="548680"/>
          <a:ext cx="4383817" cy="1419466"/>
        </p:xfrm>
        <a:graphic>
          <a:graphicData uri="http://schemas.openxmlformats.org/drawingml/2006/table">
            <a:tbl>
              <a:tblPr/>
              <a:tblGrid>
                <a:gridCol w="2392881"/>
                <a:gridCol w="595088"/>
                <a:gridCol w="598220"/>
                <a:gridCol w="398814"/>
                <a:gridCol w="398814"/>
              </a:tblGrid>
              <a:tr h="153438">
                <a:tc>
                  <a:txBody>
                    <a:bodyPr/>
                    <a:lstStyle/>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lphaUcPeriod" startAt="5"/>
                        <a:tabLst/>
                      </a:pPr>
                      <a:r>
                        <a:rPr kumimoji="0" lang="en-US" sz="700" b="1" i="0" u="none" strike="noStrike" kern="1200" cap="none" normalizeH="0" baseline="0" dirty="0" smtClean="0">
                          <a:ln>
                            <a:noFill/>
                          </a:ln>
                          <a:solidFill>
                            <a:schemeClr val="tx1"/>
                          </a:solidFill>
                          <a:effectLst/>
                          <a:latin typeface="+mj-lt"/>
                          <a:ea typeface="+mn-ea"/>
                          <a:cs typeface="+mn-cs"/>
                        </a:rPr>
                        <a:t>MILESTONES</a:t>
                      </a:r>
                      <a:endParaRPr kumimoji="0" lang="en-US" sz="7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786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mj-lt"/>
                        </a:rPr>
                        <a:t>CHS/intranet site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30  April</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30 April</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err="1" smtClean="0">
                          <a:ln>
                            <a:noFill/>
                          </a:ln>
                          <a:solidFill>
                            <a:schemeClr val="tx1"/>
                          </a:solidFill>
                          <a:effectLst/>
                          <a:latin typeface="+mj-lt"/>
                        </a:rPr>
                        <a:t>Epipheo</a:t>
                      </a:r>
                      <a:r>
                        <a:rPr kumimoji="0" lang="en-US" sz="700" b="0" i="0" u="none" strike="noStrike" cap="none" normalizeH="0" baseline="0" dirty="0" smtClean="0">
                          <a:ln>
                            <a:noFill/>
                          </a:ln>
                          <a:solidFill>
                            <a:schemeClr val="tx1"/>
                          </a:solidFill>
                          <a:effectLst/>
                          <a:latin typeface="+mj-lt"/>
                        </a:rPr>
                        <a:t> video/animation graphic</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1" i="0" u="none" strike="noStrike" kern="1200" cap="none" normalizeH="0" baseline="0" dirty="0" smtClean="0">
                          <a:ln>
                            <a:noFill/>
                          </a:ln>
                          <a:solidFill>
                            <a:srgbClr val="646464"/>
                          </a:solidFill>
                          <a:effectLst/>
                          <a:latin typeface="+mj-lt"/>
                          <a:ea typeface="+mn-ea"/>
                          <a:cs typeface="+mn-cs"/>
                        </a:rPr>
                        <a:t>Identify </a:t>
                      </a:r>
                      <a:r>
                        <a:rPr kumimoji="0" lang="en-US" sz="700" b="1" i="0" u="none" strike="noStrike" kern="1200" cap="none" normalizeH="0" baseline="0" dirty="0" err="1" smtClean="0">
                          <a:ln>
                            <a:noFill/>
                          </a:ln>
                          <a:solidFill>
                            <a:srgbClr val="646464"/>
                          </a:solidFill>
                          <a:effectLst/>
                          <a:latin typeface="+mj-lt"/>
                          <a:ea typeface="+mn-ea"/>
                          <a:cs typeface="+mn-cs"/>
                        </a:rPr>
                        <a:t>Lync</a:t>
                      </a:r>
                      <a:r>
                        <a:rPr kumimoji="0" lang="en-US" sz="700" b="1" i="0" u="none" strike="noStrike" kern="1200" cap="none" normalizeH="0" baseline="0" dirty="0" smtClean="0">
                          <a:ln>
                            <a:noFill/>
                          </a:ln>
                          <a:solidFill>
                            <a:srgbClr val="646464"/>
                          </a:solidFill>
                          <a:effectLst/>
                          <a:latin typeface="+mj-lt"/>
                          <a:ea typeface="+mn-ea"/>
                          <a:cs typeface="+mn-cs"/>
                        </a:rPr>
                        <a:t>/Outlook Change network</a:t>
                      </a:r>
                      <a:endParaRPr kumimoji="0" lang="en-US" sz="700" b="1"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20/07/12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20/07/12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7062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mj-lt"/>
                          <a:ea typeface="+mn-ea"/>
                          <a:cs typeface="+mn-cs"/>
                        </a:rPr>
                        <a:t>Identify '</a:t>
                      </a:r>
                      <a:r>
                        <a:rPr kumimoji="0" lang="en-GB" sz="700" b="0" i="0" u="none" strike="noStrike" kern="1200" cap="none" normalizeH="0" baseline="0" dirty="0" err="1" smtClean="0">
                          <a:ln>
                            <a:noFill/>
                          </a:ln>
                          <a:solidFill>
                            <a:srgbClr val="646464"/>
                          </a:solidFill>
                          <a:effectLst/>
                          <a:latin typeface="+mj-lt"/>
                          <a:ea typeface="+mn-ea"/>
                          <a:cs typeface="+mn-cs"/>
                        </a:rPr>
                        <a:t>Lync</a:t>
                      </a:r>
                      <a:r>
                        <a:rPr kumimoji="0" lang="en-GB" sz="700" b="0" i="0" u="none" strike="noStrike" kern="1200" cap="none" normalizeH="0" baseline="0" dirty="0" smtClean="0">
                          <a:ln>
                            <a:noFill/>
                          </a:ln>
                          <a:solidFill>
                            <a:srgbClr val="646464"/>
                          </a:solidFill>
                          <a:effectLst/>
                          <a:latin typeface="+mj-lt"/>
                          <a:ea typeface="+mn-ea"/>
                          <a:cs typeface="+mn-cs"/>
                        </a:rPr>
                        <a:t> &amp; Outlook Community' volunteers/EAs</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12/10/12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12/10/12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mj-lt"/>
                          <a:ea typeface="+mn-ea"/>
                          <a:cs typeface="+mn-cs"/>
                        </a:rPr>
                        <a:t>Sign-off </a:t>
                      </a:r>
                      <a:r>
                        <a:rPr kumimoji="0" lang="en-GB" sz="700" b="0" i="0" u="none" strike="noStrike" kern="1200" cap="none" normalizeH="0" baseline="0" dirty="0" err="1" smtClean="0">
                          <a:ln>
                            <a:noFill/>
                          </a:ln>
                          <a:solidFill>
                            <a:srgbClr val="646464"/>
                          </a:solidFill>
                          <a:effectLst/>
                          <a:latin typeface="+mj-lt"/>
                          <a:ea typeface="+mn-ea"/>
                          <a:cs typeface="+mn-cs"/>
                        </a:rPr>
                        <a:t>Lync</a:t>
                      </a:r>
                      <a:r>
                        <a:rPr kumimoji="0" lang="en-GB" sz="700" b="0" i="0" u="none" strike="noStrike" kern="1200" cap="none" normalizeH="0" baseline="0" dirty="0" smtClean="0">
                          <a:ln>
                            <a:noFill/>
                          </a:ln>
                          <a:solidFill>
                            <a:srgbClr val="646464"/>
                          </a:solidFill>
                          <a:effectLst/>
                          <a:latin typeface="+mj-lt"/>
                          <a:ea typeface="+mn-ea"/>
                          <a:cs typeface="+mn-cs"/>
                        </a:rPr>
                        <a:t> High Level Business Change Readiness Plan</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06/08/12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06/08/12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rgbClr val="646464"/>
                          </a:solidFill>
                          <a:effectLst/>
                          <a:latin typeface="+mj-lt"/>
                          <a:ea typeface="+mn-ea"/>
                          <a:cs typeface="+mn-cs"/>
                        </a:rPr>
                        <a:t>Sign-off HL Impact assessment for </a:t>
                      </a:r>
                      <a:r>
                        <a:rPr kumimoji="0" lang="en-US" sz="700" b="0" i="0" u="none" strike="noStrike" kern="1200" cap="none" normalizeH="0" baseline="0" dirty="0" err="1" smtClean="0">
                          <a:ln>
                            <a:noFill/>
                          </a:ln>
                          <a:solidFill>
                            <a:srgbClr val="646464"/>
                          </a:solidFill>
                          <a:effectLst/>
                          <a:latin typeface="+mj-lt"/>
                          <a:ea typeface="+mn-ea"/>
                          <a:cs typeface="+mn-cs"/>
                        </a:rPr>
                        <a:t>Lync</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09/07/12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09/07/12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780233000"/>
              </p:ext>
            </p:extLst>
          </p:nvPr>
        </p:nvGraphicFramePr>
        <p:xfrm>
          <a:off x="4572000" y="2132856"/>
          <a:ext cx="4355123" cy="1632891"/>
        </p:xfrm>
        <a:graphic>
          <a:graphicData uri="http://schemas.openxmlformats.org/drawingml/2006/table">
            <a:tbl>
              <a:tblPr/>
              <a:tblGrid>
                <a:gridCol w="1994068"/>
                <a:gridCol w="2361055"/>
              </a:tblGrid>
              <a:tr h="157905">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7339">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Mitigating Action</a:t>
                      </a:r>
                      <a:endParaRPr kumimoji="0" lang="en-US" sz="600" b="0" i="0" u="none" strike="noStrike" cap="none" normalizeH="0" baseline="0" dirty="0" smtClean="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9683">
                <a:tc>
                  <a:txBody>
                    <a:bodyPr/>
                    <a:lstStyle/>
                    <a:p>
                      <a:r>
                        <a:rPr kumimoji="0" lang="en-GB" sz="600" b="1" i="0" u="none" strike="noStrike" kern="1200" cap="none" normalizeH="0" baseline="0" noProof="0" dirty="0" smtClean="0">
                          <a:ln>
                            <a:noFill/>
                          </a:ln>
                          <a:solidFill>
                            <a:srgbClr val="646464"/>
                          </a:solidFill>
                          <a:effectLst/>
                          <a:latin typeface="+mn-lt"/>
                          <a:ea typeface="+mn-ea"/>
                          <a:cs typeface="+mn-cs"/>
                        </a:rPr>
                        <a:t>Potential for rumours and </a:t>
                      </a:r>
                      <a:r>
                        <a:rPr kumimoji="0" lang="en-GB" sz="600" b="1" i="0" u="none" strike="noStrike" kern="1200" cap="none" normalizeH="0" baseline="0" noProof="0" dirty="0" err="1" smtClean="0">
                          <a:ln>
                            <a:noFill/>
                          </a:ln>
                          <a:solidFill>
                            <a:srgbClr val="646464"/>
                          </a:solidFill>
                          <a:effectLst/>
                          <a:latin typeface="+mn-lt"/>
                          <a:ea typeface="+mn-ea"/>
                          <a:cs typeface="+mn-cs"/>
                        </a:rPr>
                        <a:t>mis</a:t>
                      </a:r>
                      <a:r>
                        <a:rPr kumimoji="0" lang="en-GB" sz="600" b="1" i="0" u="none" strike="noStrike" kern="1200" cap="none" normalizeH="0" baseline="0" noProof="0" dirty="0" smtClean="0">
                          <a:ln>
                            <a:noFill/>
                          </a:ln>
                          <a:solidFill>
                            <a:srgbClr val="646464"/>
                          </a:solidFill>
                          <a:effectLst/>
                          <a:latin typeface="+mn-lt"/>
                          <a:ea typeface="+mn-ea"/>
                          <a:cs typeface="+mn-cs"/>
                        </a:rPr>
                        <a:t>-information on M&amp;C based on not having communicated to wider audiences since initial announcement</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600" b="1" i="0" u="none" strike="noStrike" kern="1200" cap="none" normalizeH="0" baseline="0" noProof="0" dirty="0" smtClean="0">
                          <a:ln>
                            <a:noFill/>
                          </a:ln>
                          <a:solidFill>
                            <a:srgbClr val="646464"/>
                          </a:solidFill>
                          <a:effectLst/>
                          <a:latin typeface="+mn-lt"/>
                          <a:ea typeface="+mn-ea"/>
                          <a:cs typeface="+mn-cs"/>
                        </a:rPr>
                        <a:t>Still considering ‘holding statement’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 to global leadership teams, and Daily News </a:t>
                      </a:r>
                      <a:r>
                        <a:rPr kumimoji="0" lang="en-GB" sz="600" b="1" i="0" u="none" strike="noStrike" kern="1200" cap="none" normalizeH="0" baseline="0" noProof="0" smtClean="0">
                          <a:ln>
                            <a:noFill/>
                          </a:ln>
                          <a:solidFill>
                            <a:srgbClr val="646464"/>
                          </a:solidFill>
                          <a:effectLst/>
                          <a:latin typeface="+mn-lt"/>
                          <a:ea typeface="+mn-ea"/>
                          <a:cs typeface="+mn-cs"/>
                        </a:rPr>
                        <a:t>Alert story</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9683">
                <a:tc>
                  <a:txBody>
                    <a:bodyPr/>
                    <a:lstStyle/>
                    <a:p>
                      <a:pPr>
                        <a:buFont typeface="Arial" pitchFamily="34" charset="0"/>
                        <a:buNone/>
                      </a:pPr>
                      <a:r>
                        <a:rPr kumimoji="0" lang="en-GB" sz="600" b="1" i="0" u="none" strike="noStrike" kern="1200" cap="none" normalizeH="0" baseline="0" noProof="0" dirty="0" smtClean="0">
                          <a:ln>
                            <a:noFill/>
                          </a:ln>
                          <a:solidFill>
                            <a:srgbClr val="646464"/>
                          </a:solidFill>
                          <a:effectLst/>
                          <a:latin typeface="+mn-lt"/>
                          <a:ea typeface="+mn-ea"/>
                          <a:cs typeface="+mn-cs"/>
                        </a:rPr>
                        <a:t>Recruitment of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 support on-hold</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kumimoji="0" lang="en-GB" sz="600" b="1" i="0" u="none" strike="noStrike" kern="1200" cap="none" normalizeH="0" baseline="0" noProof="0" dirty="0" err="1" smtClean="0">
                          <a:ln>
                            <a:noFill/>
                          </a:ln>
                          <a:solidFill>
                            <a:srgbClr val="646464"/>
                          </a:solidFill>
                          <a:effectLst/>
                          <a:latin typeface="+mn-lt"/>
                          <a:ea typeface="+mn-ea"/>
                          <a:cs typeface="+mn-cs"/>
                        </a:rPr>
                        <a:t>Marianela</a:t>
                      </a:r>
                      <a:r>
                        <a:rPr kumimoji="0" lang="en-GB" sz="600" b="1" i="0" u="none" strike="noStrike" kern="1200" cap="none" normalizeH="0" baseline="0" noProof="0" dirty="0" smtClean="0">
                          <a:ln>
                            <a:noFill/>
                          </a:ln>
                          <a:solidFill>
                            <a:srgbClr val="646464"/>
                          </a:solidFill>
                          <a:effectLst/>
                          <a:latin typeface="+mn-lt"/>
                          <a:ea typeface="+mn-ea"/>
                          <a:cs typeface="+mn-cs"/>
                        </a:rPr>
                        <a:t>  </a:t>
                      </a:r>
                      <a:r>
                        <a:rPr kumimoji="0" lang="en-GB" sz="600" b="1" i="0" u="none" strike="noStrike" kern="1200" cap="none" normalizeH="0" baseline="0" noProof="0" dirty="0" err="1" smtClean="0">
                          <a:ln>
                            <a:noFill/>
                          </a:ln>
                          <a:solidFill>
                            <a:srgbClr val="646464"/>
                          </a:solidFill>
                          <a:effectLst/>
                          <a:latin typeface="+mn-lt"/>
                          <a:ea typeface="+mn-ea"/>
                          <a:cs typeface="+mn-cs"/>
                        </a:rPr>
                        <a:t>Venables</a:t>
                      </a:r>
                      <a:r>
                        <a:rPr kumimoji="0" lang="en-GB" sz="600" b="1" i="0" u="none" strike="noStrike" kern="1200" cap="none" normalizeH="0" baseline="0" noProof="0" dirty="0" smtClean="0">
                          <a:ln>
                            <a:noFill/>
                          </a:ln>
                          <a:solidFill>
                            <a:srgbClr val="646464"/>
                          </a:solidFill>
                          <a:effectLst/>
                          <a:latin typeface="+mn-lt"/>
                          <a:ea typeface="+mn-ea"/>
                          <a:cs typeface="+mn-cs"/>
                        </a:rPr>
                        <a:t> supporting on intranet work. Potential for using GSS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/design services.</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96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Recruitment of required resources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Recruitment underway but decisions on which function these people will be recruited into are unanswered.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8943">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Alignment of M&amp;C with GCL5.0 and DECC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Meetings established with Catherine Graham’s team (Learning) and investigation of enterprise plans (CM).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26526">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Any agreement to go to Cloud may have implications on the Change interventions if we have a different solutions for Cloud and on </a:t>
                      </a:r>
                      <a:r>
                        <a:rPr kumimoji="0" lang="en-US" sz="600" b="1" i="0" u="none" strike="noStrike" kern="1200" cap="none" normalizeH="0" baseline="0" noProof="0" dirty="0" err="1" smtClean="0">
                          <a:ln>
                            <a:noFill/>
                          </a:ln>
                          <a:solidFill>
                            <a:srgbClr val="646464"/>
                          </a:solidFill>
                          <a:effectLst/>
                          <a:latin typeface="+mn-lt"/>
                          <a:ea typeface="+mn-ea"/>
                          <a:cs typeface="+mn-cs"/>
                        </a:rPr>
                        <a:t>prem</a:t>
                      </a:r>
                      <a:endParaRPr kumimoji="0" lang="en-US" sz="600" b="1" i="0" u="none" strike="noStrike" kern="1200" cap="none" normalizeH="0" baseline="0" noProof="0" dirty="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Align with Technical teams to understand and close gap between the two solutions or identify different interventions required to address differences.</a:t>
                      </a:r>
                      <a:endParaRPr kumimoji="0" lang="en-US" sz="600" b="1" i="0" u="none" strike="noStrike" kern="1200" cap="none" normalizeH="0" baseline="0" noProof="0" dirty="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9" name="Group 852"/>
          <p:cNvGraphicFramePr>
            <a:graphicFrameLocks noGrp="1"/>
          </p:cNvGraphicFramePr>
          <p:nvPr>
            <p:extLst>
              <p:ext uri="{D42A27DB-BD31-4B8C-83A1-F6EECF244321}">
                <p14:modId xmlns:p14="http://schemas.microsoft.com/office/powerpoint/2010/main" val="1405387476"/>
              </p:ext>
            </p:extLst>
          </p:nvPr>
        </p:nvGraphicFramePr>
        <p:xfrm>
          <a:off x="4572000" y="3933056"/>
          <a:ext cx="4355124" cy="1149356"/>
        </p:xfrm>
        <a:graphic>
          <a:graphicData uri="http://schemas.openxmlformats.org/drawingml/2006/table">
            <a:tbl>
              <a:tblPr/>
              <a:tblGrid>
                <a:gridCol w="2127006"/>
                <a:gridCol w="2228118"/>
              </a:tblGrid>
              <a:tr h="190854">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35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583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646464"/>
                          </a:solidFill>
                          <a:effectLst/>
                          <a:latin typeface="+mn-lt"/>
                        </a:rPr>
                        <a:t>Engagement with the Areas is well behind schedule which prevents direct preparation of a Change/ Deployment network and understanding of local impacts. </a:t>
                      </a:r>
                      <a:endParaRPr kumimoji="0" lang="en-US" sz="600" b="0" i="0" u="none" strike="noStrike" cap="none" normalizeH="0" baseline="0" dirty="0">
                        <a:ln>
                          <a:noFill/>
                        </a:ln>
                        <a:solidFill>
                          <a:srgbClr val="646464"/>
                        </a:solidFill>
                        <a:effectLst/>
                        <a:latin typeface="+mn-lt"/>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600" b="0" i="0" u="none" strike="noStrike" kern="1200" cap="none" normalizeH="0" baseline="0" dirty="0" smtClean="0">
                          <a:ln>
                            <a:noFill/>
                          </a:ln>
                          <a:solidFill>
                            <a:srgbClr val="646464"/>
                          </a:solidFill>
                          <a:effectLst/>
                          <a:latin typeface="+mn-lt"/>
                          <a:ea typeface="+mn-ea"/>
                          <a:cs typeface="+mn-cs"/>
                        </a:rPr>
                        <a:t>Initial calls taken place with </a:t>
                      </a:r>
                      <a:r>
                        <a:rPr kumimoji="0" lang="en-GB" sz="600" b="0" i="0" u="none" strike="noStrike" kern="1200" cap="none" normalizeH="0" baseline="0" dirty="0" err="1" smtClean="0">
                          <a:ln>
                            <a:noFill/>
                          </a:ln>
                          <a:solidFill>
                            <a:srgbClr val="646464"/>
                          </a:solidFill>
                          <a:effectLst/>
                          <a:latin typeface="+mn-lt"/>
                          <a:ea typeface="+mn-ea"/>
                          <a:cs typeface="+mn-cs"/>
                        </a:rPr>
                        <a:t>AsiaPac</a:t>
                      </a:r>
                      <a:r>
                        <a:rPr kumimoji="0" lang="en-GB" sz="600" b="0" i="0" u="none" strike="noStrike" kern="1200" cap="none" normalizeH="0" baseline="0" dirty="0" smtClean="0">
                          <a:ln>
                            <a:noFill/>
                          </a:ln>
                          <a:solidFill>
                            <a:srgbClr val="646464"/>
                          </a:solidFill>
                          <a:effectLst/>
                          <a:latin typeface="+mn-lt"/>
                          <a:ea typeface="+mn-ea"/>
                          <a:cs typeface="+mn-cs"/>
                        </a:rPr>
                        <a:t> and Americas </a:t>
                      </a:r>
                      <a:r>
                        <a:rPr kumimoji="0" lang="en-US" sz="600" b="0" i="0" u="none" strike="noStrike" kern="1200" cap="none" normalizeH="0" baseline="0" dirty="0" smtClean="0">
                          <a:ln>
                            <a:noFill/>
                          </a:ln>
                          <a:solidFill>
                            <a:schemeClr val="tx1"/>
                          </a:solidFill>
                          <a:effectLst/>
                          <a:latin typeface="+mn-lt"/>
                          <a:ea typeface="+mn-ea"/>
                          <a:cs typeface="+mn-cs"/>
                        </a:rPr>
                        <a:t>Sophie and Martin have had discussions with Margaret Walsh for ITSD. And now we are working on a joint governance approach with DCC. EMEAIA rep identified.</a:t>
                      </a:r>
                      <a:endParaRPr kumimoji="0" lang="en-GB" sz="600" b="0" i="0" u="none" strike="noStrike" kern="1200" cap="none" normalizeH="0" baseline="0" dirty="0" smtClean="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81017">
                <a:tc>
                  <a:txBody>
                    <a:bodyPr/>
                    <a:lstStyle/>
                    <a:p>
                      <a:pPr>
                        <a:buFont typeface="Arial" pitchFamily="34" charset="0"/>
                        <a:buChar char="•"/>
                      </a:pPr>
                      <a:r>
                        <a:rPr kumimoji="0" lang="en-GB" sz="600" b="0" i="0" u="none" strike="noStrike" kern="1200" cap="none" normalizeH="0" baseline="0" dirty="0" smtClean="0">
                          <a:ln>
                            <a:noFill/>
                          </a:ln>
                          <a:solidFill>
                            <a:srgbClr val="646464"/>
                          </a:solidFill>
                          <a:effectLst/>
                          <a:latin typeface="+mn-lt"/>
                          <a:ea typeface="+mn-ea"/>
                          <a:cs typeface="+mn-cs"/>
                        </a:rPr>
                        <a:t>  Decision making in business for </a:t>
                      </a:r>
                      <a:r>
                        <a:rPr kumimoji="0" lang="en-GB" sz="600" b="0" i="0" u="none" strike="noStrike" kern="1200" cap="none" normalizeH="0" baseline="0" dirty="0" err="1" smtClean="0">
                          <a:ln>
                            <a:noFill/>
                          </a:ln>
                          <a:solidFill>
                            <a:srgbClr val="646464"/>
                          </a:solidFill>
                          <a:effectLst/>
                          <a:latin typeface="+mn-lt"/>
                          <a:ea typeface="+mn-ea"/>
                          <a:cs typeface="+mn-cs"/>
                        </a:rPr>
                        <a:t>Lync</a:t>
                      </a:r>
                      <a:r>
                        <a:rPr kumimoji="0" lang="en-GB" sz="600" b="0" i="0" u="none" strike="noStrike" kern="1200" cap="none" normalizeH="0" baseline="0" dirty="0" smtClean="0">
                          <a:ln>
                            <a:noFill/>
                          </a:ln>
                          <a:solidFill>
                            <a:srgbClr val="646464"/>
                          </a:solidFill>
                          <a:effectLst/>
                          <a:latin typeface="+mn-lt"/>
                          <a:ea typeface="+mn-ea"/>
                          <a:cs typeface="+mn-cs"/>
                        </a:rPr>
                        <a:t> and Outlook is unclear. FSG not engaged over L&amp;O. L&amp;O Governance required</a:t>
                      </a:r>
                      <a:endParaRPr kumimoji="0" lang="en-GB" sz="600" b="0" i="0" u="none" strike="noStrike" kern="1200" cap="none" normalizeH="0" baseline="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buFont typeface="Arial" pitchFamily="34" charset="0"/>
                        <a:buChar char="•"/>
                      </a:pPr>
                      <a:r>
                        <a:rPr kumimoji="0" lang="en-GB" sz="600" b="0" i="0" u="none" strike="noStrike" kern="1200" cap="none" normalizeH="0" baseline="0" dirty="0" smtClean="0">
                          <a:ln>
                            <a:noFill/>
                          </a:ln>
                          <a:solidFill>
                            <a:srgbClr val="646464"/>
                          </a:solidFill>
                          <a:effectLst/>
                          <a:latin typeface="+mn-lt"/>
                          <a:ea typeface="+mn-ea"/>
                          <a:cs typeface="+mn-cs"/>
                        </a:rPr>
                        <a:t> Drafted L&amp;O governance and reviewed with Jeremy Brown.   A matrix of reviewers, approvers and escalation point has been prepared for functional areas and Areas. </a:t>
                      </a:r>
                      <a:endParaRPr kumimoji="0" lang="en-GB" sz="600" b="0" i="0" u="none" strike="noStrike" kern="1200" cap="none" normalizeH="0" baseline="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566102788"/>
              </p:ext>
            </p:extLst>
          </p:nvPr>
        </p:nvGraphicFramePr>
        <p:xfrm>
          <a:off x="4572000" y="5229201"/>
          <a:ext cx="4386949" cy="671753"/>
        </p:xfrm>
        <a:graphic>
          <a:graphicData uri="http://schemas.openxmlformats.org/drawingml/2006/table">
            <a:tbl>
              <a:tblPr/>
              <a:tblGrid>
                <a:gridCol w="4386949"/>
              </a:tblGrid>
              <a:tr h="9512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529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00" b="1" i="0" u="none" strike="noStrike" kern="1200" cap="none" normalizeH="0" baseline="0" dirty="0" smtClean="0">
                          <a:ln>
                            <a:noFill/>
                          </a:ln>
                          <a:solidFill>
                            <a:srgbClr val="646464"/>
                          </a:solidFill>
                          <a:effectLst/>
                          <a:latin typeface="+mn-lt"/>
                          <a:ea typeface="+mn-ea"/>
                          <a:cs typeface="+mn-cs"/>
                        </a:rPr>
                        <a:t>All areas are now green due to re-planning exercise </a:t>
                      </a:r>
                      <a:endParaRPr kumimoji="0" lang="en-US" sz="600" b="1" i="0" u="none" strike="noStrike" kern="1200" cap="none" normalizeH="0" baseline="0" dirty="0" smtClean="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3281065643"/>
              </p:ext>
            </p:extLst>
          </p:nvPr>
        </p:nvGraphicFramePr>
        <p:xfrm>
          <a:off x="185051" y="1700809"/>
          <a:ext cx="4320480" cy="3888431"/>
        </p:xfrm>
        <a:graphic>
          <a:graphicData uri="http://schemas.openxmlformats.org/drawingml/2006/table">
            <a:tbl>
              <a:tblPr/>
              <a:tblGrid>
                <a:gridCol w="4320480"/>
              </a:tblGrid>
              <a:tr h="16096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8255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Team workshop in Secaucus to focus on detailed plans and service design approach.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Established weekly checkpoint call with Operational stakeholders.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Began discussion with Microsoft with approach to design and O365 service integration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Redefined the transition management planning approach and aligned with CLEAR.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smtClean="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sng" strike="noStrike" kern="1200" cap="none" normalizeH="0" baseline="0" dirty="0">
                        <a:ln>
                          <a:noFill/>
                        </a:ln>
                        <a:solidFill>
                          <a:schemeClr val="tx2"/>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9161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65332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Recruitment of TM resources</a:t>
                      </a:r>
                      <a:r>
                        <a:rPr kumimoji="0" lang="en-US" sz="700" b="0" i="0" u="none" strike="noStrike" kern="1200" cap="none" normalizeH="0" baseline="0" dirty="0" smtClean="0">
                          <a:ln>
                            <a:noFill/>
                          </a:ln>
                          <a:solidFill>
                            <a:schemeClr val="tx2"/>
                          </a:solidFill>
                          <a:effectLst/>
                          <a:latin typeface="+mn-lt"/>
                          <a:ea typeface="+mn-ea"/>
                          <a:cs typeface="+mn-cs"/>
                        </a:rPr>
                        <a: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196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72800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Preparation for Microsoft meeting w/c 26 March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Baseline service design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Baseline service transition plan.</a:t>
                      </a:r>
                      <a:endParaRPr kumimoji="0" lang="en-US" sz="700" b="1" i="0" u="none" strike="noStrike" kern="1200" cap="none" normalizeH="0" baseline="0" dirty="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Schedule Service Transition and Service Design workshop.</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Review RACI for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Engaging formally with Operations leadership regarding formal engagement of I&amp;O resources.</a:t>
                      </a:r>
                      <a:endParaRPr kumimoji="0" lang="en-US" sz="700" b="1" i="0" u="none" strike="noStrike" kern="1200" cap="none" normalizeH="0" baseline="0" dirty="0">
                        <a:ln>
                          <a:noFill/>
                        </a:ln>
                        <a:solidFill>
                          <a:schemeClr val="tx2"/>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2218277072"/>
              </p:ext>
            </p:extLst>
          </p:nvPr>
        </p:nvGraphicFramePr>
        <p:xfrm>
          <a:off x="4572000" y="4077072"/>
          <a:ext cx="4355123" cy="1770542"/>
        </p:xfrm>
        <a:graphic>
          <a:graphicData uri="http://schemas.openxmlformats.org/drawingml/2006/table">
            <a:tbl>
              <a:tblPr/>
              <a:tblGrid>
                <a:gridCol w="2193474"/>
                <a:gridCol w="2161649"/>
              </a:tblGrid>
              <a:tr h="13897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424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24313">
                <a:tc>
                  <a:txBody>
                    <a:bodyPr/>
                    <a:lstStyle/>
                    <a:p>
                      <a:pPr algn="l" fontAlgn="t"/>
                      <a:r>
                        <a:rPr lang="en-US" sz="700" b="0" i="0" u="none" strike="noStrike" dirty="0">
                          <a:solidFill>
                            <a:srgbClr val="000000"/>
                          </a:solidFill>
                          <a:latin typeface="+mn-lt"/>
                        </a:rPr>
                        <a:t>The common SP infrastructure for the firm does not have clear business ownership therefore we need new governance that will be responsible long term for communication of emergency outages and planning for regular maintenance</a:t>
                      </a:r>
                      <a:br>
                        <a:rPr lang="en-US" sz="700" b="0" i="0" u="none" strike="noStrike" dirty="0">
                          <a:solidFill>
                            <a:srgbClr val="000000"/>
                          </a:solidFill>
                          <a:latin typeface="+mn-lt"/>
                        </a:rPr>
                      </a:br>
                      <a:r>
                        <a:rPr lang="en-US" sz="700" b="0" i="0" u="none" strike="noStrike" dirty="0">
                          <a:solidFill>
                            <a:srgbClr val="000000"/>
                          </a:solidFill>
                          <a:latin typeface="+mn-lt"/>
                        </a:rPr>
                        <a:t/>
                      </a:r>
                      <a:br>
                        <a:rPr lang="en-US" sz="700" b="0" i="0" u="none" strike="noStrike" dirty="0">
                          <a:solidFill>
                            <a:srgbClr val="000000"/>
                          </a:solidFill>
                          <a:latin typeface="+mn-lt"/>
                        </a:rPr>
                      </a:br>
                      <a:r>
                        <a:rPr lang="en-US" sz="700" b="0" i="0" u="none" strike="noStrike" dirty="0">
                          <a:solidFill>
                            <a:srgbClr val="000000"/>
                          </a:solidFill>
                          <a:latin typeface="+mn-lt"/>
                        </a:rPr>
                        <a:t>System will not meet expectations post go live as it may not be available (due to an emergency, without prior communication) and patches may not occur per the schedule causing instability</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700" b="0" i="0" u="none" strike="noStrike" dirty="0">
                          <a:solidFill>
                            <a:srgbClr val="000000"/>
                          </a:solidFill>
                          <a:latin typeface="+mn-lt"/>
                        </a:rPr>
                        <a:t>To be determined via new Support model needed to support </a:t>
                      </a:r>
                      <a:r>
                        <a:rPr lang="en-US" sz="700" b="0" i="0" u="none" strike="noStrike" dirty="0" err="1">
                          <a:solidFill>
                            <a:srgbClr val="000000"/>
                          </a:solidFill>
                          <a:latin typeface="+mn-lt"/>
                        </a:rPr>
                        <a:t>Sharepoint</a:t>
                      </a:r>
                      <a:endParaRPr lang="en-US" sz="700" b="0" i="0" u="none" strike="noStrike" dirty="0">
                        <a:solidFill>
                          <a:srgbClr val="000000"/>
                        </a:solidFill>
                        <a:latin typeface="+mn-lt"/>
                      </a:endParaRP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13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96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mn-lt"/>
                        </a:rPr>
                        <a:t>None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3185003915"/>
              </p:ext>
            </p:extLst>
          </p:nvPr>
        </p:nvGraphicFramePr>
        <p:xfrm>
          <a:off x="185051" y="548680"/>
          <a:ext cx="4254011" cy="1008112"/>
        </p:xfrm>
        <a:graphic>
          <a:graphicData uri="http://schemas.openxmlformats.org/drawingml/2006/table">
            <a:tbl>
              <a:tblPr/>
              <a:tblGrid>
                <a:gridCol w="4254011"/>
              </a:tblGrid>
              <a:tr h="1992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A.  </a:t>
                      </a:r>
                      <a:r>
                        <a:rPr kumimoji="0" lang="en-GB" sz="700" b="1" i="0" u="none" strike="noStrike" cap="none" normalizeH="0" baseline="0" dirty="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0891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 Developing transition plans with each </a:t>
                      </a:r>
                      <a:r>
                        <a:rPr kumimoji="0" lang="en-US" sz="700" b="0" i="0" u="none" strike="noStrike" kern="1200" cap="none" normalizeH="0" baseline="0" dirty="0" err="1">
                          <a:ln>
                            <a:noFill/>
                          </a:ln>
                          <a:solidFill>
                            <a:schemeClr val="tx2"/>
                          </a:solidFill>
                          <a:effectLst/>
                          <a:latin typeface="+mn-lt"/>
                          <a:ea typeface="+mn-ea"/>
                          <a:cs typeface="+mn-cs"/>
                        </a:rPr>
                        <a:t>workstream</a:t>
                      </a:r>
                      <a:r>
                        <a:rPr kumimoji="0" lang="en-US" sz="700" b="0" i="0" u="none" strike="noStrike" kern="1200" cap="none" normalizeH="0" baseline="0" dirty="0">
                          <a:ln>
                            <a:noFill/>
                          </a:ln>
                          <a:solidFill>
                            <a:schemeClr val="tx2"/>
                          </a:solidFill>
                          <a:effectLst/>
                          <a:latin typeface="+mn-lt"/>
                          <a:ea typeface="+mn-ea"/>
                          <a:cs typeface="+mn-cs"/>
                        </a:rPr>
                        <a:t> based on current Transition methodology.</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Deployment of the dormant Lync client has reached full saturation.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Deployment of the dormant Outlook client </a:t>
                      </a:r>
                      <a:r>
                        <a:rPr kumimoji="0" lang="en-US" sz="700" b="0" i="0" u="none" strike="noStrike" kern="1200" cap="none" normalizeH="0" baseline="0" dirty="0" smtClean="0">
                          <a:ln>
                            <a:noFill/>
                          </a:ln>
                          <a:solidFill>
                            <a:schemeClr val="tx2"/>
                          </a:solidFill>
                          <a:effectLst/>
                          <a:latin typeface="+mn-lt"/>
                          <a:ea typeface="+mn-ea"/>
                          <a:cs typeface="+mn-cs"/>
                        </a:rPr>
                        <a:t>has started</a:t>
                      </a:r>
                      <a:endParaRPr kumimoji="0" lang="en-US" sz="700" b="0" i="0" u="none" strike="noStrike" kern="1200" cap="none" normalizeH="0" baseline="0" dirty="0">
                        <a:ln>
                          <a:noFill/>
                        </a:ln>
                        <a:solidFill>
                          <a:schemeClr val="tx2"/>
                        </a:solidFill>
                        <a:effectLst/>
                        <a:latin typeface="+mn-lt"/>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M&amp;C </a:t>
                      </a:r>
                      <a:r>
                        <a:rPr kumimoji="0" lang="en-US" sz="700" b="0" i="0" u="none" strike="noStrike" kern="1200" cap="none" normalizeH="0" baseline="0" dirty="0">
                          <a:ln>
                            <a:noFill/>
                          </a:ln>
                          <a:solidFill>
                            <a:schemeClr val="tx2"/>
                          </a:solidFill>
                          <a:effectLst/>
                          <a:latin typeface="+mn-lt"/>
                          <a:ea typeface="+mn-ea"/>
                          <a:cs typeface="+mn-cs"/>
                        </a:rPr>
                        <a:t>Transition </a:t>
                      </a:r>
                      <a:r>
                        <a:rPr kumimoji="0" lang="en-US" sz="700" b="0" i="0" u="none" strike="noStrike" kern="1200" cap="none" normalizeH="0" baseline="0" dirty="0" smtClean="0">
                          <a:ln>
                            <a:noFill/>
                          </a:ln>
                          <a:solidFill>
                            <a:schemeClr val="tx2"/>
                          </a:solidFill>
                          <a:effectLst/>
                          <a:latin typeface="+mn-lt"/>
                          <a:ea typeface="+mn-ea"/>
                          <a:cs typeface="+mn-cs"/>
                        </a:rPr>
                        <a:t>team developing the </a:t>
                      </a:r>
                      <a:r>
                        <a:rPr kumimoji="0" lang="en-US" sz="700" b="0" i="0" u="none" strike="noStrike" kern="1200" cap="none" normalizeH="0" baseline="0" dirty="0">
                          <a:ln>
                            <a:noFill/>
                          </a:ln>
                          <a:solidFill>
                            <a:schemeClr val="tx2"/>
                          </a:solidFill>
                          <a:effectLst/>
                          <a:latin typeface="+mn-lt"/>
                          <a:ea typeface="+mn-ea"/>
                          <a:cs typeface="+mn-cs"/>
                        </a:rPr>
                        <a:t>future </a:t>
                      </a:r>
                      <a:r>
                        <a:rPr kumimoji="0" lang="en-US" sz="700" b="0" i="0" u="none" strike="noStrike" kern="1200" cap="none" normalizeH="0" baseline="0" dirty="0" smtClean="0">
                          <a:ln>
                            <a:noFill/>
                          </a:ln>
                          <a:solidFill>
                            <a:schemeClr val="tx2"/>
                          </a:solidFill>
                          <a:effectLst/>
                          <a:latin typeface="+mn-lt"/>
                          <a:ea typeface="+mn-ea"/>
                          <a:cs typeface="+mn-cs"/>
                        </a:rPr>
                        <a:t>Service Design and resulting program </a:t>
                      </a:r>
                      <a:r>
                        <a:rPr kumimoji="0" lang="en-US" sz="700" b="0" i="0" u="none" strike="noStrike" kern="1200" cap="none" normalizeH="0" baseline="0" dirty="0">
                          <a:ln>
                            <a:noFill/>
                          </a:ln>
                          <a:solidFill>
                            <a:schemeClr val="tx2"/>
                          </a:solidFill>
                          <a:effectLst/>
                          <a:latin typeface="+mn-lt"/>
                          <a:ea typeface="+mn-ea"/>
                          <a:cs typeface="+mn-cs"/>
                        </a:rPr>
                        <a:t>transition plan</a:t>
                      </a:r>
                      <a:r>
                        <a:rPr kumimoji="0" lang="en-US" sz="700" b="0" i="0" u="none" strike="noStrike" kern="1200" cap="none" normalizeH="0" baseline="0" dirty="0" smtClean="0">
                          <a:ln>
                            <a:noFill/>
                          </a:ln>
                          <a:solidFill>
                            <a:schemeClr val="tx2"/>
                          </a:solidFill>
                          <a:effectLst/>
                          <a:latin typeface="+mn-lt"/>
                          <a:ea typeface="+mn-ea"/>
                          <a:cs typeface="+mn-cs"/>
                        </a:rPr>
                        <a: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Recruitment activities ongoing.  Candidate identified, due to move on offer.</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Defining approach to ensure all transition and service design activity is aligned to CLEAR.</a:t>
                      </a:r>
                      <a:endParaRPr kumimoji="0" lang="en-US" sz="700" b="0" i="0" u="none" strike="noStrike" kern="1200" cap="none" normalizeH="0" baseline="0" dirty="0">
                        <a:ln>
                          <a:noFill/>
                        </a:ln>
                        <a:solidFill>
                          <a:schemeClr val="tx2"/>
                        </a:solidFill>
                        <a:effectLst/>
                        <a:latin typeface="+mn-lt"/>
                        <a:ea typeface="+mn-ea"/>
                        <a:cs typeface="+mn-cs"/>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4012257226"/>
              </p:ext>
            </p:extLst>
          </p:nvPr>
        </p:nvGraphicFramePr>
        <p:xfrm>
          <a:off x="4572000" y="548680"/>
          <a:ext cx="4386947" cy="1590580"/>
        </p:xfrm>
        <a:graphic>
          <a:graphicData uri="http://schemas.openxmlformats.org/drawingml/2006/table">
            <a:tbl>
              <a:tblPr/>
              <a:tblGrid>
                <a:gridCol w="1412869"/>
                <a:gridCol w="708114"/>
                <a:gridCol w="752649"/>
                <a:gridCol w="756657"/>
                <a:gridCol w="756658"/>
              </a:tblGrid>
              <a:tr h="14912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mj-lt"/>
                          <a:ea typeface="+mn-ea"/>
                          <a:cs typeface="+mn-cs"/>
                        </a:rPr>
                        <a:t>E.  MILESTONES</a:t>
                      </a:r>
                      <a:endParaRPr kumimoji="0" lang="en-US" sz="700" b="0" i="0" u="none" strike="noStrike" kern="1200" cap="none" normalizeH="0" baseline="0" dirty="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2981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11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SharePoint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Lync &amp; Messaging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Exchange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TBD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TBD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Overall M&amp;C  Transition Plan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17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a:ln>
                            <a:noFill/>
                          </a:ln>
                          <a:solidFill>
                            <a:srgbClr val="646464"/>
                          </a:solidFill>
                          <a:effectLst/>
                          <a:latin typeface="+mj-lt"/>
                        </a:rPr>
                        <a:t>16 Mar</a:t>
                      </a: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val="2010413048"/>
              </p:ext>
            </p:extLst>
          </p:nvPr>
        </p:nvGraphicFramePr>
        <p:xfrm>
          <a:off x="7430164" y="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328356871"/>
              </p:ext>
            </p:extLst>
          </p:nvPr>
        </p:nvGraphicFramePr>
        <p:xfrm>
          <a:off x="4572000" y="2276873"/>
          <a:ext cx="4355123" cy="1728193"/>
        </p:xfrm>
        <a:graphic>
          <a:graphicData uri="http://schemas.openxmlformats.org/drawingml/2006/table">
            <a:tbl>
              <a:tblPr/>
              <a:tblGrid>
                <a:gridCol w="2193474"/>
                <a:gridCol w="2161649"/>
              </a:tblGrid>
              <a:tr h="181418">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221746">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a:ln>
                            <a:noFill/>
                          </a:ln>
                          <a:solidFill>
                            <a:schemeClr val="bg2"/>
                          </a:solidFill>
                          <a:effectLst/>
                          <a:latin typeface="+mn-lt"/>
                        </a:rPr>
                        <a:t>Mitigating Action</a:t>
                      </a:r>
                      <a:endParaRPr kumimoji="0" lang="en-US" sz="600" b="0" i="0" u="none" strike="noStrike" cap="none" normalizeH="0" baseline="0" dirty="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542789">
                <a:tc>
                  <a:txBody>
                    <a:bodyPr/>
                    <a:lstStyle/>
                    <a:p>
                      <a:pPr algn="l" fontAlgn="t"/>
                      <a:r>
                        <a:rPr lang="en-US" sz="600" b="0" i="0" u="none" strike="noStrike" dirty="0">
                          <a:solidFill>
                            <a:srgbClr val="000000"/>
                          </a:solidFill>
                          <a:latin typeface="+mn-lt"/>
                        </a:rPr>
                        <a:t>There is a risk that revised project timelines may impact the timeline of TOM design. If we do this too early we may not get buy in and could potentially create rework later in the process. </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a:solidFill>
                            <a:srgbClr val="000000"/>
                          </a:solidFill>
                          <a:latin typeface="+mn-lt"/>
                        </a:rPr>
                        <a:t>Will need to revisit once all plans are baselined and following 30 day 'get to green' approach to assess if our current plan timeline remains valid.</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07092">
                <a:tc>
                  <a:txBody>
                    <a:bodyPr/>
                    <a:lstStyle/>
                    <a:p>
                      <a:pPr algn="l" fontAlgn="t"/>
                      <a:r>
                        <a:rPr lang="en-US" sz="600" b="0" i="0" u="none" strike="noStrike">
                          <a:solidFill>
                            <a:srgbClr val="000000"/>
                          </a:solidFill>
                          <a:latin typeface="+mn-lt"/>
                        </a:rPr>
                        <a:t>The deployment approach for Outlook and SharePoint could significantly increased the cost associated with both internal and external support.</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a:solidFill>
                            <a:srgbClr val="000000"/>
                          </a:solidFill>
                          <a:latin typeface="+mn-lt"/>
                        </a:rPr>
                        <a:t>Will be validated via Service Design approach and better understanding of external support costs from external vendors for Cloud and On Premise.</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75148">
                <a:tc>
                  <a:txBody>
                    <a:bodyPr/>
                    <a:lstStyle/>
                    <a:p>
                      <a:pPr algn="l" fontAlgn="t"/>
                      <a:r>
                        <a:rPr lang="en-US" sz="600" b="0" i="0" u="none" strike="noStrike" dirty="0">
                          <a:solidFill>
                            <a:srgbClr val="000000"/>
                          </a:solidFill>
                          <a:latin typeface="+mn-lt"/>
                        </a:rPr>
                        <a:t>Lack of Enterprise Standards for Disaster Recovery (DR) may affect quality of design deliverables</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dirty="0">
                          <a:solidFill>
                            <a:srgbClr val="000000"/>
                          </a:solidFill>
                          <a:latin typeface="+mn-lt"/>
                        </a:rPr>
                        <a:t>Review current DR strategy </a:t>
                      </a:r>
                      <a:r>
                        <a:rPr lang="en-US" sz="600" b="0" i="0" u="none" strike="noStrike" dirty="0" err="1">
                          <a:solidFill>
                            <a:srgbClr val="000000"/>
                          </a:solidFill>
                          <a:latin typeface="+mn-lt"/>
                        </a:rPr>
                        <a:t>wth</a:t>
                      </a:r>
                      <a:r>
                        <a:rPr lang="en-US" sz="600" b="0" i="0" u="none" strike="noStrike" dirty="0">
                          <a:solidFill>
                            <a:srgbClr val="000000"/>
                          </a:solidFill>
                          <a:latin typeface="+mn-lt"/>
                        </a:rPr>
                        <a:t> Ops and define next steps.</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extLst>
              <p:ext uri="{D42A27DB-BD31-4B8C-83A1-F6EECF244321}">
                <p14:modId xmlns:p14="http://schemas.microsoft.com/office/powerpoint/2010/main" val="3621095484"/>
              </p:ext>
            </p:extLst>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extLst>
              <p:ext uri="{D42A27DB-BD31-4B8C-83A1-F6EECF244321}">
                <p14:modId xmlns:p14="http://schemas.microsoft.com/office/powerpoint/2010/main" val="3015080437"/>
              </p:ext>
            </p:extLst>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extLst>
              <p:ext uri="{D42A27DB-BD31-4B8C-83A1-F6EECF244321}">
                <p14:modId xmlns:p14="http://schemas.microsoft.com/office/powerpoint/2010/main" val="2640038505"/>
              </p:ext>
            </p:extLst>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extLst>
              <p:ext uri="{D42A27DB-BD31-4B8C-83A1-F6EECF244321}">
                <p14:modId xmlns:p14="http://schemas.microsoft.com/office/powerpoint/2010/main" val="600429244"/>
              </p:ext>
            </p:extLst>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4684" y="6657945"/>
              <a:ext cx="67240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mj-lt"/>
                </a:rPr>
                <a:t>Fully achieved</a:t>
              </a:r>
              <a:endParaRPr lang="en-GB" sz="500" b="1" kern="0" dirty="0">
                <a:solidFill>
                  <a:srgbClr val="646464"/>
                </a:solidFill>
                <a:latin typeface="+mj-lt"/>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mj-lt"/>
                </a:rPr>
                <a:t>The overall initiative status is governed by the RAG Status Guidance, summarized below. This guidance also applies to the individual Milestones Stats. </a:t>
              </a:r>
              <a:endParaRPr lang="en-GB" sz="500" kern="0" dirty="0">
                <a:solidFill>
                  <a:srgbClr val="646464"/>
                </a:solidFill>
                <a:latin typeface="+mj-lt"/>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mj-lt"/>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fontAlgn="base" hangingPunct="0">
              <a:spcBef>
                <a:spcPct val="0"/>
              </a:spcBef>
              <a:defRPr/>
            </a:pPr>
            <a:r>
              <a:rPr lang="en-US" sz="1600" b="1" kern="0" dirty="0">
                <a:solidFill>
                  <a:srgbClr val="646464"/>
                </a:solidFill>
                <a:latin typeface="+mj-lt"/>
              </a:rPr>
              <a:t>IT Transition Management – </a:t>
            </a:r>
            <a:r>
              <a:rPr lang="en-US" sz="1600" b="1" kern="0" dirty="0" smtClean="0">
                <a:solidFill>
                  <a:srgbClr val="646464"/>
                </a:solidFill>
                <a:latin typeface="+mj-lt"/>
              </a:rPr>
              <a:t>16 March</a:t>
            </a:r>
            <a:endParaRPr lang="en-US" sz="1600" b="1" kern="0" dirty="0">
              <a:solidFill>
                <a:srgbClr val="646464"/>
              </a:solidFill>
              <a:latin typeface="+mj-lt"/>
            </a:endParaRPr>
          </a:p>
        </p:txBody>
      </p:sp>
      <p:graphicFrame>
        <p:nvGraphicFramePr>
          <p:cNvPr id="24" name="Table 23"/>
          <p:cNvGraphicFramePr>
            <a:graphicFrameLocks noGrp="1"/>
          </p:cNvGraphicFramePr>
          <p:nvPr>
            <p:extLst>
              <p:ext uri="{D42A27DB-BD31-4B8C-83A1-F6EECF244321}">
                <p14:modId xmlns:p14="http://schemas.microsoft.com/office/powerpoint/2010/main" val="3251485979"/>
              </p:ext>
            </p:extLst>
          </p:nvPr>
        </p:nvGraphicFramePr>
        <p:xfrm>
          <a:off x="4572000" y="5661248"/>
          <a:ext cx="4355123" cy="576064"/>
        </p:xfrm>
        <a:graphic>
          <a:graphicData uri="http://schemas.openxmlformats.org/drawingml/2006/table">
            <a:tbl>
              <a:tblPr/>
              <a:tblGrid>
                <a:gridCol w="4355123"/>
              </a:tblGrid>
              <a:tr h="24823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278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rgbClr val="646464"/>
                          </a:solidFill>
                          <a:effectLst/>
                          <a:latin typeface="+mn-lt"/>
                        </a:rPr>
                        <a:t>The overall Amber assessment is due to current status of </a:t>
                      </a:r>
                      <a:r>
                        <a:rPr kumimoji="0" lang="en-US" sz="700" b="0" i="0" u="none" strike="noStrike" cap="none" normalizeH="0" baseline="0" dirty="0" err="1">
                          <a:ln>
                            <a:noFill/>
                          </a:ln>
                          <a:solidFill>
                            <a:srgbClr val="646464"/>
                          </a:solidFill>
                          <a:effectLst/>
                          <a:latin typeface="+mn-lt"/>
                        </a:rPr>
                        <a:t>workstream</a:t>
                      </a:r>
                      <a:r>
                        <a:rPr kumimoji="0" lang="en-US" sz="700" b="0" i="0" u="none" strike="noStrike" cap="none" normalizeH="0" baseline="0" dirty="0">
                          <a:ln>
                            <a:noFill/>
                          </a:ln>
                          <a:solidFill>
                            <a:srgbClr val="646464"/>
                          </a:solidFill>
                          <a:effectLst/>
                          <a:latin typeface="+mn-lt"/>
                        </a:rPr>
                        <a:t> delivery dates to baseline a transition plan.  Red A&amp;DM status due to the overall status of A&amp;DM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2983658065"/>
              </p:ext>
            </p:extLst>
          </p:nvPr>
        </p:nvGraphicFramePr>
        <p:xfrm>
          <a:off x="107504" y="1916833"/>
          <a:ext cx="4320479" cy="4555106"/>
        </p:xfrm>
        <a:graphic>
          <a:graphicData uri="http://schemas.openxmlformats.org/drawingml/2006/table">
            <a:tbl>
              <a:tblPr/>
              <a:tblGrid>
                <a:gridCol w="4320479"/>
              </a:tblGrid>
              <a:tr h="12528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1462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Submitted CR to refine MCS SOW down scope and ongoing resource requirements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Messaging</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Functional Specification Change Request Impact Assessment now completed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Sharepoint</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O365 Draft Discovery Documentation completed and uploaded and currently being reviewed by O365 Engineering team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82195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Vendor  RFP down selection, interim SOW and Cloud Topology  decision remains outstanding and the work stream is still engaged with both vendors further refining the pricing and progressing the independence issue .</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Messaging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Approval of re scoping CR026 is not complete and impacting resource allocation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Decision on </a:t>
                      </a:r>
                      <a:r>
                        <a:rPr kumimoji="0" lang="en-US" sz="700" b="0" i="0" u="none" strike="noStrike" kern="1200" cap="none" normalizeH="0" baseline="0" dirty="0" err="1" smtClean="0">
                          <a:ln>
                            <a:noFill/>
                          </a:ln>
                          <a:solidFill>
                            <a:schemeClr val="tx2"/>
                          </a:solidFill>
                          <a:effectLst/>
                          <a:latin typeface="+mn-lt"/>
                          <a:ea typeface="+mn-ea"/>
                          <a:cs typeface="+mn-cs"/>
                        </a:rPr>
                        <a:t>On</a:t>
                      </a:r>
                      <a:r>
                        <a:rPr kumimoji="0" lang="en-US" sz="700" b="0" i="0" u="none" strike="noStrike" kern="1200" cap="none" normalizeH="0" baseline="0" dirty="0" smtClean="0">
                          <a:ln>
                            <a:noFill/>
                          </a:ln>
                          <a:solidFill>
                            <a:schemeClr val="tx2"/>
                          </a:solidFill>
                          <a:effectLst/>
                          <a:latin typeface="+mn-lt"/>
                          <a:ea typeface="+mn-ea"/>
                          <a:cs typeface="+mn-cs"/>
                        </a:rPr>
                        <a:t> Premise locations remains outstanding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Network connectivity to O365 activity is being impacted by lack of dedicated resource and delivery dates are at risk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Final Architecture for  On Premise design not agreed and RTO RPO not aligned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Sharepoint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Change Request for current On </a:t>
                      </a:r>
                      <a:r>
                        <a:rPr kumimoji="0" lang="en-US" sz="700" b="0" i="0" u="none" strike="noStrike" kern="1200" cap="none" normalizeH="0" baseline="0" dirty="0" err="1" smtClean="0">
                          <a:ln>
                            <a:noFill/>
                          </a:ln>
                          <a:solidFill>
                            <a:schemeClr val="tx2"/>
                          </a:solidFill>
                          <a:effectLst/>
                          <a:latin typeface="+mn-lt"/>
                          <a:ea typeface="+mn-ea"/>
                          <a:cs typeface="+mn-cs"/>
                        </a:rPr>
                        <a:t>Prem</a:t>
                      </a:r>
                      <a:r>
                        <a:rPr kumimoji="0" lang="en-US" sz="700" b="0" i="0" u="none" strike="noStrike" kern="1200" cap="none" normalizeH="0" baseline="0" dirty="0" smtClean="0">
                          <a:ln>
                            <a:noFill/>
                          </a:ln>
                          <a:solidFill>
                            <a:schemeClr val="tx2"/>
                          </a:solidFill>
                          <a:effectLst/>
                          <a:latin typeface="+mn-lt"/>
                          <a:ea typeface="+mn-ea"/>
                          <a:cs typeface="+mn-cs"/>
                        </a:rPr>
                        <a:t> Functional Specification and </a:t>
                      </a:r>
                      <a:r>
                        <a:rPr kumimoji="0" lang="en-US" sz="700" b="0" i="0" u="none" strike="noStrike" kern="1200" cap="none" normalizeH="0" baseline="0" dirty="0" err="1" smtClean="0">
                          <a:ln>
                            <a:noFill/>
                          </a:ln>
                          <a:solidFill>
                            <a:schemeClr val="tx2"/>
                          </a:solidFill>
                          <a:effectLst/>
                          <a:latin typeface="+mn-lt"/>
                          <a:ea typeface="+mn-ea"/>
                          <a:cs typeface="+mn-cs"/>
                        </a:rPr>
                        <a:t>methodolgy</a:t>
                      </a:r>
                      <a:r>
                        <a:rPr kumimoji="0" lang="en-US" sz="700" b="0" i="0" u="none" strike="noStrike" kern="1200" cap="none" normalizeH="0" baseline="0" dirty="0" smtClean="0">
                          <a:ln>
                            <a:noFill/>
                          </a:ln>
                          <a:solidFill>
                            <a:schemeClr val="tx2"/>
                          </a:solidFill>
                          <a:effectLst/>
                          <a:latin typeface="+mn-lt"/>
                          <a:ea typeface="+mn-ea"/>
                          <a:cs typeface="+mn-cs"/>
                        </a:rPr>
                        <a:t> remains outstanding from MCS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Replanning of SP environments is requested to improve on  the iteration lifecycle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Extranet requirement roadmap (EYD &amp; Enablement phase 2) remains undefined but some  progress is being made in line with the Blue Print activity stream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800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Further </a:t>
                      </a:r>
                      <a:r>
                        <a:rPr kumimoji="0" lang="en-US" sz="700" b="0" i="0" u="none" strike="noStrike" cap="none" normalizeH="0" baseline="0" dirty="0" smtClean="0">
                          <a:ln>
                            <a:noFill/>
                          </a:ln>
                          <a:solidFill>
                            <a:srgbClr val="646464"/>
                          </a:solidFill>
                          <a:effectLst/>
                          <a:latin typeface="+mn-lt"/>
                        </a:rPr>
                        <a:t>refine GWAN engagement and deliverables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Refine resource requests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3686935280"/>
              </p:ext>
            </p:extLst>
          </p:nvPr>
        </p:nvGraphicFramePr>
        <p:xfrm>
          <a:off x="4716016" y="3861048"/>
          <a:ext cx="4355123" cy="1064292"/>
        </p:xfrm>
        <a:graphic>
          <a:graphicData uri="http://schemas.openxmlformats.org/drawingml/2006/table">
            <a:tbl>
              <a:tblPr/>
              <a:tblGrid>
                <a:gridCol w="2113085"/>
                <a:gridCol w="2242038"/>
              </a:tblGrid>
              <a:tr h="17401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809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Critical resource issues in engineering, Architecture and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Requests in place but not being progressed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O365 Team are being impacted by EY lack of dedicated 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CR generation and approval is slow and impacting SP and 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MCS are being advised daily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664652148"/>
              </p:ext>
            </p:extLst>
          </p:nvPr>
        </p:nvGraphicFramePr>
        <p:xfrm>
          <a:off x="107505" y="620689"/>
          <a:ext cx="4320479" cy="1096921"/>
        </p:xfrm>
        <a:graphic>
          <a:graphicData uri="http://schemas.openxmlformats.org/drawingml/2006/table">
            <a:tbl>
              <a:tblPr/>
              <a:tblGrid>
                <a:gridCol w="4320479"/>
              </a:tblGrid>
              <a:tr h="11867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j-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6144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j-lt"/>
                        </a:rPr>
                        <a:t>The team has made progress on a number of open items: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j-lt"/>
                        </a:rPr>
                        <a:t>O365 Messaging discovery documentation is being iterated by MCS engineering team</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cap="none" normalizeH="0" baseline="0" dirty="0" smtClean="0">
                        <a:ln>
                          <a:noFill/>
                        </a:ln>
                        <a:solidFill>
                          <a:srgbClr val="646464"/>
                        </a:solidFill>
                        <a:effectLst/>
                        <a:latin typeface="+mj-lt"/>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280284656"/>
              </p:ext>
            </p:extLst>
          </p:nvPr>
        </p:nvGraphicFramePr>
        <p:xfrm>
          <a:off x="4644008" y="660940"/>
          <a:ext cx="4357650" cy="1062472"/>
        </p:xfrm>
        <a:graphic>
          <a:graphicData uri="http://schemas.openxmlformats.org/drawingml/2006/table">
            <a:tbl>
              <a:tblPr/>
              <a:tblGrid>
                <a:gridCol w="1656183"/>
                <a:gridCol w="720080"/>
                <a:gridCol w="720080"/>
                <a:gridCol w="576064"/>
                <a:gridCol w="685243"/>
              </a:tblGrid>
              <a:tr h="152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j-lt"/>
                          <a:ea typeface="+mn-ea"/>
                          <a:cs typeface="+mn-cs"/>
                        </a:rPr>
                        <a:t>E.  MILESTONES</a:t>
                      </a:r>
                      <a:endParaRPr kumimoji="0" lang="en-US" sz="7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smtClean="0">
                          <a:ln>
                            <a:noFill/>
                          </a:ln>
                          <a:solidFill>
                            <a:schemeClr val="bg2"/>
                          </a:solidFill>
                          <a:effectLst/>
                          <a:latin typeface="+mj-lt"/>
                        </a:rPr>
                        <a:t>This Period</a:t>
                      </a:r>
                      <a:endParaRPr kumimoji="0" lang="en-US" sz="700" b="1" i="0" u="none" strike="noStrike" cap="none" normalizeH="0" baseline="0" dirty="0" smtClean="0">
                        <a:ln>
                          <a:noFill/>
                        </a:ln>
                        <a:solidFill>
                          <a:schemeClr val="bg2"/>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Finalize In Country Locations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17 Nov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30 Mar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O365 Messaging 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2</a:t>
                      </a:r>
                      <a:r>
                        <a:rPr kumimoji="0" lang="en-US" sz="700" b="0" i="0" u="none" strike="noStrike" cap="none" normalizeH="0" baseline="30000" dirty="0" smtClean="0">
                          <a:ln>
                            <a:noFill/>
                          </a:ln>
                          <a:solidFill>
                            <a:srgbClr val="646464"/>
                          </a:solidFill>
                          <a:effectLst/>
                          <a:latin typeface="+mj-lt"/>
                        </a:rPr>
                        <a:t>nd</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9</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397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O365 Sharepoint 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smtClean="0">
                          <a:ln>
                            <a:noFill/>
                          </a:ln>
                          <a:solidFill>
                            <a:srgbClr val="646464"/>
                          </a:solidFill>
                          <a:effectLst/>
                          <a:latin typeface="+mj-lt"/>
                        </a:rPr>
                        <a:t>16</a:t>
                      </a:r>
                      <a:r>
                        <a:rPr kumimoji="0" lang="en-US" sz="700" b="0" i="0" u="none" strike="noStrike" cap="none" normalizeH="0" baseline="30000" smtClean="0">
                          <a:ln>
                            <a:noFill/>
                          </a:ln>
                          <a:solidFill>
                            <a:srgbClr val="646464"/>
                          </a:solidFill>
                          <a:effectLst/>
                          <a:latin typeface="+mj-lt"/>
                        </a:rPr>
                        <a:t>th</a:t>
                      </a:r>
                      <a:r>
                        <a:rPr kumimoji="0" lang="en-US" sz="700" b="0" i="0" u="none" strike="noStrike" cap="none" normalizeH="0" baseline="0" smtClean="0">
                          <a:ln>
                            <a:noFill/>
                          </a:ln>
                          <a:solidFill>
                            <a:srgbClr val="646464"/>
                          </a:solidFill>
                          <a:effectLst/>
                          <a:latin typeface="+mj-lt"/>
                        </a:rPr>
                        <a:t> March</a:t>
                      </a:r>
                      <a:endParaRPr kumimoji="0" lang="en-US" sz="700" b="0" i="0" u="none" strike="noStrike" cap="none" normalizeH="0" baseline="0" dirty="0" smtClean="0">
                        <a:ln>
                          <a:noFill/>
                        </a:ln>
                        <a:solidFill>
                          <a:srgbClr val="646464"/>
                        </a:solidFill>
                        <a:effectLst/>
                        <a:latin typeface="+mj-lt"/>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26</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Lync Vendor Selection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Jan 30th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April 6</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20919899"/>
              </p:ext>
            </p:extLst>
          </p:nvPr>
        </p:nvGraphicFramePr>
        <p:xfrm>
          <a:off x="4716016" y="2348880"/>
          <a:ext cx="4283115" cy="864096"/>
        </p:xfrm>
        <a:graphic>
          <a:graphicData uri="http://schemas.openxmlformats.org/drawingml/2006/table">
            <a:tbl>
              <a:tblPr/>
              <a:tblGrid>
                <a:gridCol w="2069499"/>
                <a:gridCol w="2213616"/>
              </a:tblGrid>
              <a:tr h="289441">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237452">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Mitigating Action</a:t>
                      </a:r>
                      <a:endParaRPr kumimoji="0" lang="en-US" sz="700" b="0" i="0" u="none" strike="noStrike" cap="none" normalizeH="0" baseline="0" dirty="0" smtClean="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3720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Absence of  any BA resource is impacting SP and Lync </a:t>
                      </a:r>
                      <a:r>
                        <a:rPr kumimoji="0" lang="en-US" sz="700" b="0" i="0" u="none" strike="noStrike" cap="none" normalizeH="0" baseline="0" dirty="0" err="1" smtClean="0">
                          <a:ln>
                            <a:noFill/>
                          </a:ln>
                          <a:solidFill>
                            <a:srgbClr val="646464"/>
                          </a:solidFill>
                          <a:effectLst/>
                          <a:latin typeface="+mn-lt"/>
                        </a:rPr>
                        <a:t>workstream</a:t>
                      </a:r>
                      <a:endParaRPr kumimoji="0" lang="en-US" sz="700" b="0" i="0" u="none" strike="noStrike" cap="none" normalizeH="0" baseline="0" dirty="0" smtClean="0">
                        <a:ln>
                          <a:noFill/>
                        </a:ln>
                        <a:solidFill>
                          <a:srgbClr val="646464"/>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mn-lt"/>
                          <a:ea typeface="+mn-ea"/>
                          <a:cs typeface="+mn-cs"/>
                        </a:rPr>
                        <a:t>Resource requests in place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605509881"/>
              </p:ext>
            </p:extLst>
          </p:nvPr>
        </p:nvGraphicFramePr>
        <p:xfrm>
          <a:off x="4716016" y="6021288"/>
          <a:ext cx="4355123" cy="378796"/>
        </p:xfrm>
        <a:graphic>
          <a:graphicData uri="http://schemas.openxmlformats.org/drawingml/2006/table">
            <a:tbl>
              <a:tblPr/>
              <a:tblGrid>
                <a:gridCol w="4355123"/>
              </a:tblGrid>
              <a:tr h="11529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44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 Project is RED due to work stream issues and O365 implications,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622665" y="6376971"/>
            <a:ext cx="8341824" cy="481029"/>
            <a:chOff x="674554" y="6564722"/>
            <a:chExt cx="9036977" cy="481029"/>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a:t>
              </a:r>
              <a:r>
                <a:rPr lang="en-US" sz="500" b="1" dirty="0" err="1" smtClean="0">
                  <a:solidFill>
                    <a:srgbClr val="646464"/>
                  </a:solidFill>
                  <a:latin typeface="EYInterstate Light" pitchFamily="2" charset="0"/>
                </a:rPr>
                <a:t>ully</a:t>
              </a:r>
              <a:r>
                <a:rPr lang="en-US" sz="500" b="1" dirty="0" smtClean="0">
                  <a:solidFill>
                    <a:srgbClr val="646464"/>
                  </a:solidFill>
                  <a:latin typeface="EYInterstate Light" pitchFamily="2" charset="0"/>
                </a:rPr>
                <a:t> achieved</a:t>
              </a:r>
              <a:endParaRPr lang="en-GB" sz="500" b="1"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Technology Foundation March</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2242730131"/>
              </p:ext>
            </p:extLst>
          </p:nvPr>
        </p:nvGraphicFramePr>
        <p:xfrm>
          <a:off x="152400" y="3352800"/>
          <a:ext cx="4468688" cy="2709902"/>
        </p:xfrm>
        <a:graphic>
          <a:graphicData uri="http://schemas.openxmlformats.org/drawingml/2006/table">
            <a:tbl>
              <a:tblPr/>
              <a:tblGrid>
                <a:gridCol w="4468688"/>
              </a:tblGrid>
              <a:tr h="10732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600" b="1" i="0" u="none" strike="noStrike" kern="1200" cap="none" normalizeH="0" baseline="0" dirty="0" smtClean="0">
                          <a:ln>
                            <a:noFill/>
                          </a:ln>
                          <a:solidFill>
                            <a:schemeClr val="tx1"/>
                          </a:solidFill>
                          <a:effectLst/>
                          <a:latin typeface="+mn-lt"/>
                          <a:ea typeface="+mn-ea"/>
                          <a:cs typeface="+mn-cs"/>
                        </a:rPr>
                        <a:t>B</a:t>
                      </a:r>
                      <a:r>
                        <a:rPr kumimoji="0" lang="en-CA" sz="600" b="1" i="0" u="none" strike="noStrike" kern="1200" cap="none" normalizeH="0" baseline="0" noProof="0" dirty="0" smtClean="0">
                          <a:ln>
                            <a:noFill/>
                          </a:ln>
                          <a:solidFill>
                            <a:schemeClr val="tx1"/>
                          </a:solidFill>
                          <a:effectLst/>
                          <a:latin typeface="+mn-lt"/>
                          <a:ea typeface="+mn-ea"/>
                          <a:cs typeface="+mn-cs"/>
                        </a:rPr>
                        <a:t>.  KEY ACCOMPLISHMENTS 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76438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err="1" smtClean="0">
                          <a:ln>
                            <a:noFill/>
                          </a:ln>
                          <a:solidFill>
                            <a:schemeClr val="tx1"/>
                          </a:solidFill>
                          <a:effectLst/>
                          <a:latin typeface="+mn-lt"/>
                          <a:ea typeface="+mn-ea"/>
                          <a:cs typeface="+mn-cs"/>
                        </a:rPr>
                        <a:t>Lync</a:t>
                      </a:r>
                      <a:r>
                        <a:rPr kumimoji="0" lang="en-US" sz="600" b="0" i="0" u="none" strike="noStrike" kern="1200" cap="none" normalizeH="0" baseline="0" noProof="0" dirty="0" smtClean="0">
                          <a:ln>
                            <a:noFill/>
                          </a:ln>
                          <a:solidFill>
                            <a:schemeClr val="tx1"/>
                          </a:solidFill>
                          <a:effectLst/>
                          <a:latin typeface="+mn-lt"/>
                          <a:ea typeface="+mn-ea"/>
                          <a:cs typeface="+mn-cs"/>
                        </a:rPr>
                        <a:t> Devices: </a:t>
                      </a:r>
                      <a:r>
                        <a:rPr kumimoji="0" lang="en-GB" sz="600" b="0" i="0" u="none" strike="noStrike" kern="1200" cap="none" normalizeH="0" baseline="0" noProof="0" dirty="0" smtClean="0">
                          <a:ln>
                            <a:noFill/>
                          </a:ln>
                          <a:solidFill>
                            <a:schemeClr val="tx1"/>
                          </a:solidFill>
                          <a:effectLst/>
                          <a:latin typeface="+mn-lt"/>
                          <a:ea typeface="+mn-ea"/>
                          <a:cs typeface="+mn-cs"/>
                        </a:rPr>
                        <a:t>Evaluations are currently under review - Once the S&amp;I approval has been granted Global Procurement will finalise the device list with Dell and Lenovo and arrange global resell channels. </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0732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600" b="1" i="0" u="none" strike="noStrike" cap="none" normalizeH="0" baseline="0" dirty="0" smtClean="0">
                          <a:ln>
                            <a:noFill/>
                          </a:ln>
                          <a:solidFill>
                            <a:schemeClr val="tx1"/>
                          </a:solidFill>
                          <a:effectLst/>
                          <a:latin typeface="+mn-lt"/>
                        </a:rPr>
                        <a:t>C</a:t>
                      </a:r>
                      <a:r>
                        <a:rPr kumimoji="0" lang="en-CA" sz="600" b="1" i="0" u="none" strike="noStrike" kern="1200" cap="none" normalizeH="0" baseline="0" noProof="0" dirty="0" smtClean="0">
                          <a:ln>
                            <a:noFill/>
                          </a:ln>
                          <a:solidFill>
                            <a:schemeClr val="tx1"/>
                          </a:solidFill>
                          <a:effectLst/>
                          <a:latin typeface="+mn-lt"/>
                          <a:ea typeface="+mn-ea"/>
                          <a:cs typeface="+mn-cs"/>
                        </a:rPr>
                        <a:t>.  ACTIVITIES BEHIND SCHEDULE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216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n-lt"/>
                          <a:ea typeface="+mn-ea"/>
                          <a:cs typeface="+mn-cs"/>
                        </a:rPr>
                        <a:t>Deployment plan contingent on Business Deployment Strategy, DCC schedule and bandwidth </a:t>
                      </a:r>
                      <a:r>
                        <a:rPr kumimoji="0" lang="en-US" sz="600" b="0" i="0" u="none" strike="noStrike" kern="1200" cap="none" normalizeH="0" baseline="0" dirty="0" smtClean="0">
                          <a:ln>
                            <a:noFill/>
                          </a:ln>
                          <a:solidFill>
                            <a:schemeClr val="tx1"/>
                          </a:solidFill>
                          <a:effectLst/>
                          <a:latin typeface="+mn-lt"/>
                          <a:ea typeface="+mn-ea"/>
                          <a:cs typeface="+mn-cs"/>
                        </a:rPr>
                        <a:t>analysis</a:t>
                      </a:r>
                      <a:endParaRPr kumimoji="0" lang="en-US" sz="600" b="0" i="0" u="none" strike="noStrike" kern="1200" cap="none" normalizeH="0" baseline="0" dirty="0" smtClean="0">
                        <a:ln>
                          <a:noFill/>
                        </a:ln>
                        <a:solidFill>
                          <a:schemeClr val="tx1"/>
                        </a:solidFill>
                        <a:effectLst/>
                        <a:latin typeface="+mn-lt"/>
                        <a:ea typeface="+mn-ea"/>
                        <a:cs typeface="+mn-cs"/>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07326">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n-lt"/>
                          <a:ea typeface="+mn-ea"/>
                          <a:cs typeface="+mn-cs"/>
                        </a:rPr>
                        <a:t>D.  KEY ACTIVITIES PLANNED NEXT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3731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mn-lt"/>
                          <a:cs typeface="Arial" charset="0"/>
                        </a:rPr>
                        <a:t>Publish Lync and Outlook governance </a:t>
                      </a:r>
                      <a:r>
                        <a:rPr kumimoji="0" lang="en-US" sz="600" b="0" i="0" u="none" strike="noStrike" cap="none" normalizeH="0" baseline="0" dirty="0" smtClean="0">
                          <a:ln>
                            <a:noFill/>
                          </a:ln>
                          <a:solidFill>
                            <a:schemeClr val="tx1"/>
                          </a:solidFill>
                          <a:effectLst/>
                          <a:latin typeface="+mn-lt"/>
                          <a:cs typeface="Arial" charset="0"/>
                        </a:rPr>
                        <a:t>model</a:t>
                      </a:r>
                      <a:endParaRPr kumimoji="0" lang="en-US" sz="600" b="0" i="0" u="none" strike="noStrike" cap="none" normalizeH="0" baseline="0" dirty="0" smtClean="0">
                        <a:ln>
                          <a:noFill/>
                        </a:ln>
                        <a:solidFill>
                          <a:schemeClr val="tx1"/>
                        </a:solidFill>
                        <a:effectLst/>
                        <a:latin typeface="+mn-lt"/>
                        <a:cs typeface="Arial" charset="0"/>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3714316665"/>
              </p:ext>
            </p:extLst>
          </p:nvPr>
        </p:nvGraphicFramePr>
        <p:xfrm>
          <a:off x="4712677" y="3962400"/>
          <a:ext cx="4355123" cy="1020146"/>
        </p:xfrm>
        <a:graphic>
          <a:graphicData uri="http://schemas.openxmlformats.org/drawingml/2006/table">
            <a:tbl>
              <a:tblPr/>
              <a:tblGrid>
                <a:gridCol w="2113085"/>
                <a:gridCol w="2242038"/>
              </a:tblGrid>
              <a:tr h="14400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j-lt"/>
                        </a:rPr>
                        <a:t>G. </a:t>
                      </a:r>
                      <a:r>
                        <a:rPr kumimoji="0" lang="en-US" sz="600" b="1" i="0" u="none" strike="noStrike" kern="1200" cap="none" normalizeH="0" baseline="0" noProof="0" dirty="0" smtClean="0">
                          <a:ln>
                            <a:noFill/>
                          </a:ln>
                          <a:solidFill>
                            <a:schemeClr val="tx1"/>
                          </a:solidFill>
                          <a:effectLst/>
                          <a:latin typeface="+mj-lt"/>
                          <a:ea typeface="+mn-ea"/>
                          <a:cs typeface="+mn-cs"/>
                        </a:rPr>
                        <a:t>MATTERS FOR IMMEDIATE ATTENTION – typically specific current issues or scope changes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59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Issues to be resolved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1010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No forum for business validation and sign off of </a:t>
                      </a:r>
                      <a:r>
                        <a:rPr kumimoji="0" lang="en-US" sz="600" b="0" i="0" u="none" strike="noStrike" kern="1200" cap="none" normalizeH="0" baseline="0" dirty="0" err="1" smtClean="0">
                          <a:ln>
                            <a:noFill/>
                          </a:ln>
                          <a:solidFill>
                            <a:schemeClr val="tx1"/>
                          </a:solidFill>
                          <a:effectLst/>
                          <a:latin typeface="+mj-lt"/>
                          <a:ea typeface="+mn-ea"/>
                          <a:cs typeface="+mn-cs"/>
                        </a:rPr>
                        <a:t>Lync</a:t>
                      </a:r>
                      <a:r>
                        <a:rPr kumimoji="0" lang="en-US" sz="600" b="0" i="0" u="none" strike="noStrike" kern="1200" cap="none" normalizeH="0" baseline="0" dirty="0" smtClean="0">
                          <a:ln>
                            <a:noFill/>
                          </a:ln>
                          <a:solidFill>
                            <a:schemeClr val="tx1"/>
                          </a:solidFill>
                          <a:effectLst/>
                          <a:latin typeface="+mj-lt"/>
                          <a:ea typeface="+mn-ea"/>
                          <a:cs typeface="+mn-cs"/>
                        </a:rPr>
                        <a:t> and Outlook business requirements and configuration settings</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Deadline for completion and sign-off for business requirements now at risk due to lack of identified SMEs who can provide/sign off </a:t>
                      </a:r>
                      <a:r>
                        <a:rPr kumimoji="0" lang="en-US" sz="600" b="0" i="0" u="none" strike="noStrike" kern="1200" cap="none" normalizeH="0" baseline="0" dirty="0" err="1" smtClean="0">
                          <a:ln>
                            <a:noFill/>
                          </a:ln>
                          <a:solidFill>
                            <a:schemeClr val="tx1"/>
                          </a:solidFill>
                          <a:effectLst/>
                          <a:latin typeface="+mj-lt"/>
                          <a:ea typeface="+mn-ea"/>
                          <a:cs typeface="+mn-cs"/>
                        </a:rPr>
                        <a:t>reqs</a:t>
                      </a:r>
                      <a:r>
                        <a:rPr kumimoji="0" lang="en-US" sz="600" b="0" i="0" u="none" strike="noStrike" kern="1200" cap="none" normalizeH="0" baseline="0" dirty="0" smtClean="0">
                          <a:ln>
                            <a:noFill/>
                          </a:ln>
                          <a:solidFill>
                            <a:schemeClr val="tx1"/>
                          </a:solidFill>
                          <a:effectLst/>
                          <a:latin typeface="+mj-lt"/>
                          <a:ea typeface="+mn-ea"/>
                          <a:cs typeface="+mn-cs"/>
                        </a:rPr>
                        <a:t>. Status is 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712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Scope Change requests to be approved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1712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CR to be raised pending clarity on UC scope in relation to TF, Transition, Business Deployment</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Await publication of Org Chart and Roles and Responsibilities, and publication of Bus. Deployment Strategy</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1278778916"/>
              </p:ext>
            </p:extLst>
          </p:nvPr>
        </p:nvGraphicFramePr>
        <p:xfrm>
          <a:off x="152400" y="675892"/>
          <a:ext cx="4458451" cy="1897630"/>
        </p:xfrm>
        <a:graphic>
          <a:graphicData uri="http://schemas.openxmlformats.org/drawingml/2006/table">
            <a:tbl>
              <a:tblPr/>
              <a:tblGrid>
                <a:gridCol w="4458451"/>
              </a:tblGrid>
              <a:tr h="15332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n-lt"/>
                          <a:ea typeface="+mn-ea"/>
                          <a:cs typeface="+mn-cs"/>
                        </a:rPr>
                        <a:t>A.  </a:t>
                      </a:r>
                      <a:r>
                        <a:rPr kumimoji="0" lang="en-GB" sz="600" b="1" i="0" u="none" strike="noStrike" kern="1200" cap="none" normalizeH="0" baseline="0" noProof="0" dirty="0" smtClean="0">
                          <a:ln>
                            <a:noFill/>
                          </a:ln>
                          <a:solidFill>
                            <a:schemeClr val="tx1"/>
                          </a:solidFill>
                          <a:effectLst/>
                          <a:latin typeface="+mn-lt"/>
                          <a:ea typeface="+mn-ea"/>
                          <a:cs typeface="+mn-cs"/>
                        </a:rPr>
                        <a:t>EXECUTIVE SUMMARY – a summary of the progress for this period  (not of the initiative)</a:t>
                      </a:r>
                      <a:endParaRPr kumimoji="0" lang="en-US" sz="600" b="1" i="0" u="none" strike="noStrike" kern="1200" cap="none" normalizeH="0" baseline="0" noProof="0" dirty="0" smtClean="0">
                        <a:ln>
                          <a:noFill/>
                        </a:ln>
                        <a:solidFill>
                          <a:schemeClr val="tx1"/>
                        </a:solidFill>
                        <a:effectLst/>
                        <a:latin typeface="+mn-lt"/>
                        <a:ea typeface="+mn-ea"/>
                        <a:cs typeface="+mn-cs"/>
                      </a:endParaRPr>
                    </a:p>
                  </a:txBody>
                  <a:tcPr marL="33231" marR="33231" marT="14400" marB="14400"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7443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00" b="0" i="0" u="none" strike="noStrike" kern="1200" cap="none" normalizeH="0" baseline="0" dirty="0" smtClean="0">
                          <a:ln>
                            <a:noFill/>
                          </a:ln>
                          <a:solidFill>
                            <a:schemeClr val="tx1"/>
                          </a:solidFill>
                          <a:effectLst/>
                          <a:latin typeface="+mn-lt"/>
                          <a:ea typeface="+mn-ea"/>
                          <a:cs typeface="+mn-cs"/>
                        </a:rPr>
                        <a:t>Work is underway with </a:t>
                      </a:r>
                      <a:r>
                        <a:rPr kumimoji="0" lang="en-GB" sz="600" b="0" i="0" u="none" strike="noStrike" kern="1200" cap="none" normalizeH="0" baseline="0" dirty="0" smtClean="0">
                          <a:ln>
                            <a:noFill/>
                          </a:ln>
                          <a:solidFill>
                            <a:schemeClr val="tx1"/>
                          </a:solidFill>
                          <a:effectLst/>
                          <a:latin typeface="+mn-lt"/>
                          <a:ea typeface="+mn-ea"/>
                          <a:cs typeface="+mn-cs"/>
                        </a:rPr>
                        <a:t>Joe Grey </a:t>
                      </a:r>
                      <a:r>
                        <a:rPr kumimoji="0" lang="en-GB" sz="600" b="0" i="0" u="none" strike="noStrike" kern="1200" cap="none" normalizeH="0" baseline="0" dirty="0" smtClean="0">
                          <a:ln>
                            <a:noFill/>
                          </a:ln>
                          <a:solidFill>
                            <a:schemeClr val="tx1"/>
                          </a:solidFill>
                          <a:effectLst/>
                          <a:latin typeface="+mn-lt"/>
                          <a:ea typeface="+mn-ea"/>
                          <a:cs typeface="+mn-cs"/>
                        </a:rPr>
                        <a:t>and </a:t>
                      </a:r>
                      <a:r>
                        <a:rPr kumimoji="0" lang="en-GB" sz="600" b="0" i="0" u="none" strike="noStrike" kern="1200" cap="none" normalizeH="0" baseline="0" dirty="0" smtClean="0">
                          <a:ln>
                            <a:noFill/>
                          </a:ln>
                          <a:solidFill>
                            <a:schemeClr val="tx1"/>
                          </a:solidFill>
                          <a:effectLst/>
                          <a:latin typeface="+mn-lt"/>
                          <a:ea typeface="+mn-ea"/>
                          <a:cs typeface="+mn-cs"/>
                        </a:rPr>
                        <a:t>Black Knight </a:t>
                      </a:r>
                      <a:r>
                        <a:rPr kumimoji="0" lang="en-GB" sz="600" b="0" i="0" u="none" strike="noStrike" kern="1200" cap="none" normalizeH="0" baseline="0" dirty="0" smtClean="0">
                          <a:ln>
                            <a:noFill/>
                          </a:ln>
                          <a:solidFill>
                            <a:schemeClr val="tx1"/>
                          </a:solidFill>
                          <a:effectLst/>
                          <a:latin typeface="+mn-lt"/>
                          <a:ea typeface="+mn-ea"/>
                          <a:cs typeface="+mn-cs"/>
                        </a:rPr>
                        <a:t>to develop a governance model for review and approval of Unified Communications deliverables, including business requirements/configuration for Lync and Outlook, and Day 1 Plug in list. RB and JK will begin engaging proposed members of review/approval groups to determine whether they can act in this capacity. JB will publish proposed governance model for Lync and Outlook to FSG and Leadership as part of overall M&amp;C Governance </a:t>
                      </a:r>
                      <a:r>
                        <a:rPr kumimoji="0" lang="en-GB" sz="600" b="0" i="0" u="none" strike="noStrike" kern="1200" cap="none" normalizeH="0" baseline="0" dirty="0" smtClean="0">
                          <a:ln>
                            <a:noFill/>
                          </a:ln>
                          <a:solidFill>
                            <a:schemeClr val="tx1"/>
                          </a:solidFill>
                          <a:effectLst/>
                          <a:latin typeface="+mn-lt"/>
                          <a:ea typeface="+mn-ea"/>
                          <a:cs typeface="+mn-cs"/>
                        </a:rPr>
                        <a:t>structure</a:t>
                      </a:r>
                      <a:endParaRPr kumimoji="0" lang="en-GB" sz="600" b="0" i="0" u="none" strike="noStrike" kern="1200" cap="none" normalizeH="0" baseline="0" dirty="0" smtClean="0">
                        <a:ln>
                          <a:noFill/>
                        </a:ln>
                        <a:solidFill>
                          <a:schemeClr val="tx1"/>
                        </a:solidFill>
                        <a:effectLst/>
                        <a:latin typeface="+mn-lt"/>
                        <a:ea typeface="+mn-ea"/>
                        <a:cs typeface="+mn-cs"/>
                      </a:endParaRPr>
                    </a:p>
                  </a:txBody>
                  <a:tcPr marL="33231" marR="33231" marT="14400" marB="14400"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3291853853"/>
              </p:ext>
            </p:extLst>
          </p:nvPr>
        </p:nvGraphicFramePr>
        <p:xfrm>
          <a:off x="4718050" y="678047"/>
          <a:ext cx="4355126" cy="932582"/>
        </p:xfrm>
        <a:graphic>
          <a:graphicData uri="http://schemas.openxmlformats.org/drawingml/2006/table">
            <a:tbl>
              <a:tblPr/>
              <a:tblGrid>
                <a:gridCol w="1530350"/>
                <a:gridCol w="685800"/>
                <a:gridCol w="685800"/>
                <a:gridCol w="701571"/>
                <a:gridCol w="751605"/>
              </a:tblGrid>
              <a:tr h="178298">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n-lt"/>
                          <a:ea typeface="+mn-ea"/>
                          <a:cs typeface="+mn-cs"/>
                        </a:rPr>
                        <a:t>E.  </a:t>
                      </a:r>
                      <a:r>
                        <a:rPr kumimoji="0" lang="en-US" sz="700" b="1" i="0" u="none" strike="noStrike" kern="1200" cap="none" normalizeH="0" baseline="0" noProof="0" dirty="0" smtClean="0">
                          <a:ln>
                            <a:noFill/>
                          </a:ln>
                          <a:solidFill>
                            <a:schemeClr val="tx1"/>
                          </a:solidFill>
                          <a:effectLst/>
                          <a:latin typeface="+mn-lt"/>
                          <a:ea typeface="+mn-ea"/>
                          <a:cs typeface="+mn-cs"/>
                        </a:rPr>
                        <a:t>MILESTONES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r>
              <a:tr h="178284">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Individual Milestone Name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Planned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Projected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Migration Master DB Live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11-MAY-12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01-JUN-12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GREEN</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Migration Self-service Portal Live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11-MAY-12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01-JUN-12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N/A</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err="1" smtClean="0">
                          <a:ln>
                            <a:noFill/>
                          </a:ln>
                          <a:solidFill>
                            <a:schemeClr val="tx1"/>
                          </a:solidFill>
                          <a:effectLst/>
                          <a:latin typeface="+mn-lt"/>
                          <a:ea typeface="+mn-ea"/>
                          <a:cs typeface="+mn-cs"/>
                        </a:rPr>
                        <a:t>Lync</a:t>
                      </a:r>
                      <a:r>
                        <a:rPr kumimoji="0" lang="en-US" sz="700" b="0" i="0" u="none" strike="noStrike" kern="1200" cap="none" normalizeH="0" baseline="0" noProof="0" dirty="0" smtClean="0">
                          <a:ln>
                            <a:noFill/>
                          </a:ln>
                          <a:solidFill>
                            <a:schemeClr val="tx1"/>
                          </a:solidFill>
                          <a:effectLst/>
                          <a:latin typeface="+mn-lt"/>
                          <a:ea typeface="+mn-ea"/>
                          <a:cs typeface="+mn-cs"/>
                        </a:rPr>
                        <a:t> Device Provisioning in place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Outlook &amp; </a:t>
                      </a:r>
                      <a:r>
                        <a:rPr kumimoji="0" lang="en-US" sz="700" b="0" i="0" u="none" strike="noStrike" kern="1200" cap="none" normalizeH="0" baseline="0" noProof="0" dirty="0" err="1" smtClean="0">
                          <a:ln>
                            <a:noFill/>
                          </a:ln>
                          <a:solidFill>
                            <a:schemeClr val="tx1"/>
                          </a:solidFill>
                          <a:effectLst/>
                          <a:latin typeface="+mn-lt"/>
                          <a:ea typeface="+mn-ea"/>
                          <a:cs typeface="+mn-cs"/>
                        </a:rPr>
                        <a:t>Lync</a:t>
                      </a:r>
                      <a:r>
                        <a:rPr kumimoji="0" lang="en-US" sz="700" b="0" i="0" u="none" strike="noStrike" kern="1200" cap="none" normalizeH="0" baseline="0" noProof="0" dirty="0" smtClean="0">
                          <a:ln>
                            <a:noFill/>
                          </a:ln>
                          <a:solidFill>
                            <a:schemeClr val="tx1"/>
                          </a:solidFill>
                          <a:effectLst/>
                          <a:latin typeface="+mn-lt"/>
                          <a:ea typeface="+mn-ea"/>
                          <a:cs typeface="+mn-cs"/>
                        </a:rPr>
                        <a:t> </a:t>
                      </a:r>
                      <a:r>
                        <a:rPr kumimoji="0" lang="en-US" sz="700" b="0" i="0" u="none" strike="noStrike" kern="1200" cap="none" normalizeH="0" baseline="0" noProof="0" dirty="0" err="1" smtClean="0">
                          <a:ln>
                            <a:noFill/>
                          </a:ln>
                          <a:solidFill>
                            <a:schemeClr val="tx1"/>
                          </a:solidFill>
                          <a:effectLst/>
                          <a:latin typeface="+mn-lt"/>
                          <a:ea typeface="+mn-ea"/>
                          <a:cs typeface="+mn-cs"/>
                        </a:rPr>
                        <a:t>Config</a:t>
                      </a:r>
                      <a:r>
                        <a:rPr kumimoji="0" lang="en-US" sz="700" b="0" i="0" u="none" strike="noStrike" kern="1200" cap="none" normalizeH="0" baseline="0" noProof="0" dirty="0" smtClean="0">
                          <a:ln>
                            <a:noFill/>
                          </a:ln>
                          <a:solidFill>
                            <a:schemeClr val="tx1"/>
                          </a:solidFill>
                          <a:effectLst/>
                          <a:latin typeface="+mn-lt"/>
                          <a:ea typeface="+mn-ea"/>
                          <a:cs typeface="+mn-cs"/>
                        </a:rPr>
                        <a:t> </a:t>
                      </a:r>
                      <a:r>
                        <a:rPr kumimoji="0" lang="en-US" sz="700" b="0" i="0" u="none" strike="noStrike" kern="1200" cap="none" normalizeH="0" baseline="0" noProof="0" dirty="0" err="1" smtClean="0">
                          <a:ln>
                            <a:noFill/>
                          </a:ln>
                          <a:solidFill>
                            <a:schemeClr val="tx1"/>
                          </a:solidFill>
                          <a:effectLst/>
                          <a:latin typeface="+mn-lt"/>
                          <a:ea typeface="+mn-ea"/>
                          <a:cs typeface="+mn-cs"/>
                        </a:rPr>
                        <a:t>reqs</a:t>
                      </a:r>
                      <a:r>
                        <a:rPr kumimoji="0" lang="en-US" sz="700" b="0" i="0" u="none" strike="noStrike" kern="1200" cap="none" normalizeH="0" baseline="0" noProof="0" dirty="0" smtClean="0">
                          <a:ln>
                            <a:noFill/>
                          </a:ln>
                          <a:solidFill>
                            <a:schemeClr val="tx1"/>
                          </a:solidFill>
                          <a:effectLst/>
                          <a:latin typeface="+mn-lt"/>
                          <a:ea typeface="+mn-ea"/>
                          <a:cs typeface="+mn-cs"/>
                        </a:rPr>
                        <a:t>.</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20-APR-12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20-APR-12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GREEN</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74756463"/>
              </p:ext>
            </p:extLst>
          </p:nvPr>
        </p:nvGraphicFramePr>
        <p:xfrm>
          <a:off x="4718050" y="2819400"/>
          <a:ext cx="4355123" cy="1028150"/>
        </p:xfrm>
        <a:graphic>
          <a:graphicData uri="http://schemas.openxmlformats.org/drawingml/2006/table">
            <a:tbl>
              <a:tblPr/>
              <a:tblGrid>
                <a:gridCol w="2104292"/>
                <a:gridCol w="2250831"/>
              </a:tblGrid>
              <a:tr h="155512">
                <a:tc gridSpan="2">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j-lt"/>
                          <a:ea typeface="+mn-ea"/>
                          <a:cs typeface="+mn-cs"/>
                        </a:rPr>
                        <a:t>F.  KEY RISKS – typically future challenges or external circumstances that may affect the initiative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5551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bg1"/>
                          </a:solidFill>
                          <a:effectLst/>
                          <a:latin typeface="+mj-lt"/>
                          <a:ea typeface="+mn-ea"/>
                          <a:cs typeface="+mn-cs"/>
                        </a:rPr>
                        <a:t>Risks to be addressed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bg1"/>
                          </a:solidFill>
                          <a:effectLst/>
                          <a:latin typeface="+mj-lt"/>
                          <a:ea typeface="+mn-ea"/>
                          <a:cs typeface="+mn-cs"/>
                        </a:rPr>
                        <a:t>Mitigating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smtClean="0">
                          <a:ln>
                            <a:noFill/>
                          </a:ln>
                          <a:solidFill>
                            <a:schemeClr val="tx1"/>
                          </a:solidFill>
                          <a:effectLst/>
                          <a:latin typeface="+mj-lt"/>
                          <a:ea typeface="+mn-ea"/>
                          <a:cs typeface="+mn-cs"/>
                        </a:rPr>
                        <a:t>Network bandwidth impact on migration velocity and likely </a:t>
                      </a:r>
                      <a:r>
                        <a:rPr kumimoji="0" lang="en-US" sz="600" b="0" i="0" u="none" strike="noStrike" kern="1200" cap="none" normalizeH="0" baseline="0" noProof="0" dirty="0" err="1" smtClean="0">
                          <a:ln>
                            <a:noFill/>
                          </a:ln>
                          <a:solidFill>
                            <a:schemeClr val="tx1"/>
                          </a:solidFill>
                          <a:effectLst/>
                          <a:latin typeface="+mj-lt"/>
                          <a:ea typeface="+mn-ea"/>
                          <a:cs typeface="+mn-cs"/>
                        </a:rPr>
                        <a:t>Lync</a:t>
                      </a:r>
                      <a:r>
                        <a:rPr kumimoji="0" lang="en-US" sz="600" b="0" i="0" u="none" strike="noStrike" kern="1200" cap="none" normalizeH="0" baseline="0" noProof="0" dirty="0" smtClean="0">
                          <a:ln>
                            <a:noFill/>
                          </a:ln>
                          <a:solidFill>
                            <a:schemeClr val="tx1"/>
                          </a:solidFill>
                          <a:effectLst/>
                          <a:latin typeface="+mj-lt"/>
                          <a:ea typeface="+mn-ea"/>
                          <a:cs typeface="+mn-cs"/>
                        </a:rPr>
                        <a:t> performance will result in significant impact to current migration planning assumptions and end user experience</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Meeting scheduled for 21/03 between UC, TF, Business Deployment, Transition and Operations Intake to agree migration approach</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smtClean="0">
                          <a:ln>
                            <a:noFill/>
                          </a:ln>
                          <a:solidFill>
                            <a:schemeClr val="tx1"/>
                          </a:solidFill>
                          <a:effectLst/>
                          <a:latin typeface="+mj-lt"/>
                          <a:ea typeface="+mn-ea"/>
                          <a:cs typeface="+mn-cs"/>
                        </a:rPr>
                        <a:t>Risk that IAM will not deliver AD to UAT environments in time for UAT to start</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Working with TF and QA on environment provisioning strategy and aligning with IAM to ensure AD delivery to the necessary timelines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238606399"/>
              </p:ext>
            </p:extLst>
          </p:nvPr>
        </p:nvGraphicFramePr>
        <p:xfrm>
          <a:off x="4724400" y="5888868"/>
          <a:ext cx="4355123" cy="420492"/>
        </p:xfrm>
        <a:graphic>
          <a:graphicData uri="http://schemas.openxmlformats.org/drawingml/2006/table">
            <a:tbl>
              <a:tblPr/>
              <a:tblGrid>
                <a:gridCol w="4355123"/>
              </a:tblGrid>
              <a:tr h="100223">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600" b="0" i="0" u="none" strike="noStrike" kern="1200" cap="none" normalizeH="0" baseline="0" noProof="0" dirty="0" smtClean="0">
                          <a:ln>
                            <a:noFill/>
                          </a:ln>
                          <a:solidFill>
                            <a:srgbClr val="646464"/>
                          </a:solidFill>
                          <a:effectLst/>
                          <a:latin typeface="+mn-lt"/>
                          <a:ea typeface="+mn-ea"/>
                          <a:cs typeface="+mn-cs"/>
                        </a:rPr>
                        <a:t>H.  GENERAL COMMENTS – must</a:t>
                      </a:r>
                      <a:r>
                        <a:rPr kumimoji="0" lang="en-US" sz="600" b="0" i="0" u="none" strike="noStrike" kern="1200" cap="none" normalizeH="0" baseline="0" dirty="0" smtClean="0">
                          <a:ln>
                            <a:noFill/>
                          </a:ln>
                          <a:solidFill>
                            <a:srgbClr val="646464"/>
                          </a:solidFill>
                          <a:effectLst/>
                          <a:latin typeface="+mn-lt"/>
                          <a:ea typeface="+mn-ea"/>
                          <a:cs typeface="+mn-cs"/>
                        </a:rPr>
                        <a:t> </a:t>
                      </a:r>
                      <a:r>
                        <a:rPr kumimoji="0" lang="en-US" sz="600" b="0" i="0" u="none" strike="noStrike" kern="1200" cap="none" normalizeH="0" baseline="0" noProof="0" dirty="0" smtClean="0">
                          <a:ln>
                            <a:noFill/>
                          </a:ln>
                          <a:solidFill>
                            <a:srgbClr val="646464"/>
                          </a:solidFill>
                          <a:effectLst/>
                          <a:latin typeface="+mn-lt"/>
                          <a:ea typeface="+mn-ea"/>
                          <a:cs typeface="+mn-cs"/>
                        </a:rPr>
                        <a:t>include reasoning for an overall Red or Amber Status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2807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rgbClr val="646464"/>
                          </a:solidFill>
                          <a:effectLst/>
                          <a:latin typeface="+mn-lt"/>
                          <a:ea typeface="+mn-ea"/>
                          <a:cs typeface="+mn-cs"/>
                        </a:rPr>
                        <a:t>Deployment strategy still unknown, and new M&amp;C Transition Approach to be understood before further TM planning is possible. Engagement of business owners impacted by proposal to work through IT SDLs who have limited capacity to support the program</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31949"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algn="ctr" defTabSz="955675" eaLnBrk="0" hangingPunct="0">
                <a:spcAft>
                  <a:spcPts val="0"/>
                </a:spcAft>
                <a:defRPr/>
              </a:pPr>
              <a:r>
                <a:rPr lang="en-US" sz="500" b="1" dirty="0">
                  <a:solidFill>
                    <a:srgbClr val="646464"/>
                  </a:solidFill>
                  <a:latin typeface="EYInterstate Light" pitchFamily="2" charset="0"/>
                  <a:cs typeface="+mn-cs"/>
                </a:rPr>
                <a:t>F</a:t>
              </a:r>
              <a:r>
                <a:rPr lang="en-US" sz="500" b="1" dirty="0" err="1">
                  <a:solidFill>
                    <a:srgbClr val="646464"/>
                  </a:solidFill>
                  <a:latin typeface="EYInterstate Light" pitchFamily="2" charset="0"/>
                  <a:cs typeface="+mn-cs"/>
                </a:rPr>
                <a:t>ully</a:t>
              </a:r>
              <a:r>
                <a:rPr lang="en-US" sz="500" b="1" dirty="0">
                  <a:solidFill>
                    <a:srgbClr val="646464"/>
                  </a:solidFill>
                  <a:latin typeface="EYInterstate Light" pitchFamily="2" charset="0"/>
                  <a:cs typeface="+mn-cs"/>
                </a:rPr>
                <a:t> achieved</a:t>
              </a:r>
              <a:endParaRPr lang="en-GB" sz="500" b="1" kern="0" dirty="0">
                <a:solidFill>
                  <a:srgbClr val="646464"/>
                </a:solidFill>
                <a:latin typeface="EYInterstate"/>
                <a:cs typeface="+mn-cs"/>
              </a:endParaRPr>
            </a:p>
          </p:txBody>
        </p:sp>
        <p:sp>
          <p:nvSpPr>
            <p:cNvPr id="25" name="TextBox 24"/>
            <p:cNvSpPr txBox="1"/>
            <p:nvPr/>
          </p:nvSpPr>
          <p:spPr bwMode="gray">
            <a:xfrm>
              <a:off x="0" y="6505545"/>
              <a:ext cx="4882422" cy="169507"/>
            </a:xfrm>
            <a:prstGeom prst="rect">
              <a:avLst/>
            </a:prstGeom>
          </p:spPr>
          <p:txBody>
            <a:bodyPr wrap="none">
              <a:spAutoFit/>
            </a:bodyPr>
            <a:lstStyle/>
            <a:p>
              <a:pPr algn="ctr" defTabSz="955675" eaLnBrk="0" hangingPunct="0">
                <a:spcAft>
                  <a:spcPts val="0"/>
                </a:spcAft>
                <a:defRPr/>
              </a:pPr>
              <a:r>
                <a:rPr lang="en-US" sz="500" dirty="0">
                  <a:solidFill>
                    <a:srgbClr val="646464"/>
                  </a:solidFill>
                  <a:latin typeface="EYInterstate Light" pitchFamily="2" charset="0"/>
                  <a:cs typeface="+mn-cs"/>
                </a:rPr>
                <a:t>The overall initiative status is governed by the RAG Status Guidance, summarized below. This guidance also applies to the individual Milestones Stats. </a:t>
              </a:r>
              <a:endParaRPr lang="en-GB" sz="500" kern="0" dirty="0">
                <a:solidFill>
                  <a:srgbClr val="646464"/>
                </a:solidFill>
                <a:latin typeface="EYInterstate"/>
                <a:cs typeface="+mn-cs"/>
              </a:endParaRPr>
            </a:p>
          </p:txBody>
        </p:sp>
        <p:sp>
          <p:nvSpPr>
            <p:cNvPr id="31952"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on track and has no significant challenges and/or issues that may materially impact the overall successful achievement of the expected outcomes, now or in the future. 	</a:t>
              </a:r>
            </a:p>
          </p:txBody>
        </p:sp>
        <p:sp>
          <p:nvSpPr>
            <p:cNvPr id="31953"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algn="ctr" defTabSz="955675" eaLnBrk="0" hangingPunct="0"/>
              <a:endParaRPr lang="en-GB" sz="500" b="1" dirty="0">
                <a:solidFill>
                  <a:srgbClr val="646464"/>
                </a:solidFill>
                <a:latin typeface="EYInterstate Light" pitchFamily="2" charset="0"/>
                <a:cs typeface="+mn-cs"/>
              </a:endParaRPr>
            </a:p>
            <a:p>
              <a:pPr algn="ctr" defTabSz="955675" eaLnBrk="0" hangingPunct="0"/>
              <a:r>
                <a:rPr lang="en-GB" sz="500" b="1" dirty="0">
                  <a:solidFill>
                    <a:srgbClr val="646464"/>
                  </a:solidFill>
                  <a:latin typeface="EYInterstate Light" pitchFamily="2" charset="0"/>
                  <a:cs typeface="+mn-cs"/>
                </a:rPr>
                <a:t>Project is on track but has some significant challenges and/or issues that may materially impact the overall successful achievement of the expected outcomes. 	</a:t>
              </a:r>
            </a:p>
          </p:txBody>
        </p:sp>
      </p:grpSp>
      <p:sp>
        <p:nvSpPr>
          <p:cNvPr id="31910" name="Freeform 94"/>
          <p:cNvSpPr>
            <a:spLocks/>
          </p:cNvSpPr>
          <p:nvPr/>
        </p:nvSpPr>
        <p:spPr bwMode="gray">
          <a:xfrm>
            <a:off x="-3175" y="-3175"/>
            <a:ext cx="7546975" cy="307975"/>
          </a:xfrm>
          <a:custGeom>
            <a:avLst/>
            <a:gdLst>
              <a:gd name="T0" fmla="*/ 2147483647 w 6000"/>
              <a:gd name="T1" fmla="*/ 0 h 754"/>
              <a:gd name="T2" fmla="*/ 2147483647 w 6000"/>
              <a:gd name="T3" fmla="*/ 125460203 h 754"/>
              <a:gd name="T4" fmla="*/ 0 w 6000"/>
              <a:gd name="T5" fmla="*/ 125793910 h 754"/>
              <a:gd name="T6" fmla="*/ 0 w 6000"/>
              <a:gd name="T7" fmla="*/ 50035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a:solidFill>
                <a:srgbClr val="000000"/>
              </a:solidFill>
              <a:latin typeface="Arial" pitchFamily="34" charset="0"/>
              <a:cs typeface="+mn-cs"/>
            </a:endParaRPr>
          </a:p>
        </p:txBody>
      </p:sp>
      <p:sp>
        <p:nvSpPr>
          <p:cNvPr id="67" name="Rectangle 183"/>
          <p:cNvSpPr txBox="1">
            <a:spLocks noChangeArrowheads="1"/>
          </p:cNvSpPr>
          <p:nvPr/>
        </p:nvSpPr>
        <p:spPr bwMode="gray">
          <a:xfrm>
            <a:off x="152400" y="0"/>
            <a:ext cx="7620000" cy="338554"/>
          </a:xfrm>
          <a:prstGeom prst="rect">
            <a:avLst/>
          </a:prstGeom>
        </p:spPr>
        <p:txBody>
          <a:bodyPr wrap="square">
            <a:spAutoFit/>
          </a:bodyPr>
          <a:lstStyle/>
          <a:p>
            <a:pPr algn="l" defTabSz="955675" eaLnBrk="0" hangingPunct="0">
              <a:spcAft>
                <a:spcPts val="0"/>
              </a:spcAft>
              <a:defRPr/>
            </a:pPr>
            <a:r>
              <a:rPr lang="en-US" sz="1600" b="1" kern="0" dirty="0" smtClean="0">
                <a:solidFill>
                  <a:srgbClr val="646464"/>
                </a:solidFill>
                <a:latin typeface="EYInterstate"/>
                <a:cs typeface="+mn-cs"/>
              </a:rPr>
              <a:t>R19913 – Unified Communications – </a:t>
            </a:r>
            <a:r>
              <a:rPr lang="en-US" sz="1600" b="1" kern="0" dirty="0" smtClean="0">
                <a:solidFill>
                  <a:srgbClr val="646464"/>
                </a:solidFill>
                <a:latin typeface="EYInterstate"/>
              </a:rPr>
              <a:t>Ray Wilkinson </a:t>
            </a:r>
            <a:endParaRPr lang="en-US" sz="1400" kern="0" dirty="0">
              <a:solidFill>
                <a:srgbClr val="646464"/>
              </a:solidFill>
              <a:latin typeface="EYInterstate"/>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3059113" y="3722687"/>
            <a:ext cx="5932487" cy="908050"/>
          </a:xfrm>
        </p:spPr>
        <p:txBody>
          <a:bodyPr/>
          <a:lstStyle/>
          <a:p>
            <a:pPr eaLnBrk="1" hangingPunct="1"/>
            <a:r>
              <a:rPr lang="en-US" dirty="0" smtClean="0">
                <a:solidFill>
                  <a:schemeClr val="tx1"/>
                </a:solidFill>
              </a:rPr>
              <a:t>AB</a:t>
            </a:r>
            <a:r>
              <a:rPr lang="en-US" dirty="0" smtClean="0">
                <a:solidFill>
                  <a:schemeClr val="tx1"/>
                </a:solidFill>
              </a:rPr>
              <a:t>&amp;C</a:t>
            </a:r>
            <a:r>
              <a:rPr lang="en-US" sz="2800" dirty="0" smtClean="0">
                <a:solidFill>
                  <a:schemeClr val="tx1"/>
                </a:solidFill>
              </a:rPr>
              <a:t> </a:t>
            </a:r>
            <a:r>
              <a:rPr lang="en-US" sz="2000" dirty="0" smtClean="0">
                <a:solidFill>
                  <a:schemeClr val="tx1"/>
                </a:solidFill>
              </a:rPr>
              <a:t/>
            </a:r>
            <a:br>
              <a:rPr lang="en-US" sz="2000" dirty="0" smtClean="0">
                <a:solidFill>
                  <a:schemeClr val="tx1"/>
                </a:solidFill>
              </a:rPr>
            </a:br>
            <a:r>
              <a:rPr lang="en-US" sz="2000" b="0" dirty="0" smtClean="0">
                <a:solidFill>
                  <a:schemeClr val="tx1"/>
                </a:solidFill>
              </a:rPr>
              <a:t>TF Program Update by </a:t>
            </a:r>
            <a:r>
              <a:rPr lang="en-US" sz="2000" b="0" dirty="0" err="1" smtClean="0">
                <a:solidFill>
                  <a:schemeClr val="tx1"/>
                </a:solidFill>
              </a:rPr>
              <a:t>Workstream</a:t>
            </a:r>
            <a:endParaRPr lang="en-US" sz="2800" b="0" dirty="0" smtClean="0"/>
          </a:p>
        </p:txBody>
      </p:sp>
      <p:sp>
        <p:nvSpPr>
          <p:cNvPr id="15363" name="Rectangle 5"/>
          <p:cNvSpPr>
            <a:spLocks noGrp="1" noChangeArrowheads="1"/>
          </p:cNvSpPr>
          <p:nvPr>
            <p:ph type="subTitle" idx="1"/>
          </p:nvPr>
        </p:nvSpPr>
        <p:spPr>
          <a:xfrm>
            <a:off x="3062288" y="4619625"/>
            <a:ext cx="5541962" cy="485775"/>
          </a:xfrm>
        </p:spPr>
        <p:txBody>
          <a:bodyPr/>
          <a:lstStyle/>
          <a:p>
            <a:pPr eaLnBrk="1" hangingPunct="1"/>
            <a:r>
              <a:rPr lang="en-US" dirty="0" smtClean="0"/>
              <a:t>19</a:t>
            </a:r>
            <a:r>
              <a:rPr lang="en-US" baseline="30000" dirty="0" smtClean="0"/>
              <a:t>th</a:t>
            </a:r>
            <a:r>
              <a:rPr lang="en-US" dirty="0" smtClean="0"/>
              <a:t> March 2015</a:t>
            </a:r>
            <a:endParaRPr lang="en-US" dirty="0" smtClean="0"/>
          </a:p>
          <a:p>
            <a:pPr eaLnBrk="1" hangingPunct="1"/>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3028185366"/>
              </p:ext>
            </p:extLst>
          </p:nvPr>
        </p:nvGraphicFramePr>
        <p:xfrm>
          <a:off x="99488" y="3212976"/>
          <a:ext cx="4355123" cy="2551203"/>
        </p:xfrm>
        <a:graphic>
          <a:graphicData uri="http://schemas.openxmlformats.org/drawingml/2006/table">
            <a:tbl>
              <a:tblPr/>
              <a:tblGrid>
                <a:gridCol w="4355123"/>
              </a:tblGrid>
              <a:tr h="12190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j-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98002">
                <a:tc>
                  <a:txBody>
                    <a:bodyPr/>
                    <a:lstStyle/>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O365: Online Services Messaging discovery review complete</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Messaging: CR026 approved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Identity: CR025 Approved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Lync:</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SharePoint Enablement: </a:t>
                      </a:r>
                      <a:r>
                        <a:rPr kumimoji="0" lang="en-GB" sz="700" b="0" i="0" u="none" strike="noStrike" kern="1200" cap="none" normalizeH="0" baseline="0" dirty="0" smtClean="0">
                          <a:ln>
                            <a:noFill/>
                          </a:ln>
                          <a:solidFill>
                            <a:srgbClr val="646464"/>
                          </a:solidFill>
                          <a:effectLst/>
                          <a:latin typeface="+mj-lt"/>
                          <a:ea typeface="+mn-ea"/>
                          <a:cs typeface="+mn-cs"/>
                        </a:rPr>
                        <a:t>POC  assessment continues  (DTU), Development continues (Search), People, Communities bug fixes</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j-lt"/>
                          <a:ea typeface="+mn-ea"/>
                          <a:cs typeface="+mn-cs"/>
                        </a:rPr>
                        <a:t>SharePoint Foundations: CR for O365 retro fit being developed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j-lt"/>
                          <a:ea typeface="+mn-ea"/>
                          <a:cs typeface="+mn-cs"/>
                        </a:rPr>
                        <a:t>SharePoint ADM: Stalled</a:t>
                      </a:r>
                      <a:endParaRPr kumimoji="0" lang="en-US" sz="700" b="0"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190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j-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3533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j-lt"/>
                        </a:rPr>
                        <a:t>O365  Scope lock after engineering review</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j-lt"/>
                        </a:rPr>
                        <a:t>Signature on Deliverables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190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68917">
                <a:tc>
                  <a:txBody>
                    <a:bodyPr/>
                    <a:lstStyle/>
                    <a:p>
                      <a:pPr marL="0" marR="0" lvl="0" indent="-3143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2446487213"/>
              </p:ext>
            </p:extLst>
          </p:nvPr>
        </p:nvGraphicFramePr>
        <p:xfrm>
          <a:off x="4674631" y="4077072"/>
          <a:ext cx="4355123" cy="869989"/>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j-lt"/>
                          <a:ea typeface="+mn-ea"/>
                          <a:cs typeface="+mn-cs"/>
                        </a:rPr>
                        <a:t>Signature for DESIGN Deliverables for Lync, SPF and 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Obtain executive signatures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j-lt"/>
                          <a:ea typeface="+mn-ea"/>
                          <a:cs typeface="+mn-cs"/>
                        </a:rPr>
                        <a:t>Confirm approach for ADM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2551003144"/>
              </p:ext>
            </p:extLst>
          </p:nvPr>
        </p:nvGraphicFramePr>
        <p:xfrm>
          <a:off x="107504" y="586296"/>
          <a:ext cx="4360985" cy="2124800"/>
        </p:xfrm>
        <a:graphic>
          <a:graphicData uri="http://schemas.openxmlformats.org/drawingml/2006/table">
            <a:tbl>
              <a:tblPr/>
              <a:tblGrid>
                <a:gridCol w="4360985"/>
              </a:tblGrid>
              <a:tr h="10213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A.  </a:t>
                      </a:r>
                      <a:r>
                        <a:rPr kumimoji="0" lang="en-GB" sz="700" b="1" i="0" u="none" strike="noStrike" cap="none" normalizeH="0" baseline="0" dirty="0" smtClean="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8932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mn-lt"/>
                        </a:rPr>
                        <a:t>O365 Services</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All information has been submitted to engineering to drive towards scope lock.  Roles &amp; responsibilities were clarified and project is now moving forward at a good pace. </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mn-lt"/>
                        </a:rPr>
                        <a:t>Messaging:</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Change Request (CR0026) for O365 retrofit approved to the EY PjM and EY PMO on March 4.  Still requires commercial execution</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rgbClr val="646464"/>
                          </a:solidFill>
                          <a:effectLst/>
                          <a:latin typeface="+mn-lt"/>
                        </a:rPr>
                        <a:t>Lync:</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CR to close out the project needs to be finalized</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rgbClr val="646464"/>
                          </a:solidFill>
                          <a:effectLst/>
                          <a:latin typeface="+mn-lt"/>
                        </a:rPr>
                        <a:t>Identity Management:</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Deliverable approval process running slow</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rgbClr val="646464"/>
                          </a:solidFill>
                          <a:effectLst/>
                          <a:latin typeface="+mn-lt"/>
                          <a:ea typeface="+mn-ea"/>
                          <a:cs typeface="+mn-cs"/>
                        </a:rPr>
                        <a:t>Budget Over Run</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kern="1200" cap="none" normalizeH="0" baseline="0" dirty="0" smtClean="0">
                          <a:ln>
                            <a:noFill/>
                          </a:ln>
                          <a:solidFill>
                            <a:srgbClr val="646464"/>
                          </a:solidFill>
                          <a:effectLst/>
                          <a:latin typeface="+mn-lt"/>
                          <a:ea typeface="+mn-ea"/>
                          <a:cs typeface="+mn-cs"/>
                        </a:rPr>
                        <a:t>SharePoint ADM</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Project postponed by EY ADM team until further notice.   As per EY ADM, a new SOW is required.   Estimated restart: August, 2012.</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n-lt"/>
                        </a:rPr>
                        <a:t>SharePoint Foundation</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CR being developed to retrofit for O365, draft being delivered Monday 3/19</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n-lt"/>
                        </a:rPr>
                        <a:t>SharePoint Enablement</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169286186"/>
              </p:ext>
            </p:extLst>
          </p:nvPr>
        </p:nvGraphicFramePr>
        <p:xfrm>
          <a:off x="4674630" y="764704"/>
          <a:ext cx="4355126" cy="1572859"/>
        </p:xfrm>
        <a:graphic>
          <a:graphicData uri="http://schemas.openxmlformats.org/drawingml/2006/table">
            <a:tbl>
              <a:tblPr/>
              <a:tblGrid>
                <a:gridCol w="1400909"/>
                <a:gridCol w="800717"/>
                <a:gridCol w="678694"/>
                <a:gridCol w="723201"/>
                <a:gridCol w="751605"/>
              </a:tblGrid>
              <a:tr h="1314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kern="1200" cap="none" normalizeH="0" baseline="0" dirty="0" smtClean="0">
                          <a:ln>
                            <a:noFill/>
                          </a:ln>
                          <a:solidFill>
                            <a:schemeClr val="tx1"/>
                          </a:solidFill>
                          <a:effectLst/>
                          <a:latin typeface="+mj-lt"/>
                          <a:ea typeface="+mn-ea"/>
                          <a:cs typeface="+mn-cs"/>
                        </a:rPr>
                        <a:t>E.  MILESTONES</a:t>
                      </a:r>
                      <a:endParaRPr kumimoji="0" lang="en-US" sz="8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282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8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800" b="1" i="0" u="none" strike="noStrike" cap="none" normalizeH="0" baseline="0" dirty="0" smtClean="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800" b="0" i="0" u="none" strike="noStrike" cap="none" normalizeH="0" baseline="0" dirty="0" smtClean="0">
                          <a:ln>
                            <a:noFill/>
                          </a:ln>
                          <a:solidFill>
                            <a:srgbClr val="646464"/>
                          </a:solidFill>
                          <a:effectLst/>
                          <a:latin typeface="+mj-lt"/>
                        </a:rPr>
                        <a:t>O365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3/23/12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3/30/12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800" b="0" i="0" u="none" strike="noStrike" cap="none" normalizeH="0" baseline="0" dirty="0" smtClean="0">
                          <a:ln>
                            <a:noFill/>
                          </a:ln>
                          <a:solidFill>
                            <a:srgbClr val="646464"/>
                          </a:solidFill>
                          <a:effectLst/>
                          <a:latin typeface="+mj-lt"/>
                        </a:rPr>
                        <a:t>Messaging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TBD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6711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Lync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3/18/12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endParaRPr kumimoji="0" lang="en-US" sz="800" b="0" i="0" u="none" strike="noStrike" cap="none" normalizeH="0" baseline="0" dirty="0" smtClean="0">
                        <a:ln>
                          <a:noFill/>
                        </a:ln>
                        <a:solidFill>
                          <a:srgbClr val="FFC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SharePoint Foundation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800" b="0" i="0" u="none" strike="noStrike" cap="none" normalizeH="0" baseline="0" dirty="0" smtClean="0">
                        <a:ln>
                          <a:noFill/>
                        </a:ln>
                        <a:solidFill>
                          <a:srgbClr val="FF0000"/>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9819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Application Transformation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Feb 6</a:t>
                      </a:r>
                      <a:r>
                        <a:rPr kumimoji="0" lang="en-US" sz="800" b="0" i="0" u="none" strike="noStrike" cap="none" normalizeH="0" baseline="30000" dirty="0" smtClean="0">
                          <a:ln>
                            <a:noFill/>
                          </a:ln>
                          <a:solidFill>
                            <a:srgbClr val="646464"/>
                          </a:solidFill>
                          <a:effectLst/>
                          <a:latin typeface="+mj-lt"/>
                        </a:rPr>
                        <a:t>th</a:t>
                      </a:r>
                      <a:r>
                        <a:rPr kumimoji="0" lang="en-US" sz="800" b="0" i="0" u="none" strike="noStrike" cap="none" normalizeH="0" baseline="0" dirty="0" smtClean="0">
                          <a:ln>
                            <a:noFill/>
                          </a:ln>
                          <a:solidFill>
                            <a:srgbClr val="646464"/>
                          </a:solidFill>
                          <a:effectLst/>
                          <a:latin typeface="+mj-lt"/>
                        </a:rPr>
                        <a:t>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800" b="0" i="0" u="none" strike="noStrike" cap="none" normalizeH="0" baseline="0" dirty="0" smtClean="0">
                        <a:ln>
                          <a:noFill/>
                        </a:ln>
                        <a:solidFill>
                          <a:schemeClr val="accent3"/>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SharePoint Enablement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6/29/12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TBD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Identity Management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5/9/12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5/4/12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710204590"/>
              </p:ext>
            </p:extLst>
          </p:nvPr>
        </p:nvGraphicFramePr>
        <p:xfrm>
          <a:off x="4674631" y="2636912"/>
          <a:ext cx="4355123" cy="1013246"/>
        </p:xfrm>
        <a:graphic>
          <a:graphicData uri="http://schemas.openxmlformats.org/drawingml/2006/table">
            <a:tbl>
              <a:tblPr/>
              <a:tblGrid>
                <a:gridCol w="2104292"/>
                <a:gridCol w="2250831"/>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mj-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Mitigating Action</a:t>
                      </a:r>
                      <a:endParaRPr kumimoji="0" lang="en-US" sz="800" b="0" i="0" u="none" strike="noStrike" cap="none" normalizeH="0" baseline="0" dirty="0" smtClean="0">
                        <a:ln>
                          <a:noFill/>
                        </a:ln>
                        <a:solidFill>
                          <a:schemeClr val="bg2"/>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mj-lt"/>
                        </a:rPr>
                        <a:t> Office 365 impacts across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mj-lt"/>
                        </a:rPr>
                        <a:t>Jointly work to execute the appropriate changes to each work stream affected by this agreement.  </a:t>
                      </a:r>
                      <a:endParaRPr lang="en-US" sz="800" dirty="0" smtClean="0">
                        <a:solidFill>
                          <a:schemeClr val="bg2"/>
                        </a:solidFill>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421745810"/>
              </p:ext>
            </p:extLst>
          </p:nvPr>
        </p:nvGraphicFramePr>
        <p:xfrm>
          <a:off x="4674631" y="5517232"/>
          <a:ext cx="4355123" cy="467684"/>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mj-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smtClean="0">
                          <a:ln>
                            <a:noFill/>
                          </a:ln>
                          <a:solidFill>
                            <a:schemeClr val="tx1">
                              <a:lumMod val="50000"/>
                              <a:lumOff val="50000"/>
                            </a:schemeClr>
                          </a:solidFill>
                          <a:effectLst/>
                          <a:latin typeface="+mj-lt"/>
                        </a:rPr>
                        <a:t>EY Senior management has a strong desire to progress quickly but numerous activities are late, postponed, canceled or not started.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defTabSz="955675" eaLnBrk="0" hangingPunct="0">
              <a:spcAft>
                <a:spcPts val="0"/>
              </a:spcAft>
              <a:defRPr/>
            </a:pPr>
            <a:r>
              <a:rPr lang="en-US" sz="1600" b="1" kern="0" dirty="0" smtClean="0">
                <a:solidFill>
                  <a:srgbClr val="646464"/>
                </a:solidFill>
                <a:latin typeface="EYInterstate"/>
              </a:rPr>
              <a:t>EY Messaging &amp; Collaboration Program –March  PMO</a:t>
            </a:r>
          </a:p>
        </p:txBody>
      </p:sp>
      <p:graphicFrame>
        <p:nvGraphicFramePr>
          <p:cNvPr id="24" name="Group 270"/>
          <p:cNvGraphicFramePr>
            <a:graphicFrameLocks noGrp="1"/>
          </p:cNvGraphicFramePr>
          <p:nvPr>
            <p:extLst>
              <p:ext uri="{D42A27DB-BD31-4B8C-83A1-F6EECF244321}">
                <p14:modId xmlns:p14="http://schemas.microsoft.com/office/powerpoint/2010/main" val="3081450159"/>
              </p:ext>
            </p:extLst>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bg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bg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extLst>
      <p:ext uri="{BB962C8B-B14F-4D97-AF65-F5344CB8AC3E}">
        <p14:creationId xmlns:p14="http://schemas.microsoft.com/office/powerpoint/2010/main" val="131057919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MSIBM-2-6886</_dlc_DocId>
    <_dlc_DocIdUrl xmlns="0cbe1240-e4fe-486d-8edc-2712abb96eb4">
      <Url>http://sp.ey.net/msibm/_layouts/DocIdRedir.aspx?ID=MSIBM-2-6886</Url>
      <Description>MSIBM-2-6886</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255E905-F312-48EC-8CD7-BA2AFBA2E81A}">
  <ds:schemaRefs>
    <ds:schemaRef ds:uri="http://schemas.microsoft.com/sharepoint/v3/contenttype/forms"/>
  </ds:schemaRefs>
</ds:datastoreItem>
</file>

<file path=customXml/itemProps2.xml><?xml version="1.0" encoding="utf-8"?>
<ds:datastoreItem xmlns:ds="http://schemas.openxmlformats.org/officeDocument/2006/customXml" ds:itemID="{FAA29CDC-F850-4B23-A92A-C0DE79151CEB}">
  <ds:schemaRefs>
    <ds:schemaRef ds:uri="http://purl.org/dc/elements/1.1/"/>
    <ds:schemaRef ds:uri="http://schemas.microsoft.com/office/2006/metadata/properties"/>
    <ds:schemaRef ds:uri="http://schemas.microsoft.com/sharepoint/v4"/>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cbe1240-e4fe-486d-8edc-2712abb96eb4"/>
    <ds:schemaRef ds:uri="http://www.w3.org/XML/1998/namespace"/>
    <ds:schemaRef ds:uri="http://purl.org/dc/dcmitype/"/>
  </ds:schemaRefs>
</ds:datastoreItem>
</file>

<file path=customXml/itemProps3.xml><?xml version="1.0" encoding="utf-8"?>
<ds:datastoreItem xmlns:ds="http://schemas.openxmlformats.org/officeDocument/2006/customXml" ds:itemID="{52E9966B-742D-4731-B983-6ACC307271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F188C4F-5FD9-4056-B158-71E8F45D334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28178</TotalTime>
  <Words>4100</Words>
  <Application>Microsoft Office PowerPoint</Application>
  <PresentationFormat>On-screen Show (4:3)</PresentationFormat>
  <Paragraphs>674</Paragraphs>
  <Slides>9</Slides>
  <Notes>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9</vt:i4>
      </vt:variant>
    </vt:vector>
  </HeadingPairs>
  <TitlesOfParts>
    <vt:vector size="21" baseType="lpstr">
      <vt:lpstr>Times New Roman</vt:lpstr>
      <vt:lpstr>Arial</vt:lpstr>
      <vt:lpstr>Wingdings</vt:lpstr>
      <vt:lpstr>EYInterstate</vt:lpstr>
      <vt:lpstr>Courier New</vt:lpstr>
      <vt:lpstr>EYInterstate Light</vt:lpstr>
      <vt:lpstr>1_Bullet text</vt:lpstr>
      <vt:lpstr>Grey fill divider</vt:lpstr>
      <vt:lpstr>Line 1 divider</vt:lpstr>
      <vt:lpstr>Line 2 divider</vt:lpstr>
      <vt:lpstr>Line 3 divider</vt:lpstr>
      <vt:lpstr>Yellow fill divider</vt:lpstr>
      <vt:lpstr>IT Services ABCD Program IT Service Delivery  Weekly report</vt:lpstr>
      <vt:lpstr>PowerPoint Presentation</vt:lpstr>
      <vt:lpstr>Appendix A – ABCD Reports.</vt:lpstr>
      <vt:lpstr>PowerPoint Presentation</vt:lpstr>
      <vt:lpstr>PowerPoint Presentation</vt:lpstr>
      <vt:lpstr>PowerPoint Presentation</vt:lpstr>
      <vt:lpstr>PowerPoint Presentation</vt:lpstr>
      <vt:lpstr>AB&amp;C  TF Program Update by Workstream</vt:lpstr>
      <vt:lpstr>PowerPoint Presentation</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March Final MnC Report</dc:title>
  <dc:creator>Anon</dc:creator>
  <cp:lastModifiedBy>Wale Agbaje</cp:lastModifiedBy>
  <cp:revision>2394</cp:revision>
  <dcterms:created xsi:type="dcterms:W3CDTF">2007-11-06T15:04:41Z</dcterms:created>
  <dcterms:modified xsi:type="dcterms:W3CDTF">2016-11-18T20:29:37Z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e1e0c1b5-f6bd-4bff-ac6a-2043230f7543</vt:lpwstr>
  </property>
</Properties>
</file>