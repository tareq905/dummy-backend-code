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89" r:id="rId6"/>
  </p:sldMasterIdLst>
  <p:notesMasterIdLst>
    <p:notesMasterId r:id="rId22"/>
  </p:notesMasterIdLst>
  <p:sldIdLst>
    <p:sldId id="628" r:id="rId7"/>
    <p:sldId id="642" r:id="rId8"/>
    <p:sldId id="643" r:id="rId9"/>
    <p:sldId id="644" r:id="rId10"/>
    <p:sldId id="647" r:id="rId11"/>
    <p:sldId id="648" r:id="rId12"/>
    <p:sldId id="649" r:id="rId13"/>
    <p:sldId id="650" r:id="rId14"/>
    <p:sldId id="651" r:id="rId15"/>
    <p:sldId id="652" r:id="rId16"/>
    <p:sldId id="653" r:id="rId17"/>
    <p:sldId id="654" r:id="rId18"/>
    <p:sldId id="655" r:id="rId19"/>
    <p:sldId id="656" r:id="rId20"/>
    <p:sldId id="657" r:id="rId21"/>
  </p:sldIdLst>
  <p:sldSz cx="9144000" cy="6858000" type="screen4x3"/>
  <p:notesSz cx="6430963" cy="98139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ert W Reiner" initials=" " lastIdx="5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EAEAEA"/>
    <a:srgbClr val="D3D3D3"/>
    <a:srgbClr val="6464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62" autoAdjust="0"/>
    <p:restoredTop sz="94101" autoAdjust="0"/>
  </p:normalViewPr>
  <p:slideViewPr>
    <p:cSldViewPr snapToGrid="0">
      <p:cViewPr>
        <p:scale>
          <a:sx n="100" d="100"/>
          <a:sy n="100" d="100"/>
        </p:scale>
        <p:origin x="-1494" y="222"/>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0"/>
    </p:cViewPr>
  </p:sorterViewPr>
  <p:notesViewPr>
    <p:cSldViewPr snapToGrid="0">
      <p:cViewPr varScale="1">
        <p:scale>
          <a:sx n="65" d="100"/>
          <a:sy n="65" d="100"/>
        </p:scale>
        <p:origin x="-3444" y="-108"/>
      </p:cViewPr>
      <p:guideLst>
        <p:guide orient="horz" pos="3091"/>
        <p:guide pos="202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786751" cy="490696"/>
          </a:xfrm>
          <a:prstGeom prst="rect">
            <a:avLst/>
          </a:prstGeom>
        </p:spPr>
        <p:txBody>
          <a:bodyPr vert="horz" lIns="91430" tIns="45715" rIns="91430" bIns="45715" rtlCol="0"/>
          <a:lstStyle>
            <a:lvl1pPr algn="l">
              <a:defRPr sz="1200"/>
            </a:lvl1pPr>
          </a:lstStyle>
          <a:p>
            <a:endParaRPr lang="en-GB" dirty="0"/>
          </a:p>
        </p:txBody>
      </p:sp>
      <p:sp>
        <p:nvSpPr>
          <p:cNvPr id="3" name="Date Placeholder 2"/>
          <p:cNvSpPr>
            <a:spLocks noGrp="1"/>
          </p:cNvSpPr>
          <p:nvPr>
            <p:ph type="dt" idx="1"/>
          </p:nvPr>
        </p:nvSpPr>
        <p:spPr>
          <a:xfrm>
            <a:off x="3642725" y="0"/>
            <a:ext cx="2786751" cy="490696"/>
          </a:xfrm>
          <a:prstGeom prst="rect">
            <a:avLst/>
          </a:prstGeom>
        </p:spPr>
        <p:txBody>
          <a:bodyPr vert="horz" lIns="91430" tIns="45715" rIns="91430" bIns="45715" rtlCol="0"/>
          <a:lstStyle>
            <a:lvl1pPr algn="r">
              <a:defRPr sz="1200"/>
            </a:lvl1pPr>
          </a:lstStyle>
          <a:p>
            <a:fld id="{BFC2170A-4E47-4F15-85F8-7D006537C353}" type="datetimeFigureOut">
              <a:rPr lang="en-GB" smtClean="0"/>
              <a:pPr/>
              <a:t>19/03/2013</a:t>
            </a:fld>
            <a:endParaRPr lang="en-GB" dirty="0"/>
          </a:p>
        </p:txBody>
      </p:sp>
      <p:sp>
        <p:nvSpPr>
          <p:cNvPr id="4" name="Slide Image Placeholder 3"/>
          <p:cNvSpPr>
            <a:spLocks noGrp="1" noRot="1" noChangeAspect="1"/>
          </p:cNvSpPr>
          <p:nvPr>
            <p:ph type="sldImg" idx="2"/>
          </p:nvPr>
        </p:nvSpPr>
        <p:spPr>
          <a:xfrm>
            <a:off x="763588" y="736600"/>
            <a:ext cx="4903787" cy="3679825"/>
          </a:xfrm>
          <a:prstGeom prst="rect">
            <a:avLst/>
          </a:prstGeom>
          <a:noFill/>
          <a:ln w="12700">
            <a:solidFill>
              <a:prstClr val="black"/>
            </a:solidFill>
          </a:ln>
        </p:spPr>
        <p:txBody>
          <a:bodyPr vert="horz" lIns="91430" tIns="45715" rIns="91430" bIns="45715" rtlCol="0" anchor="ctr"/>
          <a:lstStyle/>
          <a:p>
            <a:endParaRPr lang="en-GB" dirty="0"/>
          </a:p>
        </p:txBody>
      </p:sp>
      <p:sp>
        <p:nvSpPr>
          <p:cNvPr id="5" name="Notes Placeholder 4"/>
          <p:cNvSpPr>
            <a:spLocks noGrp="1"/>
          </p:cNvSpPr>
          <p:nvPr>
            <p:ph type="body" sz="quarter" idx="3"/>
          </p:nvPr>
        </p:nvSpPr>
        <p:spPr>
          <a:xfrm>
            <a:off x="643097" y="4661615"/>
            <a:ext cx="5144770" cy="4416266"/>
          </a:xfrm>
          <a:prstGeom prst="rect">
            <a:avLst/>
          </a:prstGeom>
        </p:spPr>
        <p:txBody>
          <a:bodyPr vert="horz" lIns="91430" tIns="45715" rIns="91430" bIns="45715"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1" y="9321526"/>
            <a:ext cx="2786751" cy="490696"/>
          </a:xfrm>
          <a:prstGeom prst="rect">
            <a:avLst/>
          </a:prstGeom>
        </p:spPr>
        <p:txBody>
          <a:bodyPr vert="horz" lIns="91430" tIns="45715" rIns="91430" bIns="45715" rtlCol="0" anchor="b"/>
          <a:lstStyle>
            <a:lvl1pPr algn="l">
              <a:defRPr sz="1200"/>
            </a:lvl1pPr>
          </a:lstStyle>
          <a:p>
            <a:endParaRPr lang="en-GB" dirty="0"/>
          </a:p>
        </p:txBody>
      </p:sp>
      <p:sp>
        <p:nvSpPr>
          <p:cNvPr id="7" name="Slide Number Placeholder 6"/>
          <p:cNvSpPr>
            <a:spLocks noGrp="1"/>
          </p:cNvSpPr>
          <p:nvPr>
            <p:ph type="sldNum" sz="quarter" idx="5"/>
          </p:nvPr>
        </p:nvSpPr>
        <p:spPr>
          <a:xfrm>
            <a:off x="3642725" y="9321526"/>
            <a:ext cx="2786751" cy="490696"/>
          </a:xfrm>
          <a:prstGeom prst="rect">
            <a:avLst/>
          </a:prstGeom>
        </p:spPr>
        <p:txBody>
          <a:bodyPr vert="horz" lIns="91430" tIns="45715" rIns="91430" bIns="45715" rtlCol="0" anchor="b"/>
          <a:lstStyle>
            <a:lvl1pPr algn="r">
              <a:defRPr sz="1200"/>
            </a:lvl1pPr>
          </a:lstStyle>
          <a:p>
            <a:fld id="{8CD3EDA0-B82D-4DC6-8E38-79E54FEFD416}" type="slidenum">
              <a:rPr lang="en-GB" smtClean="0"/>
              <a:pPr/>
              <a:t>‹#›</a:t>
            </a:fld>
            <a:endParaRPr lang="en-GB" dirty="0"/>
          </a:p>
        </p:txBody>
      </p:sp>
    </p:spTree>
    <p:extLst>
      <p:ext uri="{BB962C8B-B14F-4D97-AF65-F5344CB8AC3E}">
        <p14:creationId xmlns:p14="http://schemas.microsoft.com/office/powerpoint/2010/main" val="3559254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en-US" dirty="0"/>
          </a:p>
        </p:txBody>
      </p:sp>
      <p:sp>
        <p:nvSpPr>
          <p:cNvPr id="7" name="AutoShape 10"/>
          <p:cNvSpPr>
            <a:spLocks noChangeArrowheads="1"/>
          </p:cNvSpPr>
          <p:nvPr/>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0025"/>
            <a:ext cx="8231188" cy="863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5613" y="1412875"/>
            <a:ext cx="4002087" cy="45196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412875"/>
            <a:ext cx="4003675" cy="45196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over 1">
    <p:spTree>
      <p:nvGrpSpPr>
        <p:cNvPr id="1" name=""/>
        <p:cNvGrpSpPr/>
        <p:nvPr/>
      </p:nvGrpSpPr>
      <p:grpSpPr>
        <a:xfrm>
          <a:off x="0" y="0"/>
          <a:ext cx="0" cy="0"/>
          <a:chOff x="0" y="0"/>
          <a:chExt cx="0" cy="0"/>
        </a:xfrm>
      </p:grpSpPr>
      <p:sp>
        <p:nvSpPr>
          <p:cNvPr id="33" name="Freeform 36"/>
          <p:cNvSpPr>
            <a:spLocks/>
          </p:cNvSpPr>
          <p:nvPr userDrawn="1"/>
        </p:nvSpPr>
        <p:spPr bwMode="auto">
          <a:xfrm>
            <a:off x="3202369" y="973779"/>
            <a:ext cx="5940443" cy="2513523"/>
          </a:xfrm>
          <a:custGeom>
            <a:avLst/>
            <a:gdLst>
              <a:gd name="connsiteX0" fmla="*/ 0 w 9998"/>
              <a:gd name="connsiteY0" fmla="*/ 10187 h 10187"/>
              <a:gd name="connsiteX1" fmla="*/ 9998 w 9998"/>
              <a:gd name="connsiteY1" fmla="*/ 0 h 10187"/>
              <a:gd name="connsiteX2" fmla="*/ 9988 w 9998"/>
              <a:gd name="connsiteY2" fmla="*/ 3470 h 10187"/>
              <a:gd name="connsiteX3" fmla="*/ 0 w 9998"/>
              <a:gd name="connsiteY3" fmla="*/ 10187 h 10187"/>
            </a:gdLst>
            <a:ahLst/>
            <a:cxnLst>
              <a:cxn ang="0">
                <a:pos x="connsiteX0" y="connsiteY0"/>
              </a:cxn>
              <a:cxn ang="0">
                <a:pos x="connsiteX1" y="connsiteY1"/>
              </a:cxn>
              <a:cxn ang="0">
                <a:pos x="connsiteX2" y="connsiteY2"/>
              </a:cxn>
              <a:cxn ang="0">
                <a:pos x="connsiteX3" y="connsiteY3"/>
              </a:cxn>
            </a:cxnLst>
            <a:rect l="l" t="t" r="r" b="b"/>
            <a:pathLst>
              <a:path w="9998" h="10187">
                <a:moveTo>
                  <a:pt x="0" y="10187"/>
                </a:moveTo>
                <a:lnTo>
                  <a:pt x="9998" y="0"/>
                </a:lnTo>
                <a:cubicBezTo>
                  <a:pt x="9994" y="1094"/>
                  <a:pt x="9992" y="2376"/>
                  <a:pt x="9988" y="3470"/>
                </a:cubicBezTo>
                <a:lnTo>
                  <a:pt x="0" y="10187"/>
                </a:lnTo>
                <a:close/>
              </a:path>
            </a:pathLst>
          </a:custGeom>
          <a:solidFill>
            <a:schemeClr val="accent6"/>
          </a:solidFill>
          <a:ln w="9525">
            <a:noFill/>
            <a:round/>
            <a:headEnd/>
            <a:tailEnd/>
          </a:ln>
          <a:effectLst/>
        </p:spPr>
        <p:txBody>
          <a:bodyPr lIns="80105" tIns="40053" rIns="80105" bIns="40053"/>
          <a:lstStyle/>
          <a:p>
            <a:pPr algn="ctr" eaLnBrk="0" hangingPunct="0">
              <a:defRPr/>
            </a:pPr>
            <a:endParaRPr lang="en-US" dirty="0">
              <a:solidFill>
                <a:srgbClr val="000000"/>
              </a:solidFill>
            </a:endParaRPr>
          </a:p>
        </p:txBody>
      </p:sp>
      <p:pic>
        <p:nvPicPr>
          <p:cNvPr id="34" name="Picture 38" descr="logo_black"/>
          <p:cNvPicPr>
            <a:picLocks noChangeAspect="1" noChangeArrowheads="1"/>
          </p:cNvPicPr>
          <p:nvPr userDrawn="1"/>
        </p:nvPicPr>
        <p:blipFill>
          <a:blip r:embed="rId2" cstate="print"/>
          <a:srcRect/>
          <a:stretch>
            <a:fillRect/>
          </a:stretch>
        </p:blipFill>
        <p:spPr bwMode="auto">
          <a:xfrm>
            <a:off x="3202369" y="6069129"/>
            <a:ext cx="1564516" cy="378601"/>
          </a:xfrm>
          <a:prstGeom prst="rect">
            <a:avLst/>
          </a:prstGeom>
          <a:noFill/>
          <a:ln w="9525">
            <a:noFill/>
            <a:miter lim="800000"/>
            <a:headEnd/>
            <a:tailEnd/>
          </a:ln>
        </p:spPr>
      </p:pic>
      <p:sp>
        <p:nvSpPr>
          <p:cNvPr id="2748420" name="Rectangle 4"/>
          <p:cNvSpPr>
            <a:spLocks noGrp="1" noChangeArrowheads="1"/>
          </p:cNvSpPr>
          <p:nvPr userDrawn="1">
            <p:ph type="subTitle" idx="1"/>
          </p:nvPr>
        </p:nvSpPr>
        <p:spPr>
          <a:xfrm>
            <a:off x="3202372" y="4731258"/>
            <a:ext cx="5411975" cy="974573"/>
          </a:xfrm>
        </p:spPr>
        <p:txBody>
          <a:bodyPr/>
          <a:lstStyle>
            <a:lvl1pPr marL="0" indent="0">
              <a:spcBef>
                <a:spcPct val="0"/>
              </a:spcBef>
              <a:buFont typeface="EYInterstate" pitchFamily="2" charset="0"/>
              <a:buNone/>
              <a:defRPr sz="1800"/>
            </a:lvl1pPr>
          </a:lstStyle>
          <a:p>
            <a:r>
              <a:rPr lang="en-US" dirty="0"/>
              <a:t>Click to edit Master subtitle style</a:t>
            </a:r>
          </a:p>
        </p:txBody>
      </p:sp>
      <p:sp>
        <p:nvSpPr>
          <p:cNvPr id="35" name="Title 34"/>
          <p:cNvSpPr>
            <a:spLocks noGrp="1"/>
          </p:cNvSpPr>
          <p:nvPr userDrawn="1">
            <p:ph type="title"/>
          </p:nvPr>
        </p:nvSpPr>
        <p:spPr>
          <a:xfrm>
            <a:off x="3202369" y="4147333"/>
            <a:ext cx="5411977" cy="456337"/>
          </a:xfrm>
        </p:spPr>
        <p:txBody>
          <a:bodyPr/>
          <a:lstStyle>
            <a:lvl1pPr>
              <a:defRPr sz="2500" b="0"/>
            </a:lvl1pPr>
          </a:lstStyle>
          <a:p>
            <a:r>
              <a:rPr lang="en-US" dirty="0" smtClean="0"/>
              <a:t>Click to edit Master title style</a:t>
            </a:r>
            <a:endParaRPr lang="en-US" dirty="0"/>
          </a:p>
        </p:txBody>
      </p:sp>
      <p:grpSp>
        <p:nvGrpSpPr>
          <p:cNvPr id="2" name="Group 80"/>
          <p:cNvGrpSpPr/>
          <p:nvPr userDrawn="1"/>
        </p:nvGrpSpPr>
        <p:grpSpPr>
          <a:xfrm>
            <a:off x="0" y="2618195"/>
            <a:ext cx="3202369" cy="2227323"/>
            <a:chOff x="-1" y="1732290"/>
            <a:chExt cx="5498307" cy="3607800"/>
          </a:xfrm>
        </p:grpSpPr>
        <p:sp>
          <p:nvSpPr>
            <p:cNvPr id="1039" name="Freeform 15"/>
            <p:cNvSpPr>
              <a:spLocks/>
            </p:cNvSpPr>
            <p:nvPr userDrawn="1"/>
          </p:nvSpPr>
          <p:spPr bwMode="auto">
            <a:xfrm>
              <a:off x="5452360" y="3122180"/>
              <a:ext cx="45946" cy="36965"/>
            </a:xfrm>
            <a:custGeom>
              <a:avLst/>
              <a:gdLst>
                <a:gd name="connsiteX0" fmla="*/ 0 w 90882"/>
                <a:gd name="connsiteY0" fmla="*/ 15135 h 25135"/>
                <a:gd name="connsiteX1" fmla="*/ 90882 w 90882"/>
                <a:gd name="connsiteY1" fmla="*/ 0 h 25135"/>
                <a:gd name="connsiteX2" fmla="*/ 10000 w 90882"/>
                <a:gd name="connsiteY2" fmla="*/ 20135 h 25135"/>
                <a:gd name="connsiteX3" fmla="*/ 0 w 90882"/>
                <a:gd name="connsiteY3" fmla="*/ 25135 h 25135"/>
                <a:gd name="connsiteX4" fmla="*/ 0 w 90882"/>
                <a:gd name="connsiteY4" fmla="*/ 15135 h 25135"/>
                <a:gd name="connsiteX0" fmla="*/ 0 w 10000"/>
                <a:gd name="connsiteY0" fmla="*/ 0 h 10000"/>
                <a:gd name="connsiteX1" fmla="*/ 10000 w 10000"/>
                <a:gd name="connsiteY1" fmla="*/ 5000 h 10000"/>
                <a:gd name="connsiteX2" fmla="*/ 0 w 10000"/>
                <a:gd name="connsiteY2" fmla="*/ 10000 h 10000"/>
                <a:gd name="connsiteX3" fmla="*/ 0 w 10000"/>
                <a:gd name="connsiteY3" fmla="*/ 0 h 10000"/>
                <a:gd name="connsiteX0" fmla="*/ 0 w 10358"/>
                <a:gd name="connsiteY0" fmla="*/ 0 h 10000"/>
                <a:gd name="connsiteX1" fmla="*/ 10358 w 10358"/>
                <a:gd name="connsiteY1" fmla="*/ 4258 h 10000"/>
                <a:gd name="connsiteX2" fmla="*/ 0 w 10358"/>
                <a:gd name="connsiteY2" fmla="*/ 10000 h 10000"/>
                <a:gd name="connsiteX3" fmla="*/ 0 w 10358"/>
                <a:gd name="connsiteY3" fmla="*/ 0 h 10000"/>
              </a:gdLst>
              <a:ahLst/>
              <a:cxnLst>
                <a:cxn ang="0">
                  <a:pos x="connsiteX0" y="connsiteY0"/>
                </a:cxn>
                <a:cxn ang="0">
                  <a:pos x="connsiteX1" y="connsiteY1"/>
                </a:cxn>
                <a:cxn ang="0">
                  <a:pos x="connsiteX2" y="connsiteY2"/>
                </a:cxn>
                <a:cxn ang="0">
                  <a:pos x="connsiteX3" y="connsiteY3"/>
                </a:cxn>
              </a:cxnLst>
              <a:rect l="l" t="t" r="r" b="b"/>
              <a:pathLst>
                <a:path w="10358" h="10000">
                  <a:moveTo>
                    <a:pt x="0" y="0"/>
                  </a:moveTo>
                  <a:lnTo>
                    <a:pt x="10358" y="4258"/>
                  </a:lnTo>
                  <a:lnTo>
                    <a:pt x="0" y="1000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0" name="Freeform 16"/>
            <p:cNvSpPr>
              <a:spLocks/>
            </p:cNvSpPr>
            <p:nvPr userDrawn="1"/>
          </p:nvSpPr>
          <p:spPr bwMode="auto">
            <a:xfrm>
              <a:off x="5278625" y="3077822"/>
              <a:ext cx="48054" cy="151556"/>
            </a:xfrm>
            <a:custGeom>
              <a:avLst/>
              <a:gdLst/>
              <a:ahLst/>
              <a:cxnLst>
                <a:cxn ang="0">
                  <a:pos x="0" y="0"/>
                </a:cxn>
                <a:cxn ang="0">
                  <a:pos x="13" y="3"/>
                </a:cxn>
                <a:cxn ang="0">
                  <a:pos x="13" y="36"/>
                </a:cxn>
                <a:cxn ang="0">
                  <a:pos x="0" y="41"/>
                </a:cxn>
                <a:cxn ang="0">
                  <a:pos x="0" y="0"/>
                </a:cxn>
              </a:cxnLst>
              <a:rect l="0" t="0" r="r" b="b"/>
              <a:pathLst>
                <a:path w="13" h="41">
                  <a:moveTo>
                    <a:pt x="0" y="0"/>
                  </a:moveTo>
                  <a:lnTo>
                    <a:pt x="13" y="3"/>
                  </a:lnTo>
                  <a:lnTo>
                    <a:pt x="13" y="36"/>
                  </a:lnTo>
                  <a:lnTo>
                    <a:pt x="0" y="41"/>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1" name="Freeform 17"/>
            <p:cNvSpPr>
              <a:spLocks/>
            </p:cNvSpPr>
            <p:nvPr userDrawn="1"/>
          </p:nvSpPr>
          <p:spPr bwMode="auto">
            <a:xfrm>
              <a:off x="5101192" y="3029768"/>
              <a:ext cx="51751" cy="269845"/>
            </a:xfrm>
            <a:custGeom>
              <a:avLst/>
              <a:gdLst/>
              <a:ahLst/>
              <a:cxnLst>
                <a:cxn ang="0">
                  <a:pos x="0" y="0"/>
                </a:cxn>
                <a:cxn ang="0">
                  <a:pos x="14" y="4"/>
                </a:cxn>
                <a:cxn ang="0">
                  <a:pos x="14" y="68"/>
                </a:cxn>
                <a:cxn ang="0">
                  <a:pos x="0" y="73"/>
                </a:cxn>
                <a:cxn ang="0">
                  <a:pos x="0" y="0"/>
                </a:cxn>
              </a:cxnLst>
              <a:rect l="0" t="0" r="r" b="b"/>
              <a:pathLst>
                <a:path w="14" h="73">
                  <a:moveTo>
                    <a:pt x="0" y="0"/>
                  </a:moveTo>
                  <a:lnTo>
                    <a:pt x="14" y="4"/>
                  </a:lnTo>
                  <a:lnTo>
                    <a:pt x="14" y="68"/>
                  </a:lnTo>
                  <a:lnTo>
                    <a:pt x="0" y="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2" name="Freeform 18"/>
            <p:cNvSpPr>
              <a:spLocks/>
            </p:cNvSpPr>
            <p:nvPr userDrawn="1"/>
          </p:nvSpPr>
          <p:spPr bwMode="auto">
            <a:xfrm>
              <a:off x="4927454" y="2985410"/>
              <a:ext cx="55447" cy="384438"/>
            </a:xfrm>
            <a:custGeom>
              <a:avLst/>
              <a:gdLst/>
              <a:ahLst/>
              <a:cxnLst>
                <a:cxn ang="0">
                  <a:pos x="0" y="0"/>
                </a:cxn>
                <a:cxn ang="0">
                  <a:pos x="15" y="4"/>
                </a:cxn>
                <a:cxn ang="0">
                  <a:pos x="15" y="98"/>
                </a:cxn>
                <a:cxn ang="0">
                  <a:pos x="0" y="104"/>
                </a:cxn>
                <a:cxn ang="0">
                  <a:pos x="0" y="0"/>
                </a:cxn>
              </a:cxnLst>
              <a:rect l="0" t="0" r="r" b="b"/>
              <a:pathLst>
                <a:path w="15" h="104">
                  <a:moveTo>
                    <a:pt x="0" y="0"/>
                  </a:moveTo>
                  <a:lnTo>
                    <a:pt x="15" y="4"/>
                  </a:lnTo>
                  <a:lnTo>
                    <a:pt x="15" y="98"/>
                  </a:lnTo>
                  <a:lnTo>
                    <a:pt x="0" y="104"/>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3" name="Freeform 19"/>
            <p:cNvSpPr>
              <a:spLocks/>
            </p:cNvSpPr>
            <p:nvPr userDrawn="1"/>
          </p:nvSpPr>
          <p:spPr bwMode="auto">
            <a:xfrm>
              <a:off x="4750022" y="2941052"/>
              <a:ext cx="59144" cy="499029"/>
            </a:xfrm>
            <a:custGeom>
              <a:avLst/>
              <a:gdLst/>
              <a:ahLst/>
              <a:cxnLst>
                <a:cxn ang="0">
                  <a:pos x="0" y="0"/>
                </a:cxn>
                <a:cxn ang="0">
                  <a:pos x="16" y="4"/>
                </a:cxn>
                <a:cxn ang="0">
                  <a:pos x="16" y="129"/>
                </a:cxn>
                <a:cxn ang="0">
                  <a:pos x="0" y="135"/>
                </a:cxn>
                <a:cxn ang="0">
                  <a:pos x="0" y="0"/>
                </a:cxn>
              </a:cxnLst>
              <a:rect l="0" t="0" r="r" b="b"/>
              <a:pathLst>
                <a:path w="16" h="135">
                  <a:moveTo>
                    <a:pt x="0" y="0"/>
                  </a:moveTo>
                  <a:lnTo>
                    <a:pt x="16" y="4"/>
                  </a:lnTo>
                  <a:lnTo>
                    <a:pt x="16" y="129"/>
                  </a:lnTo>
                  <a:lnTo>
                    <a:pt x="0" y="135"/>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4" name="Freeform 20"/>
            <p:cNvSpPr>
              <a:spLocks/>
            </p:cNvSpPr>
            <p:nvPr userDrawn="1"/>
          </p:nvSpPr>
          <p:spPr bwMode="auto">
            <a:xfrm>
              <a:off x="4572589" y="2896694"/>
              <a:ext cx="62840" cy="613622"/>
            </a:xfrm>
            <a:custGeom>
              <a:avLst/>
              <a:gdLst/>
              <a:ahLst/>
              <a:cxnLst>
                <a:cxn ang="0">
                  <a:pos x="0" y="0"/>
                </a:cxn>
                <a:cxn ang="0">
                  <a:pos x="17" y="4"/>
                </a:cxn>
                <a:cxn ang="0">
                  <a:pos x="17" y="159"/>
                </a:cxn>
                <a:cxn ang="0">
                  <a:pos x="0" y="166"/>
                </a:cxn>
                <a:cxn ang="0">
                  <a:pos x="0" y="0"/>
                </a:cxn>
              </a:cxnLst>
              <a:rect l="0" t="0" r="r" b="b"/>
              <a:pathLst>
                <a:path w="17" h="166">
                  <a:moveTo>
                    <a:pt x="0" y="0"/>
                  </a:moveTo>
                  <a:lnTo>
                    <a:pt x="17" y="4"/>
                  </a:lnTo>
                  <a:lnTo>
                    <a:pt x="17" y="159"/>
                  </a:lnTo>
                  <a:lnTo>
                    <a:pt x="0" y="166"/>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5" name="Freeform 21"/>
            <p:cNvSpPr>
              <a:spLocks/>
            </p:cNvSpPr>
            <p:nvPr userDrawn="1"/>
          </p:nvSpPr>
          <p:spPr bwMode="auto">
            <a:xfrm>
              <a:off x="4398854" y="2852336"/>
              <a:ext cx="66537" cy="731910"/>
            </a:xfrm>
            <a:custGeom>
              <a:avLst/>
              <a:gdLst/>
              <a:ahLst/>
              <a:cxnLst>
                <a:cxn ang="0">
                  <a:pos x="0" y="0"/>
                </a:cxn>
                <a:cxn ang="0">
                  <a:pos x="18" y="4"/>
                </a:cxn>
                <a:cxn ang="0">
                  <a:pos x="18" y="191"/>
                </a:cxn>
                <a:cxn ang="0">
                  <a:pos x="0" y="198"/>
                </a:cxn>
                <a:cxn ang="0">
                  <a:pos x="0" y="0"/>
                </a:cxn>
              </a:cxnLst>
              <a:rect l="0" t="0" r="r" b="b"/>
              <a:pathLst>
                <a:path w="18" h="198">
                  <a:moveTo>
                    <a:pt x="0" y="0"/>
                  </a:moveTo>
                  <a:lnTo>
                    <a:pt x="18" y="4"/>
                  </a:lnTo>
                  <a:lnTo>
                    <a:pt x="18" y="191"/>
                  </a:lnTo>
                  <a:lnTo>
                    <a:pt x="0" y="198"/>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6" name="Freeform 22"/>
            <p:cNvSpPr>
              <a:spLocks/>
            </p:cNvSpPr>
            <p:nvPr userDrawn="1"/>
          </p:nvSpPr>
          <p:spPr bwMode="auto">
            <a:xfrm>
              <a:off x="4221421" y="2807977"/>
              <a:ext cx="70233" cy="846501"/>
            </a:xfrm>
            <a:custGeom>
              <a:avLst/>
              <a:gdLst/>
              <a:ahLst/>
              <a:cxnLst>
                <a:cxn ang="0">
                  <a:pos x="0" y="0"/>
                </a:cxn>
                <a:cxn ang="0">
                  <a:pos x="19" y="5"/>
                </a:cxn>
                <a:cxn ang="0">
                  <a:pos x="19" y="222"/>
                </a:cxn>
                <a:cxn ang="0">
                  <a:pos x="0" y="229"/>
                </a:cxn>
                <a:cxn ang="0">
                  <a:pos x="0" y="0"/>
                </a:cxn>
              </a:cxnLst>
              <a:rect l="0" t="0" r="r" b="b"/>
              <a:pathLst>
                <a:path w="19" h="229">
                  <a:moveTo>
                    <a:pt x="0" y="0"/>
                  </a:moveTo>
                  <a:lnTo>
                    <a:pt x="19" y="5"/>
                  </a:lnTo>
                  <a:lnTo>
                    <a:pt x="19" y="222"/>
                  </a:lnTo>
                  <a:lnTo>
                    <a:pt x="0" y="229"/>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7" name="Freeform 23"/>
            <p:cNvSpPr>
              <a:spLocks/>
            </p:cNvSpPr>
            <p:nvPr userDrawn="1"/>
          </p:nvSpPr>
          <p:spPr bwMode="auto">
            <a:xfrm>
              <a:off x="4043988" y="2763619"/>
              <a:ext cx="73930" cy="961094"/>
            </a:xfrm>
            <a:custGeom>
              <a:avLst/>
              <a:gdLst/>
              <a:ahLst/>
              <a:cxnLst>
                <a:cxn ang="0">
                  <a:pos x="0" y="0"/>
                </a:cxn>
                <a:cxn ang="0">
                  <a:pos x="20" y="5"/>
                </a:cxn>
                <a:cxn ang="0">
                  <a:pos x="20" y="252"/>
                </a:cxn>
                <a:cxn ang="0">
                  <a:pos x="0" y="260"/>
                </a:cxn>
                <a:cxn ang="0">
                  <a:pos x="0" y="0"/>
                </a:cxn>
              </a:cxnLst>
              <a:rect l="0" t="0" r="r" b="b"/>
              <a:pathLst>
                <a:path w="20" h="260">
                  <a:moveTo>
                    <a:pt x="0" y="0"/>
                  </a:moveTo>
                  <a:lnTo>
                    <a:pt x="20" y="5"/>
                  </a:lnTo>
                  <a:lnTo>
                    <a:pt x="20" y="252"/>
                  </a:lnTo>
                  <a:lnTo>
                    <a:pt x="0" y="26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8" name="Freeform 24"/>
            <p:cNvSpPr>
              <a:spLocks/>
            </p:cNvSpPr>
            <p:nvPr userDrawn="1"/>
          </p:nvSpPr>
          <p:spPr bwMode="auto">
            <a:xfrm>
              <a:off x="3870251" y="2715563"/>
              <a:ext cx="77626" cy="1079383"/>
            </a:xfrm>
            <a:custGeom>
              <a:avLst/>
              <a:gdLst/>
              <a:ahLst/>
              <a:cxnLst>
                <a:cxn ang="0">
                  <a:pos x="0" y="0"/>
                </a:cxn>
                <a:cxn ang="0">
                  <a:pos x="21" y="6"/>
                </a:cxn>
                <a:cxn ang="0">
                  <a:pos x="21" y="284"/>
                </a:cxn>
                <a:cxn ang="0">
                  <a:pos x="0" y="292"/>
                </a:cxn>
                <a:cxn ang="0">
                  <a:pos x="0" y="0"/>
                </a:cxn>
              </a:cxnLst>
              <a:rect l="0" t="0" r="r" b="b"/>
              <a:pathLst>
                <a:path w="21" h="292">
                  <a:moveTo>
                    <a:pt x="0" y="0"/>
                  </a:moveTo>
                  <a:lnTo>
                    <a:pt x="21" y="6"/>
                  </a:lnTo>
                  <a:lnTo>
                    <a:pt x="21" y="284"/>
                  </a:lnTo>
                  <a:lnTo>
                    <a:pt x="0" y="292"/>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49" name="Freeform 25"/>
            <p:cNvSpPr>
              <a:spLocks/>
            </p:cNvSpPr>
            <p:nvPr userDrawn="1"/>
          </p:nvSpPr>
          <p:spPr bwMode="auto">
            <a:xfrm>
              <a:off x="3692818" y="2671205"/>
              <a:ext cx="81323" cy="1193974"/>
            </a:xfrm>
            <a:custGeom>
              <a:avLst/>
              <a:gdLst/>
              <a:ahLst/>
              <a:cxnLst>
                <a:cxn ang="0">
                  <a:pos x="0" y="0"/>
                </a:cxn>
                <a:cxn ang="0">
                  <a:pos x="22" y="6"/>
                </a:cxn>
                <a:cxn ang="0">
                  <a:pos x="22" y="315"/>
                </a:cxn>
                <a:cxn ang="0">
                  <a:pos x="0" y="323"/>
                </a:cxn>
                <a:cxn ang="0">
                  <a:pos x="0" y="0"/>
                </a:cxn>
              </a:cxnLst>
              <a:rect l="0" t="0" r="r" b="b"/>
              <a:pathLst>
                <a:path w="22" h="323">
                  <a:moveTo>
                    <a:pt x="0" y="0"/>
                  </a:moveTo>
                  <a:lnTo>
                    <a:pt x="22" y="6"/>
                  </a:lnTo>
                  <a:lnTo>
                    <a:pt x="22" y="315"/>
                  </a:lnTo>
                  <a:lnTo>
                    <a:pt x="0" y="32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0" name="Freeform 26"/>
            <p:cNvSpPr>
              <a:spLocks/>
            </p:cNvSpPr>
            <p:nvPr userDrawn="1"/>
          </p:nvSpPr>
          <p:spPr bwMode="auto">
            <a:xfrm>
              <a:off x="3515385" y="2626847"/>
              <a:ext cx="85019" cy="1308567"/>
            </a:xfrm>
            <a:custGeom>
              <a:avLst/>
              <a:gdLst/>
              <a:ahLst/>
              <a:cxnLst>
                <a:cxn ang="0">
                  <a:pos x="0" y="0"/>
                </a:cxn>
                <a:cxn ang="0">
                  <a:pos x="23" y="6"/>
                </a:cxn>
                <a:cxn ang="0">
                  <a:pos x="23" y="345"/>
                </a:cxn>
                <a:cxn ang="0">
                  <a:pos x="0" y="354"/>
                </a:cxn>
                <a:cxn ang="0">
                  <a:pos x="0" y="0"/>
                </a:cxn>
              </a:cxnLst>
              <a:rect l="0" t="0" r="r" b="b"/>
              <a:pathLst>
                <a:path w="23" h="354">
                  <a:moveTo>
                    <a:pt x="0" y="0"/>
                  </a:moveTo>
                  <a:lnTo>
                    <a:pt x="23" y="6"/>
                  </a:lnTo>
                  <a:lnTo>
                    <a:pt x="23" y="345"/>
                  </a:lnTo>
                  <a:lnTo>
                    <a:pt x="0" y="354"/>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1" name="Freeform 27"/>
            <p:cNvSpPr>
              <a:spLocks/>
            </p:cNvSpPr>
            <p:nvPr userDrawn="1"/>
          </p:nvSpPr>
          <p:spPr bwMode="auto">
            <a:xfrm>
              <a:off x="3341650" y="2582489"/>
              <a:ext cx="88716" cy="1423158"/>
            </a:xfrm>
            <a:custGeom>
              <a:avLst/>
              <a:gdLst/>
              <a:ahLst/>
              <a:cxnLst>
                <a:cxn ang="0">
                  <a:pos x="0" y="0"/>
                </a:cxn>
                <a:cxn ang="0">
                  <a:pos x="24" y="6"/>
                </a:cxn>
                <a:cxn ang="0">
                  <a:pos x="24" y="376"/>
                </a:cxn>
                <a:cxn ang="0">
                  <a:pos x="0" y="385"/>
                </a:cxn>
                <a:cxn ang="0">
                  <a:pos x="0" y="0"/>
                </a:cxn>
              </a:cxnLst>
              <a:rect l="0" t="0" r="r" b="b"/>
              <a:pathLst>
                <a:path w="24" h="385">
                  <a:moveTo>
                    <a:pt x="0" y="0"/>
                  </a:moveTo>
                  <a:lnTo>
                    <a:pt x="24" y="6"/>
                  </a:lnTo>
                  <a:lnTo>
                    <a:pt x="24" y="376"/>
                  </a:lnTo>
                  <a:lnTo>
                    <a:pt x="0" y="385"/>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2" name="Freeform 28"/>
            <p:cNvSpPr>
              <a:spLocks/>
            </p:cNvSpPr>
            <p:nvPr userDrawn="1"/>
          </p:nvSpPr>
          <p:spPr bwMode="auto">
            <a:xfrm>
              <a:off x="3164217" y="2538131"/>
              <a:ext cx="92412" cy="1537751"/>
            </a:xfrm>
            <a:custGeom>
              <a:avLst/>
              <a:gdLst/>
              <a:ahLst/>
              <a:cxnLst>
                <a:cxn ang="0">
                  <a:pos x="0" y="0"/>
                </a:cxn>
                <a:cxn ang="0">
                  <a:pos x="25" y="6"/>
                </a:cxn>
                <a:cxn ang="0">
                  <a:pos x="25" y="406"/>
                </a:cxn>
                <a:cxn ang="0">
                  <a:pos x="0" y="416"/>
                </a:cxn>
                <a:cxn ang="0">
                  <a:pos x="0" y="0"/>
                </a:cxn>
              </a:cxnLst>
              <a:rect l="0" t="0" r="r" b="b"/>
              <a:pathLst>
                <a:path w="25" h="416">
                  <a:moveTo>
                    <a:pt x="0" y="0"/>
                  </a:moveTo>
                  <a:lnTo>
                    <a:pt x="25" y="6"/>
                  </a:lnTo>
                  <a:lnTo>
                    <a:pt x="25" y="406"/>
                  </a:lnTo>
                  <a:lnTo>
                    <a:pt x="0" y="416"/>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3" name="Freeform 29"/>
            <p:cNvSpPr>
              <a:spLocks/>
            </p:cNvSpPr>
            <p:nvPr userDrawn="1"/>
          </p:nvSpPr>
          <p:spPr bwMode="auto">
            <a:xfrm>
              <a:off x="2990480" y="2493772"/>
              <a:ext cx="96109" cy="1652342"/>
            </a:xfrm>
            <a:custGeom>
              <a:avLst/>
              <a:gdLst/>
              <a:ahLst/>
              <a:cxnLst>
                <a:cxn ang="0">
                  <a:pos x="0" y="0"/>
                </a:cxn>
                <a:cxn ang="0">
                  <a:pos x="26" y="6"/>
                </a:cxn>
                <a:cxn ang="0">
                  <a:pos x="26" y="437"/>
                </a:cxn>
                <a:cxn ang="0">
                  <a:pos x="0" y="447"/>
                </a:cxn>
                <a:cxn ang="0">
                  <a:pos x="0" y="0"/>
                </a:cxn>
              </a:cxnLst>
              <a:rect l="0" t="0" r="r" b="b"/>
              <a:pathLst>
                <a:path w="26" h="447">
                  <a:moveTo>
                    <a:pt x="0" y="0"/>
                  </a:moveTo>
                  <a:lnTo>
                    <a:pt x="26" y="6"/>
                  </a:lnTo>
                  <a:lnTo>
                    <a:pt x="26" y="437"/>
                  </a:lnTo>
                  <a:lnTo>
                    <a:pt x="0" y="447"/>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4" name="Freeform 30"/>
            <p:cNvSpPr>
              <a:spLocks/>
            </p:cNvSpPr>
            <p:nvPr userDrawn="1"/>
          </p:nvSpPr>
          <p:spPr bwMode="auto">
            <a:xfrm>
              <a:off x="2813047" y="2449414"/>
              <a:ext cx="99805" cy="1770630"/>
            </a:xfrm>
            <a:custGeom>
              <a:avLst/>
              <a:gdLst/>
              <a:ahLst/>
              <a:cxnLst>
                <a:cxn ang="0">
                  <a:pos x="0" y="0"/>
                </a:cxn>
                <a:cxn ang="0">
                  <a:pos x="27" y="6"/>
                </a:cxn>
                <a:cxn ang="0">
                  <a:pos x="27" y="468"/>
                </a:cxn>
                <a:cxn ang="0">
                  <a:pos x="0" y="479"/>
                </a:cxn>
                <a:cxn ang="0">
                  <a:pos x="0" y="0"/>
                </a:cxn>
              </a:cxnLst>
              <a:rect l="0" t="0" r="r" b="b"/>
              <a:pathLst>
                <a:path w="27" h="479">
                  <a:moveTo>
                    <a:pt x="0" y="0"/>
                  </a:moveTo>
                  <a:lnTo>
                    <a:pt x="27" y="6"/>
                  </a:lnTo>
                  <a:lnTo>
                    <a:pt x="27" y="468"/>
                  </a:lnTo>
                  <a:lnTo>
                    <a:pt x="0" y="479"/>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5" name="Freeform 31"/>
            <p:cNvSpPr>
              <a:spLocks/>
            </p:cNvSpPr>
            <p:nvPr userDrawn="1"/>
          </p:nvSpPr>
          <p:spPr bwMode="auto">
            <a:xfrm>
              <a:off x="2631919" y="2401361"/>
              <a:ext cx="103502" cy="1888919"/>
            </a:xfrm>
            <a:custGeom>
              <a:avLst/>
              <a:gdLst/>
              <a:ahLst/>
              <a:cxnLst>
                <a:cxn ang="0">
                  <a:pos x="0" y="0"/>
                </a:cxn>
                <a:cxn ang="0">
                  <a:pos x="28" y="8"/>
                </a:cxn>
                <a:cxn ang="0">
                  <a:pos x="28" y="499"/>
                </a:cxn>
                <a:cxn ang="0">
                  <a:pos x="0" y="511"/>
                </a:cxn>
                <a:cxn ang="0">
                  <a:pos x="0" y="0"/>
                </a:cxn>
              </a:cxnLst>
              <a:rect l="0" t="0" r="r" b="b"/>
              <a:pathLst>
                <a:path w="28" h="511">
                  <a:moveTo>
                    <a:pt x="0" y="0"/>
                  </a:moveTo>
                  <a:lnTo>
                    <a:pt x="28" y="8"/>
                  </a:lnTo>
                  <a:lnTo>
                    <a:pt x="28" y="499"/>
                  </a:lnTo>
                  <a:lnTo>
                    <a:pt x="0" y="511"/>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6" name="Freeform 32"/>
            <p:cNvSpPr>
              <a:spLocks/>
            </p:cNvSpPr>
            <p:nvPr userDrawn="1"/>
          </p:nvSpPr>
          <p:spPr bwMode="auto">
            <a:xfrm>
              <a:off x="2458181" y="2357002"/>
              <a:ext cx="107198" cy="2003512"/>
            </a:xfrm>
            <a:custGeom>
              <a:avLst/>
              <a:gdLst/>
              <a:ahLst/>
              <a:cxnLst>
                <a:cxn ang="0">
                  <a:pos x="0" y="0"/>
                </a:cxn>
                <a:cxn ang="0">
                  <a:pos x="29" y="8"/>
                </a:cxn>
                <a:cxn ang="0">
                  <a:pos x="29" y="530"/>
                </a:cxn>
                <a:cxn ang="0">
                  <a:pos x="0" y="542"/>
                </a:cxn>
                <a:cxn ang="0">
                  <a:pos x="0" y="0"/>
                </a:cxn>
              </a:cxnLst>
              <a:rect l="0" t="0" r="r" b="b"/>
              <a:pathLst>
                <a:path w="29" h="542">
                  <a:moveTo>
                    <a:pt x="0" y="0"/>
                  </a:moveTo>
                  <a:lnTo>
                    <a:pt x="29" y="8"/>
                  </a:lnTo>
                  <a:lnTo>
                    <a:pt x="29" y="530"/>
                  </a:lnTo>
                  <a:lnTo>
                    <a:pt x="0" y="542"/>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7" name="Freeform 33"/>
            <p:cNvSpPr>
              <a:spLocks/>
            </p:cNvSpPr>
            <p:nvPr userDrawn="1"/>
          </p:nvSpPr>
          <p:spPr bwMode="auto">
            <a:xfrm>
              <a:off x="2280749" y="2312644"/>
              <a:ext cx="110895" cy="2118103"/>
            </a:xfrm>
            <a:custGeom>
              <a:avLst/>
              <a:gdLst/>
              <a:ahLst/>
              <a:cxnLst>
                <a:cxn ang="0">
                  <a:pos x="0" y="0"/>
                </a:cxn>
                <a:cxn ang="0">
                  <a:pos x="30" y="8"/>
                </a:cxn>
                <a:cxn ang="0">
                  <a:pos x="30" y="561"/>
                </a:cxn>
                <a:cxn ang="0">
                  <a:pos x="0" y="573"/>
                </a:cxn>
                <a:cxn ang="0">
                  <a:pos x="0" y="0"/>
                </a:cxn>
              </a:cxnLst>
              <a:rect l="0" t="0" r="r" b="b"/>
              <a:pathLst>
                <a:path w="30" h="573">
                  <a:moveTo>
                    <a:pt x="0" y="0"/>
                  </a:moveTo>
                  <a:lnTo>
                    <a:pt x="30" y="8"/>
                  </a:lnTo>
                  <a:lnTo>
                    <a:pt x="30" y="561"/>
                  </a:lnTo>
                  <a:lnTo>
                    <a:pt x="0" y="5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8" name="Freeform 34"/>
            <p:cNvSpPr>
              <a:spLocks/>
            </p:cNvSpPr>
            <p:nvPr userDrawn="1"/>
          </p:nvSpPr>
          <p:spPr bwMode="auto">
            <a:xfrm>
              <a:off x="2103316" y="2268286"/>
              <a:ext cx="114591" cy="2232696"/>
            </a:xfrm>
            <a:custGeom>
              <a:avLst/>
              <a:gdLst/>
              <a:ahLst/>
              <a:cxnLst>
                <a:cxn ang="0">
                  <a:pos x="0" y="0"/>
                </a:cxn>
                <a:cxn ang="0">
                  <a:pos x="31" y="8"/>
                </a:cxn>
                <a:cxn ang="0">
                  <a:pos x="31" y="591"/>
                </a:cxn>
                <a:cxn ang="0">
                  <a:pos x="0" y="604"/>
                </a:cxn>
                <a:cxn ang="0">
                  <a:pos x="0" y="0"/>
                </a:cxn>
              </a:cxnLst>
              <a:rect l="0" t="0" r="r" b="b"/>
              <a:pathLst>
                <a:path w="31" h="604">
                  <a:moveTo>
                    <a:pt x="0" y="0"/>
                  </a:moveTo>
                  <a:lnTo>
                    <a:pt x="31" y="8"/>
                  </a:lnTo>
                  <a:lnTo>
                    <a:pt x="31" y="591"/>
                  </a:lnTo>
                  <a:lnTo>
                    <a:pt x="0" y="604"/>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59" name="Freeform 35"/>
            <p:cNvSpPr>
              <a:spLocks/>
            </p:cNvSpPr>
            <p:nvPr userDrawn="1"/>
          </p:nvSpPr>
          <p:spPr bwMode="auto">
            <a:xfrm>
              <a:off x="1929581" y="2223928"/>
              <a:ext cx="118289" cy="2347287"/>
            </a:xfrm>
            <a:custGeom>
              <a:avLst/>
              <a:gdLst/>
              <a:ahLst/>
              <a:cxnLst>
                <a:cxn ang="0">
                  <a:pos x="0" y="0"/>
                </a:cxn>
                <a:cxn ang="0">
                  <a:pos x="32" y="8"/>
                </a:cxn>
                <a:cxn ang="0">
                  <a:pos x="32" y="622"/>
                </a:cxn>
                <a:cxn ang="0">
                  <a:pos x="0" y="635"/>
                </a:cxn>
                <a:cxn ang="0">
                  <a:pos x="0" y="0"/>
                </a:cxn>
              </a:cxnLst>
              <a:rect l="0" t="0" r="r" b="b"/>
              <a:pathLst>
                <a:path w="32" h="635">
                  <a:moveTo>
                    <a:pt x="0" y="0"/>
                  </a:moveTo>
                  <a:lnTo>
                    <a:pt x="32" y="8"/>
                  </a:lnTo>
                  <a:lnTo>
                    <a:pt x="32" y="622"/>
                  </a:lnTo>
                  <a:lnTo>
                    <a:pt x="0" y="635"/>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0" name="Freeform 36"/>
            <p:cNvSpPr>
              <a:spLocks/>
            </p:cNvSpPr>
            <p:nvPr userDrawn="1"/>
          </p:nvSpPr>
          <p:spPr bwMode="auto">
            <a:xfrm>
              <a:off x="1752148" y="2179570"/>
              <a:ext cx="121984" cy="2461880"/>
            </a:xfrm>
            <a:custGeom>
              <a:avLst/>
              <a:gdLst/>
              <a:ahLst/>
              <a:cxnLst>
                <a:cxn ang="0">
                  <a:pos x="0" y="0"/>
                </a:cxn>
                <a:cxn ang="0">
                  <a:pos x="33" y="8"/>
                </a:cxn>
                <a:cxn ang="0">
                  <a:pos x="33" y="652"/>
                </a:cxn>
                <a:cxn ang="0">
                  <a:pos x="0" y="666"/>
                </a:cxn>
                <a:cxn ang="0">
                  <a:pos x="0" y="0"/>
                </a:cxn>
              </a:cxnLst>
              <a:rect l="0" t="0" r="r" b="b"/>
              <a:pathLst>
                <a:path w="33" h="666">
                  <a:moveTo>
                    <a:pt x="0" y="0"/>
                  </a:moveTo>
                  <a:lnTo>
                    <a:pt x="33" y="8"/>
                  </a:lnTo>
                  <a:lnTo>
                    <a:pt x="33" y="652"/>
                  </a:lnTo>
                  <a:lnTo>
                    <a:pt x="0" y="666"/>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1" name="Freeform 37"/>
            <p:cNvSpPr>
              <a:spLocks/>
            </p:cNvSpPr>
            <p:nvPr userDrawn="1"/>
          </p:nvSpPr>
          <p:spPr bwMode="auto">
            <a:xfrm>
              <a:off x="1574715" y="2135211"/>
              <a:ext cx="125682" cy="2576471"/>
            </a:xfrm>
            <a:custGeom>
              <a:avLst/>
              <a:gdLst/>
              <a:ahLst/>
              <a:cxnLst>
                <a:cxn ang="0">
                  <a:pos x="0" y="0"/>
                </a:cxn>
                <a:cxn ang="0">
                  <a:pos x="34" y="8"/>
                </a:cxn>
                <a:cxn ang="0">
                  <a:pos x="34" y="683"/>
                </a:cxn>
                <a:cxn ang="0">
                  <a:pos x="0" y="697"/>
                </a:cxn>
                <a:cxn ang="0">
                  <a:pos x="0" y="0"/>
                </a:cxn>
              </a:cxnLst>
              <a:rect l="0" t="0" r="r" b="b"/>
              <a:pathLst>
                <a:path w="34" h="697">
                  <a:moveTo>
                    <a:pt x="0" y="0"/>
                  </a:moveTo>
                  <a:lnTo>
                    <a:pt x="34" y="8"/>
                  </a:lnTo>
                  <a:lnTo>
                    <a:pt x="34" y="683"/>
                  </a:lnTo>
                  <a:lnTo>
                    <a:pt x="0" y="697"/>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2" name="Freeform 38"/>
            <p:cNvSpPr>
              <a:spLocks/>
            </p:cNvSpPr>
            <p:nvPr userDrawn="1"/>
          </p:nvSpPr>
          <p:spPr bwMode="auto">
            <a:xfrm>
              <a:off x="1400978" y="2087156"/>
              <a:ext cx="129377" cy="2694759"/>
            </a:xfrm>
            <a:custGeom>
              <a:avLst/>
              <a:gdLst/>
              <a:ahLst/>
              <a:cxnLst>
                <a:cxn ang="0">
                  <a:pos x="0" y="0"/>
                </a:cxn>
                <a:cxn ang="0">
                  <a:pos x="35" y="9"/>
                </a:cxn>
                <a:cxn ang="0">
                  <a:pos x="35" y="715"/>
                </a:cxn>
                <a:cxn ang="0">
                  <a:pos x="0" y="729"/>
                </a:cxn>
                <a:cxn ang="0">
                  <a:pos x="0" y="0"/>
                </a:cxn>
              </a:cxnLst>
              <a:rect l="0" t="0" r="r" b="b"/>
              <a:pathLst>
                <a:path w="35" h="729">
                  <a:moveTo>
                    <a:pt x="0" y="0"/>
                  </a:moveTo>
                  <a:lnTo>
                    <a:pt x="35" y="9"/>
                  </a:lnTo>
                  <a:lnTo>
                    <a:pt x="35" y="715"/>
                  </a:lnTo>
                  <a:lnTo>
                    <a:pt x="0" y="729"/>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3" name="Freeform 39"/>
            <p:cNvSpPr>
              <a:spLocks/>
            </p:cNvSpPr>
            <p:nvPr userDrawn="1"/>
          </p:nvSpPr>
          <p:spPr bwMode="auto">
            <a:xfrm>
              <a:off x="1223545" y="2042797"/>
              <a:ext cx="133075" cy="2809352"/>
            </a:xfrm>
            <a:custGeom>
              <a:avLst/>
              <a:gdLst/>
              <a:ahLst/>
              <a:cxnLst>
                <a:cxn ang="0">
                  <a:pos x="0" y="0"/>
                </a:cxn>
                <a:cxn ang="0">
                  <a:pos x="36" y="9"/>
                </a:cxn>
                <a:cxn ang="0">
                  <a:pos x="36" y="745"/>
                </a:cxn>
                <a:cxn ang="0">
                  <a:pos x="0" y="760"/>
                </a:cxn>
                <a:cxn ang="0">
                  <a:pos x="0" y="0"/>
                </a:cxn>
              </a:cxnLst>
              <a:rect l="0" t="0" r="r" b="b"/>
              <a:pathLst>
                <a:path w="36" h="760">
                  <a:moveTo>
                    <a:pt x="0" y="0"/>
                  </a:moveTo>
                  <a:lnTo>
                    <a:pt x="36" y="9"/>
                  </a:lnTo>
                  <a:lnTo>
                    <a:pt x="36" y="745"/>
                  </a:lnTo>
                  <a:lnTo>
                    <a:pt x="0" y="76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4" name="Freeform 40"/>
            <p:cNvSpPr>
              <a:spLocks/>
            </p:cNvSpPr>
            <p:nvPr userDrawn="1"/>
          </p:nvSpPr>
          <p:spPr bwMode="auto">
            <a:xfrm>
              <a:off x="1049810" y="1998439"/>
              <a:ext cx="136770" cy="2923943"/>
            </a:xfrm>
            <a:custGeom>
              <a:avLst/>
              <a:gdLst/>
              <a:ahLst/>
              <a:cxnLst>
                <a:cxn ang="0">
                  <a:pos x="0" y="0"/>
                </a:cxn>
                <a:cxn ang="0">
                  <a:pos x="37" y="10"/>
                </a:cxn>
                <a:cxn ang="0">
                  <a:pos x="37" y="776"/>
                </a:cxn>
                <a:cxn ang="0">
                  <a:pos x="0" y="791"/>
                </a:cxn>
                <a:cxn ang="0">
                  <a:pos x="0" y="0"/>
                </a:cxn>
              </a:cxnLst>
              <a:rect l="0" t="0" r="r" b="b"/>
              <a:pathLst>
                <a:path w="37" h="791">
                  <a:moveTo>
                    <a:pt x="0" y="0"/>
                  </a:moveTo>
                  <a:lnTo>
                    <a:pt x="37" y="10"/>
                  </a:lnTo>
                  <a:lnTo>
                    <a:pt x="37" y="776"/>
                  </a:lnTo>
                  <a:lnTo>
                    <a:pt x="0" y="791"/>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5" name="Freeform 41"/>
            <p:cNvSpPr>
              <a:spLocks/>
            </p:cNvSpPr>
            <p:nvPr userDrawn="1"/>
          </p:nvSpPr>
          <p:spPr bwMode="auto">
            <a:xfrm>
              <a:off x="872377" y="1954081"/>
              <a:ext cx="140468" cy="3038536"/>
            </a:xfrm>
            <a:custGeom>
              <a:avLst/>
              <a:gdLst/>
              <a:ahLst/>
              <a:cxnLst>
                <a:cxn ang="0">
                  <a:pos x="0" y="0"/>
                </a:cxn>
                <a:cxn ang="0">
                  <a:pos x="38" y="10"/>
                </a:cxn>
                <a:cxn ang="0">
                  <a:pos x="38" y="807"/>
                </a:cxn>
                <a:cxn ang="0">
                  <a:pos x="0" y="822"/>
                </a:cxn>
                <a:cxn ang="0">
                  <a:pos x="0" y="410"/>
                </a:cxn>
                <a:cxn ang="0">
                  <a:pos x="0" y="0"/>
                </a:cxn>
              </a:cxnLst>
              <a:rect l="0" t="0" r="r" b="b"/>
              <a:pathLst>
                <a:path w="38" h="822">
                  <a:moveTo>
                    <a:pt x="0" y="0"/>
                  </a:moveTo>
                  <a:lnTo>
                    <a:pt x="38" y="10"/>
                  </a:lnTo>
                  <a:lnTo>
                    <a:pt x="38" y="807"/>
                  </a:lnTo>
                  <a:lnTo>
                    <a:pt x="0" y="822"/>
                  </a:lnTo>
                  <a:lnTo>
                    <a:pt x="0" y="41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6" name="Freeform 42"/>
            <p:cNvSpPr>
              <a:spLocks/>
            </p:cNvSpPr>
            <p:nvPr userDrawn="1"/>
          </p:nvSpPr>
          <p:spPr bwMode="auto">
            <a:xfrm>
              <a:off x="694944" y="1909723"/>
              <a:ext cx="144163" cy="3153127"/>
            </a:xfrm>
            <a:custGeom>
              <a:avLst/>
              <a:gdLst/>
              <a:ahLst/>
              <a:cxnLst>
                <a:cxn ang="0">
                  <a:pos x="0" y="0"/>
                </a:cxn>
                <a:cxn ang="0">
                  <a:pos x="39" y="10"/>
                </a:cxn>
                <a:cxn ang="0">
                  <a:pos x="39" y="423"/>
                </a:cxn>
                <a:cxn ang="0">
                  <a:pos x="39" y="837"/>
                </a:cxn>
                <a:cxn ang="0">
                  <a:pos x="0" y="853"/>
                </a:cxn>
                <a:cxn ang="0">
                  <a:pos x="0" y="426"/>
                </a:cxn>
                <a:cxn ang="0">
                  <a:pos x="0" y="0"/>
                </a:cxn>
              </a:cxnLst>
              <a:rect l="0" t="0" r="r" b="b"/>
              <a:pathLst>
                <a:path w="39" h="853">
                  <a:moveTo>
                    <a:pt x="0" y="0"/>
                  </a:moveTo>
                  <a:lnTo>
                    <a:pt x="39" y="10"/>
                  </a:lnTo>
                  <a:lnTo>
                    <a:pt x="39" y="423"/>
                  </a:lnTo>
                  <a:lnTo>
                    <a:pt x="39" y="837"/>
                  </a:lnTo>
                  <a:lnTo>
                    <a:pt x="0" y="853"/>
                  </a:lnTo>
                  <a:lnTo>
                    <a:pt x="0" y="426"/>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7" name="Freeform 43"/>
            <p:cNvSpPr>
              <a:spLocks/>
            </p:cNvSpPr>
            <p:nvPr userDrawn="1"/>
          </p:nvSpPr>
          <p:spPr bwMode="auto">
            <a:xfrm>
              <a:off x="521207" y="1865365"/>
              <a:ext cx="147861" cy="3267720"/>
            </a:xfrm>
            <a:custGeom>
              <a:avLst/>
              <a:gdLst/>
              <a:ahLst/>
              <a:cxnLst>
                <a:cxn ang="0">
                  <a:pos x="0" y="0"/>
                </a:cxn>
                <a:cxn ang="0">
                  <a:pos x="40" y="10"/>
                </a:cxn>
                <a:cxn ang="0">
                  <a:pos x="40" y="438"/>
                </a:cxn>
                <a:cxn ang="0">
                  <a:pos x="40" y="868"/>
                </a:cxn>
                <a:cxn ang="0">
                  <a:pos x="0" y="884"/>
                </a:cxn>
                <a:cxn ang="0">
                  <a:pos x="0" y="441"/>
                </a:cxn>
                <a:cxn ang="0">
                  <a:pos x="0" y="0"/>
                </a:cxn>
              </a:cxnLst>
              <a:rect l="0" t="0" r="r" b="b"/>
              <a:pathLst>
                <a:path w="40" h="884">
                  <a:moveTo>
                    <a:pt x="0" y="0"/>
                  </a:moveTo>
                  <a:lnTo>
                    <a:pt x="40" y="10"/>
                  </a:lnTo>
                  <a:lnTo>
                    <a:pt x="40" y="438"/>
                  </a:lnTo>
                  <a:lnTo>
                    <a:pt x="40" y="868"/>
                  </a:lnTo>
                  <a:lnTo>
                    <a:pt x="0" y="884"/>
                  </a:lnTo>
                  <a:lnTo>
                    <a:pt x="0" y="441"/>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8" name="Freeform 44"/>
            <p:cNvSpPr>
              <a:spLocks/>
            </p:cNvSpPr>
            <p:nvPr userDrawn="1"/>
          </p:nvSpPr>
          <p:spPr bwMode="auto">
            <a:xfrm>
              <a:off x="343774" y="1821006"/>
              <a:ext cx="151556" cy="3382311"/>
            </a:xfrm>
            <a:custGeom>
              <a:avLst/>
              <a:gdLst/>
              <a:ahLst/>
              <a:cxnLst>
                <a:cxn ang="0">
                  <a:pos x="0" y="0"/>
                </a:cxn>
                <a:cxn ang="0">
                  <a:pos x="41" y="10"/>
                </a:cxn>
                <a:cxn ang="0">
                  <a:pos x="41" y="453"/>
                </a:cxn>
                <a:cxn ang="0">
                  <a:pos x="41" y="898"/>
                </a:cxn>
                <a:cxn ang="0">
                  <a:pos x="0" y="915"/>
                </a:cxn>
                <a:cxn ang="0">
                  <a:pos x="0" y="457"/>
                </a:cxn>
                <a:cxn ang="0">
                  <a:pos x="0" y="0"/>
                </a:cxn>
              </a:cxnLst>
              <a:rect l="0" t="0" r="r" b="b"/>
              <a:pathLst>
                <a:path w="41" h="915">
                  <a:moveTo>
                    <a:pt x="0" y="0"/>
                  </a:moveTo>
                  <a:lnTo>
                    <a:pt x="41" y="10"/>
                  </a:lnTo>
                  <a:lnTo>
                    <a:pt x="41" y="453"/>
                  </a:lnTo>
                  <a:lnTo>
                    <a:pt x="41" y="898"/>
                  </a:lnTo>
                  <a:lnTo>
                    <a:pt x="0" y="915"/>
                  </a:lnTo>
                  <a:lnTo>
                    <a:pt x="0" y="457"/>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69" name="Freeform 45"/>
            <p:cNvSpPr>
              <a:spLocks/>
            </p:cNvSpPr>
            <p:nvPr userDrawn="1"/>
          </p:nvSpPr>
          <p:spPr bwMode="auto">
            <a:xfrm>
              <a:off x="166341" y="1772953"/>
              <a:ext cx="155254" cy="3500600"/>
            </a:xfrm>
            <a:custGeom>
              <a:avLst/>
              <a:gdLst/>
              <a:ahLst/>
              <a:cxnLst>
                <a:cxn ang="0">
                  <a:pos x="0" y="0"/>
                </a:cxn>
                <a:cxn ang="0">
                  <a:pos x="42" y="11"/>
                </a:cxn>
                <a:cxn ang="0">
                  <a:pos x="42" y="470"/>
                </a:cxn>
                <a:cxn ang="0">
                  <a:pos x="42" y="930"/>
                </a:cxn>
                <a:cxn ang="0">
                  <a:pos x="0" y="947"/>
                </a:cxn>
                <a:cxn ang="0">
                  <a:pos x="0" y="473"/>
                </a:cxn>
                <a:cxn ang="0">
                  <a:pos x="0" y="0"/>
                </a:cxn>
              </a:cxnLst>
              <a:rect l="0" t="0" r="r" b="b"/>
              <a:pathLst>
                <a:path w="42" h="947">
                  <a:moveTo>
                    <a:pt x="0" y="0"/>
                  </a:moveTo>
                  <a:lnTo>
                    <a:pt x="42" y="11"/>
                  </a:lnTo>
                  <a:lnTo>
                    <a:pt x="42" y="470"/>
                  </a:lnTo>
                  <a:lnTo>
                    <a:pt x="42" y="930"/>
                  </a:lnTo>
                  <a:lnTo>
                    <a:pt x="0" y="947"/>
                  </a:lnTo>
                  <a:lnTo>
                    <a:pt x="0" y="4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sp>
          <p:nvSpPr>
            <p:cNvPr id="1070" name="Freeform 46"/>
            <p:cNvSpPr>
              <a:spLocks/>
            </p:cNvSpPr>
            <p:nvPr userDrawn="1"/>
          </p:nvSpPr>
          <p:spPr bwMode="auto">
            <a:xfrm>
              <a:off x="-1" y="1732290"/>
              <a:ext cx="151556" cy="3607800"/>
            </a:xfrm>
            <a:custGeom>
              <a:avLst/>
              <a:gdLst/>
              <a:ahLst/>
              <a:cxnLst>
                <a:cxn ang="0">
                  <a:pos x="0" y="0"/>
                </a:cxn>
                <a:cxn ang="0">
                  <a:pos x="41" y="10"/>
                </a:cxn>
                <a:cxn ang="0">
                  <a:pos x="41" y="484"/>
                </a:cxn>
                <a:cxn ang="0">
                  <a:pos x="41" y="960"/>
                </a:cxn>
                <a:cxn ang="0">
                  <a:pos x="0" y="976"/>
                </a:cxn>
                <a:cxn ang="0">
                  <a:pos x="0" y="488"/>
                </a:cxn>
                <a:cxn ang="0">
                  <a:pos x="0" y="0"/>
                </a:cxn>
              </a:cxnLst>
              <a:rect l="0" t="0" r="r" b="b"/>
              <a:pathLst>
                <a:path w="41" h="976">
                  <a:moveTo>
                    <a:pt x="0" y="0"/>
                  </a:moveTo>
                  <a:lnTo>
                    <a:pt x="41" y="10"/>
                  </a:lnTo>
                  <a:lnTo>
                    <a:pt x="41" y="484"/>
                  </a:lnTo>
                  <a:lnTo>
                    <a:pt x="41" y="960"/>
                  </a:lnTo>
                  <a:lnTo>
                    <a:pt x="0" y="976"/>
                  </a:lnTo>
                  <a:lnTo>
                    <a:pt x="0" y="488"/>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algn="ctr" eaLnBrk="0" hangingPunct="0"/>
              <a:endParaRPr lang="en-US" dirty="0">
                <a:solidFill>
                  <a:srgbClr val="000000"/>
                </a:solidFil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en-US" dirty="0">
              <a:solidFill>
                <a:srgbClr val="646464"/>
              </a:solidFill>
            </a:endParaRPr>
          </a:p>
        </p:txBody>
      </p:sp>
      <p:sp>
        <p:nvSpPr>
          <p:cNvPr id="7" name="AutoShape 10"/>
          <p:cNvSpPr>
            <a:spLocks noChangeArrowheads="1"/>
          </p:cNvSpPr>
          <p:nvPr/>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a:solidFill>
                <a:srgbClr val="646464"/>
              </a:solidFill>
            </a:endParaRPr>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0025"/>
            <a:ext cx="8231188" cy="863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5613" y="1412875"/>
            <a:ext cx="4002087" cy="45196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10100" y="1412875"/>
            <a:ext cx="4003675" cy="45196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48E7B0B9-EE10-49DD-9126-378A7F438307}"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en-US"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en-US"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en-US" dirty="0"/>
          </a:p>
        </p:txBody>
      </p:sp>
      <p:pic>
        <p:nvPicPr>
          <p:cNvPr id="2057" name="Picture 10" descr="logo_tagblack"/>
          <p:cNvPicPr>
            <a:picLocks noChangeAspect="1" noChangeArrowheads="1"/>
          </p:cNvPicPr>
          <p:nvPr/>
        </p:nvPicPr>
        <p:blipFill>
          <a:blip r:embed="rId15"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en-US"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en-US"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en-US" dirty="0"/>
          </a:p>
        </p:txBody>
      </p:sp>
      <p:pic>
        <p:nvPicPr>
          <p:cNvPr id="2061" name="Picture 14" descr="logo_tagblack"/>
          <p:cNvPicPr>
            <a:picLocks noChangeAspect="1" noChangeArrowheads="1"/>
          </p:cNvPicPr>
          <p:nvPr/>
        </p:nvPicPr>
        <p:blipFill>
          <a:blip r:embed="rId15"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Lst>
  <p:timing>
    <p:tnLst>
      <p:par>
        <p:cTn id="1" dur="indefinite" restart="never" nodeType="tmRoot"/>
      </p:par>
    </p:tnLst>
  </p:timing>
  <p:hf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2051"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defRPr/>
            </a:pPr>
            <a:r>
              <a:rPr lang="en-US" sz="1100" dirty="0">
                <a:solidFill>
                  <a:srgbClr val="000000"/>
                </a:solidFill>
                <a:cs typeface="Arial" charset="0"/>
              </a:rPr>
              <a:t>Page </a:t>
            </a:r>
            <a:fld id="{48E7B0B9-EE10-49DD-9126-378A7F438307}" type="slidenum">
              <a:rPr lang="en-US" sz="1100">
                <a:solidFill>
                  <a:srgbClr val="000000"/>
                </a:solidFill>
                <a:cs typeface="Arial" charset="0"/>
              </a:rPr>
              <a:pPr>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en-US" dirty="0">
              <a:solidFill>
                <a:srgbClr val="646464"/>
              </a:solidFill>
            </a:endParaRPr>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en-US" dirty="0">
              <a:solidFill>
                <a:srgbClr val="646464"/>
              </a:solidFill>
            </a:endParaRPr>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en-US" dirty="0">
              <a:solidFill>
                <a:srgbClr val="646464"/>
              </a:solidFill>
            </a:endParaRPr>
          </a:p>
        </p:txBody>
      </p:sp>
      <p:pic>
        <p:nvPicPr>
          <p:cNvPr id="2057" name="Picture 10"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en-US" dirty="0">
              <a:solidFill>
                <a:srgbClr val="646464"/>
              </a:solidFill>
            </a:endParaRPr>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en-US" dirty="0">
              <a:solidFill>
                <a:srgbClr val="646464"/>
              </a:solidFill>
            </a:endParaRPr>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en-US" dirty="0">
              <a:solidFill>
                <a:srgbClr val="646464"/>
              </a:solidFill>
            </a:endParaRPr>
          </a:p>
        </p:txBody>
      </p:sp>
      <p:pic>
        <p:nvPicPr>
          <p:cNvPr id="2061" name="Picture 14"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iming>
    <p:tnLst>
      <p:par>
        <p:cTn id="1" dur="indefinite" restart="never" nodeType="tmRoot"/>
      </p:par>
    </p:tnLst>
  </p:timing>
  <p:hf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Collaboration Program Governance</a:t>
            </a:r>
            <a:br>
              <a:rPr lang="en-US" dirty="0" smtClean="0"/>
            </a:br>
            <a:r>
              <a:rPr lang="en-US" dirty="0" smtClean="0"/>
              <a:t/>
            </a:r>
            <a:br>
              <a:rPr lang="en-US" dirty="0" smtClean="0"/>
            </a:br>
            <a:r>
              <a:rPr lang="en-US" dirty="0" smtClean="0">
                <a:solidFill>
                  <a:srgbClr val="00B0F0"/>
                </a:solidFill>
              </a:rPr>
              <a:t>Andy </a:t>
            </a:r>
            <a:r>
              <a:rPr lang="en-US" dirty="0" err="1" smtClean="0">
                <a:solidFill>
                  <a:srgbClr val="00B0F0"/>
                </a:solidFill>
              </a:rPr>
              <a:t>Ioannou</a:t>
            </a:r>
            <a:endParaRPr lang="en-US" dirty="0">
              <a:solidFill>
                <a:srgbClr val="00B0F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Contents</a:t>
            </a:r>
            <a:endParaRPr lang="en-GB" sz="2600" dirty="0"/>
          </a:p>
        </p:txBody>
      </p:sp>
      <p:sp>
        <p:nvSpPr>
          <p:cNvPr id="3" name="Content Placeholder 2"/>
          <p:cNvSpPr>
            <a:spLocks noGrp="1"/>
          </p:cNvSpPr>
          <p:nvPr>
            <p:ph idx="1"/>
          </p:nvPr>
        </p:nvSpPr>
        <p:spPr>
          <a:xfrm>
            <a:off x="455613" y="1089025"/>
            <a:ext cx="8158162" cy="5159375"/>
          </a:xfrm>
        </p:spPr>
        <p:txBody>
          <a:bodyPr/>
          <a:lstStyle/>
          <a:p>
            <a:pPr marL="342900" indent="-342900">
              <a:buAutoNum type="arabicPeriod"/>
            </a:pPr>
            <a:r>
              <a:rPr lang="en-GB" sz="1800" dirty="0" smtClean="0"/>
              <a:t>Context</a:t>
            </a:r>
          </a:p>
          <a:p>
            <a:pPr marL="342900" indent="-342900">
              <a:buAutoNum type="arabicPeriod"/>
            </a:pPr>
            <a:r>
              <a:rPr lang="en-GB" sz="1800" dirty="0" smtClean="0"/>
              <a:t>Current Governance</a:t>
            </a:r>
          </a:p>
          <a:p>
            <a:pPr marL="342900" indent="-342900">
              <a:buAutoNum type="arabicPeriod"/>
            </a:pPr>
            <a:r>
              <a:rPr lang="en-GB" sz="1800" dirty="0" smtClean="0"/>
              <a:t>Collaboration Pipeline</a:t>
            </a:r>
          </a:p>
          <a:p>
            <a:pPr marL="342900" indent="-342900">
              <a:buAutoNum type="arabicPeriod"/>
            </a:pPr>
            <a:r>
              <a:rPr lang="en-GB" sz="1800" dirty="0" smtClean="0"/>
              <a:t>Revised Governance</a:t>
            </a:r>
          </a:p>
          <a:p>
            <a:pPr marL="342900" indent="-342900">
              <a:buAutoNum type="arabicPeriod"/>
            </a:pPr>
            <a:r>
              <a:rPr lang="en-GB" sz="1800" dirty="0" smtClean="0"/>
              <a:t>Revised Collaboration Organisation</a:t>
            </a:r>
          </a:p>
          <a:p>
            <a:endParaRPr lang="en-GB" sz="1800" dirty="0" smtClean="0"/>
          </a:p>
          <a:p>
            <a:endParaRPr lang="en-GB" sz="1800" dirty="0" smtClean="0"/>
          </a:p>
          <a:p>
            <a:pPr lvl="1"/>
            <a:endParaRPr lang="en-GB" sz="1800" dirty="0" smtClean="0"/>
          </a:p>
          <a:p>
            <a:pPr lvl="1"/>
            <a:endParaRPr lang="en-GB" sz="18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Context</a:t>
            </a:r>
            <a:endParaRPr lang="en-GB" sz="2600" dirty="0"/>
          </a:p>
        </p:txBody>
      </p:sp>
      <p:sp>
        <p:nvSpPr>
          <p:cNvPr id="3" name="Content Placeholder 2"/>
          <p:cNvSpPr>
            <a:spLocks noGrp="1"/>
          </p:cNvSpPr>
          <p:nvPr>
            <p:ph idx="1"/>
          </p:nvPr>
        </p:nvSpPr>
        <p:spPr>
          <a:xfrm>
            <a:off x="455613" y="1089025"/>
            <a:ext cx="8158162" cy="5159375"/>
          </a:xfrm>
        </p:spPr>
        <p:txBody>
          <a:bodyPr/>
          <a:lstStyle/>
          <a:p>
            <a:r>
              <a:rPr lang="en-GB" sz="1600" dirty="0" smtClean="0"/>
              <a:t>The Collaboration program is undergoing some significant changes as it evolves its roadmap for FY14 and FY15</a:t>
            </a:r>
          </a:p>
          <a:p>
            <a:endParaRPr lang="en-GB" sz="1600" dirty="0" smtClean="0"/>
          </a:p>
          <a:p>
            <a:r>
              <a:rPr lang="en-GB" sz="1600" dirty="0" smtClean="0"/>
              <a:t>In order to deliver the roadmap ahead, the Collaboration program will need to scale its capability to effectively manage multiple, parallel delivery streams</a:t>
            </a:r>
          </a:p>
          <a:p>
            <a:endParaRPr lang="en-GB" sz="1600" dirty="0" smtClean="0"/>
          </a:p>
          <a:p>
            <a:r>
              <a:rPr lang="en-GB" sz="1600" dirty="0" smtClean="0"/>
              <a:t>This means:</a:t>
            </a:r>
          </a:p>
          <a:p>
            <a:pPr lvl="1"/>
            <a:r>
              <a:rPr lang="en-GB" sz="1200" dirty="0" smtClean="0"/>
              <a:t>Changing the way in which we govern the program – program reporting cadence, RAID </a:t>
            </a:r>
            <a:r>
              <a:rPr lang="en-GB" sz="1200" dirty="0" err="1" smtClean="0"/>
              <a:t>etc</a:t>
            </a:r>
            <a:endParaRPr lang="en-GB" sz="1200" dirty="0" smtClean="0"/>
          </a:p>
          <a:p>
            <a:pPr lvl="1"/>
            <a:r>
              <a:rPr lang="en-GB" sz="1200" dirty="0" smtClean="0"/>
              <a:t>Re-defining the key roles needed to manage the delivery of parallel streams of work – Project Management and Team Lead roles</a:t>
            </a:r>
          </a:p>
          <a:p>
            <a:pPr lvl="1"/>
            <a:r>
              <a:rPr lang="en-GB" sz="1200" dirty="0" smtClean="0"/>
              <a:t>Re-designing the program organisation - transition to matrix model</a:t>
            </a:r>
          </a:p>
          <a:p>
            <a:pPr lvl="1"/>
            <a:r>
              <a:rPr lang="en-GB" sz="1200" dirty="0" smtClean="0"/>
              <a:t>Increasing our emphasis on delivery methodology – building delivery approaches in Build, Release Management, Test, Deployment and Support Transition that become repeatable and scalable program assets</a:t>
            </a:r>
          </a:p>
          <a:p>
            <a:pPr lvl="1"/>
            <a:r>
              <a:rPr lang="en-GB" sz="1200" dirty="0" smtClean="0"/>
              <a:t>Increasing our focus on engaging with the EY business – building our relationship with the EY business (Service Lines and Functions) to better inform our roadmap, priorities and overall solution quality</a:t>
            </a:r>
          </a:p>
          <a:p>
            <a:pPr lvl="1"/>
            <a:endParaRPr lang="en-GB" sz="1200" dirty="0" smtClean="0"/>
          </a:p>
          <a:p>
            <a:pPr lvl="1"/>
            <a:endParaRPr lang="en-GB" sz="1200" dirty="0"/>
          </a:p>
          <a:p>
            <a:endParaRPr lang="en-GB" sz="1600" dirty="0" smtClean="0"/>
          </a:p>
          <a:p>
            <a:endParaRPr lang="en-GB" sz="1600" dirty="0" smtClean="0"/>
          </a:p>
          <a:p>
            <a:pPr lvl="1"/>
            <a:endParaRPr lang="en-GB" sz="1400" dirty="0" smtClean="0"/>
          </a:p>
          <a:p>
            <a:pPr lvl="1"/>
            <a:endParaRPr lang="en-GB" sz="1400" dirty="0" smtClean="0"/>
          </a:p>
        </p:txBody>
      </p:sp>
    </p:spTree>
    <p:extLst>
      <p:ext uri="{BB962C8B-B14F-4D97-AF65-F5344CB8AC3E}">
        <p14:creationId xmlns:p14="http://schemas.microsoft.com/office/powerpoint/2010/main" val="16768026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00025"/>
            <a:ext cx="8534401" cy="863600"/>
          </a:xfrm>
        </p:spPr>
        <p:txBody>
          <a:bodyPr/>
          <a:lstStyle/>
          <a:p>
            <a:r>
              <a:rPr lang="en-GB" sz="2600" dirty="0" smtClean="0"/>
              <a:t>Current Program Governance and Reporting Cadence</a:t>
            </a:r>
            <a:endParaRPr lang="en-GB" sz="2600" dirty="0"/>
          </a:p>
        </p:txBody>
      </p:sp>
      <p:sp>
        <p:nvSpPr>
          <p:cNvPr id="3" name="Content Placeholder 2"/>
          <p:cNvSpPr>
            <a:spLocks noGrp="1"/>
          </p:cNvSpPr>
          <p:nvPr>
            <p:ph idx="1"/>
          </p:nvPr>
        </p:nvSpPr>
        <p:spPr>
          <a:xfrm>
            <a:off x="455613" y="1089025"/>
            <a:ext cx="8158162" cy="5159375"/>
          </a:xfrm>
        </p:spPr>
        <p:txBody>
          <a:bodyPr/>
          <a:lstStyle/>
          <a:p>
            <a:pPr marL="361950" lvl="1" indent="0">
              <a:buNone/>
            </a:pPr>
            <a:r>
              <a:rPr lang="en-GB" sz="1600" dirty="0" smtClean="0"/>
              <a:t>Reporting Cadence</a:t>
            </a:r>
          </a:p>
        </p:txBody>
      </p:sp>
      <p:graphicFrame>
        <p:nvGraphicFramePr>
          <p:cNvPr id="4" name="Table 3"/>
          <p:cNvGraphicFramePr>
            <a:graphicFrameLocks noGrp="1"/>
          </p:cNvGraphicFramePr>
          <p:nvPr>
            <p:extLst>
              <p:ext uri="{D42A27DB-BD31-4B8C-83A1-F6EECF244321}">
                <p14:modId xmlns:p14="http://schemas.microsoft.com/office/powerpoint/2010/main" val="2749030764"/>
              </p:ext>
            </p:extLst>
          </p:nvPr>
        </p:nvGraphicFramePr>
        <p:xfrm>
          <a:off x="876300" y="1597025"/>
          <a:ext cx="7581899" cy="2382520"/>
        </p:xfrm>
        <a:graphic>
          <a:graphicData uri="http://schemas.openxmlformats.org/drawingml/2006/table">
            <a:tbl>
              <a:tblPr firstRow="1" bandRow="1">
                <a:tableStyleId>{5C22544A-7EE6-4342-B048-85BDC9FD1C3A}</a:tableStyleId>
              </a:tblPr>
              <a:tblGrid>
                <a:gridCol w="2796602"/>
                <a:gridCol w="3532005"/>
                <a:gridCol w="1253292"/>
              </a:tblGrid>
              <a:tr h="370840">
                <a:tc>
                  <a:txBody>
                    <a:bodyPr/>
                    <a:lstStyle/>
                    <a:p>
                      <a:r>
                        <a:rPr lang="en-GB" sz="1400" dirty="0" smtClean="0"/>
                        <a:t>Report Type</a:t>
                      </a:r>
                      <a:endParaRPr lang="en-GB" sz="1400" dirty="0"/>
                    </a:p>
                  </a:txBody>
                  <a:tcPr/>
                </a:tc>
                <a:tc>
                  <a:txBody>
                    <a:bodyPr/>
                    <a:lstStyle/>
                    <a:p>
                      <a:r>
                        <a:rPr lang="en-GB" sz="1400" dirty="0" smtClean="0"/>
                        <a:t>Reporting Event</a:t>
                      </a:r>
                      <a:endParaRPr lang="en-GB" sz="1400" dirty="0"/>
                    </a:p>
                  </a:txBody>
                  <a:tcPr/>
                </a:tc>
                <a:tc>
                  <a:txBody>
                    <a:bodyPr/>
                    <a:lstStyle/>
                    <a:p>
                      <a:r>
                        <a:rPr lang="en-GB" sz="1400" dirty="0" smtClean="0"/>
                        <a:t>Owner</a:t>
                      </a:r>
                      <a:endParaRPr lang="en-GB" sz="1400" dirty="0"/>
                    </a:p>
                  </a:txBody>
                  <a:tcPr/>
                </a:tc>
              </a:tr>
              <a:tr h="370840">
                <a:tc>
                  <a:txBody>
                    <a:bodyPr/>
                    <a:lstStyle/>
                    <a:p>
                      <a:r>
                        <a:rPr lang="en-GB" sz="1200" dirty="0" smtClean="0"/>
                        <a:t>Team</a:t>
                      </a:r>
                      <a:r>
                        <a:rPr lang="en-GB" sz="1200" baseline="0" dirty="0" smtClean="0"/>
                        <a:t> Lead Report (Build, Test, Deployment </a:t>
                      </a:r>
                      <a:r>
                        <a:rPr lang="en-GB" sz="1200" baseline="0" dirty="0" err="1" smtClean="0"/>
                        <a:t>etc</a:t>
                      </a:r>
                      <a:r>
                        <a:rPr lang="en-GB" sz="1200" baseline="0" dirty="0" smtClean="0"/>
                        <a:t>)</a:t>
                      </a:r>
                      <a:endParaRPr lang="en-GB" sz="1200" dirty="0"/>
                    </a:p>
                  </a:txBody>
                  <a:tcPr/>
                </a:tc>
                <a:tc>
                  <a:txBody>
                    <a:bodyPr/>
                    <a:lstStyle/>
                    <a:p>
                      <a:pPr marL="285750" indent="-285750">
                        <a:buFont typeface="Arial" pitchFamily="34" charset="0"/>
                        <a:buChar char="•"/>
                      </a:pPr>
                      <a:r>
                        <a:rPr lang="en-GB" sz="1200" dirty="0" smtClean="0"/>
                        <a:t>Weekly (Mon):</a:t>
                      </a:r>
                      <a:r>
                        <a:rPr lang="en-GB" sz="1200" baseline="0" dirty="0" smtClean="0"/>
                        <a:t> Reports c</a:t>
                      </a:r>
                      <a:r>
                        <a:rPr lang="en-GB" sz="1200" dirty="0" smtClean="0"/>
                        <a:t>ompleted</a:t>
                      </a:r>
                      <a:r>
                        <a:rPr lang="en-GB" sz="1200" baseline="0" dirty="0" smtClean="0"/>
                        <a:t> by cob Mon</a:t>
                      </a:r>
                    </a:p>
                  </a:txBody>
                  <a:tcPr/>
                </a:tc>
                <a:tc>
                  <a:txBody>
                    <a:bodyPr/>
                    <a:lstStyle/>
                    <a:p>
                      <a:r>
                        <a:rPr lang="en-GB" sz="1200" dirty="0" smtClean="0"/>
                        <a:t>Team Leads</a:t>
                      </a:r>
                      <a:endParaRPr lang="en-GB" sz="12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Team</a:t>
                      </a:r>
                      <a:r>
                        <a:rPr lang="en-GB" sz="1200" baseline="0" dirty="0" smtClean="0"/>
                        <a:t> Lead Report (Build, Test, Deployment </a:t>
                      </a:r>
                      <a:r>
                        <a:rPr lang="en-GB" sz="1200" baseline="0" dirty="0" err="1" smtClean="0"/>
                        <a:t>etc</a:t>
                      </a:r>
                      <a:r>
                        <a:rPr lang="en-GB" sz="1200" baseline="0" dirty="0" smtClean="0"/>
                        <a:t>)</a:t>
                      </a:r>
                      <a:endParaRPr lang="en-GB" sz="1200" dirty="0" smtClean="0"/>
                    </a:p>
                  </a:txBody>
                  <a:tcPr/>
                </a:tc>
                <a:tc>
                  <a:txBody>
                    <a:bodyPr/>
                    <a:lstStyle/>
                    <a:p>
                      <a:pPr marL="285750" indent="-285750">
                        <a:buFont typeface="Arial" pitchFamily="34" charset="0"/>
                        <a:buChar char="•"/>
                      </a:pPr>
                      <a:r>
                        <a:rPr lang="en-GB" sz="1200" dirty="0" smtClean="0"/>
                        <a:t>Weekly (Tue): Reports reviewed with Program Director at</a:t>
                      </a:r>
                      <a:r>
                        <a:rPr lang="en-GB" sz="1200" baseline="0" dirty="0" smtClean="0"/>
                        <a:t> Status Review Meeting</a:t>
                      </a:r>
                      <a:endParaRPr lang="en-GB" sz="1200" dirty="0"/>
                    </a:p>
                  </a:txBody>
                  <a:tcPr/>
                </a:tc>
                <a:tc>
                  <a:txBody>
                    <a:bodyPr/>
                    <a:lstStyle/>
                    <a:p>
                      <a:r>
                        <a:rPr lang="en-GB" sz="1200" dirty="0" smtClean="0"/>
                        <a:t>Andy </a:t>
                      </a:r>
                      <a:r>
                        <a:rPr lang="en-GB" sz="1200" dirty="0" err="1" smtClean="0"/>
                        <a:t>Ioannou</a:t>
                      </a:r>
                      <a:endParaRPr lang="en-GB" sz="1200" dirty="0"/>
                    </a:p>
                  </a:txBody>
                  <a:tcPr/>
                </a:tc>
              </a:tr>
              <a:tr h="370840">
                <a:tc>
                  <a:txBody>
                    <a:bodyPr/>
                    <a:lstStyle/>
                    <a:p>
                      <a:r>
                        <a:rPr lang="en-GB" sz="1200" dirty="0" smtClean="0"/>
                        <a:t>Weekly Program</a:t>
                      </a:r>
                      <a:r>
                        <a:rPr lang="en-GB" sz="1200" baseline="0" dirty="0" smtClean="0"/>
                        <a:t> Status Report</a:t>
                      </a:r>
                      <a:endParaRPr lang="en-GB" sz="1200" dirty="0"/>
                    </a:p>
                  </a:txBody>
                  <a:tcPr/>
                </a:tc>
                <a:tc>
                  <a:txBody>
                    <a:bodyPr/>
                    <a:lstStyle/>
                    <a:p>
                      <a:pPr marL="285750" indent="-285750">
                        <a:buFont typeface="Arial" pitchFamily="34" charset="0"/>
                        <a:buChar char="•"/>
                      </a:pPr>
                      <a:r>
                        <a:rPr lang="en-GB" sz="1200" dirty="0" smtClean="0"/>
                        <a:t>Weekly (Thu): Management summary of program status,</a:t>
                      </a:r>
                      <a:r>
                        <a:rPr lang="en-GB" sz="1200" baseline="0" dirty="0" smtClean="0"/>
                        <a:t> including key RAID</a:t>
                      </a:r>
                      <a:endParaRPr lang="en-GB" sz="1200" dirty="0"/>
                    </a:p>
                  </a:txBody>
                  <a:tcPr/>
                </a:tc>
                <a:tc>
                  <a:txBody>
                    <a:bodyPr/>
                    <a:lstStyle/>
                    <a:p>
                      <a:r>
                        <a:rPr lang="en-GB" sz="1200" dirty="0" smtClean="0"/>
                        <a:t>Andy </a:t>
                      </a:r>
                      <a:r>
                        <a:rPr lang="en-GB" sz="1200" dirty="0" err="1" smtClean="0"/>
                        <a:t>Ioannou</a:t>
                      </a:r>
                      <a:endParaRPr lang="en-GB" sz="12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Monthly Program</a:t>
                      </a:r>
                      <a:r>
                        <a:rPr lang="en-GB" sz="1200" baseline="0" dirty="0" smtClean="0"/>
                        <a:t> Status Report</a:t>
                      </a:r>
                      <a:endParaRPr lang="en-GB" sz="1200" dirty="0" smtClean="0"/>
                    </a:p>
                    <a:p>
                      <a:endParaRPr lang="en-GB" sz="1200"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Monthly</a:t>
                      </a:r>
                      <a:r>
                        <a:rPr lang="en-GB" sz="1200" baseline="0" dirty="0" smtClean="0"/>
                        <a:t>: Month-on-Month m</a:t>
                      </a:r>
                      <a:r>
                        <a:rPr lang="en-GB" sz="1200" dirty="0" smtClean="0"/>
                        <a:t>anagement summary of program status,</a:t>
                      </a:r>
                      <a:r>
                        <a:rPr lang="en-GB" sz="1200" baseline="0" dirty="0" smtClean="0"/>
                        <a:t> including key RAID – due last Thu in the month</a:t>
                      </a:r>
                      <a:endParaRPr lang="en-GB" sz="1200" dirty="0" smtClean="0"/>
                    </a:p>
                  </a:txBody>
                  <a:tcPr/>
                </a:tc>
                <a:tc>
                  <a:txBody>
                    <a:bodyPr/>
                    <a:lstStyle/>
                    <a:p>
                      <a:r>
                        <a:rPr lang="en-GB" sz="1200" dirty="0" smtClean="0"/>
                        <a:t>Andy </a:t>
                      </a:r>
                      <a:r>
                        <a:rPr lang="en-GB" sz="1200" dirty="0" err="1" smtClean="0"/>
                        <a:t>Ioannou</a:t>
                      </a:r>
                      <a:endParaRPr lang="en-GB" sz="1200" dirty="0"/>
                    </a:p>
                  </a:txBody>
                  <a:tcPr/>
                </a:tc>
              </a:tr>
            </a:tbl>
          </a:graphicData>
        </a:graphic>
      </p:graphicFrame>
    </p:spTree>
    <p:extLst>
      <p:ext uri="{BB962C8B-B14F-4D97-AF65-F5344CB8AC3E}">
        <p14:creationId xmlns:p14="http://schemas.microsoft.com/office/powerpoint/2010/main" val="25358707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Current Governance and Reporting Cadence</a:t>
            </a:r>
            <a:endParaRPr lang="en-GB" sz="2600" dirty="0"/>
          </a:p>
        </p:txBody>
      </p:sp>
      <p:sp>
        <p:nvSpPr>
          <p:cNvPr id="3" name="Content Placeholder 2"/>
          <p:cNvSpPr>
            <a:spLocks noGrp="1"/>
          </p:cNvSpPr>
          <p:nvPr>
            <p:ph idx="1"/>
          </p:nvPr>
        </p:nvSpPr>
        <p:spPr>
          <a:xfrm>
            <a:off x="-104775" y="1089025"/>
            <a:ext cx="8537575" cy="5159375"/>
          </a:xfrm>
        </p:spPr>
        <p:txBody>
          <a:bodyPr/>
          <a:lstStyle/>
          <a:p>
            <a:pPr marL="361950" lvl="1" indent="0">
              <a:buNone/>
            </a:pPr>
            <a:r>
              <a:rPr lang="en-GB" sz="1600" dirty="0" smtClean="0"/>
              <a:t>Program Governance – Meetings/Calls</a:t>
            </a:r>
          </a:p>
        </p:txBody>
      </p:sp>
      <p:graphicFrame>
        <p:nvGraphicFramePr>
          <p:cNvPr id="4" name="Table 3"/>
          <p:cNvGraphicFramePr>
            <a:graphicFrameLocks noGrp="1"/>
          </p:cNvGraphicFramePr>
          <p:nvPr>
            <p:extLst>
              <p:ext uri="{D42A27DB-BD31-4B8C-83A1-F6EECF244321}">
                <p14:modId xmlns:p14="http://schemas.microsoft.com/office/powerpoint/2010/main" val="2229298582"/>
              </p:ext>
            </p:extLst>
          </p:nvPr>
        </p:nvGraphicFramePr>
        <p:xfrm>
          <a:off x="114300" y="1463675"/>
          <a:ext cx="8896350" cy="5308600"/>
        </p:xfrm>
        <a:graphic>
          <a:graphicData uri="http://schemas.openxmlformats.org/drawingml/2006/table">
            <a:tbl>
              <a:tblPr firstRow="1" bandRow="1">
                <a:tableStyleId>{5C22544A-7EE6-4342-B048-85BDC9FD1C3A}</a:tableStyleId>
              </a:tblPr>
              <a:tblGrid>
                <a:gridCol w="1690306"/>
                <a:gridCol w="3430037"/>
                <a:gridCol w="2283396"/>
                <a:gridCol w="1492611"/>
              </a:tblGrid>
              <a:tr h="370840">
                <a:tc>
                  <a:txBody>
                    <a:bodyPr/>
                    <a:lstStyle/>
                    <a:p>
                      <a:r>
                        <a:rPr lang="en-GB" sz="1400" dirty="0" smtClean="0"/>
                        <a:t>Title</a:t>
                      </a:r>
                      <a:endParaRPr lang="en-GB" sz="1400" dirty="0"/>
                    </a:p>
                  </a:txBody>
                  <a:tcPr/>
                </a:tc>
                <a:tc>
                  <a:txBody>
                    <a:bodyPr/>
                    <a:lstStyle/>
                    <a:p>
                      <a:r>
                        <a:rPr lang="en-GB" sz="1400" dirty="0" smtClean="0"/>
                        <a:t>Objective</a:t>
                      </a:r>
                      <a:endParaRPr lang="en-GB" sz="1400" dirty="0"/>
                    </a:p>
                  </a:txBody>
                  <a:tcPr/>
                </a:tc>
                <a:tc>
                  <a:txBody>
                    <a:bodyPr/>
                    <a:lstStyle/>
                    <a:p>
                      <a:r>
                        <a:rPr lang="en-GB" sz="1400" dirty="0" smtClean="0"/>
                        <a:t>Audience</a:t>
                      </a:r>
                      <a:endParaRPr lang="en-GB" sz="1400" dirty="0"/>
                    </a:p>
                  </a:txBody>
                  <a:tcPr/>
                </a:tc>
                <a:tc>
                  <a:txBody>
                    <a:bodyPr/>
                    <a:lstStyle/>
                    <a:p>
                      <a:r>
                        <a:rPr lang="en-GB" sz="1400" dirty="0" smtClean="0"/>
                        <a:t>Owner</a:t>
                      </a:r>
                      <a:endParaRPr lang="en-GB" sz="1400" dirty="0"/>
                    </a:p>
                  </a:txBody>
                  <a:tcPr/>
                </a:tc>
              </a:tr>
              <a:tr h="370840">
                <a:tc>
                  <a:txBody>
                    <a:bodyPr/>
                    <a:lstStyle/>
                    <a:p>
                      <a:r>
                        <a:rPr lang="en-GB" sz="1200" dirty="0" smtClean="0"/>
                        <a:t>Collaboration Daily Call</a:t>
                      </a:r>
                      <a:endParaRPr lang="en-GB" sz="1200" dirty="0"/>
                    </a:p>
                  </a:txBody>
                  <a:tcPr/>
                </a:tc>
                <a:tc>
                  <a:txBody>
                    <a:bodyPr/>
                    <a:lstStyle/>
                    <a:p>
                      <a:pPr marL="285750" indent="-285750">
                        <a:buFont typeface="Arial" pitchFamily="34" charset="0"/>
                        <a:buChar char="•"/>
                      </a:pPr>
                      <a:r>
                        <a:rPr lang="en-GB" sz="1200" baseline="0" dirty="0" smtClean="0"/>
                        <a:t>Effective management of cross-team dependencies, actions</a:t>
                      </a:r>
                    </a:p>
                    <a:p>
                      <a:pPr marL="285750" indent="-285750">
                        <a:buFont typeface="Arial" pitchFamily="34" charset="0"/>
                        <a:buChar char="•"/>
                      </a:pPr>
                      <a:r>
                        <a:rPr lang="en-GB" sz="1200" baseline="0" dirty="0" smtClean="0"/>
                        <a:t>Emphasis on items in need of quick turnaround</a:t>
                      </a:r>
                    </a:p>
                  </a:txBody>
                  <a:tcPr/>
                </a:tc>
                <a:tc>
                  <a:txBody>
                    <a:bodyPr/>
                    <a:lstStyle/>
                    <a:p>
                      <a:pPr marL="285750" indent="-285750">
                        <a:buFont typeface="Arial" pitchFamily="34" charset="0"/>
                        <a:buChar char="•"/>
                      </a:pPr>
                      <a:r>
                        <a:rPr lang="en-GB" sz="1200" dirty="0" smtClean="0"/>
                        <a:t>Program Directors (IT and Business)</a:t>
                      </a:r>
                    </a:p>
                    <a:p>
                      <a:pPr marL="285750" indent="-285750">
                        <a:buFont typeface="Arial" pitchFamily="34" charset="0"/>
                        <a:buChar char="•"/>
                      </a:pPr>
                      <a:r>
                        <a:rPr lang="en-GB" sz="1200" dirty="0" smtClean="0"/>
                        <a:t>Solution Delivery Lead</a:t>
                      </a:r>
                    </a:p>
                    <a:p>
                      <a:pPr marL="285750" indent="-285750">
                        <a:buFont typeface="Arial" pitchFamily="34" charset="0"/>
                        <a:buChar char="•"/>
                      </a:pPr>
                      <a:r>
                        <a:rPr lang="en-GB" sz="1200" dirty="0" smtClean="0"/>
                        <a:t>Team Leads (including MS)</a:t>
                      </a:r>
                    </a:p>
                  </a:txBody>
                  <a:tcPr/>
                </a:tc>
                <a:tc>
                  <a:txBody>
                    <a:bodyPr/>
                    <a:lstStyle/>
                    <a:p>
                      <a:r>
                        <a:rPr lang="en-GB" sz="1200" dirty="0" smtClean="0"/>
                        <a:t>Team</a:t>
                      </a:r>
                      <a:r>
                        <a:rPr lang="en-GB" sz="1200" baseline="0" dirty="0" smtClean="0"/>
                        <a:t> Leads (on rotating basis)</a:t>
                      </a:r>
                      <a:endParaRPr lang="en-GB" sz="12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Weekly Collaboration</a:t>
                      </a:r>
                      <a:r>
                        <a:rPr lang="en-GB" sz="1200" baseline="0" dirty="0" smtClean="0"/>
                        <a:t> </a:t>
                      </a:r>
                      <a:r>
                        <a:rPr lang="en-GB" sz="1200" dirty="0" smtClean="0"/>
                        <a:t>Status Review Meeting</a:t>
                      </a:r>
                    </a:p>
                  </a:txBody>
                  <a:tcPr/>
                </a:tc>
                <a:tc>
                  <a:txBody>
                    <a:bodyPr/>
                    <a:lstStyle/>
                    <a:p>
                      <a:pPr marL="285750" indent="-285750">
                        <a:buFont typeface="Arial" pitchFamily="34" charset="0"/>
                        <a:buChar char="•"/>
                      </a:pPr>
                      <a:r>
                        <a:rPr lang="en-GB" sz="1200" dirty="0" smtClean="0"/>
                        <a:t>Review of team lead status reports – deliverables, dependencies and key RAID</a:t>
                      </a:r>
                    </a:p>
                    <a:p>
                      <a:pPr marL="285750" indent="-285750">
                        <a:buFont typeface="Arial" pitchFamily="34" charset="0"/>
                        <a:buChar char="•"/>
                      </a:pPr>
                      <a:r>
                        <a:rPr lang="en-GB" sz="1200" dirty="0" smtClean="0"/>
                        <a:t>Identify escalations/interventions</a:t>
                      </a:r>
                      <a:r>
                        <a:rPr lang="en-GB" sz="1200" baseline="0" dirty="0" smtClean="0"/>
                        <a:t> needed to effectively manage delivery risk/issues</a:t>
                      </a:r>
                      <a:endParaRPr lang="en-GB" sz="1200" dirty="0"/>
                    </a:p>
                  </a:txBody>
                  <a:tcPr/>
                </a:tc>
                <a:tc>
                  <a:txBody>
                    <a:bodyPr/>
                    <a:lstStyle/>
                    <a:p>
                      <a:pPr marL="285750" indent="-285750">
                        <a:buFont typeface="Arial" pitchFamily="34" charset="0"/>
                        <a:buChar char="•"/>
                      </a:pPr>
                      <a:r>
                        <a:rPr lang="en-GB" sz="1200" dirty="0" smtClean="0"/>
                        <a:t>Program Directors (IT and Business)</a:t>
                      </a:r>
                    </a:p>
                    <a:p>
                      <a:pPr marL="285750" indent="-285750">
                        <a:buFont typeface="Arial" pitchFamily="34" charset="0"/>
                        <a:buChar char="•"/>
                      </a:pPr>
                      <a:r>
                        <a:rPr lang="en-GB" sz="1200" dirty="0" smtClean="0"/>
                        <a:t>Solution Delivery Lead</a:t>
                      </a:r>
                    </a:p>
                    <a:p>
                      <a:pPr marL="285750" indent="-285750">
                        <a:buFont typeface="Arial" pitchFamily="34" charset="0"/>
                        <a:buChar char="•"/>
                      </a:pPr>
                      <a:r>
                        <a:rPr lang="en-GB" sz="1200" dirty="0" smtClean="0"/>
                        <a:t>Team Leads (including MS)</a:t>
                      </a:r>
                    </a:p>
                  </a:txBody>
                  <a:tcPr/>
                </a:tc>
                <a:tc>
                  <a:txBody>
                    <a:bodyPr/>
                    <a:lstStyle/>
                    <a:p>
                      <a:r>
                        <a:rPr lang="en-GB" sz="1200" dirty="0" smtClean="0"/>
                        <a:t>Andy </a:t>
                      </a:r>
                      <a:r>
                        <a:rPr lang="en-GB" sz="1200" dirty="0" err="1" smtClean="0"/>
                        <a:t>Ioannou</a:t>
                      </a:r>
                      <a:endParaRPr lang="en-GB" sz="1200" dirty="0"/>
                    </a:p>
                  </a:txBody>
                  <a:tcPr/>
                </a:tc>
              </a:tr>
              <a:tr h="370840">
                <a:tc>
                  <a:txBody>
                    <a:bodyPr/>
                    <a:lstStyle/>
                    <a:p>
                      <a:r>
                        <a:rPr lang="en-GB" sz="1200" dirty="0" smtClean="0"/>
                        <a:t>Weekly M&amp;C Program Management Meeting</a:t>
                      </a:r>
                      <a:endParaRPr lang="en-GB" sz="1200" dirty="0"/>
                    </a:p>
                  </a:txBody>
                  <a:tcPr/>
                </a:tc>
                <a:tc>
                  <a:txBody>
                    <a:bodyPr/>
                    <a:lstStyle/>
                    <a:p>
                      <a:pPr marL="285750" indent="-285750">
                        <a:buFont typeface="Arial" pitchFamily="34" charset="0"/>
                        <a:buChar char="•"/>
                      </a:pPr>
                      <a:r>
                        <a:rPr lang="en-GB" sz="1200" dirty="0" smtClean="0"/>
                        <a:t>Review of program status reports – deliverables, dependencies and key RAID</a:t>
                      </a:r>
                    </a:p>
                    <a:p>
                      <a:pPr marL="285750" indent="-285750">
                        <a:buFont typeface="Arial" pitchFamily="34" charset="0"/>
                        <a:buChar char="•"/>
                      </a:pPr>
                      <a:r>
                        <a:rPr lang="en-GB" sz="1200" dirty="0" smtClean="0"/>
                        <a:t>Identify escalations/interventions</a:t>
                      </a:r>
                      <a:r>
                        <a:rPr lang="en-GB" sz="1200" baseline="0" dirty="0" smtClean="0"/>
                        <a:t> needed to effectively manage delivery risk/issues</a:t>
                      </a:r>
                      <a:endParaRPr lang="en-GB" sz="12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All M&amp;C Program Directors (IT and Business)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M&amp;C Program PMO</a:t>
                      </a:r>
                    </a:p>
                  </a:txBody>
                  <a:tcPr/>
                </a:tc>
                <a:tc>
                  <a:txBody>
                    <a:bodyPr/>
                    <a:lstStyle/>
                    <a:p>
                      <a:r>
                        <a:rPr lang="en-GB" sz="1200" dirty="0" smtClean="0"/>
                        <a:t>David Bingham</a:t>
                      </a:r>
                      <a:endParaRPr lang="en-GB" sz="1200" dirty="0"/>
                    </a:p>
                  </a:txBody>
                  <a:tcPr/>
                </a:tc>
              </a:tr>
              <a:tr h="370840">
                <a:tc>
                  <a:txBody>
                    <a:bodyPr/>
                    <a:lstStyle/>
                    <a:p>
                      <a:r>
                        <a:rPr lang="en-GB" sz="1200" dirty="0" smtClean="0"/>
                        <a:t>Weekly Collaboration RAID</a:t>
                      </a:r>
                      <a:endParaRPr lang="en-GB" sz="1200" dirty="0"/>
                    </a:p>
                  </a:txBody>
                  <a:tcPr/>
                </a:tc>
                <a:tc>
                  <a:txBody>
                    <a:bodyPr/>
                    <a:lstStyle/>
                    <a:p>
                      <a:pPr marL="285750" indent="-285750">
                        <a:buFont typeface="Arial" pitchFamily="34" charset="0"/>
                        <a:buChar char="•"/>
                      </a:pPr>
                      <a:r>
                        <a:rPr lang="en-GB" sz="1200" dirty="0" smtClean="0"/>
                        <a:t>Review</a:t>
                      </a:r>
                      <a:r>
                        <a:rPr lang="en-GB" sz="1200" baseline="0" dirty="0" smtClean="0"/>
                        <a:t> open RAID items and to actively drive ownership and timely resolution</a:t>
                      </a:r>
                    </a:p>
                    <a:p>
                      <a:pPr marL="285750" indent="-285750">
                        <a:buFont typeface="Arial" pitchFamily="34" charset="0"/>
                        <a:buChar char="•"/>
                      </a:pPr>
                      <a:r>
                        <a:rPr lang="en-GB" sz="1200" baseline="0" dirty="0" smtClean="0"/>
                        <a:t>Identify items for timely escalation to program leadership</a:t>
                      </a:r>
                      <a:endParaRPr lang="en-GB" sz="1200" dirty="0"/>
                    </a:p>
                  </a:txBody>
                  <a:tcPr/>
                </a:tc>
                <a:tc>
                  <a:txBody>
                    <a:bodyPr/>
                    <a:lstStyle/>
                    <a:p>
                      <a:pPr marL="285750" indent="-285750">
                        <a:buFont typeface="Arial" pitchFamily="34" charset="0"/>
                        <a:buChar char="•"/>
                      </a:pPr>
                      <a:r>
                        <a:rPr lang="en-GB" sz="1200" dirty="0" smtClean="0"/>
                        <a:t>Program Directors (IT and Business)</a:t>
                      </a:r>
                    </a:p>
                    <a:p>
                      <a:pPr marL="285750" indent="-285750">
                        <a:buFont typeface="Arial" pitchFamily="34" charset="0"/>
                        <a:buChar char="•"/>
                      </a:pPr>
                      <a:r>
                        <a:rPr lang="en-GB" sz="1200" dirty="0" smtClean="0"/>
                        <a:t>Solution Delivery Lead</a:t>
                      </a:r>
                    </a:p>
                    <a:p>
                      <a:pPr marL="285750" indent="-285750">
                        <a:buFont typeface="Arial" pitchFamily="34" charset="0"/>
                        <a:buChar char="•"/>
                      </a:pPr>
                      <a:r>
                        <a:rPr lang="en-GB" sz="1200" dirty="0" smtClean="0"/>
                        <a:t>Team Leads (including MS)</a:t>
                      </a:r>
                    </a:p>
                  </a:txBody>
                  <a:tcPr/>
                </a:tc>
                <a:tc>
                  <a:txBody>
                    <a:bodyPr/>
                    <a:lstStyle/>
                    <a:p>
                      <a:r>
                        <a:rPr lang="en-GB" sz="1200" dirty="0" smtClean="0"/>
                        <a:t>Team</a:t>
                      </a:r>
                      <a:r>
                        <a:rPr lang="en-GB" sz="1200" baseline="0" dirty="0" smtClean="0"/>
                        <a:t> Leads (on rotating basis)</a:t>
                      </a:r>
                      <a:endParaRPr lang="en-GB" sz="1200" dirty="0"/>
                    </a:p>
                  </a:txBody>
                  <a:tcPr/>
                </a:tc>
              </a:tr>
              <a:tr h="370840">
                <a:tc>
                  <a:txBody>
                    <a:bodyPr/>
                    <a:lstStyle/>
                    <a:p>
                      <a:r>
                        <a:rPr lang="en-GB" sz="1200" dirty="0" smtClean="0"/>
                        <a:t>Weekly M&amp;C RAID</a:t>
                      </a:r>
                      <a:endParaRPr lang="en-GB" sz="1200" dirty="0"/>
                    </a:p>
                  </a:txBody>
                  <a:tcPr/>
                </a:tc>
                <a:tc>
                  <a:txBody>
                    <a:bodyPr/>
                    <a:lstStyle/>
                    <a:p>
                      <a:pPr marL="285750" indent="-285750">
                        <a:buFont typeface="Arial" pitchFamily="34" charset="0"/>
                        <a:buChar char="•"/>
                      </a:pPr>
                      <a:r>
                        <a:rPr lang="en-GB" sz="1200" dirty="0" smtClean="0"/>
                        <a:t>Review</a:t>
                      </a:r>
                      <a:r>
                        <a:rPr lang="en-GB" sz="1200" baseline="0" dirty="0" smtClean="0"/>
                        <a:t> open RAID items flagged for attention of M&amp;C Program leadership</a:t>
                      </a:r>
                      <a:endParaRPr lang="en-GB" sz="12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All M&amp;C Program Directors and PMs (IT and Business)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M&amp;C Program PMO</a:t>
                      </a:r>
                    </a:p>
                  </a:txBody>
                  <a:tcPr/>
                </a:tc>
                <a:tc>
                  <a:txBody>
                    <a:bodyPr/>
                    <a:lstStyle/>
                    <a:p>
                      <a:r>
                        <a:rPr lang="en-GB" sz="1200" dirty="0" smtClean="0"/>
                        <a:t>David Bingham</a:t>
                      </a:r>
                      <a:endParaRPr lang="en-GB" sz="1200" dirty="0"/>
                    </a:p>
                  </a:txBody>
                  <a:tcPr/>
                </a:tc>
              </a:tr>
              <a:tr h="370840">
                <a:tc>
                  <a:txBody>
                    <a:bodyPr/>
                    <a:lstStyle/>
                    <a:p>
                      <a:r>
                        <a:rPr lang="en-GB" sz="1200" dirty="0" smtClean="0"/>
                        <a:t>Monthly Key IT Initiatives Meeting</a:t>
                      </a:r>
                      <a:endParaRPr lang="en-GB" sz="1200" dirty="0"/>
                    </a:p>
                  </a:txBody>
                  <a:tcPr/>
                </a:tc>
                <a:tc>
                  <a:txBody>
                    <a:bodyPr/>
                    <a:lstStyle/>
                    <a:p>
                      <a:pPr marL="285750" indent="-285750">
                        <a:buFont typeface="Arial" pitchFamily="34" charset="0"/>
                        <a:buChar char="•"/>
                      </a:pPr>
                      <a:r>
                        <a:rPr lang="en-GB" sz="1200" dirty="0" smtClean="0"/>
                        <a:t>Executive review of ITS portfolio</a:t>
                      </a:r>
                      <a:r>
                        <a:rPr lang="en-GB" sz="1200" baseline="0" dirty="0" smtClean="0"/>
                        <a:t> of key IT programs – includes M&amp;C</a:t>
                      </a:r>
                      <a:endParaRPr lang="en-GB" sz="12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All ITS Program</a:t>
                      </a:r>
                      <a:r>
                        <a:rPr lang="en-GB" sz="1200" baseline="0" dirty="0" smtClean="0"/>
                        <a:t> Directors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EPM Team</a:t>
                      </a:r>
                      <a:endParaRPr lang="en-GB" sz="1200" dirty="0" smtClean="0"/>
                    </a:p>
                  </a:txBody>
                  <a:tcPr/>
                </a:tc>
                <a:tc>
                  <a:txBody>
                    <a:bodyPr/>
                    <a:lstStyle/>
                    <a:p>
                      <a:r>
                        <a:rPr lang="en-GB" sz="1200" dirty="0" smtClean="0"/>
                        <a:t>Global</a:t>
                      </a:r>
                      <a:r>
                        <a:rPr lang="en-GB" sz="1200" baseline="0" dirty="0" smtClean="0"/>
                        <a:t> PMO</a:t>
                      </a:r>
                      <a:endParaRPr lang="en-GB" sz="1200" dirty="0"/>
                    </a:p>
                  </a:txBody>
                  <a:tcPr/>
                </a:tc>
              </a:tr>
            </a:tbl>
          </a:graphicData>
        </a:graphic>
      </p:graphicFrame>
    </p:spTree>
    <p:extLst>
      <p:ext uri="{BB962C8B-B14F-4D97-AF65-F5344CB8AC3E}">
        <p14:creationId xmlns:p14="http://schemas.microsoft.com/office/powerpoint/2010/main" val="40564865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Collaboration Pipeline</a:t>
            </a:r>
            <a:br>
              <a:rPr lang="en-GB" sz="2600" dirty="0" smtClean="0"/>
            </a:br>
            <a:r>
              <a:rPr lang="en-GB" sz="2400" b="0" dirty="0" smtClean="0"/>
              <a:t>Current view of FY14 Pipeline</a:t>
            </a:r>
            <a:endParaRPr lang="en-GB" sz="2400" b="0" dirty="0"/>
          </a:p>
        </p:txBody>
      </p:sp>
      <p:sp>
        <p:nvSpPr>
          <p:cNvPr id="3" name="Content Placeholder 2"/>
          <p:cNvSpPr>
            <a:spLocks noGrp="1"/>
          </p:cNvSpPr>
          <p:nvPr>
            <p:ph idx="1"/>
          </p:nvPr>
        </p:nvSpPr>
        <p:spPr>
          <a:xfrm>
            <a:off x="455613" y="1089025"/>
            <a:ext cx="8158162" cy="5159375"/>
          </a:xfrm>
        </p:spPr>
        <p:txBody>
          <a:bodyPr/>
          <a:lstStyle/>
          <a:p>
            <a:pPr marL="361950" lvl="1" indent="0">
              <a:buNone/>
            </a:pPr>
            <a:endParaRPr lang="en-GB" sz="1200" dirty="0"/>
          </a:p>
          <a:p>
            <a:endParaRPr lang="en-GB" sz="1600" dirty="0" smtClean="0"/>
          </a:p>
          <a:p>
            <a:endParaRPr lang="en-GB" sz="1600" dirty="0" smtClean="0"/>
          </a:p>
          <a:p>
            <a:pPr lvl="1"/>
            <a:endParaRPr lang="en-GB" sz="1400" dirty="0" smtClean="0"/>
          </a:p>
          <a:p>
            <a:pPr lvl="1"/>
            <a:endParaRPr lang="en-GB" sz="1400" dirty="0" smtClean="0"/>
          </a:p>
        </p:txBody>
      </p:sp>
      <p:graphicFrame>
        <p:nvGraphicFramePr>
          <p:cNvPr id="5" name="Table 4"/>
          <p:cNvGraphicFramePr>
            <a:graphicFrameLocks noGrp="1"/>
          </p:cNvGraphicFramePr>
          <p:nvPr>
            <p:extLst>
              <p:ext uri="{D42A27DB-BD31-4B8C-83A1-F6EECF244321}">
                <p14:modId xmlns:p14="http://schemas.microsoft.com/office/powerpoint/2010/main" val="1442854127"/>
              </p:ext>
            </p:extLst>
          </p:nvPr>
        </p:nvGraphicFramePr>
        <p:xfrm>
          <a:off x="219074" y="1149350"/>
          <a:ext cx="8801101" cy="5125720"/>
        </p:xfrm>
        <a:graphic>
          <a:graphicData uri="http://schemas.openxmlformats.org/drawingml/2006/table">
            <a:tbl>
              <a:tblPr firstRow="1" bandRow="1">
                <a:tableStyleId>{5C22544A-7EE6-4342-B048-85BDC9FD1C3A}</a:tableStyleId>
              </a:tblPr>
              <a:tblGrid>
                <a:gridCol w="1076326"/>
                <a:gridCol w="4505325"/>
                <a:gridCol w="1226587"/>
                <a:gridCol w="1992863"/>
              </a:tblGrid>
              <a:tr h="370840">
                <a:tc>
                  <a:txBody>
                    <a:bodyPr/>
                    <a:lstStyle/>
                    <a:p>
                      <a:r>
                        <a:rPr lang="en-GB" sz="1400" dirty="0" smtClean="0"/>
                        <a:t>Release</a:t>
                      </a:r>
                      <a:endParaRPr lang="en-GB" sz="1400" dirty="0"/>
                    </a:p>
                  </a:txBody>
                  <a:tcPr/>
                </a:tc>
                <a:tc>
                  <a:txBody>
                    <a:bodyPr/>
                    <a:lstStyle/>
                    <a:p>
                      <a:r>
                        <a:rPr lang="en-GB" sz="1400" dirty="0" smtClean="0"/>
                        <a:t>High</a:t>
                      </a:r>
                      <a:r>
                        <a:rPr lang="en-GB" sz="1400" baseline="0" dirty="0" smtClean="0"/>
                        <a:t> Level Scope</a:t>
                      </a:r>
                      <a:endParaRPr lang="en-GB" sz="1400" dirty="0"/>
                    </a:p>
                  </a:txBody>
                  <a:tcPr/>
                </a:tc>
                <a:tc>
                  <a:txBody>
                    <a:bodyPr/>
                    <a:lstStyle/>
                    <a:p>
                      <a:r>
                        <a:rPr lang="en-GB" sz="1400" dirty="0" smtClean="0"/>
                        <a:t>Release PM</a:t>
                      </a:r>
                      <a:endParaRPr lang="en-GB" sz="1400" dirty="0"/>
                    </a:p>
                  </a:txBody>
                  <a:tcPr/>
                </a:tc>
                <a:tc>
                  <a:txBody>
                    <a:bodyPr/>
                    <a:lstStyle/>
                    <a:p>
                      <a:r>
                        <a:rPr lang="en-GB" sz="1400" dirty="0" smtClean="0"/>
                        <a:t>Status</a:t>
                      </a:r>
                      <a:endParaRPr lang="en-GB" sz="1400" dirty="0"/>
                    </a:p>
                  </a:txBody>
                  <a:tcPr/>
                </a:tc>
              </a:tr>
              <a:tr h="370840">
                <a:tc>
                  <a:txBody>
                    <a:bodyPr/>
                    <a:lstStyle/>
                    <a:p>
                      <a:r>
                        <a:rPr lang="en-GB" sz="1200" dirty="0" smtClean="0"/>
                        <a:t>Release 1</a:t>
                      </a:r>
                      <a:endParaRPr lang="en-GB" sz="1200" dirty="0"/>
                    </a:p>
                  </a:txBody>
                  <a:tcPr/>
                </a:tc>
                <a:tc>
                  <a:txBody>
                    <a:bodyPr/>
                    <a:lstStyle/>
                    <a:p>
                      <a:pPr marL="285750" indent="-285750">
                        <a:buFont typeface="Arial" pitchFamily="34" charset="0"/>
                        <a:buChar char="•"/>
                      </a:pPr>
                      <a:r>
                        <a:rPr lang="en-GB" sz="1200" baseline="0" dirty="0" smtClean="0"/>
                        <a:t>SP2010</a:t>
                      </a:r>
                      <a:r>
                        <a:rPr lang="en-GB" sz="1200" baseline="0" dirty="0" smtClean="0">
                          <a:sym typeface="Wingdings" pitchFamily="2" charset="2"/>
                        </a:rPr>
                        <a:t>SP2013 Upgrade</a:t>
                      </a:r>
                    </a:p>
                    <a:p>
                      <a:pPr marL="285750" indent="-285750">
                        <a:buFont typeface="Arial" pitchFamily="34" charset="0"/>
                        <a:buChar char="•"/>
                      </a:pPr>
                      <a:r>
                        <a:rPr lang="en-GB" sz="1200" baseline="0" dirty="0" smtClean="0">
                          <a:sym typeface="Wingdings" pitchFamily="2" charset="2"/>
                        </a:rPr>
                        <a:t>On </a:t>
                      </a:r>
                      <a:r>
                        <a:rPr lang="en-GB" sz="1200" baseline="0" dirty="0" err="1" smtClean="0">
                          <a:sym typeface="Wingdings" pitchFamily="2" charset="2"/>
                        </a:rPr>
                        <a:t>Prem</a:t>
                      </a:r>
                      <a:r>
                        <a:rPr lang="en-GB" sz="1200" baseline="0" dirty="0" smtClean="0">
                          <a:sym typeface="Wingdings" pitchFamily="2" charset="2"/>
                        </a:rPr>
                        <a:t> Infrastructure Frankfurt)</a:t>
                      </a:r>
                    </a:p>
                    <a:p>
                      <a:pPr marL="285750" indent="-285750">
                        <a:buFont typeface="Arial" pitchFamily="34" charset="0"/>
                        <a:buChar char="•"/>
                      </a:pPr>
                      <a:r>
                        <a:rPr lang="en-GB" sz="1200" baseline="0" dirty="0" smtClean="0">
                          <a:sym typeface="Wingdings" pitchFamily="2" charset="2"/>
                        </a:rPr>
                        <a:t>Hybrid Search, MMS, People Profiled</a:t>
                      </a:r>
                    </a:p>
                    <a:p>
                      <a:pPr marL="285750" indent="-285750">
                        <a:buFont typeface="Arial" pitchFamily="34" charset="0"/>
                        <a:buChar char="•"/>
                      </a:pPr>
                      <a:r>
                        <a:rPr lang="en-GB" sz="1200" baseline="0" dirty="0" smtClean="0">
                          <a:sym typeface="Wingdings" pitchFamily="2" charset="2"/>
                        </a:rPr>
                        <a:t>Enhanced Team Site functionality</a:t>
                      </a:r>
                    </a:p>
                  </a:txBody>
                  <a:tcPr/>
                </a:tc>
                <a:tc>
                  <a:txBody>
                    <a:bodyPr/>
                    <a:lstStyle/>
                    <a:p>
                      <a:r>
                        <a:rPr lang="en-GB" sz="1200" dirty="0" smtClean="0"/>
                        <a:t>Nicola Cooper</a:t>
                      </a:r>
                      <a:endParaRPr lang="en-GB" sz="1200" dirty="0"/>
                    </a:p>
                  </a:txBody>
                  <a:tcPr/>
                </a:tc>
                <a:tc>
                  <a:txBody>
                    <a:bodyPr/>
                    <a:lstStyle/>
                    <a:p>
                      <a:r>
                        <a:rPr lang="en-GB" sz="1200" dirty="0" smtClean="0"/>
                        <a:t>In ‘Execute’ – Test Phase</a:t>
                      </a:r>
                      <a:endParaRPr lang="en-GB" sz="12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Release</a:t>
                      </a:r>
                      <a:r>
                        <a:rPr lang="en-GB" sz="1200" baseline="0" dirty="0" smtClean="0"/>
                        <a:t> 2</a:t>
                      </a:r>
                      <a:endParaRPr lang="en-GB" sz="1200" dirty="0" smtClean="0"/>
                    </a:p>
                  </a:txBody>
                  <a:tcPr/>
                </a:tc>
                <a:tc>
                  <a:txBody>
                    <a:bodyPr/>
                    <a:lstStyle/>
                    <a:p>
                      <a:pPr marL="285750" indent="-285750">
                        <a:buFont typeface="Arial" pitchFamily="34" charset="0"/>
                        <a:buChar char="•"/>
                      </a:pPr>
                      <a:r>
                        <a:rPr lang="en-GB" sz="1200" dirty="0" smtClean="0"/>
                        <a:t>Enabling</a:t>
                      </a:r>
                      <a:r>
                        <a:rPr lang="en-GB" sz="1200" baseline="0" dirty="0" smtClean="0"/>
                        <a:t> SP2013 functionality following GCL5 rollout (mainly Social/Communities capability</a:t>
                      </a:r>
                    </a:p>
                    <a:p>
                      <a:pPr marL="285750" indent="-285750">
                        <a:buFont typeface="Arial" pitchFamily="34" charset="0"/>
                        <a:buChar char="•"/>
                      </a:pPr>
                      <a:r>
                        <a:rPr lang="en-GB" sz="1200" baseline="0" dirty="0" smtClean="0"/>
                        <a:t>Enabling basic CMS functionality</a:t>
                      </a:r>
                    </a:p>
                    <a:p>
                      <a:pPr marL="285750" indent="-285750">
                        <a:buFont typeface="Arial" pitchFamily="34" charset="0"/>
                        <a:buChar char="•"/>
                      </a:pPr>
                      <a:r>
                        <a:rPr lang="en-GB" sz="1200" baseline="0" dirty="0" smtClean="0"/>
                        <a:t>Concept Searching </a:t>
                      </a:r>
                      <a:r>
                        <a:rPr lang="en-GB" sz="1200" baseline="0" dirty="0" err="1" smtClean="0"/>
                        <a:t>AutoClassifier</a:t>
                      </a:r>
                      <a:r>
                        <a:rPr lang="en-GB" sz="1200" baseline="0" dirty="0" smtClean="0"/>
                        <a:t> integration – enabling rule-driven content tagging</a:t>
                      </a:r>
                    </a:p>
                    <a:p>
                      <a:pPr marL="285750" indent="-285750">
                        <a:buFont typeface="Arial" pitchFamily="34" charset="0"/>
                        <a:buChar char="•"/>
                      </a:pPr>
                      <a:r>
                        <a:rPr lang="en-GB" sz="1200" dirty="0" smtClean="0"/>
                        <a:t>UI</a:t>
                      </a:r>
                      <a:r>
                        <a:rPr lang="en-GB" sz="1200" baseline="0" dirty="0" smtClean="0"/>
                        <a:t> consistency for SP2013 Search Refiners</a:t>
                      </a:r>
                    </a:p>
                    <a:p>
                      <a:pPr marL="285750" indent="-285750">
                        <a:buFont typeface="Arial" pitchFamily="34" charset="0"/>
                        <a:buChar char="•"/>
                      </a:pPr>
                      <a:r>
                        <a:rPr lang="en-GB" sz="1200" baseline="0" dirty="0" smtClean="0"/>
                        <a:t>Enabling ATF/RTF program’s early releases</a:t>
                      </a:r>
                    </a:p>
                    <a:p>
                      <a:pPr marL="285750" indent="-285750">
                        <a:buFont typeface="Arial" pitchFamily="34" charset="0"/>
                        <a:buChar char="•"/>
                      </a:pPr>
                      <a:r>
                        <a:rPr lang="en-GB" sz="1200" baseline="0" dirty="0" smtClean="0"/>
                        <a:t>Enabling EYD upgrade to SP2013 platform</a:t>
                      </a:r>
                    </a:p>
                    <a:p>
                      <a:pPr marL="285750" indent="-285750">
                        <a:buFont typeface="Arial" pitchFamily="34" charset="0"/>
                        <a:buChar char="•"/>
                      </a:pPr>
                      <a:r>
                        <a:rPr lang="en-GB" sz="1200" baseline="0" dirty="0" smtClean="0"/>
                        <a:t>Enabling Mercury program</a:t>
                      </a:r>
                    </a:p>
                    <a:p>
                      <a:pPr marL="285750" indent="-285750">
                        <a:buFont typeface="Arial" pitchFamily="34" charset="0"/>
                        <a:buChar char="•"/>
                      </a:pPr>
                      <a:r>
                        <a:rPr lang="en-GB" sz="1200" baseline="0" dirty="0" smtClean="0"/>
                        <a:t>Basic Document Management</a:t>
                      </a:r>
                    </a:p>
                    <a:p>
                      <a:pPr marL="285750" indent="-285750">
                        <a:buFont typeface="Arial" pitchFamily="34" charset="0"/>
                        <a:buChar char="•"/>
                      </a:pPr>
                      <a:r>
                        <a:rPr lang="en-GB" sz="1200" baseline="0" dirty="0" smtClean="0"/>
                        <a:t>Enabling Tax DTU</a:t>
                      </a:r>
                      <a:endParaRPr lang="en-GB" sz="1200" dirty="0"/>
                    </a:p>
                  </a:txBody>
                  <a:tcPr/>
                </a:tc>
                <a:tc>
                  <a:txBody>
                    <a:bodyPr/>
                    <a:lstStyle/>
                    <a:p>
                      <a:r>
                        <a:rPr lang="en-GB" sz="1200" dirty="0" smtClean="0"/>
                        <a:t>TBD</a:t>
                      </a:r>
                      <a:endParaRPr lang="en-GB" sz="1200" dirty="0"/>
                    </a:p>
                  </a:txBody>
                  <a:tcPr/>
                </a:tc>
                <a:tc>
                  <a:txBody>
                    <a:bodyPr/>
                    <a:lstStyle/>
                    <a:p>
                      <a:r>
                        <a:rPr lang="en-GB" sz="1200" dirty="0" smtClean="0"/>
                        <a:t>In ‘Initiate and Plan’ phase</a:t>
                      </a:r>
                      <a:endParaRPr lang="en-GB" sz="1200" dirty="0"/>
                    </a:p>
                  </a:txBody>
                  <a:tcPr/>
                </a:tc>
              </a:tr>
              <a:tr h="370840">
                <a:tc>
                  <a:txBody>
                    <a:bodyPr/>
                    <a:lstStyle/>
                    <a:p>
                      <a:r>
                        <a:rPr lang="en-GB" sz="1200" dirty="0" smtClean="0"/>
                        <a:t>Extranet</a:t>
                      </a:r>
                      <a:r>
                        <a:rPr lang="en-GB" sz="1200" baseline="0" dirty="0" smtClean="0"/>
                        <a:t> Delivery</a:t>
                      </a:r>
                      <a:endParaRPr lang="en-GB" sz="1200" dirty="0"/>
                    </a:p>
                  </a:txBody>
                  <a:tcPr/>
                </a:tc>
                <a:tc>
                  <a:txBody>
                    <a:bodyPr/>
                    <a:lstStyle/>
                    <a:p>
                      <a:pPr marL="285750" indent="-285750">
                        <a:buFont typeface="Arial" pitchFamily="34" charset="0"/>
                        <a:buChar char="•"/>
                      </a:pPr>
                      <a:r>
                        <a:rPr lang="en-GB" sz="1200" dirty="0" smtClean="0"/>
                        <a:t>Rollout out Extranet</a:t>
                      </a:r>
                      <a:r>
                        <a:rPr lang="en-GB" sz="1200" baseline="0" dirty="0" smtClean="0"/>
                        <a:t> infrastructure (GDCs: FF, Sing., Sec) Enabling ATF/RTF program’s early releases</a:t>
                      </a:r>
                    </a:p>
                    <a:p>
                      <a:pPr marL="285750" indent="-285750">
                        <a:buFont typeface="Arial" pitchFamily="34" charset="0"/>
                        <a:buChar char="•"/>
                      </a:pPr>
                      <a:r>
                        <a:rPr lang="en-GB" sz="1200" baseline="0" dirty="0" smtClean="0"/>
                        <a:t>Enabling EYD upgrade to SP2013 platform</a:t>
                      </a:r>
                    </a:p>
                    <a:p>
                      <a:pPr marL="285750" indent="-285750">
                        <a:buFont typeface="Arial" pitchFamily="34" charset="0"/>
                        <a:buChar char="•"/>
                      </a:pPr>
                      <a:endParaRPr lang="en-GB" sz="1200" dirty="0"/>
                    </a:p>
                  </a:txBody>
                  <a:tcPr/>
                </a:tc>
                <a:tc>
                  <a:txBody>
                    <a:bodyPr/>
                    <a:lstStyle/>
                    <a:p>
                      <a:r>
                        <a:rPr lang="en-GB" sz="1200" dirty="0" smtClean="0"/>
                        <a:t>TBD</a:t>
                      </a:r>
                      <a:endParaRPr lang="en-GB"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In ‘Initiate and Plan’ phase</a:t>
                      </a:r>
                    </a:p>
                  </a:txBody>
                  <a:tcPr/>
                </a:tc>
              </a:tr>
              <a:tr h="370840">
                <a:tc>
                  <a:txBody>
                    <a:bodyPr/>
                    <a:lstStyle/>
                    <a:p>
                      <a:r>
                        <a:rPr lang="en-GB" sz="1200" dirty="0" smtClean="0"/>
                        <a:t>Release 3</a:t>
                      </a:r>
                      <a:endParaRPr lang="en-GB" sz="1200"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Continue</a:t>
                      </a:r>
                      <a:r>
                        <a:rPr lang="en-GB" sz="1200" baseline="0" dirty="0" smtClean="0"/>
                        <a:t> to support EYD upgrade</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Continue to enable ATF/RTF programs</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Extend CMS capability</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Extend Doc Management capability</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Extend Social capability</a:t>
                      </a:r>
                    </a:p>
                  </a:txBody>
                  <a:tcPr/>
                </a:tc>
                <a:tc>
                  <a:txBody>
                    <a:bodyPr/>
                    <a:lstStyle/>
                    <a:p>
                      <a:r>
                        <a:rPr lang="en-GB" sz="1200" dirty="0" smtClean="0"/>
                        <a:t>TBD</a:t>
                      </a:r>
                      <a:endParaRPr lang="en-GB" sz="1200" dirty="0"/>
                    </a:p>
                  </a:txBody>
                  <a:tcPr/>
                </a:tc>
                <a:tc>
                  <a:txBody>
                    <a:bodyPr/>
                    <a:lstStyle/>
                    <a:p>
                      <a:r>
                        <a:rPr lang="en-GB" sz="1200" dirty="0" smtClean="0"/>
                        <a:t>Planning</a:t>
                      </a:r>
                      <a:r>
                        <a:rPr lang="en-GB" sz="1200" baseline="0" dirty="0" smtClean="0"/>
                        <a:t> n</a:t>
                      </a:r>
                      <a:r>
                        <a:rPr lang="en-GB" sz="1200" dirty="0" smtClean="0"/>
                        <a:t>ot started</a:t>
                      </a:r>
                      <a:endParaRPr lang="en-GB" sz="1200" dirty="0"/>
                    </a:p>
                  </a:txBody>
                  <a:tcPr/>
                </a:tc>
              </a:tr>
            </a:tbl>
          </a:graphicData>
        </a:graphic>
      </p:graphicFrame>
    </p:spTree>
    <p:extLst>
      <p:ext uri="{BB962C8B-B14F-4D97-AF65-F5344CB8AC3E}">
        <p14:creationId xmlns:p14="http://schemas.microsoft.com/office/powerpoint/2010/main" val="15723157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00025"/>
            <a:ext cx="8534401" cy="863600"/>
          </a:xfrm>
        </p:spPr>
        <p:txBody>
          <a:bodyPr/>
          <a:lstStyle/>
          <a:p>
            <a:r>
              <a:rPr lang="en-GB" sz="2600" dirty="0" smtClean="0"/>
              <a:t>Revised Program Governance and Reporting Cadence</a:t>
            </a:r>
            <a:endParaRPr lang="en-GB" sz="2600" dirty="0"/>
          </a:p>
        </p:txBody>
      </p:sp>
      <p:sp>
        <p:nvSpPr>
          <p:cNvPr id="3" name="Content Placeholder 2"/>
          <p:cNvSpPr>
            <a:spLocks noGrp="1"/>
          </p:cNvSpPr>
          <p:nvPr>
            <p:ph idx="1"/>
          </p:nvPr>
        </p:nvSpPr>
        <p:spPr>
          <a:xfrm>
            <a:off x="65088" y="1098550"/>
            <a:ext cx="8158162" cy="5159375"/>
          </a:xfrm>
        </p:spPr>
        <p:txBody>
          <a:bodyPr/>
          <a:lstStyle/>
          <a:p>
            <a:pPr marL="361950" lvl="1" indent="0">
              <a:buNone/>
            </a:pPr>
            <a:r>
              <a:rPr lang="en-GB" sz="1600" dirty="0" smtClean="0"/>
              <a:t>Revised Reporting Cadence</a:t>
            </a:r>
          </a:p>
        </p:txBody>
      </p:sp>
      <p:graphicFrame>
        <p:nvGraphicFramePr>
          <p:cNvPr id="4" name="Table 3"/>
          <p:cNvGraphicFramePr>
            <a:graphicFrameLocks noGrp="1"/>
          </p:cNvGraphicFramePr>
          <p:nvPr>
            <p:extLst>
              <p:ext uri="{D42A27DB-BD31-4B8C-83A1-F6EECF244321}">
                <p14:modId xmlns:p14="http://schemas.microsoft.com/office/powerpoint/2010/main" val="809123518"/>
              </p:ext>
            </p:extLst>
          </p:nvPr>
        </p:nvGraphicFramePr>
        <p:xfrm>
          <a:off x="457200" y="1597025"/>
          <a:ext cx="8258174" cy="3327400"/>
        </p:xfrm>
        <a:graphic>
          <a:graphicData uri="http://schemas.openxmlformats.org/drawingml/2006/table">
            <a:tbl>
              <a:tblPr firstRow="1" bandRow="1">
                <a:tableStyleId>{5C22544A-7EE6-4342-B048-85BDC9FD1C3A}</a:tableStyleId>
              </a:tblPr>
              <a:tblGrid>
                <a:gridCol w="2047875"/>
                <a:gridCol w="3076575"/>
                <a:gridCol w="1066800"/>
                <a:gridCol w="2066924"/>
              </a:tblGrid>
              <a:tr h="370840">
                <a:tc>
                  <a:txBody>
                    <a:bodyPr/>
                    <a:lstStyle/>
                    <a:p>
                      <a:r>
                        <a:rPr lang="en-GB" sz="1400" dirty="0" smtClean="0"/>
                        <a:t>Report Type</a:t>
                      </a:r>
                      <a:endParaRPr lang="en-GB" sz="1400" dirty="0"/>
                    </a:p>
                  </a:txBody>
                  <a:tcPr/>
                </a:tc>
                <a:tc>
                  <a:txBody>
                    <a:bodyPr/>
                    <a:lstStyle/>
                    <a:p>
                      <a:r>
                        <a:rPr lang="en-GB" sz="1400" dirty="0" smtClean="0"/>
                        <a:t>Reporting Event</a:t>
                      </a:r>
                      <a:endParaRPr lang="en-GB" sz="1400" dirty="0"/>
                    </a:p>
                  </a:txBody>
                  <a:tcPr/>
                </a:tc>
                <a:tc>
                  <a:txBody>
                    <a:bodyPr/>
                    <a:lstStyle/>
                    <a:p>
                      <a:r>
                        <a:rPr lang="en-GB" sz="1400" dirty="0" smtClean="0"/>
                        <a:t>Owner</a:t>
                      </a:r>
                      <a:endParaRPr lang="en-GB" sz="1400" dirty="0"/>
                    </a:p>
                  </a:txBody>
                  <a:tcPr/>
                </a:tc>
                <a:tc>
                  <a:txBody>
                    <a:bodyPr/>
                    <a:lstStyle/>
                    <a:p>
                      <a:r>
                        <a:rPr lang="en-GB" sz="1400" dirty="0" smtClean="0"/>
                        <a:t>Change</a:t>
                      </a:r>
                      <a:endParaRPr lang="en-GB" sz="1400" dirty="0"/>
                    </a:p>
                  </a:txBody>
                  <a:tcPr/>
                </a:tc>
              </a:tr>
              <a:tr h="370840">
                <a:tc>
                  <a:txBody>
                    <a:bodyPr/>
                    <a:lstStyle/>
                    <a:p>
                      <a:r>
                        <a:rPr lang="en-GB" sz="1000" dirty="0" smtClean="0"/>
                        <a:t>Team</a:t>
                      </a:r>
                      <a:r>
                        <a:rPr lang="en-GB" sz="1000" baseline="0" dirty="0" smtClean="0"/>
                        <a:t> Lead Report (Build, Test, Deployment </a:t>
                      </a:r>
                      <a:r>
                        <a:rPr lang="en-GB" sz="1000" baseline="0" dirty="0" err="1" smtClean="0"/>
                        <a:t>etc</a:t>
                      </a:r>
                      <a:r>
                        <a:rPr lang="en-GB" sz="1000" baseline="0" dirty="0" smtClean="0"/>
                        <a:t>)</a:t>
                      </a:r>
                      <a:endParaRPr lang="en-GB" sz="1000" dirty="0"/>
                    </a:p>
                  </a:txBody>
                  <a:tcPr/>
                </a:tc>
                <a:tc>
                  <a:txBody>
                    <a:bodyPr/>
                    <a:lstStyle/>
                    <a:p>
                      <a:pPr marL="285750" indent="-285750">
                        <a:buFont typeface="Arial" pitchFamily="34" charset="0"/>
                        <a:buChar char="•"/>
                      </a:pPr>
                      <a:r>
                        <a:rPr lang="en-GB" sz="1000" dirty="0" smtClean="0"/>
                        <a:t>Weekly (Mon):</a:t>
                      </a:r>
                      <a:r>
                        <a:rPr lang="en-GB" sz="1000" baseline="0" dirty="0" smtClean="0"/>
                        <a:t> Reports c</a:t>
                      </a:r>
                      <a:r>
                        <a:rPr lang="en-GB" sz="1000" dirty="0" smtClean="0"/>
                        <a:t>ompleted</a:t>
                      </a:r>
                      <a:r>
                        <a:rPr lang="en-GB" sz="1000" baseline="0" dirty="0" smtClean="0"/>
                        <a:t> by cob Mon</a:t>
                      </a:r>
                    </a:p>
                  </a:txBody>
                  <a:tcPr/>
                </a:tc>
                <a:tc>
                  <a:txBody>
                    <a:bodyPr/>
                    <a:lstStyle/>
                    <a:p>
                      <a:r>
                        <a:rPr lang="en-GB" sz="1000" dirty="0" smtClean="0"/>
                        <a:t>Team Leads</a:t>
                      </a:r>
                      <a:endParaRPr lang="en-GB" sz="1000" dirty="0"/>
                    </a:p>
                  </a:txBody>
                  <a:tcPr/>
                </a:tc>
                <a:tc>
                  <a:txBody>
                    <a:bodyPr/>
                    <a:lstStyle/>
                    <a:p>
                      <a:pPr marL="171450" indent="-171450">
                        <a:buFont typeface="Arial" pitchFamily="34" charset="0"/>
                        <a:buChar char="•"/>
                      </a:pPr>
                      <a:r>
                        <a:rPr lang="en-GB" sz="1000" dirty="0" smtClean="0"/>
                        <a:t>Changes</a:t>
                      </a:r>
                      <a:r>
                        <a:rPr lang="en-GB" sz="1000" baseline="0" dirty="0" smtClean="0"/>
                        <a:t> to reporting template to support reporting status of additional releases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dirty="0" smtClean="0"/>
                        <a:t>Team</a:t>
                      </a:r>
                      <a:r>
                        <a:rPr lang="en-GB" sz="1000" baseline="0" dirty="0" smtClean="0"/>
                        <a:t> Lead Report (Build, Test, Deployment </a:t>
                      </a:r>
                      <a:r>
                        <a:rPr lang="en-GB" sz="1000" baseline="0" dirty="0" err="1" smtClean="0"/>
                        <a:t>etc</a:t>
                      </a:r>
                      <a:r>
                        <a:rPr lang="en-GB" sz="1000" baseline="0" dirty="0" smtClean="0"/>
                        <a:t>)</a:t>
                      </a:r>
                      <a:endParaRPr lang="en-GB" sz="1000" dirty="0" smtClean="0"/>
                    </a:p>
                  </a:txBody>
                  <a:tcPr/>
                </a:tc>
                <a:tc>
                  <a:txBody>
                    <a:bodyPr/>
                    <a:lstStyle/>
                    <a:p>
                      <a:pPr marL="285750" indent="-285750">
                        <a:buFont typeface="Arial" pitchFamily="34" charset="0"/>
                        <a:buChar char="•"/>
                      </a:pPr>
                      <a:r>
                        <a:rPr lang="en-GB" sz="1000" dirty="0" smtClean="0"/>
                        <a:t>Weekly (Tue): Reports reviewed with Program Director at</a:t>
                      </a:r>
                      <a:r>
                        <a:rPr lang="en-GB" sz="1000" baseline="0" dirty="0" smtClean="0"/>
                        <a:t> Status Review Meeting</a:t>
                      </a:r>
                      <a:endParaRPr lang="en-GB" sz="1000" dirty="0"/>
                    </a:p>
                  </a:txBody>
                  <a:tcPr/>
                </a:tc>
                <a:tc>
                  <a:txBody>
                    <a:bodyPr/>
                    <a:lstStyle/>
                    <a:p>
                      <a:r>
                        <a:rPr lang="en-GB" sz="1000" dirty="0" smtClean="0"/>
                        <a:t>Release</a:t>
                      </a:r>
                      <a:r>
                        <a:rPr lang="en-GB" sz="1000" baseline="0" dirty="0" smtClean="0"/>
                        <a:t> PMs</a:t>
                      </a:r>
                      <a:endParaRPr lang="en-GB" sz="1000" dirty="0"/>
                    </a:p>
                  </a:txBody>
                  <a:tcPr/>
                </a:tc>
                <a:tc>
                  <a:txBody>
                    <a:bodyPr/>
                    <a:lstStyle/>
                    <a:p>
                      <a:pPr marL="171450" indent="-171450">
                        <a:buFont typeface="Arial" pitchFamily="34" charset="0"/>
                        <a:buChar char="•"/>
                      </a:pPr>
                      <a:r>
                        <a:rPr lang="en-GB" sz="1000" dirty="0" smtClean="0"/>
                        <a:t>Team</a:t>
                      </a:r>
                      <a:r>
                        <a:rPr lang="en-GB" sz="1000" baseline="0" dirty="0" smtClean="0"/>
                        <a:t> Leads provide update on each release they are supporting (R1, R2 </a:t>
                      </a:r>
                      <a:r>
                        <a:rPr lang="en-GB" sz="1000" baseline="0" dirty="0" err="1" smtClean="0"/>
                        <a:t>etc</a:t>
                      </a:r>
                      <a:r>
                        <a:rPr lang="en-GB" sz="1000" baseline="0" dirty="0" smtClean="0"/>
                        <a:t>)</a:t>
                      </a:r>
                    </a:p>
                    <a:p>
                      <a:pPr marL="171450" indent="-171450">
                        <a:buFont typeface="Arial" pitchFamily="34" charset="0"/>
                        <a:buChar char="•"/>
                      </a:pPr>
                      <a:r>
                        <a:rPr lang="en-GB" sz="1000" baseline="0" dirty="0" smtClean="0"/>
                        <a:t>Release PMs lead the session</a:t>
                      </a:r>
                      <a:endParaRPr lang="en-GB" sz="1000" dirty="0"/>
                    </a:p>
                  </a:txBody>
                  <a:tcPr/>
                </a:tc>
              </a:tr>
              <a:tr h="370840">
                <a:tc>
                  <a:txBody>
                    <a:bodyPr/>
                    <a:lstStyle/>
                    <a:p>
                      <a:r>
                        <a:rPr lang="en-GB" sz="1000" dirty="0" smtClean="0"/>
                        <a:t>Weekly Program</a:t>
                      </a:r>
                      <a:r>
                        <a:rPr lang="en-GB" sz="1000" baseline="0" dirty="0" smtClean="0"/>
                        <a:t> Status Report</a:t>
                      </a:r>
                      <a:endParaRPr lang="en-GB" sz="1000" dirty="0"/>
                    </a:p>
                  </a:txBody>
                  <a:tcPr/>
                </a:tc>
                <a:tc>
                  <a:txBody>
                    <a:bodyPr/>
                    <a:lstStyle/>
                    <a:p>
                      <a:pPr marL="285750" indent="-285750">
                        <a:buFont typeface="Arial" pitchFamily="34" charset="0"/>
                        <a:buChar char="•"/>
                      </a:pPr>
                      <a:r>
                        <a:rPr lang="en-GB" sz="1000" dirty="0" smtClean="0"/>
                        <a:t>Weekly (Thu): Management summary of program status,</a:t>
                      </a:r>
                      <a:r>
                        <a:rPr lang="en-GB" sz="1000" baseline="0" dirty="0" smtClean="0"/>
                        <a:t> including key RAID</a:t>
                      </a:r>
                      <a:endParaRPr lang="en-GB" sz="1000" dirty="0"/>
                    </a:p>
                  </a:txBody>
                  <a:tcPr/>
                </a:tc>
                <a:tc>
                  <a:txBody>
                    <a:bodyPr/>
                    <a:lstStyle/>
                    <a:p>
                      <a:r>
                        <a:rPr lang="en-GB" sz="1000" dirty="0" smtClean="0"/>
                        <a:t>Andy </a:t>
                      </a:r>
                      <a:r>
                        <a:rPr lang="en-GB" sz="1000" dirty="0" err="1" smtClean="0"/>
                        <a:t>Ioannou</a:t>
                      </a:r>
                      <a:endParaRPr lang="en-GB" sz="1000" dirty="0"/>
                    </a:p>
                  </a:txBody>
                  <a:tcPr/>
                </a:tc>
                <a:tc>
                  <a:txBody>
                    <a:bodyPr/>
                    <a:lstStyle/>
                    <a:p>
                      <a:pPr marL="171450" indent="-171450">
                        <a:buFont typeface="Arial" pitchFamily="34" charset="0"/>
                        <a:buChar char="•"/>
                      </a:pPr>
                      <a:r>
                        <a:rPr lang="en-GB" sz="1000" dirty="0" smtClean="0"/>
                        <a:t>Each</a:t>
                      </a:r>
                      <a:r>
                        <a:rPr lang="en-GB" sz="1000" baseline="0" dirty="0" smtClean="0"/>
                        <a:t> Release PM responsible for updating report with status of individual release</a:t>
                      </a:r>
                    </a:p>
                    <a:p>
                      <a:pPr marL="171450" indent="-171450">
                        <a:buFont typeface="Arial" pitchFamily="34" charset="0"/>
                        <a:buChar char="•"/>
                      </a:pPr>
                      <a:r>
                        <a:rPr lang="en-GB" sz="1000" baseline="0" dirty="0" smtClean="0"/>
                        <a:t>Program Director reviews prior to submission</a:t>
                      </a:r>
                    </a:p>
                    <a:p>
                      <a:pPr marL="171450" indent="-171450">
                        <a:buFont typeface="Arial" pitchFamily="34" charset="0"/>
                        <a:buChar char="•"/>
                      </a:pPr>
                      <a:r>
                        <a:rPr lang="en-GB" sz="1000" baseline="0" dirty="0" smtClean="0"/>
                        <a:t>Deadline for Release PM updates cob Wed each week</a:t>
                      </a:r>
                      <a:endParaRPr lang="en-GB" sz="10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dirty="0" smtClean="0"/>
                        <a:t>Monthly Program</a:t>
                      </a:r>
                      <a:r>
                        <a:rPr lang="en-GB" sz="1000" baseline="0" dirty="0" smtClean="0"/>
                        <a:t> Status Report</a:t>
                      </a:r>
                      <a:endParaRPr lang="en-GB" sz="1000" dirty="0" smtClean="0"/>
                    </a:p>
                    <a:p>
                      <a:endParaRPr lang="en-GB" sz="1000" dirty="0"/>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Monthly</a:t>
                      </a:r>
                      <a:r>
                        <a:rPr lang="en-GB" sz="1000" baseline="0" dirty="0" smtClean="0"/>
                        <a:t>: Month-on-Month m</a:t>
                      </a:r>
                      <a:r>
                        <a:rPr lang="en-GB" sz="1000" dirty="0" smtClean="0"/>
                        <a:t>anagement summary of program status,</a:t>
                      </a:r>
                      <a:r>
                        <a:rPr lang="en-GB" sz="1000" baseline="0" dirty="0" smtClean="0"/>
                        <a:t> including key RAID – due last Thu in the month</a:t>
                      </a:r>
                      <a:endParaRPr lang="en-GB" sz="1000" dirty="0" smtClean="0"/>
                    </a:p>
                  </a:txBody>
                  <a:tcPr/>
                </a:tc>
                <a:tc>
                  <a:txBody>
                    <a:bodyPr/>
                    <a:lstStyle/>
                    <a:p>
                      <a:r>
                        <a:rPr lang="en-GB" sz="1000" dirty="0" smtClean="0"/>
                        <a:t>Andy </a:t>
                      </a:r>
                      <a:r>
                        <a:rPr lang="en-GB" sz="1000" dirty="0" err="1" smtClean="0"/>
                        <a:t>Ioannou</a:t>
                      </a:r>
                      <a:endParaRPr lang="en-GB" sz="1000" dirty="0"/>
                    </a:p>
                  </a:txBody>
                  <a:tcPr/>
                </a:tc>
                <a:tc>
                  <a:txBody>
                    <a:bodyPr/>
                    <a:lstStyle/>
                    <a:p>
                      <a:pPr marL="171450" indent="-171450">
                        <a:buFont typeface="Arial" pitchFamily="34" charset="0"/>
                        <a:buChar char="•"/>
                      </a:pPr>
                      <a:r>
                        <a:rPr lang="en-GB" sz="1000" dirty="0" smtClean="0"/>
                        <a:t>No</a:t>
                      </a:r>
                      <a:r>
                        <a:rPr lang="en-GB" sz="1000" baseline="0" dirty="0" smtClean="0"/>
                        <a:t> change</a:t>
                      </a:r>
                      <a:endParaRPr lang="en-GB" sz="1000" dirty="0"/>
                    </a:p>
                  </a:txBody>
                  <a:tcPr/>
                </a:tc>
              </a:tr>
            </a:tbl>
          </a:graphicData>
        </a:graphic>
      </p:graphicFrame>
    </p:spTree>
    <p:extLst>
      <p:ext uri="{BB962C8B-B14F-4D97-AF65-F5344CB8AC3E}">
        <p14:creationId xmlns:p14="http://schemas.microsoft.com/office/powerpoint/2010/main" val="1264409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Current Governance and Reporting Cadence</a:t>
            </a:r>
            <a:endParaRPr lang="en-GB" sz="2600" dirty="0"/>
          </a:p>
        </p:txBody>
      </p:sp>
      <p:sp>
        <p:nvSpPr>
          <p:cNvPr id="3" name="Content Placeholder 2"/>
          <p:cNvSpPr>
            <a:spLocks noGrp="1"/>
          </p:cNvSpPr>
          <p:nvPr>
            <p:ph idx="1"/>
          </p:nvPr>
        </p:nvSpPr>
        <p:spPr>
          <a:xfrm>
            <a:off x="-104775" y="1089025"/>
            <a:ext cx="8537575" cy="5159375"/>
          </a:xfrm>
        </p:spPr>
        <p:txBody>
          <a:bodyPr/>
          <a:lstStyle/>
          <a:p>
            <a:pPr marL="361950" lvl="1" indent="0">
              <a:buNone/>
            </a:pPr>
            <a:r>
              <a:rPr lang="en-GB" sz="1600" dirty="0" smtClean="0"/>
              <a:t>Program Governance – Meetings/Calls</a:t>
            </a:r>
          </a:p>
        </p:txBody>
      </p:sp>
      <p:graphicFrame>
        <p:nvGraphicFramePr>
          <p:cNvPr id="4" name="Table 3"/>
          <p:cNvGraphicFramePr>
            <a:graphicFrameLocks noGrp="1"/>
          </p:cNvGraphicFramePr>
          <p:nvPr>
            <p:extLst>
              <p:ext uri="{D42A27DB-BD31-4B8C-83A1-F6EECF244321}">
                <p14:modId xmlns:p14="http://schemas.microsoft.com/office/powerpoint/2010/main" val="1142496322"/>
              </p:ext>
            </p:extLst>
          </p:nvPr>
        </p:nvGraphicFramePr>
        <p:xfrm>
          <a:off x="114300" y="1454150"/>
          <a:ext cx="8896350" cy="5186680"/>
        </p:xfrm>
        <a:graphic>
          <a:graphicData uri="http://schemas.openxmlformats.org/drawingml/2006/table">
            <a:tbl>
              <a:tblPr firstRow="1" bandRow="1">
                <a:tableStyleId>{5C22544A-7EE6-4342-B048-85BDC9FD1C3A}</a:tableStyleId>
              </a:tblPr>
              <a:tblGrid>
                <a:gridCol w="1282285"/>
                <a:gridCol w="2731825"/>
                <a:gridCol w="1967232"/>
                <a:gridCol w="1000483"/>
                <a:gridCol w="1914525"/>
              </a:tblGrid>
              <a:tr h="370840">
                <a:tc>
                  <a:txBody>
                    <a:bodyPr/>
                    <a:lstStyle/>
                    <a:p>
                      <a:r>
                        <a:rPr lang="en-GB" sz="1400" dirty="0" smtClean="0"/>
                        <a:t>Title</a:t>
                      </a:r>
                      <a:endParaRPr lang="en-GB" sz="1400" dirty="0"/>
                    </a:p>
                  </a:txBody>
                  <a:tcPr/>
                </a:tc>
                <a:tc>
                  <a:txBody>
                    <a:bodyPr/>
                    <a:lstStyle/>
                    <a:p>
                      <a:r>
                        <a:rPr lang="en-GB" sz="1400" dirty="0" smtClean="0"/>
                        <a:t>Objective</a:t>
                      </a:r>
                      <a:endParaRPr lang="en-GB" sz="1400" dirty="0"/>
                    </a:p>
                  </a:txBody>
                  <a:tcPr/>
                </a:tc>
                <a:tc>
                  <a:txBody>
                    <a:bodyPr/>
                    <a:lstStyle/>
                    <a:p>
                      <a:r>
                        <a:rPr lang="en-GB" sz="1400" dirty="0" smtClean="0"/>
                        <a:t>Audience</a:t>
                      </a:r>
                      <a:endParaRPr lang="en-GB" sz="1400" dirty="0"/>
                    </a:p>
                  </a:txBody>
                  <a:tcPr/>
                </a:tc>
                <a:tc>
                  <a:txBody>
                    <a:bodyPr/>
                    <a:lstStyle/>
                    <a:p>
                      <a:r>
                        <a:rPr lang="en-GB" sz="1400" dirty="0" smtClean="0"/>
                        <a:t>Owner</a:t>
                      </a:r>
                      <a:endParaRPr lang="en-GB" sz="1400" dirty="0"/>
                    </a:p>
                  </a:txBody>
                  <a:tcPr/>
                </a:tc>
                <a:tc>
                  <a:txBody>
                    <a:bodyPr/>
                    <a:lstStyle/>
                    <a:p>
                      <a:r>
                        <a:rPr lang="en-GB" sz="1400" dirty="0" smtClean="0"/>
                        <a:t>Change</a:t>
                      </a:r>
                      <a:endParaRPr lang="en-GB" sz="1400" dirty="0"/>
                    </a:p>
                  </a:txBody>
                  <a:tcPr/>
                </a:tc>
              </a:tr>
              <a:tr h="370840">
                <a:tc>
                  <a:txBody>
                    <a:bodyPr/>
                    <a:lstStyle/>
                    <a:p>
                      <a:r>
                        <a:rPr lang="en-GB" sz="1000" dirty="0" smtClean="0"/>
                        <a:t>Collaboration Daily Call</a:t>
                      </a:r>
                      <a:endParaRPr lang="en-GB" sz="1000" dirty="0"/>
                    </a:p>
                  </a:txBody>
                  <a:tcPr/>
                </a:tc>
                <a:tc>
                  <a:txBody>
                    <a:bodyPr/>
                    <a:lstStyle/>
                    <a:p>
                      <a:pPr marL="285750" indent="-285750">
                        <a:buFont typeface="Arial" pitchFamily="34" charset="0"/>
                        <a:buChar char="•"/>
                      </a:pPr>
                      <a:r>
                        <a:rPr lang="en-GB" sz="1000" baseline="0" dirty="0" smtClean="0"/>
                        <a:t>Effective management of cross-team dependencies, actions</a:t>
                      </a:r>
                    </a:p>
                    <a:p>
                      <a:pPr marL="285750" indent="-285750">
                        <a:buFont typeface="Arial" pitchFamily="34" charset="0"/>
                        <a:buChar char="•"/>
                      </a:pPr>
                      <a:r>
                        <a:rPr lang="en-GB" sz="1000" baseline="0" dirty="0" smtClean="0"/>
                        <a:t>Emphasis on items in need of quick turnaround</a:t>
                      </a:r>
                    </a:p>
                  </a:txBody>
                  <a:tcPr/>
                </a:tc>
                <a:tc>
                  <a:txBody>
                    <a:bodyPr/>
                    <a:lstStyle/>
                    <a:p>
                      <a:pPr marL="285750" indent="-285750">
                        <a:buFont typeface="Arial" pitchFamily="34" charset="0"/>
                        <a:buChar char="•"/>
                      </a:pPr>
                      <a:r>
                        <a:rPr lang="en-GB" sz="1000" dirty="0" smtClean="0"/>
                        <a:t>Program Directors (IT and Business)</a:t>
                      </a:r>
                    </a:p>
                    <a:p>
                      <a:pPr marL="285750" indent="-285750">
                        <a:buFont typeface="Arial" pitchFamily="34" charset="0"/>
                        <a:buChar char="•"/>
                      </a:pPr>
                      <a:r>
                        <a:rPr lang="en-GB" sz="1000" dirty="0" smtClean="0"/>
                        <a:t>Solution Delivery Lead</a:t>
                      </a:r>
                    </a:p>
                    <a:p>
                      <a:pPr marL="285750" indent="-285750">
                        <a:buFont typeface="Arial" pitchFamily="34" charset="0"/>
                        <a:buChar char="•"/>
                      </a:pPr>
                      <a:r>
                        <a:rPr lang="en-GB" sz="1000" dirty="0" smtClean="0"/>
                        <a:t>Team Leads (including MS)</a:t>
                      </a:r>
                    </a:p>
                  </a:txBody>
                  <a:tcPr/>
                </a:tc>
                <a:tc>
                  <a:txBody>
                    <a:bodyPr/>
                    <a:lstStyle/>
                    <a:p>
                      <a:r>
                        <a:rPr lang="en-GB" sz="1000" dirty="0" smtClean="0"/>
                        <a:t>Release PMs</a:t>
                      </a:r>
                      <a:endParaRPr lang="en-GB" sz="1000" dirty="0"/>
                    </a:p>
                  </a:txBody>
                  <a:tcPr/>
                </a:tc>
                <a:tc>
                  <a:txBody>
                    <a:bodyPr/>
                    <a:lstStyle/>
                    <a:p>
                      <a:pPr marL="171450" indent="-171450">
                        <a:buFont typeface="Arial" pitchFamily="34" charset="0"/>
                        <a:buChar char="•"/>
                      </a:pPr>
                      <a:r>
                        <a:rPr lang="en-GB" sz="1000" dirty="0" smtClean="0"/>
                        <a:t>Call’s scope to include R2 and Extranet</a:t>
                      </a:r>
                      <a:r>
                        <a:rPr lang="en-GB" sz="1000" baseline="0" dirty="0" smtClean="0"/>
                        <a:t> as those streams come on line</a:t>
                      </a:r>
                    </a:p>
                    <a:p>
                      <a:pPr marL="171450" indent="-171450">
                        <a:buFont typeface="Arial" pitchFamily="34" charset="0"/>
                        <a:buChar char="•"/>
                      </a:pPr>
                      <a:r>
                        <a:rPr lang="en-GB" sz="1000" baseline="0" dirty="0" smtClean="0"/>
                        <a:t>Release PMs host calls – call structured by Release</a:t>
                      </a:r>
                      <a:endParaRPr lang="en-GB" sz="10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000" dirty="0" smtClean="0"/>
                        <a:t>Weekly Collaboration</a:t>
                      </a:r>
                      <a:r>
                        <a:rPr lang="en-GB" sz="1000" baseline="0" dirty="0" smtClean="0"/>
                        <a:t> </a:t>
                      </a:r>
                      <a:r>
                        <a:rPr lang="en-GB" sz="1000" dirty="0" smtClean="0"/>
                        <a:t>Status Review Meeting</a:t>
                      </a:r>
                    </a:p>
                  </a:txBody>
                  <a:tcPr/>
                </a:tc>
                <a:tc>
                  <a:txBody>
                    <a:bodyPr/>
                    <a:lstStyle/>
                    <a:p>
                      <a:pPr marL="285750" indent="-285750">
                        <a:buFont typeface="Arial" pitchFamily="34" charset="0"/>
                        <a:buChar char="•"/>
                      </a:pPr>
                      <a:r>
                        <a:rPr lang="en-GB" sz="1000" dirty="0" smtClean="0"/>
                        <a:t>Review of team lead status reports – deliverables, dependencies and key RAID</a:t>
                      </a:r>
                    </a:p>
                    <a:p>
                      <a:pPr marL="285750" indent="-285750">
                        <a:buFont typeface="Arial" pitchFamily="34" charset="0"/>
                        <a:buChar char="•"/>
                      </a:pPr>
                      <a:r>
                        <a:rPr lang="en-GB" sz="1000" dirty="0" smtClean="0"/>
                        <a:t>Identify escalations/interventions</a:t>
                      </a:r>
                      <a:r>
                        <a:rPr lang="en-GB" sz="1000" baseline="0" dirty="0" smtClean="0"/>
                        <a:t> needed to effectively manage delivery risk/issues</a:t>
                      </a:r>
                      <a:endParaRPr lang="en-GB" sz="1000" dirty="0"/>
                    </a:p>
                  </a:txBody>
                  <a:tcPr/>
                </a:tc>
                <a:tc>
                  <a:txBody>
                    <a:bodyPr/>
                    <a:lstStyle/>
                    <a:p>
                      <a:pPr marL="285750" indent="-285750">
                        <a:buFont typeface="Arial" pitchFamily="34" charset="0"/>
                        <a:buChar char="•"/>
                      </a:pPr>
                      <a:r>
                        <a:rPr lang="en-GB" sz="1000" dirty="0" smtClean="0"/>
                        <a:t>Program Directors (IT and Business)</a:t>
                      </a:r>
                    </a:p>
                    <a:p>
                      <a:pPr marL="285750" indent="-285750">
                        <a:buFont typeface="Arial" pitchFamily="34" charset="0"/>
                        <a:buChar char="•"/>
                      </a:pPr>
                      <a:r>
                        <a:rPr lang="en-GB" sz="1000" dirty="0" smtClean="0"/>
                        <a:t>Release</a:t>
                      </a:r>
                      <a:r>
                        <a:rPr lang="en-GB" sz="1000" baseline="0" dirty="0" smtClean="0"/>
                        <a:t> PMs</a:t>
                      </a:r>
                      <a:endParaRPr lang="en-GB" sz="1000" dirty="0" smtClean="0"/>
                    </a:p>
                    <a:p>
                      <a:pPr marL="285750" indent="-285750">
                        <a:buFont typeface="Arial" pitchFamily="34" charset="0"/>
                        <a:buChar char="•"/>
                      </a:pPr>
                      <a:r>
                        <a:rPr lang="en-GB" sz="1000" dirty="0" smtClean="0"/>
                        <a:t>Team Leads (including MS)</a:t>
                      </a:r>
                    </a:p>
                  </a:txBody>
                  <a:tcPr/>
                </a:tc>
                <a:tc>
                  <a:txBody>
                    <a:bodyPr/>
                    <a:lstStyle/>
                    <a:p>
                      <a:r>
                        <a:rPr lang="en-GB" sz="1000" dirty="0" smtClean="0"/>
                        <a:t>Release</a:t>
                      </a:r>
                      <a:r>
                        <a:rPr lang="en-GB" sz="1000" baseline="0" dirty="0" smtClean="0"/>
                        <a:t> PMs</a:t>
                      </a:r>
                      <a:endParaRPr lang="en-GB" sz="1000" dirty="0"/>
                    </a:p>
                  </a:txBody>
                  <a:tcPr/>
                </a:tc>
                <a:tc>
                  <a:txBody>
                    <a:bodyPr/>
                    <a:lstStyle/>
                    <a:p>
                      <a:pPr marL="171450" indent="-171450">
                        <a:buFont typeface="Arial" pitchFamily="34" charset="0"/>
                        <a:buChar char="•"/>
                      </a:pPr>
                      <a:r>
                        <a:rPr lang="en-GB" sz="1000" dirty="0" smtClean="0"/>
                        <a:t>Release PMs host call</a:t>
                      </a:r>
                    </a:p>
                    <a:p>
                      <a:pPr marL="171450" indent="-171450">
                        <a:buFont typeface="Arial" pitchFamily="34" charset="0"/>
                        <a:buChar char="•"/>
                      </a:pPr>
                      <a:r>
                        <a:rPr lang="en-GB" sz="1000" dirty="0" smtClean="0"/>
                        <a:t>Call</a:t>
                      </a:r>
                      <a:r>
                        <a:rPr lang="en-GB" sz="1000" baseline="0" dirty="0" smtClean="0"/>
                        <a:t> structured by Release</a:t>
                      </a:r>
                    </a:p>
                    <a:p>
                      <a:pPr marL="171450" indent="-171450">
                        <a:buFont typeface="Arial" pitchFamily="34" charset="0"/>
                        <a:buChar char="•"/>
                      </a:pPr>
                      <a:r>
                        <a:rPr lang="en-GB" sz="1000" baseline="0" dirty="0" smtClean="0"/>
                        <a:t>Team Leads provide updates to each Release PM where deliverables/milestones are planned &gt;1 release</a:t>
                      </a:r>
                      <a:endParaRPr lang="en-GB" sz="1000" dirty="0"/>
                    </a:p>
                  </a:txBody>
                  <a:tcPr/>
                </a:tc>
              </a:tr>
              <a:tr h="370840">
                <a:tc>
                  <a:txBody>
                    <a:bodyPr/>
                    <a:lstStyle/>
                    <a:p>
                      <a:r>
                        <a:rPr lang="en-GB" sz="1000" dirty="0" smtClean="0"/>
                        <a:t>Weekly M&amp;C Program Management Meeting</a:t>
                      </a:r>
                      <a:endParaRPr lang="en-GB" sz="1000" dirty="0"/>
                    </a:p>
                  </a:txBody>
                  <a:tcPr/>
                </a:tc>
                <a:tc>
                  <a:txBody>
                    <a:bodyPr/>
                    <a:lstStyle/>
                    <a:p>
                      <a:pPr marL="285750" indent="-285750">
                        <a:buFont typeface="Arial" pitchFamily="34" charset="0"/>
                        <a:buChar char="•"/>
                      </a:pPr>
                      <a:r>
                        <a:rPr lang="en-GB" sz="1000" dirty="0" smtClean="0"/>
                        <a:t>Review of program status reports – deliverables, dependencies and key RAID</a:t>
                      </a:r>
                    </a:p>
                    <a:p>
                      <a:pPr marL="285750" indent="-285750">
                        <a:buFont typeface="Arial" pitchFamily="34" charset="0"/>
                        <a:buChar char="•"/>
                      </a:pPr>
                      <a:r>
                        <a:rPr lang="en-GB" sz="1000" dirty="0" smtClean="0"/>
                        <a:t>Identify escalations/interventions</a:t>
                      </a:r>
                      <a:r>
                        <a:rPr lang="en-GB" sz="1000" baseline="0" dirty="0" smtClean="0"/>
                        <a:t> needed to effectively manage delivery risk/issues</a:t>
                      </a:r>
                      <a:endParaRPr lang="en-GB" sz="10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All M&amp;C Program Directors (IT and Business)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M&amp;C Program PMO</a:t>
                      </a:r>
                    </a:p>
                  </a:txBody>
                  <a:tcPr/>
                </a:tc>
                <a:tc>
                  <a:txBody>
                    <a:bodyPr/>
                    <a:lstStyle/>
                    <a:p>
                      <a:r>
                        <a:rPr lang="en-GB" sz="1000" dirty="0" smtClean="0"/>
                        <a:t>David Bingham</a:t>
                      </a:r>
                      <a:endParaRPr lang="en-GB" sz="1000" dirty="0"/>
                    </a:p>
                  </a:txBody>
                  <a:tcPr/>
                </a:tc>
                <a:tc>
                  <a:txBody>
                    <a:bodyPr/>
                    <a:lstStyle/>
                    <a:p>
                      <a:pPr marL="171450" indent="-171450">
                        <a:buFont typeface="Arial" pitchFamily="34" charset="0"/>
                        <a:buChar char="•"/>
                      </a:pPr>
                      <a:r>
                        <a:rPr lang="en-GB" sz="1000" dirty="0" smtClean="0"/>
                        <a:t>No change</a:t>
                      </a:r>
                      <a:endParaRPr lang="en-GB" sz="1000" dirty="0"/>
                    </a:p>
                  </a:txBody>
                  <a:tcPr/>
                </a:tc>
              </a:tr>
              <a:tr h="370840">
                <a:tc>
                  <a:txBody>
                    <a:bodyPr/>
                    <a:lstStyle/>
                    <a:p>
                      <a:r>
                        <a:rPr lang="en-GB" sz="1000" dirty="0" smtClean="0"/>
                        <a:t>Weekly Collaboration RAID</a:t>
                      </a:r>
                      <a:endParaRPr lang="en-GB" sz="1000" dirty="0"/>
                    </a:p>
                  </a:txBody>
                  <a:tcPr/>
                </a:tc>
                <a:tc>
                  <a:txBody>
                    <a:bodyPr/>
                    <a:lstStyle/>
                    <a:p>
                      <a:pPr marL="285750" indent="-285750">
                        <a:buFont typeface="Arial" pitchFamily="34" charset="0"/>
                        <a:buChar char="•"/>
                      </a:pPr>
                      <a:r>
                        <a:rPr lang="en-GB" sz="1000" dirty="0" smtClean="0"/>
                        <a:t>Review</a:t>
                      </a:r>
                      <a:r>
                        <a:rPr lang="en-GB" sz="1000" baseline="0" dirty="0" smtClean="0"/>
                        <a:t> open RAID items and to actively drive ownership and timely resolution</a:t>
                      </a:r>
                    </a:p>
                    <a:p>
                      <a:pPr marL="285750" indent="-285750">
                        <a:buFont typeface="Arial" pitchFamily="34" charset="0"/>
                        <a:buChar char="•"/>
                      </a:pPr>
                      <a:r>
                        <a:rPr lang="en-GB" sz="1000" baseline="0" dirty="0" smtClean="0"/>
                        <a:t>Identify items for timely escalation to program leadership</a:t>
                      </a:r>
                      <a:endParaRPr lang="en-GB" sz="1000" dirty="0"/>
                    </a:p>
                  </a:txBody>
                  <a:tcPr/>
                </a:tc>
                <a:tc>
                  <a:txBody>
                    <a:bodyPr/>
                    <a:lstStyle/>
                    <a:p>
                      <a:pPr marL="285750" indent="-285750">
                        <a:buFont typeface="Arial" pitchFamily="34" charset="0"/>
                        <a:buChar char="•"/>
                      </a:pPr>
                      <a:r>
                        <a:rPr lang="en-GB" sz="1000" dirty="0" smtClean="0"/>
                        <a:t>Program Directors (IT and Business)</a:t>
                      </a:r>
                    </a:p>
                    <a:p>
                      <a:pPr marL="285750" indent="-285750">
                        <a:buFont typeface="Arial" pitchFamily="34" charset="0"/>
                        <a:buChar char="•"/>
                      </a:pPr>
                      <a:r>
                        <a:rPr lang="en-GB" sz="1000" dirty="0" smtClean="0"/>
                        <a:t>Release</a:t>
                      </a:r>
                      <a:r>
                        <a:rPr lang="en-GB" sz="1000" baseline="0" dirty="0" smtClean="0"/>
                        <a:t> PMs</a:t>
                      </a:r>
                      <a:endParaRPr lang="en-GB" sz="1000" dirty="0" smtClean="0"/>
                    </a:p>
                    <a:p>
                      <a:pPr marL="285750" indent="-285750">
                        <a:buFont typeface="Arial" pitchFamily="34" charset="0"/>
                        <a:buChar char="•"/>
                      </a:pPr>
                      <a:r>
                        <a:rPr lang="en-GB" sz="1000" dirty="0" smtClean="0"/>
                        <a:t>Team Leads (including MS)</a:t>
                      </a:r>
                    </a:p>
                  </a:txBody>
                  <a:tcPr/>
                </a:tc>
                <a:tc>
                  <a:txBody>
                    <a:bodyPr/>
                    <a:lstStyle/>
                    <a:p>
                      <a:r>
                        <a:rPr lang="en-GB" sz="1000" dirty="0" smtClean="0"/>
                        <a:t>Release</a:t>
                      </a:r>
                      <a:r>
                        <a:rPr lang="en-GB" sz="1000" baseline="0" dirty="0" smtClean="0"/>
                        <a:t> PMs</a:t>
                      </a:r>
                      <a:endParaRPr lang="en-GB" sz="1000" dirty="0"/>
                    </a:p>
                  </a:txBody>
                  <a:tcPr/>
                </a:tc>
                <a:tc>
                  <a:txBody>
                    <a:bodyPr/>
                    <a:lstStyle/>
                    <a:p>
                      <a:pPr marL="171450" indent="-171450">
                        <a:buFont typeface="Arial" pitchFamily="34" charset="0"/>
                        <a:buChar char="•"/>
                      </a:pPr>
                      <a:r>
                        <a:rPr lang="en-GB" sz="1000" dirty="0" smtClean="0"/>
                        <a:t>RAID form modified</a:t>
                      </a:r>
                      <a:r>
                        <a:rPr lang="en-GB" sz="1000" baseline="0" dirty="0" smtClean="0"/>
                        <a:t> to capture multiple releases under ‘Project Field’</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Call</a:t>
                      </a:r>
                      <a:r>
                        <a:rPr lang="en-GB" sz="1000" baseline="0" dirty="0" smtClean="0"/>
                        <a:t> structured by Release</a:t>
                      </a:r>
                    </a:p>
                    <a:p>
                      <a:pPr marL="171450" indent="-171450">
                        <a:buFont typeface="Arial" pitchFamily="34" charset="0"/>
                        <a:buChar char="•"/>
                      </a:pPr>
                      <a:endParaRPr lang="en-GB" sz="1000" dirty="0"/>
                    </a:p>
                  </a:txBody>
                  <a:tcPr/>
                </a:tc>
              </a:tr>
              <a:tr h="370840">
                <a:tc>
                  <a:txBody>
                    <a:bodyPr/>
                    <a:lstStyle/>
                    <a:p>
                      <a:r>
                        <a:rPr lang="en-GB" sz="1000" dirty="0" smtClean="0"/>
                        <a:t>Weekly M&amp;C RAID</a:t>
                      </a:r>
                      <a:endParaRPr lang="en-GB" sz="1000" dirty="0"/>
                    </a:p>
                  </a:txBody>
                  <a:tcPr/>
                </a:tc>
                <a:tc>
                  <a:txBody>
                    <a:bodyPr/>
                    <a:lstStyle/>
                    <a:p>
                      <a:pPr marL="285750" indent="-285750">
                        <a:buFont typeface="Arial" pitchFamily="34" charset="0"/>
                        <a:buChar char="•"/>
                      </a:pPr>
                      <a:r>
                        <a:rPr lang="en-GB" sz="1000" dirty="0" smtClean="0"/>
                        <a:t>Review</a:t>
                      </a:r>
                      <a:r>
                        <a:rPr lang="en-GB" sz="1000" baseline="0" dirty="0" smtClean="0"/>
                        <a:t> open RAID items flagged for attention of M&amp;C Program leadership</a:t>
                      </a:r>
                      <a:endParaRPr lang="en-GB" sz="10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All M&amp;C Program Directors and PMs (IT and Business)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M&amp;C Program PMO</a:t>
                      </a:r>
                    </a:p>
                  </a:txBody>
                  <a:tcPr/>
                </a:tc>
                <a:tc>
                  <a:txBody>
                    <a:bodyPr/>
                    <a:lstStyle/>
                    <a:p>
                      <a:r>
                        <a:rPr lang="en-GB" sz="1000" dirty="0" smtClean="0"/>
                        <a:t>David Bingham</a:t>
                      </a:r>
                      <a:endParaRPr lang="en-GB" sz="1000" dirty="0"/>
                    </a:p>
                  </a:txBody>
                  <a:tcPr/>
                </a:tc>
                <a:tc>
                  <a:txBody>
                    <a:bodyPr/>
                    <a:lstStyle/>
                    <a:p>
                      <a:pPr marL="171450" indent="-171450">
                        <a:buFont typeface="Arial" pitchFamily="34" charset="0"/>
                        <a:buChar char="•"/>
                      </a:pPr>
                      <a:r>
                        <a:rPr lang="en-GB" sz="1000" dirty="0" smtClean="0"/>
                        <a:t>No change</a:t>
                      </a:r>
                      <a:endParaRPr lang="en-GB" sz="1000" dirty="0"/>
                    </a:p>
                  </a:txBody>
                  <a:tcPr/>
                </a:tc>
              </a:tr>
              <a:tr h="370840">
                <a:tc>
                  <a:txBody>
                    <a:bodyPr/>
                    <a:lstStyle/>
                    <a:p>
                      <a:r>
                        <a:rPr lang="en-GB" sz="1000" dirty="0" smtClean="0"/>
                        <a:t>Monthly Key IT Initiatives Meeting</a:t>
                      </a:r>
                      <a:endParaRPr lang="en-GB" sz="1000" dirty="0"/>
                    </a:p>
                  </a:txBody>
                  <a:tcPr/>
                </a:tc>
                <a:tc>
                  <a:txBody>
                    <a:bodyPr/>
                    <a:lstStyle/>
                    <a:p>
                      <a:pPr marL="285750" indent="-285750">
                        <a:buFont typeface="Arial" pitchFamily="34" charset="0"/>
                        <a:buChar char="•"/>
                      </a:pPr>
                      <a:r>
                        <a:rPr lang="en-GB" sz="1000" dirty="0" smtClean="0"/>
                        <a:t>Executive review of ITS portfolio</a:t>
                      </a:r>
                      <a:r>
                        <a:rPr lang="en-GB" sz="1000" baseline="0" dirty="0" smtClean="0"/>
                        <a:t> of key IT programs – includes M&amp;C</a:t>
                      </a:r>
                      <a:endParaRPr lang="en-GB" sz="1000" dirty="0" smtClean="0"/>
                    </a:p>
                  </a:txBody>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dirty="0" smtClean="0"/>
                        <a:t>All ITS Program</a:t>
                      </a:r>
                      <a:r>
                        <a:rPr lang="en-GB" sz="1000" baseline="0" dirty="0" smtClean="0"/>
                        <a:t> Directors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000" baseline="0" dirty="0" smtClean="0"/>
                        <a:t>EPM Team</a:t>
                      </a:r>
                      <a:endParaRPr lang="en-GB" sz="1000" dirty="0" smtClean="0"/>
                    </a:p>
                  </a:txBody>
                  <a:tcPr/>
                </a:tc>
                <a:tc>
                  <a:txBody>
                    <a:bodyPr/>
                    <a:lstStyle/>
                    <a:p>
                      <a:r>
                        <a:rPr lang="en-GB" sz="1000" dirty="0" smtClean="0"/>
                        <a:t>Global</a:t>
                      </a:r>
                      <a:r>
                        <a:rPr lang="en-GB" sz="1000" baseline="0" dirty="0" smtClean="0"/>
                        <a:t> PMO</a:t>
                      </a:r>
                      <a:endParaRPr lang="en-GB" sz="1000" dirty="0"/>
                    </a:p>
                  </a:txBody>
                  <a:tcPr/>
                </a:tc>
                <a:tc>
                  <a:txBody>
                    <a:bodyPr/>
                    <a:lstStyle/>
                    <a:p>
                      <a:pPr marL="171450" indent="-171450">
                        <a:buFont typeface="Arial" pitchFamily="34" charset="0"/>
                        <a:buChar char="•"/>
                      </a:pPr>
                      <a:r>
                        <a:rPr lang="en-GB" sz="1000" dirty="0" smtClean="0"/>
                        <a:t>No change</a:t>
                      </a:r>
                      <a:endParaRPr lang="en-GB" sz="1000" dirty="0"/>
                    </a:p>
                  </a:txBody>
                  <a:tcPr/>
                </a:tc>
              </a:tr>
            </a:tbl>
          </a:graphicData>
        </a:graphic>
      </p:graphicFrame>
    </p:spTree>
    <p:extLst>
      <p:ext uri="{BB962C8B-B14F-4D97-AF65-F5344CB8AC3E}">
        <p14:creationId xmlns:p14="http://schemas.microsoft.com/office/powerpoint/2010/main" val="757333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Revised Collaboration Organisation </a:t>
            </a:r>
            <a:endParaRPr lang="en-GB" sz="2600"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62024"/>
            <a:ext cx="9134475" cy="589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6626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2600" dirty="0" smtClean="0"/>
              <a:t>Revised Collaboration Organisation</a:t>
            </a:r>
            <a:br>
              <a:rPr lang="en-GB" sz="2600" dirty="0" smtClean="0"/>
            </a:br>
            <a:r>
              <a:rPr lang="en-GB" sz="2400" b="0" dirty="0" smtClean="0"/>
              <a:t>Roles and Responsibilities </a:t>
            </a:r>
            <a:endParaRPr lang="en-GB" sz="2400" b="0" dirty="0"/>
          </a:p>
        </p:txBody>
      </p:sp>
      <p:sp>
        <p:nvSpPr>
          <p:cNvPr id="3" name="Content Placeholder 2"/>
          <p:cNvSpPr>
            <a:spLocks noGrp="1"/>
          </p:cNvSpPr>
          <p:nvPr>
            <p:ph idx="1"/>
          </p:nvPr>
        </p:nvSpPr>
        <p:spPr>
          <a:xfrm>
            <a:off x="455613" y="1089025"/>
            <a:ext cx="8158162" cy="5159375"/>
          </a:xfrm>
        </p:spPr>
        <p:txBody>
          <a:bodyPr/>
          <a:lstStyle/>
          <a:p>
            <a:r>
              <a:rPr lang="en-GB" sz="1400" dirty="0" smtClean="0"/>
              <a:t>The program is being re-organised to provide end-to-end delivery focus for each release</a:t>
            </a:r>
          </a:p>
          <a:p>
            <a:r>
              <a:rPr lang="en-GB" sz="1400" dirty="0" smtClean="0"/>
              <a:t>Key changes:</a:t>
            </a:r>
          </a:p>
          <a:p>
            <a:pPr lvl="1"/>
            <a:r>
              <a:rPr lang="en-GB" sz="1300" dirty="0" smtClean="0"/>
              <a:t>Introduction of Release Project Manager role aligned to each release</a:t>
            </a:r>
          </a:p>
          <a:p>
            <a:pPr lvl="1"/>
            <a:r>
              <a:rPr lang="en-GB" sz="1300" dirty="0" smtClean="0"/>
              <a:t>This role is responsible for end-to-end delivery of the release (scope, schedule, budget and quality criteria)</a:t>
            </a:r>
          </a:p>
          <a:p>
            <a:pPr lvl="1"/>
            <a:r>
              <a:rPr lang="en-GB" sz="1300" dirty="0" smtClean="0"/>
              <a:t>The role is accountable to the IT Program Director (Andy </a:t>
            </a:r>
            <a:r>
              <a:rPr lang="en-GB" sz="1300" dirty="0" err="1" smtClean="0"/>
              <a:t>Ioannou</a:t>
            </a:r>
            <a:r>
              <a:rPr lang="en-GB" sz="1300" dirty="0" smtClean="0"/>
              <a:t>)</a:t>
            </a:r>
          </a:p>
          <a:p>
            <a:pPr lvl="1"/>
            <a:r>
              <a:rPr lang="en-GB" sz="1300" dirty="0" smtClean="0"/>
              <a:t>Team Leads are accountable to the Release PMs for deliverables/Milestones in scope of each release</a:t>
            </a:r>
          </a:p>
          <a:p>
            <a:pPr lvl="1"/>
            <a:r>
              <a:rPr lang="en-GB" sz="1300" dirty="0" smtClean="0"/>
              <a:t>Focus on building program delivery methodology and capabilities</a:t>
            </a:r>
          </a:p>
          <a:p>
            <a:r>
              <a:rPr lang="en-GB" sz="1400" dirty="0" smtClean="0"/>
              <a:t>Each Team Lead is expecting to operate a capacity-planning approach to servicing resource requirements for each Release. This means planning a cross-functional (where possible) resource pool from which multiple release demands can be serviced</a:t>
            </a:r>
          </a:p>
          <a:p>
            <a:r>
              <a:rPr lang="en-GB" sz="1400" dirty="0" smtClean="0"/>
              <a:t>The Team Leads will be responsible for sizing the resource pool based on the demand implied by the release roadmap and working with the Program Director to plan any increases in capacity</a:t>
            </a:r>
          </a:p>
          <a:p>
            <a:r>
              <a:rPr lang="en-GB" sz="1400" dirty="0" smtClean="0"/>
              <a:t>The Release PM will be responsible for agreeing the resource requirements with each team against which the Release project plan/schedule can be </a:t>
            </a:r>
            <a:r>
              <a:rPr lang="en-GB" sz="1400" dirty="0" err="1" smtClean="0"/>
              <a:t>baselined</a:t>
            </a:r>
            <a:endParaRPr lang="en-GB" sz="1400" dirty="0" smtClean="0"/>
          </a:p>
          <a:p>
            <a:r>
              <a:rPr lang="en-GB" sz="1400" dirty="0" smtClean="0"/>
              <a:t>Any conflicts in cross-release demands will need to be escalated to the IT Program Director for prioritisation/intervention. This will be the responsibility of the Team Lead managing the incoming demand posed by the each release</a:t>
            </a:r>
          </a:p>
          <a:p>
            <a:r>
              <a:rPr lang="en-GB" sz="1400" dirty="0" smtClean="0"/>
              <a:t>The Team Leads are responsible for building delivery process, tools and templates (working within their PM communities and leveraging EY’s CLEAR methodology) that supports us in scaling our release schedule and driving consistency in methodology/quality</a:t>
            </a:r>
          </a:p>
        </p:txBody>
      </p:sp>
    </p:spTree>
    <p:extLst>
      <p:ext uri="{BB962C8B-B14F-4D97-AF65-F5344CB8AC3E}">
        <p14:creationId xmlns:p14="http://schemas.microsoft.com/office/powerpoint/2010/main" val="111315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and Responsibilities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118926233"/>
              </p:ext>
            </p:extLst>
          </p:nvPr>
        </p:nvGraphicFramePr>
        <p:xfrm>
          <a:off x="539552" y="1397000"/>
          <a:ext cx="8208912" cy="2748280"/>
        </p:xfrm>
        <a:graphic>
          <a:graphicData uri="http://schemas.openxmlformats.org/drawingml/2006/table">
            <a:tbl>
              <a:tblPr firstRow="1" bandRow="1">
                <a:tableStyleId>{5C22544A-7EE6-4342-B048-85BDC9FD1C3A}</a:tableStyleId>
              </a:tblPr>
              <a:tblGrid>
                <a:gridCol w="2359061"/>
                <a:gridCol w="5849851"/>
              </a:tblGrid>
              <a:tr h="370840">
                <a:tc>
                  <a:txBody>
                    <a:bodyPr/>
                    <a:lstStyle/>
                    <a:p>
                      <a:r>
                        <a:rPr lang="en-GB" dirty="0" smtClean="0"/>
                        <a:t>Role</a:t>
                      </a:r>
                      <a:endParaRPr lang="en-GB" dirty="0"/>
                    </a:p>
                  </a:txBody>
                  <a:tcPr/>
                </a:tc>
                <a:tc>
                  <a:txBody>
                    <a:bodyPr/>
                    <a:lstStyle/>
                    <a:p>
                      <a:r>
                        <a:rPr lang="en-GB" dirty="0" smtClean="0"/>
                        <a:t>Key</a:t>
                      </a:r>
                      <a:r>
                        <a:rPr lang="en-GB" baseline="0" dirty="0" smtClean="0"/>
                        <a:t> Responsibilities</a:t>
                      </a:r>
                      <a:endParaRPr lang="en-GB" dirty="0"/>
                    </a:p>
                  </a:txBody>
                  <a:tcPr/>
                </a:tc>
              </a:tr>
              <a:tr h="370840">
                <a:tc>
                  <a:txBody>
                    <a:bodyPr/>
                    <a:lstStyle/>
                    <a:p>
                      <a:r>
                        <a:rPr lang="en-GB" sz="1200" dirty="0" smtClean="0"/>
                        <a:t>Collaboration </a:t>
                      </a:r>
                      <a:r>
                        <a:rPr lang="en-GB" sz="1200" dirty="0" smtClean="0"/>
                        <a:t>Program Lead</a:t>
                      </a:r>
                      <a:endParaRPr lang="en-GB" sz="1200" dirty="0" smtClean="0"/>
                    </a:p>
                    <a:p>
                      <a:r>
                        <a:rPr lang="en-GB" sz="1200" dirty="0" smtClean="0"/>
                        <a:t>(Andy </a:t>
                      </a:r>
                      <a:r>
                        <a:rPr lang="en-GB" sz="1200" dirty="0" err="1" smtClean="0"/>
                        <a:t>Ioannou</a:t>
                      </a:r>
                      <a:r>
                        <a:rPr lang="en-GB" sz="1200" dirty="0" smtClean="0"/>
                        <a:t>)</a:t>
                      </a:r>
                      <a:endParaRPr lang="en-GB" sz="1200" dirty="0"/>
                    </a:p>
                  </a:txBody>
                  <a:tcPr/>
                </a:tc>
                <a:tc>
                  <a:txBody>
                    <a:bodyPr/>
                    <a:lstStyle/>
                    <a:p>
                      <a:pPr>
                        <a:buFont typeface="Arial" pitchFamily="34" charset="0"/>
                        <a:buChar char="•"/>
                      </a:pPr>
                      <a:r>
                        <a:rPr lang="en-GB" sz="1200" dirty="0" smtClean="0"/>
                        <a:t>Accountable for directing resources to achieve </a:t>
                      </a:r>
                      <a:r>
                        <a:rPr lang="en-GB" sz="1200" dirty="0" smtClean="0"/>
                        <a:t>program </a:t>
                      </a:r>
                      <a:r>
                        <a:rPr lang="en-GB" sz="1200" baseline="0" dirty="0" smtClean="0"/>
                        <a:t>scope</a:t>
                      </a:r>
                      <a:r>
                        <a:rPr lang="en-GB" sz="1200" baseline="0" dirty="0" smtClean="0"/>
                        <a:t>, schedule and cost objectives</a:t>
                      </a:r>
                    </a:p>
                    <a:p>
                      <a:pPr>
                        <a:buFont typeface="Arial" pitchFamily="34" charset="0"/>
                        <a:buChar char="•"/>
                      </a:pPr>
                      <a:r>
                        <a:rPr lang="en-GB" sz="1200" baseline="0" dirty="0" smtClean="0"/>
                        <a:t>Accountable for overall delivery to baseline plan (time, cost, scope, quality)</a:t>
                      </a:r>
                    </a:p>
                    <a:p>
                      <a:pPr>
                        <a:buFont typeface="Arial" pitchFamily="34" charset="0"/>
                        <a:buChar char="•"/>
                      </a:pPr>
                      <a:r>
                        <a:rPr lang="en-GB" sz="1200" baseline="0" dirty="0" smtClean="0"/>
                        <a:t>Accountable for </a:t>
                      </a:r>
                      <a:r>
                        <a:rPr lang="en-GB" sz="1200" baseline="0" dirty="0" smtClean="0"/>
                        <a:t>program governance </a:t>
                      </a:r>
                      <a:r>
                        <a:rPr lang="en-GB" sz="1200" baseline="0" dirty="0" smtClean="0"/>
                        <a:t>and control, including </a:t>
                      </a:r>
                      <a:r>
                        <a:rPr lang="en-GB" sz="1200" baseline="0" dirty="0" smtClean="0"/>
                        <a:t>program status </a:t>
                      </a:r>
                      <a:r>
                        <a:rPr lang="en-GB" sz="1200" baseline="0" dirty="0" smtClean="0"/>
                        <a:t>reporting up to Exec Steer Comm.</a:t>
                      </a:r>
                    </a:p>
                    <a:p>
                      <a:pPr>
                        <a:buFont typeface="Arial" pitchFamily="34" charset="0"/>
                        <a:buChar char="•"/>
                      </a:pPr>
                      <a:r>
                        <a:rPr lang="en-GB" sz="1200" baseline="0" dirty="0" smtClean="0"/>
                        <a:t>Accountable for people management in line with E&amp;Y HR policies</a:t>
                      </a:r>
                      <a:endParaRPr lang="en-GB" sz="1200" dirty="0"/>
                    </a:p>
                  </a:txBody>
                  <a:tcPr/>
                </a:tc>
              </a:tr>
              <a:tr h="370840">
                <a:tc>
                  <a:txBody>
                    <a:bodyPr/>
                    <a:lstStyle/>
                    <a:p>
                      <a:r>
                        <a:rPr lang="en-GB" sz="1200" baseline="0" dirty="0" smtClean="0"/>
                        <a:t>Release Project Manager</a:t>
                      </a:r>
                      <a:endParaRPr lang="en-GB" sz="1200" dirty="0"/>
                    </a:p>
                  </a:txBody>
                  <a:tcPr/>
                </a:tc>
                <a:tc>
                  <a:txBody>
                    <a:bodyPr/>
                    <a:lstStyle/>
                    <a:p>
                      <a:pPr>
                        <a:buFont typeface="Arial" pitchFamily="34" charset="0"/>
                        <a:buChar char="•"/>
                      </a:pPr>
                      <a:r>
                        <a:rPr lang="en-GB" sz="1200" dirty="0" smtClean="0"/>
                        <a:t>Responsible for end-to-end delivery (all project/release phases) </a:t>
                      </a:r>
                      <a:r>
                        <a:rPr lang="en-GB" sz="1200" dirty="0" smtClean="0"/>
                        <a:t>of the </a:t>
                      </a:r>
                      <a:r>
                        <a:rPr lang="en-GB" sz="1200" baseline="0" dirty="0" smtClean="0"/>
                        <a:t>solution </a:t>
                      </a:r>
                      <a:r>
                        <a:rPr lang="en-GB" sz="1200" baseline="0" dirty="0" smtClean="0"/>
                        <a:t>to baseline plan, budget, scope and quality criteria</a:t>
                      </a:r>
                    </a:p>
                    <a:p>
                      <a:pPr>
                        <a:buFont typeface="Arial" pitchFamily="34" charset="0"/>
                        <a:buChar char="•"/>
                      </a:pPr>
                      <a:r>
                        <a:rPr lang="en-GB" sz="1200" baseline="0" dirty="0" smtClean="0"/>
                        <a:t>Accountable </a:t>
                      </a:r>
                      <a:r>
                        <a:rPr lang="en-GB" sz="1200" baseline="0" dirty="0" smtClean="0"/>
                        <a:t>for timely identification, management and control of risks and issues to delivery, including </a:t>
                      </a:r>
                      <a:r>
                        <a:rPr lang="en-GB" sz="1200" baseline="0" dirty="0" smtClean="0"/>
                        <a:t>escalations to Program Lead</a:t>
                      </a:r>
                      <a:endParaRPr lang="en-GB" sz="1200" baseline="0" dirty="0" smtClean="0"/>
                    </a:p>
                    <a:p>
                      <a:pPr>
                        <a:buFont typeface="Arial" pitchFamily="34" charset="0"/>
                        <a:buChar char="•"/>
                      </a:pPr>
                      <a:r>
                        <a:rPr lang="en-GB" sz="1200" baseline="0" dirty="0" smtClean="0"/>
                        <a:t>Responsible for </a:t>
                      </a:r>
                      <a:r>
                        <a:rPr lang="en-GB" sz="1200" baseline="0" dirty="0" smtClean="0"/>
                        <a:t>people </a:t>
                      </a:r>
                      <a:r>
                        <a:rPr lang="en-GB" sz="1200" baseline="0" dirty="0" smtClean="0"/>
                        <a:t>management in line with E&amp;Y HR policies</a:t>
                      </a:r>
                    </a:p>
                    <a:p>
                      <a:pPr>
                        <a:buFont typeface="Arial" pitchFamily="34" charset="0"/>
                        <a:buChar char="•"/>
                      </a:pPr>
                      <a:endParaRPr lang="en-GB" sz="1200" baseline="0" dirty="0" smtClean="0"/>
                    </a:p>
                  </a:txBody>
                  <a:tcPr/>
                </a:tc>
              </a:tr>
            </a:tbl>
          </a:graphicData>
        </a:graphic>
      </p:graphicFrame>
    </p:spTree>
    <p:extLst>
      <p:ext uri="{BB962C8B-B14F-4D97-AF65-F5344CB8AC3E}">
        <p14:creationId xmlns:p14="http://schemas.microsoft.com/office/powerpoint/2010/main" val="16148511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Roles and Responsibilities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96686774"/>
              </p:ext>
            </p:extLst>
          </p:nvPr>
        </p:nvGraphicFramePr>
        <p:xfrm>
          <a:off x="257175" y="1139825"/>
          <a:ext cx="8648700" cy="4211320"/>
        </p:xfrm>
        <a:graphic>
          <a:graphicData uri="http://schemas.openxmlformats.org/drawingml/2006/table">
            <a:tbl>
              <a:tblPr firstRow="1" bandRow="1">
                <a:tableStyleId>{5C22544A-7EE6-4342-B048-85BDC9FD1C3A}</a:tableStyleId>
              </a:tblPr>
              <a:tblGrid>
                <a:gridCol w="2485446"/>
                <a:gridCol w="6163254"/>
              </a:tblGrid>
              <a:tr h="370840">
                <a:tc>
                  <a:txBody>
                    <a:bodyPr/>
                    <a:lstStyle/>
                    <a:p>
                      <a:r>
                        <a:rPr lang="en-GB" dirty="0" smtClean="0"/>
                        <a:t>Role</a:t>
                      </a:r>
                      <a:endParaRPr lang="en-GB" dirty="0"/>
                    </a:p>
                  </a:txBody>
                  <a:tcPr/>
                </a:tc>
                <a:tc>
                  <a:txBody>
                    <a:bodyPr/>
                    <a:lstStyle/>
                    <a:p>
                      <a:r>
                        <a:rPr lang="en-GB" dirty="0" smtClean="0"/>
                        <a:t>Key</a:t>
                      </a:r>
                      <a:r>
                        <a:rPr lang="en-GB" baseline="0" dirty="0" smtClean="0"/>
                        <a:t> Responsibilities</a:t>
                      </a:r>
                      <a:endParaRPr lang="en-GB" dirty="0"/>
                    </a:p>
                  </a:txBody>
                  <a:tcPr/>
                </a:tc>
              </a:tr>
              <a:tr h="370840">
                <a:tc>
                  <a:txBody>
                    <a:bodyPr/>
                    <a:lstStyle/>
                    <a:p>
                      <a:r>
                        <a:rPr lang="en-GB" sz="1200" baseline="0" dirty="0" smtClean="0"/>
                        <a:t>Lead Business Analyst</a:t>
                      </a:r>
                      <a:endParaRPr lang="en-GB" sz="1200" baseline="0" dirty="0" smtClean="0"/>
                    </a:p>
                    <a:p>
                      <a:r>
                        <a:rPr lang="en-GB" sz="1200" baseline="0" dirty="0" smtClean="0"/>
                        <a:t>(Kay </a:t>
                      </a:r>
                      <a:r>
                        <a:rPr lang="en-GB" sz="1200" baseline="0" dirty="0" err="1" smtClean="0"/>
                        <a:t>Akande</a:t>
                      </a:r>
                      <a:r>
                        <a:rPr lang="en-GB" sz="1200" baseline="0" dirty="0" smtClean="0"/>
                        <a:t>)</a:t>
                      </a:r>
                      <a:endParaRPr lang="en-GB" sz="1200" dirty="0"/>
                    </a:p>
                  </a:txBody>
                  <a:tcPr/>
                </a:tc>
                <a:tc>
                  <a:txBody>
                    <a:bodyPr/>
                    <a:lstStyle/>
                    <a:p>
                      <a:pPr>
                        <a:buFont typeface="Arial" pitchFamily="34" charset="0"/>
                        <a:buChar char="•"/>
                      </a:pPr>
                      <a:r>
                        <a:rPr lang="en-GB" sz="1200" dirty="0" smtClean="0"/>
                        <a:t>Supports</a:t>
                      </a:r>
                      <a:r>
                        <a:rPr lang="en-GB" sz="1200" baseline="0" dirty="0" smtClean="0"/>
                        <a:t> Business Program Lead in preparation of release candidate scope for prioritisation with business</a:t>
                      </a:r>
                      <a:endParaRPr lang="en-GB" sz="1200" dirty="0" smtClean="0"/>
                    </a:p>
                    <a:p>
                      <a:pPr>
                        <a:buFont typeface="Arial" pitchFamily="34" charset="0"/>
                        <a:buChar char="•"/>
                      </a:pPr>
                      <a:r>
                        <a:rPr lang="en-GB" sz="1200" dirty="0" smtClean="0"/>
                        <a:t>Responsible for managing the business</a:t>
                      </a:r>
                      <a:r>
                        <a:rPr lang="en-GB" sz="1200" baseline="0" dirty="0" smtClean="0"/>
                        <a:t> analyst team to agreed project/release scope</a:t>
                      </a:r>
                      <a:endParaRPr lang="en-GB" sz="1200" dirty="0" smtClean="0"/>
                    </a:p>
                    <a:p>
                      <a:pPr>
                        <a:buFont typeface="Arial" pitchFamily="34" charset="0"/>
                        <a:buChar char="•"/>
                      </a:pPr>
                      <a:r>
                        <a:rPr lang="en-GB" sz="1200" dirty="0" smtClean="0"/>
                        <a:t>Responsible for</a:t>
                      </a:r>
                      <a:r>
                        <a:rPr lang="en-GB" sz="1200" baseline="0" dirty="0" smtClean="0"/>
                        <a:t> planning and execution of business </a:t>
                      </a:r>
                      <a:r>
                        <a:rPr lang="en-GB" sz="1200" baseline="0" dirty="0" smtClean="0"/>
                        <a:t>requirements activities </a:t>
                      </a:r>
                      <a:r>
                        <a:rPr lang="en-GB" sz="1200" baseline="0" dirty="0" smtClean="0"/>
                        <a:t>and securing business </a:t>
                      </a:r>
                      <a:r>
                        <a:rPr lang="en-GB" sz="1200" baseline="0" dirty="0" smtClean="0"/>
                        <a:t>sign-off </a:t>
                      </a:r>
                      <a:r>
                        <a:rPr lang="en-GB" sz="1200" baseline="0" dirty="0" smtClean="0"/>
                        <a:t>against plan</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a:t>
                      </a:r>
                      <a:r>
                        <a:rPr lang="en-GB" sz="1200" baseline="0" dirty="0" smtClean="0"/>
                        <a:t>escalations to Release PM</a:t>
                      </a:r>
                      <a:endParaRPr lang="en-GB" sz="1200" baseline="0" dirty="0" smtClean="0"/>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a:t>
                      </a:r>
                      <a:r>
                        <a:rPr lang="en-GB" sz="1200" baseline="0" dirty="0" smtClean="0"/>
                        <a:t>people </a:t>
                      </a:r>
                      <a:r>
                        <a:rPr lang="en-GB" sz="1200" baseline="0" dirty="0" smtClean="0"/>
                        <a:t>management in line with E&amp;Y HR policies</a:t>
                      </a:r>
                    </a:p>
                  </a:txBody>
                  <a:tcPr/>
                </a:tc>
              </a:tr>
              <a:tr h="370840">
                <a:tc>
                  <a:txBody>
                    <a:bodyPr/>
                    <a:lstStyle/>
                    <a:p>
                      <a:r>
                        <a:rPr lang="en-GB" sz="1200" dirty="0" smtClean="0"/>
                        <a:t>Solution Design Lead</a:t>
                      </a:r>
                    </a:p>
                    <a:p>
                      <a:r>
                        <a:rPr lang="en-GB" sz="1200" dirty="0" smtClean="0"/>
                        <a:t>(</a:t>
                      </a:r>
                      <a:r>
                        <a:rPr lang="en-GB" sz="1200" dirty="0" err="1" smtClean="0"/>
                        <a:t>Oleksiy</a:t>
                      </a:r>
                      <a:r>
                        <a:rPr lang="en-GB" sz="1200" dirty="0" smtClean="0"/>
                        <a:t> </a:t>
                      </a:r>
                      <a:r>
                        <a:rPr lang="en-GB" sz="1200" dirty="0" err="1" smtClean="0"/>
                        <a:t>Volkov</a:t>
                      </a:r>
                      <a:r>
                        <a:rPr lang="en-GB" sz="1200" dirty="0" smtClean="0"/>
                        <a:t>)</a:t>
                      </a:r>
                      <a:endParaRPr lang="en-GB" sz="1200" dirty="0"/>
                    </a:p>
                  </a:txBody>
                  <a:tcPr/>
                </a:tc>
                <a:tc>
                  <a:txBody>
                    <a:bodyPr/>
                    <a:lstStyle/>
                    <a:p>
                      <a:pPr>
                        <a:buFont typeface="Arial" pitchFamily="34" charset="0"/>
                        <a:buChar char="•"/>
                      </a:pPr>
                      <a:r>
                        <a:rPr lang="en-GB" sz="1200" dirty="0" smtClean="0"/>
                        <a:t>Accountable for ensuring </a:t>
                      </a:r>
                      <a:r>
                        <a:rPr lang="en-GB" sz="1200" baseline="0" dirty="0" smtClean="0"/>
                        <a:t>solution design meets detailed business requirements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dirty="0" smtClean="0"/>
                        <a:t>Responsible for managing the Architecture/Design</a:t>
                      </a:r>
                      <a:r>
                        <a:rPr lang="en-GB" sz="1200" baseline="0" dirty="0" smtClean="0"/>
                        <a:t> team to agreed project/release scope</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people management in line with E&amp;Y HR policies</a:t>
                      </a:r>
                    </a:p>
                  </a:txBody>
                  <a:tcPr/>
                </a:tc>
              </a:tr>
            </a:tbl>
          </a:graphicData>
        </a:graphic>
      </p:graphicFrame>
    </p:spTree>
    <p:extLst>
      <p:ext uri="{BB962C8B-B14F-4D97-AF65-F5344CB8AC3E}">
        <p14:creationId xmlns:p14="http://schemas.microsoft.com/office/powerpoint/2010/main" val="16480141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0025"/>
            <a:ext cx="8232775" cy="863600"/>
          </a:xfrm>
        </p:spPr>
        <p:txBody>
          <a:bodyPr/>
          <a:lstStyle/>
          <a:p>
            <a:r>
              <a:rPr lang="en-GB" dirty="0" smtClean="0"/>
              <a:t>Roles and Responsibilities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969083266"/>
              </p:ext>
            </p:extLst>
          </p:nvPr>
        </p:nvGraphicFramePr>
        <p:xfrm>
          <a:off x="539552" y="1427480"/>
          <a:ext cx="8208912" cy="4211320"/>
        </p:xfrm>
        <a:graphic>
          <a:graphicData uri="http://schemas.openxmlformats.org/drawingml/2006/table">
            <a:tbl>
              <a:tblPr firstRow="1" bandRow="1">
                <a:tableStyleId>{5C22544A-7EE6-4342-B048-85BDC9FD1C3A}</a:tableStyleId>
              </a:tblPr>
              <a:tblGrid>
                <a:gridCol w="2359061"/>
                <a:gridCol w="5849851"/>
              </a:tblGrid>
              <a:tr h="370840">
                <a:tc>
                  <a:txBody>
                    <a:bodyPr/>
                    <a:lstStyle/>
                    <a:p>
                      <a:r>
                        <a:rPr lang="en-GB" dirty="0" smtClean="0"/>
                        <a:t>Role</a:t>
                      </a:r>
                      <a:endParaRPr lang="en-GB" dirty="0"/>
                    </a:p>
                  </a:txBody>
                  <a:tcPr/>
                </a:tc>
                <a:tc>
                  <a:txBody>
                    <a:bodyPr/>
                    <a:lstStyle/>
                    <a:p>
                      <a:r>
                        <a:rPr lang="en-GB" dirty="0" smtClean="0"/>
                        <a:t>Key</a:t>
                      </a:r>
                      <a:r>
                        <a:rPr lang="en-GB" baseline="0" dirty="0" smtClean="0"/>
                        <a:t> Responsibilities</a:t>
                      </a:r>
                      <a:endParaRPr lang="en-GB" dirty="0"/>
                    </a:p>
                  </a:txBody>
                  <a:tcPr/>
                </a:tc>
              </a:tr>
              <a:tr h="370840">
                <a:tc>
                  <a:txBody>
                    <a:bodyPr/>
                    <a:lstStyle/>
                    <a:p>
                      <a:r>
                        <a:rPr lang="en-GB" sz="1200" dirty="0" smtClean="0"/>
                        <a:t>Build Lead</a:t>
                      </a:r>
                    </a:p>
                    <a:p>
                      <a:r>
                        <a:rPr lang="en-GB" sz="1200" dirty="0" smtClean="0"/>
                        <a:t>(Rich Partridge</a:t>
                      </a:r>
                      <a:r>
                        <a:rPr lang="en-GB" sz="1200" baseline="0" dirty="0" smtClean="0"/>
                        <a:t>)</a:t>
                      </a:r>
                      <a:endParaRPr lang="en-GB" sz="1200" dirty="0"/>
                    </a:p>
                  </a:txBody>
                  <a:tcPr/>
                </a:tc>
                <a:tc>
                  <a:txBody>
                    <a:bodyPr/>
                    <a:lstStyle/>
                    <a:p>
                      <a:pPr>
                        <a:buFont typeface="Arial" pitchFamily="34" charset="0"/>
                        <a:buChar char="•"/>
                      </a:pPr>
                      <a:r>
                        <a:rPr lang="en-GB" sz="1200" dirty="0" smtClean="0"/>
                        <a:t>Responsible for build of solution against</a:t>
                      </a:r>
                      <a:r>
                        <a:rPr lang="en-GB" sz="1200" baseline="0" dirty="0" smtClean="0"/>
                        <a:t> functional and technical specifications and to required quality level (resolution of software defects identified in unit testing)</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Build team people management in line with E&amp;Y HR policies</a:t>
                      </a:r>
                    </a:p>
                  </a:txBody>
                  <a:tcPr/>
                </a:tc>
              </a:tr>
              <a:tr h="370840">
                <a:tc>
                  <a:txBody>
                    <a:bodyPr/>
                    <a:lstStyle/>
                    <a:p>
                      <a:r>
                        <a:rPr lang="en-GB" sz="1200" dirty="0" smtClean="0"/>
                        <a:t>Test Lead</a:t>
                      </a:r>
                    </a:p>
                    <a:p>
                      <a:r>
                        <a:rPr lang="en-GB" sz="1200" dirty="0" smtClean="0"/>
                        <a:t>(</a:t>
                      </a:r>
                      <a:r>
                        <a:rPr lang="en-GB" sz="1200" dirty="0" err="1" smtClean="0"/>
                        <a:t>Vinay</a:t>
                      </a:r>
                      <a:r>
                        <a:rPr lang="en-GB" sz="1200" dirty="0" smtClean="0"/>
                        <a:t> </a:t>
                      </a:r>
                      <a:r>
                        <a:rPr lang="en-GB" sz="1200" b="0" i="0" u="none" strike="noStrike" kern="1200" baseline="0" dirty="0" err="1" smtClean="0">
                          <a:solidFill>
                            <a:schemeClr val="dk1"/>
                          </a:solidFill>
                          <a:latin typeface="+mn-lt"/>
                          <a:ea typeface="+mn-ea"/>
                          <a:cs typeface="+mn-cs"/>
                        </a:rPr>
                        <a:t>Sangarlingham</a:t>
                      </a:r>
                      <a:r>
                        <a:rPr lang="en-GB" sz="1200" baseline="0" dirty="0" smtClean="0"/>
                        <a:t>)</a:t>
                      </a:r>
                      <a:endParaRPr lang="en-GB" sz="1200" dirty="0"/>
                    </a:p>
                  </a:txBody>
                  <a:tcPr/>
                </a:tc>
                <a:tc>
                  <a:txBody>
                    <a:bodyPr/>
                    <a:lstStyle/>
                    <a:p>
                      <a:pPr>
                        <a:buFont typeface="Arial" pitchFamily="34" charset="0"/>
                        <a:buChar char="•"/>
                      </a:pPr>
                      <a:r>
                        <a:rPr lang="en-GB" sz="1200" dirty="0" smtClean="0"/>
                        <a:t>Responsible for solution quality through the planning</a:t>
                      </a:r>
                      <a:r>
                        <a:rPr lang="en-GB" sz="1200" baseline="0" dirty="0" smtClean="0"/>
                        <a:t> and execution of functional and performance testing</a:t>
                      </a:r>
                    </a:p>
                    <a:p>
                      <a:pPr>
                        <a:buFont typeface="Arial" pitchFamily="34" charset="0"/>
                        <a:buChar char="•"/>
                      </a:pPr>
                      <a:r>
                        <a:rPr lang="en-GB" sz="1200" baseline="0" dirty="0" smtClean="0"/>
                        <a:t>Manages the planning and execution of all test phases: QA Testing, Integration Testing and Performance Testing</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Test team people management in line with E&amp;Y HR policies</a:t>
                      </a:r>
                    </a:p>
                  </a:txBody>
                  <a:tcPr/>
                </a:tc>
              </a:tr>
            </a:tbl>
          </a:graphicData>
        </a:graphic>
      </p:graphicFrame>
    </p:spTree>
    <p:extLst>
      <p:ext uri="{BB962C8B-B14F-4D97-AF65-F5344CB8AC3E}">
        <p14:creationId xmlns:p14="http://schemas.microsoft.com/office/powerpoint/2010/main" val="415586116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0025"/>
            <a:ext cx="8232775" cy="863600"/>
          </a:xfrm>
        </p:spPr>
        <p:txBody>
          <a:bodyPr/>
          <a:lstStyle/>
          <a:p>
            <a:r>
              <a:rPr lang="en-GB" dirty="0" smtClean="0"/>
              <a:t>Roles and Responsibilities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3469534025"/>
              </p:ext>
            </p:extLst>
          </p:nvPr>
        </p:nvGraphicFramePr>
        <p:xfrm>
          <a:off x="539552" y="1397000"/>
          <a:ext cx="8208912" cy="4759960"/>
        </p:xfrm>
        <a:graphic>
          <a:graphicData uri="http://schemas.openxmlformats.org/drawingml/2006/table">
            <a:tbl>
              <a:tblPr firstRow="1" bandRow="1">
                <a:tableStyleId>{5C22544A-7EE6-4342-B048-85BDC9FD1C3A}</a:tableStyleId>
              </a:tblPr>
              <a:tblGrid>
                <a:gridCol w="2359061"/>
                <a:gridCol w="5849851"/>
              </a:tblGrid>
              <a:tr h="370840">
                <a:tc>
                  <a:txBody>
                    <a:bodyPr/>
                    <a:lstStyle/>
                    <a:p>
                      <a:r>
                        <a:rPr lang="en-GB" dirty="0" smtClean="0"/>
                        <a:t>Role</a:t>
                      </a:r>
                      <a:endParaRPr lang="en-GB" dirty="0"/>
                    </a:p>
                  </a:txBody>
                  <a:tcPr/>
                </a:tc>
                <a:tc>
                  <a:txBody>
                    <a:bodyPr/>
                    <a:lstStyle/>
                    <a:p>
                      <a:r>
                        <a:rPr lang="en-GB" dirty="0" smtClean="0"/>
                        <a:t>Key</a:t>
                      </a:r>
                      <a:r>
                        <a:rPr lang="en-GB" baseline="0" dirty="0" smtClean="0"/>
                        <a:t> Responsibilities</a:t>
                      </a:r>
                      <a:endParaRPr lang="en-GB" dirty="0"/>
                    </a:p>
                  </a:txBody>
                  <a:tcPr/>
                </a:tc>
              </a:tr>
              <a:tr h="370840">
                <a:tc>
                  <a:txBody>
                    <a:bodyPr/>
                    <a:lstStyle/>
                    <a:p>
                      <a:r>
                        <a:rPr lang="en-GB" sz="1200" dirty="0" smtClean="0"/>
                        <a:t>Environments</a:t>
                      </a:r>
                      <a:r>
                        <a:rPr lang="en-GB" sz="1200" baseline="0" dirty="0" smtClean="0"/>
                        <a:t> Lead</a:t>
                      </a:r>
                    </a:p>
                    <a:p>
                      <a:r>
                        <a:rPr lang="en-GB" sz="1200" baseline="0" dirty="0" smtClean="0"/>
                        <a:t>(Joshua Jackson)</a:t>
                      </a:r>
                      <a:endParaRPr lang="en-GB" sz="1200" dirty="0"/>
                    </a:p>
                  </a:txBody>
                  <a:tcPr/>
                </a:tc>
                <a:tc>
                  <a:txBody>
                    <a:bodyPr/>
                    <a:lstStyle/>
                    <a:p>
                      <a:pPr>
                        <a:buFont typeface="Arial" pitchFamily="34" charset="0"/>
                        <a:buChar char="•"/>
                      </a:pPr>
                      <a:r>
                        <a:rPr lang="en-GB" sz="1200" dirty="0" smtClean="0"/>
                        <a:t>Accountable </a:t>
                      </a:r>
                      <a:r>
                        <a:rPr lang="en-GB" sz="1200" baseline="0" dirty="0" smtClean="0"/>
                        <a:t>for the strategic solution architecture design</a:t>
                      </a:r>
                    </a:p>
                    <a:p>
                      <a:pPr>
                        <a:buFont typeface="Arial" pitchFamily="34" charset="0"/>
                        <a:buChar char="•"/>
                      </a:pPr>
                      <a:r>
                        <a:rPr lang="en-GB" sz="1200" baseline="0" dirty="0" smtClean="0"/>
                        <a:t>Manages provision of environments/infrastructure against this design</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Environment team people management in line with E&amp;Y HR policies</a:t>
                      </a:r>
                    </a:p>
                  </a:txBody>
                  <a:tcPr/>
                </a:tc>
              </a:tr>
              <a:tr h="370840">
                <a:tc>
                  <a:txBody>
                    <a:bodyPr/>
                    <a:lstStyle/>
                    <a:p>
                      <a:r>
                        <a:rPr lang="en-GB" sz="1200" dirty="0" smtClean="0"/>
                        <a:t>Deployment Lead</a:t>
                      </a:r>
                    </a:p>
                    <a:p>
                      <a:r>
                        <a:rPr lang="en-GB" sz="1200" dirty="0" smtClean="0"/>
                        <a:t>(Cynthia</a:t>
                      </a:r>
                      <a:r>
                        <a:rPr lang="en-GB" sz="1200" baseline="0" dirty="0" smtClean="0"/>
                        <a:t> </a:t>
                      </a:r>
                      <a:r>
                        <a:rPr lang="en-GB" sz="1200" baseline="0" dirty="0" err="1" smtClean="0"/>
                        <a:t>Markland</a:t>
                      </a:r>
                      <a:r>
                        <a:rPr lang="en-GB" sz="1200" dirty="0" smtClean="0"/>
                        <a:t>)</a:t>
                      </a:r>
                      <a:endParaRPr lang="en-GB" sz="1200" dirty="0"/>
                    </a:p>
                  </a:txBody>
                  <a:tcPr/>
                </a:tc>
                <a:tc>
                  <a:txBody>
                    <a:bodyPr/>
                    <a:lstStyle/>
                    <a:p>
                      <a:pPr>
                        <a:buFont typeface="Arial" pitchFamily="34" charset="0"/>
                        <a:buChar char="•"/>
                      </a:pPr>
                      <a:r>
                        <a:rPr lang="en-GB" sz="1200" dirty="0" smtClean="0"/>
                        <a:t>Defines</a:t>
                      </a:r>
                      <a:r>
                        <a:rPr lang="en-GB" sz="1200" baseline="0" dirty="0" smtClean="0"/>
                        <a:t> the deployment approach and ensures alignment with Business Deployment approach</a:t>
                      </a:r>
                      <a:endParaRPr lang="en-GB" sz="1200" dirty="0" smtClean="0"/>
                    </a:p>
                    <a:p>
                      <a:pPr>
                        <a:buFont typeface="Arial" pitchFamily="34" charset="0"/>
                        <a:buChar char="•"/>
                      </a:pPr>
                      <a:r>
                        <a:rPr lang="en-GB" sz="1200" dirty="0" smtClean="0"/>
                        <a:t>Manages the planning</a:t>
                      </a:r>
                      <a:r>
                        <a:rPr lang="en-GB" sz="1200" baseline="0" dirty="0" smtClean="0"/>
                        <a:t> and execution of all deployment activities, including technical release management and cutover</a:t>
                      </a:r>
                    </a:p>
                    <a:p>
                      <a:pPr>
                        <a:buFont typeface="Arial" pitchFamily="34" charset="0"/>
                        <a:buChar char="•"/>
                      </a:pPr>
                      <a:r>
                        <a:rPr lang="en-GB" sz="1200" baseline="0" dirty="0" smtClean="0"/>
                        <a:t>Defines and manages the ‘Go/No Go’ process</a:t>
                      </a:r>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GB" sz="1200" baseline="0" dirty="0" smtClean="0"/>
                        <a:t>Responsible for Deployment team people management in line with E&amp;Y HR policies</a:t>
                      </a:r>
                    </a:p>
                  </a:txBody>
                  <a:tcPr/>
                </a:tc>
              </a:tr>
            </a:tbl>
          </a:graphicData>
        </a:graphic>
      </p:graphicFrame>
    </p:spTree>
    <p:extLst>
      <p:ext uri="{BB962C8B-B14F-4D97-AF65-F5344CB8AC3E}">
        <p14:creationId xmlns:p14="http://schemas.microsoft.com/office/powerpoint/2010/main" val="32047510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0025"/>
            <a:ext cx="8232775" cy="863600"/>
          </a:xfrm>
        </p:spPr>
        <p:txBody>
          <a:bodyPr/>
          <a:lstStyle/>
          <a:p>
            <a:r>
              <a:rPr lang="en-GB" dirty="0" smtClean="0"/>
              <a:t>Roles and Responsibilities</a:t>
            </a:r>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4202283251"/>
              </p:ext>
            </p:extLst>
          </p:nvPr>
        </p:nvGraphicFramePr>
        <p:xfrm>
          <a:off x="539552" y="1427480"/>
          <a:ext cx="8208912" cy="4211320"/>
        </p:xfrm>
        <a:graphic>
          <a:graphicData uri="http://schemas.openxmlformats.org/drawingml/2006/table">
            <a:tbl>
              <a:tblPr firstRow="1" bandRow="1">
                <a:tableStyleId>{5C22544A-7EE6-4342-B048-85BDC9FD1C3A}</a:tableStyleId>
              </a:tblPr>
              <a:tblGrid>
                <a:gridCol w="2359061"/>
                <a:gridCol w="5849851"/>
              </a:tblGrid>
              <a:tr h="370840">
                <a:tc>
                  <a:txBody>
                    <a:bodyPr/>
                    <a:lstStyle/>
                    <a:p>
                      <a:r>
                        <a:rPr lang="en-GB" dirty="0" smtClean="0"/>
                        <a:t>Role</a:t>
                      </a:r>
                      <a:endParaRPr lang="en-GB" dirty="0"/>
                    </a:p>
                  </a:txBody>
                  <a:tcPr/>
                </a:tc>
                <a:tc>
                  <a:txBody>
                    <a:bodyPr/>
                    <a:lstStyle/>
                    <a:p>
                      <a:r>
                        <a:rPr lang="en-GB" dirty="0" smtClean="0"/>
                        <a:t>Key</a:t>
                      </a:r>
                      <a:r>
                        <a:rPr lang="en-GB" baseline="0" dirty="0" smtClean="0"/>
                        <a:t> Responsibilities</a:t>
                      </a:r>
                      <a:endParaRPr lang="en-GB" dirty="0"/>
                    </a:p>
                  </a:txBody>
                  <a:tcPr/>
                </a:tc>
              </a:tr>
              <a:tr h="370840">
                <a:tc>
                  <a:txBody>
                    <a:bodyPr/>
                    <a:lstStyle/>
                    <a:p>
                      <a:r>
                        <a:rPr lang="en-GB" sz="1200" dirty="0" smtClean="0"/>
                        <a:t>Business Change Lead</a:t>
                      </a:r>
                    </a:p>
                    <a:p>
                      <a:r>
                        <a:rPr lang="en-GB" sz="1200" dirty="0" smtClean="0"/>
                        <a:t>(Martin </a:t>
                      </a:r>
                      <a:r>
                        <a:rPr lang="en-GB" sz="1200" dirty="0" err="1" smtClean="0"/>
                        <a:t>Kremmer</a:t>
                      </a:r>
                      <a:r>
                        <a:rPr lang="en-GB" sz="1200" dirty="0" smtClean="0"/>
                        <a:t>)</a:t>
                      </a:r>
                      <a:endParaRPr lang="en-GB" sz="1200" dirty="0"/>
                    </a:p>
                  </a:txBody>
                  <a:tcPr/>
                </a:tc>
                <a:tc>
                  <a:txBody>
                    <a:bodyPr/>
                    <a:lstStyle/>
                    <a:p>
                      <a:pPr>
                        <a:buFont typeface="Arial" pitchFamily="34" charset="0"/>
                        <a:buChar char="•"/>
                      </a:pPr>
                      <a:r>
                        <a:rPr lang="en-GB" sz="1200" dirty="0" smtClean="0"/>
                        <a:t>Defines the business change</a:t>
                      </a:r>
                      <a:r>
                        <a:rPr lang="en-GB" sz="1200" baseline="0" dirty="0" smtClean="0"/>
                        <a:t> strategy and aligns with E&amp;Y internal business change services – e.g. Training and Communications</a:t>
                      </a:r>
                      <a:endParaRPr lang="en-GB" sz="1200" dirty="0" smtClean="0"/>
                    </a:p>
                    <a:p>
                      <a:pPr>
                        <a:buFont typeface="Arial" pitchFamily="34" charset="0"/>
                        <a:buChar char="•"/>
                      </a:pPr>
                      <a:r>
                        <a:rPr lang="en-GB" sz="1200" dirty="0" smtClean="0"/>
                        <a:t>Responsible</a:t>
                      </a:r>
                      <a:r>
                        <a:rPr lang="en-GB" sz="1200" baseline="0" dirty="0" smtClean="0"/>
                        <a:t> for definition and production of team deliverables against plan and budget</a:t>
                      </a:r>
                    </a:p>
                    <a:p>
                      <a:pPr>
                        <a:buFont typeface="Arial" pitchFamily="34" charset="0"/>
                        <a:buChar char="•"/>
                      </a:pPr>
                      <a:r>
                        <a:rPr lang="en-GB" sz="1200" baseline="0" dirty="0" smtClean="0"/>
                        <a:t>Responsible for managing delivery within area to baseline plan</a:t>
                      </a:r>
                    </a:p>
                    <a:p>
                      <a:pPr>
                        <a:buFont typeface="Arial" pitchFamily="34" charset="0"/>
                        <a:buChar char="•"/>
                      </a:pPr>
                      <a:r>
                        <a:rPr lang="en-GB" sz="1200" baseline="0" dirty="0" smtClean="0"/>
                        <a:t>Responsible for timely identification, management and control of risks and issues to delivery, including escalations</a:t>
                      </a:r>
                    </a:p>
                    <a:p>
                      <a:pPr>
                        <a:buFont typeface="Arial" pitchFamily="34" charset="0"/>
                        <a:buChar char="•"/>
                      </a:pPr>
                      <a:r>
                        <a:rPr lang="en-GB" sz="1200" baseline="0" dirty="0" smtClean="0"/>
                        <a:t>Responsible for timely production of status reports</a:t>
                      </a:r>
                    </a:p>
                  </a:txBody>
                  <a:tcPr/>
                </a:tc>
              </a:tr>
              <a:tr h="370840">
                <a:tc>
                  <a:txBody>
                    <a:bodyPr/>
                    <a:lstStyle/>
                    <a:p>
                      <a:r>
                        <a:rPr lang="en-GB" sz="1200" dirty="0" smtClean="0"/>
                        <a:t>Transitio</a:t>
                      </a:r>
                      <a:r>
                        <a:rPr lang="en-GB" sz="1200" baseline="0" dirty="0" smtClean="0"/>
                        <a:t>n Lead</a:t>
                      </a:r>
                      <a:endParaRPr lang="en-GB" sz="1200" dirty="0" smtClean="0"/>
                    </a:p>
                    <a:p>
                      <a:r>
                        <a:rPr lang="en-GB" sz="1200" dirty="0" smtClean="0"/>
                        <a:t>(Richard Brown</a:t>
                      </a:r>
                      <a:r>
                        <a:rPr lang="en-GB" sz="1200" baseline="0" dirty="0" smtClean="0"/>
                        <a:t>)</a:t>
                      </a:r>
                      <a:endParaRPr lang="en-GB" sz="1200" dirty="0"/>
                    </a:p>
                  </a:txBody>
                  <a:tcPr/>
                </a:tc>
                <a:tc>
                  <a:txBody>
                    <a:bodyPr/>
                    <a:lstStyle/>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Defines the transition approach and ensures alignment with the deployment plan</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Manages the planning and execution of all transition activities to assure operational readiness for service support</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Ensures transition milestone criteria are aligned to EY service management process requirements</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Responsible for definition and production of team deliverables against plan and budget</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Responsible for managing delivery within area to baseline plan</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Responsible for timely identification, management and control of risks and issues to delivery, including escalations</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Responsible for timely production of status reports</a:t>
                      </a:r>
                    </a:p>
                    <a:p>
                      <a:pPr marL="171450" indent="-171450" rtl="0">
                        <a:buFont typeface="Arial" pitchFamily="34" charset="0"/>
                        <a:buChar char="•"/>
                      </a:pPr>
                      <a:r>
                        <a:rPr lang="en-GB" sz="1200" b="0" i="0" u="none" strike="noStrike" kern="1200" baseline="0" dirty="0" smtClean="0">
                          <a:solidFill>
                            <a:schemeClr val="dk1"/>
                          </a:solidFill>
                          <a:latin typeface="+mn-lt"/>
                          <a:ea typeface="+mn-ea"/>
                          <a:cs typeface="+mn-cs"/>
                        </a:rPr>
                        <a:t>Responsible for transition team people management in line with E&amp;Y HR policies</a:t>
                      </a:r>
                      <a:endParaRPr lang="en-GB" sz="1200" b="0" baseline="0" dirty="0" smtClean="0"/>
                    </a:p>
                  </a:txBody>
                  <a:tcPr/>
                </a:tc>
              </a:tr>
            </a:tbl>
          </a:graphicData>
        </a:graphic>
      </p:graphicFrame>
    </p:spTree>
    <p:extLst>
      <p:ext uri="{BB962C8B-B14F-4D97-AF65-F5344CB8AC3E}">
        <p14:creationId xmlns:p14="http://schemas.microsoft.com/office/powerpoint/2010/main" val="35407356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solidFill>
            <a:schemeClr val="accent2">
              <a:lumMod val="40000"/>
              <a:lumOff val="60000"/>
            </a:schemeClr>
          </a:solidFill>
          <a:prstDash val="solid"/>
          <a:round/>
          <a:headEnd type="none" w="med" len="med"/>
          <a:tailEnd type="none" w="med" len="med"/>
        </a:ln>
        <a:effectLst/>
      </a:spPr>
      <a:bodyPr vert="horz" wrap="none" lIns="91418" tIns="45709" rIns="91418" bIns="45709" numCol="1" rtlCol="0" anchor="ctr" anchorCtr="0" compatLnSpc="1">
        <a:prstTxWarp prst="textNoShape">
          <a:avLst/>
        </a:prstTxWarp>
      </a:bodyPr>
      <a:lstStyle>
        <a:defPPr algn="ctr" fontAlgn="base">
          <a:spcBef>
            <a:spcPct val="0"/>
          </a:spcBef>
          <a:spcAft>
            <a:spcPct val="0"/>
          </a:spcAft>
          <a:defRPr sz="600" b="1" dirty="0">
            <a:solidFill>
              <a:srgbClr val="646464"/>
            </a:solidFill>
          </a:defRPr>
        </a:defPPr>
      </a:lstStyle>
    </a:spDef>
    <a:lnDef>
      <a:spPr bwMode="auto">
        <a:solidFill>
          <a:schemeClr val="accent2"/>
        </a:solidFill>
        <a:ln w="12700" cap="flat" cmpd="sng" algn="ctr">
          <a:solidFill>
            <a:schemeClr val="bg2"/>
          </a:solidFill>
          <a:prstDash val="solid"/>
          <a:round/>
          <a:headEnd type="none" w="med" len="med"/>
          <a:tailEnd type="arrow"/>
        </a:ln>
        <a:effectLst/>
      </a:spPr>
      <a:body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40000"/>
            <a:lumOff val="60000"/>
          </a:schemeClr>
        </a:solidFill>
        <a:ln w="9525" cap="flat" cmpd="sng" algn="ctr">
          <a:solidFill>
            <a:schemeClr val="accent2">
              <a:lumMod val="40000"/>
              <a:lumOff val="60000"/>
            </a:schemeClr>
          </a:solidFill>
          <a:prstDash val="solid"/>
          <a:round/>
          <a:headEnd type="none" w="med" len="med"/>
          <a:tailEnd type="none" w="med" len="med"/>
        </a:ln>
        <a:effectLst/>
      </a:spPr>
      <a:bodyPr vert="horz" wrap="none" lIns="91418" tIns="45709" rIns="91418" bIns="45709" numCol="1" rtlCol="0" anchor="ctr" anchorCtr="0" compatLnSpc="1">
        <a:prstTxWarp prst="textNoShape">
          <a:avLst/>
        </a:prstTxWarp>
      </a:bodyPr>
      <a:lstStyle>
        <a:defPPr algn="ctr" fontAlgn="base">
          <a:spcBef>
            <a:spcPct val="0"/>
          </a:spcBef>
          <a:spcAft>
            <a:spcPct val="0"/>
          </a:spcAft>
          <a:defRPr sz="600" b="1" dirty="0">
            <a:solidFill>
              <a:srgbClr val="646464"/>
            </a:solidFill>
          </a:defRPr>
        </a:defPPr>
      </a:lstStyle>
    </a:spDef>
    <a:lnDef>
      <a:spPr bwMode="auto">
        <a:solidFill>
          <a:schemeClr val="accent2"/>
        </a:solidFill>
        <a:ln w="12700" cap="flat" cmpd="sng" algn="ctr">
          <a:solidFill>
            <a:schemeClr val="bg2"/>
          </a:solidFill>
          <a:prstDash val="solid"/>
          <a:round/>
          <a:headEnd type="none" w="med" len="med"/>
          <a:tailEnd type="arrow"/>
        </a:ln>
        <a:effectLst/>
      </a:spPr>
      <a:body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0cbe1240-e4fe-486d-8edc-2712abb96eb4">MSIBM-79-8056</_dlc_DocId>
    <_dlc_DocIdUrl xmlns="0cbe1240-e4fe-486d-8edc-2712abb96eb4">
      <Url>http://sp.ey.net/msibm/_layouts/DocIdRedir.aspx?ID=MSIBM-79-8056</Url>
      <Description>MSIBM-79-8056</Description>
    </_dlc_DocIdUrl>
    <IconOverlay xmlns="http://schemas.microsoft.com/sharepoint/v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BBB9BFA67D860E41801B1FFE1C772F47" ma:contentTypeVersion="1" ma:contentTypeDescription="Create a new document." ma:contentTypeScope="" ma:versionID="ae65165c16a91e01d6a28c5ab9f34286">
  <xsd:schema xmlns:xsd="http://www.w3.org/2001/XMLSchema" xmlns:xs="http://www.w3.org/2001/XMLSchema" xmlns:p="http://schemas.microsoft.com/office/2006/metadata/properties" xmlns:ns2="0cbe1240-e4fe-486d-8edc-2712abb96eb4" xmlns:ns3="http://schemas.microsoft.com/sharepoint/v4" targetNamespace="http://schemas.microsoft.com/office/2006/metadata/properties" ma:root="true" ma:fieldsID="11e48089c2e39b090a5f6bcc0cdab83b" ns2:_="" ns3:_="">
    <xsd:import namespace="0cbe1240-e4fe-486d-8edc-2712abb96eb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3: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3D5915-1F7C-4FFC-B82F-981DECAF3CB6}"/>
</file>

<file path=customXml/itemProps2.xml><?xml version="1.0" encoding="utf-8"?>
<ds:datastoreItem xmlns:ds="http://schemas.openxmlformats.org/officeDocument/2006/customXml" ds:itemID="{370E7A2F-CD87-4BFF-BF08-60BF125523EE}"/>
</file>

<file path=customXml/itemProps3.xml><?xml version="1.0" encoding="utf-8"?>
<ds:datastoreItem xmlns:ds="http://schemas.openxmlformats.org/officeDocument/2006/customXml" ds:itemID="{FA8FC424-FDB6-46D7-8818-4B8D4113D6EC}"/>
</file>

<file path=customXml/itemProps4.xml><?xml version="1.0" encoding="utf-8"?>
<ds:datastoreItem xmlns:ds="http://schemas.openxmlformats.org/officeDocument/2006/customXml" ds:itemID="{FAFD7E0A-B311-42AC-B172-4F6E500D49CD}"/>
</file>

<file path=docProps/app.xml><?xml version="1.0" encoding="utf-8"?>
<Properties xmlns="http://schemas.openxmlformats.org/officeDocument/2006/extended-properties" xmlns:vt="http://schemas.openxmlformats.org/officeDocument/2006/docPropsVTypes">
  <TotalTime>23521</TotalTime>
  <Words>2253</Words>
  <Application>Microsoft Office PowerPoint</Application>
  <PresentationFormat>On-screen Show (4:3)</PresentationFormat>
  <Paragraphs>314</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1_Bullet text</vt:lpstr>
      <vt:lpstr>2_Bullet text</vt:lpstr>
      <vt:lpstr>Collaboration Program Governance  Andy Ioannou</vt:lpstr>
      <vt:lpstr>Contents</vt:lpstr>
      <vt:lpstr>Context</vt:lpstr>
      <vt:lpstr>Current Program Governance and Reporting Cadence</vt:lpstr>
      <vt:lpstr>Current Governance and Reporting Cadence</vt:lpstr>
      <vt:lpstr>Collaboration Pipeline Current view of FY14 Pipeline</vt:lpstr>
      <vt:lpstr>Revised Program Governance and Reporting Cadence</vt:lpstr>
      <vt:lpstr>Current Governance and Reporting Cadence</vt:lpstr>
      <vt:lpstr>Revised Collaboration Organisation </vt:lpstr>
      <vt:lpstr>Revised Collaboration Organisation Roles and Responsibilities </vt:lpstr>
      <vt:lpstr>Roles and Responsibilities</vt:lpstr>
      <vt:lpstr>Roles and Responsibilities</vt:lpstr>
      <vt:lpstr>Roles and Responsibilities</vt:lpstr>
      <vt:lpstr>Roles and Responsibilities</vt:lpstr>
      <vt:lpstr>Roles and Responsibilities</vt:lpstr>
    </vt:vector>
  </TitlesOfParts>
  <Company>Ernst &amp; Young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Collaboration Program Governance - March 2013</dc:title>
  <dc:creator>Wale Agbaje</dc:creator>
  <cp:lastModifiedBy>Andy Ioannou</cp:lastModifiedBy>
  <cp:revision>230</cp:revision>
  <dcterms:created xsi:type="dcterms:W3CDTF">2012-05-02T08:58:49Z</dcterms:created>
  <dcterms:modified xsi:type="dcterms:W3CDTF">2013-03-19T18:37:43Z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0x010100BBB9BFA67D860E41801B1FFE1C772F47</vt:lpwstr>
  </property>
  <property fmtid="{D5CDD505-2E9C-101B-9397-08002B2CF9AE}" pid="3" name="_dlc_DocIdItemGuid">
    <vt:lpwstr>0f511c7a-a20f-44fa-bb79-5985d6f24540</vt:lpwstr>
  </property>
</Properties>
</file>