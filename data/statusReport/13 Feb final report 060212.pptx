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charts/chart7.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slideLayouts/slideLayout69.xml" ContentType="application/vnd.openxmlformats-officedocument.presentationml.slideLayout+xml"/>
  <Override PartName="/ppt/theme/theme6.xml" ContentType="application/vnd.openxmlformats-officedocument.theme+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slideLayouts/slideLayout58.xml" ContentType="application/vnd.openxmlformats-officedocument.presentationml.slideLayout+xml"/>
  <Override PartName="/ppt/slideLayouts/slideLayout76.xml" ContentType="application/vnd.openxmlformats-officedocument.presentationml.slideLayout+xml"/>
  <Override PartName="/ppt/notesSlides/notesSlide3.xml" ContentType="application/vnd.openxmlformats-officedocument.presentationml.notesSlide+xml"/>
  <Override PartName="/ppt/slides/slide26.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6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72.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ppt/slideLayouts/slideLayout70.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charts/chart8.xml" ContentType="application/vnd.openxmlformats-officedocument.drawingml.chart+xml"/>
  <Override PartName="/ppt/slideLayouts/slideLayout10.xml" ContentType="application/vnd.openxmlformats-officedocument.presentationml.slideLayout+xml"/>
  <Override PartName="/ppt/charts/chart6.xml" ContentType="application/vnd.openxmlformats-officedocument.drawingml.chart+xml"/>
  <Override PartName="/ppt/charts/chart10.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ppt/slideMasters/slideMaster5.xml" ContentType="application/vnd.openxmlformats-officedocument.presentationml.slideMaster+xml"/>
  <Override PartName="/ppt/slides/slide8.xml" ContentType="application/vnd.openxmlformats-officedocument.presentationml.slide+xml"/>
  <Override PartName="/ppt/handoutMasters/handoutMaster1.xml" ContentType="application/vnd.openxmlformats-officedocument.presentationml.handoutMaster+xml"/>
  <Override PartName="/ppt/slideLayouts/slideLayout59.xml" ContentType="application/vnd.openxmlformats-officedocument.presentationml.slideLayout+xml"/>
  <Override PartName="/ppt/slideLayouts/slideLayout68.xml" ContentType="application/vnd.openxmlformats-officedocument.presentationml.slideLayout+xml"/>
  <Override PartName="/ppt/theme/theme7.xml" ContentType="application/vnd.openxmlformats-officedocument.theme+xml"/>
  <Override PartName="/ppt/charts/chart2.xml" ContentType="application/vnd.openxmlformats-officedocument.drawingml.chart+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55.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charts/chart9.xml" ContentType="application/vnd.openxmlformats-officedocument.drawingml.chart+xml"/>
  <Override PartName="/ppt/charts/chart11.xml" ContentType="application/vnd.openxmlformats-officedocument.drawingml.chart+xml"/>
  <Override PartName="/ppt/slideMasters/slideMaster6.xml" ContentType="application/vnd.openxmlformats-officedocument.presentationml.slideMaster+xml"/>
  <Override PartName="/ppt/theme/theme8.xml" ContentType="application/vnd.openxmlformats-officedocument.theme+xml"/>
  <Override PartName="/ppt/charts/chart5.xml" ContentType="application/vnd.openxmlformats-officedocument.drawingml.chart+xml"/>
  <Override PartName="/customXml/itemProps4.xml" ContentType="application/vnd.openxmlformats-officedocument.customXmlProperties+xml"/>
  <Override PartName="/ppt/slides/slide7.xml" ContentType="application/vnd.openxmlformats-officedocument.presentationml.slide+xml"/>
  <Override PartName="/ppt/slideLayouts/slideLayout9.xml" ContentType="application/vnd.openxmlformats-officedocument.presentationml.slideLayout+xml"/>
  <Override PartName="/ppt/charts/chart1.xml" ContentType="application/vnd.openxmlformats-officedocument.drawingml.char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6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slideLayouts/slideLayout74.xml" ContentType="application/vnd.openxmlformats-officedocument.presentationml.slideLayout+xml"/>
  <Override PartName="/ppt/drawings/drawing1.xml" ContentType="application/vnd.openxmlformats-officedocument.drawingml.chartshapes+xml"/>
  <Override PartName="/ppt/slides/slide24.xml" ContentType="application/vnd.openxmlformats-officedocument.presentationml.slide+xml"/>
  <Override PartName="/ppt/slideLayouts/slideLayout16.xml" ContentType="application/vnd.openxmlformats-officedocument.presentationml.slideLayout+xml"/>
  <Default Extension="jpeg" ContentType="image/jpeg"/>
  <Override PartName="/ppt/slideLayouts/slideLayout34.xml" ContentType="application/vnd.openxmlformats-officedocument.presentationml.slideLayout+xml"/>
  <Override PartName="/ppt/slideLayouts/slideLayout6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5"/>
    <p:sldMasterId id="2147483655" r:id="rId6"/>
    <p:sldMasterId id="2147483656" r:id="rId7"/>
    <p:sldMasterId id="2147483657" r:id="rId8"/>
    <p:sldMasterId id="2147483658" r:id="rId9"/>
    <p:sldMasterId id="2147483659" r:id="rId10"/>
  </p:sldMasterIdLst>
  <p:notesMasterIdLst>
    <p:notesMasterId r:id="rId45"/>
  </p:notesMasterIdLst>
  <p:handoutMasterIdLst>
    <p:handoutMasterId r:id="rId46"/>
  </p:handoutMasterIdLst>
  <p:sldIdLst>
    <p:sldId id="377" r:id="rId11"/>
    <p:sldId id="512" r:id="rId12"/>
    <p:sldId id="494" r:id="rId13"/>
    <p:sldId id="674" r:id="rId14"/>
    <p:sldId id="713" r:id="rId15"/>
    <p:sldId id="649" r:id="rId16"/>
    <p:sldId id="709" r:id="rId17"/>
    <p:sldId id="710" r:id="rId18"/>
    <p:sldId id="707" r:id="rId19"/>
    <p:sldId id="719" r:id="rId20"/>
    <p:sldId id="677" r:id="rId21"/>
    <p:sldId id="678" r:id="rId22"/>
    <p:sldId id="679" r:id="rId23"/>
    <p:sldId id="515" r:id="rId24"/>
    <p:sldId id="711" r:id="rId25"/>
    <p:sldId id="700" r:id="rId26"/>
    <p:sldId id="697" r:id="rId27"/>
    <p:sldId id="698" r:id="rId28"/>
    <p:sldId id="699" r:id="rId29"/>
    <p:sldId id="701" r:id="rId30"/>
    <p:sldId id="702" r:id="rId31"/>
    <p:sldId id="703" r:id="rId32"/>
    <p:sldId id="704" r:id="rId33"/>
    <p:sldId id="705" r:id="rId34"/>
    <p:sldId id="706" r:id="rId35"/>
    <p:sldId id="695" r:id="rId36"/>
    <p:sldId id="578" r:id="rId37"/>
    <p:sldId id="579" r:id="rId38"/>
    <p:sldId id="599" r:id="rId39"/>
    <p:sldId id="714" r:id="rId40"/>
    <p:sldId id="715" r:id="rId41"/>
    <p:sldId id="716" r:id="rId42"/>
    <p:sldId id="717" r:id="rId43"/>
    <p:sldId id="718" r:id="rId44"/>
  </p:sldIdLst>
  <p:sldSz cx="9144000" cy="6858000" type="screen4x3"/>
  <p:notesSz cx="6797675" cy="9928225"/>
  <p:embeddedFontLst>
    <p:embeddedFont>
      <p:font typeface="EYInterstate" pitchFamily="2" charset="0"/>
      <p:regular r:id="rId47"/>
      <p:bold r:id="rId48"/>
      <p:italic r:id="rId49"/>
      <p:boldItalic r:id="rId50"/>
    </p:embeddedFont>
    <p:embeddedFont>
      <p:font typeface="EYInterstate Light" pitchFamily="2" charset="0"/>
      <p:regular r:id="rId51"/>
      <p:bold r:id="rId52"/>
      <p:italic r:id="rId53"/>
      <p:boldItalic r:id="rId54"/>
    </p:embeddedFont>
  </p:embeddedFontLst>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clrMru>
    <a:srgbClr val="000000"/>
    <a:srgbClr val="2C973E"/>
    <a:srgbClr val="F04C3E"/>
    <a:srgbClr val="FAE600"/>
    <a:srgbClr val="FFFFFF"/>
    <a:srgbClr val="B4B4B4"/>
    <a:srgbClr val="808080"/>
    <a:srgbClr val="F1F1F1"/>
    <a:srgbClr val="336699"/>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93" autoAdjust="0"/>
    <p:restoredTop sz="84979" autoAdjust="0"/>
  </p:normalViewPr>
  <p:slideViewPr>
    <p:cSldViewPr snapToObjects="1">
      <p:cViewPr>
        <p:scale>
          <a:sx n="90" d="100"/>
          <a:sy n="90" d="100"/>
        </p:scale>
        <p:origin x="-1764" y="-1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75" d="100"/>
          <a:sy n="75" d="100"/>
        </p:scale>
        <p:origin x="-648" y="954"/>
      </p:cViewPr>
      <p:guideLst>
        <p:guide orient="horz" pos="3128"/>
        <p:guide pos="2141"/>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presProps" Target="presProps.xml"/><Relationship Id="rId7"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openxmlformats.org/officeDocument/2006/relationships/slide" Target="slides/slide31.xml"/><Relationship Id="rId54"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notesMaster" Target="notesMasters/notesMaster1.xml"/><Relationship Id="rId53" Type="http://schemas.openxmlformats.org/officeDocument/2006/relationships/font" Target="fonts/font7.fntdata"/><Relationship Id="rId58"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font" Target="fonts/font3.fntdata"/><Relationship Id="rId57" Type="http://schemas.openxmlformats.org/officeDocument/2006/relationships/theme" Target="theme/theme1.xml"/><Relationship Id="rId10" Type="http://schemas.openxmlformats.org/officeDocument/2006/relationships/slideMaster" Target="slideMasters/slideMaster6.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font" Target="fonts/font6.fntdata"/><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font" Target="fonts/font2.fntdata"/><Relationship Id="rId56" Type="http://schemas.openxmlformats.org/officeDocument/2006/relationships/viewProps" Target="viewProps.xml"/><Relationship Id="rId8" Type="http://schemas.openxmlformats.org/officeDocument/2006/relationships/slideMaster" Target="slideMasters/slideMaster4.xml"/><Relationship Id="rId51" Type="http://schemas.openxmlformats.org/officeDocument/2006/relationships/font" Target="fonts/font5.fntdata"/><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1" Type="http://schemas.openxmlformats.org/officeDocument/2006/relationships/oleObject" Target="http://sp.ey.net/msibm/MC%20Program/Program%20Management/Plan/Dependencies/Dependency%20Alignment%20Report%203rd%20Feb%20%20Jan%201.0.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http://sp.ey.net/msibm/MC%20Program/Program%20Management/Plan/Dependencies/Dependency%20Alignment%20Report%203rd%20Feb%20%20Jan%201.0.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Documents%20and%20Settings\murphla\Desktop\MC%20RAID%202012-02-08%20FINAL.xlsx" TargetMode="External"/></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Book1" TargetMode="External"/></Relationships>
</file>

<file path=ppt/charts/_rels/chart5.xml.rels><?xml version="1.0" encoding="UTF-8" standalone="yes"?>
<Relationships xmlns="http://schemas.openxmlformats.org/package/2006/relationships"><Relationship Id="rId2" Type="http://schemas.openxmlformats.org/officeDocument/2006/relationships/oleObject" Target="file:///C:\Documents%20and%20Settings\gandreoni\My%20Documents\My%20Deliveries\Global%20IT%20Procurement\Vendor%20Management\MICROSOFT\M&amp;C%20RAG%20Matrix%20Analysis%20November%202011%20v1.1.xlsx" TargetMode="External"/><Relationship Id="rId1" Type="http://schemas.openxmlformats.org/officeDocument/2006/relationships/image" Target="../media/image9.jpeg"/></Relationships>
</file>

<file path=ppt/charts/_rels/chart6.xml.rels><?xml version="1.0" encoding="UTF-8" standalone="yes"?>
<Relationships xmlns="http://schemas.openxmlformats.org/package/2006/relationships"><Relationship Id="rId2" Type="http://schemas.openxmlformats.org/officeDocument/2006/relationships/oleObject" Target="file:///C:\Documents%20and%20Settings\gandreoni\My%20Documents\My%20Deliveries\Global%20IT%20Procurement\Vendor%20Management\MICROSOFT\RAG%20Matrix\M&amp;C_RAG_Matrix%20Analysis%20December%202011%201.2.xlsx" TargetMode="External"/><Relationship Id="rId1" Type="http://schemas.openxmlformats.org/officeDocument/2006/relationships/image" Target="../media/image9.jpeg"/></Relationships>
</file>

<file path=ppt/charts/_rels/chart7.xml.rels><?xml version="1.0" encoding="UTF-8" standalone="yes"?>
<Relationships xmlns="http://schemas.openxmlformats.org/package/2006/relationships"><Relationship Id="rId2" Type="http://schemas.openxmlformats.org/officeDocument/2006/relationships/oleObject" Target="file:///C:\Documents%20and%20Settings\gandreoni\My%20Documents\My%20Deliveries\Global%20IT%20Procurement\Vendor%20Management\MICROSOFT\RAG%20Matrix\M&amp;C_RAG_Matrix%20Analysis%20December%202011%201.2.xlsx" TargetMode="External"/><Relationship Id="rId1" Type="http://schemas.openxmlformats.org/officeDocument/2006/relationships/image" Target="../media/image9.jpeg"/></Relationships>
</file>

<file path=ppt/charts/_rels/chart8.xml.rels><?xml version="1.0" encoding="UTF-8" standalone="yes"?>
<Relationships xmlns="http://schemas.openxmlformats.org/package/2006/relationships"><Relationship Id="rId1" Type="http://schemas.openxmlformats.org/officeDocument/2006/relationships/oleObject" Target="file:///C:\Documents%20and%20Settings\gandreoni\My%20Documents\My%20Deliveries\Global%20IT%20Procurement\Vendor%20Management\MICROSOFT\M&amp;C%20Forecast-Invoice%202011-12.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Documents%20and%20Settings\gandreoni\My%20Documents\My%20Deliveries\Global%20IT%20Procurement\Vendor%20Management\MICROSOFT\M&amp;C%20Forecast-Invoice%202011-12.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Documents%20and%20Settings\gandreoni\My%20Documents\My%20Deliveries\Global%20IT%20Procurement\Vendor%20Management\MICROSOFT\M&amp;C%20Forecast-Invoice%202011-12.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Documents%20and%20Settings\gandreoni\My%20Documents\My%20Deliveries\Global%20IT%20Procurement\Vendor%20Management\MICROSOFT\M&amp;C%20Forecast-Invoice%202011-1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GB"/>
  <c:chart>
    <c:plotArea>
      <c:layout>
        <c:manualLayout>
          <c:layoutTarget val="inner"/>
          <c:xMode val="edge"/>
          <c:yMode val="edge"/>
          <c:x val="0.27877192982456167"/>
          <c:y val="6.8965517241379309E-2"/>
          <c:w val="0.33220034995625591"/>
          <c:h val="0.83899402660874411"/>
        </c:manualLayout>
      </c:layout>
      <c:barChart>
        <c:barDir val="bar"/>
        <c:grouping val="clustered"/>
        <c:ser>
          <c:idx val="0"/>
          <c:order val="0"/>
          <c:tx>
            <c:strRef>
              <c:f>'M&amp;C Dependency Metrics'!$L$123:$L$124</c:f>
              <c:strCache>
                <c:ptCount val="1"/>
                <c:pt idx="0">
                  <c:v>3rd Feb Number of missed milestones</c:v>
                </c:pt>
              </c:strCache>
            </c:strRef>
          </c:tx>
          <c:cat>
            <c:strRef>
              <c:f>'M&amp;C Dependency Metrics'!$K$125:$K$130</c:f>
              <c:strCache>
                <c:ptCount val="6"/>
                <c:pt idx="0">
                  <c:v>Unified Comms </c:v>
                </c:pt>
                <c:pt idx="1">
                  <c:v>Tech Foundation – Lync </c:v>
                </c:pt>
                <c:pt idx="2">
                  <c:v>Tech Foundation – Exchange </c:v>
                </c:pt>
                <c:pt idx="3">
                  <c:v>Tech Foundation - SharePoint </c:v>
                </c:pt>
                <c:pt idx="4">
                  <c:v>Application &amp; Data Migration </c:v>
                </c:pt>
                <c:pt idx="5">
                  <c:v>TOTAL Milestones</c:v>
                </c:pt>
              </c:strCache>
            </c:strRef>
          </c:cat>
          <c:val>
            <c:numRef>
              <c:f>'M&amp;C Dependency Metrics'!$L$125:$L$130</c:f>
              <c:numCache>
                <c:formatCode>General</c:formatCode>
                <c:ptCount val="6"/>
                <c:pt idx="0">
                  <c:v>2</c:v>
                </c:pt>
                <c:pt idx="1">
                  <c:v>0</c:v>
                </c:pt>
                <c:pt idx="2">
                  <c:v>0</c:v>
                </c:pt>
                <c:pt idx="3">
                  <c:v>4</c:v>
                </c:pt>
                <c:pt idx="4">
                  <c:v>0</c:v>
                </c:pt>
                <c:pt idx="5">
                  <c:v>6</c:v>
                </c:pt>
              </c:numCache>
            </c:numRef>
          </c:val>
        </c:ser>
        <c:ser>
          <c:idx val="1"/>
          <c:order val="1"/>
          <c:tx>
            <c:strRef>
              <c:f>'M&amp;C Dependency Metrics'!$M$123:$M$124</c:f>
              <c:strCache>
                <c:ptCount val="1"/>
                <c:pt idx="0">
                  <c:v>3rd Feb Number of met milestones</c:v>
                </c:pt>
              </c:strCache>
            </c:strRef>
          </c:tx>
          <c:cat>
            <c:strRef>
              <c:f>'M&amp;C Dependency Metrics'!$K$125:$K$130</c:f>
              <c:strCache>
                <c:ptCount val="6"/>
                <c:pt idx="0">
                  <c:v>Unified Comms </c:v>
                </c:pt>
                <c:pt idx="1">
                  <c:v>Tech Foundation – Lync </c:v>
                </c:pt>
                <c:pt idx="2">
                  <c:v>Tech Foundation – Exchange </c:v>
                </c:pt>
                <c:pt idx="3">
                  <c:v>Tech Foundation - SharePoint </c:v>
                </c:pt>
                <c:pt idx="4">
                  <c:v>Application &amp; Data Migration </c:v>
                </c:pt>
                <c:pt idx="5">
                  <c:v>TOTAL Milestones</c:v>
                </c:pt>
              </c:strCache>
            </c:strRef>
          </c:cat>
          <c:val>
            <c:numRef>
              <c:f>'M&amp;C Dependency Metrics'!$M$125:$M$130</c:f>
              <c:numCache>
                <c:formatCode>General</c:formatCode>
                <c:ptCount val="6"/>
                <c:pt idx="0">
                  <c:v>1</c:v>
                </c:pt>
                <c:pt idx="1">
                  <c:v>0</c:v>
                </c:pt>
                <c:pt idx="2">
                  <c:v>1</c:v>
                </c:pt>
                <c:pt idx="3">
                  <c:v>0</c:v>
                </c:pt>
                <c:pt idx="4">
                  <c:v>0</c:v>
                </c:pt>
                <c:pt idx="5">
                  <c:v>2</c:v>
                </c:pt>
              </c:numCache>
            </c:numRef>
          </c:val>
        </c:ser>
        <c:ser>
          <c:idx val="2"/>
          <c:order val="2"/>
          <c:tx>
            <c:strRef>
              <c:f>'M&amp;C Dependency Metrics'!$N$123:$N$124</c:f>
              <c:strCache>
                <c:ptCount val="1"/>
                <c:pt idx="0">
                  <c:v>10th Feb Number of missed milestones</c:v>
                </c:pt>
              </c:strCache>
            </c:strRef>
          </c:tx>
          <c:spPr>
            <a:solidFill>
              <a:schemeClr val="accent6">
                <a:lumMod val="75000"/>
              </a:schemeClr>
            </a:solidFill>
          </c:spPr>
          <c:cat>
            <c:strRef>
              <c:f>'M&amp;C Dependency Metrics'!$K$125:$K$130</c:f>
              <c:strCache>
                <c:ptCount val="6"/>
                <c:pt idx="0">
                  <c:v>Unified Comms </c:v>
                </c:pt>
                <c:pt idx="1">
                  <c:v>Tech Foundation – Lync </c:v>
                </c:pt>
                <c:pt idx="2">
                  <c:v>Tech Foundation – Exchange </c:v>
                </c:pt>
                <c:pt idx="3">
                  <c:v>Tech Foundation - SharePoint </c:v>
                </c:pt>
                <c:pt idx="4">
                  <c:v>Application &amp; Data Migration </c:v>
                </c:pt>
                <c:pt idx="5">
                  <c:v>TOTAL Milestones</c:v>
                </c:pt>
              </c:strCache>
            </c:strRef>
          </c:cat>
          <c:val>
            <c:numRef>
              <c:f>'M&amp;C Dependency Metrics'!$N$125:$N$130</c:f>
              <c:numCache>
                <c:formatCode>General</c:formatCode>
                <c:ptCount val="6"/>
                <c:pt idx="0">
                  <c:v>2</c:v>
                </c:pt>
                <c:pt idx="1">
                  <c:v>0</c:v>
                </c:pt>
                <c:pt idx="2">
                  <c:v>0</c:v>
                </c:pt>
                <c:pt idx="3">
                  <c:v>0</c:v>
                </c:pt>
                <c:pt idx="4">
                  <c:v>0</c:v>
                </c:pt>
                <c:pt idx="5">
                  <c:v>0</c:v>
                </c:pt>
              </c:numCache>
            </c:numRef>
          </c:val>
        </c:ser>
        <c:ser>
          <c:idx val="3"/>
          <c:order val="3"/>
          <c:tx>
            <c:strRef>
              <c:f>'M&amp;C Dependency Metrics'!$O$123:$O$124</c:f>
              <c:strCache>
                <c:ptCount val="1"/>
                <c:pt idx="0">
                  <c:v>10th Feb Number of met milestones</c:v>
                </c:pt>
              </c:strCache>
            </c:strRef>
          </c:tx>
          <c:cat>
            <c:strRef>
              <c:f>'M&amp;C Dependency Metrics'!$K$125:$K$130</c:f>
              <c:strCache>
                <c:ptCount val="6"/>
                <c:pt idx="0">
                  <c:v>Unified Comms </c:v>
                </c:pt>
                <c:pt idx="1">
                  <c:v>Tech Foundation – Lync </c:v>
                </c:pt>
                <c:pt idx="2">
                  <c:v>Tech Foundation – Exchange </c:v>
                </c:pt>
                <c:pt idx="3">
                  <c:v>Tech Foundation - SharePoint </c:v>
                </c:pt>
                <c:pt idx="4">
                  <c:v>Application &amp; Data Migration </c:v>
                </c:pt>
                <c:pt idx="5">
                  <c:v>TOTAL Milestones</c:v>
                </c:pt>
              </c:strCache>
            </c:strRef>
          </c:cat>
          <c:val>
            <c:numRef>
              <c:f>'M&amp;C Dependency Metrics'!$O$125:$O$130</c:f>
              <c:numCache>
                <c:formatCode>General</c:formatCode>
                <c:ptCount val="6"/>
                <c:pt idx="0">
                  <c:v>0</c:v>
                </c:pt>
                <c:pt idx="1">
                  <c:v>0</c:v>
                </c:pt>
                <c:pt idx="2">
                  <c:v>0</c:v>
                </c:pt>
                <c:pt idx="3">
                  <c:v>0</c:v>
                </c:pt>
                <c:pt idx="4">
                  <c:v>0</c:v>
                </c:pt>
                <c:pt idx="5">
                  <c:v>0</c:v>
                </c:pt>
              </c:numCache>
            </c:numRef>
          </c:val>
        </c:ser>
        <c:axId val="150392192"/>
        <c:axId val="150402176"/>
      </c:barChart>
      <c:catAx>
        <c:axId val="150392192"/>
        <c:scaling>
          <c:orientation val="minMax"/>
        </c:scaling>
        <c:axPos val="l"/>
        <c:tickLblPos val="nextTo"/>
        <c:crossAx val="150402176"/>
        <c:crosses val="autoZero"/>
        <c:auto val="1"/>
        <c:lblAlgn val="ctr"/>
        <c:lblOffset val="100"/>
      </c:catAx>
      <c:valAx>
        <c:axId val="150402176"/>
        <c:scaling>
          <c:orientation val="minMax"/>
        </c:scaling>
        <c:axPos val="b"/>
        <c:majorGridlines/>
        <c:numFmt formatCode="General" sourceLinked="1"/>
        <c:tickLblPos val="nextTo"/>
        <c:crossAx val="150392192"/>
        <c:crosses val="autoZero"/>
        <c:crossBetween val="between"/>
      </c:valAx>
    </c:plotArea>
    <c:legend>
      <c:legendPos val="r"/>
      <c:layout>
        <c:manualLayout>
          <c:xMode val="edge"/>
          <c:yMode val="edge"/>
          <c:x val="0.63046783625730995"/>
          <c:y val="0.35479319395420428"/>
          <c:w val="0.35198830409356757"/>
          <c:h val="0.290413612091592"/>
        </c:manualLayout>
      </c:layout>
    </c:legend>
    <c:plotVisOnly val="1"/>
  </c:chart>
  <c:txPr>
    <a:bodyPr/>
    <a:lstStyle/>
    <a:p>
      <a:pPr>
        <a:defRPr sz="600"/>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GB"/>
  <c:chart>
    <c:plotArea>
      <c:layout/>
      <c:barChart>
        <c:barDir val="bar"/>
        <c:grouping val="clustered"/>
        <c:ser>
          <c:idx val="0"/>
          <c:order val="0"/>
          <c:tx>
            <c:strRef>
              <c:f>'M&amp;C Dependency Metrics'!$A$126</c:f>
              <c:strCache>
                <c:ptCount val="1"/>
                <c:pt idx="0">
                  <c:v>6th Jan</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Metrics'!$B$126:$G$126</c:f>
              <c:numCache>
                <c:formatCode>0</c:formatCode>
                <c:ptCount val="6"/>
                <c:pt idx="0">
                  <c:v>10</c:v>
                </c:pt>
                <c:pt idx="1">
                  <c:v>5</c:v>
                </c:pt>
                <c:pt idx="2">
                  <c:v>26</c:v>
                </c:pt>
                <c:pt idx="3">
                  <c:v>3</c:v>
                </c:pt>
                <c:pt idx="4">
                  <c:v>55</c:v>
                </c:pt>
                <c:pt idx="5">
                  <c:v>41</c:v>
                </c:pt>
              </c:numCache>
            </c:numRef>
          </c:val>
        </c:ser>
        <c:ser>
          <c:idx val="1"/>
          <c:order val="1"/>
          <c:tx>
            <c:strRef>
              <c:f>'M&amp;C Dependency Metrics'!$A$127</c:f>
              <c:strCache>
                <c:ptCount val="1"/>
                <c:pt idx="0">
                  <c:v>13th Jan</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Metrics'!$B$127:$G$127</c:f>
              <c:numCache>
                <c:formatCode>General</c:formatCode>
                <c:ptCount val="6"/>
                <c:pt idx="0">
                  <c:v>10</c:v>
                </c:pt>
                <c:pt idx="1">
                  <c:v>5</c:v>
                </c:pt>
                <c:pt idx="2">
                  <c:v>25</c:v>
                </c:pt>
                <c:pt idx="3">
                  <c:v>4</c:v>
                </c:pt>
                <c:pt idx="4">
                  <c:v>59</c:v>
                </c:pt>
                <c:pt idx="5">
                  <c:v>40</c:v>
                </c:pt>
              </c:numCache>
            </c:numRef>
          </c:val>
        </c:ser>
        <c:ser>
          <c:idx val="2"/>
          <c:order val="2"/>
          <c:tx>
            <c:strRef>
              <c:f>'M&amp;C Dependency Metrics'!$A$128</c:f>
              <c:strCache>
                <c:ptCount val="1"/>
                <c:pt idx="0">
                  <c:v>20th Jan</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Metrics'!$B$128:$G$128</c:f>
              <c:numCache>
                <c:formatCode>0</c:formatCode>
                <c:ptCount val="6"/>
                <c:pt idx="0" formatCode="General">
                  <c:v>12</c:v>
                </c:pt>
                <c:pt idx="1">
                  <c:v>8</c:v>
                </c:pt>
                <c:pt idx="2" formatCode="General">
                  <c:v>26</c:v>
                </c:pt>
                <c:pt idx="3" formatCode="General">
                  <c:v>6</c:v>
                </c:pt>
                <c:pt idx="4" formatCode="General">
                  <c:v>49</c:v>
                </c:pt>
                <c:pt idx="5" formatCode="General">
                  <c:v>41</c:v>
                </c:pt>
              </c:numCache>
            </c:numRef>
          </c:val>
        </c:ser>
        <c:ser>
          <c:idx val="3"/>
          <c:order val="3"/>
          <c:tx>
            <c:strRef>
              <c:f>'M&amp;C Dependency Metrics'!$A$129</c:f>
              <c:strCache>
                <c:ptCount val="1"/>
                <c:pt idx="0">
                  <c:v>27th Jan</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Metrics'!$B$129:$G$129</c:f>
              <c:numCache>
                <c:formatCode>0</c:formatCode>
                <c:ptCount val="6"/>
                <c:pt idx="0" formatCode="General">
                  <c:v>10</c:v>
                </c:pt>
                <c:pt idx="1">
                  <c:v>6</c:v>
                </c:pt>
                <c:pt idx="2" formatCode="General">
                  <c:v>25</c:v>
                </c:pt>
                <c:pt idx="3" formatCode="General">
                  <c:v>7</c:v>
                </c:pt>
                <c:pt idx="4" formatCode="General">
                  <c:v>51</c:v>
                </c:pt>
                <c:pt idx="5" formatCode="General">
                  <c:v>41</c:v>
                </c:pt>
              </c:numCache>
            </c:numRef>
          </c:val>
        </c:ser>
        <c:ser>
          <c:idx val="4"/>
          <c:order val="4"/>
          <c:tx>
            <c:strRef>
              <c:f>'M&amp;C Dependency Metrics'!$A$130</c:f>
              <c:strCache>
                <c:ptCount val="1"/>
                <c:pt idx="0">
                  <c:v>3rd Feb</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Metrics'!$B$130:$G$130</c:f>
              <c:numCache>
                <c:formatCode>0</c:formatCode>
                <c:ptCount val="6"/>
                <c:pt idx="0" formatCode="General">
                  <c:v>14</c:v>
                </c:pt>
                <c:pt idx="1">
                  <c:v>5</c:v>
                </c:pt>
                <c:pt idx="2" formatCode="General">
                  <c:v>23</c:v>
                </c:pt>
                <c:pt idx="3" formatCode="General">
                  <c:v>16</c:v>
                </c:pt>
                <c:pt idx="4" formatCode="General">
                  <c:v>57</c:v>
                </c:pt>
                <c:pt idx="5" formatCode="General">
                  <c:v>42</c:v>
                </c:pt>
              </c:numCache>
            </c:numRef>
          </c:val>
        </c:ser>
        <c:ser>
          <c:idx val="5"/>
          <c:order val="5"/>
          <c:tx>
            <c:strRef>
              <c:f>'M&amp;C Dependency Metrics'!$A$131</c:f>
              <c:strCache>
                <c:ptCount val="1"/>
                <c:pt idx="0">
                  <c:v>10th Feb</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Metrics'!$B$131:$G$131</c:f>
              <c:numCache>
                <c:formatCode>0</c:formatCode>
                <c:ptCount val="6"/>
                <c:pt idx="0" formatCode="General">
                  <c:v>13</c:v>
                </c:pt>
                <c:pt idx="1">
                  <c:v>6</c:v>
                </c:pt>
                <c:pt idx="2" formatCode="General">
                  <c:v>23</c:v>
                </c:pt>
                <c:pt idx="3" formatCode="General">
                  <c:v>15</c:v>
                </c:pt>
                <c:pt idx="4" formatCode="General">
                  <c:v>57</c:v>
                </c:pt>
                <c:pt idx="5" formatCode="General">
                  <c:v>42</c:v>
                </c:pt>
              </c:numCache>
            </c:numRef>
          </c:val>
        </c:ser>
        <c:axId val="148926848"/>
        <c:axId val="148928384"/>
      </c:barChart>
      <c:catAx>
        <c:axId val="148926848"/>
        <c:scaling>
          <c:orientation val="minMax"/>
        </c:scaling>
        <c:axPos val="l"/>
        <c:tickLblPos val="nextTo"/>
        <c:crossAx val="148928384"/>
        <c:crosses val="autoZero"/>
        <c:auto val="1"/>
        <c:lblAlgn val="ctr"/>
        <c:lblOffset val="100"/>
      </c:catAx>
      <c:valAx>
        <c:axId val="148928384"/>
        <c:scaling>
          <c:orientation val="minMax"/>
        </c:scaling>
        <c:axPos val="b"/>
        <c:majorGridlines/>
        <c:numFmt formatCode="0" sourceLinked="1"/>
        <c:tickLblPos val="nextTo"/>
        <c:crossAx val="148926848"/>
        <c:crosses val="autoZero"/>
        <c:crossBetween val="between"/>
      </c:valAx>
    </c:plotArea>
    <c:legend>
      <c:legendPos val="r"/>
      <c:layout/>
    </c:legend>
    <c:plotVisOnly val="1"/>
  </c:chart>
  <c:txPr>
    <a:bodyPr/>
    <a:lstStyle/>
    <a:p>
      <a:pPr>
        <a:defRPr sz="600"/>
      </a:pPr>
      <a:endParaRPr lang="en-US"/>
    </a:p>
  </c:tx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GB"/>
  <c:chart>
    <c:plotArea>
      <c:layout/>
      <c:lineChart>
        <c:grouping val="standard"/>
        <c:ser>
          <c:idx val="0"/>
          <c:order val="0"/>
          <c:tx>
            <c:strRef>
              <c:f>'RAID Summary'!$A$2</c:f>
              <c:strCache>
                <c:ptCount val="1"/>
                <c:pt idx="0">
                  <c:v>Total Open Risks</c:v>
                </c:pt>
              </c:strCache>
            </c:strRef>
          </c:tx>
          <c:cat>
            <c:numRef>
              <c:f>'RAID Summary'!$B$1:$H$1</c:f>
              <c:numCache>
                <c:formatCode>d\-mmm\-yy</c:formatCode>
                <c:ptCount val="7"/>
                <c:pt idx="0">
                  <c:v>40898</c:v>
                </c:pt>
                <c:pt idx="1">
                  <c:v>40912</c:v>
                </c:pt>
                <c:pt idx="2">
                  <c:v>40919</c:v>
                </c:pt>
                <c:pt idx="3">
                  <c:v>40926</c:v>
                </c:pt>
                <c:pt idx="4">
                  <c:v>40933</c:v>
                </c:pt>
                <c:pt idx="5">
                  <c:v>40940</c:v>
                </c:pt>
                <c:pt idx="6">
                  <c:v>40947</c:v>
                </c:pt>
              </c:numCache>
            </c:numRef>
          </c:cat>
          <c:val>
            <c:numRef>
              <c:f>'RAID Summary'!$B$2:$H$2</c:f>
              <c:numCache>
                <c:formatCode>General</c:formatCode>
                <c:ptCount val="7"/>
                <c:pt idx="0">
                  <c:v>40</c:v>
                </c:pt>
                <c:pt idx="1">
                  <c:v>34</c:v>
                </c:pt>
                <c:pt idx="2">
                  <c:v>33</c:v>
                </c:pt>
                <c:pt idx="3">
                  <c:v>30</c:v>
                </c:pt>
                <c:pt idx="4">
                  <c:v>32</c:v>
                </c:pt>
                <c:pt idx="5">
                  <c:v>32</c:v>
                </c:pt>
                <c:pt idx="6">
                  <c:v>30</c:v>
                </c:pt>
              </c:numCache>
            </c:numRef>
          </c:val>
        </c:ser>
        <c:ser>
          <c:idx val="1"/>
          <c:order val="1"/>
          <c:tx>
            <c:strRef>
              <c:f>'RAID Summary'!$A$3</c:f>
              <c:strCache>
                <c:ptCount val="1"/>
                <c:pt idx="0">
                  <c:v>Total Open High or Critical Risks</c:v>
                </c:pt>
              </c:strCache>
            </c:strRef>
          </c:tx>
          <c:cat>
            <c:numRef>
              <c:f>'RAID Summary'!$B$1:$H$1</c:f>
              <c:numCache>
                <c:formatCode>d\-mmm\-yy</c:formatCode>
                <c:ptCount val="7"/>
                <c:pt idx="0">
                  <c:v>40898</c:v>
                </c:pt>
                <c:pt idx="1">
                  <c:v>40912</c:v>
                </c:pt>
                <c:pt idx="2">
                  <c:v>40919</c:v>
                </c:pt>
                <c:pt idx="3">
                  <c:v>40926</c:v>
                </c:pt>
                <c:pt idx="4">
                  <c:v>40933</c:v>
                </c:pt>
                <c:pt idx="5">
                  <c:v>40940</c:v>
                </c:pt>
                <c:pt idx="6">
                  <c:v>40947</c:v>
                </c:pt>
              </c:numCache>
            </c:numRef>
          </c:cat>
          <c:val>
            <c:numRef>
              <c:f>'RAID Summary'!$B$3:$H$3</c:f>
              <c:numCache>
                <c:formatCode>General</c:formatCode>
                <c:ptCount val="7"/>
                <c:pt idx="0">
                  <c:v>15</c:v>
                </c:pt>
                <c:pt idx="1">
                  <c:v>10</c:v>
                </c:pt>
                <c:pt idx="2">
                  <c:v>13</c:v>
                </c:pt>
                <c:pt idx="3">
                  <c:v>13</c:v>
                </c:pt>
                <c:pt idx="4">
                  <c:v>14</c:v>
                </c:pt>
                <c:pt idx="5">
                  <c:v>14</c:v>
                </c:pt>
                <c:pt idx="6">
                  <c:v>16</c:v>
                </c:pt>
              </c:numCache>
            </c:numRef>
          </c:val>
        </c:ser>
        <c:ser>
          <c:idx val="2"/>
          <c:order val="2"/>
          <c:tx>
            <c:strRef>
              <c:f>'RAID Summary'!$A$4</c:f>
              <c:strCache>
                <c:ptCount val="1"/>
                <c:pt idx="0">
                  <c:v>Risks: Missed Required Resolution Date</c:v>
                </c:pt>
              </c:strCache>
            </c:strRef>
          </c:tx>
          <c:cat>
            <c:numRef>
              <c:f>'RAID Summary'!$B$1:$H$1</c:f>
              <c:numCache>
                <c:formatCode>d\-mmm\-yy</c:formatCode>
                <c:ptCount val="7"/>
                <c:pt idx="0">
                  <c:v>40898</c:v>
                </c:pt>
                <c:pt idx="1">
                  <c:v>40912</c:v>
                </c:pt>
                <c:pt idx="2">
                  <c:v>40919</c:v>
                </c:pt>
                <c:pt idx="3">
                  <c:v>40926</c:v>
                </c:pt>
                <c:pt idx="4">
                  <c:v>40933</c:v>
                </c:pt>
                <c:pt idx="5">
                  <c:v>40940</c:v>
                </c:pt>
                <c:pt idx="6">
                  <c:v>40947</c:v>
                </c:pt>
              </c:numCache>
            </c:numRef>
          </c:cat>
          <c:val>
            <c:numRef>
              <c:f>'RAID Summary'!$B$4:$H$4</c:f>
              <c:numCache>
                <c:formatCode>General</c:formatCode>
                <c:ptCount val="7"/>
                <c:pt idx="2">
                  <c:v>2</c:v>
                </c:pt>
                <c:pt idx="3">
                  <c:v>3</c:v>
                </c:pt>
                <c:pt idx="4">
                  <c:v>5</c:v>
                </c:pt>
                <c:pt idx="5">
                  <c:v>7</c:v>
                </c:pt>
                <c:pt idx="6">
                  <c:v>8</c:v>
                </c:pt>
              </c:numCache>
            </c:numRef>
          </c:val>
        </c:ser>
        <c:ser>
          <c:idx val="3"/>
          <c:order val="3"/>
          <c:tx>
            <c:strRef>
              <c:f>'RAID Summary'!$A$5</c:f>
              <c:strCache>
                <c:ptCount val="1"/>
                <c:pt idx="0">
                  <c:v>Total Open Issues</c:v>
                </c:pt>
              </c:strCache>
            </c:strRef>
          </c:tx>
          <c:cat>
            <c:numRef>
              <c:f>'RAID Summary'!$B$1:$H$1</c:f>
              <c:numCache>
                <c:formatCode>d\-mmm\-yy</c:formatCode>
                <c:ptCount val="7"/>
                <c:pt idx="0">
                  <c:v>40898</c:v>
                </c:pt>
                <c:pt idx="1">
                  <c:v>40912</c:v>
                </c:pt>
                <c:pt idx="2">
                  <c:v>40919</c:v>
                </c:pt>
                <c:pt idx="3">
                  <c:v>40926</c:v>
                </c:pt>
                <c:pt idx="4">
                  <c:v>40933</c:v>
                </c:pt>
                <c:pt idx="5">
                  <c:v>40940</c:v>
                </c:pt>
                <c:pt idx="6">
                  <c:v>40947</c:v>
                </c:pt>
              </c:numCache>
            </c:numRef>
          </c:cat>
          <c:val>
            <c:numRef>
              <c:f>'RAID Summary'!$B$5:$H$5</c:f>
              <c:numCache>
                <c:formatCode>General</c:formatCode>
                <c:ptCount val="7"/>
                <c:pt idx="0">
                  <c:v>37</c:v>
                </c:pt>
                <c:pt idx="1">
                  <c:v>37</c:v>
                </c:pt>
                <c:pt idx="2">
                  <c:v>42</c:v>
                </c:pt>
                <c:pt idx="3">
                  <c:v>42</c:v>
                </c:pt>
                <c:pt idx="4">
                  <c:v>45</c:v>
                </c:pt>
                <c:pt idx="5">
                  <c:v>48</c:v>
                </c:pt>
                <c:pt idx="6">
                  <c:v>52</c:v>
                </c:pt>
              </c:numCache>
            </c:numRef>
          </c:val>
        </c:ser>
        <c:ser>
          <c:idx val="4"/>
          <c:order val="4"/>
          <c:tx>
            <c:strRef>
              <c:f>'RAID Summary'!$A$6</c:f>
              <c:strCache>
                <c:ptCount val="1"/>
                <c:pt idx="0">
                  <c:v>Total Open High or Critical Issues</c:v>
                </c:pt>
              </c:strCache>
            </c:strRef>
          </c:tx>
          <c:cat>
            <c:numRef>
              <c:f>'RAID Summary'!$B$1:$H$1</c:f>
              <c:numCache>
                <c:formatCode>d\-mmm\-yy</c:formatCode>
                <c:ptCount val="7"/>
                <c:pt idx="0">
                  <c:v>40898</c:v>
                </c:pt>
                <c:pt idx="1">
                  <c:v>40912</c:v>
                </c:pt>
                <c:pt idx="2">
                  <c:v>40919</c:v>
                </c:pt>
                <c:pt idx="3">
                  <c:v>40926</c:v>
                </c:pt>
                <c:pt idx="4">
                  <c:v>40933</c:v>
                </c:pt>
                <c:pt idx="5">
                  <c:v>40940</c:v>
                </c:pt>
                <c:pt idx="6">
                  <c:v>40947</c:v>
                </c:pt>
              </c:numCache>
            </c:numRef>
          </c:cat>
          <c:val>
            <c:numRef>
              <c:f>'RAID Summary'!$B$6:$H$6</c:f>
              <c:numCache>
                <c:formatCode>General</c:formatCode>
                <c:ptCount val="7"/>
                <c:pt idx="2">
                  <c:v>25</c:v>
                </c:pt>
                <c:pt idx="3">
                  <c:v>25</c:v>
                </c:pt>
                <c:pt idx="4">
                  <c:v>28</c:v>
                </c:pt>
                <c:pt idx="5">
                  <c:v>33</c:v>
                </c:pt>
                <c:pt idx="6">
                  <c:v>39</c:v>
                </c:pt>
              </c:numCache>
            </c:numRef>
          </c:val>
        </c:ser>
        <c:ser>
          <c:idx val="5"/>
          <c:order val="5"/>
          <c:tx>
            <c:strRef>
              <c:f>'RAID Summary'!$A$7</c:f>
              <c:strCache>
                <c:ptCount val="1"/>
                <c:pt idx="0">
                  <c:v>Issues: Missed Required Resolution Date</c:v>
                </c:pt>
              </c:strCache>
            </c:strRef>
          </c:tx>
          <c:cat>
            <c:numRef>
              <c:f>'RAID Summary'!$B$1:$H$1</c:f>
              <c:numCache>
                <c:formatCode>d\-mmm\-yy</c:formatCode>
                <c:ptCount val="7"/>
                <c:pt idx="0">
                  <c:v>40898</c:v>
                </c:pt>
                <c:pt idx="1">
                  <c:v>40912</c:v>
                </c:pt>
                <c:pt idx="2">
                  <c:v>40919</c:v>
                </c:pt>
                <c:pt idx="3">
                  <c:v>40926</c:v>
                </c:pt>
                <c:pt idx="4">
                  <c:v>40933</c:v>
                </c:pt>
                <c:pt idx="5">
                  <c:v>40940</c:v>
                </c:pt>
                <c:pt idx="6">
                  <c:v>40947</c:v>
                </c:pt>
              </c:numCache>
            </c:numRef>
          </c:cat>
          <c:val>
            <c:numRef>
              <c:f>'RAID Summary'!$B$7:$H$7</c:f>
              <c:numCache>
                <c:formatCode>General</c:formatCode>
                <c:ptCount val="7"/>
                <c:pt idx="2">
                  <c:v>13</c:v>
                </c:pt>
                <c:pt idx="3">
                  <c:v>12</c:v>
                </c:pt>
                <c:pt idx="4">
                  <c:v>7</c:v>
                </c:pt>
                <c:pt idx="5">
                  <c:v>13</c:v>
                </c:pt>
                <c:pt idx="6">
                  <c:v>16</c:v>
                </c:pt>
              </c:numCache>
            </c:numRef>
          </c:val>
        </c:ser>
        <c:ser>
          <c:idx val="6"/>
          <c:order val="6"/>
          <c:tx>
            <c:strRef>
              <c:f>'RAID Summary'!$A$8</c:f>
              <c:strCache>
                <c:ptCount val="1"/>
                <c:pt idx="0">
                  <c:v>Total Assumptions</c:v>
                </c:pt>
              </c:strCache>
            </c:strRef>
          </c:tx>
          <c:cat>
            <c:numRef>
              <c:f>'RAID Summary'!$B$1:$H$1</c:f>
              <c:numCache>
                <c:formatCode>d\-mmm\-yy</c:formatCode>
                <c:ptCount val="7"/>
                <c:pt idx="0">
                  <c:v>40898</c:v>
                </c:pt>
                <c:pt idx="1">
                  <c:v>40912</c:v>
                </c:pt>
                <c:pt idx="2">
                  <c:v>40919</c:v>
                </c:pt>
                <c:pt idx="3">
                  <c:v>40926</c:v>
                </c:pt>
                <c:pt idx="4">
                  <c:v>40933</c:v>
                </c:pt>
                <c:pt idx="5">
                  <c:v>40940</c:v>
                </c:pt>
                <c:pt idx="6">
                  <c:v>40947</c:v>
                </c:pt>
              </c:numCache>
            </c:numRef>
          </c:cat>
          <c:val>
            <c:numRef>
              <c:f>'RAID Summary'!$B$8:$H$8</c:f>
              <c:numCache>
                <c:formatCode>General</c:formatCode>
                <c:ptCount val="7"/>
                <c:pt idx="0">
                  <c:v>78</c:v>
                </c:pt>
                <c:pt idx="1">
                  <c:v>70</c:v>
                </c:pt>
                <c:pt idx="2">
                  <c:v>67</c:v>
                </c:pt>
                <c:pt idx="3">
                  <c:v>67</c:v>
                </c:pt>
                <c:pt idx="4">
                  <c:v>68</c:v>
                </c:pt>
                <c:pt idx="5">
                  <c:v>69</c:v>
                </c:pt>
                <c:pt idx="6">
                  <c:v>69</c:v>
                </c:pt>
              </c:numCache>
            </c:numRef>
          </c:val>
        </c:ser>
        <c:ser>
          <c:idx val="7"/>
          <c:order val="7"/>
          <c:tx>
            <c:strRef>
              <c:f>'RAID Summary'!$A$9</c:f>
              <c:strCache>
                <c:ptCount val="1"/>
                <c:pt idx="0">
                  <c:v>Total Decisions</c:v>
                </c:pt>
              </c:strCache>
            </c:strRef>
          </c:tx>
          <c:cat>
            <c:numRef>
              <c:f>'RAID Summary'!$B$1:$H$1</c:f>
              <c:numCache>
                <c:formatCode>d\-mmm\-yy</c:formatCode>
                <c:ptCount val="7"/>
                <c:pt idx="0">
                  <c:v>40898</c:v>
                </c:pt>
                <c:pt idx="1">
                  <c:v>40912</c:v>
                </c:pt>
                <c:pt idx="2">
                  <c:v>40919</c:v>
                </c:pt>
                <c:pt idx="3">
                  <c:v>40926</c:v>
                </c:pt>
                <c:pt idx="4">
                  <c:v>40933</c:v>
                </c:pt>
                <c:pt idx="5">
                  <c:v>40940</c:v>
                </c:pt>
                <c:pt idx="6">
                  <c:v>40947</c:v>
                </c:pt>
              </c:numCache>
            </c:numRef>
          </c:cat>
          <c:val>
            <c:numRef>
              <c:f>'RAID Summary'!$B$9:$H$9</c:f>
              <c:numCache>
                <c:formatCode>General</c:formatCode>
                <c:ptCount val="7"/>
                <c:pt idx="0">
                  <c:v>153</c:v>
                </c:pt>
                <c:pt idx="1">
                  <c:v>153</c:v>
                </c:pt>
                <c:pt idx="2">
                  <c:v>154</c:v>
                </c:pt>
                <c:pt idx="3">
                  <c:v>154</c:v>
                </c:pt>
                <c:pt idx="4">
                  <c:v>161</c:v>
                </c:pt>
                <c:pt idx="5">
                  <c:v>182</c:v>
                </c:pt>
                <c:pt idx="6">
                  <c:v>183</c:v>
                </c:pt>
              </c:numCache>
            </c:numRef>
          </c:val>
        </c:ser>
        <c:ser>
          <c:idx val="8"/>
          <c:order val="8"/>
          <c:tx>
            <c:strRef>
              <c:f>'RAID Summary'!$A$10</c:f>
              <c:strCache>
                <c:ptCount val="1"/>
                <c:pt idx="0">
                  <c:v>Total Pending Decisions</c:v>
                </c:pt>
              </c:strCache>
            </c:strRef>
          </c:tx>
          <c:cat>
            <c:numRef>
              <c:f>'RAID Summary'!$B$1:$H$1</c:f>
              <c:numCache>
                <c:formatCode>d\-mmm\-yy</c:formatCode>
                <c:ptCount val="7"/>
                <c:pt idx="0">
                  <c:v>40898</c:v>
                </c:pt>
                <c:pt idx="1">
                  <c:v>40912</c:v>
                </c:pt>
                <c:pt idx="2">
                  <c:v>40919</c:v>
                </c:pt>
                <c:pt idx="3">
                  <c:v>40926</c:v>
                </c:pt>
                <c:pt idx="4">
                  <c:v>40933</c:v>
                </c:pt>
                <c:pt idx="5">
                  <c:v>40940</c:v>
                </c:pt>
                <c:pt idx="6">
                  <c:v>40947</c:v>
                </c:pt>
              </c:numCache>
            </c:numRef>
          </c:cat>
          <c:val>
            <c:numRef>
              <c:f>'RAID Summary'!$B$10:$H$10</c:f>
              <c:numCache>
                <c:formatCode>General</c:formatCode>
                <c:ptCount val="7"/>
                <c:pt idx="0">
                  <c:v>24</c:v>
                </c:pt>
                <c:pt idx="1">
                  <c:v>24</c:v>
                </c:pt>
                <c:pt idx="2">
                  <c:v>25</c:v>
                </c:pt>
                <c:pt idx="3">
                  <c:v>24</c:v>
                </c:pt>
                <c:pt idx="4">
                  <c:v>30</c:v>
                </c:pt>
                <c:pt idx="5">
                  <c:v>39</c:v>
                </c:pt>
                <c:pt idx="6">
                  <c:v>40</c:v>
                </c:pt>
              </c:numCache>
            </c:numRef>
          </c:val>
        </c:ser>
        <c:marker val="1"/>
        <c:axId val="151051648"/>
        <c:axId val="151057536"/>
      </c:lineChart>
      <c:dateAx>
        <c:axId val="151051648"/>
        <c:scaling>
          <c:orientation val="minMax"/>
        </c:scaling>
        <c:axPos val="b"/>
        <c:numFmt formatCode="d\-mmm\-yy" sourceLinked="1"/>
        <c:tickLblPos val="nextTo"/>
        <c:txPr>
          <a:bodyPr/>
          <a:lstStyle/>
          <a:p>
            <a:pPr>
              <a:defRPr sz="800"/>
            </a:pPr>
            <a:endParaRPr lang="en-US"/>
          </a:p>
        </c:txPr>
        <c:crossAx val="151057536"/>
        <c:crosses val="autoZero"/>
        <c:auto val="1"/>
        <c:lblOffset val="100"/>
        <c:baseTimeUnit val="days"/>
        <c:majorUnit val="7"/>
        <c:majorTimeUnit val="days"/>
      </c:dateAx>
      <c:valAx>
        <c:axId val="151057536"/>
        <c:scaling>
          <c:orientation val="minMax"/>
        </c:scaling>
        <c:axPos val="l"/>
        <c:majorGridlines/>
        <c:numFmt formatCode="General" sourceLinked="1"/>
        <c:tickLblPos val="nextTo"/>
        <c:txPr>
          <a:bodyPr/>
          <a:lstStyle/>
          <a:p>
            <a:pPr>
              <a:defRPr sz="800"/>
            </a:pPr>
            <a:endParaRPr lang="en-US"/>
          </a:p>
        </c:txPr>
        <c:crossAx val="151051648"/>
        <c:crosses val="autoZero"/>
        <c:crossBetween val="between"/>
      </c:valAx>
    </c:plotArea>
    <c:legend>
      <c:legendPos val="r"/>
      <c:layout/>
      <c:txPr>
        <a:bodyPr/>
        <a:lstStyle/>
        <a:p>
          <a:pPr>
            <a:defRPr sz="800"/>
          </a:pPr>
          <a:endParaRPr lang="en-US"/>
        </a:p>
      </c:txPr>
    </c:legend>
    <c:plotVisOnly val="1"/>
  </c:chart>
  <c:externalData r:id="rId1"/>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GB"/>
  <c:chart>
    <c:title>
      <c:layout/>
    </c:title>
    <c:plotArea>
      <c:layout/>
      <c:lineChart>
        <c:grouping val="standard"/>
        <c:ser>
          <c:idx val="0"/>
          <c:order val="0"/>
          <c:tx>
            <c:strRef>
              <c:f>Sheet1!$B$1</c:f>
              <c:strCache>
                <c:ptCount val="1"/>
                <c:pt idx="0">
                  <c:v>RB in FTE</c:v>
                </c:pt>
              </c:strCache>
            </c:strRef>
          </c:tx>
          <c:cat>
            <c:strRef>
              <c:f>Sheet1!$A$2:$A$4</c:f>
              <c:strCache>
                <c:ptCount val="3"/>
                <c:pt idx="0">
                  <c:v>FY12 Q3</c:v>
                </c:pt>
                <c:pt idx="1">
                  <c:v>FY12 Q4</c:v>
                </c:pt>
                <c:pt idx="2">
                  <c:v>FY12 Q1</c:v>
                </c:pt>
              </c:strCache>
            </c:strRef>
          </c:cat>
          <c:val>
            <c:numRef>
              <c:f>Sheet1!$B$2:$B$4</c:f>
              <c:numCache>
                <c:formatCode>General</c:formatCode>
                <c:ptCount val="3"/>
                <c:pt idx="0">
                  <c:v>36.480000000000004</c:v>
                </c:pt>
                <c:pt idx="1">
                  <c:v>61.86</c:v>
                </c:pt>
                <c:pt idx="2">
                  <c:v>49.94</c:v>
                </c:pt>
              </c:numCache>
            </c:numRef>
          </c:val>
        </c:ser>
        <c:ser>
          <c:idx val="1"/>
          <c:order val="1"/>
          <c:tx>
            <c:strRef>
              <c:f>Sheet1!$C$1</c:f>
              <c:strCache>
                <c:ptCount val="1"/>
                <c:pt idx="0">
                  <c:v>open req (FTE)</c:v>
                </c:pt>
              </c:strCache>
            </c:strRef>
          </c:tx>
          <c:cat>
            <c:strRef>
              <c:f>Sheet1!$A$2:$A$4</c:f>
              <c:strCache>
                <c:ptCount val="3"/>
                <c:pt idx="0">
                  <c:v>FY12 Q3</c:v>
                </c:pt>
                <c:pt idx="1">
                  <c:v>FY12 Q4</c:v>
                </c:pt>
                <c:pt idx="2">
                  <c:v>FY12 Q1</c:v>
                </c:pt>
              </c:strCache>
            </c:strRef>
          </c:cat>
          <c:val>
            <c:numRef>
              <c:f>Sheet1!$C$2:$C$4</c:f>
              <c:numCache>
                <c:formatCode>General</c:formatCode>
                <c:ptCount val="3"/>
                <c:pt idx="0">
                  <c:v>295.64000000000038</c:v>
                </c:pt>
                <c:pt idx="1">
                  <c:v>169.87</c:v>
                </c:pt>
                <c:pt idx="2">
                  <c:v>221.6</c:v>
                </c:pt>
              </c:numCache>
            </c:numRef>
          </c:val>
        </c:ser>
        <c:ser>
          <c:idx val="2"/>
          <c:order val="2"/>
          <c:tx>
            <c:strRef>
              <c:f>Sheet1!$D$1</c:f>
              <c:strCache>
                <c:ptCount val="1"/>
                <c:pt idx="0">
                  <c:v>overall req (FTE)</c:v>
                </c:pt>
              </c:strCache>
            </c:strRef>
          </c:tx>
          <c:spPr>
            <a:ln cmpd="sng">
              <a:solidFill>
                <a:srgbClr val="0070C0"/>
              </a:solidFill>
            </a:ln>
          </c:spPr>
          <c:marker>
            <c:spPr>
              <a:solidFill>
                <a:srgbClr val="00B0F0"/>
              </a:solidFill>
            </c:spPr>
          </c:marker>
          <c:cat>
            <c:strRef>
              <c:f>Sheet1!$A$2:$A$4</c:f>
              <c:strCache>
                <c:ptCount val="3"/>
                <c:pt idx="0">
                  <c:v>FY12 Q3</c:v>
                </c:pt>
                <c:pt idx="1">
                  <c:v>FY12 Q4</c:v>
                </c:pt>
                <c:pt idx="2">
                  <c:v>FY12 Q1</c:v>
                </c:pt>
              </c:strCache>
            </c:strRef>
          </c:cat>
          <c:val>
            <c:numRef>
              <c:f>Sheet1!$D$2:$D$4</c:f>
              <c:numCache>
                <c:formatCode>General</c:formatCode>
                <c:ptCount val="3"/>
                <c:pt idx="0">
                  <c:v>332.12</c:v>
                </c:pt>
                <c:pt idx="1">
                  <c:v>231.73</c:v>
                </c:pt>
                <c:pt idx="2">
                  <c:v>268.58999999999969</c:v>
                </c:pt>
              </c:numCache>
            </c:numRef>
          </c:val>
        </c:ser>
        <c:marker val="1"/>
        <c:axId val="151282048"/>
        <c:axId val="151283968"/>
      </c:lineChart>
      <c:catAx>
        <c:axId val="151282048"/>
        <c:scaling>
          <c:orientation val="minMax"/>
        </c:scaling>
        <c:axPos val="b"/>
        <c:majorTickMark val="none"/>
        <c:tickLblPos val="nextTo"/>
        <c:crossAx val="151283968"/>
        <c:crosses val="autoZero"/>
        <c:auto val="1"/>
        <c:lblAlgn val="ctr"/>
        <c:lblOffset val="100"/>
      </c:catAx>
      <c:valAx>
        <c:axId val="151283968"/>
        <c:scaling>
          <c:orientation val="minMax"/>
        </c:scaling>
        <c:axPos val="l"/>
        <c:majorGridlines/>
        <c:numFmt formatCode="General" sourceLinked="1"/>
        <c:majorTickMark val="none"/>
        <c:tickLblPos val="nextTo"/>
        <c:crossAx val="151282048"/>
        <c:crosses val="autoZero"/>
        <c:crossBetween val="between"/>
      </c:valAx>
    </c:plotArea>
    <c:legend>
      <c:legendPos val="r"/>
      <c:layout/>
    </c:legend>
    <c:plotVisOnly val="1"/>
  </c:chart>
  <c:externalData r:id="rId1"/>
  <c:userShapes r:id="rId2"/>
</c:chartSpace>
</file>

<file path=ppt/charts/chart5.xml><?xml version="1.0" encoding="utf-8"?>
<c:chartSpace xmlns:c="http://schemas.openxmlformats.org/drawingml/2006/chart" xmlns:a="http://schemas.openxmlformats.org/drawingml/2006/main" xmlns:r="http://schemas.openxmlformats.org/officeDocument/2006/relationships">
  <c:date1904 val="1"/>
  <c:lang val="en-GB"/>
  <c:style val="26"/>
  <c:chart>
    <c:autoTitleDeleted val="1"/>
    <c:plotArea>
      <c:layout/>
      <c:radarChart>
        <c:radarStyle val="marker"/>
        <c:axId val="151292544"/>
        <c:axId val="151309312"/>
      </c:radarChart>
      <c:catAx>
        <c:axId val="151292544"/>
        <c:scaling>
          <c:orientation val="minMax"/>
        </c:scaling>
        <c:axPos val="b"/>
        <c:majorGridlines/>
        <c:numFmt formatCode="General" sourceLinked="1"/>
        <c:majorTickMark val="none"/>
        <c:tickLblPos val="nextTo"/>
        <c:crossAx val="151309312"/>
        <c:crosses val="autoZero"/>
        <c:auto val="1"/>
        <c:lblAlgn val="ctr"/>
        <c:lblOffset val="100"/>
      </c:catAx>
      <c:valAx>
        <c:axId val="151309312"/>
        <c:scaling>
          <c:orientation val="minMax"/>
          <c:max val="5"/>
          <c:min val="0"/>
        </c:scaling>
        <c:axPos val="l"/>
        <c:majorGridlines/>
        <c:numFmt formatCode="#,##0.00" sourceLinked="1"/>
        <c:tickLblPos val="none"/>
        <c:crossAx val="151292544"/>
        <c:crosses val="autoZero"/>
        <c:crossBetween val="between"/>
      </c:valAx>
      <c:spPr>
        <a:blipFill>
          <a:blip xmlns:r="http://schemas.openxmlformats.org/officeDocument/2006/relationships" r:embed="rId1"/>
          <a:stretch>
            <a:fillRect/>
          </a:stretch>
        </a:blipFill>
      </c:spPr>
    </c:plotArea>
    <c:legend>
      <c:legendPos val="b"/>
      <c:layout/>
    </c:legend>
    <c:plotVisOnly val="1"/>
  </c:chart>
  <c:externalData r:id="rId2"/>
</c:chartSpace>
</file>

<file path=ppt/charts/chart6.xml><?xml version="1.0" encoding="utf-8"?>
<c:chartSpace xmlns:c="http://schemas.openxmlformats.org/drawingml/2006/chart" xmlns:a="http://schemas.openxmlformats.org/drawingml/2006/main" xmlns:r="http://schemas.openxmlformats.org/officeDocument/2006/relationships">
  <c:date1904 val="1"/>
  <c:lang val="en-GB"/>
  <c:style val="26"/>
  <c:chart>
    <c:autoTitleDeleted val="1"/>
    <c:plotArea>
      <c:layout/>
      <c:radarChart>
        <c:radarStyle val="marker"/>
        <c:ser>
          <c:idx val="1"/>
          <c:order val="0"/>
          <c:tx>
            <c:v>Microsoft</c:v>
          </c:tx>
          <c:spPr>
            <a:ln>
              <a:solidFill>
                <a:prstClr val="black">
                  <a:lumMod val="65000"/>
                  <a:lumOff val="35000"/>
                </a:prstClr>
              </a:solidFill>
            </a:ln>
          </c:spPr>
          <c:marker>
            <c:symbol val="none"/>
          </c:marker>
          <c:cat>
            <c:strRef>
              <c:f>'Bidders Chart'!$A$6:$A$11</c:f>
              <c:strCache>
                <c:ptCount val="6"/>
                <c:pt idx="0">
                  <c:v>SharePoint Foundation</c:v>
                </c:pt>
                <c:pt idx="1">
                  <c:v>SharePoint Enablement</c:v>
                </c:pt>
                <c:pt idx="2">
                  <c:v>PMO</c:v>
                </c:pt>
                <c:pt idx="3">
                  <c:v>Messaging Envisioning</c:v>
                </c:pt>
                <c:pt idx="4">
                  <c:v>Lync Planning</c:v>
                </c:pt>
                <c:pt idx="5">
                  <c:v>Application Transformation</c:v>
                </c:pt>
              </c:strCache>
            </c:strRef>
          </c:cat>
          <c:val>
            <c:numRef>
              <c:f>'Bidders Chart'!$B$6:$B$11</c:f>
              <c:numCache>
                <c:formatCode>#,##0.00</c:formatCode>
                <c:ptCount val="6"/>
                <c:pt idx="0">
                  <c:v>3.3055555555555549</c:v>
                </c:pt>
                <c:pt idx="1">
                  <c:v>3.7833333333333412</c:v>
                </c:pt>
                <c:pt idx="2">
                  <c:v>4.0000000000000009</c:v>
                </c:pt>
                <c:pt idx="3">
                  <c:v>3.3333333333333335</c:v>
                </c:pt>
                <c:pt idx="4">
                  <c:v>3.6666666666666647</c:v>
                </c:pt>
                <c:pt idx="5">
                  <c:v>0</c:v>
                </c:pt>
              </c:numCache>
            </c:numRef>
          </c:val>
        </c:ser>
        <c:axId val="151460480"/>
        <c:axId val="151581056"/>
      </c:radarChart>
      <c:catAx>
        <c:axId val="151460480"/>
        <c:scaling>
          <c:orientation val="minMax"/>
        </c:scaling>
        <c:axPos val="b"/>
        <c:majorGridlines/>
        <c:numFmt formatCode="General" sourceLinked="1"/>
        <c:majorTickMark val="none"/>
        <c:tickLblPos val="nextTo"/>
        <c:crossAx val="151581056"/>
        <c:crosses val="autoZero"/>
        <c:auto val="1"/>
        <c:lblAlgn val="ctr"/>
        <c:lblOffset val="100"/>
      </c:catAx>
      <c:valAx>
        <c:axId val="151581056"/>
        <c:scaling>
          <c:orientation val="minMax"/>
          <c:max val="5"/>
          <c:min val="0"/>
        </c:scaling>
        <c:axPos val="l"/>
        <c:majorGridlines/>
        <c:numFmt formatCode="#,##0.00" sourceLinked="1"/>
        <c:tickLblPos val="none"/>
        <c:crossAx val="151460480"/>
        <c:crosses val="autoZero"/>
        <c:crossBetween val="between"/>
      </c:valAx>
      <c:spPr>
        <a:blipFill>
          <a:blip xmlns:r="http://schemas.openxmlformats.org/officeDocument/2006/relationships" r:embed="rId1"/>
          <a:stretch>
            <a:fillRect/>
          </a:stretch>
        </a:blipFill>
      </c:spPr>
    </c:plotArea>
    <c:legend>
      <c:legendPos val="b"/>
      <c:layout/>
    </c:legend>
    <c:plotVisOnly val="1"/>
  </c:chart>
  <c:externalData r:id="rId2"/>
</c:chartSpace>
</file>

<file path=ppt/charts/chart7.xml><?xml version="1.0" encoding="utf-8"?>
<c:chartSpace xmlns:c="http://schemas.openxmlformats.org/drawingml/2006/chart" xmlns:a="http://schemas.openxmlformats.org/drawingml/2006/main" xmlns:r="http://schemas.openxmlformats.org/officeDocument/2006/relationships">
  <c:date1904 val="1"/>
  <c:lang val="en-GB"/>
  <c:style val="26"/>
  <c:chart>
    <c:autoTitleDeleted val="1"/>
    <c:plotArea>
      <c:layout/>
      <c:radarChart>
        <c:radarStyle val="marker"/>
        <c:ser>
          <c:idx val="1"/>
          <c:order val="0"/>
          <c:tx>
            <c:v>Microsoft</c:v>
          </c:tx>
          <c:spPr>
            <a:ln>
              <a:solidFill>
                <a:prstClr val="black">
                  <a:lumMod val="65000"/>
                  <a:lumOff val="35000"/>
                </a:prstClr>
              </a:solidFill>
            </a:ln>
          </c:spPr>
          <c:marker>
            <c:symbol val="none"/>
          </c:marker>
          <c:cat>
            <c:strRef>
              <c:f>'Bidders Chart'!$I$6:$I$10</c:f>
              <c:strCache>
                <c:ptCount val="5"/>
                <c:pt idx="0">
                  <c:v>Application Transformation Streamline</c:v>
                </c:pt>
                <c:pt idx="1">
                  <c:v>SharePoint Streamline</c:v>
                </c:pt>
                <c:pt idx="2">
                  <c:v>PMO Streamline</c:v>
                </c:pt>
                <c:pt idx="3">
                  <c:v>Unified Communication Streamline</c:v>
                </c:pt>
                <c:pt idx="4">
                  <c:v>Architecture</c:v>
                </c:pt>
              </c:strCache>
            </c:strRef>
          </c:cat>
          <c:val>
            <c:numRef>
              <c:f>'Bidders Chart'!$J$6:$J$10</c:f>
              <c:numCache>
                <c:formatCode>#,##0.00</c:formatCode>
                <c:ptCount val="5"/>
                <c:pt idx="0">
                  <c:v>0</c:v>
                </c:pt>
                <c:pt idx="1">
                  <c:v>3.5533333333333332</c:v>
                </c:pt>
                <c:pt idx="2">
                  <c:v>4</c:v>
                </c:pt>
                <c:pt idx="3">
                  <c:v>3.3999999999999977</c:v>
                </c:pt>
                <c:pt idx="4">
                  <c:v>3.1666666666666647</c:v>
                </c:pt>
              </c:numCache>
            </c:numRef>
          </c:val>
        </c:ser>
        <c:axId val="151666688"/>
        <c:axId val="151668224"/>
      </c:radarChart>
      <c:catAx>
        <c:axId val="151666688"/>
        <c:scaling>
          <c:orientation val="minMax"/>
        </c:scaling>
        <c:axPos val="b"/>
        <c:majorGridlines/>
        <c:numFmt formatCode="General" sourceLinked="1"/>
        <c:majorTickMark val="none"/>
        <c:tickLblPos val="nextTo"/>
        <c:crossAx val="151668224"/>
        <c:crosses val="autoZero"/>
        <c:auto val="1"/>
        <c:lblAlgn val="ctr"/>
        <c:lblOffset val="100"/>
      </c:catAx>
      <c:valAx>
        <c:axId val="151668224"/>
        <c:scaling>
          <c:orientation val="minMax"/>
          <c:max val="5"/>
          <c:min val="0"/>
        </c:scaling>
        <c:axPos val="l"/>
        <c:majorGridlines/>
        <c:numFmt formatCode="#,##0.00" sourceLinked="1"/>
        <c:tickLblPos val="none"/>
        <c:crossAx val="151666688"/>
        <c:crosses val="autoZero"/>
        <c:crossBetween val="between"/>
      </c:valAx>
      <c:spPr>
        <a:blipFill>
          <a:blip xmlns:r="http://schemas.openxmlformats.org/officeDocument/2006/relationships" r:embed="rId1"/>
          <a:stretch>
            <a:fillRect/>
          </a:stretch>
        </a:blipFill>
      </c:spPr>
    </c:plotArea>
    <c:legend>
      <c:legendPos val="b"/>
      <c:layout/>
    </c:legend>
    <c:plotVisOnly val="1"/>
  </c:chart>
  <c:externalData r:id="rId2"/>
</c:chartSpace>
</file>

<file path=ppt/charts/chart8.xml><?xml version="1.0" encoding="utf-8"?>
<c:chartSpace xmlns:c="http://schemas.openxmlformats.org/drawingml/2006/chart" xmlns:a="http://schemas.openxmlformats.org/drawingml/2006/main" xmlns:r="http://schemas.openxmlformats.org/officeDocument/2006/relationships">
  <c:date1904 val="1"/>
  <c:lang val="en-GB"/>
  <c:chart>
    <c:title>
      <c:tx>
        <c:rich>
          <a:bodyPr/>
          <a:lstStyle/>
          <a:p>
            <a:pPr>
              <a:defRPr/>
            </a:pPr>
            <a:r>
              <a:rPr lang="fr-FR" sz="1400"/>
              <a:t>Forecast SOW</a:t>
            </a:r>
            <a:r>
              <a:rPr lang="fr-FR" sz="1400" baseline="0"/>
              <a:t> spend vs Invoiced SOW spend (Monthly)</a:t>
            </a:r>
            <a:endParaRPr lang="fr-FR" sz="1400"/>
          </a:p>
        </c:rich>
      </c:tx>
      <c:layout/>
    </c:title>
    <c:plotArea>
      <c:layout/>
      <c:lineChart>
        <c:grouping val="standard"/>
        <c:ser>
          <c:idx val="0"/>
          <c:order val="0"/>
          <c:tx>
            <c:v>Forecast (SOW)</c:v>
          </c:tx>
          <c:marker>
            <c:symbol val="none"/>
          </c:marker>
          <c:cat>
            <c:multiLvlStrRef>
              <c:f>'Microsoft Monthly Cost'!$E$2:$P$3</c:f>
              <c:multiLvlStrCache>
                <c:ptCount val="12"/>
                <c:lvl>
                  <c:pt idx="0">
                    <c:v>Jul-11</c:v>
                  </c:pt>
                  <c:pt idx="1">
                    <c:v>Aug-11</c:v>
                  </c:pt>
                  <c:pt idx="2">
                    <c:v>Sep-11</c:v>
                  </c:pt>
                  <c:pt idx="3">
                    <c:v>Oct-11</c:v>
                  </c:pt>
                  <c:pt idx="4">
                    <c:v>Nov-11</c:v>
                  </c:pt>
                  <c:pt idx="5">
                    <c:v>Dec-11</c:v>
                  </c:pt>
                  <c:pt idx="6">
                    <c:v>Jan-12</c:v>
                  </c:pt>
                  <c:pt idx="7">
                    <c:v>Feb-12</c:v>
                  </c:pt>
                  <c:pt idx="8">
                    <c:v>Mar-12</c:v>
                  </c:pt>
                  <c:pt idx="9">
                    <c:v>Apr-12</c:v>
                  </c:pt>
                  <c:pt idx="10">
                    <c:v>May-12</c:v>
                  </c:pt>
                  <c:pt idx="11">
                    <c:v>Jun-12</c:v>
                  </c:pt>
                </c:lvl>
                <c:lvl>
                  <c:pt idx="0">
                    <c:v>FY12</c:v>
                  </c:pt>
                </c:lvl>
              </c:multiLvlStrCache>
            </c:multiLvlStrRef>
          </c:cat>
          <c:val>
            <c:numRef>
              <c:f>'Microsoft Monthly Cost'!$E$5:$P$5</c:f>
              <c:numCache>
                <c:formatCode>_-[$$-409]* #,##0_ ;_-[$$-409]* \-#,##0\ ;_-[$$-409]* "-"_ ;_-@_ </c:formatCode>
                <c:ptCount val="12"/>
                <c:pt idx="0">
                  <c:v>727800</c:v>
                </c:pt>
                <c:pt idx="1">
                  <c:v>811479.49</c:v>
                </c:pt>
                <c:pt idx="2">
                  <c:v>1733252.62</c:v>
                </c:pt>
                <c:pt idx="3">
                  <c:v>970584.33000000042</c:v>
                </c:pt>
                <c:pt idx="4">
                  <c:v>1154099.72</c:v>
                </c:pt>
                <c:pt idx="5">
                  <c:v>227800</c:v>
                </c:pt>
                <c:pt idx="6">
                  <c:v>27800</c:v>
                </c:pt>
                <c:pt idx="7">
                  <c:v>1344914.6300000001</c:v>
                </c:pt>
                <c:pt idx="8">
                  <c:v>598002.34000000043</c:v>
                </c:pt>
                <c:pt idx="9">
                  <c:v>1002819.71</c:v>
                </c:pt>
                <c:pt idx="10">
                  <c:v>201320</c:v>
                </c:pt>
                <c:pt idx="11">
                  <c:v>160200</c:v>
                </c:pt>
              </c:numCache>
            </c:numRef>
          </c:val>
        </c:ser>
        <c:ser>
          <c:idx val="1"/>
          <c:order val="1"/>
          <c:tx>
            <c:v>Invoiced (SOW)</c:v>
          </c:tx>
          <c:marker>
            <c:symbol val="none"/>
          </c:marker>
          <c:cat>
            <c:multiLvlStrRef>
              <c:f>'Microsoft Monthly Cost'!$E$2:$P$3</c:f>
              <c:multiLvlStrCache>
                <c:ptCount val="12"/>
                <c:lvl>
                  <c:pt idx="0">
                    <c:v>Jul-11</c:v>
                  </c:pt>
                  <c:pt idx="1">
                    <c:v>Aug-11</c:v>
                  </c:pt>
                  <c:pt idx="2">
                    <c:v>Sep-11</c:v>
                  </c:pt>
                  <c:pt idx="3">
                    <c:v>Oct-11</c:v>
                  </c:pt>
                  <c:pt idx="4">
                    <c:v>Nov-11</c:v>
                  </c:pt>
                  <c:pt idx="5">
                    <c:v>Dec-11</c:v>
                  </c:pt>
                  <c:pt idx="6">
                    <c:v>Jan-12</c:v>
                  </c:pt>
                  <c:pt idx="7">
                    <c:v>Feb-12</c:v>
                  </c:pt>
                  <c:pt idx="8">
                    <c:v>Mar-12</c:v>
                  </c:pt>
                  <c:pt idx="9">
                    <c:v>Apr-12</c:v>
                  </c:pt>
                  <c:pt idx="10">
                    <c:v>May-12</c:v>
                  </c:pt>
                  <c:pt idx="11">
                    <c:v>Jun-12</c:v>
                  </c:pt>
                </c:lvl>
                <c:lvl>
                  <c:pt idx="0">
                    <c:v>FY12</c:v>
                  </c:pt>
                </c:lvl>
              </c:multiLvlStrCache>
            </c:multiLvlStrRef>
          </c:cat>
          <c:val>
            <c:numRef>
              <c:f>'Microsoft Monthly Cost'!$E$8:$P$8</c:f>
              <c:numCache>
                <c:formatCode>_-[$$-409]* #,##0_ ;_-[$$-409]* \-#,##0\ ;_-[$$-409]* "-"_ ;_-@_ </c:formatCode>
                <c:ptCount val="12"/>
                <c:pt idx="0">
                  <c:v>0</c:v>
                </c:pt>
                <c:pt idx="1">
                  <c:v>120048.06</c:v>
                </c:pt>
                <c:pt idx="2">
                  <c:v>1119670.05</c:v>
                </c:pt>
                <c:pt idx="3">
                  <c:v>1448256</c:v>
                </c:pt>
                <c:pt idx="4">
                  <c:v>1466835.72</c:v>
                </c:pt>
                <c:pt idx="5">
                  <c:v>916410.66999999899</c:v>
                </c:pt>
                <c:pt idx="6">
                  <c:v>0</c:v>
                </c:pt>
                <c:pt idx="7">
                  <c:v>0</c:v>
                </c:pt>
                <c:pt idx="8">
                  <c:v>0</c:v>
                </c:pt>
                <c:pt idx="9">
                  <c:v>0</c:v>
                </c:pt>
                <c:pt idx="10">
                  <c:v>0</c:v>
                </c:pt>
                <c:pt idx="11">
                  <c:v>0</c:v>
                </c:pt>
              </c:numCache>
            </c:numRef>
          </c:val>
        </c:ser>
        <c:marker val="1"/>
        <c:axId val="151834624"/>
        <c:axId val="151836160"/>
      </c:lineChart>
      <c:catAx>
        <c:axId val="151834624"/>
        <c:scaling>
          <c:orientation val="minMax"/>
        </c:scaling>
        <c:axPos val="b"/>
        <c:numFmt formatCode="[$-409]mmm\-yy;@" sourceLinked="1"/>
        <c:tickLblPos val="nextTo"/>
        <c:crossAx val="151836160"/>
        <c:crosses val="autoZero"/>
        <c:auto val="1"/>
        <c:lblAlgn val="ctr"/>
        <c:lblOffset val="100"/>
      </c:catAx>
      <c:valAx>
        <c:axId val="151836160"/>
        <c:scaling>
          <c:orientation val="minMax"/>
          <c:min val="0"/>
        </c:scaling>
        <c:axPos val="l"/>
        <c:majorGridlines/>
        <c:numFmt formatCode="_-[$$-409]* #,##0_ ;_-[$$-409]* \-#,##0\ ;_-[$$-409]* &quot;-&quot;_ ;_-@_ " sourceLinked="1"/>
        <c:tickLblPos val="nextTo"/>
        <c:crossAx val="151834624"/>
        <c:crosses val="autoZero"/>
        <c:crossBetween val="between"/>
      </c:valAx>
    </c:plotArea>
    <c:legend>
      <c:legendPos val="r"/>
      <c:layout/>
    </c:legend>
    <c:plotVisOnly val="1"/>
  </c:chart>
  <c:externalData r:id="rId1"/>
</c:chartSpace>
</file>

<file path=ppt/charts/chart9.xml><?xml version="1.0" encoding="utf-8"?>
<c:chartSpace xmlns:c="http://schemas.openxmlformats.org/drawingml/2006/chart" xmlns:a="http://schemas.openxmlformats.org/drawingml/2006/main" xmlns:r="http://schemas.openxmlformats.org/officeDocument/2006/relationships">
  <c:lang val="en-GB"/>
  <c:chart>
    <c:title>
      <c:tx>
        <c:rich>
          <a:bodyPr/>
          <a:lstStyle/>
          <a:p>
            <a:pPr>
              <a:defRPr/>
            </a:pPr>
            <a:r>
              <a:rPr lang="fr-FR" sz="1400"/>
              <a:t>Forecast Expense</a:t>
            </a:r>
            <a:r>
              <a:rPr lang="fr-FR" sz="1400" baseline="0"/>
              <a:t> spend vs Invoiced Expense spend (Monthly)</a:t>
            </a:r>
            <a:endParaRPr lang="fr-FR" sz="1400"/>
          </a:p>
        </c:rich>
      </c:tx>
      <c:layout/>
    </c:title>
    <c:plotArea>
      <c:layout/>
      <c:lineChart>
        <c:grouping val="standard"/>
        <c:ser>
          <c:idx val="0"/>
          <c:order val="0"/>
          <c:tx>
            <c:v>Forecast (Expense)</c:v>
          </c:tx>
          <c:marker>
            <c:symbol val="none"/>
          </c:marker>
          <c:cat>
            <c:multiLvlStrRef>
              <c:f>'Microsoft Monthly Cost'!$E$2:$P$3</c:f>
              <c:multiLvlStrCache>
                <c:ptCount val="12"/>
                <c:lvl>
                  <c:pt idx="0">
                    <c:v>Jul-11</c:v>
                  </c:pt>
                  <c:pt idx="1">
                    <c:v>Aug-11</c:v>
                  </c:pt>
                  <c:pt idx="2">
                    <c:v>Sep-11</c:v>
                  </c:pt>
                  <c:pt idx="3">
                    <c:v>Oct-11</c:v>
                  </c:pt>
                  <c:pt idx="4">
                    <c:v>Nov-11</c:v>
                  </c:pt>
                  <c:pt idx="5">
                    <c:v>Dec-11</c:v>
                  </c:pt>
                  <c:pt idx="6">
                    <c:v>Jan-12</c:v>
                  </c:pt>
                  <c:pt idx="7">
                    <c:v>Feb-12</c:v>
                  </c:pt>
                  <c:pt idx="8">
                    <c:v>Mar-12</c:v>
                  </c:pt>
                  <c:pt idx="9">
                    <c:v>Apr-12</c:v>
                  </c:pt>
                  <c:pt idx="10">
                    <c:v>May-12</c:v>
                  </c:pt>
                  <c:pt idx="11">
                    <c:v>Jun-12</c:v>
                  </c:pt>
                </c:lvl>
                <c:lvl>
                  <c:pt idx="0">
                    <c:v>FY12</c:v>
                  </c:pt>
                </c:lvl>
              </c:multiLvlStrCache>
            </c:multiLvlStrRef>
          </c:cat>
          <c:val>
            <c:numRef>
              <c:f>'Microsoft Monthly Cost'!$E$6:$P$6</c:f>
              <c:numCache>
                <c:formatCode>_-[$$-409]* #,##0_ ;_-[$$-409]* \-#,##0\ ;_-[$$-409]* "-"_ ;_-@_ </c:formatCode>
                <c:ptCount val="12"/>
                <c:pt idx="0">
                  <c:v>109170</c:v>
                </c:pt>
                <c:pt idx="1">
                  <c:v>121721.92349999999</c:v>
                </c:pt>
                <c:pt idx="2">
                  <c:v>259987.89299999998</c:v>
                </c:pt>
                <c:pt idx="3">
                  <c:v>145587.6495</c:v>
                </c:pt>
                <c:pt idx="4">
                  <c:v>173114.95799999998</c:v>
                </c:pt>
                <c:pt idx="5">
                  <c:v>34170</c:v>
                </c:pt>
                <c:pt idx="6">
                  <c:v>4170</c:v>
                </c:pt>
                <c:pt idx="7">
                  <c:v>201737.19449999911</c:v>
                </c:pt>
                <c:pt idx="8">
                  <c:v>89700.350999999995</c:v>
                </c:pt>
                <c:pt idx="9">
                  <c:v>150422.95649999878</c:v>
                </c:pt>
                <c:pt idx="10">
                  <c:v>30198</c:v>
                </c:pt>
                <c:pt idx="11">
                  <c:v>24030</c:v>
                </c:pt>
              </c:numCache>
            </c:numRef>
          </c:val>
        </c:ser>
        <c:ser>
          <c:idx val="1"/>
          <c:order val="1"/>
          <c:tx>
            <c:v>Invoiced (Expense)</c:v>
          </c:tx>
          <c:marker>
            <c:symbol val="none"/>
          </c:marker>
          <c:cat>
            <c:multiLvlStrRef>
              <c:f>'Microsoft Monthly Cost'!$E$2:$P$3</c:f>
              <c:multiLvlStrCache>
                <c:ptCount val="12"/>
                <c:lvl>
                  <c:pt idx="0">
                    <c:v>Jul-11</c:v>
                  </c:pt>
                  <c:pt idx="1">
                    <c:v>Aug-11</c:v>
                  </c:pt>
                  <c:pt idx="2">
                    <c:v>Sep-11</c:v>
                  </c:pt>
                  <c:pt idx="3">
                    <c:v>Oct-11</c:v>
                  </c:pt>
                  <c:pt idx="4">
                    <c:v>Nov-11</c:v>
                  </c:pt>
                  <c:pt idx="5">
                    <c:v>Dec-11</c:v>
                  </c:pt>
                  <c:pt idx="6">
                    <c:v>Jan-12</c:v>
                  </c:pt>
                  <c:pt idx="7">
                    <c:v>Feb-12</c:v>
                  </c:pt>
                  <c:pt idx="8">
                    <c:v>Mar-12</c:v>
                  </c:pt>
                  <c:pt idx="9">
                    <c:v>Apr-12</c:v>
                  </c:pt>
                  <c:pt idx="10">
                    <c:v>May-12</c:v>
                  </c:pt>
                  <c:pt idx="11">
                    <c:v>Jun-12</c:v>
                  </c:pt>
                </c:lvl>
                <c:lvl>
                  <c:pt idx="0">
                    <c:v>FY12</c:v>
                  </c:pt>
                </c:lvl>
              </c:multiLvlStrCache>
            </c:multiLvlStrRef>
          </c:cat>
          <c:val>
            <c:numRef>
              <c:f>'Microsoft Monthly Cost'!$E$9:$P$9</c:f>
              <c:numCache>
                <c:formatCode>_-[$$-409]* #,##0_ ;_-[$$-409]* \-#,##0\ ;_-[$$-409]* "-"_ ;_-@_ </c:formatCode>
                <c:ptCount val="12"/>
                <c:pt idx="0">
                  <c:v>0</c:v>
                </c:pt>
                <c:pt idx="1">
                  <c:v>0</c:v>
                </c:pt>
                <c:pt idx="2">
                  <c:v>0</c:v>
                </c:pt>
                <c:pt idx="3">
                  <c:v>0</c:v>
                </c:pt>
                <c:pt idx="4">
                  <c:v>0</c:v>
                </c:pt>
                <c:pt idx="5">
                  <c:v>289763.64999999985</c:v>
                </c:pt>
                <c:pt idx="6">
                  <c:v>0</c:v>
                </c:pt>
                <c:pt idx="7">
                  <c:v>0</c:v>
                </c:pt>
                <c:pt idx="8">
                  <c:v>0</c:v>
                </c:pt>
                <c:pt idx="9">
                  <c:v>0</c:v>
                </c:pt>
                <c:pt idx="10">
                  <c:v>0</c:v>
                </c:pt>
                <c:pt idx="11">
                  <c:v>0</c:v>
                </c:pt>
              </c:numCache>
            </c:numRef>
          </c:val>
        </c:ser>
        <c:marker val="1"/>
        <c:axId val="151869312"/>
        <c:axId val="151870848"/>
      </c:lineChart>
      <c:catAx>
        <c:axId val="151869312"/>
        <c:scaling>
          <c:orientation val="minMax"/>
        </c:scaling>
        <c:axPos val="b"/>
        <c:numFmt formatCode="[$-409]mmm\-yy;@" sourceLinked="1"/>
        <c:tickLblPos val="nextTo"/>
        <c:crossAx val="151870848"/>
        <c:crosses val="autoZero"/>
        <c:auto val="1"/>
        <c:lblAlgn val="ctr"/>
        <c:lblOffset val="100"/>
      </c:catAx>
      <c:valAx>
        <c:axId val="151870848"/>
        <c:scaling>
          <c:orientation val="minMax"/>
          <c:min val="0"/>
        </c:scaling>
        <c:axPos val="l"/>
        <c:majorGridlines/>
        <c:numFmt formatCode="_-[$$-409]* #,##0_ ;_-[$$-409]* \-#,##0\ ;_-[$$-409]* &quot;-&quot;_ ;_-@_ " sourceLinked="1"/>
        <c:tickLblPos val="nextTo"/>
        <c:crossAx val="151869312"/>
        <c:crosses val="autoZero"/>
        <c:crossBetween val="between"/>
      </c:valAx>
    </c:plotArea>
    <c:legend>
      <c:legendPos val="r"/>
      <c:layout/>
    </c:legend>
    <c:plotVisOnly val="1"/>
  </c:chart>
  <c:externalData r:id="rId1"/>
</c:chartSpace>
</file>

<file path=ppt/charts/chart10.xml><?xml version="1.0" encoding="utf-8"?>
<c:chartSpace xmlns:c="http://schemas.openxmlformats.org/drawingml/2006/chart" xmlns:a="http://schemas.openxmlformats.org/drawingml/2006/main" xmlns:r="http://schemas.openxmlformats.org/officeDocument/2006/relationships">
  <c:date1904 val="1"/>
  <c:lang val="en-GB"/>
  <c:chart>
    <c:title>
      <c:tx>
        <c:rich>
          <a:bodyPr/>
          <a:lstStyle/>
          <a:p>
            <a:pPr>
              <a:defRPr/>
            </a:pPr>
            <a:r>
              <a:rPr lang="fr-FR" sz="1400"/>
              <a:t>Forecast</a:t>
            </a:r>
            <a:r>
              <a:rPr lang="fr-FR" sz="1400" baseline="0"/>
              <a:t> SOW</a:t>
            </a:r>
            <a:r>
              <a:rPr lang="fr-FR" sz="1400"/>
              <a:t> spend vs Invoiced SOW</a:t>
            </a:r>
            <a:r>
              <a:rPr lang="fr-FR" sz="1400" baseline="0"/>
              <a:t> spend (Cumulative)</a:t>
            </a:r>
            <a:endParaRPr lang="fr-FR" sz="1400"/>
          </a:p>
        </c:rich>
      </c:tx>
      <c:layout/>
    </c:title>
    <c:plotArea>
      <c:layout/>
      <c:lineChart>
        <c:grouping val="standard"/>
        <c:ser>
          <c:idx val="0"/>
          <c:order val="0"/>
          <c:tx>
            <c:v>Forecast (SOW)</c:v>
          </c:tx>
          <c:marker>
            <c:symbol val="none"/>
          </c:marker>
          <c:cat>
            <c:multiLvlStrRef>
              <c:f>'Microsoft Monthly Cost'!$E$2:$P$3</c:f>
              <c:multiLvlStrCache>
                <c:ptCount val="12"/>
                <c:lvl>
                  <c:pt idx="0">
                    <c:v>Jul-11</c:v>
                  </c:pt>
                  <c:pt idx="1">
                    <c:v>Aug-11</c:v>
                  </c:pt>
                  <c:pt idx="2">
                    <c:v>Sep-11</c:v>
                  </c:pt>
                  <c:pt idx="3">
                    <c:v>Oct-11</c:v>
                  </c:pt>
                  <c:pt idx="4">
                    <c:v>Nov-11</c:v>
                  </c:pt>
                  <c:pt idx="5">
                    <c:v>Dec-11</c:v>
                  </c:pt>
                  <c:pt idx="6">
                    <c:v>Jan-12</c:v>
                  </c:pt>
                  <c:pt idx="7">
                    <c:v>Feb-12</c:v>
                  </c:pt>
                  <c:pt idx="8">
                    <c:v>Mar-12</c:v>
                  </c:pt>
                  <c:pt idx="9">
                    <c:v>Apr-12</c:v>
                  </c:pt>
                  <c:pt idx="10">
                    <c:v>May-12</c:v>
                  </c:pt>
                  <c:pt idx="11">
                    <c:v>Jun-12</c:v>
                  </c:pt>
                </c:lvl>
                <c:lvl>
                  <c:pt idx="0">
                    <c:v>FY12</c:v>
                  </c:pt>
                </c:lvl>
              </c:multiLvlStrCache>
            </c:multiLvlStrRef>
          </c:cat>
          <c:val>
            <c:numRef>
              <c:f>'Microsoft Cumulative Cost'!$E$5:$P$5</c:f>
              <c:numCache>
                <c:formatCode>_-[$$-409]* #,##0_ ;_-[$$-409]* \-#,##0\ ;_-[$$-409]* "-"_ ;_-@_ </c:formatCode>
                <c:ptCount val="12"/>
                <c:pt idx="0">
                  <c:v>727800</c:v>
                </c:pt>
                <c:pt idx="1">
                  <c:v>1539279.49</c:v>
                </c:pt>
                <c:pt idx="2">
                  <c:v>3272532.1100000003</c:v>
                </c:pt>
                <c:pt idx="3">
                  <c:v>4243116.4400000004</c:v>
                </c:pt>
                <c:pt idx="4">
                  <c:v>5397216.1599999992</c:v>
                </c:pt>
                <c:pt idx="5">
                  <c:v>5625016.1599999992</c:v>
                </c:pt>
                <c:pt idx="6">
                  <c:v>5652816.1599999992</c:v>
                </c:pt>
                <c:pt idx="7">
                  <c:v>6997730.79</c:v>
                </c:pt>
                <c:pt idx="8">
                  <c:v>7595733.1299999999</c:v>
                </c:pt>
                <c:pt idx="9">
                  <c:v>8598552.8399999831</c:v>
                </c:pt>
                <c:pt idx="10">
                  <c:v>8799872.8399999831</c:v>
                </c:pt>
                <c:pt idx="11">
                  <c:v>8960072.8399999831</c:v>
                </c:pt>
              </c:numCache>
            </c:numRef>
          </c:val>
        </c:ser>
        <c:ser>
          <c:idx val="1"/>
          <c:order val="1"/>
          <c:tx>
            <c:v>Invoice (SOW)</c:v>
          </c:tx>
          <c:marker>
            <c:symbol val="none"/>
          </c:marker>
          <c:cat>
            <c:multiLvlStrRef>
              <c:f>'Microsoft Monthly Cost'!$E$2:$P$3</c:f>
              <c:multiLvlStrCache>
                <c:ptCount val="12"/>
                <c:lvl>
                  <c:pt idx="0">
                    <c:v>Jul-11</c:v>
                  </c:pt>
                  <c:pt idx="1">
                    <c:v>Aug-11</c:v>
                  </c:pt>
                  <c:pt idx="2">
                    <c:v>Sep-11</c:v>
                  </c:pt>
                  <c:pt idx="3">
                    <c:v>Oct-11</c:v>
                  </c:pt>
                  <c:pt idx="4">
                    <c:v>Nov-11</c:v>
                  </c:pt>
                  <c:pt idx="5">
                    <c:v>Dec-11</c:v>
                  </c:pt>
                  <c:pt idx="6">
                    <c:v>Jan-12</c:v>
                  </c:pt>
                  <c:pt idx="7">
                    <c:v>Feb-12</c:v>
                  </c:pt>
                  <c:pt idx="8">
                    <c:v>Mar-12</c:v>
                  </c:pt>
                  <c:pt idx="9">
                    <c:v>Apr-12</c:v>
                  </c:pt>
                  <c:pt idx="10">
                    <c:v>May-12</c:v>
                  </c:pt>
                  <c:pt idx="11">
                    <c:v>Jun-12</c:v>
                  </c:pt>
                </c:lvl>
                <c:lvl>
                  <c:pt idx="0">
                    <c:v>FY12</c:v>
                  </c:pt>
                </c:lvl>
              </c:multiLvlStrCache>
            </c:multiLvlStrRef>
          </c:cat>
          <c:val>
            <c:numRef>
              <c:f>'Microsoft Cumulative Cost'!$E$8:$P$8</c:f>
              <c:numCache>
                <c:formatCode>_-[$$-409]* #,##0_ ;_-[$$-409]* \-#,##0\ ;_-[$$-409]* "-"_ ;_-@_ </c:formatCode>
                <c:ptCount val="12"/>
                <c:pt idx="0">
                  <c:v>0</c:v>
                </c:pt>
                <c:pt idx="1">
                  <c:v>120048.06</c:v>
                </c:pt>
                <c:pt idx="2">
                  <c:v>1239718.1100000001</c:v>
                </c:pt>
                <c:pt idx="3">
                  <c:v>2687974.1100000003</c:v>
                </c:pt>
                <c:pt idx="4">
                  <c:v>4154809.8299999987</c:v>
                </c:pt>
                <c:pt idx="5">
                  <c:v>5071220.5</c:v>
                </c:pt>
                <c:pt idx="6">
                  <c:v>5071220.5</c:v>
                </c:pt>
                <c:pt idx="7">
                  <c:v>5071220.5</c:v>
                </c:pt>
                <c:pt idx="8">
                  <c:v>5071220.5</c:v>
                </c:pt>
                <c:pt idx="9">
                  <c:v>5071220.5</c:v>
                </c:pt>
                <c:pt idx="10">
                  <c:v>5071220.5</c:v>
                </c:pt>
                <c:pt idx="11">
                  <c:v>5071220.5</c:v>
                </c:pt>
              </c:numCache>
            </c:numRef>
          </c:val>
        </c:ser>
        <c:marker val="1"/>
        <c:axId val="151932928"/>
        <c:axId val="151934464"/>
      </c:lineChart>
      <c:catAx>
        <c:axId val="151932928"/>
        <c:scaling>
          <c:orientation val="minMax"/>
        </c:scaling>
        <c:axPos val="b"/>
        <c:numFmt formatCode="[$-409]mmm\-yy;@" sourceLinked="1"/>
        <c:tickLblPos val="nextTo"/>
        <c:crossAx val="151934464"/>
        <c:crosses val="autoZero"/>
        <c:auto val="1"/>
        <c:lblAlgn val="ctr"/>
        <c:lblOffset val="100"/>
      </c:catAx>
      <c:valAx>
        <c:axId val="151934464"/>
        <c:scaling>
          <c:orientation val="minMax"/>
        </c:scaling>
        <c:axPos val="l"/>
        <c:majorGridlines/>
        <c:numFmt formatCode="_-[$$-409]* #,##0_ ;_-[$$-409]* \-#,##0\ ;_-[$$-409]* &quot;-&quot;_ ;_-@_ " sourceLinked="1"/>
        <c:tickLblPos val="nextTo"/>
        <c:crossAx val="151932928"/>
        <c:crosses val="autoZero"/>
        <c:crossBetween val="between"/>
      </c:valAx>
    </c:plotArea>
    <c:legend>
      <c:legendPos val="r"/>
      <c:layout/>
    </c:legend>
    <c:plotVisOnly val="1"/>
  </c:chart>
  <c:externalData r:id="rId1"/>
</c:chartSpace>
</file>

<file path=ppt/charts/chart11.xml><?xml version="1.0" encoding="utf-8"?>
<c:chartSpace xmlns:c="http://schemas.openxmlformats.org/drawingml/2006/chart" xmlns:a="http://schemas.openxmlformats.org/drawingml/2006/main" xmlns:r="http://schemas.openxmlformats.org/officeDocument/2006/relationships">
  <c:date1904 val="1"/>
  <c:lang val="en-GB"/>
  <c:chart>
    <c:title>
      <c:tx>
        <c:rich>
          <a:bodyPr/>
          <a:lstStyle/>
          <a:p>
            <a:pPr>
              <a:defRPr/>
            </a:pPr>
            <a:r>
              <a:rPr lang="fr-FR" sz="1400"/>
              <a:t>Forecast</a:t>
            </a:r>
            <a:r>
              <a:rPr lang="fr-FR" sz="1400" baseline="0"/>
              <a:t> Expense</a:t>
            </a:r>
            <a:r>
              <a:rPr lang="fr-FR" sz="1400"/>
              <a:t> spend vs Invoiced Expense</a:t>
            </a:r>
            <a:r>
              <a:rPr lang="fr-FR" sz="1400" baseline="0"/>
              <a:t> spend (Cumulative)</a:t>
            </a:r>
            <a:endParaRPr lang="fr-FR" sz="1400"/>
          </a:p>
        </c:rich>
      </c:tx>
      <c:layout/>
    </c:title>
    <c:plotArea>
      <c:layout/>
      <c:lineChart>
        <c:grouping val="standard"/>
        <c:ser>
          <c:idx val="0"/>
          <c:order val="0"/>
          <c:tx>
            <c:v>Forecast (Expense)</c:v>
          </c:tx>
          <c:marker>
            <c:symbol val="none"/>
          </c:marker>
          <c:cat>
            <c:multiLvlStrRef>
              <c:f>'Microsoft Monthly Cost'!$E$2:$P$3</c:f>
              <c:multiLvlStrCache>
                <c:ptCount val="12"/>
                <c:lvl>
                  <c:pt idx="0">
                    <c:v>Jul-11</c:v>
                  </c:pt>
                  <c:pt idx="1">
                    <c:v>Aug-11</c:v>
                  </c:pt>
                  <c:pt idx="2">
                    <c:v>Sep-11</c:v>
                  </c:pt>
                  <c:pt idx="3">
                    <c:v>Oct-11</c:v>
                  </c:pt>
                  <c:pt idx="4">
                    <c:v>Nov-11</c:v>
                  </c:pt>
                  <c:pt idx="5">
                    <c:v>Dec-11</c:v>
                  </c:pt>
                  <c:pt idx="6">
                    <c:v>Jan-12</c:v>
                  </c:pt>
                  <c:pt idx="7">
                    <c:v>Feb-12</c:v>
                  </c:pt>
                  <c:pt idx="8">
                    <c:v>Mar-12</c:v>
                  </c:pt>
                  <c:pt idx="9">
                    <c:v>Apr-12</c:v>
                  </c:pt>
                  <c:pt idx="10">
                    <c:v>May-12</c:v>
                  </c:pt>
                  <c:pt idx="11">
                    <c:v>Jun-12</c:v>
                  </c:pt>
                </c:lvl>
                <c:lvl>
                  <c:pt idx="0">
                    <c:v>FY12</c:v>
                  </c:pt>
                </c:lvl>
              </c:multiLvlStrCache>
            </c:multiLvlStrRef>
          </c:cat>
          <c:val>
            <c:numRef>
              <c:f>'Microsoft Cumulative Cost'!$E$6:$P$6</c:f>
              <c:numCache>
                <c:formatCode>_-[$$-409]* #,##0_ ;_-[$$-409]* \-#,##0\ ;_-[$$-409]* "-"_ ;_-@_ </c:formatCode>
                <c:ptCount val="12"/>
                <c:pt idx="0">
                  <c:v>109170</c:v>
                </c:pt>
                <c:pt idx="1">
                  <c:v>230891.92349999893</c:v>
                </c:pt>
                <c:pt idx="2">
                  <c:v>490879.81649999996</c:v>
                </c:pt>
                <c:pt idx="3">
                  <c:v>636467.46600000374</c:v>
                </c:pt>
                <c:pt idx="4">
                  <c:v>809582.424</c:v>
                </c:pt>
                <c:pt idx="5">
                  <c:v>843752.424</c:v>
                </c:pt>
                <c:pt idx="6">
                  <c:v>847922.424</c:v>
                </c:pt>
                <c:pt idx="7">
                  <c:v>1049659.6185000001</c:v>
                </c:pt>
                <c:pt idx="8">
                  <c:v>1139359.9695000001</c:v>
                </c:pt>
                <c:pt idx="9">
                  <c:v>1289782.926</c:v>
                </c:pt>
                <c:pt idx="10">
                  <c:v>1319980.926</c:v>
                </c:pt>
                <c:pt idx="11">
                  <c:v>1344010.926</c:v>
                </c:pt>
              </c:numCache>
            </c:numRef>
          </c:val>
        </c:ser>
        <c:ser>
          <c:idx val="1"/>
          <c:order val="1"/>
          <c:tx>
            <c:v>Invoice (Expense)</c:v>
          </c:tx>
          <c:marker>
            <c:symbol val="none"/>
          </c:marker>
          <c:cat>
            <c:multiLvlStrRef>
              <c:f>'Microsoft Monthly Cost'!$E$2:$P$3</c:f>
              <c:multiLvlStrCache>
                <c:ptCount val="12"/>
                <c:lvl>
                  <c:pt idx="0">
                    <c:v>Jul-11</c:v>
                  </c:pt>
                  <c:pt idx="1">
                    <c:v>Aug-11</c:v>
                  </c:pt>
                  <c:pt idx="2">
                    <c:v>Sep-11</c:v>
                  </c:pt>
                  <c:pt idx="3">
                    <c:v>Oct-11</c:v>
                  </c:pt>
                  <c:pt idx="4">
                    <c:v>Nov-11</c:v>
                  </c:pt>
                  <c:pt idx="5">
                    <c:v>Dec-11</c:v>
                  </c:pt>
                  <c:pt idx="6">
                    <c:v>Jan-12</c:v>
                  </c:pt>
                  <c:pt idx="7">
                    <c:v>Feb-12</c:v>
                  </c:pt>
                  <c:pt idx="8">
                    <c:v>Mar-12</c:v>
                  </c:pt>
                  <c:pt idx="9">
                    <c:v>Apr-12</c:v>
                  </c:pt>
                  <c:pt idx="10">
                    <c:v>May-12</c:v>
                  </c:pt>
                  <c:pt idx="11">
                    <c:v>Jun-12</c:v>
                  </c:pt>
                </c:lvl>
                <c:lvl>
                  <c:pt idx="0">
                    <c:v>FY12</c:v>
                  </c:pt>
                </c:lvl>
              </c:multiLvlStrCache>
            </c:multiLvlStrRef>
          </c:cat>
          <c:val>
            <c:numRef>
              <c:f>'Microsoft Cumulative Cost'!$E$9:$P$9</c:f>
              <c:numCache>
                <c:formatCode>_-[$$-409]* #,##0_ ;_-[$$-409]* \-#,##0\ ;_-[$$-409]* "-"_ ;_-@_ </c:formatCode>
                <c:ptCount val="12"/>
                <c:pt idx="0">
                  <c:v>0</c:v>
                </c:pt>
                <c:pt idx="1">
                  <c:v>0</c:v>
                </c:pt>
                <c:pt idx="2">
                  <c:v>0</c:v>
                </c:pt>
                <c:pt idx="3">
                  <c:v>0</c:v>
                </c:pt>
                <c:pt idx="4">
                  <c:v>0</c:v>
                </c:pt>
                <c:pt idx="5">
                  <c:v>289763.64999999985</c:v>
                </c:pt>
                <c:pt idx="6">
                  <c:v>289763.64999999985</c:v>
                </c:pt>
                <c:pt idx="7">
                  <c:v>289763.64999999985</c:v>
                </c:pt>
                <c:pt idx="8">
                  <c:v>289763.64999999985</c:v>
                </c:pt>
                <c:pt idx="9">
                  <c:v>289763.64999999985</c:v>
                </c:pt>
                <c:pt idx="10">
                  <c:v>289763.64999999985</c:v>
                </c:pt>
                <c:pt idx="11">
                  <c:v>289763.64999999985</c:v>
                </c:pt>
              </c:numCache>
            </c:numRef>
          </c:val>
        </c:ser>
        <c:marker val="1"/>
        <c:axId val="151951232"/>
        <c:axId val="151952768"/>
      </c:lineChart>
      <c:catAx>
        <c:axId val="151951232"/>
        <c:scaling>
          <c:orientation val="minMax"/>
        </c:scaling>
        <c:axPos val="b"/>
        <c:numFmt formatCode="[$-409]mmm\-yy;@" sourceLinked="1"/>
        <c:tickLblPos val="nextTo"/>
        <c:crossAx val="151952768"/>
        <c:crosses val="autoZero"/>
        <c:auto val="1"/>
        <c:lblAlgn val="ctr"/>
        <c:lblOffset val="100"/>
      </c:catAx>
      <c:valAx>
        <c:axId val="151952768"/>
        <c:scaling>
          <c:orientation val="minMax"/>
        </c:scaling>
        <c:axPos val="l"/>
        <c:majorGridlines/>
        <c:numFmt formatCode="_-[$$-409]* #,##0_ ;_-[$$-409]* \-#,##0\ ;_-[$$-409]* &quot;-&quot;_ ;_-@_ " sourceLinked="1"/>
        <c:tickLblPos val="nextTo"/>
        <c:crossAx val="151951232"/>
        <c:crosses val="autoZero"/>
        <c:crossBetween val="between"/>
      </c:valAx>
    </c:plotArea>
    <c:legend>
      <c:legendPos val="r"/>
      <c:layout/>
    </c:legend>
    <c:plotVisOnly val="1"/>
  </c:chart>
  <c:externalData r:id="rId1"/>
</c:chartSpace>
</file>

<file path=ppt/drawings/drawing1.xml><?xml version="1.0" encoding="utf-8"?>
<c:userShapes xmlns:c="http://schemas.openxmlformats.org/drawingml/2006/chart">
  <cdr:relSizeAnchor xmlns:cdr="http://schemas.openxmlformats.org/drawingml/2006/chartDrawing">
    <cdr:from>
      <cdr:x>0.75</cdr:x>
      <cdr:y>0.44444</cdr:y>
    </cdr:from>
    <cdr:to>
      <cdr:x>0.93333</cdr:x>
      <cdr:y>0.52778</cdr:y>
    </cdr:to>
    <cdr:sp macro="" textlink="">
      <cdr:nvSpPr>
        <cdr:cNvPr id="2" name="TextBox 1"/>
        <cdr:cNvSpPr txBox="1"/>
      </cdr:nvSpPr>
      <cdr:spPr>
        <a:xfrm xmlns:a="http://schemas.openxmlformats.org/drawingml/2006/main">
          <a:off x="3429000" y="1219200"/>
          <a:ext cx="838200" cy="228600"/>
        </a:xfrm>
        <a:prstGeom xmlns:a="http://schemas.openxmlformats.org/drawingml/2006/main" prst="rect">
          <a:avLst/>
        </a:prstGeom>
        <a:solidFill xmlns:a="http://schemas.openxmlformats.org/drawingml/2006/main">
          <a:schemeClr val="bg1"/>
        </a:solidFill>
      </cdr:spPr>
      <cdr:txBody>
        <a:bodyPr xmlns:a="http://schemas.openxmlformats.org/drawingml/2006/main" vertOverflow="clip" wrap="none" rtlCol="0"/>
        <a:lstStyle xmlns:a="http://schemas.openxmlformats.org/drawingml/2006/main"/>
        <a:p xmlns:a="http://schemas.openxmlformats.org/drawingml/2006/main">
          <a:r>
            <a:rPr lang="en-GB" sz="900" dirty="0" smtClean="0">
              <a:solidFill>
                <a:schemeClr val="bg2">
                  <a:lumMod val="75000"/>
                </a:schemeClr>
              </a:solidFill>
              <a:latin typeface="+mj-lt"/>
            </a:rPr>
            <a:t>Resources Booked (RB)</a:t>
          </a:r>
        </a:p>
        <a:p xmlns:a="http://schemas.openxmlformats.org/drawingml/2006/main">
          <a:endParaRPr lang="en-GB" sz="900" dirty="0">
            <a:solidFill>
              <a:schemeClr val="bg2">
                <a:lumMod val="75000"/>
              </a:schemeClr>
            </a:solidFill>
            <a:latin typeface="+mj-lt"/>
          </a:endParaRPr>
        </a:p>
      </cdr:txBody>
    </cdr:sp>
  </cdr:relSizeAnchor>
</c:userShapes>
</file>

<file path=ppt/handoutMasters/_rels/handoutMaster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8" name="Rectangle 6"/>
          <p:cNvSpPr>
            <a:spLocks noChangeArrowheads="1"/>
          </p:cNvSpPr>
          <p:nvPr/>
        </p:nvSpPr>
        <p:spPr bwMode="auto">
          <a:xfrm>
            <a:off x="152402" y="9637715"/>
            <a:ext cx="1235075" cy="153987"/>
          </a:xfrm>
          <a:prstGeom prst="rect">
            <a:avLst/>
          </a:prstGeom>
          <a:noFill/>
          <a:ln w="9525">
            <a:noFill/>
            <a:miter lim="800000"/>
            <a:headEnd/>
            <a:tailEnd/>
          </a:ln>
          <a:effectLst/>
        </p:spPr>
        <p:txBody>
          <a:bodyPr lIns="0" tIns="0" rIns="0" bIns="0"/>
          <a:lstStyle/>
          <a:p>
            <a:pPr algn="l" defTabSz="931619">
              <a:defRPr/>
            </a:pPr>
            <a:fld id="{5BBE6DE4-E82D-4F90-96E4-E232F78FBEAF}" type="datetime1">
              <a:rPr lang="en-US" sz="1200">
                <a:cs typeface="Arial" charset="0"/>
              </a:rPr>
              <a:pPr algn="l" defTabSz="931619">
                <a:defRPr/>
              </a:pPr>
              <a:t>2/13/2012</a:t>
            </a:fld>
            <a:endParaRPr lang="en-US" sz="1200" dirty="0">
              <a:cs typeface="Arial" charset="0"/>
            </a:endParaRPr>
          </a:p>
        </p:txBody>
      </p:sp>
      <p:sp>
        <p:nvSpPr>
          <p:cNvPr id="69639" name="Rectangle 7"/>
          <p:cNvSpPr>
            <a:spLocks noChangeArrowheads="1"/>
          </p:cNvSpPr>
          <p:nvPr/>
        </p:nvSpPr>
        <p:spPr bwMode="auto">
          <a:xfrm>
            <a:off x="2381251" y="9637714"/>
            <a:ext cx="1971675"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Presentation title</a:t>
            </a:r>
          </a:p>
        </p:txBody>
      </p:sp>
      <p:sp>
        <p:nvSpPr>
          <p:cNvPr id="69640" name="Rectangle 8"/>
          <p:cNvSpPr>
            <a:spLocks noChangeArrowheads="1"/>
          </p:cNvSpPr>
          <p:nvPr/>
        </p:nvSpPr>
        <p:spPr bwMode="auto">
          <a:xfrm>
            <a:off x="1568451" y="9637714"/>
            <a:ext cx="636588"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Page </a:t>
            </a:r>
            <a:fld id="{2A07B3BF-2A67-4B01-AEB8-9C5108F06278}" type="slidenum">
              <a:rPr lang="en-US" sz="1200">
                <a:cs typeface="Arial" charset="0"/>
              </a:rPr>
              <a:pPr algn="l" defTabSz="931619">
                <a:defRPr/>
              </a:pPr>
              <a:t>‹#›</a:t>
            </a:fld>
            <a:endParaRPr lang="en-US" sz="1200" dirty="0">
              <a:cs typeface="Arial" charset="0"/>
            </a:endParaRPr>
          </a:p>
        </p:txBody>
      </p:sp>
      <p:pic>
        <p:nvPicPr>
          <p:cNvPr id="47109" name="Picture 9" descr="logo_tagblack"/>
          <p:cNvPicPr>
            <a:picLocks noChangeAspect="1" noChangeArrowheads="1"/>
          </p:cNvPicPr>
          <p:nvPr/>
        </p:nvPicPr>
        <p:blipFill>
          <a:blip r:embed="rId2" cstate="print"/>
          <a:srcRect/>
          <a:stretch>
            <a:fillRect/>
          </a:stretch>
        </p:blipFill>
        <p:spPr bwMode="auto">
          <a:xfrm>
            <a:off x="5240338" y="9445627"/>
            <a:ext cx="1423987" cy="3524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4"/>
          <p:cNvSpPr>
            <a:spLocks noGrp="1" noRot="1" noChangeAspect="1" noChangeArrowheads="1" noTextEdit="1"/>
          </p:cNvSpPr>
          <p:nvPr>
            <p:ph type="sldImg" idx="2"/>
          </p:nvPr>
        </p:nvSpPr>
        <p:spPr bwMode="auto">
          <a:xfrm>
            <a:off x="915988" y="744538"/>
            <a:ext cx="4965700" cy="3724275"/>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677863" y="4716465"/>
            <a:ext cx="5441950" cy="4467225"/>
          </a:xfrm>
          <a:prstGeom prst="rect">
            <a:avLst/>
          </a:prstGeom>
          <a:noFill/>
          <a:ln w="9525">
            <a:noFill/>
            <a:miter lim="800000"/>
            <a:headEnd/>
            <a:tailEnd/>
          </a:ln>
          <a:effectLst/>
        </p:spPr>
        <p:txBody>
          <a:bodyPr vert="horz" wrap="square" lIns="95975" tIns="47988" rIns="95975" bIns="4798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8200" name="Rectangle 8"/>
          <p:cNvSpPr>
            <a:spLocks noChangeArrowheads="1"/>
          </p:cNvSpPr>
          <p:nvPr/>
        </p:nvSpPr>
        <p:spPr bwMode="auto">
          <a:xfrm>
            <a:off x="152402" y="9637715"/>
            <a:ext cx="1235075" cy="153987"/>
          </a:xfrm>
          <a:prstGeom prst="rect">
            <a:avLst/>
          </a:prstGeom>
          <a:noFill/>
          <a:ln w="9525">
            <a:noFill/>
            <a:miter lim="800000"/>
            <a:headEnd/>
            <a:tailEnd/>
          </a:ln>
          <a:effectLst/>
        </p:spPr>
        <p:txBody>
          <a:bodyPr lIns="0" tIns="0" rIns="0" bIns="0"/>
          <a:lstStyle/>
          <a:p>
            <a:pPr algn="l" defTabSz="931619">
              <a:defRPr/>
            </a:pPr>
            <a:fld id="{89A86910-E513-4C4B-949B-84323FA223C3}" type="datetime1">
              <a:rPr lang="en-US" sz="1200">
                <a:cs typeface="Arial" charset="0"/>
              </a:rPr>
              <a:pPr algn="l" defTabSz="931619">
                <a:defRPr/>
              </a:pPr>
              <a:t>2/13/2012</a:t>
            </a:fld>
            <a:endParaRPr lang="en-US" sz="1200" dirty="0">
              <a:cs typeface="Arial" charset="0"/>
            </a:endParaRPr>
          </a:p>
        </p:txBody>
      </p:sp>
      <p:sp>
        <p:nvSpPr>
          <p:cNvPr id="8201" name="Rectangle 9"/>
          <p:cNvSpPr>
            <a:spLocks noChangeArrowheads="1"/>
          </p:cNvSpPr>
          <p:nvPr/>
        </p:nvSpPr>
        <p:spPr bwMode="auto">
          <a:xfrm>
            <a:off x="2381251" y="9637714"/>
            <a:ext cx="1971675"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Presentation title</a:t>
            </a:r>
          </a:p>
        </p:txBody>
      </p:sp>
      <p:sp>
        <p:nvSpPr>
          <p:cNvPr id="8202" name="Rectangle 10"/>
          <p:cNvSpPr>
            <a:spLocks noChangeArrowheads="1"/>
          </p:cNvSpPr>
          <p:nvPr/>
        </p:nvSpPr>
        <p:spPr bwMode="auto">
          <a:xfrm>
            <a:off x="1568451" y="9637714"/>
            <a:ext cx="636588"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Page </a:t>
            </a:r>
            <a:fld id="{90222F15-384C-4F8B-A461-087D94ECCB26}" type="slidenum">
              <a:rPr lang="en-US" sz="1200">
                <a:cs typeface="Arial" charset="0"/>
              </a:rPr>
              <a:pPr algn="l" defTabSz="931619">
                <a:defRPr/>
              </a:pPr>
              <a:t>‹#›</a:t>
            </a:fld>
            <a:endParaRPr lang="en-US" sz="1200" dirty="0">
              <a:cs typeface="Arial" charset="0"/>
            </a:endParaRPr>
          </a:p>
        </p:txBody>
      </p:sp>
      <p:pic>
        <p:nvPicPr>
          <p:cNvPr id="38919" name="Picture 11" descr="logo_tagblack"/>
          <p:cNvPicPr>
            <a:picLocks noChangeAspect="1" noChangeArrowheads="1"/>
          </p:cNvPicPr>
          <p:nvPr/>
        </p:nvPicPr>
        <p:blipFill>
          <a:blip r:embed="rId2"/>
          <a:srcRect/>
          <a:stretch>
            <a:fillRect/>
          </a:stretch>
        </p:blipFill>
        <p:spPr bwMode="auto">
          <a:xfrm>
            <a:off x="5240338" y="9445627"/>
            <a:ext cx="1423987" cy="3524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Clr>
        <a:srgbClr val="FFD200"/>
      </a:buClr>
      <a:buSzPct val="75000"/>
      <a:buFont typeface="Arial" charset="0"/>
      <a:defRPr sz="1200" kern="1200">
        <a:solidFill>
          <a:schemeClr val="tx1"/>
        </a:solidFill>
        <a:latin typeface="Arial" charset="0"/>
        <a:ea typeface="+mn-ea"/>
        <a:cs typeface="+mn-cs"/>
      </a:defRPr>
    </a:lvl1pPr>
    <a:lvl2pPr marL="1588" indent="17780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2pPr>
    <a:lvl3pPr marL="358775" indent="18415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3pPr>
    <a:lvl4pPr marL="722313" indent="173038"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4pPr>
    <a:lvl5pPr marL="1074738" indent="18256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p:cNvSpPr>
            <a:spLocks noGrp="1" noRot="1" noChangeAspect="1" noChangeArrowheads="1" noTextEdit="1"/>
          </p:cNvSpPr>
          <p:nvPr>
            <p:ph type="sldImg"/>
          </p:nvPr>
        </p:nvSpPr>
        <p:spPr>
          <a:ln/>
        </p:spPr>
      </p:sp>
      <p:sp>
        <p:nvSpPr>
          <p:cNvPr id="39939" name="Rectangle 7"/>
          <p:cNvSpPr>
            <a:spLocks noGrp="1" noChangeArrowheads="1"/>
          </p:cNvSpPr>
          <p:nvPr>
            <p:ph type="body" idx="1"/>
          </p:nvPr>
        </p:nvSpPr>
        <p:spPr>
          <a:noFill/>
          <a:ln/>
        </p:spPr>
        <p:txBody>
          <a:bodyPr/>
          <a:lstStyle/>
          <a:p>
            <a:pPr eaLnBrk="1" hangingPunct="1"/>
            <a:endParaRPr lang="de-DE"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GB" dirty="0" smtClean="0"/>
              <a:t>Cost</a:t>
            </a:r>
          </a:p>
          <a:p>
            <a:pPr defTabSz="881885">
              <a:defRPr/>
            </a:pPr>
            <a:r>
              <a:rPr lang="en-GB" dirty="0" smtClean="0"/>
              <a:t>GREEN - </a:t>
            </a:r>
            <a:r>
              <a:rPr lang="en-US" dirty="0" smtClean="0"/>
              <a:t>Estimate at Completion (EAC) = + 0 - 5% of approved spend (cost baseline + approved change requests)</a:t>
            </a:r>
            <a:endParaRPr lang="en-GB" dirty="0" smtClean="0"/>
          </a:p>
          <a:p>
            <a:pPr defTabSz="881885">
              <a:defRPr/>
            </a:pPr>
            <a:r>
              <a:rPr lang="en-GB" dirty="0" smtClean="0"/>
              <a:t>AMBER - </a:t>
            </a:r>
            <a:r>
              <a:rPr lang="en-US" dirty="0" smtClean="0"/>
              <a:t>Estimate at Completion (EAC) = + 6 - 10% of approved spend (cost baseline + approved changes) and/or pending spend</a:t>
            </a:r>
            <a:endParaRPr lang="en-GB" dirty="0" smtClean="0"/>
          </a:p>
          <a:p>
            <a:r>
              <a:rPr lang="en-GB" dirty="0" smtClean="0"/>
              <a:t>RED</a:t>
            </a:r>
            <a:r>
              <a:rPr lang="en-GB" baseline="0" dirty="0" smtClean="0"/>
              <a:t> – </a:t>
            </a:r>
            <a:r>
              <a:rPr lang="en-US" dirty="0" smtClean="0"/>
              <a:t>Estimate at Completion (EAC) exceeds + 10% or $100,000 of approved spend (cost baseline + approved changes) and/or pending spend or no project budget defined</a:t>
            </a:r>
            <a:endParaRPr lang="en-GB" baseline="0" dirty="0" smtClean="0"/>
          </a:p>
          <a:p>
            <a:endParaRPr lang="en-GB" baseline="0" dirty="0" smtClean="0"/>
          </a:p>
          <a:p>
            <a:r>
              <a:rPr lang="en-GB" dirty="0" smtClean="0"/>
              <a:t>Schedule</a:t>
            </a:r>
          </a:p>
          <a:p>
            <a:r>
              <a:rPr lang="en-GB" dirty="0" smtClean="0"/>
              <a:t>GREEN - </a:t>
            </a:r>
            <a:r>
              <a:rPr lang="en-US" dirty="0" smtClean="0"/>
              <a:t>The project schedule supports the end date of the project (with some elapsed time contingency).</a:t>
            </a:r>
            <a:endParaRPr lang="en-GB" dirty="0" smtClean="0"/>
          </a:p>
          <a:p>
            <a:r>
              <a:rPr lang="en-GB" dirty="0" smtClean="0"/>
              <a:t>AMBER - </a:t>
            </a:r>
            <a:r>
              <a:rPr lang="en-US" dirty="0" smtClean="0"/>
              <a:t>The project schedule supports the end date, but issues, risks and/or changes exist that may put the date in jeopardy.</a:t>
            </a:r>
            <a:endParaRPr lang="en-GB" dirty="0" smtClean="0"/>
          </a:p>
          <a:p>
            <a:r>
              <a:rPr lang="en-GB" dirty="0" smtClean="0"/>
              <a:t>RED</a:t>
            </a:r>
            <a:r>
              <a:rPr lang="en-GB" baseline="0" dirty="0" smtClean="0"/>
              <a:t> – </a:t>
            </a:r>
            <a:r>
              <a:rPr lang="en-US" dirty="0" smtClean="0"/>
              <a:t>The project schedule does not exist and/or the project schedule does not support the end of the project.</a:t>
            </a:r>
            <a:endParaRPr lang="en-GB" baseline="0" dirty="0" smtClean="0"/>
          </a:p>
          <a:p>
            <a:endParaRPr lang="en-GB" baseline="0" dirty="0" smtClean="0"/>
          </a:p>
          <a:p>
            <a:r>
              <a:rPr lang="en-GB" dirty="0" smtClean="0"/>
              <a:t>Scope</a:t>
            </a:r>
          </a:p>
          <a:p>
            <a:r>
              <a:rPr lang="en-GB" dirty="0" smtClean="0"/>
              <a:t>GREEN - </a:t>
            </a:r>
            <a:r>
              <a:rPr lang="en-US" dirty="0" smtClean="0"/>
              <a:t>Scope defined and </a:t>
            </a:r>
            <a:r>
              <a:rPr lang="en-US" u="sng" dirty="0" smtClean="0"/>
              <a:t>approved</a:t>
            </a:r>
            <a:r>
              <a:rPr lang="en-US" dirty="0" smtClean="0"/>
              <a:t> (scope baseline) with no pending change requests.</a:t>
            </a:r>
            <a:endParaRPr lang="en-GB" dirty="0" smtClean="0"/>
          </a:p>
          <a:p>
            <a:r>
              <a:rPr lang="en-GB" dirty="0" smtClean="0"/>
              <a:t>AMBER - </a:t>
            </a:r>
            <a:r>
              <a:rPr lang="en-US" dirty="0" smtClean="0"/>
              <a:t>Scope defined and </a:t>
            </a:r>
            <a:r>
              <a:rPr lang="en-US" u="sng" dirty="0" smtClean="0"/>
              <a:t>approved</a:t>
            </a:r>
            <a:r>
              <a:rPr lang="en-US" dirty="0" smtClean="0"/>
              <a:t> (scope baseline) with </a:t>
            </a:r>
            <a:r>
              <a:rPr lang="en-US" u="sng" dirty="0" smtClean="0"/>
              <a:t>pending</a:t>
            </a:r>
            <a:r>
              <a:rPr lang="en-US" dirty="0" smtClean="0"/>
              <a:t> change requests – known and not raised and raised but not agreed.</a:t>
            </a:r>
            <a:endParaRPr lang="en-GB" dirty="0" smtClean="0"/>
          </a:p>
          <a:p>
            <a:r>
              <a:rPr lang="en-GB" dirty="0" smtClean="0"/>
              <a:t>RED</a:t>
            </a:r>
            <a:r>
              <a:rPr lang="en-GB" baseline="0" dirty="0" smtClean="0"/>
              <a:t> – </a:t>
            </a:r>
            <a:r>
              <a:rPr lang="en-US" dirty="0" smtClean="0"/>
              <a:t>Scope undefined or unapproved (no scope baseline) and/or multiple pending change requests.</a:t>
            </a:r>
            <a:endParaRPr lang="en-GB" baseline="0" dirty="0" smtClean="0"/>
          </a:p>
          <a:p>
            <a:endParaRPr lang="en-GB" baseline="0" dirty="0" smtClean="0"/>
          </a:p>
          <a:p>
            <a:r>
              <a:rPr lang="en-GB" dirty="0" smtClean="0"/>
              <a:t>Risk</a:t>
            </a:r>
          </a:p>
          <a:p>
            <a:r>
              <a:rPr lang="en-GB" dirty="0" smtClean="0"/>
              <a:t>GREEN – Low amount of risks with negligible impact</a:t>
            </a:r>
          </a:p>
          <a:p>
            <a:r>
              <a:rPr lang="en-GB" dirty="0" smtClean="0"/>
              <a:t>AMBER – Medium amount of risks. High or medium impact but with mitigation actions in place. Time left to put in place mitigation plans.</a:t>
            </a:r>
          </a:p>
          <a:p>
            <a:r>
              <a:rPr lang="en-GB" dirty="0" smtClean="0"/>
              <a:t>RED</a:t>
            </a:r>
            <a:r>
              <a:rPr lang="en-GB" baseline="0" dirty="0" smtClean="0"/>
              <a:t> – High number of risks. High score risks which impact in the near term. No mitigation in place for High risks.</a:t>
            </a:r>
          </a:p>
          <a:p>
            <a:endParaRPr lang="en-GB" baseline="0" dirty="0" smtClean="0"/>
          </a:p>
          <a:p>
            <a:r>
              <a:rPr lang="en-GB" dirty="0" smtClean="0"/>
              <a:t>Issue</a:t>
            </a:r>
          </a:p>
          <a:p>
            <a:r>
              <a:rPr lang="en-GB" dirty="0" smtClean="0"/>
              <a:t>GREEN – No or low impact issues. Medium impact issues with resolution plans agreed and in place.</a:t>
            </a:r>
          </a:p>
          <a:p>
            <a:r>
              <a:rPr lang="en-GB" dirty="0" smtClean="0"/>
              <a:t>AMBER – Large</a:t>
            </a:r>
            <a:r>
              <a:rPr lang="en-GB" baseline="0" dirty="0" smtClean="0"/>
              <a:t> amount of issues and/or Medium impact issues with no resolution plans.</a:t>
            </a:r>
            <a:endParaRPr lang="en-GB" dirty="0" smtClean="0"/>
          </a:p>
          <a:p>
            <a:r>
              <a:rPr lang="en-GB" dirty="0" smtClean="0"/>
              <a:t>RED</a:t>
            </a:r>
            <a:r>
              <a:rPr lang="en-GB" baseline="0" dirty="0" smtClean="0"/>
              <a:t> – High impact issues present. No resolution plans in place for Medium of High level issues</a:t>
            </a:r>
          </a:p>
          <a:p>
            <a:endParaRPr lang="en-GB" baseline="0" dirty="0" smtClean="0"/>
          </a:p>
          <a:p>
            <a:r>
              <a:rPr lang="en-GB" dirty="0" smtClean="0"/>
              <a:t>Commercial</a:t>
            </a:r>
          </a:p>
          <a:p>
            <a:r>
              <a:rPr lang="en-GB" dirty="0" smtClean="0"/>
              <a:t>GREEN - TBD</a:t>
            </a:r>
          </a:p>
          <a:p>
            <a:r>
              <a:rPr lang="en-GB" dirty="0" smtClean="0"/>
              <a:t>AMBER - TBD</a:t>
            </a:r>
          </a:p>
          <a:p>
            <a:r>
              <a:rPr lang="en-GB" dirty="0" smtClean="0"/>
              <a:t>RED</a:t>
            </a:r>
            <a:r>
              <a:rPr lang="en-GB" baseline="0" dirty="0" smtClean="0"/>
              <a:t> – TBD</a:t>
            </a:r>
          </a:p>
          <a:p>
            <a:endParaRPr lang="en-GB" baseline="0" dirty="0" smtClean="0"/>
          </a:p>
          <a:p>
            <a:r>
              <a:rPr lang="en-GB" dirty="0" smtClean="0"/>
              <a:t>Resource</a:t>
            </a:r>
          </a:p>
          <a:p>
            <a:r>
              <a:rPr lang="en-GB" dirty="0" smtClean="0"/>
              <a:t>GREEN – No resource issue or constraints</a:t>
            </a:r>
          </a:p>
          <a:p>
            <a:r>
              <a:rPr lang="en-GB" dirty="0" smtClean="0"/>
              <a:t>AMBER – Resource issues exist but plans are in place to resolve.</a:t>
            </a:r>
          </a:p>
          <a:p>
            <a:r>
              <a:rPr lang="en-GB" dirty="0" smtClean="0"/>
              <a:t>RED</a:t>
            </a:r>
            <a:r>
              <a:rPr lang="en-GB" baseline="0" dirty="0" smtClean="0"/>
              <a:t> – Resource issues exist with no plans in place to resolve.</a:t>
            </a:r>
          </a:p>
          <a:p>
            <a:endParaRPr lang="en-GB" baseline="0" dirty="0" smtClean="0"/>
          </a:p>
          <a:p>
            <a:endParaRPr lang="en-GB" baseline="0"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a:xfrm>
            <a:off x="3850444" y="9430091"/>
            <a:ext cx="2945659" cy="496411"/>
          </a:xfrm>
          <a:prstGeom prst="rect">
            <a:avLst/>
          </a:prstGeom>
        </p:spPr>
        <p:txBody>
          <a:bodyPr lIns="93177" tIns="46589" rIns="93177" bIns="46589"/>
          <a:lstStyle/>
          <a:p>
            <a:fld id="{D260D1BD-9247-4EDA-BDB0-B7B94C2127D8}" type="slidenum">
              <a:rPr lang="en-GB" smtClean="0"/>
              <a:pPr/>
              <a:t>16</a:t>
            </a:fld>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a:xfrm>
            <a:off x="3850444" y="9430091"/>
            <a:ext cx="2945659" cy="496411"/>
          </a:xfrm>
          <a:prstGeom prst="rect">
            <a:avLst/>
          </a:prstGeom>
        </p:spPr>
        <p:txBody>
          <a:bodyPr lIns="93177" tIns="46589" rIns="93177" bIns="46589"/>
          <a:lstStyle/>
          <a:p>
            <a:fld id="{D260D1BD-9247-4EDA-BDB0-B7B94C2127D8}" type="slidenum">
              <a:rPr lang="en-GB" smtClean="0"/>
              <a:pPr/>
              <a:t>18</a:t>
            </a:fld>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a:xfrm>
            <a:off x="3850444" y="9430091"/>
            <a:ext cx="2945659" cy="496411"/>
          </a:xfrm>
          <a:prstGeom prst="rect">
            <a:avLst/>
          </a:prstGeom>
        </p:spPr>
        <p:txBody>
          <a:bodyPr lIns="93177" tIns="46589" rIns="93177" bIns="46589"/>
          <a:lstStyle/>
          <a:p>
            <a:fld id="{D260D1BD-9247-4EDA-BDB0-B7B94C2127D8}" type="slidenum">
              <a:rPr lang="en-GB" smtClean="0"/>
              <a:pPr/>
              <a:t>19</a:t>
            </a:fld>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12680034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 name="Picture 4" descr="logo_tagblack"/>
          <p:cNvPicPr>
            <a:picLocks noChangeAspect="1" noChangeArrowheads="1"/>
          </p:cNvPicPr>
          <p:nvPr/>
        </p:nvPicPr>
        <p:blipFill>
          <a:blip r:embed="rId2" cstate="print"/>
          <a:srcRect/>
          <a:stretch>
            <a:fillRect/>
          </a:stretch>
        </p:blipFill>
        <p:spPr bwMode="auto">
          <a:xfrm>
            <a:off x="3073400" y="6030913"/>
            <a:ext cx="1908175" cy="428625"/>
          </a:xfrm>
          <a:prstGeom prst="rect">
            <a:avLst/>
          </a:prstGeom>
          <a:noFill/>
          <a:ln w="9525">
            <a:noFill/>
            <a:miter lim="800000"/>
            <a:headEnd/>
            <a:tailEnd/>
          </a:ln>
        </p:spPr>
      </p:pic>
      <p:pic>
        <p:nvPicPr>
          <p:cNvPr id="5" name="Picture 6" descr="logo_tagblack"/>
          <p:cNvPicPr>
            <a:picLocks noChangeAspect="1" noChangeArrowheads="1"/>
          </p:cNvPicPr>
          <p:nvPr userDrawn="1"/>
        </p:nvPicPr>
        <p:blipFill>
          <a:blip r:embed="rId2" cstate="print"/>
          <a:srcRect/>
          <a:stretch>
            <a:fillRect/>
          </a:stretch>
        </p:blipFill>
        <p:spPr bwMode="auto">
          <a:xfrm>
            <a:off x="3073400" y="6030913"/>
            <a:ext cx="1908175" cy="428625"/>
          </a:xfrm>
          <a:prstGeom prst="rect">
            <a:avLst/>
          </a:prstGeom>
          <a:noFill/>
          <a:ln w="9525">
            <a:noFill/>
            <a:miter lim="800000"/>
            <a:headEnd/>
            <a:tailEnd/>
          </a:ln>
        </p:spPr>
      </p:pic>
      <p:sp>
        <p:nvSpPr>
          <p:cNvPr id="6" name="Freeform 8"/>
          <p:cNvSpPr>
            <a:spLocks/>
          </p:cNvSpPr>
          <p:nvPr userDrawn="1"/>
        </p:nvSpPr>
        <p:spPr bwMode="auto">
          <a:xfrm>
            <a:off x="3074988" y="565150"/>
            <a:ext cx="6067425" cy="2586038"/>
          </a:xfrm>
          <a:custGeom>
            <a:avLst/>
            <a:gdLst/>
            <a:ahLst/>
            <a:cxnLst>
              <a:cxn ang="0">
                <a:pos x="0" y="1629"/>
              </a:cxn>
              <a:cxn ang="0">
                <a:pos x="3822" y="0"/>
              </a:cxn>
              <a:cxn ang="0">
                <a:pos x="3822" y="492"/>
              </a:cxn>
              <a:cxn ang="0">
                <a:pos x="0" y="1629"/>
              </a:cxn>
            </a:cxnLst>
            <a:rect l="0" t="0" r="r" b="b"/>
            <a:pathLst>
              <a:path w="3822" h="1629">
                <a:moveTo>
                  <a:pt x="0" y="1629"/>
                </a:moveTo>
                <a:lnTo>
                  <a:pt x="3822" y="0"/>
                </a:lnTo>
                <a:lnTo>
                  <a:pt x="3822" y="492"/>
                </a:lnTo>
                <a:lnTo>
                  <a:pt x="0" y="1629"/>
                </a:lnTo>
                <a:close/>
              </a:path>
            </a:pathLst>
          </a:custGeom>
          <a:solidFill>
            <a:schemeClr val="accent2"/>
          </a:solidFill>
          <a:ln w="9525">
            <a:noFill/>
            <a:round/>
            <a:headEnd/>
            <a:tailEnd/>
          </a:ln>
          <a:effectLst/>
        </p:spPr>
        <p:txBody>
          <a:bodyPr/>
          <a:lstStyle/>
          <a:p>
            <a:pPr>
              <a:defRPr/>
            </a:pPr>
            <a:endParaRPr lang="de-DE" dirty="0"/>
          </a:p>
        </p:txBody>
      </p:sp>
      <p:sp>
        <p:nvSpPr>
          <p:cNvPr id="7" name="AutoShape 10"/>
          <p:cNvSpPr>
            <a:spLocks noChangeArrowheads="1"/>
          </p:cNvSpPr>
          <p:nvPr userDrawn="1"/>
        </p:nvSpPr>
        <p:spPr bwMode="auto">
          <a:xfrm rot="5400000">
            <a:off x="-120649" y="1274762"/>
            <a:ext cx="3313112" cy="3071813"/>
          </a:xfrm>
          <a:prstGeom prst="triangle">
            <a:avLst>
              <a:gd name="adj" fmla="val 60227"/>
            </a:avLst>
          </a:prstGeom>
          <a:blipFill dpi="0" rotWithShape="0">
            <a:blip r:embed="rId3" cstate="print"/>
            <a:srcRect/>
            <a:stretch>
              <a:fillRect/>
            </a:stretch>
          </a:blipFill>
          <a:ln w="9525">
            <a:noFill/>
            <a:miter lim="800000"/>
            <a:headEnd/>
            <a:tailEnd/>
          </a:ln>
          <a:effectLst/>
        </p:spPr>
        <p:txBody>
          <a:bodyPr rot="10800000" vert="eaVert" wrap="none" anchor="ctr"/>
          <a:lstStyle/>
          <a:p>
            <a:pPr>
              <a:defRPr/>
            </a:pPr>
            <a:endParaRPr lang="de-DE" dirty="0"/>
          </a:p>
        </p:txBody>
      </p:sp>
      <p:sp>
        <p:nvSpPr>
          <p:cNvPr id="166914" name="Rectangle 2"/>
          <p:cNvSpPr>
            <a:spLocks noGrp="1" noChangeArrowheads="1"/>
          </p:cNvSpPr>
          <p:nvPr>
            <p:ph type="ctrTitle"/>
          </p:nvPr>
        </p:nvSpPr>
        <p:spPr>
          <a:xfrm>
            <a:off x="3059113" y="3457575"/>
            <a:ext cx="5541962" cy="908050"/>
          </a:xfrm>
        </p:spPr>
        <p:txBody>
          <a:bodyPr tIns="0"/>
          <a:lstStyle>
            <a:lvl1pPr>
              <a:defRPr/>
            </a:lvl1pPr>
          </a:lstStyle>
          <a:p>
            <a:r>
              <a:rPr lang="en-US"/>
              <a:t>Click to edit Master title style</a:t>
            </a:r>
          </a:p>
        </p:txBody>
      </p:sp>
      <p:sp>
        <p:nvSpPr>
          <p:cNvPr id="166915" name="Rectangle 3"/>
          <p:cNvSpPr>
            <a:spLocks noGrp="1" noChangeArrowheads="1"/>
          </p:cNvSpPr>
          <p:nvPr>
            <p:ph type="subTitle" idx="1"/>
          </p:nvPr>
        </p:nvSpPr>
        <p:spPr>
          <a:xfrm>
            <a:off x="3062288" y="4354513"/>
            <a:ext cx="5541962" cy="1019175"/>
          </a:xfrm>
        </p:spPr>
        <p:txBody>
          <a:bodyPr/>
          <a:lstStyle>
            <a:lvl1pPr marL="0" indent="0">
              <a:lnSpc>
                <a:spcPct val="85000"/>
              </a:lnSpc>
              <a:buFont typeface="Arial" charset="0"/>
              <a:buNone/>
              <a:defRPr sz="2000"/>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de-D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5613" y="1412875"/>
            <a:ext cx="4002087"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10100" y="1412875"/>
            <a:ext cx="4003675"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988" y="200025"/>
            <a:ext cx="2057400" cy="5732463"/>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5613" y="200025"/>
            <a:ext cx="6022975" cy="57324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4_Title Only">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10_Title Only">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Title Only">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3_Title Only">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5_Title Only">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6_Title Only">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7_Title Only">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8_Title Only">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9_Title Only">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11_Title Only">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4.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5.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3.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4.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7.jpe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5.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6.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0025"/>
            <a:ext cx="8231188"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5613" y="1412875"/>
            <a:ext cx="8158162" cy="45196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65893" name="Rectangle 5"/>
          <p:cNvSpPr>
            <a:spLocks noChangeArrowheads="1"/>
          </p:cNvSpPr>
          <p:nvPr/>
        </p:nvSpPr>
        <p:spPr bwMode="auto">
          <a:xfrm>
            <a:off x="3962400" y="6386513"/>
            <a:ext cx="2057400" cy="196850"/>
          </a:xfrm>
          <a:prstGeom prst="rect">
            <a:avLst/>
          </a:prstGeom>
          <a:noFill/>
          <a:ln w="9525">
            <a:noFill/>
            <a:miter lim="800000"/>
            <a:headEnd/>
            <a:tailEnd/>
          </a:ln>
          <a:effectLst/>
        </p:spPr>
        <p:txBody>
          <a:bodyPr lIns="0" tIns="0" rIns="0" bIns="0"/>
          <a:lstStyle/>
          <a:p>
            <a:pPr algn="l">
              <a:defRPr/>
            </a:pPr>
            <a:r>
              <a:rPr lang="en-US" sz="1100" dirty="0" smtClean="0">
                <a:solidFill>
                  <a:srgbClr val="000000"/>
                </a:solidFill>
                <a:cs typeface="Arial" charset="0"/>
              </a:rPr>
              <a:t>DCC Program Committee</a:t>
            </a:r>
            <a:endParaRPr lang="en-US" sz="1100" dirty="0">
              <a:solidFill>
                <a:srgbClr val="000000"/>
              </a:solidFill>
              <a:cs typeface="Arial" charset="0"/>
            </a:endParaRPr>
          </a:p>
        </p:txBody>
      </p:sp>
      <p:sp>
        <p:nvSpPr>
          <p:cNvPr id="165894" name="Rectangle 6"/>
          <p:cNvSpPr>
            <a:spLocks noChangeArrowheads="1"/>
          </p:cNvSpPr>
          <p:nvPr/>
        </p:nvSpPr>
        <p:spPr bwMode="auto">
          <a:xfrm>
            <a:off x="457200" y="6419850"/>
            <a:ext cx="663575" cy="196850"/>
          </a:xfrm>
          <a:prstGeom prst="rect">
            <a:avLst/>
          </a:prstGeom>
          <a:noFill/>
          <a:ln w="9525">
            <a:noFill/>
            <a:miter lim="800000"/>
            <a:headEnd/>
            <a:tailEnd/>
          </a:ln>
          <a:effectLst/>
        </p:spPr>
        <p:txBody>
          <a:bodyPr lIns="0" tIns="0" rIns="0" bIns="0"/>
          <a:lstStyle/>
          <a:p>
            <a:pPr algn="l">
              <a:defRPr/>
            </a:pPr>
            <a:r>
              <a:rPr lang="en-US" sz="1100" dirty="0">
                <a:solidFill>
                  <a:srgbClr val="000000"/>
                </a:solidFill>
                <a:cs typeface="Arial" charset="0"/>
              </a:rPr>
              <a:t>Page </a:t>
            </a:r>
            <a:fld id="{84B491C8-BB09-42DF-B246-12EF53273C68}" type="slidenum">
              <a:rPr lang="en-US" sz="1100">
                <a:solidFill>
                  <a:srgbClr val="000000"/>
                </a:solidFill>
                <a:cs typeface="Arial" charset="0"/>
              </a:rPr>
              <a:pPr algn="l">
                <a:defRPr/>
              </a:pPr>
              <a:t>‹#›</a:t>
            </a:fld>
            <a:endParaRPr lang="en-US" sz="1100" dirty="0">
              <a:solidFill>
                <a:srgbClr val="000000"/>
              </a:solidFill>
              <a:cs typeface="Arial" charset="0"/>
            </a:endParaRPr>
          </a:p>
        </p:txBody>
      </p:sp>
      <p:sp>
        <p:nvSpPr>
          <p:cNvPr id="165895" name="Line 7"/>
          <p:cNvSpPr>
            <a:spLocks noChangeShapeType="1"/>
          </p:cNvSpPr>
          <p:nvPr/>
        </p:nvSpPr>
        <p:spPr bwMode="auto">
          <a:xfrm>
            <a:off x="455613" y="1042988"/>
            <a:ext cx="8229600" cy="0"/>
          </a:xfrm>
          <a:prstGeom prst="line">
            <a:avLst/>
          </a:prstGeom>
          <a:noFill/>
          <a:ln w="12700">
            <a:solidFill>
              <a:srgbClr val="FFD200"/>
            </a:solidFill>
            <a:round/>
            <a:headEnd/>
            <a:tailEnd/>
          </a:ln>
          <a:effectLst/>
        </p:spPr>
        <p:txBody>
          <a:bodyPr wrap="none" anchor="ctr"/>
          <a:lstStyle/>
          <a:p>
            <a:pPr>
              <a:defRPr/>
            </a:pPr>
            <a:endParaRPr lang="de-DE" dirty="0"/>
          </a:p>
        </p:txBody>
      </p:sp>
      <p:sp>
        <p:nvSpPr>
          <p:cNvPr id="165896" name="Line 8"/>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de-DE" dirty="0"/>
          </a:p>
        </p:txBody>
      </p:sp>
      <p:sp>
        <p:nvSpPr>
          <p:cNvPr id="165897" name="Line 9"/>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1033" name="Picture 10" descr="logo_tagblack"/>
          <p:cNvPicPr>
            <a:picLocks noChangeAspect="1" noChangeArrowheads="1"/>
          </p:cNvPicPr>
          <p:nvPr/>
        </p:nvPicPr>
        <p:blipFill>
          <a:blip r:embed="rId24" cstate="print"/>
          <a:srcRect/>
          <a:stretch>
            <a:fillRect/>
          </a:stretch>
        </p:blipFill>
        <p:spPr bwMode="auto">
          <a:xfrm>
            <a:off x="7226300" y="6386513"/>
            <a:ext cx="1485900" cy="333375"/>
          </a:xfrm>
          <a:prstGeom prst="rect">
            <a:avLst/>
          </a:prstGeom>
          <a:noFill/>
          <a:ln w="9525">
            <a:noFill/>
            <a:miter lim="800000"/>
            <a:headEnd/>
            <a:tailEnd/>
          </a:ln>
        </p:spPr>
      </p:pic>
      <p:sp>
        <p:nvSpPr>
          <p:cNvPr id="165899" name="Line 11"/>
          <p:cNvSpPr>
            <a:spLocks noChangeShapeType="1"/>
          </p:cNvSpPr>
          <p:nvPr/>
        </p:nvSpPr>
        <p:spPr bwMode="auto">
          <a:xfrm>
            <a:off x="455613" y="1042988"/>
            <a:ext cx="8229600" cy="0"/>
          </a:xfrm>
          <a:prstGeom prst="line">
            <a:avLst/>
          </a:prstGeom>
          <a:noFill/>
          <a:ln w="19050">
            <a:solidFill>
              <a:srgbClr val="FFD200"/>
            </a:solidFill>
            <a:round/>
            <a:headEnd/>
            <a:tailEnd/>
          </a:ln>
          <a:effectLst/>
        </p:spPr>
        <p:txBody>
          <a:bodyPr wrap="none" anchor="ctr"/>
          <a:lstStyle/>
          <a:p>
            <a:pPr>
              <a:defRPr/>
            </a:pPr>
            <a:endParaRPr lang="de-DE" dirty="0"/>
          </a:p>
        </p:txBody>
      </p:sp>
      <p:sp>
        <p:nvSpPr>
          <p:cNvPr id="165900" name="Line 12"/>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de-DE" dirty="0"/>
          </a:p>
        </p:txBody>
      </p:sp>
      <p:sp>
        <p:nvSpPr>
          <p:cNvPr id="165901" name="Line 1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1037" name="Picture 14" descr="logo_tagblack"/>
          <p:cNvPicPr>
            <a:picLocks noChangeAspect="1" noChangeArrowheads="1"/>
          </p:cNvPicPr>
          <p:nvPr/>
        </p:nvPicPr>
        <p:blipFill>
          <a:blip r:embed="rId2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816" r:id="rId1"/>
    <p:sldLayoutId id="2147485750" r:id="rId2"/>
    <p:sldLayoutId id="2147485751" r:id="rId3"/>
    <p:sldLayoutId id="2147485752" r:id="rId4"/>
    <p:sldLayoutId id="2147485753" r:id="rId5"/>
    <p:sldLayoutId id="2147485754" r:id="rId6"/>
    <p:sldLayoutId id="2147485755" r:id="rId7"/>
    <p:sldLayoutId id="2147485756" r:id="rId8"/>
    <p:sldLayoutId id="2147485757" r:id="rId9"/>
    <p:sldLayoutId id="2147485758" r:id="rId10"/>
    <p:sldLayoutId id="2147485759" r:id="rId11"/>
    <p:sldLayoutId id="2147485818" r:id="rId12"/>
    <p:sldLayoutId id="2147485824" r:id="rId13"/>
    <p:sldLayoutId id="2147485825" r:id="rId14"/>
    <p:sldLayoutId id="2147485826" r:id="rId15"/>
    <p:sldLayoutId id="2147485859" r:id="rId16"/>
    <p:sldLayoutId id="2147485860" r:id="rId17"/>
    <p:sldLayoutId id="2147485861" r:id="rId18"/>
    <p:sldLayoutId id="2147485862" r:id="rId19"/>
    <p:sldLayoutId id="2147485863" r:id="rId20"/>
    <p:sldLayoutId id="2147485864" r:id="rId21"/>
    <p:sldLayoutId id="2147485865" r:id="rId22"/>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646464"/>
          </a:solidFill>
          <a:latin typeface="+mj-lt"/>
          <a:ea typeface="+mj-ea"/>
          <a:cs typeface="+mj-cs"/>
        </a:defRPr>
      </a:lvl1pPr>
      <a:lvl2pPr algn="l" rtl="0" eaLnBrk="0" fontAlgn="base" hangingPunct="0">
        <a:lnSpc>
          <a:spcPct val="85000"/>
        </a:lnSpc>
        <a:spcBef>
          <a:spcPct val="0"/>
        </a:spcBef>
        <a:spcAft>
          <a:spcPct val="0"/>
        </a:spcAft>
        <a:defRPr sz="3000" b="1">
          <a:solidFill>
            <a:srgbClr val="646464"/>
          </a:solidFill>
          <a:latin typeface="Arial" charset="0"/>
        </a:defRPr>
      </a:lvl2pPr>
      <a:lvl3pPr algn="l" rtl="0" eaLnBrk="0" fontAlgn="base" hangingPunct="0">
        <a:lnSpc>
          <a:spcPct val="85000"/>
        </a:lnSpc>
        <a:spcBef>
          <a:spcPct val="0"/>
        </a:spcBef>
        <a:spcAft>
          <a:spcPct val="0"/>
        </a:spcAft>
        <a:defRPr sz="3000" b="1">
          <a:solidFill>
            <a:srgbClr val="646464"/>
          </a:solidFill>
          <a:latin typeface="Arial" charset="0"/>
        </a:defRPr>
      </a:lvl3pPr>
      <a:lvl4pPr algn="l" rtl="0" eaLnBrk="0" fontAlgn="base" hangingPunct="0">
        <a:lnSpc>
          <a:spcPct val="85000"/>
        </a:lnSpc>
        <a:spcBef>
          <a:spcPct val="0"/>
        </a:spcBef>
        <a:spcAft>
          <a:spcPct val="0"/>
        </a:spcAft>
        <a:defRPr sz="3000" b="1">
          <a:solidFill>
            <a:srgbClr val="646464"/>
          </a:solidFill>
          <a:latin typeface="Arial" charset="0"/>
        </a:defRPr>
      </a:lvl4pPr>
      <a:lvl5pPr algn="l" rtl="0" eaLnBrk="0" fontAlgn="base" hangingPunct="0">
        <a:lnSpc>
          <a:spcPct val="85000"/>
        </a:lnSpc>
        <a:spcBef>
          <a:spcPct val="0"/>
        </a:spcBef>
        <a:spcAft>
          <a:spcPct val="0"/>
        </a:spcAft>
        <a:defRPr sz="3000" b="1">
          <a:solidFill>
            <a:srgbClr val="646464"/>
          </a:solidFill>
          <a:latin typeface="Arial" charset="0"/>
        </a:defRPr>
      </a:lvl5pPr>
      <a:lvl6pPr marL="457200" algn="l" rtl="0" fontAlgn="base">
        <a:lnSpc>
          <a:spcPct val="85000"/>
        </a:lnSpc>
        <a:spcBef>
          <a:spcPct val="0"/>
        </a:spcBef>
        <a:spcAft>
          <a:spcPct val="0"/>
        </a:spcAft>
        <a:defRPr sz="3000" b="1">
          <a:solidFill>
            <a:srgbClr val="646464"/>
          </a:solidFill>
          <a:latin typeface="Arial" charset="0"/>
        </a:defRPr>
      </a:lvl6pPr>
      <a:lvl7pPr marL="914400" algn="l" rtl="0" fontAlgn="base">
        <a:lnSpc>
          <a:spcPct val="85000"/>
        </a:lnSpc>
        <a:spcBef>
          <a:spcPct val="0"/>
        </a:spcBef>
        <a:spcAft>
          <a:spcPct val="0"/>
        </a:spcAft>
        <a:defRPr sz="3000" b="1">
          <a:solidFill>
            <a:srgbClr val="646464"/>
          </a:solidFill>
          <a:latin typeface="Arial" charset="0"/>
        </a:defRPr>
      </a:lvl7pPr>
      <a:lvl8pPr marL="1371600" algn="l" rtl="0" fontAlgn="base">
        <a:lnSpc>
          <a:spcPct val="85000"/>
        </a:lnSpc>
        <a:spcBef>
          <a:spcPct val="0"/>
        </a:spcBef>
        <a:spcAft>
          <a:spcPct val="0"/>
        </a:spcAft>
        <a:defRPr sz="3000" b="1">
          <a:solidFill>
            <a:srgbClr val="646464"/>
          </a:solidFill>
          <a:latin typeface="Arial" charset="0"/>
        </a:defRPr>
      </a:lvl8pPr>
      <a:lvl9pPr marL="1828800" algn="l" rtl="0" fontAlgn="base">
        <a:lnSpc>
          <a:spcPct val="85000"/>
        </a:lnSpc>
        <a:spcBef>
          <a:spcPct val="0"/>
        </a:spcBef>
        <a:spcAft>
          <a:spcPct val="0"/>
        </a:spcAft>
        <a:defRPr sz="3000" b="1">
          <a:solidFill>
            <a:srgbClr val="646464"/>
          </a:solidFill>
          <a:latin typeface="Arial" charset="0"/>
        </a:defRPr>
      </a:lvl9pPr>
    </p:titleStyle>
    <p:bodyStyle>
      <a:lvl1pPr marL="360363" indent="-360363" algn="l" rtl="0" eaLnBrk="0" fontAlgn="base" hangingPunct="0">
        <a:spcBef>
          <a:spcPct val="20000"/>
        </a:spcBef>
        <a:spcAft>
          <a:spcPct val="0"/>
        </a:spcAft>
        <a:buClr>
          <a:srgbClr val="FFD200"/>
        </a:buClr>
        <a:buSzPct val="75000"/>
        <a:buFont typeface="Arial" charset="0"/>
        <a:buChar char="►"/>
        <a:defRPr sz="2400">
          <a:solidFill>
            <a:srgbClr val="646464"/>
          </a:solidFill>
          <a:latin typeface="+mn-lt"/>
          <a:ea typeface="+mn-ea"/>
          <a:cs typeface="+mn-cs"/>
        </a:defRPr>
      </a:lvl1pPr>
      <a:lvl2pPr marL="717550" indent="-355600" algn="l" rtl="0" eaLnBrk="0" fontAlgn="base" hangingPunct="0">
        <a:spcBef>
          <a:spcPct val="20000"/>
        </a:spcBef>
        <a:spcAft>
          <a:spcPct val="0"/>
        </a:spcAft>
        <a:buClr>
          <a:srgbClr val="FFD200"/>
        </a:buClr>
        <a:buSzPct val="75000"/>
        <a:buFont typeface="Arial" charset="0"/>
        <a:buChar char="►"/>
        <a:defRPr sz="2000">
          <a:solidFill>
            <a:srgbClr val="646464"/>
          </a:solidFill>
          <a:latin typeface="+mn-lt"/>
        </a:defRPr>
      </a:lvl2pPr>
      <a:lvl3pPr marL="1081088" indent="-361950" algn="l" rtl="0" eaLnBrk="0" fontAlgn="base" hangingPunct="0">
        <a:spcBef>
          <a:spcPct val="20000"/>
        </a:spcBef>
        <a:spcAft>
          <a:spcPct val="0"/>
        </a:spcAft>
        <a:buClr>
          <a:srgbClr val="FFD200"/>
        </a:buClr>
        <a:buSzPct val="75000"/>
        <a:buFont typeface="Arial" charset="0"/>
        <a:buChar char="►"/>
        <a:defRPr>
          <a:solidFill>
            <a:srgbClr val="646464"/>
          </a:solidFill>
          <a:latin typeface="+mn-lt"/>
        </a:defRPr>
      </a:lvl3pPr>
      <a:lvl4pPr marL="1441450" indent="-358775"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4pPr>
      <a:lvl5pPr marL="1800225" indent="-357188"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5pPr>
      <a:lvl6pPr marL="22574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6pPr>
      <a:lvl7pPr marL="27146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7pPr>
      <a:lvl8pPr marL="31718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8pPr>
      <a:lvl9pPr marL="36290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99331" name="Line 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2052" name="Picture 4"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sp>
        <p:nvSpPr>
          <p:cNvPr id="99335" name="Freeform 7"/>
          <p:cNvSpPr>
            <a:spLocks noChangeAspect="1"/>
          </p:cNvSpPr>
          <p:nvPr/>
        </p:nvSpPr>
        <p:spPr bwMode="auto">
          <a:xfrm>
            <a:off x="455613" y="1039813"/>
            <a:ext cx="8253412" cy="5194300"/>
          </a:xfrm>
          <a:custGeom>
            <a:avLst/>
            <a:gdLst/>
            <a:ahLst/>
            <a:cxnLst>
              <a:cxn ang="0">
                <a:pos x="0" y="0"/>
              </a:cxn>
              <a:cxn ang="0">
                <a:pos x="5170" y="0"/>
              </a:cxn>
              <a:cxn ang="0">
                <a:pos x="4535" y="3266"/>
              </a:cxn>
              <a:cxn ang="0">
                <a:pos x="0" y="3266"/>
              </a:cxn>
              <a:cxn ang="0">
                <a:pos x="0" y="0"/>
              </a:cxn>
            </a:cxnLst>
            <a:rect l="0" t="0" r="r" b="b"/>
            <a:pathLst>
              <a:path w="5170" h="3266">
                <a:moveTo>
                  <a:pt x="0" y="0"/>
                </a:moveTo>
                <a:lnTo>
                  <a:pt x="5170" y="0"/>
                </a:lnTo>
                <a:lnTo>
                  <a:pt x="4535" y="3266"/>
                </a:lnTo>
                <a:lnTo>
                  <a:pt x="0" y="3266"/>
                </a:lnTo>
                <a:lnTo>
                  <a:pt x="0" y="0"/>
                </a:lnTo>
                <a:close/>
              </a:path>
            </a:pathLst>
          </a:custGeom>
          <a:blipFill dpi="0" rotWithShape="1">
            <a:blip r:embed="rId14" cstate="print"/>
            <a:srcRect/>
            <a:stretch>
              <a:fillRect/>
            </a:stretch>
          </a:blipFill>
          <a:ln w="9525">
            <a:noFill/>
            <a:round/>
            <a:headEnd/>
            <a:tailEnd/>
          </a:ln>
          <a:effectLst/>
        </p:spPr>
        <p:txBody>
          <a:bodyPr/>
          <a:lstStyle/>
          <a:p>
            <a:pPr>
              <a:defRPr/>
            </a:pPr>
            <a:endParaRPr lang="de-DE" dirty="0"/>
          </a:p>
        </p:txBody>
      </p:sp>
    </p:spTree>
  </p:cSld>
  <p:clrMap bg1="lt1" tx1="dk1" bg2="lt2" tx2="dk2" accent1="accent1" accent2="accent2" accent3="accent3" accent4="accent4" accent5="accent5" accent6="accent6" hlink="hlink" folHlink="folHlink"/>
  <p:sldLayoutIdLst>
    <p:sldLayoutId id="2147485761" r:id="rId1"/>
    <p:sldLayoutId id="2147485762" r:id="rId2"/>
    <p:sldLayoutId id="2147485763" r:id="rId3"/>
    <p:sldLayoutId id="2147485764" r:id="rId4"/>
    <p:sldLayoutId id="2147485765" r:id="rId5"/>
    <p:sldLayoutId id="2147485766" r:id="rId6"/>
    <p:sldLayoutId id="2147485767" r:id="rId7"/>
    <p:sldLayoutId id="2147485768" r:id="rId8"/>
    <p:sldLayoutId id="2147485769" r:id="rId9"/>
    <p:sldLayoutId id="2147485770" r:id="rId10"/>
    <p:sldLayoutId id="2147485771"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2" descr="lines11_crop_subtle_w"/>
          <p:cNvPicPr>
            <a:picLocks noChangeAspect="1" noChangeArrowheads="1"/>
          </p:cNvPicPr>
          <p:nvPr/>
        </p:nvPicPr>
        <p:blipFill>
          <a:blip r:embed="rId13" cstate="print"/>
          <a:srcRect/>
          <a:stretch>
            <a:fillRect/>
          </a:stretch>
        </p:blipFill>
        <p:spPr bwMode="auto">
          <a:xfrm>
            <a:off x="455613" y="1036638"/>
            <a:ext cx="8231187" cy="5195887"/>
          </a:xfrm>
          <a:prstGeom prst="rect">
            <a:avLst/>
          </a:prstGeom>
          <a:noFill/>
          <a:ln w="9525">
            <a:noFill/>
            <a:miter lim="800000"/>
            <a:headEnd/>
            <a:tailEnd/>
          </a:ln>
        </p:spPr>
      </p:pic>
      <p:sp>
        <p:nvSpPr>
          <p:cNvPr id="3075"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0356"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3077" name="Picture 5"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72" r:id="rId1"/>
    <p:sldLayoutId id="2147485773" r:id="rId2"/>
    <p:sldLayoutId id="2147485774" r:id="rId3"/>
    <p:sldLayoutId id="2147485775" r:id="rId4"/>
    <p:sldLayoutId id="2147485776" r:id="rId5"/>
    <p:sldLayoutId id="2147485777" r:id="rId6"/>
    <p:sldLayoutId id="2147485778" r:id="rId7"/>
    <p:sldLayoutId id="2147485779" r:id="rId8"/>
    <p:sldLayoutId id="2147485780" r:id="rId9"/>
    <p:sldLayoutId id="2147485781" r:id="rId10"/>
    <p:sldLayoutId id="2147485782"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1380"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4100" name="Picture 5"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pic>
        <p:nvPicPr>
          <p:cNvPr id="4101" name="Picture 6" descr="Motion_1"/>
          <p:cNvPicPr>
            <a:picLocks noChangeAspect="1" noChangeArrowheads="1"/>
          </p:cNvPicPr>
          <p:nvPr/>
        </p:nvPicPr>
        <p:blipFill>
          <a:blip r:embed="rId14" cstate="print"/>
          <a:srcRect/>
          <a:stretch>
            <a:fillRect/>
          </a:stretch>
        </p:blipFill>
        <p:spPr bwMode="auto">
          <a:xfrm>
            <a:off x="455613" y="1036638"/>
            <a:ext cx="8231187" cy="51974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83" r:id="rId1"/>
    <p:sldLayoutId id="2147485784" r:id="rId2"/>
    <p:sldLayoutId id="2147485785" r:id="rId3"/>
    <p:sldLayoutId id="2147485786" r:id="rId4"/>
    <p:sldLayoutId id="2147485787" r:id="rId5"/>
    <p:sldLayoutId id="2147485788" r:id="rId6"/>
    <p:sldLayoutId id="2147485789" r:id="rId7"/>
    <p:sldLayoutId id="2147485790" r:id="rId8"/>
    <p:sldLayoutId id="2147485791" r:id="rId9"/>
    <p:sldLayoutId id="2147485792" r:id="rId10"/>
    <p:sldLayoutId id="2147485793"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2" descr="lines11_fade_crop_subtle"/>
          <p:cNvPicPr>
            <a:picLocks noChangeAspect="1" noChangeArrowheads="1"/>
          </p:cNvPicPr>
          <p:nvPr/>
        </p:nvPicPr>
        <p:blipFill>
          <a:blip r:embed="rId13" cstate="print"/>
          <a:srcRect/>
          <a:stretch>
            <a:fillRect/>
          </a:stretch>
        </p:blipFill>
        <p:spPr bwMode="auto">
          <a:xfrm>
            <a:off x="455613" y="1036638"/>
            <a:ext cx="8231187" cy="5197475"/>
          </a:xfrm>
          <a:prstGeom prst="rect">
            <a:avLst/>
          </a:prstGeom>
          <a:noFill/>
          <a:ln w="9525">
            <a:noFill/>
            <a:miter lim="800000"/>
            <a:headEnd/>
            <a:tailEnd/>
          </a:ln>
        </p:spPr>
      </p:pic>
      <p:sp>
        <p:nvSpPr>
          <p:cNvPr id="5123"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404"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5125" name="Picture 5"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94" r:id="rId1"/>
    <p:sldLayoutId id="2147485795" r:id="rId2"/>
    <p:sldLayoutId id="2147485796" r:id="rId3"/>
    <p:sldLayoutId id="2147485797" r:id="rId4"/>
    <p:sldLayoutId id="2147485798" r:id="rId5"/>
    <p:sldLayoutId id="2147485799" r:id="rId6"/>
    <p:sldLayoutId id="2147485800" r:id="rId7"/>
    <p:sldLayoutId id="2147485801" r:id="rId8"/>
    <p:sldLayoutId id="2147485802" r:id="rId9"/>
    <p:sldLayoutId id="2147485803" r:id="rId10"/>
    <p:sldLayoutId id="2147485804"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3427" name="Line 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6148" name="Picture 4"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sp>
        <p:nvSpPr>
          <p:cNvPr id="103444" name="Freeform 20"/>
          <p:cNvSpPr>
            <a:spLocks noChangeAspect="1"/>
          </p:cNvSpPr>
          <p:nvPr/>
        </p:nvSpPr>
        <p:spPr bwMode="auto">
          <a:xfrm>
            <a:off x="457200" y="1028700"/>
            <a:ext cx="8242300" cy="5232400"/>
          </a:xfrm>
          <a:custGeom>
            <a:avLst/>
            <a:gdLst/>
            <a:ahLst/>
            <a:cxnLst>
              <a:cxn ang="0">
                <a:pos x="632" y="0"/>
              </a:cxn>
              <a:cxn ang="0">
                <a:pos x="0" y="3272"/>
              </a:cxn>
              <a:cxn ang="0">
                <a:pos x="5192" y="3272"/>
              </a:cxn>
              <a:cxn ang="0">
                <a:pos x="5192" y="0"/>
              </a:cxn>
              <a:cxn ang="0">
                <a:pos x="632" y="0"/>
              </a:cxn>
            </a:cxnLst>
            <a:rect l="0" t="0" r="r" b="b"/>
            <a:pathLst>
              <a:path w="5192" h="3272">
                <a:moveTo>
                  <a:pt x="632" y="0"/>
                </a:moveTo>
                <a:lnTo>
                  <a:pt x="0" y="3272"/>
                </a:lnTo>
                <a:lnTo>
                  <a:pt x="5192" y="3272"/>
                </a:lnTo>
                <a:lnTo>
                  <a:pt x="5192" y="0"/>
                </a:lnTo>
                <a:lnTo>
                  <a:pt x="632" y="0"/>
                </a:lnTo>
                <a:close/>
              </a:path>
            </a:pathLst>
          </a:custGeom>
          <a:solidFill>
            <a:srgbClr val="FFD200"/>
          </a:solidFill>
          <a:ln w="9525">
            <a:noFill/>
            <a:round/>
            <a:headEnd/>
            <a:tailEnd/>
          </a:ln>
          <a:effectLst/>
        </p:spPr>
        <p:txBody>
          <a:bodyPr/>
          <a:lstStyle/>
          <a:p>
            <a:pPr>
              <a:defRPr/>
            </a:pPr>
            <a:endParaRPr lang="de-DE" dirty="0"/>
          </a:p>
        </p:txBody>
      </p:sp>
    </p:spTree>
  </p:cSld>
  <p:clrMap bg1="lt1" tx1="dk1" bg2="lt2" tx2="dk2" accent1="accent1" accent2="accent2" accent3="accent3" accent4="accent4" accent5="accent5" accent6="accent6" hlink="hlink" folHlink="folHlink"/>
  <p:sldLayoutIdLst>
    <p:sldLayoutId id="2147485805" r:id="rId1"/>
    <p:sldLayoutId id="2147485806" r:id="rId2"/>
    <p:sldLayoutId id="2147485807" r:id="rId3"/>
    <p:sldLayoutId id="2147485808" r:id="rId4"/>
    <p:sldLayoutId id="2147485809" r:id="rId5"/>
    <p:sldLayoutId id="2147485810" r:id="rId6"/>
    <p:sldLayoutId id="2147485811" r:id="rId7"/>
    <p:sldLayoutId id="2147485812" r:id="rId8"/>
    <p:sldLayoutId id="2147485813" r:id="rId9"/>
    <p:sldLayoutId id="2147485814" r:id="rId10"/>
    <p:sldLayoutId id="2147485815"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13.xml"/><Relationship Id="rId4" Type="http://schemas.openxmlformats.org/officeDocument/2006/relationships/chart" Target="../charts/chart7.xml"/></Relationships>
</file>

<file path=ppt/slides/_rels/slide12.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p:cNvSpPr>
            <a:spLocks noGrp="1" noChangeArrowheads="1"/>
          </p:cNvSpPr>
          <p:nvPr>
            <p:ph type="ctrTitle"/>
          </p:nvPr>
        </p:nvSpPr>
        <p:spPr>
          <a:xfrm>
            <a:off x="3062288" y="3429001"/>
            <a:ext cx="5541962" cy="1066800"/>
          </a:xfrm>
        </p:spPr>
        <p:txBody>
          <a:bodyPr/>
          <a:lstStyle/>
          <a:p>
            <a:pPr eaLnBrk="1" hangingPunct="1"/>
            <a:r>
              <a:rPr lang="en-US" sz="2400" b="0" dirty="0" smtClean="0">
                <a:latin typeface="EYInterstate" pitchFamily="2" charset="0"/>
              </a:rPr>
              <a:t>IT Services</a:t>
            </a:r>
            <a:br>
              <a:rPr lang="en-US" sz="2400" b="0" dirty="0" smtClean="0">
                <a:latin typeface="EYInterstate" pitchFamily="2" charset="0"/>
              </a:rPr>
            </a:br>
            <a:r>
              <a:rPr lang="en-US" sz="2400" b="0" dirty="0" smtClean="0">
                <a:latin typeface="EYInterstate" pitchFamily="2" charset="0"/>
              </a:rPr>
              <a:t>M&amp;C Program IT Service Delivery </a:t>
            </a:r>
            <a:br>
              <a:rPr lang="en-US" sz="2400" b="0" dirty="0" smtClean="0">
                <a:latin typeface="EYInterstate" pitchFamily="2" charset="0"/>
              </a:rPr>
            </a:br>
            <a:r>
              <a:rPr lang="en-US" sz="2400" b="0" dirty="0" smtClean="0">
                <a:latin typeface="EYInterstate" pitchFamily="2" charset="0"/>
              </a:rPr>
              <a:t>Weekly report</a:t>
            </a:r>
            <a:endParaRPr lang="en-US" sz="2400" b="0" dirty="0">
              <a:latin typeface="EYInterstate" pitchFamily="2" charset="0"/>
            </a:endParaRPr>
          </a:p>
        </p:txBody>
      </p:sp>
      <p:sp>
        <p:nvSpPr>
          <p:cNvPr id="8195" name="Rectangle 6"/>
          <p:cNvSpPr>
            <a:spLocks noGrp="1" noChangeArrowheads="1"/>
          </p:cNvSpPr>
          <p:nvPr>
            <p:ph type="subTitle" idx="1"/>
          </p:nvPr>
        </p:nvSpPr>
        <p:spPr>
          <a:xfrm>
            <a:off x="3062288" y="4953000"/>
            <a:ext cx="5541962" cy="1019175"/>
          </a:xfrm>
        </p:spPr>
        <p:txBody>
          <a:bodyPr/>
          <a:lstStyle/>
          <a:p>
            <a:pPr eaLnBrk="1" hangingPunct="1"/>
            <a:r>
              <a:rPr lang="en-GB" sz="1600" dirty="0" smtClean="0">
                <a:latin typeface="EYInterstate" pitchFamily="2" charset="0"/>
              </a:rPr>
              <a:t>13 February 2012</a:t>
            </a:r>
            <a:endParaRPr lang="en-GB" sz="1600" dirty="0">
              <a:latin typeface="EYInterstate" pitchFamily="2" charset="0"/>
            </a:endParaRPr>
          </a:p>
        </p:txBody>
      </p:sp>
    </p:spTree>
  </p:cSld>
  <p:clrMapOvr>
    <a:masterClrMapping/>
  </p:clrMapOvr>
  <p:transition advTm="1157"/>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l" defTabSz="955675" eaLnBrk="0" hangingPunct="0">
              <a:spcAft>
                <a:spcPts val="0"/>
              </a:spcAft>
              <a:defRPr/>
            </a:pPr>
            <a:r>
              <a:rPr lang="en-US" sz="1600" b="1" kern="0" dirty="0" smtClean="0">
                <a:solidFill>
                  <a:srgbClr val="646464"/>
                </a:solidFill>
                <a:latin typeface="EYInterstate"/>
              </a:rPr>
              <a:t>1. Actions brought forward</a:t>
            </a:r>
            <a:endParaRPr lang="en-US" sz="1600" b="1" kern="0" dirty="0">
              <a:solidFill>
                <a:srgbClr val="646464"/>
              </a:solidFill>
              <a:latin typeface="EYInterstate"/>
            </a:endParaRPr>
          </a:p>
        </p:txBody>
      </p:sp>
      <p:graphicFrame>
        <p:nvGraphicFramePr>
          <p:cNvPr id="3" name="Content Placeholder 3"/>
          <p:cNvGraphicFramePr>
            <a:graphicFrameLocks/>
          </p:cNvGraphicFramePr>
          <p:nvPr/>
        </p:nvGraphicFramePr>
        <p:xfrm>
          <a:off x="76200" y="822960"/>
          <a:ext cx="8612185" cy="3535680"/>
        </p:xfrm>
        <a:graphic>
          <a:graphicData uri="http://schemas.openxmlformats.org/drawingml/2006/table">
            <a:tbl>
              <a:tblPr firstRow="1" bandRow="1">
                <a:tableStyleId>{5C22544A-7EE6-4342-B048-85BDC9FD1C3A}</a:tableStyleId>
              </a:tblPr>
              <a:tblGrid>
                <a:gridCol w="685800"/>
                <a:gridCol w="1837562"/>
                <a:gridCol w="782065"/>
                <a:gridCol w="764019"/>
                <a:gridCol w="804638"/>
                <a:gridCol w="737933"/>
                <a:gridCol w="615091"/>
                <a:gridCol w="1103417"/>
                <a:gridCol w="640830"/>
                <a:gridCol w="640830"/>
              </a:tblGrid>
              <a:tr h="378117">
                <a:tc>
                  <a:txBody>
                    <a:bodyPr/>
                    <a:lstStyle/>
                    <a:p>
                      <a:pPr algn="l"/>
                      <a:r>
                        <a:rPr lang="en-US" sz="1000" b="1" kern="1200" dirty="0" smtClean="0">
                          <a:solidFill>
                            <a:schemeClr val="lt1"/>
                          </a:solidFill>
                          <a:latin typeface="+mn-lt"/>
                          <a:ea typeface="+mn-ea"/>
                          <a:cs typeface="+mn-cs"/>
                        </a:rPr>
                        <a:t>Ref</a:t>
                      </a:r>
                      <a:endParaRPr lang="en-GB" sz="1000" dirty="0"/>
                    </a:p>
                  </a:txBody>
                  <a:tcPr/>
                </a:tc>
                <a:tc>
                  <a:txBody>
                    <a:bodyPr/>
                    <a:lstStyle/>
                    <a:p>
                      <a:pPr algn="l"/>
                      <a:r>
                        <a:rPr lang="en-US" sz="1100" b="1" kern="1200" dirty="0" smtClean="0">
                          <a:solidFill>
                            <a:schemeClr val="lt1"/>
                          </a:solidFill>
                          <a:latin typeface="+mn-lt"/>
                          <a:ea typeface="+mn-ea"/>
                          <a:cs typeface="+mn-cs"/>
                        </a:rPr>
                        <a:t>Action</a:t>
                      </a:r>
                      <a:endParaRPr lang="en-GB" sz="1100" dirty="0"/>
                    </a:p>
                  </a:txBody>
                  <a:tcPr/>
                </a:tc>
                <a:tc>
                  <a:txBody>
                    <a:bodyPr/>
                    <a:lstStyle/>
                    <a:p>
                      <a:pPr algn="ctr"/>
                      <a:r>
                        <a:rPr lang="en-US" sz="1000" b="1" kern="1200" dirty="0" smtClean="0">
                          <a:solidFill>
                            <a:schemeClr val="lt1"/>
                          </a:solidFill>
                          <a:latin typeface="+mn-lt"/>
                          <a:ea typeface="+mn-ea"/>
                          <a:cs typeface="+mn-cs"/>
                        </a:rPr>
                        <a:t>Who</a:t>
                      </a:r>
                      <a:endParaRPr lang="en-GB" sz="1000" dirty="0"/>
                    </a:p>
                  </a:txBody>
                  <a:tcPr/>
                </a:tc>
                <a:tc>
                  <a:txBody>
                    <a:bodyPr/>
                    <a:lstStyle/>
                    <a:p>
                      <a:pPr algn="ctr"/>
                      <a:r>
                        <a:rPr lang="en-GB" sz="1000" dirty="0" smtClean="0"/>
                        <a:t>Program</a:t>
                      </a:r>
                      <a:endParaRPr lang="en-GB" sz="1000" dirty="0"/>
                    </a:p>
                  </a:txBody>
                  <a:tcPr/>
                </a:tc>
                <a:tc>
                  <a:txBody>
                    <a:bodyPr/>
                    <a:lstStyle/>
                    <a:p>
                      <a:pPr algn="ctr"/>
                      <a:r>
                        <a:rPr lang="en-GB" sz="1000" dirty="0" smtClean="0"/>
                        <a:t>Status</a:t>
                      </a:r>
                      <a:endParaRPr lang="en-GB" sz="1000" dirty="0"/>
                    </a:p>
                  </a:txBody>
                  <a:tcPr/>
                </a:tc>
                <a:tc>
                  <a:txBody>
                    <a:bodyPr/>
                    <a:lstStyle/>
                    <a:p>
                      <a:pPr algn="ctr"/>
                      <a:r>
                        <a:rPr lang="en-US" sz="1000" b="1" kern="1200" dirty="0" smtClean="0">
                          <a:solidFill>
                            <a:schemeClr val="lt1"/>
                          </a:solidFill>
                          <a:latin typeface="+mn-lt"/>
                          <a:ea typeface="+mn-ea"/>
                          <a:cs typeface="+mn-cs"/>
                        </a:rPr>
                        <a:t>Original target</a:t>
                      </a:r>
                      <a:r>
                        <a:rPr lang="en-US" sz="1000" b="1" kern="1200" baseline="0" dirty="0" smtClean="0">
                          <a:solidFill>
                            <a:schemeClr val="lt1"/>
                          </a:solidFill>
                          <a:latin typeface="+mn-lt"/>
                          <a:ea typeface="+mn-ea"/>
                          <a:cs typeface="+mn-cs"/>
                        </a:rPr>
                        <a:t> date</a:t>
                      </a:r>
                      <a:endParaRPr lang="en-GB" sz="1000" dirty="0"/>
                    </a:p>
                  </a:txBody>
                  <a:tcPr/>
                </a:tc>
                <a:tc>
                  <a:txBody>
                    <a:bodyPr/>
                    <a:lstStyle/>
                    <a:p>
                      <a:pPr algn="ctr"/>
                      <a:r>
                        <a:rPr lang="en-GB" sz="1000" dirty="0" smtClean="0"/>
                        <a:t>New target date</a:t>
                      </a:r>
                      <a:endParaRPr lang="en-GB" sz="1000" dirty="0"/>
                    </a:p>
                  </a:txBody>
                  <a:tcPr/>
                </a:tc>
                <a:tc>
                  <a:txBody>
                    <a:bodyPr/>
                    <a:lstStyle/>
                    <a:p>
                      <a:pPr marL="0" indent="0" algn="ctr" defTabSz="914400" rtl="0" eaLnBrk="1" latinLnBrk="0" hangingPunct="1"/>
                      <a:r>
                        <a:rPr lang="en-GB" sz="1000" b="1" kern="1200" dirty="0" smtClean="0">
                          <a:solidFill>
                            <a:schemeClr val="lt1"/>
                          </a:solidFill>
                          <a:latin typeface="+mn-lt"/>
                          <a:ea typeface="+mn-ea"/>
                          <a:cs typeface="+mn-cs"/>
                        </a:rPr>
                        <a:t>Update</a:t>
                      </a:r>
                      <a:endParaRPr lang="en-GB" sz="1000" b="1" kern="1200" dirty="0">
                        <a:solidFill>
                          <a:schemeClr val="lt1"/>
                        </a:solidFill>
                        <a:latin typeface="+mn-lt"/>
                        <a:ea typeface="+mn-ea"/>
                        <a:cs typeface="+mn-cs"/>
                      </a:endParaRPr>
                    </a:p>
                  </a:txBody>
                  <a:tcPr/>
                </a:tc>
                <a:tc>
                  <a:txBody>
                    <a:bodyPr/>
                    <a:lstStyle/>
                    <a:p>
                      <a:pPr marL="0" algn="ctr" defTabSz="914400" rtl="0" eaLnBrk="1" latinLnBrk="0" hangingPunct="1"/>
                      <a:r>
                        <a:rPr lang="en-US" sz="1000" b="1" kern="1200" dirty="0" smtClean="0">
                          <a:solidFill>
                            <a:schemeClr val="lt1"/>
                          </a:solidFill>
                          <a:latin typeface="+mn-lt"/>
                          <a:ea typeface="+mn-ea"/>
                          <a:cs typeface="+mn-cs"/>
                        </a:rPr>
                        <a:t>Date opened</a:t>
                      </a:r>
                      <a:endParaRPr lang="en-GB" sz="1000" b="1" kern="1200" dirty="0">
                        <a:solidFill>
                          <a:schemeClr val="lt1"/>
                        </a:solidFill>
                        <a:latin typeface="+mn-lt"/>
                        <a:ea typeface="+mn-ea"/>
                        <a:cs typeface="+mn-cs"/>
                      </a:endParaRPr>
                    </a:p>
                  </a:txBody>
                  <a:tcPr/>
                </a:tc>
                <a:tc>
                  <a:txBody>
                    <a:bodyPr/>
                    <a:lstStyle/>
                    <a:p>
                      <a:pPr marL="0" algn="ctr" defTabSz="914400" rtl="0" eaLnBrk="1" latinLnBrk="0" hangingPunct="1"/>
                      <a:r>
                        <a:rPr lang="en-GB" sz="1000" b="1" kern="1200" dirty="0" smtClean="0">
                          <a:solidFill>
                            <a:schemeClr val="lt1"/>
                          </a:solidFill>
                          <a:latin typeface="+mn-lt"/>
                          <a:ea typeface="+mn-ea"/>
                          <a:cs typeface="+mn-cs"/>
                        </a:rPr>
                        <a:t>Date closed</a:t>
                      </a:r>
                      <a:endParaRPr lang="en-GB" sz="1000" b="1" kern="1200" dirty="0">
                        <a:solidFill>
                          <a:schemeClr val="lt1"/>
                        </a:solidFill>
                        <a:latin typeface="+mn-lt"/>
                        <a:ea typeface="+mn-ea"/>
                        <a:cs typeface="+mn-cs"/>
                      </a:endParaRPr>
                    </a:p>
                  </a:txBody>
                  <a:tcPr/>
                </a:tc>
              </a:tr>
              <a:tr h="60960">
                <a:tc>
                  <a:txBody>
                    <a:bodyPr/>
                    <a:lstStyle/>
                    <a:p>
                      <a:pPr algn="l" hangingPunct="0">
                        <a:spcBef>
                          <a:spcPts val="500"/>
                        </a:spcBef>
                        <a:spcAft>
                          <a:spcPts val="500"/>
                        </a:spcAft>
                      </a:pPr>
                      <a:endParaRPr lang="en-GB" sz="900" dirty="0">
                        <a:latin typeface="EYInterstate Light" pitchFamily="2" charset="0"/>
                        <a:ea typeface="Times New Roman"/>
                        <a:cs typeface="Times New Roman"/>
                      </a:endParaRPr>
                    </a:p>
                  </a:txBody>
                  <a:tcPr marL="44450" marR="44450" marT="0" marB="0"/>
                </a:tc>
                <a:tc>
                  <a:txBody>
                    <a:bodyPr/>
                    <a:lstStyle/>
                    <a:p>
                      <a:pPr marL="0" indent="0" algn="l" hangingPunct="0">
                        <a:spcBef>
                          <a:spcPts val="500"/>
                        </a:spcBef>
                        <a:spcAft>
                          <a:spcPts val="500"/>
                        </a:spcAft>
                      </a:pPr>
                      <a:r>
                        <a:rPr lang="en-GB" sz="900" baseline="0" dirty="0" smtClean="0">
                          <a:solidFill>
                            <a:srgbClr val="000000"/>
                          </a:solidFill>
                          <a:latin typeface="EYInterstate Light" pitchFamily="2" charset="0"/>
                          <a:ea typeface="Times New Roman"/>
                          <a:cs typeface="Times New Roman"/>
                        </a:rPr>
                        <a:t>Planning standards</a:t>
                      </a:r>
                    </a:p>
                    <a:p>
                      <a:pPr marL="0" indent="0" algn="l" hangingPunct="0">
                        <a:spcBef>
                          <a:spcPts val="500"/>
                        </a:spcBef>
                        <a:spcAft>
                          <a:spcPts val="500"/>
                        </a:spcAft>
                      </a:pPr>
                      <a:r>
                        <a:rPr lang="en-GB" sz="900" baseline="0" dirty="0" smtClean="0">
                          <a:solidFill>
                            <a:srgbClr val="000000"/>
                          </a:solidFill>
                          <a:latin typeface="EYInterstate Light" pitchFamily="2" charset="0"/>
                          <a:ea typeface="Times New Roman"/>
                          <a:cs typeface="Times New Roman"/>
                        </a:rPr>
                        <a:t>Initial draft – milestones / deliverables for App Waterfall and Infrastructure  SDA related M&amp;C programs in place and integrated into ADM and Tech Foundation plans .  </a:t>
                      </a:r>
                    </a:p>
                    <a:p>
                      <a:pPr marL="0" indent="0" algn="l" hangingPunct="0">
                        <a:spcBef>
                          <a:spcPts val="500"/>
                        </a:spcBef>
                        <a:spcAft>
                          <a:spcPts val="500"/>
                        </a:spcAft>
                      </a:pPr>
                      <a:r>
                        <a:rPr lang="en-GB" sz="900" baseline="0" dirty="0" smtClean="0">
                          <a:solidFill>
                            <a:srgbClr val="000000"/>
                          </a:solidFill>
                          <a:latin typeface="EYInterstate Light" pitchFamily="2" charset="0"/>
                          <a:ea typeface="Times New Roman"/>
                          <a:cs typeface="Times New Roman"/>
                        </a:rPr>
                        <a:t>Phase gate reviews with above programs agreed</a:t>
                      </a:r>
                    </a:p>
                    <a:p>
                      <a:pPr marL="0" indent="0" algn="l" hangingPunct="0">
                        <a:spcBef>
                          <a:spcPts val="500"/>
                        </a:spcBef>
                        <a:spcAft>
                          <a:spcPts val="500"/>
                        </a:spcAft>
                      </a:pP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algn="ctr" hangingPunct="0">
                        <a:spcBef>
                          <a:spcPts val="500"/>
                        </a:spcBef>
                        <a:spcAft>
                          <a:spcPts val="500"/>
                        </a:spcAft>
                      </a:pPr>
                      <a:r>
                        <a:rPr lang="en-GB" sz="900" dirty="0" smtClean="0">
                          <a:solidFill>
                            <a:srgbClr val="000000"/>
                          </a:solidFill>
                          <a:latin typeface="EYInterstate Light" pitchFamily="2" charset="0"/>
                          <a:ea typeface="Times New Roman"/>
                          <a:cs typeface="Times New Roman"/>
                        </a:rPr>
                        <a:t>Steve</a:t>
                      </a:r>
                      <a:r>
                        <a:rPr lang="en-GB" sz="900" baseline="0" dirty="0" smtClean="0">
                          <a:solidFill>
                            <a:srgbClr val="000000"/>
                          </a:solidFill>
                          <a:latin typeface="EYInterstate Light" pitchFamily="2" charset="0"/>
                          <a:ea typeface="Times New Roman"/>
                          <a:cs typeface="Times New Roman"/>
                        </a:rPr>
                        <a:t> </a:t>
                      </a:r>
                      <a:r>
                        <a:rPr lang="en-GB" sz="900" baseline="0" dirty="0" err="1" smtClean="0">
                          <a:solidFill>
                            <a:srgbClr val="000000"/>
                          </a:solidFill>
                          <a:latin typeface="EYInterstate Light" pitchFamily="2" charset="0"/>
                          <a:ea typeface="Times New Roman"/>
                          <a:cs typeface="Times New Roman"/>
                        </a:rPr>
                        <a:t>Jelf</a:t>
                      </a: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algn="ctr" hangingPunct="0">
                        <a:spcBef>
                          <a:spcPts val="500"/>
                        </a:spcBef>
                        <a:spcAft>
                          <a:spcPts val="500"/>
                        </a:spcAft>
                      </a:pPr>
                      <a:r>
                        <a:rPr lang="en-GB" sz="900" dirty="0" smtClean="0">
                          <a:solidFill>
                            <a:srgbClr val="000000"/>
                          </a:solidFill>
                          <a:latin typeface="EYInterstate Light" pitchFamily="2" charset="0"/>
                          <a:ea typeface="Times New Roman"/>
                          <a:cs typeface="Times New Roman"/>
                        </a:rPr>
                        <a:t>M&amp;C</a:t>
                      </a: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300"/>
                        </a:spcBef>
                        <a:spcAft>
                          <a:spcPts val="300"/>
                        </a:spcAft>
                      </a:pPr>
                      <a:r>
                        <a:rPr lang="en-GB" sz="900" dirty="0" smtClean="0">
                          <a:solidFill>
                            <a:srgbClr val="000000"/>
                          </a:solidFill>
                          <a:latin typeface="EYInterstate Light" pitchFamily="2" charset="0"/>
                          <a:ea typeface="Times New Roman"/>
                          <a:cs typeface="Times New Roman"/>
                        </a:rPr>
                        <a:t>Planning in progress</a:t>
                      </a: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300"/>
                        </a:spcBef>
                        <a:spcAft>
                          <a:spcPts val="300"/>
                        </a:spcAft>
                      </a:pPr>
                      <a:r>
                        <a:rPr lang="en-GB" sz="900" dirty="0" smtClean="0">
                          <a:solidFill>
                            <a:srgbClr val="000000"/>
                          </a:solidFill>
                          <a:latin typeface="EYInterstate Light" pitchFamily="2" charset="0"/>
                          <a:ea typeface="Times New Roman"/>
                          <a:cs typeface="Times New Roman"/>
                        </a:rPr>
                        <a:t>02/2012</a:t>
                      </a: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300"/>
                        </a:spcBef>
                        <a:spcAft>
                          <a:spcPts val="300"/>
                        </a:spcAft>
                      </a:pPr>
                      <a:r>
                        <a:rPr lang="en-GB" sz="900" dirty="0" smtClean="0">
                          <a:solidFill>
                            <a:srgbClr val="000000"/>
                          </a:solidFill>
                          <a:latin typeface="EYInterstate Light" pitchFamily="2" charset="0"/>
                          <a:ea typeface="Times New Roman"/>
                          <a:cs typeface="Times New Roman"/>
                        </a:rPr>
                        <a:t>-</a:t>
                      </a: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300"/>
                        </a:spcBef>
                        <a:spcAft>
                          <a:spcPts val="300"/>
                        </a:spcAft>
                      </a:pPr>
                      <a:r>
                        <a:rPr lang="en-GB" sz="900" dirty="0" smtClean="0">
                          <a:solidFill>
                            <a:srgbClr val="000000"/>
                          </a:solidFill>
                          <a:latin typeface="EYInterstate Light" pitchFamily="2" charset="0"/>
                          <a:ea typeface="Times New Roman"/>
                          <a:cs typeface="Times New Roman"/>
                        </a:rPr>
                        <a:t>On</a:t>
                      </a:r>
                      <a:r>
                        <a:rPr lang="en-GB" sz="900" baseline="0" dirty="0" smtClean="0">
                          <a:solidFill>
                            <a:srgbClr val="000000"/>
                          </a:solidFill>
                          <a:latin typeface="EYInterstate Light" pitchFamily="2" charset="0"/>
                          <a:ea typeface="Times New Roman"/>
                          <a:cs typeface="Times New Roman"/>
                        </a:rPr>
                        <a:t> track.</a:t>
                      </a: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300"/>
                        </a:spcBef>
                        <a:spcAft>
                          <a:spcPts val="300"/>
                        </a:spcAft>
                      </a:pPr>
                      <a:r>
                        <a:rPr lang="en-GB" sz="900" dirty="0" smtClean="0">
                          <a:solidFill>
                            <a:srgbClr val="000000"/>
                          </a:solidFill>
                          <a:latin typeface="EYInterstate Light" pitchFamily="2" charset="0"/>
                          <a:ea typeface="Times New Roman"/>
                          <a:cs typeface="Times New Roman"/>
                        </a:rPr>
                        <a:t>13/10/</a:t>
                      </a:r>
                    </a:p>
                    <a:p>
                      <a:pPr marL="46990" algn="ctr" hangingPunct="0">
                        <a:spcBef>
                          <a:spcPts val="300"/>
                        </a:spcBef>
                        <a:spcAft>
                          <a:spcPts val="300"/>
                        </a:spcAft>
                      </a:pPr>
                      <a:r>
                        <a:rPr lang="en-GB" sz="900" dirty="0" smtClean="0">
                          <a:solidFill>
                            <a:srgbClr val="000000"/>
                          </a:solidFill>
                          <a:latin typeface="EYInterstate Light" pitchFamily="2" charset="0"/>
                          <a:ea typeface="Times New Roman"/>
                          <a:cs typeface="Times New Roman"/>
                        </a:rPr>
                        <a:t>2011</a:t>
                      </a: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900" dirty="0">
                        <a:latin typeface="EYInterstate Light" pitchFamily="2" charset="0"/>
                        <a:ea typeface="Times New Roman"/>
                        <a:cs typeface="Times New Roman"/>
                      </a:endParaRPr>
                    </a:p>
                  </a:txBody>
                  <a:tcPr marL="44450" marR="44450" marT="0" marB="0"/>
                </a:tc>
              </a:tr>
              <a:tr h="60960">
                <a:tc>
                  <a:txBody>
                    <a:bodyPr/>
                    <a:lstStyle/>
                    <a:p>
                      <a:pPr algn="l" hangingPunct="0">
                        <a:spcBef>
                          <a:spcPts val="500"/>
                        </a:spcBef>
                        <a:spcAft>
                          <a:spcPts val="500"/>
                        </a:spcAft>
                      </a:pPr>
                      <a:r>
                        <a:rPr lang="en-GB" sz="900" dirty="0" smtClean="0">
                          <a:solidFill>
                            <a:srgbClr val="000000"/>
                          </a:solidFill>
                          <a:latin typeface="+mn-lt"/>
                          <a:ea typeface="Times New Roman"/>
                          <a:cs typeface="Times New Roman"/>
                        </a:rPr>
                        <a:t>P1.0</a:t>
                      </a:r>
                      <a:endParaRPr lang="en-GB" sz="900" dirty="0">
                        <a:solidFill>
                          <a:srgbClr val="000000"/>
                        </a:solidFill>
                        <a:latin typeface="+mn-lt"/>
                        <a:ea typeface="Times New Roman"/>
                        <a:cs typeface="Times New Roman"/>
                      </a:endParaRPr>
                    </a:p>
                  </a:txBody>
                  <a:tcPr marL="44450" marR="44450" marT="0" marB="0"/>
                </a:tc>
                <a:tc>
                  <a:txBody>
                    <a:bodyPr/>
                    <a:lstStyle/>
                    <a:p>
                      <a:pPr algn="l" hangingPunct="0">
                        <a:spcBef>
                          <a:spcPts val="0"/>
                        </a:spcBef>
                        <a:spcAft>
                          <a:spcPts val="0"/>
                        </a:spcAft>
                      </a:pPr>
                      <a:r>
                        <a:rPr lang="en-GB" sz="900" dirty="0" smtClean="0">
                          <a:solidFill>
                            <a:srgbClr val="000000"/>
                          </a:solidFill>
                          <a:latin typeface="EYInterstate Light" pitchFamily="2" charset="0"/>
                          <a:ea typeface="Times New Roman"/>
                          <a:cs typeface="Times New Roman"/>
                        </a:rPr>
                        <a:t>Invoice</a:t>
                      </a:r>
                      <a:r>
                        <a:rPr lang="en-GB" sz="900" baseline="0" dirty="0" smtClean="0">
                          <a:solidFill>
                            <a:srgbClr val="000000"/>
                          </a:solidFill>
                          <a:latin typeface="EYInterstate Light" pitchFamily="2" charset="0"/>
                          <a:ea typeface="Times New Roman"/>
                          <a:cs typeface="Times New Roman"/>
                        </a:rPr>
                        <a:t> process in review</a:t>
                      </a: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marL="0" marR="0" indent="0" algn="l" defTabSz="914400" rtl="0" eaLnBrk="1" fontAlgn="auto" latinLnBrk="0" hangingPunct="0">
                        <a:lnSpc>
                          <a:spcPct val="100000"/>
                        </a:lnSpc>
                        <a:spcBef>
                          <a:spcPts val="0"/>
                        </a:spcBef>
                        <a:spcAft>
                          <a:spcPts val="0"/>
                        </a:spcAft>
                        <a:buClrTx/>
                        <a:buSzTx/>
                        <a:buFontTx/>
                        <a:buNone/>
                        <a:tabLst/>
                        <a:defRPr/>
                      </a:pPr>
                      <a:r>
                        <a:rPr lang="en-GB" sz="900" baseline="0" dirty="0" smtClean="0">
                          <a:solidFill>
                            <a:srgbClr val="000000"/>
                          </a:solidFill>
                          <a:latin typeface="EYInterstate Light" pitchFamily="2" charset="0"/>
                          <a:ea typeface="Times New Roman"/>
                          <a:cs typeface="Times New Roman"/>
                        </a:rPr>
                        <a:t>Jean-Michel </a:t>
                      </a:r>
                      <a:r>
                        <a:rPr lang="en-GB" sz="900" baseline="0" dirty="0" err="1" smtClean="0">
                          <a:solidFill>
                            <a:srgbClr val="000000"/>
                          </a:solidFill>
                          <a:latin typeface="EYInterstate Light" pitchFamily="2" charset="0"/>
                          <a:ea typeface="Times New Roman"/>
                          <a:cs typeface="Times New Roman"/>
                        </a:rPr>
                        <a:t>Bouhier</a:t>
                      </a:r>
                      <a:endParaRPr lang="en-GB" sz="900" baseline="0" dirty="0" smtClean="0">
                        <a:solidFill>
                          <a:srgbClr val="000000"/>
                        </a:solidFill>
                        <a:latin typeface="EYInterstate Light" pitchFamily="2" charset="0"/>
                        <a:ea typeface="Times New Roman"/>
                        <a:cs typeface="Times New Roman"/>
                      </a:endParaRPr>
                    </a:p>
                  </a:txBody>
                  <a:tcPr marL="44450" marR="44450" marT="0" marB="0"/>
                </a:tc>
                <a:tc>
                  <a:txBody>
                    <a:bodyPr/>
                    <a:lstStyle/>
                    <a:p>
                      <a:pPr algn="ctr" hangingPunct="0">
                        <a:spcBef>
                          <a:spcPts val="0"/>
                        </a:spcBef>
                        <a:spcAft>
                          <a:spcPts val="0"/>
                        </a:spcAft>
                      </a:pPr>
                      <a:r>
                        <a:rPr lang="en-GB" sz="900" dirty="0" smtClean="0">
                          <a:solidFill>
                            <a:srgbClr val="000000"/>
                          </a:solidFill>
                          <a:latin typeface="EYInterstate Light" pitchFamily="2" charset="0"/>
                          <a:ea typeface="Times New Roman"/>
                          <a:cs typeface="Times New Roman"/>
                        </a:rPr>
                        <a:t>M&amp;C</a:t>
                      </a: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marL="0" marR="0" indent="0" algn="ctr" defTabSz="914400" rtl="0" eaLnBrk="1" fontAlgn="auto" latinLnBrk="0" hangingPunct="0">
                        <a:lnSpc>
                          <a:spcPct val="100000"/>
                        </a:lnSpc>
                        <a:spcBef>
                          <a:spcPts val="0"/>
                        </a:spcBef>
                        <a:spcAft>
                          <a:spcPts val="0"/>
                        </a:spcAft>
                        <a:buClrTx/>
                        <a:buSzTx/>
                        <a:buFontTx/>
                        <a:buNone/>
                        <a:tabLst/>
                        <a:defRPr/>
                      </a:pPr>
                      <a:r>
                        <a:rPr lang="en-GB" sz="900" dirty="0" smtClean="0">
                          <a:solidFill>
                            <a:srgbClr val="000000"/>
                          </a:solidFill>
                          <a:latin typeface="EYInterstate Light" pitchFamily="2" charset="0"/>
                          <a:ea typeface="Times New Roman"/>
                          <a:cs typeface="Times New Roman"/>
                        </a:rPr>
                        <a:t>First</a:t>
                      </a:r>
                      <a:r>
                        <a:rPr lang="en-GB" sz="900" baseline="0" dirty="0" smtClean="0">
                          <a:solidFill>
                            <a:srgbClr val="000000"/>
                          </a:solidFill>
                          <a:latin typeface="EYInterstate Light" pitchFamily="2" charset="0"/>
                          <a:ea typeface="Times New Roman"/>
                          <a:cs typeface="Times New Roman"/>
                        </a:rPr>
                        <a:t> Draft under review</a:t>
                      </a:r>
                      <a:endParaRPr lang="en-GB" sz="900" dirty="0" smtClean="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0"/>
                        </a:spcBef>
                        <a:spcAft>
                          <a:spcPts val="0"/>
                        </a:spcAft>
                      </a:pPr>
                      <a:r>
                        <a:rPr lang="en-GB" sz="900" dirty="0" smtClean="0">
                          <a:solidFill>
                            <a:srgbClr val="000000"/>
                          </a:solidFill>
                          <a:latin typeface="EYInterstate Light" pitchFamily="2" charset="0"/>
                          <a:ea typeface="Times New Roman"/>
                          <a:cs typeface="Times New Roman"/>
                        </a:rPr>
                        <a:t>20/10/</a:t>
                      </a:r>
                    </a:p>
                    <a:p>
                      <a:pPr marL="46990" algn="ctr" hangingPunct="0">
                        <a:spcBef>
                          <a:spcPts val="0"/>
                        </a:spcBef>
                        <a:spcAft>
                          <a:spcPts val="0"/>
                        </a:spcAft>
                      </a:pPr>
                      <a:r>
                        <a:rPr lang="en-GB" sz="900" dirty="0" smtClean="0">
                          <a:solidFill>
                            <a:srgbClr val="000000"/>
                          </a:solidFill>
                          <a:latin typeface="EYInterstate Light" pitchFamily="2" charset="0"/>
                          <a:ea typeface="Times New Roman"/>
                          <a:cs typeface="Times New Roman"/>
                        </a:rPr>
                        <a:t>2012</a:t>
                      </a: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0"/>
                        </a:spcBef>
                        <a:spcAft>
                          <a:spcPts val="0"/>
                        </a:spcAft>
                      </a:pP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0"/>
                        </a:spcBef>
                        <a:spcAft>
                          <a:spcPts val="0"/>
                        </a:spcAft>
                      </a:pP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0"/>
                        </a:spcBef>
                        <a:spcAft>
                          <a:spcPts val="0"/>
                        </a:spcAft>
                      </a:pPr>
                      <a:r>
                        <a:rPr lang="en-GB" sz="900" dirty="0" smtClean="0">
                          <a:solidFill>
                            <a:srgbClr val="000000"/>
                          </a:solidFill>
                          <a:latin typeface="EYInterstate Light" pitchFamily="2" charset="0"/>
                          <a:ea typeface="Times New Roman"/>
                          <a:cs typeface="Times New Roman"/>
                        </a:rPr>
                        <a:t>09/01/</a:t>
                      </a:r>
                    </a:p>
                    <a:p>
                      <a:pPr marL="46990" algn="ctr" hangingPunct="0">
                        <a:spcBef>
                          <a:spcPts val="0"/>
                        </a:spcBef>
                        <a:spcAft>
                          <a:spcPts val="0"/>
                        </a:spcAft>
                      </a:pPr>
                      <a:r>
                        <a:rPr lang="en-GB" sz="900" dirty="0" smtClean="0">
                          <a:solidFill>
                            <a:srgbClr val="000000"/>
                          </a:solidFill>
                          <a:latin typeface="EYInterstate Light" pitchFamily="2" charset="0"/>
                          <a:ea typeface="Times New Roman"/>
                          <a:cs typeface="Times New Roman"/>
                        </a:rPr>
                        <a:t>2012</a:t>
                      </a:r>
                      <a:endParaRPr lang="en-GB" sz="9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0"/>
                        </a:spcBef>
                        <a:spcAft>
                          <a:spcPts val="0"/>
                        </a:spcAft>
                      </a:pPr>
                      <a:endParaRPr lang="en-GB" sz="900" dirty="0">
                        <a:latin typeface="EYInterstate Light" pitchFamily="2" charset="0"/>
                        <a:ea typeface="Times New Roman"/>
                        <a:cs typeface="Times New Roman"/>
                      </a:endParaRPr>
                    </a:p>
                  </a:txBody>
                  <a:tcPr marL="44450" marR="44450" marT="0" marB="0"/>
                </a:tc>
              </a:tr>
              <a:tr h="60960">
                <a:tc>
                  <a:txBody>
                    <a:bodyPr/>
                    <a:lstStyle/>
                    <a:p>
                      <a:pPr algn="l" hangingPunct="0">
                        <a:spcBef>
                          <a:spcPts val="500"/>
                        </a:spcBef>
                        <a:spcAft>
                          <a:spcPts val="500"/>
                        </a:spcAft>
                      </a:pPr>
                      <a:endParaRPr lang="en-GB" sz="900" dirty="0">
                        <a:latin typeface="+mn-lt"/>
                        <a:ea typeface="Times New Roman"/>
                        <a:cs typeface="Times New Roman"/>
                      </a:endParaRPr>
                    </a:p>
                  </a:txBody>
                  <a:tcPr marL="44450" marR="44450" marT="0" marB="0"/>
                </a:tc>
                <a:tc>
                  <a:txBody>
                    <a:bodyPr/>
                    <a:lstStyle/>
                    <a:p>
                      <a:pPr marL="46990" algn="l" hangingPunct="0">
                        <a:spcBef>
                          <a:spcPts val="500"/>
                        </a:spcBef>
                        <a:spcAft>
                          <a:spcPts val="500"/>
                        </a:spcAft>
                      </a:pPr>
                      <a:endParaRPr lang="en-GB" sz="900" dirty="0">
                        <a:latin typeface="+mn-lt"/>
                        <a:ea typeface="Times New Roman"/>
                        <a:cs typeface="Times New Roman"/>
                      </a:endParaRPr>
                    </a:p>
                  </a:txBody>
                  <a:tcPr marL="44450" marR="44450" marT="0" marB="0"/>
                </a:tc>
                <a:tc>
                  <a:txBody>
                    <a:bodyPr/>
                    <a:lstStyle/>
                    <a:p>
                      <a:pPr algn="ctr" hangingPunct="0">
                        <a:spcBef>
                          <a:spcPts val="500"/>
                        </a:spcBef>
                        <a:spcAft>
                          <a:spcPts val="500"/>
                        </a:spcAft>
                      </a:pPr>
                      <a:endParaRPr lang="en-GB" sz="900" dirty="0">
                        <a:latin typeface="+mn-lt"/>
                        <a:ea typeface="Times New Roman"/>
                        <a:cs typeface="Times New Roman"/>
                      </a:endParaRPr>
                    </a:p>
                  </a:txBody>
                  <a:tcPr marL="44450" marR="44450" marT="0" marB="0"/>
                </a:tc>
                <a:tc>
                  <a:txBody>
                    <a:bodyPr/>
                    <a:lstStyle/>
                    <a:p>
                      <a:pPr algn="ctr" hangingPunct="0">
                        <a:spcBef>
                          <a:spcPts val="500"/>
                        </a:spcBef>
                        <a:spcAft>
                          <a:spcPts val="500"/>
                        </a:spcAft>
                      </a:pPr>
                      <a:endParaRPr lang="en-GB" sz="900" dirty="0">
                        <a:latin typeface="+mn-lt"/>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44450" marR="44450" marT="0" marB="0"/>
                </a:tc>
              </a:tr>
              <a:tr h="60960">
                <a:tc>
                  <a:txBody>
                    <a:bodyPr/>
                    <a:lstStyle/>
                    <a:p>
                      <a:pPr algn="l" hangingPunct="0">
                        <a:spcBef>
                          <a:spcPts val="500"/>
                        </a:spcBef>
                        <a:spcAft>
                          <a:spcPts val="500"/>
                        </a:spcAft>
                      </a:pPr>
                      <a:endParaRPr lang="en-GB" sz="900" dirty="0">
                        <a:latin typeface="+mn-lt"/>
                        <a:ea typeface="Times New Roman"/>
                        <a:cs typeface="Times New Roman"/>
                      </a:endParaRPr>
                    </a:p>
                  </a:txBody>
                  <a:tcPr marL="44450" marR="44450" marT="0" marB="0"/>
                </a:tc>
                <a:tc>
                  <a:txBody>
                    <a:bodyPr/>
                    <a:lstStyle/>
                    <a:p>
                      <a:pPr marL="46990" algn="l" hangingPunct="0">
                        <a:spcBef>
                          <a:spcPts val="500"/>
                        </a:spcBef>
                        <a:spcAft>
                          <a:spcPts val="500"/>
                        </a:spcAft>
                      </a:pPr>
                      <a:endParaRPr lang="en-GB" sz="900" dirty="0">
                        <a:latin typeface="+mn-lt"/>
                        <a:ea typeface="Times New Roman"/>
                        <a:cs typeface="Times New Roman"/>
                      </a:endParaRPr>
                    </a:p>
                  </a:txBody>
                  <a:tcPr marL="44450" marR="44450"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44450" marR="44450" marT="0" marB="0"/>
                </a:tc>
                <a:tc>
                  <a:txBody>
                    <a:bodyPr/>
                    <a:lstStyle/>
                    <a:p>
                      <a:pPr algn="ctr" hangingPunct="0">
                        <a:spcBef>
                          <a:spcPts val="500"/>
                        </a:spcBef>
                        <a:spcAft>
                          <a:spcPts val="500"/>
                        </a:spcAft>
                      </a:pPr>
                      <a:endParaRPr lang="en-GB" sz="900" dirty="0">
                        <a:latin typeface="+mn-lt"/>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900">
                        <a:latin typeface="+mn-lt"/>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900">
                        <a:latin typeface="+mn-lt"/>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900">
                        <a:latin typeface="+mn-lt"/>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44450" marR="44450" marT="0" marB="0"/>
                </a:tc>
              </a:tr>
              <a:tr h="60960">
                <a:tc>
                  <a:txBody>
                    <a:bodyPr/>
                    <a:lstStyle/>
                    <a:p>
                      <a:pPr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marL="46990"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r>
              <a:tr h="60960">
                <a:tc>
                  <a:txBody>
                    <a:bodyPr/>
                    <a:lstStyle/>
                    <a:p>
                      <a:pPr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marL="46990"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r>
              <a:tr h="60960">
                <a:tc>
                  <a:txBody>
                    <a:bodyPr/>
                    <a:lstStyle/>
                    <a:p>
                      <a:pPr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marL="46990"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r>
              <a:tr h="60960">
                <a:tc>
                  <a:txBody>
                    <a:bodyPr/>
                    <a:lstStyle/>
                    <a:p>
                      <a:pPr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marL="46990"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r>
              <a:tr h="60960">
                <a:tc>
                  <a:txBody>
                    <a:bodyPr/>
                    <a:lstStyle/>
                    <a:p>
                      <a:pPr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marL="46990"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94"/>
          <p:cNvSpPr>
            <a:spLocks/>
          </p:cNvSpPr>
          <p:nvPr/>
        </p:nvSpPr>
        <p:spPr bwMode="gray">
          <a:xfrm>
            <a:off x="-2459" y="-3263"/>
            <a:ext cx="6398869"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latin typeface="EYInterstate"/>
              </a:rPr>
              <a:t>2. Overall assessment of Program health</a:t>
            </a:r>
            <a:endParaRPr lang="en-US" sz="1600" b="1" kern="0" dirty="0">
              <a:solidFill>
                <a:srgbClr val="646464"/>
              </a:solidFill>
              <a:latin typeface="EYInterstate"/>
            </a:endParaRPr>
          </a:p>
        </p:txBody>
      </p:sp>
      <p:graphicFrame>
        <p:nvGraphicFramePr>
          <p:cNvPr id="10" name="Group 852"/>
          <p:cNvGraphicFramePr>
            <a:graphicFrameLocks noGrp="1"/>
          </p:cNvGraphicFramePr>
          <p:nvPr/>
        </p:nvGraphicFramePr>
        <p:xfrm>
          <a:off x="6396408" y="10477"/>
          <a:ext cx="2747592" cy="6847522"/>
        </p:xfrm>
        <a:graphic>
          <a:graphicData uri="http://schemas.openxmlformats.org/drawingml/2006/table">
            <a:tbl>
              <a:tblPr/>
              <a:tblGrid>
                <a:gridCol w="2747592"/>
              </a:tblGrid>
              <a:tr h="146902">
                <a:tc>
                  <a:txBody>
                    <a:bodyPr/>
                    <a:lstStyle/>
                    <a:p>
                      <a:pPr marL="0" marR="0" lvl="0" indent="0" algn="l" defTabSz="947738" rtl="0" eaLnBrk="0" fontAlgn="base" latinLnBrk="0" hangingPunct="0">
                        <a:lnSpc>
                          <a:spcPct val="100000"/>
                        </a:lnSpc>
                        <a:spcBef>
                          <a:spcPct val="0"/>
                        </a:spcBef>
                        <a:spcAft>
                          <a:spcPct val="0"/>
                        </a:spcAft>
                        <a:buClrTx/>
                        <a:buSzTx/>
                        <a:buFont typeface="Wingdings" pitchFamily="2" charset="2"/>
                        <a:buChar char="Ø"/>
                        <a:tabLst/>
                      </a:pPr>
                      <a:r>
                        <a:rPr kumimoji="0" lang="en-US" sz="700" b="1" i="0" u="none" strike="noStrike" cap="none" normalizeH="0" baseline="0" dirty="0" smtClean="0">
                          <a:ln>
                            <a:noFill/>
                          </a:ln>
                          <a:solidFill>
                            <a:schemeClr val="tx1"/>
                          </a:solidFill>
                          <a:effectLst/>
                          <a:latin typeface="EYInterstate" pitchFamily="2" charset="0"/>
                        </a:rPr>
                        <a:t>PMO Narrative</a:t>
                      </a: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64877">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800" b="1" i="0" u="none" strike="noStrike" cap="none" normalizeH="0" baseline="0" dirty="0" smtClean="0">
                          <a:ln>
                            <a:noFill/>
                          </a:ln>
                          <a:solidFill>
                            <a:srgbClr val="000000"/>
                          </a:solidFill>
                          <a:effectLst/>
                          <a:latin typeface="EYInterstate Light" pitchFamily="2" charset="0"/>
                        </a:rPr>
                        <a:t>Budget.</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pPr>
                      <a:r>
                        <a:rPr lang="en-GB" sz="700" dirty="0" smtClean="0">
                          <a:solidFill>
                            <a:srgbClr val="000000"/>
                          </a:solidFill>
                          <a:latin typeface="EYInterstate Light" pitchFamily="2" charset="0"/>
                        </a:rPr>
                        <a:t>Adjustments for incorrect rates in WIPs is not included in the finance figures.</a:t>
                      </a:r>
                      <a:endParaRPr kumimoji="0" lang="en-US" sz="700" b="0" i="0" u="none" strike="noStrike" cap="none" normalizeH="0" baseline="0" dirty="0" smtClean="0">
                        <a:ln>
                          <a:noFill/>
                        </a:ln>
                        <a:solidFill>
                          <a:srgbClr val="000000"/>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pPr>
                      <a:r>
                        <a:rPr lang="en-GB" sz="700" b="0" i="0" u="none" strike="noStrike" baseline="0" dirty="0" err="1" smtClean="0">
                          <a:solidFill>
                            <a:srgbClr val="000000"/>
                          </a:solidFill>
                          <a:latin typeface="EYInterstate Light"/>
                        </a:rPr>
                        <a:t>Reforecasting</a:t>
                      </a:r>
                      <a:r>
                        <a:rPr lang="en-GB" sz="700" b="0" i="0" u="none" strike="noStrike" baseline="0" dirty="0" smtClean="0">
                          <a:solidFill>
                            <a:srgbClr val="000000"/>
                          </a:solidFill>
                          <a:latin typeface="EYInterstate Light"/>
                        </a:rPr>
                        <a:t> is underway with Project Managers, to ensure these forecasts are reflective of the mobilisation that is likely to occur over the  coming months till year end ,FY12 and ensure their impact on the following financial year.</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pPr>
                      <a:r>
                        <a:rPr lang="en-GB" sz="700" b="0" i="0" u="none" strike="noStrike" baseline="0" dirty="0" smtClean="0">
                          <a:solidFill>
                            <a:srgbClr val="000000"/>
                          </a:solidFill>
                          <a:latin typeface="EYInterstate Light"/>
                        </a:rPr>
                        <a:t>FY13 financial year review yet to be confirmed by Raymond and Alan.</a:t>
                      </a:r>
                      <a:endParaRPr kumimoji="0" lang="en-US" sz="700" b="0" i="0" u="none" strike="noStrike" cap="none" normalizeH="0" baseline="0" dirty="0" smtClean="0">
                        <a:ln>
                          <a:noFill/>
                        </a:ln>
                        <a:solidFill>
                          <a:srgbClr val="000000"/>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42111">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rgbClr val="000000"/>
                          </a:solidFill>
                          <a:effectLst/>
                          <a:latin typeface="EYInterstate Light" pitchFamily="2" charset="0"/>
                        </a:rPr>
                        <a:t>Schedule – Overall status </a:t>
                      </a:r>
                      <a:r>
                        <a:rPr kumimoji="0" lang="en-US" sz="700" b="1" i="0" u="none" strike="noStrike" cap="none" normalizeH="0" baseline="0" dirty="0" smtClean="0">
                          <a:ln>
                            <a:noFill/>
                          </a:ln>
                          <a:solidFill>
                            <a:srgbClr val="FF0000"/>
                          </a:solidFill>
                          <a:effectLst/>
                          <a:latin typeface="EYInterstate Light" pitchFamily="2" charset="0"/>
                        </a:rPr>
                        <a:t>RED</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EYInterstate Light" pitchFamily="2" charset="0"/>
                        </a:rPr>
                        <a:t>Schedules are red for all plans with the exception of App and Data Migration.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EYInterstate Light" pitchFamily="2" charset="0"/>
                        </a:rPr>
                        <a:t>Significant re-planning effort is now required.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EYInterstate Light" pitchFamily="2" charset="0"/>
                        </a:rPr>
                        <a:t>Planning Checkpoint #1 held with A. Guthrie, Further checkpoint will be setup 22 / 23</a:t>
                      </a:r>
                      <a:r>
                        <a:rPr kumimoji="0" lang="en-US" sz="700" b="0" i="0" u="none" strike="noStrike" cap="none" normalizeH="0" baseline="30000" dirty="0" smtClean="0">
                          <a:ln>
                            <a:noFill/>
                          </a:ln>
                          <a:solidFill>
                            <a:srgbClr val="000000"/>
                          </a:solidFill>
                          <a:effectLst/>
                          <a:latin typeface="EYInterstate Light" pitchFamily="2" charset="0"/>
                        </a:rPr>
                        <a:t>rd</a:t>
                      </a:r>
                      <a:r>
                        <a:rPr kumimoji="0" lang="en-US" sz="700" b="0" i="0" u="none" strike="noStrike" cap="none" normalizeH="0" baseline="0" dirty="0" smtClean="0">
                          <a:ln>
                            <a:noFill/>
                          </a:ln>
                          <a:solidFill>
                            <a:srgbClr val="000000"/>
                          </a:solidFill>
                          <a:effectLst/>
                          <a:latin typeface="EYInterstate Light" pitchFamily="2" charset="0"/>
                        </a:rPr>
                        <a:t> Feb prior to FSG.</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EYInterstate Light" pitchFamily="2" charset="0"/>
                        </a:rPr>
                        <a:t>Overall – All plans must be </a:t>
                      </a:r>
                      <a:r>
                        <a:rPr kumimoji="0" lang="en-US" sz="700" b="0" i="0" u="none" strike="noStrike" cap="none" normalizeH="0" baseline="0" dirty="0" err="1" smtClean="0">
                          <a:ln>
                            <a:noFill/>
                          </a:ln>
                          <a:solidFill>
                            <a:srgbClr val="000000"/>
                          </a:solidFill>
                          <a:effectLst/>
                          <a:latin typeface="EYInterstate Light" pitchFamily="2" charset="0"/>
                        </a:rPr>
                        <a:t>baselined</a:t>
                      </a:r>
                      <a:r>
                        <a:rPr kumimoji="0" lang="en-US" sz="700" b="0" i="0" u="none" strike="noStrike" cap="none" normalizeH="0" baseline="0" dirty="0" smtClean="0">
                          <a:ln>
                            <a:noFill/>
                          </a:ln>
                          <a:solidFill>
                            <a:srgbClr val="000000"/>
                          </a:solidFill>
                          <a:effectLst/>
                          <a:latin typeface="EYInterstate Light" pitchFamily="2" charset="0"/>
                        </a:rPr>
                        <a:t> by 29</a:t>
                      </a:r>
                      <a:r>
                        <a:rPr kumimoji="0" lang="en-US" sz="700" b="0" i="0" u="none" strike="noStrike" cap="none" normalizeH="0" baseline="30000" dirty="0" smtClean="0">
                          <a:ln>
                            <a:noFill/>
                          </a:ln>
                          <a:solidFill>
                            <a:srgbClr val="000000"/>
                          </a:solidFill>
                          <a:effectLst/>
                          <a:latin typeface="EYInterstate Light" pitchFamily="2" charset="0"/>
                        </a:rPr>
                        <a:t>th</a:t>
                      </a:r>
                      <a:r>
                        <a:rPr kumimoji="0" lang="en-US" sz="700" b="0" i="0" u="none" strike="noStrike" cap="none" normalizeH="0" baseline="0" dirty="0" smtClean="0">
                          <a:ln>
                            <a:noFill/>
                          </a:ln>
                          <a:solidFill>
                            <a:srgbClr val="000000"/>
                          </a:solidFill>
                          <a:effectLst/>
                          <a:latin typeface="EYInterstate Light" pitchFamily="2" charset="0"/>
                        </a:rPr>
                        <a:t> Feb and the subjected to change control processes.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EYInterstate Light" pitchFamily="2" charset="0"/>
                        </a:rPr>
                        <a:t>Requirement for “look / see” pilot now with A. Guthrie to make decision on if this goes ahead or not.  Significant concern has been raised over the benefit of doing this.</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EYInterstate Light" pitchFamily="2" charset="0"/>
                        </a:rPr>
                        <a:t>Dependencies 58 %  but still expect this to worsen given the above.  Other large scale transformation programs have &gt; 80% alignment. This does also not reflect those dependencies that are aligned, but have a past due date.</a:t>
                      </a:r>
                      <a:endParaRPr kumimoji="0" lang="en-US" sz="700" b="0" i="0" u="none" strike="noStrike" cap="none" normalizeH="0" baseline="0" dirty="0">
                        <a:ln>
                          <a:noFill/>
                        </a:ln>
                        <a:solidFill>
                          <a:srgbClr val="FF0000"/>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64237">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800" b="1" i="0" u="none" strike="noStrike" cap="none" normalizeH="0" baseline="0" dirty="0" smtClean="0">
                          <a:ln>
                            <a:noFill/>
                          </a:ln>
                          <a:solidFill>
                            <a:srgbClr val="000000"/>
                          </a:solidFill>
                          <a:effectLst/>
                          <a:latin typeface="EYInterstate Light" pitchFamily="2" charset="0"/>
                        </a:rPr>
                        <a:t>Resource.</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AMBER status for </a:t>
                      </a:r>
                      <a:r>
                        <a:rPr kumimoji="0" lang="en-GB" sz="700" b="0" i="0" u="none" strike="noStrike" kern="1200" cap="none" normalizeH="0" baseline="0" dirty="0" err="1" smtClean="0">
                          <a:ln>
                            <a:noFill/>
                          </a:ln>
                          <a:solidFill>
                            <a:srgbClr val="000000"/>
                          </a:solidFill>
                          <a:effectLst/>
                          <a:latin typeface="EYInterstate Light" pitchFamily="2" charset="0"/>
                          <a:ea typeface="+mn-ea"/>
                          <a:cs typeface="+mn-cs"/>
                        </a:rPr>
                        <a:t>App&amp;Data</a:t>
                      </a: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 and Unified </a:t>
                      </a:r>
                      <a:r>
                        <a:rPr kumimoji="0" lang="en-GB" sz="700" b="0" i="0" u="none" strike="noStrike" kern="1200" cap="none" normalizeH="0" baseline="0" dirty="0" err="1" smtClean="0">
                          <a:ln>
                            <a:noFill/>
                          </a:ln>
                          <a:solidFill>
                            <a:srgbClr val="000000"/>
                          </a:solidFill>
                          <a:effectLst/>
                          <a:latin typeface="EYInterstate Light" pitchFamily="2" charset="0"/>
                          <a:ea typeface="+mn-ea"/>
                          <a:cs typeface="+mn-cs"/>
                        </a:rPr>
                        <a:t>Comms</a:t>
                      </a: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 resourcing all others programs are still RED.</a:t>
                      </a:r>
                      <a:endParaRPr kumimoji="0" lang="en-GB" sz="700" b="0" i="0" u="none" strike="noStrike" kern="1200" cap="none" normalizeH="0" baseline="0" noProof="0" dirty="0" smtClean="0">
                        <a:ln>
                          <a:noFill/>
                        </a:ln>
                        <a:solidFill>
                          <a:srgbClr val="000000"/>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cap="none" normalizeH="0" baseline="0" dirty="0" smtClean="0">
                          <a:ln>
                            <a:noFill/>
                          </a:ln>
                          <a:solidFill>
                            <a:srgbClr val="000000"/>
                          </a:solidFill>
                          <a:effectLst/>
                          <a:latin typeface="EYInterstate Light" pitchFamily="2" charset="0"/>
                        </a:rPr>
                        <a:t>Target for new resource plans to be published at the beginning of March, potential changes to delivery strategy in some areas means resource gap is unclear at this time.</a:t>
                      </a:r>
                      <a:endParaRPr kumimoji="0" lang="en-GB" sz="700" b="0" i="0" u="none" strike="noStrike" kern="1200" cap="none" normalizeH="0" baseline="0" noProof="0" dirty="0" smtClean="0">
                        <a:ln>
                          <a:noFill/>
                        </a:ln>
                        <a:solidFill>
                          <a:srgbClr val="000000"/>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cap="none" normalizeH="0" baseline="0" dirty="0" smtClean="0">
                          <a:ln>
                            <a:noFill/>
                          </a:ln>
                          <a:solidFill>
                            <a:srgbClr val="000000"/>
                          </a:solidFill>
                          <a:effectLst/>
                          <a:latin typeface="EYInterstate Light" pitchFamily="2" charset="0"/>
                        </a:rPr>
                        <a:t>Progress has been made in clarifying the PM requirement for TF and a resourcing solution is under discussion.</a:t>
                      </a:r>
                      <a:endParaRPr kumimoji="0" lang="en-GB" sz="700" b="0" i="0" u="none" strike="noStrike" kern="1200" cap="none" normalizeH="0" baseline="0" dirty="0" smtClean="0">
                        <a:ln>
                          <a:noFill/>
                        </a:ln>
                        <a:solidFill>
                          <a:srgbClr val="000000"/>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 </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Significant </a:t>
                      </a:r>
                      <a:r>
                        <a:rPr kumimoji="0" lang="en-US" sz="700" b="0" i="0" u="none" strike="noStrike" kern="1200" cap="none" normalizeH="0" baseline="0" dirty="0" err="1" smtClean="0">
                          <a:ln>
                            <a:noFill/>
                          </a:ln>
                          <a:solidFill>
                            <a:srgbClr val="000000"/>
                          </a:solidFill>
                          <a:effectLst/>
                          <a:latin typeface="EYInterstate Light" pitchFamily="2" charset="0"/>
                          <a:ea typeface="+mn-ea"/>
                          <a:cs typeface="+mn-cs"/>
                        </a:rPr>
                        <a:t>replanning</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means no accurate resource forecast currently available for SharePoint</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13876">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lang="en-GB" sz="800" b="1" i="0" kern="1200" baseline="0" dirty="0" smtClean="0">
                          <a:solidFill>
                            <a:srgbClr val="000000"/>
                          </a:solidFill>
                          <a:latin typeface="EYInterstate Light" pitchFamily="2" charset="0"/>
                          <a:ea typeface="+mn-ea"/>
                          <a:cs typeface="+mn-cs"/>
                        </a:rPr>
                        <a:t>RAIDs.</a:t>
                      </a: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 </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MS proposed delivery approach conflicts with EY’s standards</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Acceptance criteria not defined for each testing phase, as this will impact EY schedule , quality and cost.</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A number of key dependencies required for the start of Phase 1 build or test which won’t be available by the required timelines:</a:t>
                      </a:r>
                    </a:p>
                    <a:p>
                      <a:pPr marL="88900" marR="0" lvl="0" indent="-88900" algn="l" defTabSz="947738" rtl="0" eaLnBrk="0" fontAlgn="base" latinLnBrk="0" hangingPunct="0">
                        <a:lnSpc>
                          <a:spcPct val="100000"/>
                        </a:lnSpc>
                        <a:spcBef>
                          <a:spcPct val="0"/>
                        </a:spcBef>
                        <a:spcAft>
                          <a:spcPct val="10000"/>
                        </a:spcAft>
                        <a:buClrTx/>
                        <a:buSzPct val="60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The first rediscovery report (containing around 18k applications) to the IT Service Delivery teams on 30-Jan for review/validation. The IT Service Delivery teams have flagged that they do not have the time or budget (charge code from A&amp;DM) to review/validate the report. </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49306">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defRPr/>
                      </a:pPr>
                      <a:r>
                        <a:rPr kumimoji="0" lang="en-US" sz="800" b="1" i="0" u="none" strike="noStrike" cap="none" normalizeH="0" baseline="0" dirty="0" smtClean="0">
                          <a:ln>
                            <a:noFill/>
                          </a:ln>
                          <a:solidFill>
                            <a:srgbClr val="000000"/>
                          </a:solidFill>
                          <a:effectLst/>
                          <a:latin typeface="EYInterstate Light" pitchFamily="2" charset="0"/>
                        </a:rPr>
                        <a:t>Commercial/Vendor. </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966213">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800" b="1" i="0" u="none" strike="noStrike" cap="none" normalizeH="0" baseline="0" dirty="0" smtClean="0">
                          <a:ln>
                            <a:noFill/>
                          </a:ln>
                          <a:solidFill>
                            <a:srgbClr val="000000"/>
                          </a:solidFill>
                          <a:effectLst/>
                          <a:latin typeface="EYInterstate Light" pitchFamily="2" charset="0"/>
                        </a:rPr>
                        <a:t>General .</a:t>
                      </a:r>
                    </a:p>
                    <a:p>
                      <a:pPr marL="85725" marR="0" lvl="0" indent="-85725" algn="l" defTabSz="947738" rtl="0" eaLnBrk="0" fontAlgn="base" latinLnBrk="0" hangingPunct="0">
                        <a:lnSpc>
                          <a:spcPct val="100000"/>
                        </a:lnSpc>
                        <a:spcBef>
                          <a:spcPct val="0"/>
                        </a:spcBef>
                        <a:spcAft>
                          <a:spcPct val="10000"/>
                        </a:spcAft>
                        <a:buClrTx/>
                        <a:buSzPct val="50000"/>
                        <a:buFont typeface="Wingdings" pitchFamily="2" charset="2"/>
                        <a:buChar char="Ø"/>
                        <a:tabLst/>
                      </a:pPr>
                      <a:r>
                        <a:rPr kumimoji="0" lang="en-US" sz="700" b="0" i="0" u="none" strike="noStrike" cap="none" normalizeH="0" baseline="0" dirty="0" smtClean="0">
                          <a:ln>
                            <a:noFill/>
                          </a:ln>
                          <a:solidFill>
                            <a:srgbClr val="000000"/>
                          </a:solidFill>
                          <a:effectLst/>
                          <a:latin typeface="EYInterstate Light" pitchFamily="2" charset="0"/>
                        </a:rPr>
                        <a:t>Program generally rated as RED  although resourcing has improved for 2 programs.</a:t>
                      </a:r>
                    </a:p>
                    <a:p>
                      <a:pPr marL="85725" marR="0" lvl="0" indent="-85725" algn="l" defTabSz="947738" rtl="0" eaLnBrk="0" fontAlgn="base" latinLnBrk="0" hangingPunct="0">
                        <a:lnSpc>
                          <a:spcPct val="100000"/>
                        </a:lnSpc>
                        <a:spcBef>
                          <a:spcPct val="0"/>
                        </a:spcBef>
                        <a:spcAft>
                          <a:spcPct val="10000"/>
                        </a:spcAft>
                        <a:buClrTx/>
                        <a:buSzPct val="50000"/>
                        <a:buFont typeface="Wingdings" pitchFamily="2" charset="2"/>
                        <a:buChar char="Ø"/>
                        <a:tabLst/>
                      </a:pPr>
                      <a:r>
                        <a:rPr kumimoji="0" lang="en-US" sz="700" b="0" i="0" u="none" strike="noStrike" cap="none" normalizeH="0" baseline="0" dirty="0" smtClean="0">
                          <a:ln>
                            <a:noFill/>
                          </a:ln>
                          <a:solidFill>
                            <a:srgbClr val="000000"/>
                          </a:solidFill>
                          <a:effectLst/>
                          <a:latin typeface="EYInterstate Light" pitchFamily="2" charset="0"/>
                        </a:rPr>
                        <a:t>Program budgets still being pushed.</a:t>
                      </a:r>
                    </a:p>
                    <a:p>
                      <a:pPr marL="85725" marR="0" lvl="0" indent="-85725" algn="l" defTabSz="947738" rtl="0" eaLnBrk="0" fontAlgn="base" latinLnBrk="0" hangingPunct="0">
                        <a:lnSpc>
                          <a:spcPct val="100000"/>
                        </a:lnSpc>
                        <a:spcBef>
                          <a:spcPct val="0"/>
                        </a:spcBef>
                        <a:spcAft>
                          <a:spcPct val="10000"/>
                        </a:spcAft>
                        <a:buClrTx/>
                        <a:buSzPct val="50000"/>
                        <a:buFont typeface="Wingdings" pitchFamily="2" charset="2"/>
                        <a:buChar char="Ø"/>
                        <a:tabLst/>
                        <a:defRPr/>
                      </a:pPr>
                      <a:r>
                        <a:rPr kumimoji="0" lang="en-US" sz="700" b="0" i="0" u="none" strike="noStrike" cap="none" normalizeH="0" baseline="0" dirty="0" smtClean="0">
                          <a:ln>
                            <a:noFill/>
                          </a:ln>
                          <a:solidFill>
                            <a:srgbClr val="000000"/>
                          </a:solidFill>
                          <a:effectLst/>
                          <a:latin typeface="EYInterstate Light" pitchFamily="2" charset="0"/>
                        </a:rPr>
                        <a:t>Proposed planning solution; Large  scale re-planning workshops are now required based on  recent key decision taken.</a:t>
                      </a:r>
                    </a:p>
                    <a:p>
                      <a:pPr marL="85725" marR="0" lvl="0" indent="-85725" algn="l" defTabSz="947738" rtl="0" eaLnBrk="0" fontAlgn="base" latinLnBrk="0" hangingPunct="0">
                        <a:lnSpc>
                          <a:spcPct val="100000"/>
                        </a:lnSpc>
                        <a:spcBef>
                          <a:spcPct val="0"/>
                        </a:spcBef>
                        <a:spcAft>
                          <a:spcPct val="10000"/>
                        </a:spcAft>
                        <a:buClrTx/>
                        <a:buSzPct val="50000"/>
                        <a:buFont typeface="Wingdings" pitchFamily="2" charset="2"/>
                        <a:buChar char="Ø"/>
                        <a:tabLst/>
                        <a:defRPr/>
                      </a:pPr>
                      <a:r>
                        <a:rPr kumimoji="0" lang="en-US" sz="700" b="0" i="0" u="none" strike="noStrike" cap="none" normalizeH="0" baseline="0" dirty="0" smtClean="0">
                          <a:ln>
                            <a:noFill/>
                          </a:ln>
                          <a:solidFill>
                            <a:srgbClr val="000000"/>
                          </a:solidFill>
                          <a:effectLst/>
                          <a:latin typeface="EYInterstate Light" pitchFamily="2" charset="0"/>
                        </a:rPr>
                        <a:t>Significant re-planning effort is now required for all programs except ADM.</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2" name="Table 11"/>
          <p:cNvGraphicFramePr>
            <a:graphicFrameLocks noGrp="1"/>
          </p:cNvGraphicFramePr>
          <p:nvPr/>
        </p:nvGraphicFramePr>
        <p:xfrm>
          <a:off x="2" y="4191000"/>
          <a:ext cx="6396408" cy="2503614"/>
        </p:xfrm>
        <a:graphic>
          <a:graphicData uri="http://schemas.openxmlformats.org/drawingml/2006/table">
            <a:tbl>
              <a:tblPr/>
              <a:tblGrid>
                <a:gridCol w="904315"/>
                <a:gridCol w="848285"/>
                <a:gridCol w="784499"/>
                <a:gridCol w="816392"/>
                <a:gridCol w="742175"/>
                <a:gridCol w="742175"/>
                <a:gridCol w="816392"/>
                <a:gridCol w="742175"/>
              </a:tblGrid>
              <a:tr h="185322">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RAG Trend</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0780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Program</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This week</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cap="none" normalizeH="0" baseline="0" dirty="0" smtClean="0">
                          <a:ln>
                            <a:noFill/>
                          </a:ln>
                          <a:solidFill>
                            <a:srgbClr val="000000"/>
                          </a:solidFill>
                          <a:effectLst/>
                          <a:latin typeface="EYInterstate Light" pitchFamily="2" charset="0"/>
                        </a:rPr>
                        <a:t>Last week</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-2</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-3</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-4</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-5</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rgbClr val="000000"/>
                          </a:solidFill>
                          <a:effectLst/>
                          <a:latin typeface="EYInterstate Light" pitchFamily="2" charset="0"/>
                        </a:rPr>
                        <a:t>Week -6</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SharePoint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EYInterstate Light" pitchFamily="2" charset="0"/>
                        </a:rPr>
                        <a:t>RED</a:t>
                      </a:r>
                      <a:endParaRPr lang="en-GB" sz="700" dirty="0">
                        <a:solidFill>
                          <a:srgbClr val="000000"/>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2468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App &amp; Data</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NO REPORT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2497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Infrastructure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700" dirty="0" smtClean="0">
                          <a:solidFill>
                            <a:srgbClr val="000000"/>
                          </a:solidFill>
                        </a:rPr>
                        <a:t>TBC</a:t>
                      </a:r>
                      <a:endParaRPr lang="en-GB" sz="700" dirty="0">
                        <a:solidFill>
                          <a:srgbClr val="000000"/>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524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Change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EYInterstate Light" pitchFamily="2" charset="0"/>
                        </a:rPr>
                        <a:t>AMBER</a:t>
                      </a:r>
                      <a:endParaRPr lang="en-GB" sz="700" dirty="0">
                        <a:solidFill>
                          <a:srgbClr val="000000"/>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Tech  Foundation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EYInterstate Light" pitchFamily="2" charset="0"/>
                        </a:rPr>
                        <a:t>AMBER</a:t>
                      </a:r>
                      <a:endParaRPr lang="en-GB" sz="700" dirty="0">
                        <a:solidFill>
                          <a:srgbClr val="000000"/>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Unified Communications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EYInterstate Light" pitchFamily="2" charset="0"/>
                        </a:rPr>
                        <a:t>RED</a:t>
                      </a:r>
                      <a:endParaRPr lang="en-GB" sz="700" dirty="0">
                        <a:solidFill>
                          <a:srgbClr val="000000"/>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IT Transition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EYInterstate Light" pitchFamily="2" charset="0"/>
                        </a:rPr>
                        <a:t>AMBER</a:t>
                      </a:r>
                      <a:endParaRPr lang="en-GB" sz="700" dirty="0">
                        <a:solidFill>
                          <a:srgbClr val="000000"/>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Business Deployment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EYInterstate Light" pitchFamily="2" charset="0"/>
                        </a:rPr>
                        <a:t>TBC</a:t>
                      </a:r>
                      <a:endParaRPr lang="en-GB" sz="700" dirty="0">
                        <a:solidFill>
                          <a:srgbClr val="000000"/>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Release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EYInterstate Light" pitchFamily="2" charset="0"/>
                        </a:rPr>
                        <a:t>TBC</a:t>
                      </a:r>
                      <a:endParaRPr lang="en-GB" sz="700" dirty="0">
                        <a:solidFill>
                          <a:srgbClr val="000000"/>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9" name="Table 8"/>
          <p:cNvGraphicFramePr>
            <a:graphicFrameLocks noGrp="1"/>
          </p:cNvGraphicFramePr>
          <p:nvPr/>
        </p:nvGraphicFramePr>
        <p:xfrm>
          <a:off x="2" y="530137"/>
          <a:ext cx="6396406" cy="3508463"/>
        </p:xfrm>
        <a:graphic>
          <a:graphicData uri="http://schemas.openxmlformats.org/drawingml/2006/table">
            <a:tbl>
              <a:tblPr/>
              <a:tblGrid>
                <a:gridCol w="919303"/>
                <a:gridCol w="434831"/>
                <a:gridCol w="630284"/>
                <a:gridCol w="630284"/>
                <a:gridCol w="630284"/>
                <a:gridCol w="630284"/>
                <a:gridCol w="630284"/>
                <a:gridCol w="630284"/>
                <a:gridCol w="630284"/>
                <a:gridCol w="630284"/>
              </a:tblGrid>
              <a:tr h="170061">
                <a:tc gridSpan="10">
                  <a:txBody>
                    <a:bodyPr/>
                    <a:lstStyle/>
                    <a:p>
                      <a:pPr algn="l" rtl="0" fontAlgn="ctr"/>
                      <a:r>
                        <a:rPr lang="en-GB" sz="700" b="1" i="0" u="none" strike="noStrike" dirty="0">
                          <a:solidFill>
                            <a:srgbClr val="646464"/>
                          </a:solidFill>
                          <a:latin typeface="EYInterstate"/>
                        </a:rPr>
                        <a:t>Weekly Ratings</a:t>
                      </a:r>
                      <a:r>
                        <a:rPr lang="en-GB" sz="700" b="0" i="0" u="none" strike="noStrike" dirty="0">
                          <a:solidFill>
                            <a:srgbClr val="646464"/>
                          </a:solidFill>
                          <a:latin typeface="EYInterstate"/>
                        </a:rPr>
                        <a:t> </a:t>
                      </a:r>
                      <a:endParaRPr lang="en-GB" sz="700" b="1" i="0" u="none" strike="noStrike" dirty="0">
                        <a:solidFill>
                          <a:srgbClr val="646464"/>
                        </a:solidFill>
                        <a:latin typeface="EYInterstate"/>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r h="170061">
                <a:tc>
                  <a:txBody>
                    <a:bodyPr/>
                    <a:lstStyle/>
                    <a:p>
                      <a:pPr algn="l" fontAlgn="ctr"/>
                      <a:r>
                        <a:rPr lang="en-GB" sz="700" b="0" i="0" u="none" strike="noStrike">
                          <a:solidFill>
                            <a:srgbClr val="646464"/>
                          </a:solidFill>
                          <a:latin typeface="EYInterstate"/>
                        </a:rPr>
                        <a:t>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gridSpan="4">
                  <a:txBody>
                    <a:bodyPr/>
                    <a:lstStyle/>
                    <a:p>
                      <a:pPr algn="l" rtl="0" fontAlgn="ctr"/>
                      <a:r>
                        <a:rPr lang="en-GB" sz="700" b="1" i="0" u="none" strike="noStrike" dirty="0">
                          <a:solidFill>
                            <a:srgbClr val="646464"/>
                          </a:solidFill>
                          <a:latin typeface="EYInterstate"/>
                        </a:rPr>
                        <a:t>Program Assessment (Per PM Tool)</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pPr algn="l" rtl="0" fontAlgn="ctr"/>
                      <a:r>
                        <a:rPr lang="en-GB" sz="700" b="1" i="0" u="none" strike="noStrike" dirty="0">
                          <a:solidFill>
                            <a:srgbClr val="646464"/>
                          </a:solidFill>
                          <a:latin typeface="EYInterstate"/>
                        </a:rPr>
                        <a:t>PMO Assessment</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r h="240087">
                <a:tc>
                  <a:txBody>
                    <a:bodyPr/>
                    <a:lstStyle/>
                    <a:p>
                      <a:pPr algn="ctr" rtl="0" fontAlgn="ctr"/>
                      <a:r>
                        <a:rPr lang="en-GB" sz="700" b="1" i="0" u="none" strike="noStrike" dirty="0">
                          <a:solidFill>
                            <a:srgbClr val="000000"/>
                          </a:solidFill>
                          <a:latin typeface="EYInterstate Light"/>
                        </a:rPr>
                        <a:t>Program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Overall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Scope </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Time</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Cost</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RAID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Resource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Financial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Schedule</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Vendor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r>
              <a:tr h="29168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SharePoint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EYInterstate Light"/>
                          <a:ea typeface="+mn-ea"/>
                          <a:cs typeface="+mn-cs"/>
                        </a:rPr>
                        <a:t>RED</a:t>
                      </a:r>
                      <a:endParaRPr lang="en-GB" sz="700" b="0" i="0" u="none" strike="noStrike" kern="1200" dirty="0">
                        <a:solidFill>
                          <a:srgbClr val="000000"/>
                        </a:solidFill>
                        <a:latin typeface="EYInterstate Ligh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EYInterstate Light"/>
                          <a:ea typeface="+mn-ea"/>
                          <a:cs typeface="+mn-cs"/>
                        </a:rPr>
                        <a:t>RED</a:t>
                      </a:r>
                      <a:endParaRPr lang="en-GB" sz="700" b="0" i="0" u="none" strike="noStrike" kern="1200" dirty="0">
                        <a:solidFill>
                          <a:srgbClr val="000000"/>
                        </a:solidFill>
                        <a:latin typeface="EYInterstate Ligh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EYInterstate Light"/>
                          <a:ea typeface="+mn-ea"/>
                          <a:cs typeface="+mn-cs"/>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EYInterstate Light"/>
                          <a:ea typeface="+mn-ea"/>
                          <a:cs typeface="+mn-cs"/>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EYInterstate Light"/>
                          <a:ea typeface="+mn-ea"/>
                          <a:cs typeface="+mn-cs"/>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EYInterstate Light"/>
                          <a:ea typeface="+mn-ea"/>
                          <a:cs typeface="+mn-cs"/>
                        </a:rPr>
                        <a:t>RED</a:t>
                      </a:r>
                      <a:endParaRPr lang="en-GB" sz="700" b="0" i="0" u="none" strike="noStrike" kern="1200" dirty="0">
                        <a:solidFill>
                          <a:srgbClr val="000000"/>
                        </a:solidFill>
                        <a:latin typeface="EYInterstate Ligh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EYInterstate Light"/>
                          <a:ea typeface="+mn-ea"/>
                          <a:cs typeface="+mn-cs"/>
                        </a:rPr>
                        <a:t>RED</a:t>
                      </a:r>
                      <a:endParaRPr lang="en-GB" sz="700" b="0" i="0" u="none" strike="noStrike" kern="1200" dirty="0">
                        <a:solidFill>
                          <a:srgbClr val="000000"/>
                        </a:solidFill>
                        <a:latin typeface="EYInterstate Ligh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n-GB" sz="700" b="0" i="0" u="none" strike="noStrike" kern="1200" dirty="0" smtClean="0">
                          <a:solidFill>
                            <a:srgbClr val="000000"/>
                          </a:solidFill>
                          <a:latin typeface="EYInterstate Light"/>
                          <a:ea typeface="+mn-ea"/>
                          <a:cs typeface="+mn-cs"/>
                        </a:rPr>
                        <a:t>RED</a:t>
                      </a:r>
                      <a:endParaRPr lang="en-GB" sz="700" b="0" i="0" u="none" strike="noStrike" kern="1200" dirty="0">
                        <a:solidFill>
                          <a:srgbClr val="000000"/>
                        </a:solidFill>
                        <a:latin typeface="EYInterstate Ligh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n-GB" sz="700" b="0" i="0" u="none" strike="noStrike" kern="1200" dirty="0" smtClean="0">
                          <a:solidFill>
                            <a:srgbClr val="000000"/>
                          </a:solidFill>
                          <a:latin typeface="EYInterstate Light"/>
                          <a:ea typeface="+mn-ea"/>
                          <a:cs typeface="+mn-cs"/>
                        </a:rPr>
                        <a:t>AMBER</a:t>
                      </a:r>
                      <a:endParaRPr lang="en-GB" sz="700" b="0" i="0" u="none" strike="noStrike" kern="1200" dirty="0">
                        <a:solidFill>
                          <a:srgbClr val="000000"/>
                        </a:solidFill>
                        <a:latin typeface="EYInterstate Ligh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37709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App &amp; Data</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algn="ctr" rtl="0" fontAlgn="ctr"/>
                      <a:r>
                        <a:rPr lang="en-GB" sz="700" b="0" i="0" u="none" strike="noStrike" dirty="0" smtClean="0">
                          <a:solidFill>
                            <a:srgbClr val="000000"/>
                          </a:solidFill>
                          <a:latin typeface="EYInterstate Light"/>
                        </a:rPr>
                        <a:t>RED</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RED</a:t>
                      </a:r>
                      <a:endParaRPr lang="en-GB" sz="700" b="0" i="0" u="none" strike="noStrike" kern="1200" dirty="0" smtClean="0">
                        <a:solidFill>
                          <a:srgbClr val="000000"/>
                        </a:solidFill>
                        <a:latin typeface="EYInterstate Ligh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algn="ctr" rtl="0" fontAlgn="ctr"/>
                      <a:r>
                        <a:rPr lang="en-GB" sz="700" b="0" i="0" u="none" strike="noStrike" dirty="0" smtClean="0">
                          <a:solidFill>
                            <a:srgbClr val="000000"/>
                          </a:solidFill>
                          <a:latin typeface="EYInterstate Light"/>
                        </a:rPr>
                        <a:t>AMBER</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algn="ctr" rtl="0" fontAlgn="ctr"/>
                      <a:r>
                        <a:rPr lang="en-GB" sz="700" b="0" i="0" u="none" strike="noStrike" dirty="0" smtClean="0">
                          <a:solidFill>
                            <a:srgbClr val="000000"/>
                          </a:solidFill>
                          <a:latin typeface="EYInterstate Light"/>
                        </a:rPr>
                        <a:t>AMBER</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23323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Infrastructure</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EYInterstate Light"/>
                          <a:ea typeface="+mn-ea"/>
                          <a:cs typeface="+mn-cs"/>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algn="ctr" rtl="0" fontAlgn="ctr"/>
                      <a:r>
                        <a:rPr lang="en-GB" sz="700" b="0" i="0" u="none" strike="noStrike" dirty="0" smtClean="0">
                          <a:solidFill>
                            <a:srgbClr val="000000"/>
                          </a:solidFill>
                          <a:latin typeface="EYInterstate Light"/>
                        </a:rPr>
                        <a:t>TBC</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EYInterstate Light"/>
                        </a:rPr>
                        <a:t>TBC</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4272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Change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rtl="0" fontAlgn="ctr"/>
                      <a:r>
                        <a:rPr lang="en-GB" sz="700" b="0" i="0" u="none" strike="noStrike" dirty="0" smtClean="0">
                          <a:solidFill>
                            <a:srgbClr val="000000"/>
                          </a:solidFill>
                          <a:latin typeface="EYInterstate Light"/>
                        </a:rPr>
                        <a:t>RED</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EYInterstate Light"/>
                        </a:rPr>
                        <a:t>AMBER</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27544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Unified Communications</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RED</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rtl="0" fontAlgn="ctr"/>
                      <a:r>
                        <a:rPr lang="en-GB" sz="700" b="0" i="0" u="none" strike="noStrike" dirty="0" smtClean="0">
                          <a:solidFill>
                            <a:srgbClr val="000000"/>
                          </a:solidFill>
                          <a:latin typeface="EYInterstate Light"/>
                        </a:rPr>
                        <a:t>RED</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EYInterstate Light"/>
                        </a:rPr>
                        <a:t>AMBER</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25373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Tech Foundation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smtClean="0">
                          <a:solidFill>
                            <a:srgbClr val="000000"/>
                          </a:solidFill>
                          <a:latin typeface="EYInterstate Light"/>
                        </a:rPr>
                        <a:t>RED</a:t>
                      </a:r>
                      <a:endParaRPr lang="en-GB" sz="700" b="0" i="0" u="none" strike="noStrike" dirty="0" smtClean="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EYInterstate Light"/>
                        </a:rPr>
                        <a:t>RED</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EYInterstate Light"/>
                        </a:rPr>
                        <a:t>AMBER</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27544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IT Transition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rtl="0" fontAlgn="ctr"/>
                      <a:r>
                        <a:rPr lang="en-GB" sz="700" b="0" i="0" u="none" strike="noStrike" dirty="0" smtClean="0">
                          <a:solidFill>
                            <a:srgbClr val="000000"/>
                          </a:solidFill>
                          <a:latin typeface="EYInterstate Light"/>
                        </a:rPr>
                        <a:t>RED</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EYInterstate Light"/>
                        </a:rPr>
                        <a:t>AMBER</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r h="27544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Business Deployment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algn="ctr" rtl="0" fontAlgn="ctr"/>
                      <a:r>
                        <a:rPr lang="en-GB" sz="700" b="0" i="0" u="none" strike="noStrike" dirty="0" smtClean="0">
                          <a:solidFill>
                            <a:srgbClr val="000000"/>
                          </a:solidFill>
                          <a:latin typeface="EYInterstate Light"/>
                        </a:rPr>
                        <a:t>TBC</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algn="ctr" rtl="0" fontAlgn="ctr"/>
                      <a:r>
                        <a:rPr lang="en-GB" sz="700" b="0" i="0" u="none" strike="noStrike" dirty="0" smtClean="0">
                          <a:solidFill>
                            <a:srgbClr val="000000"/>
                          </a:solidFill>
                          <a:latin typeface="EYInterstate Light"/>
                        </a:rPr>
                        <a:t>TBC</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algn="ctr" rtl="0" fontAlgn="ctr"/>
                      <a:r>
                        <a:rPr lang="en-GB" sz="700" b="0" i="0" u="none" strike="noStrike" dirty="0" smtClean="0">
                          <a:solidFill>
                            <a:srgbClr val="000000"/>
                          </a:solidFill>
                          <a:latin typeface="EYInterstate Light"/>
                        </a:rPr>
                        <a:t>TBC</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544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Release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EYInterstate Light"/>
                        </a:rPr>
                        <a:t>TBC</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EYInterstate Light"/>
                        </a:rPr>
                        <a:t>TBC</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EYInterstate Light"/>
                        </a:rPr>
                        <a:t>TBC</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algn="ctr" rtl="0" fontAlgn="ctr"/>
                      <a:r>
                        <a:rPr lang="en-GB" sz="700" b="0" i="0" u="none" strike="noStrike" dirty="0" smtClean="0">
                          <a:solidFill>
                            <a:srgbClr val="000000"/>
                          </a:solidFill>
                          <a:latin typeface="EYInterstate Light"/>
                        </a:rPr>
                        <a:t>TBC</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28027">
                <a:tc>
                  <a:txBody>
                    <a:bodyPr/>
                    <a:lstStyle/>
                    <a:p>
                      <a:pPr algn="ctr" rtl="0" fontAlgn="ctr"/>
                      <a:r>
                        <a:rPr lang="en-GB" sz="700" b="1" i="0" u="none" strike="noStrike" dirty="0" smtClean="0">
                          <a:solidFill>
                            <a:srgbClr val="000000"/>
                          </a:solidFill>
                          <a:latin typeface="EYInterstate Light"/>
                        </a:rPr>
                        <a:t>Overall</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RED</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EYInterstate Light"/>
                        </a:rPr>
                        <a:t>RED</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EYInterstate Light"/>
                        </a:rPr>
                        <a:t>RED</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EYInterstate Ligh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EYInterstate Light"/>
                        </a:rPr>
                        <a:t>RED</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EYInterstate Light"/>
                        </a:rPr>
                        <a:t>RED</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EYInterstate Light"/>
                        </a:rPr>
                        <a:t>AMBER</a:t>
                      </a:r>
                      <a:endParaRPr lang="en-GB" sz="700" b="0"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ext Box 85"/>
          <p:cNvSpPr txBox="1">
            <a:spLocks noChangeArrowheads="1"/>
          </p:cNvSpPr>
          <p:nvPr/>
        </p:nvSpPr>
        <p:spPr bwMode="gray">
          <a:xfrm>
            <a:off x="3415094" y="730375"/>
            <a:ext cx="936104" cy="276999"/>
          </a:xfrm>
          <a:prstGeom prst="rect">
            <a:avLst/>
          </a:prstGeom>
          <a:noFill/>
          <a:ln w="9525" algn="ctr">
            <a:noFill/>
            <a:miter lim="800000"/>
            <a:headEnd type="none" w="sm" len="sm"/>
            <a:tailEnd type="none" w="sm" len="sm"/>
          </a:ln>
        </p:spPr>
        <p:txBody>
          <a:bodyPr wrap="square" lIns="0" tIns="0" rIns="0" bIns="0">
            <a:spAutoFit/>
          </a:bodyPr>
          <a:lstStyle/>
          <a:p>
            <a:pPr defTabSz="514230" eaLnBrk="0" fontAlgn="base" hangingPunct="0">
              <a:spcBef>
                <a:spcPct val="0"/>
              </a:spcBef>
              <a:spcAft>
                <a:spcPct val="0"/>
              </a:spcAft>
            </a:pPr>
            <a:r>
              <a:rPr lang="en-US" sz="600" b="1" dirty="0" smtClean="0">
                <a:solidFill>
                  <a:srgbClr val="646464"/>
                </a:solidFill>
                <a:latin typeface="EYInterstate Light" pitchFamily="2" charset="0"/>
              </a:rPr>
              <a:t>Benefits </a:t>
            </a:r>
          </a:p>
          <a:p>
            <a:pPr defTabSz="514230" eaLnBrk="0" fontAlgn="base" hangingPunct="0">
              <a:spcBef>
                <a:spcPct val="0"/>
              </a:spcBef>
              <a:spcAft>
                <a:spcPct val="0"/>
              </a:spcAft>
            </a:pPr>
            <a:r>
              <a:rPr lang="en-US" sz="600" b="1" dirty="0" smtClean="0">
                <a:solidFill>
                  <a:srgbClr val="646464"/>
                </a:solidFill>
                <a:latin typeface="EYInterstate Light" pitchFamily="2" charset="0"/>
              </a:rPr>
              <a:t>Realization Approach agreed</a:t>
            </a:r>
            <a:endParaRPr lang="en-US" sz="600" b="1" dirty="0">
              <a:solidFill>
                <a:srgbClr val="646464"/>
              </a:solidFill>
              <a:latin typeface="EYInterstate Light" pitchFamily="2" charset="0"/>
            </a:endParaRPr>
          </a:p>
        </p:txBody>
      </p:sp>
      <p:sp>
        <p:nvSpPr>
          <p:cNvPr id="149" name="Text Box 126"/>
          <p:cNvSpPr txBox="1">
            <a:spLocks noChangeArrowheads="1"/>
          </p:cNvSpPr>
          <p:nvPr/>
        </p:nvSpPr>
        <p:spPr bwMode="gray">
          <a:xfrm>
            <a:off x="1382210" y="1956597"/>
            <a:ext cx="655619" cy="276999"/>
          </a:xfrm>
          <a:prstGeom prst="rect">
            <a:avLst/>
          </a:prstGeom>
          <a:noFill/>
          <a:ln w="9525" algn="ctr">
            <a:noFill/>
            <a:miter lim="800000"/>
            <a:headEnd type="none" w="sm" len="sm"/>
            <a:tailEnd type="none" w="sm" len="sm"/>
          </a:ln>
        </p:spPr>
        <p:txBody>
          <a:bodyPr wrap="square" lIns="26118" tIns="0" rIns="0" bIns="0">
            <a:spAutoFit/>
          </a:bodyPr>
          <a:lstStyle/>
          <a:p>
            <a:pPr algn="r" defTabSz="514230" eaLnBrk="0" fontAlgn="base" hangingPunct="0">
              <a:spcBef>
                <a:spcPct val="0"/>
              </a:spcBef>
              <a:spcAft>
                <a:spcPct val="0"/>
              </a:spcAft>
            </a:pPr>
            <a:r>
              <a:rPr lang="en-US" sz="600" dirty="0" smtClean="0">
                <a:solidFill>
                  <a:schemeClr val="tx1">
                    <a:lumMod val="50000"/>
                  </a:schemeClr>
                </a:solidFill>
                <a:latin typeface="EYInterstate" pitchFamily="2" charset="0"/>
              </a:rPr>
              <a:t>MS </a:t>
            </a:r>
          </a:p>
          <a:p>
            <a:pPr algn="r" defTabSz="514230" eaLnBrk="0" fontAlgn="base" hangingPunct="0">
              <a:spcBef>
                <a:spcPct val="0"/>
              </a:spcBef>
              <a:spcAft>
                <a:spcPct val="0"/>
              </a:spcAft>
            </a:pPr>
            <a:r>
              <a:rPr lang="en-US" sz="600" dirty="0" smtClean="0">
                <a:solidFill>
                  <a:schemeClr val="tx1">
                    <a:lumMod val="50000"/>
                  </a:schemeClr>
                </a:solidFill>
                <a:latin typeface="EYInterstate" pitchFamily="2" charset="0"/>
              </a:rPr>
              <a:t>Contract</a:t>
            </a:r>
          </a:p>
          <a:p>
            <a:pPr algn="r" defTabSz="514230" eaLnBrk="0" fontAlgn="base" hangingPunct="0">
              <a:spcBef>
                <a:spcPct val="0"/>
              </a:spcBef>
              <a:spcAft>
                <a:spcPct val="0"/>
              </a:spcAft>
            </a:pPr>
            <a:r>
              <a:rPr lang="en-US" sz="600" dirty="0" smtClean="0">
                <a:solidFill>
                  <a:schemeClr val="tx1">
                    <a:lumMod val="50000"/>
                  </a:schemeClr>
                </a:solidFill>
                <a:latin typeface="EYInterstate" pitchFamily="2" charset="0"/>
              </a:rPr>
              <a:t>signed</a:t>
            </a:r>
            <a:endParaRPr lang="en-US" sz="600" dirty="0">
              <a:solidFill>
                <a:schemeClr val="tx1">
                  <a:lumMod val="50000"/>
                </a:schemeClr>
              </a:solidFill>
              <a:latin typeface="EYInterstate" pitchFamily="2" charset="0"/>
            </a:endParaRPr>
          </a:p>
        </p:txBody>
      </p:sp>
      <p:sp>
        <p:nvSpPr>
          <p:cNvPr id="150" name="Rectangle 149"/>
          <p:cNvSpPr/>
          <p:nvPr/>
        </p:nvSpPr>
        <p:spPr bwMode="auto">
          <a:xfrm>
            <a:off x="5407520" y="4690503"/>
            <a:ext cx="423907" cy="144016"/>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chemeClr val="tx1">
                    <a:lumMod val="75000"/>
                  </a:schemeClr>
                </a:solidFill>
              </a:rPr>
              <a:t>UAT</a:t>
            </a:r>
            <a:endParaRPr lang="en-GB" sz="800" dirty="0">
              <a:solidFill>
                <a:schemeClr val="tx1">
                  <a:lumMod val="75000"/>
                </a:schemeClr>
              </a:solidFill>
            </a:endParaRPr>
          </a:p>
        </p:txBody>
      </p:sp>
      <p:sp>
        <p:nvSpPr>
          <p:cNvPr id="151" name="Text Box 70"/>
          <p:cNvSpPr txBox="1">
            <a:spLocks noChangeArrowheads="1"/>
          </p:cNvSpPr>
          <p:nvPr/>
        </p:nvSpPr>
        <p:spPr bwMode="gray">
          <a:xfrm>
            <a:off x="133028" y="3782708"/>
            <a:ext cx="3513584" cy="242269"/>
          </a:xfrm>
          <a:prstGeom prst="rect">
            <a:avLst/>
          </a:prstGeom>
          <a:noFill/>
          <a:ln w="9525" algn="ctr">
            <a:noFill/>
            <a:miter lim="800000"/>
            <a:headEnd type="none" w="sm" len="sm"/>
            <a:tailEnd type="none" w="sm" len="sm"/>
          </a:ln>
        </p:spPr>
        <p:txBody>
          <a:bodyPr wrap="square" lIns="57043" tIns="28523" rIns="57043" bIns="28523">
            <a:spAutoFit/>
          </a:bodyPr>
          <a:lstStyle/>
          <a:p>
            <a:pPr defTabSz="514230" eaLnBrk="0" fontAlgn="base" hangingPunct="0">
              <a:spcBef>
                <a:spcPct val="0"/>
              </a:spcBef>
              <a:spcAft>
                <a:spcPct val="0"/>
              </a:spcAft>
            </a:pPr>
            <a:r>
              <a:rPr lang="en-US" sz="1200" b="1" dirty="0" smtClean="0">
                <a:solidFill>
                  <a:srgbClr val="000000"/>
                </a:solidFill>
                <a:latin typeface="EYInterstate" pitchFamily="2" charset="0"/>
              </a:rPr>
              <a:t>Lync Phase I </a:t>
            </a:r>
            <a:r>
              <a:rPr lang="en-US" sz="1000" b="1" dirty="0" smtClean="0">
                <a:solidFill>
                  <a:srgbClr val="000000"/>
                </a:solidFill>
                <a:latin typeface="EYInterstate" pitchFamily="2" charset="0"/>
              </a:rPr>
              <a:t>(Instant Messaging) </a:t>
            </a:r>
            <a:endParaRPr lang="en-US" sz="1000" b="1" dirty="0">
              <a:solidFill>
                <a:srgbClr val="000000"/>
              </a:solidFill>
              <a:latin typeface="EYInterstate" pitchFamily="2" charset="0"/>
            </a:endParaRPr>
          </a:p>
        </p:txBody>
      </p:sp>
      <p:sp>
        <p:nvSpPr>
          <p:cNvPr id="152" name="Text Box 70"/>
          <p:cNvSpPr txBox="1">
            <a:spLocks noChangeArrowheads="1"/>
          </p:cNvSpPr>
          <p:nvPr/>
        </p:nvSpPr>
        <p:spPr bwMode="gray">
          <a:xfrm>
            <a:off x="123503" y="5111945"/>
            <a:ext cx="3441576" cy="242269"/>
          </a:xfrm>
          <a:prstGeom prst="rect">
            <a:avLst/>
          </a:prstGeom>
          <a:noFill/>
          <a:ln w="9525" algn="ctr">
            <a:noFill/>
            <a:miter lim="800000"/>
            <a:headEnd type="none" w="sm" len="sm"/>
            <a:tailEnd type="none" w="sm" len="sm"/>
          </a:ln>
        </p:spPr>
        <p:txBody>
          <a:bodyPr wrap="square" lIns="57043" tIns="28523" rIns="57043" bIns="28523">
            <a:spAutoFit/>
          </a:bodyPr>
          <a:lstStyle/>
          <a:p>
            <a:pPr defTabSz="514230" eaLnBrk="0" fontAlgn="base" hangingPunct="0">
              <a:spcBef>
                <a:spcPct val="0"/>
              </a:spcBef>
              <a:spcAft>
                <a:spcPct val="0"/>
              </a:spcAft>
            </a:pPr>
            <a:r>
              <a:rPr lang="en-US" sz="1200" b="1" dirty="0" smtClean="0">
                <a:solidFill>
                  <a:srgbClr val="000000"/>
                </a:solidFill>
                <a:latin typeface="EYInterstate" pitchFamily="2" charset="0"/>
              </a:rPr>
              <a:t>Messaging Phase 1 </a:t>
            </a:r>
            <a:r>
              <a:rPr lang="en-US" sz="1000" b="1" dirty="0" smtClean="0">
                <a:solidFill>
                  <a:srgbClr val="000000"/>
                </a:solidFill>
                <a:latin typeface="EYInterstate" pitchFamily="2" charset="0"/>
              </a:rPr>
              <a:t>(Email)</a:t>
            </a:r>
            <a:endParaRPr lang="en-US" sz="1200" b="1" dirty="0">
              <a:solidFill>
                <a:srgbClr val="000000"/>
              </a:solidFill>
              <a:latin typeface="EYInterstate" pitchFamily="2" charset="0"/>
            </a:endParaRPr>
          </a:p>
        </p:txBody>
      </p:sp>
      <p:sp>
        <p:nvSpPr>
          <p:cNvPr id="153" name="Rectangle 152"/>
          <p:cNvSpPr/>
          <p:nvPr/>
        </p:nvSpPr>
        <p:spPr bwMode="auto">
          <a:xfrm>
            <a:off x="2092248" y="3987639"/>
            <a:ext cx="1143000" cy="152400"/>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rgbClr val="646464"/>
                </a:solidFill>
              </a:rPr>
              <a:t>Requirements</a:t>
            </a:r>
            <a:endParaRPr lang="en-GB" sz="800" dirty="0">
              <a:solidFill>
                <a:srgbClr val="646464"/>
              </a:solidFill>
            </a:endParaRPr>
          </a:p>
        </p:txBody>
      </p:sp>
      <p:sp>
        <p:nvSpPr>
          <p:cNvPr id="154" name="Rectangle 153"/>
          <p:cNvSpPr/>
          <p:nvPr/>
        </p:nvSpPr>
        <p:spPr bwMode="auto">
          <a:xfrm>
            <a:off x="5834448" y="4854991"/>
            <a:ext cx="931912" cy="143304"/>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chemeClr val="tx1">
                    <a:lumMod val="75000"/>
                  </a:schemeClr>
                </a:solidFill>
              </a:rPr>
              <a:t>Pilot Deployment</a:t>
            </a:r>
            <a:endParaRPr lang="en-GB" sz="800" dirty="0">
              <a:solidFill>
                <a:schemeClr val="tx1">
                  <a:lumMod val="75000"/>
                </a:schemeClr>
              </a:solidFill>
            </a:endParaRPr>
          </a:p>
        </p:txBody>
      </p:sp>
      <p:sp>
        <p:nvSpPr>
          <p:cNvPr id="155" name="Rectangle 154"/>
          <p:cNvSpPr/>
          <p:nvPr/>
        </p:nvSpPr>
        <p:spPr bwMode="auto">
          <a:xfrm>
            <a:off x="3579840" y="4340207"/>
            <a:ext cx="838200" cy="152400"/>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rgbClr val="646464"/>
                </a:solidFill>
              </a:rPr>
              <a:t>Build  /Configure</a:t>
            </a:r>
            <a:endParaRPr lang="en-GB" sz="800" dirty="0">
              <a:solidFill>
                <a:srgbClr val="646464"/>
              </a:solidFill>
            </a:endParaRPr>
          </a:p>
        </p:txBody>
      </p:sp>
      <p:sp>
        <p:nvSpPr>
          <p:cNvPr id="156" name="Rectangle 155"/>
          <p:cNvSpPr/>
          <p:nvPr/>
        </p:nvSpPr>
        <p:spPr bwMode="auto">
          <a:xfrm>
            <a:off x="2962287" y="4160510"/>
            <a:ext cx="619113" cy="156031"/>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rgbClr val="646464"/>
                </a:solidFill>
              </a:rPr>
              <a:t>Arch &amp; Design</a:t>
            </a:r>
            <a:endParaRPr lang="en-GB" sz="800" dirty="0">
              <a:solidFill>
                <a:srgbClr val="646464"/>
              </a:solidFill>
            </a:endParaRPr>
          </a:p>
        </p:txBody>
      </p:sp>
      <p:sp>
        <p:nvSpPr>
          <p:cNvPr id="157" name="Line 125"/>
          <p:cNvSpPr>
            <a:spLocks noChangeShapeType="1"/>
          </p:cNvSpPr>
          <p:nvPr/>
        </p:nvSpPr>
        <p:spPr bwMode="gray">
          <a:xfrm flipV="1">
            <a:off x="5837017" y="4415274"/>
            <a:ext cx="0" cy="617984"/>
          </a:xfrm>
          <a:prstGeom prst="line">
            <a:avLst/>
          </a:prstGeom>
          <a:noFill/>
          <a:ln w="6350">
            <a:solidFill>
              <a:schemeClr val="accent2"/>
            </a:solidFill>
            <a:round/>
            <a:headEnd type="diamond" w="lg" len="lg"/>
            <a:tailEnd type="none" w="sm" len="sm"/>
          </a:ln>
        </p:spPr>
        <p:txBody>
          <a:bodyPr lIns="92075" tIns="46038" rIns="92075" bIns="46038">
            <a:spAutoFit/>
          </a:bodyPr>
          <a:lstStyle/>
          <a:p>
            <a:pPr algn="ctr" fontAlgn="base">
              <a:spcBef>
                <a:spcPct val="0"/>
              </a:spcBef>
              <a:spcAft>
                <a:spcPct val="0"/>
              </a:spcAft>
            </a:pPr>
            <a:endParaRPr lang="en-GB" sz="1200" dirty="0">
              <a:solidFill>
                <a:srgbClr val="646464"/>
              </a:solidFill>
            </a:endParaRPr>
          </a:p>
        </p:txBody>
      </p:sp>
      <p:sp>
        <p:nvSpPr>
          <p:cNvPr id="158" name="Text Box 126"/>
          <p:cNvSpPr txBox="1">
            <a:spLocks noChangeArrowheads="1"/>
          </p:cNvSpPr>
          <p:nvPr/>
        </p:nvSpPr>
        <p:spPr bwMode="gray">
          <a:xfrm>
            <a:off x="5858605" y="4347438"/>
            <a:ext cx="1066800" cy="91962"/>
          </a:xfrm>
          <a:prstGeom prst="rect">
            <a:avLst/>
          </a:prstGeom>
          <a:noFill/>
          <a:ln w="9525" algn="ctr">
            <a:noFill/>
            <a:miter lim="800000"/>
            <a:headEnd type="none" w="sm" len="sm"/>
            <a:tailEnd type="none" w="sm" len="sm"/>
          </a:ln>
        </p:spPr>
        <p:txBody>
          <a:bodyPr wrap="square" lIns="26118" tIns="0" rIns="0" bIns="0">
            <a:spAutoFit/>
          </a:bodyPr>
          <a:lstStyle/>
          <a:p>
            <a:pPr defTabSz="514230" eaLnBrk="0" fontAlgn="base" hangingPunct="0">
              <a:spcBef>
                <a:spcPct val="0"/>
              </a:spcBef>
              <a:spcAft>
                <a:spcPct val="0"/>
              </a:spcAft>
            </a:pPr>
            <a:r>
              <a:rPr lang="en-US" sz="600" dirty="0" smtClean="0">
                <a:solidFill>
                  <a:srgbClr val="646464"/>
                </a:solidFill>
                <a:latin typeface="EYInterstate" pitchFamily="2" charset="0"/>
              </a:rPr>
              <a:t>Service Transition Complete</a:t>
            </a:r>
            <a:endParaRPr lang="en-US" sz="600" dirty="0">
              <a:solidFill>
                <a:srgbClr val="646464"/>
              </a:solidFill>
              <a:latin typeface="EYInterstate" pitchFamily="2" charset="0"/>
            </a:endParaRPr>
          </a:p>
        </p:txBody>
      </p:sp>
      <p:sp>
        <p:nvSpPr>
          <p:cNvPr id="159" name="Rectangle 158"/>
          <p:cNvSpPr/>
          <p:nvPr/>
        </p:nvSpPr>
        <p:spPr bwMode="auto">
          <a:xfrm>
            <a:off x="6398820" y="6044096"/>
            <a:ext cx="678856" cy="145645"/>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a:solidFill>
                  <a:schemeClr val="tx1">
                    <a:lumMod val="75000"/>
                  </a:schemeClr>
                </a:solidFill>
              </a:rPr>
              <a:t>Pilot</a:t>
            </a:r>
          </a:p>
        </p:txBody>
      </p:sp>
      <p:sp>
        <p:nvSpPr>
          <p:cNvPr id="160" name="Rectangle 159"/>
          <p:cNvSpPr/>
          <p:nvPr/>
        </p:nvSpPr>
        <p:spPr bwMode="auto">
          <a:xfrm>
            <a:off x="5381775" y="5868433"/>
            <a:ext cx="994787" cy="159224"/>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chemeClr val="tx1">
                    <a:lumMod val="75000"/>
                  </a:schemeClr>
                </a:solidFill>
              </a:rPr>
              <a:t>UAT</a:t>
            </a:r>
            <a:endParaRPr lang="en-GB" sz="800" dirty="0">
              <a:solidFill>
                <a:schemeClr val="tx1">
                  <a:lumMod val="75000"/>
                </a:schemeClr>
              </a:solidFill>
            </a:endParaRPr>
          </a:p>
        </p:txBody>
      </p:sp>
      <p:cxnSp>
        <p:nvCxnSpPr>
          <p:cNvPr id="161" name="Straight Connector 160"/>
          <p:cNvCxnSpPr/>
          <p:nvPr/>
        </p:nvCxnSpPr>
        <p:spPr bwMode="auto">
          <a:xfrm>
            <a:off x="1898576" y="4821423"/>
            <a:ext cx="0" cy="72008"/>
          </a:xfrm>
          <a:prstGeom prst="line">
            <a:avLst/>
          </a:prstGeom>
          <a:noFill/>
          <a:ln w="9525" cap="flat" cmpd="sng" algn="ctr">
            <a:noFill/>
            <a:prstDash val="solid"/>
            <a:round/>
            <a:headEnd type="none" w="med" len="med"/>
            <a:tailEnd type="none" w="med" len="med"/>
          </a:ln>
          <a:effectLst/>
        </p:spPr>
      </p:cxnSp>
      <p:sp>
        <p:nvSpPr>
          <p:cNvPr id="162" name="Text Box 70"/>
          <p:cNvSpPr txBox="1">
            <a:spLocks noChangeArrowheads="1"/>
          </p:cNvSpPr>
          <p:nvPr/>
        </p:nvSpPr>
        <p:spPr bwMode="gray">
          <a:xfrm>
            <a:off x="120649" y="2453105"/>
            <a:ext cx="2841638" cy="211491"/>
          </a:xfrm>
          <a:prstGeom prst="rect">
            <a:avLst/>
          </a:prstGeom>
          <a:noFill/>
          <a:ln w="9525" algn="ctr">
            <a:noFill/>
            <a:miter lim="800000"/>
            <a:headEnd type="none" w="sm" len="sm"/>
            <a:tailEnd type="none" w="sm" len="sm"/>
          </a:ln>
        </p:spPr>
        <p:txBody>
          <a:bodyPr wrap="square" lIns="57043" tIns="28523" rIns="57043" bIns="28523">
            <a:spAutoFit/>
          </a:bodyPr>
          <a:lstStyle/>
          <a:p>
            <a:pPr defTabSz="514230" eaLnBrk="0" fontAlgn="base" hangingPunct="0">
              <a:spcBef>
                <a:spcPct val="0"/>
              </a:spcBef>
              <a:spcAft>
                <a:spcPct val="0"/>
              </a:spcAft>
            </a:pPr>
            <a:r>
              <a:rPr lang="en-US" sz="1000" b="1" dirty="0" smtClean="0">
                <a:solidFill>
                  <a:srgbClr val="000000"/>
                </a:solidFill>
                <a:latin typeface="EYInterstate" pitchFamily="2" charset="0"/>
              </a:rPr>
              <a:t>SharePoint (Previously known as Fusion)</a:t>
            </a:r>
            <a:endParaRPr lang="en-US" sz="1000" b="1" dirty="0">
              <a:solidFill>
                <a:srgbClr val="000000"/>
              </a:solidFill>
              <a:latin typeface="EYInterstate" pitchFamily="2" charset="0"/>
            </a:endParaRPr>
          </a:p>
        </p:txBody>
      </p:sp>
      <p:sp>
        <p:nvSpPr>
          <p:cNvPr id="163" name="Pentagon 162"/>
          <p:cNvSpPr/>
          <p:nvPr/>
        </p:nvSpPr>
        <p:spPr bwMode="auto">
          <a:xfrm>
            <a:off x="1107684" y="2812834"/>
            <a:ext cx="4136218" cy="182488"/>
          </a:xfrm>
          <a:prstGeom prst="homePlate">
            <a:avLst/>
          </a:prstGeom>
          <a:solidFill>
            <a:schemeClr val="accent2">
              <a:alpha val="86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800" dirty="0" smtClean="0">
                <a:solidFill>
                  <a:schemeClr val="tx1">
                    <a:lumMod val="75000"/>
                  </a:schemeClr>
                </a:solidFill>
              </a:rPr>
              <a:t>Phase 1 – Iteration 1 – 9 Build</a:t>
            </a:r>
            <a:endParaRPr lang="en-GB" sz="800" dirty="0">
              <a:solidFill>
                <a:schemeClr val="tx1">
                  <a:lumMod val="75000"/>
                </a:schemeClr>
              </a:solidFill>
            </a:endParaRPr>
          </a:p>
        </p:txBody>
      </p:sp>
      <p:sp>
        <p:nvSpPr>
          <p:cNvPr id="164" name="Pentagon 163"/>
          <p:cNvSpPr/>
          <p:nvPr/>
        </p:nvSpPr>
        <p:spPr bwMode="auto">
          <a:xfrm>
            <a:off x="3409002" y="3208252"/>
            <a:ext cx="2294494" cy="144016"/>
          </a:xfrm>
          <a:prstGeom prst="homePlate">
            <a:avLst/>
          </a:prstGeom>
          <a:solidFill>
            <a:schemeClr val="accent2">
              <a:alpha val="86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800" dirty="0" smtClean="0">
                <a:solidFill>
                  <a:schemeClr val="tx1">
                    <a:lumMod val="75000"/>
                  </a:schemeClr>
                </a:solidFill>
              </a:rPr>
              <a:t>Phase 1 – Iteration 3 – 9 UAT </a:t>
            </a:r>
            <a:endParaRPr lang="en-GB" sz="800" dirty="0">
              <a:solidFill>
                <a:schemeClr val="tx1">
                  <a:lumMod val="75000"/>
                </a:schemeClr>
              </a:solidFill>
            </a:endParaRPr>
          </a:p>
        </p:txBody>
      </p:sp>
      <p:sp>
        <p:nvSpPr>
          <p:cNvPr id="165" name="Pentagon 164"/>
          <p:cNvSpPr/>
          <p:nvPr/>
        </p:nvSpPr>
        <p:spPr bwMode="auto">
          <a:xfrm>
            <a:off x="1485900" y="3014378"/>
            <a:ext cx="3997013" cy="158278"/>
          </a:xfrm>
          <a:prstGeom prst="homePlate">
            <a:avLst/>
          </a:prstGeom>
          <a:solidFill>
            <a:schemeClr val="accent2">
              <a:alpha val="86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800" dirty="0" smtClean="0">
                <a:solidFill>
                  <a:schemeClr val="tx1">
                    <a:lumMod val="75000"/>
                  </a:schemeClr>
                </a:solidFill>
              </a:rPr>
              <a:t>Phase 1 Iteration 1 – 9 Testing</a:t>
            </a:r>
            <a:endParaRPr lang="en-GB" sz="800" dirty="0">
              <a:solidFill>
                <a:schemeClr val="tx1">
                  <a:lumMod val="75000"/>
                </a:schemeClr>
              </a:solidFill>
            </a:endParaRPr>
          </a:p>
        </p:txBody>
      </p:sp>
      <p:sp>
        <p:nvSpPr>
          <p:cNvPr id="166" name="Pentagon 165"/>
          <p:cNvSpPr/>
          <p:nvPr/>
        </p:nvSpPr>
        <p:spPr bwMode="auto">
          <a:xfrm>
            <a:off x="323527" y="2641756"/>
            <a:ext cx="2946923" cy="164976"/>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800" dirty="0" smtClean="0">
                <a:solidFill>
                  <a:srgbClr val="646464"/>
                </a:solidFill>
              </a:rPr>
              <a:t>Initiate &amp; Plan</a:t>
            </a:r>
            <a:endParaRPr lang="en-GB" sz="800" dirty="0">
              <a:solidFill>
                <a:srgbClr val="646464"/>
              </a:solidFill>
            </a:endParaRPr>
          </a:p>
        </p:txBody>
      </p:sp>
      <p:sp>
        <p:nvSpPr>
          <p:cNvPr id="167" name="Pentagon 166"/>
          <p:cNvSpPr/>
          <p:nvPr/>
        </p:nvSpPr>
        <p:spPr bwMode="auto">
          <a:xfrm>
            <a:off x="7081664" y="6044097"/>
            <a:ext cx="1666800" cy="144016"/>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800" dirty="0" smtClean="0">
                <a:solidFill>
                  <a:schemeClr val="tx1">
                    <a:lumMod val="75000"/>
                  </a:schemeClr>
                </a:solidFill>
              </a:rPr>
              <a:t>Deployment / Migrations</a:t>
            </a:r>
            <a:endParaRPr lang="en-GB" sz="800" dirty="0">
              <a:solidFill>
                <a:schemeClr val="tx1">
                  <a:lumMod val="75000"/>
                </a:schemeClr>
              </a:solidFill>
            </a:endParaRPr>
          </a:p>
        </p:txBody>
      </p:sp>
      <p:sp>
        <p:nvSpPr>
          <p:cNvPr id="168" name="Text Box 70"/>
          <p:cNvSpPr txBox="1">
            <a:spLocks noChangeArrowheads="1"/>
          </p:cNvSpPr>
          <p:nvPr/>
        </p:nvSpPr>
        <p:spPr bwMode="gray">
          <a:xfrm>
            <a:off x="112702" y="1460191"/>
            <a:ext cx="2522673" cy="242269"/>
          </a:xfrm>
          <a:prstGeom prst="rect">
            <a:avLst/>
          </a:prstGeom>
          <a:noFill/>
          <a:ln w="9525" algn="ctr">
            <a:noFill/>
            <a:miter lim="800000"/>
            <a:headEnd type="none" w="sm" len="sm"/>
            <a:tailEnd type="none" w="sm" len="sm"/>
          </a:ln>
        </p:spPr>
        <p:txBody>
          <a:bodyPr wrap="square" lIns="57043" tIns="28523" rIns="57043" bIns="28523">
            <a:spAutoFit/>
          </a:bodyPr>
          <a:lstStyle/>
          <a:p>
            <a:pPr defTabSz="514230" eaLnBrk="0" fontAlgn="base" hangingPunct="0">
              <a:spcBef>
                <a:spcPct val="0"/>
              </a:spcBef>
              <a:spcAft>
                <a:spcPct val="0"/>
              </a:spcAft>
            </a:pPr>
            <a:r>
              <a:rPr lang="en-US" sz="1200" b="1" dirty="0" smtClean="0">
                <a:solidFill>
                  <a:srgbClr val="000000"/>
                </a:solidFill>
                <a:latin typeface="EYInterstate" pitchFamily="2" charset="0"/>
              </a:rPr>
              <a:t>App / Data Migration (Phase 1)</a:t>
            </a:r>
            <a:endParaRPr lang="en-US" sz="1000" b="1" dirty="0">
              <a:solidFill>
                <a:srgbClr val="000000"/>
              </a:solidFill>
              <a:latin typeface="EYInterstate" pitchFamily="2" charset="0"/>
            </a:endParaRPr>
          </a:p>
        </p:txBody>
      </p:sp>
      <p:sp>
        <p:nvSpPr>
          <p:cNvPr id="169" name="Pentagon 168"/>
          <p:cNvSpPr/>
          <p:nvPr/>
        </p:nvSpPr>
        <p:spPr bwMode="auto">
          <a:xfrm>
            <a:off x="864394" y="3375483"/>
            <a:ext cx="4610502" cy="144016"/>
          </a:xfrm>
          <a:prstGeom prst="homePlate">
            <a:avLst/>
          </a:prstGeom>
          <a:solidFill>
            <a:schemeClr val="accent2">
              <a:alpha val="86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800" dirty="0" smtClean="0">
                <a:solidFill>
                  <a:schemeClr val="tx1">
                    <a:lumMod val="75000"/>
                  </a:schemeClr>
                </a:solidFill>
              </a:rPr>
              <a:t>Technology Foundation – Phase 1 – Phase 9</a:t>
            </a:r>
            <a:endParaRPr lang="en-GB" sz="800" dirty="0">
              <a:solidFill>
                <a:schemeClr val="tx1">
                  <a:lumMod val="75000"/>
                </a:schemeClr>
              </a:solidFill>
            </a:endParaRPr>
          </a:p>
        </p:txBody>
      </p:sp>
      <p:sp>
        <p:nvSpPr>
          <p:cNvPr id="170" name="Text Box 70"/>
          <p:cNvSpPr txBox="1">
            <a:spLocks noChangeArrowheads="1"/>
          </p:cNvSpPr>
          <p:nvPr/>
        </p:nvSpPr>
        <p:spPr bwMode="gray">
          <a:xfrm>
            <a:off x="-10988" y="670314"/>
            <a:ext cx="1878632" cy="242281"/>
          </a:xfrm>
          <a:prstGeom prst="rect">
            <a:avLst/>
          </a:prstGeom>
          <a:noFill/>
          <a:ln w="9525" algn="ctr">
            <a:noFill/>
            <a:miter lim="800000"/>
            <a:headEnd type="none" w="sm" len="sm"/>
            <a:tailEnd type="none" w="sm" len="sm"/>
          </a:ln>
        </p:spPr>
        <p:txBody>
          <a:bodyPr wrap="square" lIns="57043" tIns="28523" rIns="57043" bIns="28523">
            <a:spAutoFit/>
          </a:bodyPr>
          <a:lstStyle/>
          <a:p>
            <a:pPr algn="ctr" defTabSz="514230" eaLnBrk="0" fontAlgn="base" hangingPunct="0">
              <a:spcBef>
                <a:spcPct val="0"/>
              </a:spcBef>
              <a:spcAft>
                <a:spcPct val="0"/>
              </a:spcAft>
            </a:pPr>
            <a:r>
              <a:rPr lang="en-US" sz="1200" b="1" dirty="0" smtClean="0">
                <a:solidFill>
                  <a:srgbClr val="000000"/>
                </a:solidFill>
                <a:latin typeface="EYInterstate" pitchFamily="2" charset="0"/>
              </a:rPr>
              <a:t>Change Management</a:t>
            </a:r>
            <a:endParaRPr lang="en-US" sz="1000" b="1" dirty="0">
              <a:solidFill>
                <a:srgbClr val="000000"/>
              </a:solidFill>
              <a:latin typeface="EYInterstate" pitchFamily="2" charset="0"/>
            </a:endParaRPr>
          </a:p>
        </p:txBody>
      </p:sp>
      <p:sp>
        <p:nvSpPr>
          <p:cNvPr id="171" name="Text Box 126"/>
          <p:cNvSpPr txBox="1">
            <a:spLocks noChangeArrowheads="1"/>
          </p:cNvSpPr>
          <p:nvPr/>
        </p:nvSpPr>
        <p:spPr bwMode="gray">
          <a:xfrm rot="10800000" flipV="1">
            <a:off x="1748504" y="706718"/>
            <a:ext cx="412750" cy="276999"/>
          </a:xfrm>
          <a:prstGeom prst="rect">
            <a:avLst/>
          </a:prstGeom>
          <a:noFill/>
          <a:ln w="9525" algn="ctr">
            <a:noFill/>
            <a:miter lim="800000"/>
            <a:headEnd type="none" w="sm" len="sm"/>
            <a:tailEnd type="none" w="sm" len="sm"/>
          </a:ln>
        </p:spPr>
        <p:txBody>
          <a:bodyPr wrap="square" lIns="26118" tIns="0" rIns="0" bIns="0">
            <a:spAutoFit/>
          </a:bodyPr>
          <a:lstStyle/>
          <a:p>
            <a:pPr defTabSz="514230" eaLnBrk="0" fontAlgn="base" hangingPunct="0">
              <a:spcBef>
                <a:spcPct val="0"/>
              </a:spcBef>
              <a:spcAft>
                <a:spcPct val="0"/>
              </a:spcAft>
            </a:pPr>
            <a:r>
              <a:rPr lang="en-US" sz="600" dirty="0" smtClean="0">
                <a:solidFill>
                  <a:srgbClr val="646464"/>
                </a:solidFill>
                <a:latin typeface="EYInterstate" pitchFamily="2" charset="0"/>
              </a:rPr>
              <a:t>Change </a:t>
            </a:r>
          </a:p>
          <a:p>
            <a:pPr defTabSz="514230" eaLnBrk="0" fontAlgn="base" hangingPunct="0">
              <a:spcBef>
                <a:spcPct val="0"/>
              </a:spcBef>
              <a:spcAft>
                <a:spcPct val="0"/>
              </a:spcAft>
            </a:pPr>
            <a:r>
              <a:rPr lang="en-US" sz="600" dirty="0" smtClean="0">
                <a:solidFill>
                  <a:srgbClr val="646464"/>
                </a:solidFill>
                <a:latin typeface="EYInterstate" pitchFamily="2" charset="0"/>
              </a:rPr>
              <a:t>Plan</a:t>
            </a:r>
          </a:p>
          <a:p>
            <a:pPr defTabSz="514230" eaLnBrk="0" fontAlgn="base" hangingPunct="0">
              <a:spcBef>
                <a:spcPct val="0"/>
              </a:spcBef>
              <a:spcAft>
                <a:spcPct val="0"/>
              </a:spcAft>
            </a:pPr>
            <a:r>
              <a:rPr lang="en-US" sz="600" dirty="0" smtClean="0">
                <a:solidFill>
                  <a:srgbClr val="646464"/>
                </a:solidFill>
                <a:latin typeface="EYInterstate" pitchFamily="2" charset="0"/>
              </a:rPr>
              <a:t>Signed off</a:t>
            </a:r>
            <a:endParaRPr lang="en-US" sz="600" dirty="0">
              <a:solidFill>
                <a:srgbClr val="646464"/>
              </a:solidFill>
              <a:latin typeface="EYInterstate" pitchFamily="2" charset="0"/>
            </a:endParaRPr>
          </a:p>
        </p:txBody>
      </p:sp>
      <p:sp>
        <p:nvSpPr>
          <p:cNvPr id="172" name="Pentagon 171"/>
          <p:cNvSpPr/>
          <p:nvPr/>
        </p:nvSpPr>
        <p:spPr bwMode="auto">
          <a:xfrm>
            <a:off x="333053" y="3991905"/>
            <a:ext cx="1759195" cy="148134"/>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800" dirty="0" smtClean="0">
                <a:solidFill>
                  <a:srgbClr val="646464"/>
                </a:solidFill>
              </a:rPr>
              <a:t>Initiate &amp; Plan</a:t>
            </a:r>
            <a:endParaRPr lang="en-GB" sz="800" dirty="0">
              <a:solidFill>
                <a:srgbClr val="646464"/>
              </a:solidFill>
            </a:endParaRPr>
          </a:p>
        </p:txBody>
      </p:sp>
      <p:sp>
        <p:nvSpPr>
          <p:cNvPr id="173" name="Pentagon 172"/>
          <p:cNvSpPr/>
          <p:nvPr/>
        </p:nvSpPr>
        <p:spPr bwMode="auto">
          <a:xfrm>
            <a:off x="342578" y="1237069"/>
            <a:ext cx="8405886" cy="149045"/>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800" dirty="0" smtClean="0">
                <a:solidFill>
                  <a:srgbClr val="002060"/>
                </a:solidFill>
              </a:rPr>
              <a:t>Communications &amp; Learning Planning / Design &amp; Execution</a:t>
            </a:r>
            <a:endParaRPr lang="en-GB" sz="800" dirty="0">
              <a:solidFill>
                <a:srgbClr val="002060"/>
              </a:solidFill>
            </a:endParaRPr>
          </a:p>
        </p:txBody>
      </p:sp>
      <p:sp>
        <p:nvSpPr>
          <p:cNvPr id="174" name="Pentagon 173"/>
          <p:cNvSpPr/>
          <p:nvPr/>
        </p:nvSpPr>
        <p:spPr bwMode="auto">
          <a:xfrm>
            <a:off x="342578" y="5306032"/>
            <a:ext cx="2093082" cy="152400"/>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800" dirty="0" smtClean="0">
                <a:solidFill>
                  <a:srgbClr val="646464"/>
                </a:solidFill>
              </a:rPr>
              <a:t>Initiate &amp; Plan</a:t>
            </a:r>
            <a:endParaRPr lang="en-GB" sz="800" dirty="0">
              <a:solidFill>
                <a:srgbClr val="646464"/>
              </a:solidFill>
            </a:endParaRPr>
          </a:p>
        </p:txBody>
      </p:sp>
      <p:sp>
        <p:nvSpPr>
          <p:cNvPr id="175" name="Pentagon 174"/>
          <p:cNvSpPr/>
          <p:nvPr/>
        </p:nvSpPr>
        <p:spPr bwMode="auto">
          <a:xfrm>
            <a:off x="1105843" y="4822302"/>
            <a:ext cx="4130013" cy="159565"/>
          </a:xfrm>
          <a:prstGeom prst="homePlate">
            <a:avLst/>
          </a:prstGeom>
          <a:solidFill>
            <a:schemeClr val="accent2">
              <a:alpha val="86000"/>
            </a:schemeClr>
          </a:solidFill>
          <a:ln w="9525" cap="flat" cmpd="sng" algn="ctr">
            <a:noFill/>
            <a:prstDash val="solid"/>
            <a:round/>
            <a:headEnd type="none" w="med" len="med"/>
            <a:tailEnd type="none" w="med" len="med"/>
          </a:ln>
          <a:effectLst/>
        </p:spPr>
        <p:txBody>
          <a:bodyPr vert="horz" wrap="none" lIns="91418" tIns="45709" rIns="91418" bIns="45709" numCol="1" rtlCol="0" anchor="t" anchorCtr="0" compatLnSpc="1">
            <a:prstTxWarp prst="textNoShape">
              <a:avLst/>
            </a:prstTxWarp>
          </a:bodyPr>
          <a:lstStyle/>
          <a:p>
            <a:pPr fontAlgn="base">
              <a:spcBef>
                <a:spcPct val="0"/>
              </a:spcBef>
              <a:spcAft>
                <a:spcPct val="0"/>
              </a:spcAft>
            </a:pPr>
            <a:r>
              <a:rPr lang="en-GB" sz="800" dirty="0" smtClean="0">
                <a:solidFill>
                  <a:srgbClr val="646464"/>
                </a:solidFill>
              </a:rPr>
              <a:t>Lync - Technology Foundation</a:t>
            </a:r>
            <a:endParaRPr lang="en-GB" sz="800" dirty="0">
              <a:solidFill>
                <a:srgbClr val="646464"/>
              </a:solidFill>
            </a:endParaRPr>
          </a:p>
        </p:txBody>
      </p:sp>
      <p:sp>
        <p:nvSpPr>
          <p:cNvPr id="176" name="Rectangle 175"/>
          <p:cNvSpPr/>
          <p:nvPr/>
        </p:nvSpPr>
        <p:spPr bwMode="auto">
          <a:xfrm>
            <a:off x="6774271" y="4854991"/>
            <a:ext cx="590316" cy="143304"/>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chemeClr val="tx1">
                    <a:lumMod val="75000"/>
                  </a:schemeClr>
                </a:solidFill>
              </a:rPr>
              <a:t>Deployment</a:t>
            </a:r>
            <a:endParaRPr lang="en-GB" sz="800" dirty="0">
              <a:solidFill>
                <a:schemeClr val="tx1">
                  <a:lumMod val="75000"/>
                </a:schemeClr>
              </a:solidFill>
            </a:endParaRPr>
          </a:p>
        </p:txBody>
      </p:sp>
      <p:sp>
        <p:nvSpPr>
          <p:cNvPr id="177" name="Pentagon 176"/>
          <p:cNvSpPr/>
          <p:nvPr/>
        </p:nvSpPr>
        <p:spPr bwMode="auto">
          <a:xfrm>
            <a:off x="3573420" y="4513079"/>
            <a:ext cx="2006692" cy="163776"/>
          </a:xfrm>
          <a:prstGeom prst="homePlate">
            <a:avLst/>
          </a:prstGeom>
          <a:solidFill>
            <a:schemeClr val="accent2">
              <a:alpha val="86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800" dirty="0" smtClean="0">
                <a:solidFill>
                  <a:srgbClr val="646464"/>
                </a:solidFill>
              </a:rPr>
              <a:t>Deployment Planning</a:t>
            </a:r>
            <a:endParaRPr lang="en-GB" sz="800" dirty="0">
              <a:solidFill>
                <a:srgbClr val="646464"/>
              </a:solidFill>
            </a:endParaRPr>
          </a:p>
        </p:txBody>
      </p:sp>
      <p:sp>
        <p:nvSpPr>
          <p:cNvPr id="178" name="Line 125"/>
          <p:cNvSpPr>
            <a:spLocks noChangeShapeType="1"/>
          </p:cNvSpPr>
          <p:nvPr/>
        </p:nvSpPr>
        <p:spPr bwMode="gray">
          <a:xfrm flipV="1">
            <a:off x="2696444" y="4415567"/>
            <a:ext cx="0" cy="617984"/>
          </a:xfrm>
          <a:prstGeom prst="line">
            <a:avLst/>
          </a:prstGeom>
          <a:noFill/>
          <a:ln w="6350">
            <a:solidFill>
              <a:schemeClr val="accent2"/>
            </a:solidFill>
            <a:round/>
            <a:headEnd type="diamond" w="lg" len="lg"/>
            <a:tailEnd type="none" w="sm" len="sm"/>
          </a:ln>
        </p:spPr>
        <p:txBody>
          <a:bodyPr lIns="92075" tIns="46038" rIns="92075" bIns="46038">
            <a:spAutoFit/>
          </a:bodyPr>
          <a:lstStyle/>
          <a:p>
            <a:pPr algn="ctr" fontAlgn="base">
              <a:spcBef>
                <a:spcPct val="0"/>
              </a:spcBef>
              <a:spcAft>
                <a:spcPct val="0"/>
              </a:spcAft>
            </a:pPr>
            <a:endParaRPr lang="en-GB" sz="1200" dirty="0">
              <a:solidFill>
                <a:srgbClr val="646464"/>
              </a:solidFill>
            </a:endParaRPr>
          </a:p>
        </p:txBody>
      </p:sp>
      <p:sp>
        <p:nvSpPr>
          <p:cNvPr id="179" name="Text Box 126"/>
          <p:cNvSpPr txBox="1">
            <a:spLocks noChangeArrowheads="1"/>
          </p:cNvSpPr>
          <p:nvPr/>
        </p:nvSpPr>
        <p:spPr bwMode="gray">
          <a:xfrm>
            <a:off x="2581535" y="4353226"/>
            <a:ext cx="741377" cy="92333"/>
          </a:xfrm>
          <a:prstGeom prst="rect">
            <a:avLst/>
          </a:prstGeom>
          <a:noFill/>
          <a:ln w="9525" algn="ctr">
            <a:noFill/>
            <a:miter lim="800000"/>
            <a:headEnd type="none" w="sm" len="sm"/>
            <a:tailEnd type="none" w="sm" len="sm"/>
          </a:ln>
        </p:spPr>
        <p:txBody>
          <a:bodyPr wrap="square" lIns="26118" tIns="0" rIns="0" bIns="0">
            <a:spAutoFit/>
          </a:bodyPr>
          <a:lstStyle/>
          <a:p>
            <a:pPr defTabSz="514230" eaLnBrk="0" fontAlgn="base" hangingPunct="0">
              <a:spcBef>
                <a:spcPct val="0"/>
              </a:spcBef>
              <a:spcAft>
                <a:spcPct val="0"/>
              </a:spcAft>
            </a:pPr>
            <a:r>
              <a:rPr lang="en-US" sz="600" dirty="0" smtClean="0">
                <a:solidFill>
                  <a:srgbClr val="646464"/>
                </a:solidFill>
                <a:latin typeface="EYInterstate" pitchFamily="2" charset="0"/>
              </a:rPr>
              <a:t>Road Shows</a:t>
            </a:r>
            <a:endParaRPr lang="en-US" sz="600" dirty="0">
              <a:solidFill>
                <a:srgbClr val="646464"/>
              </a:solidFill>
              <a:latin typeface="EYInterstate" pitchFamily="2" charset="0"/>
            </a:endParaRPr>
          </a:p>
        </p:txBody>
      </p:sp>
      <p:sp>
        <p:nvSpPr>
          <p:cNvPr id="180" name="Line 125"/>
          <p:cNvSpPr>
            <a:spLocks noChangeShapeType="1"/>
          </p:cNvSpPr>
          <p:nvPr/>
        </p:nvSpPr>
        <p:spPr bwMode="gray">
          <a:xfrm flipH="1" flipV="1">
            <a:off x="2705360" y="5728649"/>
            <a:ext cx="609" cy="505051"/>
          </a:xfrm>
          <a:prstGeom prst="line">
            <a:avLst/>
          </a:prstGeom>
          <a:noFill/>
          <a:ln w="6350">
            <a:solidFill>
              <a:schemeClr val="accent2"/>
            </a:solidFill>
            <a:round/>
            <a:headEnd type="diamond" w="lg" len="lg"/>
            <a:tailEnd type="none" w="sm" len="sm"/>
          </a:ln>
        </p:spPr>
        <p:txBody>
          <a:bodyPr wrap="square" lIns="92075" tIns="46038" rIns="92075" bIns="46038">
            <a:spAutoFit/>
          </a:bodyPr>
          <a:lstStyle/>
          <a:p>
            <a:pPr algn="ctr" fontAlgn="base">
              <a:spcBef>
                <a:spcPct val="0"/>
              </a:spcBef>
              <a:spcAft>
                <a:spcPct val="0"/>
              </a:spcAft>
            </a:pPr>
            <a:endParaRPr lang="en-GB" sz="1200" dirty="0">
              <a:solidFill>
                <a:srgbClr val="646464"/>
              </a:solidFill>
            </a:endParaRPr>
          </a:p>
        </p:txBody>
      </p:sp>
      <p:sp>
        <p:nvSpPr>
          <p:cNvPr id="181" name="Text Box 126"/>
          <p:cNvSpPr txBox="1">
            <a:spLocks noChangeArrowheads="1"/>
          </p:cNvSpPr>
          <p:nvPr/>
        </p:nvSpPr>
        <p:spPr bwMode="gray">
          <a:xfrm>
            <a:off x="2581535" y="5658151"/>
            <a:ext cx="741377" cy="92333"/>
          </a:xfrm>
          <a:prstGeom prst="rect">
            <a:avLst/>
          </a:prstGeom>
          <a:noFill/>
          <a:ln w="9525" algn="ctr">
            <a:noFill/>
            <a:miter lim="800000"/>
            <a:headEnd type="none" w="sm" len="sm"/>
            <a:tailEnd type="none" w="sm" len="sm"/>
          </a:ln>
        </p:spPr>
        <p:txBody>
          <a:bodyPr wrap="square" lIns="26118" tIns="0" rIns="0" bIns="0">
            <a:spAutoFit/>
          </a:bodyPr>
          <a:lstStyle/>
          <a:p>
            <a:pPr defTabSz="514230" eaLnBrk="0" fontAlgn="base" hangingPunct="0">
              <a:spcBef>
                <a:spcPct val="0"/>
              </a:spcBef>
              <a:spcAft>
                <a:spcPct val="0"/>
              </a:spcAft>
            </a:pPr>
            <a:r>
              <a:rPr lang="en-US" sz="600" dirty="0" smtClean="0">
                <a:solidFill>
                  <a:srgbClr val="646464"/>
                </a:solidFill>
                <a:latin typeface="EYInterstate" pitchFamily="2" charset="0"/>
              </a:rPr>
              <a:t>Road Shows</a:t>
            </a:r>
            <a:endParaRPr lang="en-US" sz="600" dirty="0">
              <a:solidFill>
                <a:srgbClr val="646464"/>
              </a:solidFill>
              <a:latin typeface="EYInterstate" pitchFamily="2" charset="0"/>
            </a:endParaRPr>
          </a:p>
        </p:txBody>
      </p:sp>
      <p:sp>
        <p:nvSpPr>
          <p:cNvPr id="182" name="Line 125"/>
          <p:cNvSpPr>
            <a:spLocks noChangeShapeType="1"/>
          </p:cNvSpPr>
          <p:nvPr/>
        </p:nvSpPr>
        <p:spPr bwMode="gray">
          <a:xfrm flipV="1">
            <a:off x="5995691" y="5611494"/>
            <a:ext cx="0" cy="622206"/>
          </a:xfrm>
          <a:prstGeom prst="line">
            <a:avLst/>
          </a:prstGeom>
          <a:noFill/>
          <a:ln w="6350">
            <a:solidFill>
              <a:schemeClr val="accent2"/>
            </a:solidFill>
            <a:round/>
            <a:headEnd type="diamond" w="lg" len="lg"/>
            <a:tailEnd type="none" w="sm" len="sm"/>
          </a:ln>
        </p:spPr>
        <p:txBody>
          <a:bodyPr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183" name="Text Box 126"/>
          <p:cNvSpPr txBox="1">
            <a:spLocks noChangeArrowheads="1"/>
          </p:cNvSpPr>
          <p:nvPr/>
        </p:nvSpPr>
        <p:spPr bwMode="gray">
          <a:xfrm>
            <a:off x="6019544" y="5569690"/>
            <a:ext cx="1066800" cy="9444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600" dirty="0" smtClean="0">
                <a:solidFill>
                  <a:srgbClr val="646464"/>
                </a:solidFill>
                <a:latin typeface="EYInterstate" pitchFamily="2" charset="0"/>
              </a:rPr>
              <a:t>Service Transition Complete</a:t>
            </a:r>
            <a:endParaRPr lang="en-US" sz="600" dirty="0">
              <a:solidFill>
                <a:srgbClr val="646464"/>
              </a:solidFill>
              <a:latin typeface="EYInterstate" pitchFamily="2" charset="0"/>
            </a:endParaRPr>
          </a:p>
        </p:txBody>
      </p:sp>
      <p:cxnSp>
        <p:nvCxnSpPr>
          <p:cNvPr id="184" name="Straight Connector 183"/>
          <p:cNvCxnSpPr/>
          <p:nvPr/>
        </p:nvCxnSpPr>
        <p:spPr>
          <a:xfrm>
            <a:off x="446212" y="680384"/>
            <a:ext cx="8250113"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85" name="Text Box 126"/>
          <p:cNvSpPr txBox="1">
            <a:spLocks noChangeArrowheads="1"/>
          </p:cNvSpPr>
          <p:nvPr/>
        </p:nvSpPr>
        <p:spPr bwMode="gray">
          <a:xfrm rot="10800000" flipV="1">
            <a:off x="2724120" y="679602"/>
            <a:ext cx="438152" cy="369332"/>
          </a:xfrm>
          <a:prstGeom prst="rect">
            <a:avLst/>
          </a:prstGeom>
          <a:noFill/>
          <a:ln w="9525" algn="ctr">
            <a:noFill/>
            <a:miter lim="800000"/>
            <a:headEnd type="none" w="sm" len="sm"/>
            <a:tailEnd type="none" w="sm" len="sm"/>
          </a:ln>
        </p:spPr>
        <p:txBody>
          <a:bodyPr wrap="square" lIns="26118" tIns="0" rIns="0" bIns="0">
            <a:spAutoFit/>
          </a:bodyPr>
          <a:lstStyle/>
          <a:p>
            <a:pPr algn="r" defTabSz="514230" eaLnBrk="0" fontAlgn="base" hangingPunct="0">
              <a:spcBef>
                <a:spcPct val="0"/>
              </a:spcBef>
              <a:spcAft>
                <a:spcPct val="0"/>
              </a:spcAft>
            </a:pPr>
            <a:r>
              <a:rPr lang="en-US" sz="600" dirty="0" smtClean="0">
                <a:solidFill>
                  <a:srgbClr val="646464"/>
                </a:solidFill>
                <a:latin typeface="EYInterstate" pitchFamily="2" charset="0"/>
              </a:rPr>
              <a:t>Behavioral</a:t>
            </a:r>
          </a:p>
          <a:p>
            <a:pPr algn="r" defTabSz="514230" eaLnBrk="0" fontAlgn="base" hangingPunct="0">
              <a:spcBef>
                <a:spcPct val="0"/>
              </a:spcBef>
              <a:spcAft>
                <a:spcPct val="0"/>
              </a:spcAft>
            </a:pPr>
            <a:r>
              <a:rPr lang="en-US" sz="600" dirty="0" smtClean="0">
                <a:solidFill>
                  <a:srgbClr val="646464"/>
                </a:solidFill>
                <a:latin typeface="EYInterstate" pitchFamily="2" charset="0"/>
              </a:rPr>
              <a:t>Change </a:t>
            </a:r>
          </a:p>
          <a:p>
            <a:pPr algn="r" defTabSz="514230" eaLnBrk="0" fontAlgn="base" hangingPunct="0">
              <a:spcBef>
                <a:spcPct val="0"/>
              </a:spcBef>
              <a:spcAft>
                <a:spcPct val="0"/>
              </a:spcAft>
            </a:pPr>
            <a:r>
              <a:rPr lang="en-US" sz="600" dirty="0" smtClean="0">
                <a:solidFill>
                  <a:srgbClr val="646464"/>
                </a:solidFill>
                <a:latin typeface="EYInterstate" pitchFamily="2" charset="0"/>
              </a:rPr>
              <a:t>Approach</a:t>
            </a:r>
          </a:p>
          <a:p>
            <a:pPr algn="r" defTabSz="514230" eaLnBrk="0" fontAlgn="base" hangingPunct="0">
              <a:spcBef>
                <a:spcPct val="0"/>
              </a:spcBef>
              <a:spcAft>
                <a:spcPct val="0"/>
              </a:spcAft>
            </a:pPr>
            <a:r>
              <a:rPr lang="en-US" sz="600" dirty="0" smtClean="0">
                <a:solidFill>
                  <a:srgbClr val="646464"/>
                </a:solidFill>
                <a:latin typeface="EYInterstate" pitchFamily="2" charset="0"/>
              </a:rPr>
              <a:t>Signed off</a:t>
            </a:r>
            <a:endParaRPr lang="en-US" sz="600" dirty="0">
              <a:solidFill>
                <a:srgbClr val="646464"/>
              </a:solidFill>
              <a:latin typeface="EYInterstate" pitchFamily="2" charset="0"/>
            </a:endParaRPr>
          </a:p>
        </p:txBody>
      </p:sp>
      <p:cxnSp>
        <p:nvCxnSpPr>
          <p:cNvPr id="186" name="Straight Connector 185"/>
          <p:cNvCxnSpPr/>
          <p:nvPr/>
        </p:nvCxnSpPr>
        <p:spPr>
          <a:xfrm>
            <a:off x="342578" y="1057664"/>
            <a:ext cx="837659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87" name="Pentagon 186"/>
          <p:cNvSpPr/>
          <p:nvPr/>
        </p:nvSpPr>
        <p:spPr bwMode="auto">
          <a:xfrm>
            <a:off x="337579" y="1043572"/>
            <a:ext cx="8410885" cy="149045"/>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800" dirty="0" smtClean="0">
                <a:solidFill>
                  <a:srgbClr val="002060"/>
                </a:solidFill>
              </a:rPr>
              <a:t>Change Management – Planning / Design &amp; Execution</a:t>
            </a:r>
          </a:p>
        </p:txBody>
      </p:sp>
      <p:sp>
        <p:nvSpPr>
          <p:cNvPr id="188" name="Text Box 126"/>
          <p:cNvSpPr txBox="1">
            <a:spLocks noChangeArrowheads="1"/>
          </p:cNvSpPr>
          <p:nvPr/>
        </p:nvSpPr>
        <p:spPr bwMode="gray">
          <a:xfrm rot="10800000" flipV="1">
            <a:off x="304800" y="1406887"/>
            <a:ext cx="1327120" cy="92333"/>
          </a:xfrm>
          <a:prstGeom prst="rect">
            <a:avLst/>
          </a:prstGeom>
          <a:noFill/>
          <a:ln w="9525" algn="ctr">
            <a:noFill/>
            <a:miter lim="800000"/>
            <a:headEnd type="none" w="sm" len="sm"/>
            <a:tailEnd type="none" w="sm" len="sm"/>
          </a:ln>
        </p:spPr>
        <p:txBody>
          <a:bodyPr wrap="square" lIns="26118" tIns="0" rIns="0" bIns="0">
            <a:spAutoFit/>
          </a:bodyPr>
          <a:lstStyle/>
          <a:p>
            <a:pPr algn="r" defTabSz="514230" eaLnBrk="0" fontAlgn="base" hangingPunct="0">
              <a:spcBef>
                <a:spcPct val="0"/>
              </a:spcBef>
              <a:spcAft>
                <a:spcPct val="0"/>
              </a:spcAft>
            </a:pPr>
            <a:r>
              <a:rPr lang="en-US" sz="600" dirty="0" smtClean="0">
                <a:solidFill>
                  <a:srgbClr val="646464"/>
                </a:solidFill>
                <a:latin typeface="EYInterstate" pitchFamily="2" charset="0"/>
              </a:rPr>
              <a:t>Comms Strategy Signed off</a:t>
            </a:r>
            <a:endParaRPr lang="en-US" sz="600" dirty="0">
              <a:solidFill>
                <a:srgbClr val="646464"/>
              </a:solidFill>
              <a:latin typeface="EYInterstate" pitchFamily="2" charset="0"/>
            </a:endParaRPr>
          </a:p>
        </p:txBody>
      </p:sp>
      <p:sp>
        <p:nvSpPr>
          <p:cNvPr id="189" name="Line 125"/>
          <p:cNvSpPr>
            <a:spLocks noChangeShapeType="1"/>
          </p:cNvSpPr>
          <p:nvPr/>
        </p:nvSpPr>
        <p:spPr bwMode="gray">
          <a:xfrm flipH="1">
            <a:off x="1911408" y="1386968"/>
            <a:ext cx="0" cy="253777"/>
          </a:xfrm>
          <a:prstGeom prst="line">
            <a:avLst/>
          </a:prstGeom>
          <a:noFill/>
          <a:ln w="6350">
            <a:solidFill>
              <a:schemeClr val="accent2"/>
            </a:solidFill>
            <a:round/>
            <a:headEnd type="diamond" w="lg" len="lg"/>
            <a:tailEnd type="none" w="sm" len="sm"/>
          </a:ln>
        </p:spPr>
        <p:txBody>
          <a:bodyPr wrap="square" lIns="92075" tIns="46038" rIns="92075" bIns="46038">
            <a:spAutoFit/>
          </a:bodyPr>
          <a:lstStyle/>
          <a:p>
            <a:pPr algn="ctr" fontAlgn="base">
              <a:spcBef>
                <a:spcPct val="0"/>
              </a:spcBef>
              <a:spcAft>
                <a:spcPct val="0"/>
              </a:spcAft>
            </a:pPr>
            <a:endParaRPr lang="en-GB" sz="1200" dirty="0">
              <a:solidFill>
                <a:srgbClr val="646464"/>
              </a:solidFill>
            </a:endParaRPr>
          </a:p>
        </p:txBody>
      </p:sp>
      <p:sp>
        <p:nvSpPr>
          <p:cNvPr id="190" name="Line 125"/>
          <p:cNvSpPr>
            <a:spLocks noChangeShapeType="1"/>
          </p:cNvSpPr>
          <p:nvPr/>
        </p:nvSpPr>
        <p:spPr bwMode="gray">
          <a:xfrm flipH="1">
            <a:off x="1695400" y="1386968"/>
            <a:ext cx="0" cy="253777"/>
          </a:xfrm>
          <a:prstGeom prst="line">
            <a:avLst/>
          </a:prstGeom>
          <a:noFill/>
          <a:ln w="6350">
            <a:solidFill>
              <a:schemeClr val="accent2"/>
            </a:solidFill>
            <a:round/>
            <a:headEnd type="diamond" w="lg" len="lg"/>
            <a:tailEnd type="none" w="sm" len="sm"/>
          </a:ln>
        </p:spPr>
        <p:txBody>
          <a:bodyPr wrap="square" lIns="92075" tIns="46038" rIns="92075" bIns="46038">
            <a:spAutoFit/>
          </a:bodyPr>
          <a:lstStyle/>
          <a:p>
            <a:pPr algn="ctr" fontAlgn="base">
              <a:spcBef>
                <a:spcPct val="0"/>
              </a:spcBef>
              <a:spcAft>
                <a:spcPct val="0"/>
              </a:spcAft>
            </a:pPr>
            <a:endParaRPr lang="en-GB" sz="1200" dirty="0">
              <a:solidFill>
                <a:srgbClr val="646464"/>
              </a:solidFill>
            </a:endParaRPr>
          </a:p>
        </p:txBody>
      </p:sp>
      <p:sp>
        <p:nvSpPr>
          <p:cNvPr id="191" name="Text Box 126"/>
          <p:cNvSpPr txBox="1">
            <a:spLocks noChangeArrowheads="1"/>
          </p:cNvSpPr>
          <p:nvPr/>
        </p:nvSpPr>
        <p:spPr bwMode="gray">
          <a:xfrm rot="10800000" flipV="1">
            <a:off x="1957423" y="1398937"/>
            <a:ext cx="1925049" cy="92333"/>
          </a:xfrm>
          <a:prstGeom prst="rect">
            <a:avLst/>
          </a:prstGeom>
          <a:noFill/>
          <a:ln w="9525" algn="ctr">
            <a:noFill/>
            <a:miter lim="800000"/>
            <a:headEnd type="none" w="sm" len="sm"/>
            <a:tailEnd type="none" w="sm" len="sm"/>
          </a:ln>
        </p:spPr>
        <p:txBody>
          <a:bodyPr wrap="square" lIns="26118" tIns="0" rIns="0" bIns="0">
            <a:spAutoFit/>
          </a:bodyPr>
          <a:lstStyle/>
          <a:p>
            <a:pPr defTabSz="514230" eaLnBrk="0" fontAlgn="base" hangingPunct="0">
              <a:spcBef>
                <a:spcPct val="0"/>
              </a:spcBef>
              <a:spcAft>
                <a:spcPct val="0"/>
              </a:spcAft>
            </a:pPr>
            <a:r>
              <a:rPr lang="en-US" sz="600" dirty="0" smtClean="0">
                <a:solidFill>
                  <a:srgbClr val="646464"/>
                </a:solidFill>
                <a:latin typeface="EYInterstate" pitchFamily="2" charset="0"/>
              </a:rPr>
              <a:t>Learning Strategy Signed Off</a:t>
            </a:r>
            <a:endParaRPr lang="en-US" sz="600" dirty="0">
              <a:solidFill>
                <a:srgbClr val="646464"/>
              </a:solidFill>
              <a:latin typeface="EYInterstate" pitchFamily="2" charset="0"/>
            </a:endParaRPr>
          </a:p>
        </p:txBody>
      </p:sp>
      <p:sp>
        <p:nvSpPr>
          <p:cNvPr id="192" name="Line 125"/>
          <p:cNvSpPr>
            <a:spLocks noChangeShapeType="1"/>
          </p:cNvSpPr>
          <p:nvPr/>
        </p:nvSpPr>
        <p:spPr bwMode="gray">
          <a:xfrm flipV="1">
            <a:off x="3225180" y="746070"/>
            <a:ext cx="0" cy="263047"/>
          </a:xfrm>
          <a:prstGeom prst="line">
            <a:avLst/>
          </a:prstGeom>
          <a:noFill/>
          <a:ln w="6350">
            <a:solidFill>
              <a:schemeClr val="accent2"/>
            </a:solidFill>
            <a:round/>
            <a:headEnd type="diamond" w="lg" len="lg"/>
            <a:tailEnd type="none" w="sm" len="sm"/>
          </a:ln>
        </p:spPr>
        <p:txBody>
          <a:bodyPr wrap="square" lIns="92075" tIns="46038" rIns="92075" bIns="46038">
            <a:spAutoFit/>
          </a:bodyPr>
          <a:lstStyle/>
          <a:p>
            <a:pPr algn="ctr" fontAlgn="base">
              <a:spcBef>
                <a:spcPct val="0"/>
              </a:spcBef>
              <a:spcAft>
                <a:spcPct val="0"/>
              </a:spcAft>
            </a:pPr>
            <a:endParaRPr lang="en-GB" sz="1200" dirty="0">
              <a:solidFill>
                <a:srgbClr val="646464"/>
              </a:solidFill>
            </a:endParaRPr>
          </a:p>
        </p:txBody>
      </p:sp>
      <p:sp>
        <p:nvSpPr>
          <p:cNvPr id="193" name="Line 125"/>
          <p:cNvSpPr>
            <a:spLocks noChangeShapeType="1"/>
          </p:cNvSpPr>
          <p:nvPr/>
        </p:nvSpPr>
        <p:spPr bwMode="gray">
          <a:xfrm flipV="1">
            <a:off x="3369695" y="742851"/>
            <a:ext cx="0" cy="267333"/>
          </a:xfrm>
          <a:prstGeom prst="line">
            <a:avLst/>
          </a:prstGeom>
          <a:noFill/>
          <a:ln w="6350">
            <a:solidFill>
              <a:schemeClr val="accent2"/>
            </a:solidFill>
            <a:round/>
            <a:headEnd type="diamond" w="lg" len="lg"/>
            <a:tailEnd type="none" w="sm" len="sm"/>
          </a:ln>
        </p:spPr>
        <p:txBody>
          <a:bodyPr wrap="square" lIns="92075" tIns="46038" rIns="92075" bIns="46038">
            <a:spAutoFit/>
          </a:bodyPr>
          <a:lstStyle/>
          <a:p>
            <a:pPr algn="ctr" fontAlgn="base">
              <a:spcBef>
                <a:spcPct val="0"/>
              </a:spcBef>
              <a:spcAft>
                <a:spcPct val="0"/>
              </a:spcAft>
            </a:pPr>
            <a:endParaRPr lang="en-GB" sz="1200" dirty="0">
              <a:solidFill>
                <a:srgbClr val="646464"/>
              </a:solidFill>
            </a:endParaRPr>
          </a:p>
        </p:txBody>
      </p:sp>
      <p:sp>
        <p:nvSpPr>
          <p:cNvPr id="194" name="Line 125"/>
          <p:cNvSpPr>
            <a:spLocks noChangeShapeType="1"/>
          </p:cNvSpPr>
          <p:nvPr/>
        </p:nvSpPr>
        <p:spPr bwMode="gray">
          <a:xfrm flipV="1">
            <a:off x="1702255" y="768252"/>
            <a:ext cx="0" cy="241811"/>
          </a:xfrm>
          <a:prstGeom prst="line">
            <a:avLst/>
          </a:prstGeom>
          <a:noFill/>
          <a:ln w="6350">
            <a:solidFill>
              <a:schemeClr val="accent2"/>
            </a:solidFill>
            <a:round/>
            <a:headEnd type="diamond" w="lg" len="lg"/>
            <a:tailEnd type="none" w="sm" len="sm"/>
          </a:ln>
        </p:spPr>
        <p:txBody>
          <a:bodyPr lIns="92075" tIns="46038" rIns="92075" bIns="46038">
            <a:spAutoFit/>
          </a:bodyPr>
          <a:lstStyle/>
          <a:p>
            <a:pPr fontAlgn="base">
              <a:spcBef>
                <a:spcPct val="0"/>
              </a:spcBef>
              <a:spcAft>
                <a:spcPct val="0"/>
              </a:spcAft>
            </a:pPr>
            <a:endParaRPr lang="en-GB" sz="1200" dirty="0">
              <a:solidFill>
                <a:srgbClr val="646464"/>
              </a:solidFill>
            </a:endParaRPr>
          </a:p>
        </p:txBody>
      </p:sp>
      <p:sp>
        <p:nvSpPr>
          <p:cNvPr id="195" name="Pentagon 194"/>
          <p:cNvSpPr/>
          <p:nvPr/>
        </p:nvSpPr>
        <p:spPr bwMode="auto">
          <a:xfrm>
            <a:off x="1462866" y="1664228"/>
            <a:ext cx="872798" cy="160019"/>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700" dirty="0" smtClean="0">
                <a:solidFill>
                  <a:srgbClr val="646464"/>
                </a:solidFill>
              </a:rPr>
              <a:t>Initiative and Plan</a:t>
            </a:r>
            <a:endParaRPr lang="en-GB" sz="700" dirty="0">
              <a:solidFill>
                <a:srgbClr val="646464"/>
              </a:solidFill>
            </a:endParaRPr>
          </a:p>
        </p:txBody>
      </p:sp>
      <p:sp>
        <p:nvSpPr>
          <p:cNvPr id="196" name="Line 125"/>
          <p:cNvSpPr>
            <a:spLocks noChangeShapeType="1"/>
          </p:cNvSpPr>
          <p:nvPr/>
        </p:nvSpPr>
        <p:spPr bwMode="gray">
          <a:xfrm flipV="1">
            <a:off x="6445428" y="2895684"/>
            <a:ext cx="0" cy="698199"/>
          </a:xfrm>
          <a:prstGeom prst="line">
            <a:avLst/>
          </a:prstGeom>
          <a:noFill/>
          <a:ln w="6350">
            <a:solidFill>
              <a:schemeClr val="accent2"/>
            </a:solidFill>
            <a:round/>
            <a:headEnd type="diamond" w="lg" len="lg"/>
            <a:tailEnd type="none" w="sm" len="sm"/>
          </a:ln>
        </p:spPr>
        <p:txBody>
          <a:bodyPr wrap="square" lIns="92075" tIns="46038" rIns="92075" bIns="46038">
            <a:spAutoFit/>
          </a:bodyPr>
          <a:lstStyle/>
          <a:p>
            <a:pPr algn="r" fontAlgn="base">
              <a:spcBef>
                <a:spcPct val="0"/>
              </a:spcBef>
              <a:spcAft>
                <a:spcPct val="0"/>
              </a:spcAft>
            </a:pPr>
            <a:endParaRPr lang="en-GB" sz="1200" dirty="0">
              <a:solidFill>
                <a:schemeClr val="tx1">
                  <a:lumMod val="75000"/>
                </a:schemeClr>
              </a:solidFill>
            </a:endParaRPr>
          </a:p>
        </p:txBody>
      </p:sp>
      <p:sp>
        <p:nvSpPr>
          <p:cNvPr id="197" name="Text Box 126"/>
          <p:cNvSpPr txBox="1">
            <a:spLocks noChangeArrowheads="1"/>
          </p:cNvSpPr>
          <p:nvPr/>
        </p:nvSpPr>
        <p:spPr bwMode="gray">
          <a:xfrm>
            <a:off x="6456077" y="2821682"/>
            <a:ext cx="624351" cy="184666"/>
          </a:xfrm>
          <a:prstGeom prst="rect">
            <a:avLst/>
          </a:prstGeom>
          <a:noFill/>
          <a:ln w="9525" algn="ctr">
            <a:noFill/>
            <a:miter lim="800000"/>
            <a:headEnd type="none" w="sm" len="sm"/>
            <a:tailEnd type="none" w="sm" len="sm"/>
          </a:ln>
        </p:spPr>
        <p:txBody>
          <a:bodyPr wrap="square" lIns="26118" tIns="0" rIns="0" bIns="0">
            <a:spAutoFit/>
          </a:bodyPr>
          <a:lstStyle/>
          <a:p>
            <a:pPr defTabSz="514230" eaLnBrk="0" fontAlgn="base" hangingPunct="0">
              <a:spcBef>
                <a:spcPct val="0"/>
              </a:spcBef>
              <a:spcAft>
                <a:spcPct val="0"/>
              </a:spcAft>
            </a:pPr>
            <a:r>
              <a:rPr lang="en-US" sz="600" dirty="0" smtClean="0">
                <a:solidFill>
                  <a:srgbClr val="646464"/>
                </a:solidFill>
                <a:latin typeface="EYInterstate" pitchFamily="2" charset="0"/>
              </a:rPr>
              <a:t>Phase 1 </a:t>
            </a:r>
          </a:p>
          <a:p>
            <a:pPr defTabSz="514230" eaLnBrk="0" fontAlgn="base" hangingPunct="0">
              <a:spcBef>
                <a:spcPct val="0"/>
              </a:spcBef>
              <a:spcAft>
                <a:spcPct val="0"/>
              </a:spcAft>
            </a:pPr>
            <a:r>
              <a:rPr lang="en-US" sz="600" dirty="0" smtClean="0">
                <a:solidFill>
                  <a:srgbClr val="646464"/>
                </a:solidFill>
                <a:latin typeface="EYInterstate" pitchFamily="2" charset="0"/>
              </a:rPr>
              <a:t>Go live</a:t>
            </a:r>
            <a:endParaRPr lang="en-US" sz="600" dirty="0">
              <a:solidFill>
                <a:srgbClr val="646464"/>
              </a:solidFill>
              <a:latin typeface="EYInterstate" pitchFamily="2" charset="0"/>
            </a:endParaRPr>
          </a:p>
        </p:txBody>
      </p:sp>
      <p:sp>
        <p:nvSpPr>
          <p:cNvPr id="198" name="Line 125"/>
          <p:cNvSpPr>
            <a:spLocks noChangeShapeType="1"/>
          </p:cNvSpPr>
          <p:nvPr/>
        </p:nvSpPr>
        <p:spPr bwMode="gray">
          <a:xfrm flipV="1">
            <a:off x="6171712" y="2882931"/>
            <a:ext cx="0" cy="704377"/>
          </a:xfrm>
          <a:prstGeom prst="line">
            <a:avLst/>
          </a:prstGeom>
          <a:noFill/>
          <a:ln w="6350">
            <a:solidFill>
              <a:schemeClr val="accent2"/>
            </a:solidFill>
            <a:round/>
            <a:headEnd type="diamond" w="lg" len="lg"/>
            <a:tailEnd type="none" w="sm" len="sm"/>
          </a:ln>
        </p:spPr>
        <p:txBody>
          <a:bodyPr wrap="square" lIns="92075" tIns="46038" rIns="92075" bIns="46038">
            <a:spAutoFit/>
          </a:bodyPr>
          <a:lstStyle/>
          <a:p>
            <a:pPr algn="r" fontAlgn="base">
              <a:spcBef>
                <a:spcPct val="0"/>
              </a:spcBef>
              <a:spcAft>
                <a:spcPct val="0"/>
              </a:spcAft>
            </a:pPr>
            <a:endParaRPr lang="en-GB" sz="1200" dirty="0">
              <a:solidFill>
                <a:schemeClr val="tx1">
                  <a:lumMod val="75000"/>
                </a:schemeClr>
              </a:solidFill>
            </a:endParaRPr>
          </a:p>
        </p:txBody>
      </p:sp>
      <p:sp>
        <p:nvSpPr>
          <p:cNvPr id="199" name="Text Box 126"/>
          <p:cNvSpPr txBox="1">
            <a:spLocks noChangeArrowheads="1"/>
          </p:cNvSpPr>
          <p:nvPr/>
        </p:nvSpPr>
        <p:spPr bwMode="gray">
          <a:xfrm>
            <a:off x="5095917" y="2819485"/>
            <a:ext cx="1066800" cy="276106"/>
          </a:xfrm>
          <a:prstGeom prst="rect">
            <a:avLst/>
          </a:prstGeom>
          <a:noFill/>
          <a:ln w="9525" algn="ctr">
            <a:noFill/>
            <a:miter lim="800000"/>
            <a:headEnd type="none" w="sm" len="sm"/>
            <a:tailEnd type="none" w="sm" len="sm"/>
          </a:ln>
        </p:spPr>
        <p:txBody>
          <a:bodyPr wrap="square" lIns="26118" tIns="0" rIns="0" bIns="0">
            <a:spAutoFit/>
          </a:bodyPr>
          <a:lstStyle/>
          <a:p>
            <a:pPr algn="r" defTabSz="514230" eaLnBrk="0" fontAlgn="base" hangingPunct="0">
              <a:spcBef>
                <a:spcPct val="0"/>
              </a:spcBef>
              <a:spcAft>
                <a:spcPct val="0"/>
              </a:spcAft>
            </a:pPr>
            <a:r>
              <a:rPr lang="en-US" sz="600" dirty="0" smtClean="0">
                <a:solidFill>
                  <a:srgbClr val="646464"/>
                </a:solidFill>
                <a:latin typeface="EYInterstate" pitchFamily="2" charset="0"/>
              </a:rPr>
              <a:t>Service </a:t>
            </a:r>
          </a:p>
          <a:p>
            <a:pPr algn="r" defTabSz="514230" eaLnBrk="0" fontAlgn="base" hangingPunct="0">
              <a:spcBef>
                <a:spcPct val="0"/>
              </a:spcBef>
              <a:spcAft>
                <a:spcPct val="0"/>
              </a:spcAft>
            </a:pPr>
            <a:r>
              <a:rPr lang="en-US" sz="600" dirty="0" smtClean="0">
                <a:solidFill>
                  <a:srgbClr val="646464"/>
                </a:solidFill>
                <a:latin typeface="EYInterstate" pitchFamily="2" charset="0"/>
              </a:rPr>
              <a:t>Transition </a:t>
            </a:r>
          </a:p>
          <a:p>
            <a:pPr algn="r" defTabSz="514230" eaLnBrk="0" fontAlgn="base" hangingPunct="0">
              <a:spcBef>
                <a:spcPct val="0"/>
              </a:spcBef>
              <a:spcAft>
                <a:spcPct val="0"/>
              </a:spcAft>
            </a:pPr>
            <a:r>
              <a:rPr lang="en-US" sz="600" dirty="0" smtClean="0">
                <a:solidFill>
                  <a:srgbClr val="646464"/>
                </a:solidFill>
                <a:latin typeface="EYInterstate" pitchFamily="2" charset="0"/>
              </a:rPr>
              <a:t>Complete</a:t>
            </a:r>
            <a:endParaRPr lang="en-US" sz="600" dirty="0">
              <a:solidFill>
                <a:srgbClr val="646464"/>
              </a:solidFill>
              <a:latin typeface="EYInterstate" pitchFamily="2" charset="0"/>
            </a:endParaRPr>
          </a:p>
        </p:txBody>
      </p:sp>
      <p:sp>
        <p:nvSpPr>
          <p:cNvPr id="200" name="Text Box 126"/>
          <p:cNvSpPr txBox="1">
            <a:spLocks noChangeArrowheads="1"/>
          </p:cNvSpPr>
          <p:nvPr/>
        </p:nvSpPr>
        <p:spPr bwMode="gray">
          <a:xfrm>
            <a:off x="4546472" y="5150175"/>
            <a:ext cx="454650" cy="276999"/>
          </a:xfrm>
          <a:prstGeom prst="rect">
            <a:avLst/>
          </a:prstGeom>
          <a:noFill/>
          <a:ln w="9525" algn="ctr">
            <a:noFill/>
            <a:miter lim="800000"/>
            <a:headEnd type="none" w="sm" len="sm"/>
            <a:tailEnd type="none" w="sm" len="sm"/>
          </a:ln>
        </p:spPr>
        <p:txBody>
          <a:bodyPr wrap="square" lIns="26118" tIns="0" rIns="0" bIns="0">
            <a:spAutoFit/>
          </a:bodyPr>
          <a:lstStyle/>
          <a:p>
            <a:pPr algn="r" defTabSz="514230" eaLnBrk="0" fontAlgn="base" hangingPunct="0">
              <a:spcBef>
                <a:spcPct val="0"/>
              </a:spcBef>
              <a:spcAft>
                <a:spcPct val="0"/>
              </a:spcAft>
            </a:pPr>
            <a:r>
              <a:rPr lang="en-US" sz="600" dirty="0" smtClean="0">
                <a:solidFill>
                  <a:srgbClr val="646464"/>
                </a:solidFill>
                <a:latin typeface="EYInterstate" pitchFamily="2" charset="0"/>
              </a:rPr>
              <a:t>Comms</a:t>
            </a:r>
          </a:p>
          <a:p>
            <a:pPr algn="r" defTabSz="514230" eaLnBrk="0" fontAlgn="base" hangingPunct="0">
              <a:spcBef>
                <a:spcPct val="0"/>
              </a:spcBef>
              <a:spcAft>
                <a:spcPct val="0"/>
              </a:spcAft>
            </a:pPr>
            <a:r>
              <a:rPr lang="en-US" sz="600" dirty="0" smtClean="0">
                <a:solidFill>
                  <a:srgbClr val="646464"/>
                </a:solidFill>
                <a:latin typeface="EYInterstate" pitchFamily="2" charset="0"/>
              </a:rPr>
              <a:t>Plan Signed off</a:t>
            </a:r>
            <a:endParaRPr lang="en-US" sz="600" dirty="0">
              <a:solidFill>
                <a:srgbClr val="646464"/>
              </a:solidFill>
              <a:latin typeface="EYInterstate" pitchFamily="2" charset="0"/>
            </a:endParaRPr>
          </a:p>
        </p:txBody>
      </p:sp>
      <p:sp>
        <p:nvSpPr>
          <p:cNvPr id="201" name="Text Box 126"/>
          <p:cNvSpPr txBox="1">
            <a:spLocks noChangeArrowheads="1"/>
          </p:cNvSpPr>
          <p:nvPr/>
        </p:nvSpPr>
        <p:spPr bwMode="gray">
          <a:xfrm>
            <a:off x="5301115" y="5172427"/>
            <a:ext cx="454650" cy="369332"/>
          </a:xfrm>
          <a:prstGeom prst="rect">
            <a:avLst/>
          </a:prstGeom>
          <a:noFill/>
          <a:ln w="9525" algn="ctr">
            <a:noFill/>
            <a:miter lim="800000"/>
            <a:headEnd type="none" w="sm" len="sm"/>
            <a:tailEnd type="none" w="sm" len="sm"/>
          </a:ln>
        </p:spPr>
        <p:txBody>
          <a:bodyPr wrap="square" lIns="26118" tIns="0" rIns="0" bIns="0">
            <a:spAutoFit/>
          </a:bodyPr>
          <a:lstStyle/>
          <a:p>
            <a:pPr defTabSz="514230" eaLnBrk="0" fontAlgn="base" hangingPunct="0">
              <a:spcBef>
                <a:spcPct val="0"/>
              </a:spcBef>
              <a:spcAft>
                <a:spcPct val="0"/>
              </a:spcAft>
            </a:pPr>
            <a:r>
              <a:rPr lang="en-US" sz="600" dirty="0" smtClean="0">
                <a:solidFill>
                  <a:srgbClr val="646464"/>
                </a:solidFill>
                <a:latin typeface="EYInterstate" pitchFamily="2" charset="0"/>
              </a:rPr>
              <a:t>Initial Learning Material developed</a:t>
            </a:r>
            <a:endParaRPr lang="en-US" sz="600" dirty="0">
              <a:solidFill>
                <a:srgbClr val="646464"/>
              </a:solidFill>
              <a:latin typeface="EYInterstate" pitchFamily="2" charset="0"/>
            </a:endParaRPr>
          </a:p>
        </p:txBody>
      </p:sp>
      <p:sp>
        <p:nvSpPr>
          <p:cNvPr id="202" name="Line 125"/>
          <p:cNvSpPr>
            <a:spLocks noChangeShapeType="1"/>
          </p:cNvSpPr>
          <p:nvPr/>
        </p:nvSpPr>
        <p:spPr bwMode="gray">
          <a:xfrm flipV="1">
            <a:off x="3167745" y="3871632"/>
            <a:ext cx="0" cy="1161311"/>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03" name="Text Box 126"/>
          <p:cNvSpPr txBox="1">
            <a:spLocks noChangeArrowheads="1"/>
          </p:cNvSpPr>
          <p:nvPr/>
        </p:nvSpPr>
        <p:spPr bwMode="gray">
          <a:xfrm>
            <a:off x="3189129" y="3755815"/>
            <a:ext cx="1191024" cy="276999"/>
          </a:xfrm>
          <a:prstGeom prst="rect">
            <a:avLst/>
          </a:prstGeom>
          <a:noFill/>
          <a:ln w="9525" algn="ctr">
            <a:noFill/>
            <a:miter lim="800000"/>
            <a:headEnd type="none" w="sm" len="sm"/>
            <a:tailEnd type="none" w="sm" len="sm"/>
          </a:ln>
        </p:spPr>
        <p:txBody>
          <a:bodyPr wrap="square" lIns="26118" tIns="0" rIns="0" bIns="0">
            <a:spAutoFit/>
          </a:bodyPr>
          <a:lstStyle/>
          <a:p>
            <a:pPr defTabSz="514230" eaLnBrk="0" fontAlgn="base" hangingPunct="0">
              <a:spcBef>
                <a:spcPct val="0"/>
              </a:spcBef>
              <a:spcAft>
                <a:spcPct val="0"/>
              </a:spcAft>
            </a:pPr>
            <a:r>
              <a:rPr lang="en-US" sz="600" dirty="0" smtClean="0">
                <a:solidFill>
                  <a:srgbClr val="646464"/>
                </a:solidFill>
                <a:latin typeface="EYInterstate" pitchFamily="2" charset="0"/>
              </a:rPr>
              <a:t>Comms</a:t>
            </a:r>
          </a:p>
          <a:p>
            <a:pPr defTabSz="514230" eaLnBrk="0" fontAlgn="base" hangingPunct="0">
              <a:spcBef>
                <a:spcPct val="0"/>
              </a:spcBef>
              <a:spcAft>
                <a:spcPct val="0"/>
              </a:spcAft>
            </a:pPr>
            <a:r>
              <a:rPr lang="en-US" sz="600" dirty="0" smtClean="0">
                <a:solidFill>
                  <a:srgbClr val="646464"/>
                </a:solidFill>
                <a:latin typeface="EYInterstate" pitchFamily="2" charset="0"/>
              </a:rPr>
              <a:t>Material</a:t>
            </a:r>
          </a:p>
          <a:p>
            <a:pPr defTabSz="514230" eaLnBrk="0" fontAlgn="base" hangingPunct="0">
              <a:spcBef>
                <a:spcPct val="0"/>
              </a:spcBef>
              <a:spcAft>
                <a:spcPct val="0"/>
              </a:spcAft>
            </a:pPr>
            <a:r>
              <a:rPr lang="en-US" sz="600" dirty="0" smtClean="0">
                <a:solidFill>
                  <a:srgbClr val="646464"/>
                </a:solidFill>
                <a:latin typeface="EYInterstate" pitchFamily="2" charset="0"/>
              </a:rPr>
              <a:t>Production &amp; Delivery Start</a:t>
            </a:r>
            <a:endParaRPr lang="en-US" sz="600" dirty="0">
              <a:solidFill>
                <a:srgbClr val="646464"/>
              </a:solidFill>
              <a:latin typeface="EYInterstate" pitchFamily="2" charset="0"/>
            </a:endParaRPr>
          </a:p>
        </p:txBody>
      </p:sp>
      <p:sp>
        <p:nvSpPr>
          <p:cNvPr id="204" name="Line 125"/>
          <p:cNvSpPr>
            <a:spLocks noChangeShapeType="1"/>
          </p:cNvSpPr>
          <p:nvPr/>
        </p:nvSpPr>
        <p:spPr bwMode="gray">
          <a:xfrm flipV="1">
            <a:off x="5288844" y="3865283"/>
            <a:ext cx="2" cy="1167660"/>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05" name="Text Box 126"/>
          <p:cNvSpPr txBox="1">
            <a:spLocks noChangeArrowheads="1"/>
          </p:cNvSpPr>
          <p:nvPr/>
        </p:nvSpPr>
        <p:spPr bwMode="gray">
          <a:xfrm>
            <a:off x="5314245" y="3712883"/>
            <a:ext cx="1141831" cy="461665"/>
          </a:xfrm>
          <a:prstGeom prst="rect">
            <a:avLst/>
          </a:prstGeom>
          <a:noFill/>
          <a:ln w="9525" algn="ctr">
            <a:noFill/>
            <a:miter lim="800000"/>
            <a:headEnd type="none" w="sm" len="sm"/>
            <a:tailEnd type="none" w="sm" len="sm"/>
          </a:ln>
        </p:spPr>
        <p:txBody>
          <a:bodyPr wrap="square" lIns="26118" tIns="0" rIns="0" bIns="0">
            <a:spAutoFit/>
          </a:bodyPr>
          <a:lstStyle/>
          <a:p>
            <a:pPr defTabSz="514230" eaLnBrk="0" fontAlgn="base" hangingPunct="0">
              <a:spcBef>
                <a:spcPct val="0"/>
              </a:spcBef>
              <a:spcAft>
                <a:spcPct val="0"/>
              </a:spcAft>
            </a:pPr>
            <a:r>
              <a:rPr lang="en-US" sz="600" dirty="0" smtClean="0">
                <a:solidFill>
                  <a:srgbClr val="646464"/>
                </a:solidFill>
                <a:latin typeface="EYInterstate" pitchFamily="2" charset="0"/>
              </a:rPr>
              <a:t>Initial Learning </a:t>
            </a:r>
          </a:p>
          <a:p>
            <a:pPr defTabSz="514230" eaLnBrk="0" fontAlgn="base" hangingPunct="0">
              <a:spcBef>
                <a:spcPct val="0"/>
              </a:spcBef>
              <a:spcAft>
                <a:spcPct val="0"/>
              </a:spcAft>
            </a:pPr>
            <a:r>
              <a:rPr lang="en-US" sz="600" dirty="0" smtClean="0">
                <a:solidFill>
                  <a:srgbClr val="646464"/>
                </a:solidFill>
                <a:latin typeface="EYInterstate" pitchFamily="2" charset="0"/>
              </a:rPr>
              <a:t>Material </a:t>
            </a:r>
          </a:p>
          <a:p>
            <a:pPr defTabSz="514230" eaLnBrk="0" fontAlgn="base" hangingPunct="0">
              <a:spcBef>
                <a:spcPct val="0"/>
              </a:spcBef>
              <a:spcAft>
                <a:spcPct val="0"/>
              </a:spcAft>
            </a:pPr>
            <a:r>
              <a:rPr lang="en-US" sz="600" dirty="0" smtClean="0">
                <a:solidFill>
                  <a:srgbClr val="646464"/>
                </a:solidFill>
                <a:latin typeface="EYInterstate" pitchFamily="2" charset="0"/>
              </a:rPr>
              <a:t>Developed  &amp; </a:t>
            </a:r>
          </a:p>
          <a:p>
            <a:pPr defTabSz="514230" eaLnBrk="0" fontAlgn="base" hangingPunct="0">
              <a:spcBef>
                <a:spcPct val="0"/>
              </a:spcBef>
              <a:spcAft>
                <a:spcPct val="0"/>
              </a:spcAft>
            </a:pPr>
            <a:r>
              <a:rPr lang="en-US" sz="600" dirty="0" smtClean="0">
                <a:solidFill>
                  <a:srgbClr val="646464"/>
                </a:solidFill>
                <a:latin typeface="EYInterstate" pitchFamily="2" charset="0"/>
              </a:rPr>
              <a:t>Comms Material Delivery completed</a:t>
            </a:r>
            <a:endParaRPr lang="en-US" sz="600" dirty="0">
              <a:solidFill>
                <a:srgbClr val="646464"/>
              </a:solidFill>
              <a:latin typeface="EYInterstate" pitchFamily="2" charset="0"/>
            </a:endParaRPr>
          </a:p>
        </p:txBody>
      </p:sp>
      <p:sp>
        <p:nvSpPr>
          <p:cNvPr id="206" name="Rectangle 205"/>
          <p:cNvSpPr/>
          <p:nvPr/>
        </p:nvSpPr>
        <p:spPr bwMode="auto">
          <a:xfrm>
            <a:off x="2438797" y="5506057"/>
            <a:ext cx="1656184" cy="152400"/>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rgbClr val="646464"/>
                </a:solidFill>
              </a:rPr>
              <a:t>Build / Configure</a:t>
            </a:r>
            <a:endParaRPr lang="en-GB" sz="800" dirty="0">
              <a:solidFill>
                <a:srgbClr val="646464"/>
              </a:solidFill>
            </a:endParaRPr>
          </a:p>
        </p:txBody>
      </p:sp>
      <p:sp>
        <p:nvSpPr>
          <p:cNvPr id="207" name="Rectangle 206"/>
          <p:cNvSpPr/>
          <p:nvPr/>
        </p:nvSpPr>
        <p:spPr bwMode="auto">
          <a:xfrm>
            <a:off x="3415352" y="5690550"/>
            <a:ext cx="1143000" cy="152400"/>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rgbClr val="646464"/>
                </a:solidFill>
              </a:rPr>
              <a:t>Deployment Planning</a:t>
            </a:r>
            <a:endParaRPr lang="en-GB" sz="800" dirty="0">
              <a:solidFill>
                <a:srgbClr val="646464"/>
              </a:solidFill>
            </a:endParaRPr>
          </a:p>
        </p:txBody>
      </p:sp>
      <p:sp>
        <p:nvSpPr>
          <p:cNvPr id="208" name="Pentagon 207"/>
          <p:cNvSpPr/>
          <p:nvPr/>
        </p:nvSpPr>
        <p:spPr bwMode="auto">
          <a:xfrm>
            <a:off x="1774563" y="6035137"/>
            <a:ext cx="3600400" cy="144016"/>
          </a:xfrm>
          <a:prstGeom prst="homePlate">
            <a:avLst/>
          </a:prstGeom>
          <a:solidFill>
            <a:schemeClr val="accent2">
              <a:alpha val="86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800" dirty="0" smtClean="0">
                <a:solidFill>
                  <a:srgbClr val="646464"/>
                </a:solidFill>
              </a:rPr>
              <a:t>Exchange - Technology Foundation</a:t>
            </a:r>
            <a:endParaRPr lang="en-GB" sz="800" dirty="0">
              <a:solidFill>
                <a:srgbClr val="646464"/>
              </a:solidFill>
            </a:endParaRPr>
          </a:p>
        </p:txBody>
      </p:sp>
      <p:sp>
        <p:nvSpPr>
          <p:cNvPr id="209" name="Line 125"/>
          <p:cNvSpPr>
            <a:spLocks noChangeShapeType="1"/>
          </p:cNvSpPr>
          <p:nvPr/>
        </p:nvSpPr>
        <p:spPr bwMode="gray">
          <a:xfrm flipV="1">
            <a:off x="5020329" y="5221791"/>
            <a:ext cx="0" cy="992878"/>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10" name="Line 125"/>
          <p:cNvSpPr>
            <a:spLocks noChangeShapeType="1"/>
          </p:cNvSpPr>
          <p:nvPr/>
        </p:nvSpPr>
        <p:spPr bwMode="gray">
          <a:xfrm flipV="1">
            <a:off x="5285211" y="5081833"/>
            <a:ext cx="3633" cy="1139186"/>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11" name="Line 125"/>
          <p:cNvSpPr>
            <a:spLocks noChangeShapeType="1"/>
          </p:cNvSpPr>
          <p:nvPr/>
        </p:nvSpPr>
        <p:spPr bwMode="gray">
          <a:xfrm flipV="1">
            <a:off x="2042832" y="1865081"/>
            <a:ext cx="0" cy="4354744"/>
          </a:xfrm>
          <a:prstGeom prst="line">
            <a:avLst/>
          </a:prstGeom>
          <a:noFill/>
          <a:ln w="6350">
            <a:solidFill>
              <a:schemeClr val="accent2"/>
            </a:solidFill>
            <a:round/>
            <a:headEnd type="diamond" w="lg" len="lg"/>
            <a:tailEnd type="none" w="sm" len="sm"/>
          </a:ln>
        </p:spPr>
        <p:txBody>
          <a:bodyPr wrap="square" lIns="92075" tIns="46038" rIns="92075" bIns="46038">
            <a:spAutoFit/>
          </a:bodyPr>
          <a:lstStyle/>
          <a:p>
            <a:pPr algn="ctr" fontAlgn="base">
              <a:spcBef>
                <a:spcPct val="0"/>
              </a:spcBef>
              <a:spcAft>
                <a:spcPct val="0"/>
              </a:spcAft>
            </a:pPr>
            <a:endParaRPr lang="en-GB" sz="1200" dirty="0">
              <a:solidFill>
                <a:srgbClr val="646464"/>
              </a:solidFill>
            </a:endParaRPr>
          </a:p>
        </p:txBody>
      </p:sp>
      <p:sp>
        <p:nvSpPr>
          <p:cNvPr id="212" name="Rectangle 211"/>
          <p:cNvSpPr/>
          <p:nvPr/>
        </p:nvSpPr>
        <p:spPr bwMode="auto">
          <a:xfrm>
            <a:off x="2377696" y="1680130"/>
            <a:ext cx="634766" cy="133349"/>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rgbClr val="646464"/>
                </a:solidFill>
              </a:rPr>
              <a:t>Requirements</a:t>
            </a:r>
            <a:endParaRPr lang="en-GB" sz="800" dirty="0">
              <a:solidFill>
                <a:srgbClr val="646464"/>
              </a:solidFill>
            </a:endParaRPr>
          </a:p>
        </p:txBody>
      </p:sp>
      <p:sp>
        <p:nvSpPr>
          <p:cNvPr id="213" name="Rectangle 212"/>
          <p:cNvSpPr/>
          <p:nvPr/>
        </p:nvSpPr>
        <p:spPr bwMode="auto">
          <a:xfrm>
            <a:off x="3031621" y="1824247"/>
            <a:ext cx="619113" cy="156031"/>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rgbClr val="646464"/>
                </a:solidFill>
              </a:rPr>
              <a:t>Arch &amp; Design</a:t>
            </a:r>
            <a:endParaRPr lang="en-GB" sz="800" dirty="0">
              <a:solidFill>
                <a:srgbClr val="646464"/>
              </a:solidFill>
            </a:endParaRPr>
          </a:p>
        </p:txBody>
      </p:sp>
      <p:sp>
        <p:nvSpPr>
          <p:cNvPr id="214" name="Rectangle 213"/>
          <p:cNvSpPr/>
          <p:nvPr/>
        </p:nvSpPr>
        <p:spPr bwMode="auto">
          <a:xfrm>
            <a:off x="3688929" y="2003944"/>
            <a:ext cx="838200" cy="152400"/>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rgbClr val="646464"/>
                </a:solidFill>
              </a:rPr>
              <a:t>Build  /Configure</a:t>
            </a:r>
            <a:endParaRPr lang="en-GB" sz="800" dirty="0">
              <a:solidFill>
                <a:srgbClr val="646464"/>
              </a:solidFill>
            </a:endParaRPr>
          </a:p>
        </p:txBody>
      </p:sp>
      <p:sp>
        <p:nvSpPr>
          <p:cNvPr id="215" name="Rectangle 214"/>
          <p:cNvSpPr/>
          <p:nvPr/>
        </p:nvSpPr>
        <p:spPr bwMode="auto">
          <a:xfrm>
            <a:off x="4482980" y="2155464"/>
            <a:ext cx="1679738" cy="152977"/>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chemeClr val="tx1">
                    <a:lumMod val="50000"/>
                  </a:schemeClr>
                </a:solidFill>
              </a:rPr>
              <a:t>Testing</a:t>
            </a:r>
            <a:endParaRPr lang="en-GB" sz="800" dirty="0">
              <a:solidFill>
                <a:schemeClr val="tx1">
                  <a:lumMod val="50000"/>
                </a:schemeClr>
              </a:solidFill>
            </a:endParaRPr>
          </a:p>
        </p:txBody>
      </p:sp>
      <p:sp>
        <p:nvSpPr>
          <p:cNvPr id="216" name="Rectangle 215"/>
          <p:cNvSpPr/>
          <p:nvPr/>
        </p:nvSpPr>
        <p:spPr bwMode="auto">
          <a:xfrm>
            <a:off x="6181430" y="2156796"/>
            <a:ext cx="483992" cy="151646"/>
          </a:xfrm>
          <a:prstGeom prst="rect">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dirty="0" smtClean="0">
                <a:solidFill>
                  <a:schemeClr val="tx1">
                    <a:lumMod val="50000"/>
                  </a:schemeClr>
                </a:solidFill>
              </a:rPr>
              <a:t>Dep’ment</a:t>
            </a:r>
            <a:endParaRPr lang="en-GB" sz="800" dirty="0">
              <a:solidFill>
                <a:schemeClr val="tx1">
                  <a:lumMod val="50000"/>
                </a:schemeClr>
              </a:solidFill>
            </a:endParaRPr>
          </a:p>
        </p:txBody>
      </p:sp>
      <p:sp>
        <p:nvSpPr>
          <p:cNvPr id="217" name="Line 125"/>
          <p:cNvSpPr>
            <a:spLocks noChangeShapeType="1"/>
          </p:cNvSpPr>
          <p:nvPr/>
        </p:nvSpPr>
        <p:spPr bwMode="gray">
          <a:xfrm flipV="1">
            <a:off x="2359940" y="4358123"/>
            <a:ext cx="0" cy="684684"/>
          </a:xfrm>
          <a:prstGeom prst="line">
            <a:avLst/>
          </a:prstGeom>
          <a:noFill/>
          <a:ln w="6350">
            <a:solidFill>
              <a:schemeClr val="accent2"/>
            </a:solidFill>
            <a:round/>
            <a:headEnd type="diamond" w="lg" len="lg"/>
            <a:tailEnd type="none" w="sm" len="sm"/>
          </a:ln>
        </p:spPr>
        <p:txBody>
          <a:bodyPr wrap="square" lIns="92075" tIns="46038" rIns="92075" bIns="46038">
            <a:spAutoFit/>
          </a:bodyPr>
          <a:lstStyle/>
          <a:p>
            <a:pPr algn="ctr" fontAlgn="base">
              <a:spcBef>
                <a:spcPct val="0"/>
              </a:spcBef>
              <a:spcAft>
                <a:spcPct val="0"/>
              </a:spcAft>
            </a:pPr>
            <a:endParaRPr lang="en-GB" sz="1200" dirty="0">
              <a:solidFill>
                <a:srgbClr val="646464"/>
              </a:solidFill>
            </a:endParaRPr>
          </a:p>
        </p:txBody>
      </p:sp>
      <p:sp>
        <p:nvSpPr>
          <p:cNvPr id="218" name="Line 125"/>
          <p:cNvSpPr>
            <a:spLocks noChangeShapeType="1"/>
          </p:cNvSpPr>
          <p:nvPr/>
        </p:nvSpPr>
        <p:spPr bwMode="gray">
          <a:xfrm flipV="1">
            <a:off x="2724120" y="2504213"/>
            <a:ext cx="0" cy="1051388"/>
          </a:xfrm>
          <a:prstGeom prst="line">
            <a:avLst/>
          </a:prstGeom>
          <a:noFill/>
          <a:ln w="6350">
            <a:solidFill>
              <a:schemeClr val="accent2"/>
            </a:solidFill>
            <a:round/>
            <a:headEnd type="diamond" w="lg" len="lg"/>
            <a:tailEnd type="none" w="sm" len="sm"/>
          </a:ln>
        </p:spPr>
        <p:txBody>
          <a:bodyPr wrap="square" lIns="92075" tIns="46038" rIns="92075" bIns="46038">
            <a:spAutoFit/>
          </a:bodyPr>
          <a:lstStyle/>
          <a:p>
            <a:pPr algn="ctr" fontAlgn="base">
              <a:spcBef>
                <a:spcPct val="0"/>
              </a:spcBef>
              <a:spcAft>
                <a:spcPct val="0"/>
              </a:spcAft>
            </a:pPr>
            <a:endParaRPr lang="en-GB" sz="1200" dirty="0">
              <a:solidFill>
                <a:srgbClr val="646464"/>
              </a:solidFill>
            </a:endParaRPr>
          </a:p>
        </p:txBody>
      </p:sp>
      <p:sp>
        <p:nvSpPr>
          <p:cNvPr id="219" name="Text Box 126"/>
          <p:cNvSpPr txBox="1">
            <a:spLocks noChangeArrowheads="1"/>
          </p:cNvSpPr>
          <p:nvPr/>
        </p:nvSpPr>
        <p:spPr bwMode="gray">
          <a:xfrm>
            <a:off x="2075545" y="4174548"/>
            <a:ext cx="401080" cy="369332"/>
          </a:xfrm>
          <a:prstGeom prst="rect">
            <a:avLst/>
          </a:prstGeom>
          <a:noFill/>
          <a:ln w="9525" algn="ctr">
            <a:noFill/>
            <a:miter lim="800000"/>
            <a:headEnd type="none" w="sm" len="sm"/>
            <a:tailEnd type="none" w="sm" len="sm"/>
          </a:ln>
        </p:spPr>
        <p:txBody>
          <a:bodyPr wrap="square" lIns="26118" tIns="0" rIns="0" bIns="0">
            <a:spAutoFit/>
          </a:bodyPr>
          <a:lstStyle/>
          <a:p>
            <a:pPr defTabSz="514230" eaLnBrk="0" fontAlgn="base" hangingPunct="0">
              <a:spcBef>
                <a:spcPct val="0"/>
              </a:spcBef>
              <a:spcAft>
                <a:spcPct val="0"/>
              </a:spcAft>
            </a:pPr>
            <a:r>
              <a:rPr lang="en-US" sz="600" dirty="0" smtClean="0">
                <a:solidFill>
                  <a:srgbClr val="646464"/>
                </a:solidFill>
                <a:latin typeface="EYInterstate" pitchFamily="2" charset="0"/>
              </a:rPr>
              <a:t>Projected H/W Order Date</a:t>
            </a:r>
            <a:endParaRPr lang="en-US" sz="600" dirty="0">
              <a:solidFill>
                <a:srgbClr val="646464"/>
              </a:solidFill>
              <a:latin typeface="EYInterstate" pitchFamily="2" charset="0"/>
            </a:endParaRPr>
          </a:p>
        </p:txBody>
      </p:sp>
      <p:sp>
        <p:nvSpPr>
          <p:cNvPr id="220" name="Text Box 126"/>
          <p:cNvSpPr txBox="1">
            <a:spLocks noChangeArrowheads="1"/>
          </p:cNvSpPr>
          <p:nvPr/>
        </p:nvSpPr>
        <p:spPr bwMode="gray">
          <a:xfrm>
            <a:off x="2171831" y="5666072"/>
            <a:ext cx="401080" cy="369332"/>
          </a:xfrm>
          <a:prstGeom prst="rect">
            <a:avLst/>
          </a:prstGeom>
          <a:noFill/>
          <a:ln w="9525" algn="ctr">
            <a:noFill/>
            <a:miter lim="800000"/>
            <a:headEnd type="none" w="sm" len="sm"/>
            <a:tailEnd type="none" w="sm" len="sm"/>
          </a:ln>
        </p:spPr>
        <p:txBody>
          <a:bodyPr wrap="square" lIns="26118" tIns="0" rIns="0" bIns="0">
            <a:spAutoFit/>
          </a:bodyPr>
          <a:lstStyle/>
          <a:p>
            <a:pPr defTabSz="514230" eaLnBrk="0" fontAlgn="base" hangingPunct="0">
              <a:spcBef>
                <a:spcPct val="0"/>
              </a:spcBef>
              <a:spcAft>
                <a:spcPct val="0"/>
              </a:spcAft>
            </a:pPr>
            <a:r>
              <a:rPr lang="en-US" sz="600" dirty="0" smtClean="0">
                <a:solidFill>
                  <a:srgbClr val="646464"/>
                </a:solidFill>
                <a:latin typeface="EYInterstate" pitchFamily="2" charset="0"/>
              </a:rPr>
              <a:t>Projected H/W Order Date</a:t>
            </a:r>
            <a:endParaRPr lang="en-US" sz="600" dirty="0">
              <a:solidFill>
                <a:srgbClr val="646464"/>
              </a:solidFill>
              <a:latin typeface="EYInterstate" pitchFamily="2" charset="0"/>
            </a:endParaRPr>
          </a:p>
        </p:txBody>
      </p:sp>
      <p:grpSp>
        <p:nvGrpSpPr>
          <p:cNvPr id="2" name="Group 220"/>
          <p:cNvGrpSpPr/>
          <p:nvPr/>
        </p:nvGrpSpPr>
        <p:grpSpPr>
          <a:xfrm>
            <a:off x="678788" y="2309015"/>
            <a:ext cx="7835900" cy="290610"/>
            <a:chOff x="678788" y="2290620"/>
            <a:chExt cx="7835900" cy="290610"/>
          </a:xfrm>
        </p:grpSpPr>
        <p:grpSp>
          <p:nvGrpSpPr>
            <p:cNvPr id="3" name="Group 252"/>
            <p:cNvGrpSpPr/>
            <p:nvPr/>
          </p:nvGrpSpPr>
          <p:grpSpPr>
            <a:xfrm>
              <a:off x="678788" y="2290620"/>
              <a:ext cx="7835900" cy="195198"/>
              <a:chOff x="685408" y="3499064"/>
              <a:chExt cx="7835900" cy="195198"/>
            </a:xfrm>
          </p:grpSpPr>
          <p:grpSp>
            <p:nvGrpSpPr>
              <p:cNvPr id="4" name="Group 266"/>
              <p:cNvGrpSpPr/>
              <p:nvPr/>
            </p:nvGrpSpPr>
            <p:grpSpPr>
              <a:xfrm>
                <a:off x="685408" y="3499064"/>
                <a:ext cx="7835900" cy="195198"/>
                <a:chOff x="680864" y="4716016"/>
                <a:chExt cx="7835900" cy="195198"/>
              </a:xfrm>
            </p:grpSpPr>
            <p:sp>
              <p:nvSpPr>
                <p:cNvPr id="227" name="Line 69"/>
                <p:cNvSpPr>
                  <a:spLocks noChangeShapeType="1"/>
                </p:cNvSpPr>
                <p:nvPr/>
              </p:nvSpPr>
              <p:spPr bwMode="gray">
                <a:xfrm>
                  <a:off x="680864" y="4771256"/>
                  <a:ext cx="7835900" cy="0"/>
                </a:xfrm>
                <a:prstGeom prst="line">
                  <a:avLst/>
                </a:prstGeom>
                <a:noFill/>
                <a:ln w="38100">
                  <a:solidFill>
                    <a:srgbClr val="FFD200"/>
                  </a:solidFill>
                  <a:round/>
                  <a:headEnd type="diamond" w="med" len="med"/>
                  <a:tailEnd type="diamond" w="med" len="med"/>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28" name="Line 72"/>
                <p:cNvSpPr>
                  <a:spLocks noChangeShapeType="1"/>
                </p:cNvSpPr>
                <p:nvPr/>
              </p:nvSpPr>
              <p:spPr bwMode="gray">
                <a:xfrm>
                  <a:off x="1704802"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29" name="Line 75"/>
                <p:cNvSpPr>
                  <a:spLocks noChangeShapeType="1"/>
                </p:cNvSpPr>
                <p:nvPr/>
              </p:nvSpPr>
              <p:spPr bwMode="gray">
                <a:xfrm>
                  <a:off x="6827664"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30" name="Line 76"/>
                <p:cNvSpPr>
                  <a:spLocks noChangeShapeType="1"/>
                </p:cNvSpPr>
                <p:nvPr/>
              </p:nvSpPr>
              <p:spPr bwMode="gray">
                <a:xfrm>
                  <a:off x="7977014"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31" name="Text Box 86"/>
                <p:cNvSpPr txBox="1">
                  <a:spLocks noChangeArrowheads="1"/>
                </p:cNvSpPr>
                <p:nvPr/>
              </p:nvSpPr>
              <p:spPr bwMode="gray">
                <a:xfrm>
                  <a:off x="744945" y="4818881"/>
                  <a:ext cx="309141" cy="92333"/>
                </a:xfrm>
                <a:prstGeom prst="rect">
                  <a:avLst/>
                </a:prstGeom>
                <a:noFill/>
                <a:ln w="9525" algn="ctr">
                  <a:noFill/>
                  <a:miter lim="800000"/>
                  <a:headEnd type="none" w="sm" len="sm"/>
                  <a:tailEnd type="none" w="sm" len="sm"/>
                </a:ln>
              </p:spPr>
              <p:txBody>
                <a:bodyPr wrap="squar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Q1</a:t>
                  </a:r>
                  <a:endParaRPr lang="en-US" sz="600" b="1" dirty="0">
                    <a:solidFill>
                      <a:srgbClr val="646464"/>
                    </a:solidFill>
                    <a:latin typeface="EYInterstate Light" pitchFamily="2" charset="0"/>
                  </a:endParaRPr>
                </a:p>
              </p:txBody>
            </p:sp>
            <p:sp>
              <p:nvSpPr>
                <p:cNvPr id="232" name="Text Box 87"/>
                <p:cNvSpPr txBox="1">
                  <a:spLocks noChangeArrowheads="1"/>
                </p:cNvSpPr>
                <p:nvPr/>
              </p:nvSpPr>
              <p:spPr bwMode="gray">
                <a:xfrm>
                  <a:off x="2532468" y="4818881"/>
                  <a:ext cx="102593"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Q2</a:t>
                  </a:r>
                  <a:endParaRPr lang="en-US" sz="600" b="1" dirty="0">
                    <a:solidFill>
                      <a:srgbClr val="646464"/>
                    </a:solidFill>
                    <a:latin typeface="EYInterstate Light" pitchFamily="2" charset="0"/>
                  </a:endParaRPr>
                </a:p>
              </p:txBody>
            </p:sp>
            <p:sp>
              <p:nvSpPr>
                <p:cNvPr id="233" name="Text Box 90"/>
                <p:cNvSpPr txBox="1">
                  <a:spLocks noChangeArrowheads="1"/>
                </p:cNvSpPr>
                <p:nvPr/>
              </p:nvSpPr>
              <p:spPr bwMode="gray">
                <a:xfrm>
                  <a:off x="4283481" y="4818881"/>
                  <a:ext cx="102593"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Q3</a:t>
                  </a:r>
                  <a:endParaRPr lang="en-US" sz="600" b="1" dirty="0">
                    <a:solidFill>
                      <a:srgbClr val="646464"/>
                    </a:solidFill>
                    <a:latin typeface="EYInterstate Light" pitchFamily="2" charset="0"/>
                  </a:endParaRPr>
                </a:p>
              </p:txBody>
            </p:sp>
            <p:sp>
              <p:nvSpPr>
                <p:cNvPr id="234" name="Line 96"/>
                <p:cNvSpPr>
                  <a:spLocks noChangeShapeType="1"/>
                </p:cNvSpPr>
                <p:nvPr/>
              </p:nvSpPr>
              <p:spPr bwMode="gray">
                <a:xfrm>
                  <a:off x="3420889" y="476173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35" name="Line 97"/>
                <p:cNvSpPr>
                  <a:spLocks noChangeShapeType="1"/>
                </p:cNvSpPr>
                <p:nvPr/>
              </p:nvSpPr>
              <p:spPr bwMode="gray">
                <a:xfrm>
                  <a:off x="5121102"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36" name="Line 125"/>
                <p:cNvSpPr>
                  <a:spLocks noChangeShapeType="1"/>
                </p:cNvSpPr>
                <p:nvPr/>
              </p:nvSpPr>
              <p:spPr bwMode="gray">
                <a:xfrm flipH="1">
                  <a:off x="2042592" y="4716016"/>
                  <a:ext cx="0" cy="72008"/>
                </a:xfrm>
                <a:prstGeom prst="line">
                  <a:avLst/>
                </a:prstGeom>
                <a:noFill/>
                <a:ln w="6350">
                  <a:solidFill>
                    <a:srgbClr val="92D050"/>
                  </a:solidFill>
                  <a:round/>
                  <a:headEnd type="diamond" w="lg" len="lg"/>
                  <a:tailEnd type="none" w="sm" len="sm"/>
                </a:ln>
              </p:spPr>
              <p:txBody>
                <a:bodyPr wrap="square" lIns="92053" tIns="46028" rIns="92053" bIns="46028">
                  <a:spAutoFit/>
                </a:bodyPr>
                <a:lstStyle/>
                <a:p>
                  <a:pPr algn="ctr" fontAlgn="base">
                    <a:spcBef>
                      <a:spcPct val="0"/>
                    </a:spcBef>
                    <a:spcAft>
                      <a:spcPct val="0"/>
                    </a:spcAft>
                  </a:pPr>
                  <a:endParaRPr lang="en-GB" sz="1200" dirty="0">
                    <a:solidFill>
                      <a:srgbClr val="646464"/>
                    </a:solidFill>
                  </a:endParaRPr>
                </a:p>
              </p:txBody>
            </p:sp>
            <p:sp>
              <p:nvSpPr>
                <p:cNvPr id="237" name="Text Box 85"/>
                <p:cNvSpPr txBox="1">
                  <a:spLocks noChangeArrowheads="1"/>
                </p:cNvSpPr>
                <p:nvPr/>
              </p:nvSpPr>
              <p:spPr bwMode="gray">
                <a:xfrm>
                  <a:off x="7257751" y="4817115"/>
                  <a:ext cx="317395"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FY13 Q1</a:t>
                  </a:r>
                  <a:endParaRPr lang="en-US" sz="600" b="1" dirty="0">
                    <a:solidFill>
                      <a:srgbClr val="646464"/>
                    </a:solidFill>
                    <a:latin typeface="EYInterstate Light" pitchFamily="2" charset="0"/>
                  </a:endParaRPr>
                </a:p>
              </p:txBody>
            </p:sp>
          </p:grpSp>
          <p:sp>
            <p:nvSpPr>
              <p:cNvPr id="226" name="Text Box 87"/>
              <p:cNvSpPr txBox="1">
                <a:spLocks noChangeArrowheads="1"/>
              </p:cNvSpPr>
              <p:nvPr/>
            </p:nvSpPr>
            <p:spPr bwMode="gray">
              <a:xfrm>
                <a:off x="8398890" y="3596289"/>
                <a:ext cx="102592"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Q2</a:t>
                </a:r>
                <a:endParaRPr lang="en-US" sz="600" b="1" dirty="0">
                  <a:solidFill>
                    <a:srgbClr val="646464"/>
                  </a:solidFill>
                  <a:latin typeface="EYInterstate Light" pitchFamily="2" charset="0"/>
                </a:endParaRPr>
              </a:p>
            </p:txBody>
          </p:sp>
        </p:grpSp>
        <p:sp>
          <p:nvSpPr>
            <p:cNvPr id="223" name="Text Box 126"/>
            <p:cNvSpPr txBox="1">
              <a:spLocks noChangeArrowheads="1"/>
            </p:cNvSpPr>
            <p:nvPr/>
          </p:nvSpPr>
          <p:spPr bwMode="gray">
            <a:xfrm>
              <a:off x="2733891" y="2488897"/>
              <a:ext cx="1066800" cy="92333"/>
            </a:xfrm>
            <a:prstGeom prst="rect">
              <a:avLst/>
            </a:prstGeom>
            <a:noFill/>
            <a:ln w="9525" algn="ctr">
              <a:noFill/>
              <a:miter lim="800000"/>
              <a:headEnd type="none" w="sm" len="sm"/>
              <a:tailEnd type="none" w="sm" len="sm"/>
            </a:ln>
          </p:spPr>
          <p:txBody>
            <a:bodyPr wrap="square" lIns="26118" tIns="0" rIns="0" bIns="0">
              <a:spAutoFit/>
            </a:bodyPr>
            <a:lstStyle/>
            <a:p>
              <a:pPr defTabSz="514230" eaLnBrk="0" fontAlgn="base" hangingPunct="0">
                <a:spcBef>
                  <a:spcPct val="0"/>
                </a:spcBef>
                <a:spcAft>
                  <a:spcPct val="0"/>
                </a:spcAft>
              </a:pPr>
              <a:r>
                <a:rPr lang="en-US" sz="600" dirty="0" smtClean="0">
                  <a:solidFill>
                    <a:srgbClr val="646464"/>
                  </a:solidFill>
                  <a:latin typeface="EYInterstate" pitchFamily="2" charset="0"/>
                </a:rPr>
                <a:t>Projected H/W Order Date</a:t>
              </a:r>
              <a:endParaRPr lang="en-US" sz="600" dirty="0">
                <a:solidFill>
                  <a:srgbClr val="646464"/>
                </a:solidFill>
                <a:latin typeface="EYInterstate" pitchFamily="2" charset="0"/>
              </a:endParaRPr>
            </a:p>
          </p:txBody>
        </p:sp>
        <p:sp>
          <p:nvSpPr>
            <p:cNvPr id="224" name="Text Box 90"/>
            <p:cNvSpPr txBox="1">
              <a:spLocks noChangeArrowheads="1"/>
            </p:cNvSpPr>
            <p:nvPr/>
          </p:nvSpPr>
          <p:spPr bwMode="gray">
            <a:xfrm>
              <a:off x="5969374" y="2393485"/>
              <a:ext cx="102593"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Q4</a:t>
              </a:r>
              <a:endParaRPr lang="en-US" sz="600" b="1" dirty="0">
                <a:solidFill>
                  <a:srgbClr val="646464"/>
                </a:solidFill>
                <a:latin typeface="EYInterstate Light" pitchFamily="2" charset="0"/>
              </a:endParaRPr>
            </a:p>
          </p:txBody>
        </p:sp>
      </p:grpSp>
      <p:grpSp>
        <p:nvGrpSpPr>
          <p:cNvPr id="5" name="Group 237"/>
          <p:cNvGrpSpPr/>
          <p:nvPr/>
        </p:nvGrpSpPr>
        <p:grpSpPr>
          <a:xfrm>
            <a:off x="678788" y="3566315"/>
            <a:ext cx="7835900" cy="195198"/>
            <a:chOff x="678788" y="2290620"/>
            <a:chExt cx="7835900" cy="195198"/>
          </a:xfrm>
        </p:grpSpPr>
        <p:grpSp>
          <p:nvGrpSpPr>
            <p:cNvPr id="6" name="Group 252"/>
            <p:cNvGrpSpPr/>
            <p:nvPr/>
          </p:nvGrpSpPr>
          <p:grpSpPr>
            <a:xfrm>
              <a:off x="678788" y="2290620"/>
              <a:ext cx="7835900" cy="195198"/>
              <a:chOff x="685408" y="3499064"/>
              <a:chExt cx="7835900" cy="195198"/>
            </a:xfrm>
          </p:grpSpPr>
          <p:grpSp>
            <p:nvGrpSpPr>
              <p:cNvPr id="7" name="Group 266"/>
              <p:cNvGrpSpPr/>
              <p:nvPr/>
            </p:nvGrpSpPr>
            <p:grpSpPr>
              <a:xfrm>
                <a:off x="685408" y="3499064"/>
                <a:ext cx="7835900" cy="195198"/>
                <a:chOff x="680864" y="4716016"/>
                <a:chExt cx="7835900" cy="195198"/>
              </a:xfrm>
            </p:grpSpPr>
            <p:sp>
              <p:nvSpPr>
                <p:cNvPr id="243" name="Line 69"/>
                <p:cNvSpPr>
                  <a:spLocks noChangeShapeType="1"/>
                </p:cNvSpPr>
                <p:nvPr/>
              </p:nvSpPr>
              <p:spPr bwMode="gray">
                <a:xfrm>
                  <a:off x="680864" y="4771256"/>
                  <a:ext cx="7835900" cy="0"/>
                </a:xfrm>
                <a:prstGeom prst="line">
                  <a:avLst/>
                </a:prstGeom>
                <a:noFill/>
                <a:ln w="38100">
                  <a:solidFill>
                    <a:srgbClr val="FFD200"/>
                  </a:solidFill>
                  <a:round/>
                  <a:headEnd type="diamond" w="med" len="med"/>
                  <a:tailEnd type="diamond" w="med" len="med"/>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44" name="Line 72"/>
                <p:cNvSpPr>
                  <a:spLocks noChangeShapeType="1"/>
                </p:cNvSpPr>
                <p:nvPr/>
              </p:nvSpPr>
              <p:spPr bwMode="gray">
                <a:xfrm>
                  <a:off x="1704802"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45" name="Line 75"/>
                <p:cNvSpPr>
                  <a:spLocks noChangeShapeType="1"/>
                </p:cNvSpPr>
                <p:nvPr/>
              </p:nvSpPr>
              <p:spPr bwMode="gray">
                <a:xfrm>
                  <a:off x="6827664"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46" name="Line 76"/>
                <p:cNvSpPr>
                  <a:spLocks noChangeShapeType="1"/>
                </p:cNvSpPr>
                <p:nvPr/>
              </p:nvSpPr>
              <p:spPr bwMode="gray">
                <a:xfrm>
                  <a:off x="7977014"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47" name="Text Box 86"/>
                <p:cNvSpPr txBox="1">
                  <a:spLocks noChangeArrowheads="1"/>
                </p:cNvSpPr>
                <p:nvPr/>
              </p:nvSpPr>
              <p:spPr bwMode="gray">
                <a:xfrm>
                  <a:off x="744945" y="4818881"/>
                  <a:ext cx="309141" cy="92333"/>
                </a:xfrm>
                <a:prstGeom prst="rect">
                  <a:avLst/>
                </a:prstGeom>
                <a:noFill/>
                <a:ln w="9525" algn="ctr">
                  <a:noFill/>
                  <a:miter lim="800000"/>
                  <a:headEnd type="none" w="sm" len="sm"/>
                  <a:tailEnd type="none" w="sm" len="sm"/>
                </a:ln>
              </p:spPr>
              <p:txBody>
                <a:bodyPr wrap="squar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Q1</a:t>
                  </a:r>
                  <a:endParaRPr lang="en-US" sz="600" b="1" dirty="0">
                    <a:solidFill>
                      <a:srgbClr val="646464"/>
                    </a:solidFill>
                    <a:latin typeface="EYInterstate Light" pitchFamily="2" charset="0"/>
                  </a:endParaRPr>
                </a:p>
              </p:txBody>
            </p:sp>
            <p:sp>
              <p:nvSpPr>
                <p:cNvPr id="248" name="Text Box 87"/>
                <p:cNvSpPr txBox="1">
                  <a:spLocks noChangeArrowheads="1"/>
                </p:cNvSpPr>
                <p:nvPr/>
              </p:nvSpPr>
              <p:spPr bwMode="gray">
                <a:xfrm>
                  <a:off x="2532468" y="4818881"/>
                  <a:ext cx="102593"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Q2</a:t>
                  </a:r>
                  <a:endParaRPr lang="en-US" sz="600" b="1" dirty="0">
                    <a:solidFill>
                      <a:srgbClr val="646464"/>
                    </a:solidFill>
                    <a:latin typeface="EYInterstate Light" pitchFamily="2" charset="0"/>
                  </a:endParaRPr>
                </a:p>
              </p:txBody>
            </p:sp>
            <p:sp>
              <p:nvSpPr>
                <p:cNvPr id="249" name="Text Box 90"/>
                <p:cNvSpPr txBox="1">
                  <a:spLocks noChangeArrowheads="1"/>
                </p:cNvSpPr>
                <p:nvPr/>
              </p:nvSpPr>
              <p:spPr bwMode="gray">
                <a:xfrm>
                  <a:off x="4283481" y="4818881"/>
                  <a:ext cx="102593"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Q3</a:t>
                  </a:r>
                  <a:endParaRPr lang="en-US" sz="600" b="1" dirty="0">
                    <a:solidFill>
                      <a:srgbClr val="646464"/>
                    </a:solidFill>
                    <a:latin typeface="EYInterstate Light" pitchFamily="2" charset="0"/>
                  </a:endParaRPr>
                </a:p>
              </p:txBody>
            </p:sp>
            <p:sp>
              <p:nvSpPr>
                <p:cNvPr id="250" name="Line 96"/>
                <p:cNvSpPr>
                  <a:spLocks noChangeShapeType="1"/>
                </p:cNvSpPr>
                <p:nvPr/>
              </p:nvSpPr>
              <p:spPr bwMode="gray">
                <a:xfrm>
                  <a:off x="3420889" y="476173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51" name="Line 97"/>
                <p:cNvSpPr>
                  <a:spLocks noChangeShapeType="1"/>
                </p:cNvSpPr>
                <p:nvPr/>
              </p:nvSpPr>
              <p:spPr bwMode="gray">
                <a:xfrm>
                  <a:off x="5121102"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52" name="Line 125"/>
                <p:cNvSpPr>
                  <a:spLocks noChangeShapeType="1"/>
                </p:cNvSpPr>
                <p:nvPr/>
              </p:nvSpPr>
              <p:spPr bwMode="gray">
                <a:xfrm flipH="1">
                  <a:off x="2042592" y="4716016"/>
                  <a:ext cx="0" cy="72008"/>
                </a:xfrm>
                <a:prstGeom prst="line">
                  <a:avLst/>
                </a:prstGeom>
                <a:noFill/>
                <a:ln w="6350">
                  <a:solidFill>
                    <a:srgbClr val="92D050"/>
                  </a:solidFill>
                  <a:round/>
                  <a:headEnd type="diamond" w="lg" len="lg"/>
                  <a:tailEnd type="none" w="sm" len="sm"/>
                </a:ln>
              </p:spPr>
              <p:txBody>
                <a:bodyPr wrap="square" lIns="92053" tIns="46028" rIns="92053" bIns="46028">
                  <a:spAutoFit/>
                </a:bodyPr>
                <a:lstStyle/>
                <a:p>
                  <a:pPr algn="ctr" fontAlgn="base">
                    <a:spcBef>
                      <a:spcPct val="0"/>
                    </a:spcBef>
                    <a:spcAft>
                      <a:spcPct val="0"/>
                    </a:spcAft>
                  </a:pPr>
                  <a:endParaRPr lang="en-GB" sz="1200" dirty="0">
                    <a:solidFill>
                      <a:srgbClr val="646464"/>
                    </a:solidFill>
                  </a:endParaRPr>
                </a:p>
              </p:txBody>
            </p:sp>
            <p:sp>
              <p:nvSpPr>
                <p:cNvPr id="253" name="Text Box 85"/>
                <p:cNvSpPr txBox="1">
                  <a:spLocks noChangeArrowheads="1"/>
                </p:cNvSpPr>
                <p:nvPr/>
              </p:nvSpPr>
              <p:spPr bwMode="gray">
                <a:xfrm>
                  <a:off x="7257751" y="4817115"/>
                  <a:ext cx="317395"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FY13 Q1</a:t>
                  </a:r>
                  <a:endParaRPr lang="en-US" sz="600" b="1" dirty="0">
                    <a:solidFill>
                      <a:srgbClr val="646464"/>
                    </a:solidFill>
                    <a:latin typeface="EYInterstate Light" pitchFamily="2" charset="0"/>
                  </a:endParaRPr>
                </a:p>
              </p:txBody>
            </p:sp>
          </p:grpSp>
          <p:sp>
            <p:nvSpPr>
              <p:cNvPr id="242" name="Text Box 87"/>
              <p:cNvSpPr txBox="1">
                <a:spLocks noChangeArrowheads="1"/>
              </p:cNvSpPr>
              <p:nvPr/>
            </p:nvSpPr>
            <p:spPr bwMode="gray">
              <a:xfrm>
                <a:off x="8398890" y="3596289"/>
                <a:ext cx="102592"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Q2</a:t>
                </a:r>
                <a:endParaRPr lang="en-US" sz="600" b="1" dirty="0">
                  <a:solidFill>
                    <a:srgbClr val="646464"/>
                  </a:solidFill>
                  <a:latin typeface="EYInterstate Light" pitchFamily="2" charset="0"/>
                </a:endParaRPr>
              </a:p>
            </p:txBody>
          </p:sp>
        </p:grpSp>
        <p:sp>
          <p:nvSpPr>
            <p:cNvPr id="240" name="Text Box 90"/>
            <p:cNvSpPr txBox="1">
              <a:spLocks noChangeArrowheads="1"/>
            </p:cNvSpPr>
            <p:nvPr/>
          </p:nvSpPr>
          <p:spPr bwMode="gray">
            <a:xfrm>
              <a:off x="5969374" y="2393485"/>
              <a:ext cx="102593"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Q4</a:t>
              </a:r>
              <a:endParaRPr lang="en-US" sz="600" b="1" dirty="0">
                <a:solidFill>
                  <a:srgbClr val="646464"/>
                </a:solidFill>
                <a:latin typeface="EYInterstate Light" pitchFamily="2" charset="0"/>
              </a:endParaRPr>
            </a:p>
          </p:txBody>
        </p:sp>
      </p:grpSp>
      <p:sp>
        <p:nvSpPr>
          <p:cNvPr id="254" name="Line 125"/>
          <p:cNvSpPr>
            <a:spLocks noChangeShapeType="1"/>
          </p:cNvSpPr>
          <p:nvPr/>
        </p:nvSpPr>
        <p:spPr bwMode="gray">
          <a:xfrm flipH="1" flipV="1">
            <a:off x="2031477" y="3409418"/>
            <a:ext cx="9307" cy="164560"/>
          </a:xfrm>
          <a:prstGeom prst="line">
            <a:avLst/>
          </a:prstGeom>
          <a:noFill/>
          <a:ln w="6350">
            <a:solidFill>
              <a:schemeClr val="accent2"/>
            </a:solidFill>
            <a:round/>
            <a:headEnd type="diamond" w="lg" len="lg"/>
            <a:tailEnd type="none" w="sm" len="sm"/>
          </a:ln>
        </p:spPr>
        <p:txBody>
          <a:bodyPr wrap="square" lIns="92075" tIns="46038" rIns="92075" bIns="46038">
            <a:spAutoFit/>
          </a:bodyPr>
          <a:lstStyle/>
          <a:p>
            <a:pPr algn="ctr" fontAlgn="base">
              <a:spcBef>
                <a:spcPct val="0"/>
              </a:spcBef>
              <a:spcAft>
                <a:spcPct val="0"/>
              </a:spcAft>
            </a:pPr>
            <a:endParaRPr lang="en-GB" sz="1200" dirty="0">
              <a:solidFill>
                <a:srgbClr val="646464"/>
              </a:solidFill>
            </a:endParaRPr>
          </a:p>
        </p:txBody>
      </p:sp>
      <p:sp>
        <p:nvSpPr>
          <p:cNvPr id="255" name="Line 125"/>
          <p:cNvSpPr>
            <a:spLocks noChangeShapeType="1"/>
          </p:cNvSpPr>
          <p:nvPr/>
        </p:nvSpPr>
        <p:spPr bwMode="gray">
          <a:xfrm flipV="1">
            <a:off x="2037611" y="2233595"/>
            <a:ext cx="218" cy="80179"/>
          </a:xfrm>
          <a:prstGeom prst="line">
            <a:avLst/>
          </a:prstGeom>
          <a:noFill/>
          <a:ln w="6350">
            <a:solidFill>
              <a:schemeClr val="accent2"/>
            </a:solidFill>
            <a:round/>
            <a:headEnd type="diamond" w="lg" len="lg"/>
            <a:tailEnd type="none" w="sm" len="sm"/>
          </a:ln>
        </p:spPr>
        <p:txBody>
          <a:bodyPr wrap="square" lIns="92075" tIns="46038" rIns="92075" bIns="46038">
            <a:spAutoFit/>
          </a:bodyPr>
          <a:lstStyle/>
          <a:p>
            <a:pPr algn="ctr" fontAlgn="base">
              <a:spcBef>
                <a:spcPct val="0"/>
              </a:spcBef>
              <a:spcAft>
                <a:spcPct val="0"/>
              </a:spcAft>
            </a:pPr>
            <a:endParaRPr lang="en-GB" sz="1200" dirty="0">
              <a:solidFill>
                <a:srgbClr val="646464"/>
              </a:solidFill>
            </a:endParaRPr>
          </a:p>
        </p:txBody>
      </p:sp>
      <p:grpSp>
        <p:nvGrpSpPr>
          <p:cNvPr id="8" name="Group 255"/>
          <p:cNvGrpSpPr/>
          <p:nvPr/>
        </p:nvGrpSpPr>
        <p:grpSpPr>
          <a:xfrm>
            <a:off x="686711" y="6226965"/>
            <a:ext cx="7835900" cy="168032"/>
            <a:chOff x="678788" y="2290620"/>
            <a:chExt cx="7835900" cy="168032"/>
          </a:xfrm>
        </p:grpSpPr>
        <p:grpSp>
          <p:nvGrpSpPr>
            <p:cNvPr id="9" name="Group 252"/>
            <p:cNvGrpSpPr/>
            <p:nvPr/>
          </p:nvGrpSpPr>
          <p:grpSpPr>
            <a:xfrm>
              <a:off x="678788" y="2290620"/>
              <a:ext cx="7835900" cy="168032"/>
              <a:chOff x="685408" y="3499064"/>
              <a:chExt cx="7835900" cy="168032"/>
            </a:xfrm>
          </p:grpSpPr>
          <p:grpSp>
            <p:nvGrpSpPr>
              <p:cNvPr id="10" name="Group 266"/>
              <p:cNvGrpSpPr/>
              <p:nvPr/>
            </p:nvGrpSpPr>
            <p:grpSpPr>
              <a:xfrm>
                <a:off x="685408" y="3499064"/>
                <a:ext cx="7835900" cy="168032"/>
                <a:chOff x="680864" y="4716016"/>
                <a:chExt cx="7835900" cy="168032"/>
              </a:xfrm>
            </p:grpSpPr>
            <p:sp>
              <p:nvSpPr>
                <p:cNvPr id="261" name="Line 69"/>
                <p:cNvSpPr>
                  <a:spLocks noChangeShapeType="1"/>
                </p:cNvSpPr>
                <p:nvPr/>
              </p:nvSpPr>
              <p:spPr bwMode="gray">
                <a:xfrm>
                  <a:off x="680864" y="4771256"/>
                  <a:ext cx="7835900" cy="0"/>
                </a:xfrm>
                <a:prstGeom prst="line">
                  <a:avLst/>
                </a:prstGeom>
                <a:noFill/>
                <a:ln w="38100">
                  <a:solidFill>
                    <a:srgbClr val="FFD200"/>
                  </a:solidFill>
                  <a:round/>
                  <a:headEnd type="diamond" w="med" len="med"/>
                  <a:tailEnd type="diamond" w="med" len="med"/>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62" name="Line 72"/>
                <p:cNvSpPr>
                  <a:spLocks noChangeShapeType="1"/>
                </p:cNvSpPr>
                <p:nvPr/>
              </p:nvSpPr>
              <p:spPr bwMode="gray">
                <a:xfrm>
                  <a:off x="1704802"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63" name="Line 75"/>
                <p:cNvSpPr>
                  <a:spLocks noChangeShapeType="1"/>
                </p:cNvSpPr>
                <p:nvPr/>
              </p:nvSpPr>
              <p:spPr bwMode="gray">
                <a:xfrm>
                  <a:off x="6827664"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64" name="Line 76"/>
                <p:cNvSpPr>
                  <a:spLocks noChangeShapeType="1"/>
                </p:cNvSpPr>
                <p:nvPr/>
              </p:nvSpPr>
              <p:spPr bwMode="gray">
                <a:xfrm>
                  <a:off x="7977014"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65" name="Text Box 86"/>
                <p:cNvSpPr txBox="1">
                  <a:spLocks noChangeArrowheads="1"/>
                </p:cNvSpPr>
                <p:nvPr/>
              </p:nvSpPr>
              <p:spPr bwMode="gray">
                <a:xfrm>
                  <a:off x="744945" y="4787131"/>
                  <a:ext cx="309141" cy="92333"/>
                </a:xfrm>
                <a:prstGeom prst="rect">
                  <a:avLst/>
                </a:prstGeom>
                <a:noFill/>
                <a:ln w="9525" algn="ctr">
                  <a:noFill/>
                  <a:miter lim="800000"/>
                  <a:headEnd type="none" w="sm" len="sm"/>
                  <a:tailEnd type="none" w="sm" len="sm"/>
                </a:ln>
              </p:spPr>
              <p:txBody>
                <a:bodyPr wrap="squar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Q1</a:t>
                  </a:r>
                  <a:endParaRPr lang="en-US" sz="600" b="1" dirty="0">
                    <a:solidFill>
                      <a:srgbClr val="646464"/>
                    </a:solidFill>
                    <a:latin typeface="EYInterstate Light" pitchFamily="2" charset="0"/>
                  </a:endParaRPr>
                </a:p>
              </p:txBody>
            </p:sp>
            <p:sp>
              <p:nvSpPr>
                <p:cNvPr id="266" name="Text Box 87"/>
                <p:cNvSpPr txBox="1">
                  <a:spLocks noChangeArrowheads="1"/>
                </p:cNvSpPr>
                <p:nvPr/>
              </p:nvSpPr>
              <p:spPr bwMode="gray">
                <a:xfrm>
                  <a:off x="2532468" y="4787131"/>
                  <a:ext cx="102593"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Q2</a:t>
                  </a:r>
                  <a:endParaRPr lang="en-US" sz="600" b="1" dirty="0">
                    <a:solidFill>
                      <a:srgbClr val="646464"/>
                    </a:solidFill>
                    <a:latin typeface="EYInterstate Light" pitchFamily="2" charset="0"/>
                  </a:endParaRPr>
                </a:p>
              </p:txBody>
            </p:sp>
            <p:sp>
              <p:nvSpPr>
                <p:cNvPr id="267" name="Text Box 90"/>
                <p:cNvSpPr txBox="1">
                  <a:spLocks noChangeArrowheads="1"/>
                </p:cNvSpPr>
                <p:nvPr/>
              </p:nvSpPr>
              <p:spPr bwMode="gray">
                <a:xfrm>
                  <a:off x="4283481" y="4787131"/>
                  <a:ext cx="102593"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Q3</a:t>
                  </a:r>
                  <a:endParaRPr lang="en-US" sz="600" b="1" dirty="0">
                    <a:solidFill>
                      <a:srgbClr val="646464"/>
                    </a:solidFill>
                    <a:latin typeface="EYInterstate Light" pitchFamily="2" charset="0"/>
                  </a:endParaRPr>
                </a:p>
              </p:txBody>
            </p:sp>
            <p:sp>
              <p:nvSpPr>
                <p:cNvPr id="268" name="Line 96"/>
                <p:cNvSpPr>
                  <a:spLocks noChangeShapeType="1"/>
                </p:cNvSpPr>
                <p:nvPr/>
              </p:nvSpPr>
              <p:spPr bwMode="gray">
                <a:xfrm>
                  <a:off x="3420889" y="476173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69" name="Line 97"/>
                <p:cNvSpPr>
                  <a:spLocks noChangeShapeType="1"/>
                </p:cNvSpPr>
                <p:nvPr/>
              </p:nvSpPr>
              <p:spPr bwMode="gray">
                <a:xfrm>
                  <a:off x="5121102"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70" name="Line 125"/>
                <p:cNvSpPr>
                  <a:spLocks noChangeShapeType="1"/>
                </p:cNvSpPr>
                <p:nvPr/>
              </p:nvSpPr>
              <p:spPr bwMode="gray">
                <a:xfrm flipH="1">
                  <a:off x="2042592" y="4716016"/>
                  <a:ext cx="0" cy="72008"/>
                </a:xfrm>
                <a:prstGeom prst="line">
                  <a:avLst/>
                </a:prstGeom>
                <a:noFill/>
                <a:ln w="6350">
                  <a:solidFill>
                    <a:srgbClr val="92D050"/>
                  </a:solidFill>
                  <a:round/>
                  <a:headEnd type="diamond" w="lg" len="lg"/>
                  <a:tailEnd type="none" w="sm" len="sm"/>
                </a:ln>
              </p:spPr>
              <p:txBody>
                <a:bodyPr wrap="square" lIns="92053" tIns="46028" rIns="92053" bIns="46028">
                  <a:spAutoFit/>
                </a:bodyPr>
                <a:lstStyle/>
                <a:p>
                  <a:pPr algn="ctr" fontAlgn="base">
                    <a:spcBef>
                      <a:spcPct val="0"/>
                    </a:spcBef>
                    <a:spcAft>
                      <a:spcPct val="0"/>
                    </a:spcAft>
                  </a:pPr>
                  <a:endParaRPr lang="en-GB" sz="1200" dirty="0">
                    <a:solidFill>
                      <a:srgbClr val="646464"/>
                    </a:solidFill>
                  </a:endParaRPr>
                </a:p>
              </p:txBody>
            </p:sp>
            <p:sp>
              <p:nvSpPr>
                <p:cNvPr id="271" name="Text Box 85"/>
                <p:cNvSpPr txBox="1">
                  <a:spLocks noChangeArrowheads="1"/>
                </p:cNvSpPr>
                <p:nvPr/>
              </p:nvSpPr>
              <p:spPr bwMode="gray">
                <a:xfrm>
                  <a:off x="7257751" y="4791715"/>
                  <a:ext cx="317395"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FY13 Q1</a:t>
                  </a:r>
                  <a:endParaRPr lang="en-US" sz="600" b="1" dirty="0">
                    <a:solidFill>
                      <a:srgbClr val="646464"/>
                    </a:solidFill>
                    <a:latin typeface="EYInterstate Light" pitchFamily="2" charset="0"/>
                  </a:endParaRPr>
                </a:p>
              </p:txBody>
            </p:sp>
          </p:grpSp>
          <p:sp>
            <p:nvSpPr>
              <p:cNvPr id="260" name="Text Box 87"/>
              <p:cNvSpPr txBox="1">
                <a:spLocks noChangeArrowheads="1"/>
              </p:cNvSpPr>
              <p:nvPr/>
            </p:nvSpPr>
            <p:spPr bwMode="gray">
              <a:xfrm>
                <a:off x="8398890" y="3570889"/>
                <a:ext cx="102592"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Q2</a:t>
                </a:r>
                <a:endParaRPr lang="en-US" sz="600" b="1" dirty="0">
                  <a:solidFill>
                    <a:srgbClr val="646464"/>
                  </a:solidFill>
                  <a:latin typeface="EYInterstate Light" pitchFamily="2" charset="0"/>
                </a:endParaRPr>
              </a:p>
            </p:txBody>
          </p:sp>
        </p:grpSp>
        <p:sp>
          <p:nvSpPr>
            <p:cNvPr id="258" name="Text Box 90"/>
            <p:cNvSpPr txBox="1">
              <a:spLocks noChangeArrowheads="1"/>
            </p:cNvSpPr>
            <p:nvPr/>
          </p:nvSpPr>
          <p:spPr bwMode="gray">
            <a:xfrm>
              <a:off x="5969374" y="2361735"/>
              <a:ext cx="102593"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Q4</a:t>
              </a:r>
              <a:endParaRPr lang="en-US" sz="600" b="1" dirty="0">
                <a:solidFill>
                  <a:srgbClr val="646464"/>
                </a:solidFill>
                <a:latin typeface="EYInterstate Light" pitchFamily="2" charset="0"/>
              </a:endParaRPr>
            </a:p>
          </p:txBody>
        </p:sp>
      </p:grpSp>
      <p:grpSp>
        <p:nvGrpSpPr>
          <p:cNvPr id="11" name="Group 271"/>
          <p:cNvGrpSpPr/>
          <p:nvPr/>
        </p:nvGrpSpPr>
        <p:grpSpPr>
          <a:xfrm>
            <a:off x="678788" y="5001415"/>
            <a:ext cx="7835900" cy="195198"/>
            <a:chOff x="678788" y="2290620"/>
            <a:chExt cx="7835900" cy="195198"/>
          </a:xfrm>
        </p:grpSpPr>
        <p:grpSp>
          <p:nvGrpSpPr>
            <p:cNvPr id="12" name="Group 252"/>
            <p:cNvGrpSpPr/>
            <p:nvPr/>
          </p:nvGrpSpPr>
          <p:grpSpPr>
            <a:xfrm>
              <a:off x="678788" y="2290620"/>
              <a:ext cx="7835900" cy="195198"/>
              <a:chOff x="685408" y="3499064"/>
              <a:chExt cx="7835900" cy="195198"/>
            </a:xfrm>
          </p:grpSpPr>
          <p:grpSp>
            <p:nvGrpSpPr>
              <p:cNvPr id="13" name="Group 266"/>
              <p:cNvGrpSpPr/>
              <p:nvPr/>
            </p:nvGrpSpPr>
            <p:grpSpPr>
              <a:xfrm>
                <a:off x="685408" y="3499064"/>
                <a:ext cx="7835900" cy="195198"/>
                <a:chOff x="680864" y="4716016"/>
                <a:chExt cx="7835900" cy="195198"/>
              </a:xfrm>
            </p:grpSpPr>
            <p:sp>
              <p:nvSpPr>
                <p:cNvPr id="277" name="Line 69"/>
                <p:cNvSpPr>
                  <a:spLocks noChangeShapeType="1"/>
                </p:cNvSpPr>
                <p:nvPr/>
              </p:nvSpPr>
              <p:spPr bwMode="gray">
                <a:xfrm>
                  <a:off x="680864" y="4771256"/>
                  <a:ext cx="7835900" cy="0"/>
                </a:xfrm>
                <a:prstGeom prst="line">
                  <a:avLst/>
                </a:prstGeom>
                <a:noFill/>
                <a:ln w="38100">
                  <a:solidFill>
                    <a:srgbClr val="FFD200"/>
                  </a:solidFill>
                  <a:round/>
                  <a:headEnd type="diamond" w="med" len="med"/>
                  <a:tailEnd type="diamond" w="med" len="med"/>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78" name="Line 72"/>
                <p:cNvSpPr>
                  <a:spLocks noChangeShapeType="1"/>
                </p:cNvSpPr>
                <p:nvPr/>
              </p:nvSpPr>
              <p:spPr bwMode="gray">
                <a:xfrm>
                  <a:off x="1704802"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79" name="Line 75"/>
                <p:cNvSpPr>
                  <a:spLocks noChangeShapeType="1"/>
                </p:cNvSpPr>
                <p:nvPr/>
              </p:nvSpPr>
              <p:spPr bwMode="gray">
                <a:xfrm>
                  <a:off x="6827664"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80" name="Line 76"/>
                <p:cNvSpPr>
                  <a:spLocks noChangeShapeType="1"/>
                </p:cNvSpPr>
                <p:nvPr/>
              </p:nvSpPr>
              <p:spPr bwMode="gray">
                <a:xfrm>
                  <a:off x="7977014"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81" name="Text Box 86"/>
                <p:cNvSpPr txBox="1">
                  <a:spLocks noChangeArrowheads="1"/>
                </p:cNvSpPr>
                <p:nvPr/>
              </p:nvSpPr>
              <p:spPr bwMode="gray">
                <a:xfrm>
                  <a:off x="744945" y="4818881"/>
                  <a:ext cx="309141" cy="92333"/>
                </a:xfrm>
                <a:prstGeom prst="rect">
                  <a:avLst/>
                </a:prstGeom>
                <a:noFill/>
                <a:ln w="9525" algn="ctr">
                  <a:noFill/>
                  <a:miter lim="800000"/>
                  <a:headEnd type="none" w="sm" len="sm"/>
                  <a:tailEnd type="none" w="sm" len="sm"/>
                </a:ln>
              </p:spPr>
              <p:txBody>
                <a:bodyPr wrap="squar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Q1</a:t>
                  </a:r>
                  <a:endParaRPr lang="en-US" sz="600" b="1" dirty="0">
                    <a:solidFill>
                      <a:srgbClr val="646464"/>
                    </a:solidFill>
                    <a:latin typeface="EYInterstate Light" pitchFamily="2" charset="0"/>
                  </a:endParaRPr>
                </a:p>
              </p:txBody>
            </p:sp>
            <p:sp>
              <p:nvSpPr>
                <p:cNvPr id="282" name="Text Box 87"/>
                <p:cNvSpPr txBox="1">
                  <a:spLocks noChangeArrowheads="1"/>
                </p:cNvSpPr>
                <p:nvPr/>
              </p:nvSpPr>
              <p:spPr bwMode="gray">
                <a:xfrm>
                  <a:off x="2532468" y="4818881"/>
                  <a:ext cx="102593"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Q2</a:t>
                  </a:r>
                  <a:endParaRPr lang="en-US" sz="600" b="1" dirty="0">
                    <a:solidFill>
                      <a:srgbClr val="646464"/>
                    </a:solidFill>
                    <a:latin typeface="EYInterstate Light" pitchFamily="2" charset="0"/>
                  </a:endParaRPr>
                </a:p>
              </p:txBody>
            </p:sp>
            <p:sp>
              <p:nvSpPr>
                <p:cNvPr id="283" name="Text Box 90"/>
                <p:cNvSpPr txBox="1">
                  <a:spLocks noChangeArrowheads="1"/>
                </p:cNvSpPr>
                <p:nvPr/>
              </p:nvSpPr>
              <p:spPr bwMode="gray">
                <a:xfrm>
                  <a:off x="4283481" y="4818881"/>
                  <a:ext cx="102593"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Q3</a:t>
                  </a:r>
                  <a:endParaRPr lang="en-US" sz="600" b="1" dirty="0">
                    <a:solidFill>
                      <a:srgbClr val="646464"/>
                    </a:solidFill>
                    <a:latin typeface="EYInterstate Light" pitchFamily="2" charset="0"/>
                  </a:endParaRPr>
                </a:p>
              </p:txBody>
            </p:sp>
            <p:sp>
              <p:nvSpPr>
                <p:cNvPr id="284" name="Line 96"/>
                <p:cNvSpPr>
                  <a:spLocks noChangeShapeType="1"/>
                </p:cNvSpPr>
                <p:nvPr/>
              </p:nvSpPr>
              <p:spPr bwMode="gray">
                <a:xfrm>
                  <a:off x="3420889" y="476173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85" name="Line 97"/>
                <p:cNvSpPr>
                  <a:spLocks noChangeShapeType="1"/>
                </p:cNvSpPr>
                <p:nvPr/>
              </p:nvSpPr>
              <p:spPr bwMode="gray">
                <a:xfrm>
                  <a:off x="5121102" y="4755381"/>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2400" dirty="0">
                    <a:solidFill>
                      <a:srgbClr val="646464"/>
                    </a:solidFill>
                  </a:endParaRPr>
                </a:p>
              </p:txBody>
            </p:sp>
            <p:sp>
              <p:nvSpPr>
                <p:cNvPr id="286" name="Line 125"/>
                <p:cNvSpPr>
                  <a:spLocks noChangeShapeType="1"/>
                </p:cNvSpPr>
                <p:nvPr/>
              </p:nvSpPr>
              <p:spPr bwMode="gray">
                <a:xfrm flipH="1">
                  <a:off x="2042592" y="4716016"/>
                  <a:ext cx="0" cy="72008"/>
                </a:xfrm>
                <a:prstGeom prst="line">
                  <a:avLst/>
                </a:prstGeom>
                <a:noFill/>
                <a:ln w="6350">
                  <a:solidFill>
                    <a:srgbClr val="92D050"/>
                  </a:solidFill>
                  <a:round/>
                  <a:headEnd type="diamond" w="lg" len="lg"/>
                  <a:tailEnd type="none" w="sm" len="sm"/>
                </a:ln>
              </p:spPr>
              <p:txBody>
                <a:bodyPr wrap="square" lIns="92053" tIns="46028" rIns="92053" bIns="46028">
                  <a:spAutoFit/>
                </a:bodyPr>
                <a:lstStyle/>
                <a:p>
                  <a:pPr algn="ctr" fontAlgn="base">
                    <a:spcBef>
                      <a:spcPct val="0"/>
                    </a:spcBef>
                    <a:spcAft>
                      <a:spcPct val="0"/>
                    </a:spcAft>
                  </a:pPr>
                  <a:endParaRPr lang="en-GB" sz="1200" dirty="0">
                    <a:solidFill>
                      <a:srgbClr val="646464"/>
                    </a:solidFill>
                  </a:endParaRPr>
                </a:p>
              </p:txBody>
            </p:sp>
            <p:sp>
              <p:nvSpPr>
                <p:cNvPr id="287" name="Text Box 85"/>
                <p:cNvSpPr txBox="1">
                  <a:spLocks noChangeArrowheads="1"/>
                </p:cNvSpPr>
                <p:nvPr/>
              </p:nvSpPr>
              <p:spPr bwMode="gray">
                <a:xfrm>
                  <a:off x="7257751" y="4817115"/>
                  <a:ext cx="317395"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FY13 Q1</a:t>
                  </a:r>
                  <a:endParaRPr lang="en-US" sz="600" b="1" dirty="0">
                    <a:solidFill>
                      <a:srgbClr val="646464"/>
                    </a:solidFill>
                    <a:latin typeface="EYInterstate Light" pitchFamily="2" charset="0"/>
                  </a:endParaRPr>
                </a:p>
              </p:txBody>
            </p:sp>
          </p:grpSp>
          <p:sp>
            <p:nvSpPr>
              <p:cNvPr id="276" name="Text Box 87"/>
              <p:cNvSpPr txBox="1">
                <a:spLocks noChangeArrowheads="1"/>
              </p:cNvSpPr>
              <p:nvPr/>
            </p:nvSpPr>
            <p:spPr bwMode="gray">
              <a:xfrm>
                <a:off x="8398890" y="3596289"/>
                <a:ext cx="102592"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Q2</a:t>
                </a:r>
                <a:endParaRPr lang="en-US" sz="600" b="1" dirty="0">
                  <a:solidFill>
                    <a:srgbClr val="646464"/>
                  </a:solidFill>
                  <a:latin typeface="EYInterstate Light" pitchFamily="2" charset="0"/>
                </a:endParaRPr>
              </a:p>
            </p:txBody>
          </p:sp>
        </p:grpSp>
        <p:sp>
          <p:nvSpPr>
            <p:cNvPr id="274" name="Text Box 90"/>
            <p:cNvSpPr txBox="1">
              <a:spLocks noChangeArrowheads="1"/>
            </p:cNvSpPr>
            <p:nvPr/>
          </p:nvSpPr>
          <p:spPr bwMode="gray">
            <a:xfrm>
              <a:off x="5969374" y="2393485"/>
              <a:ext cx="102593" cy="92333"/>
            </a:xfrm>
            <a:prstGeom prst="rect">
              <a:avLst/>
            </a:prstGeom>
            <a:noFill/>
            <a:ln w="9525" algn="ctr">
              <a:noFill/>
              <a:miter lim="800000"/>
              <a:headEnd type="none" w="sm" len="sm"/>
              <a:tailEnd type="none" w="sm" len="sm"/>
            </a:ln>
          </p:spPr>
          <p:txBody>
            <a:bodyPr wrap="none" lIns="0" tIns="0" rIns="0" bIns="0">
              <a:spAutoFit/>
            </a:bodyPr>
            <a:lstStyle/>
            <a:p>
              <a:pPr algn="ctr" defTabSz="514230" eaLnBrk="0" fontAlgn="base" hangingPunct="0">
                <a:spcBef>
                  <a:spcPct val="0"/>
                </a:spcBef>
                <a:spcAft>
                  <a:spcPct val="0"/>
                </a:spcAft>
              </a:pPr>
              <a:r>
                <a:rPr lang="en-US" sz="600" b="1" dirty="0" smtClean="0">
                  <a:solidFill>
                    <a:srgbClr val="646464"/>
                  </a:solidFill>
                  <a:latin typeface="EYInterstate Light" pitchFamily="2" charset="0"/>
                </a:rPr>
                <a:t>Q4</a:t>
              </a:r>
              <a:endParaRPr lang="en-US" sz="600" b="1" dirty="0">
                <a:solidFill>
                  <a:srgbClr val="646464"/>
                </a:solidFill>
                <a:latin typeface="EYInterstate Light" pitchFamily="2" charset="0"/>
              </a:endParaRPr>
            </a:p>
          </p:txBody>
        </p:sp>
      </p:grpSp>
      <p:sp>
        <p:nvSpPr>
          <p:cNvPr id="288" name="Line 125"/>
          <p:cNvSpPr>
            <a:spLocks noChangeShapeType="1"/>
          </p:cNvSpPr>
          <p:nvPr/>
        </p:nvSpPr>
        <p:spPr bwMode="gray">
          <a:xfrm flipV="1">
            <a:off x="2186619" y="5855732"/>
            <a:ext cx="0" cy="371772"/>
          </a:xfrm>
          <a:prstGeom prst="line">
            <a:avLst/>
          </a:prstGeom>
          <a:noFill/>
          <a:ln w="6350">
            <a:solidFill>
              <a:schemeClr val="accent2"/>
            </a:solidFill>
            <a:round/>
            <a:headEnd type="diamond" w="lg" len="lg"/>
            <a:tailEnd type="none" w="sm" len="sm"/>
          </a:ln>
        </p:spPr>
        <p:txBody>
          <a:bodyPr wrap="square" lIns="92075" tIns="46038" rIns="92075" bIns="46038">
            <a:spAutoFit/>
          </a:bodyPr>
          <a:lstStyle/>
          <a:p>
            <a:pPr algn="ctr" fontAlgn="base">
              <a:spcBef>
                <a:spcPct val="0"/>
              </a:spcBef>
              <a:spcAft>
                <a:spcPct val="0"/>
              </a:spcAft>
            </a:pPr>
            <a:endParaRPr lang="en-GB" sz="1200" dirty="0">
              <a:solidFill>
                <a:srgbClr val="646464"/>
              </a:solidFill>
            </a:endParaRPr>
          </a:p>
        </p:txBody>
      </p:sp>
      <p:sp>
        <p:nvSpPr>
          <p:cNvPr id="289" name="Line 125"/>
          <p:cNvSpPr>
            <a:spLocks noChangeShapeType="1"/>
          </p:cNvSpPr>
          <p:nvPr/>
        </p:nvSpPr>
        <p:spPr bwMode="gray">
          <a:xfrm flipV="1">
            <a:off x="2036022" y="4859918"/>
            <a:ext cx="220" cy="146037"/>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90" name="Line 125"/>
          <p:cNvSpPr>
            <a:spLocks noChangeShapeType="1"/>
          </p:cNvSpPr>
          <p:nvPr/>
        </p:nvSpPr>
        <p:spPr bwMode="gray">
          <a:xfrm flipH="1" flipV="1">
            <a:off x="2397048" y="1012292"/>
            <a:ext cx="102984" cy="5388508"/>
          </a:xfrm>
          <a:prstGeom prst="line">
            <a:avLst/>
          </a:prstGeom>
          <a:noFill/>
          <a:ln w="12700">
            <a:solidFill>
              <a:schemeClr val="accent2"/>
            </a:solidFill>
            <a:prstDash val="dash"/>
            <a:round/>
            <a:headEnd type="diamond" w="lg" len="lg"/>
            <a:tailEnd type="none" w="sm" len="sm"/>
          </a:ln>
        </p:spPr>
        <p:txBody>
          <a:bodyPr wrap="square" lIns="92075" tIns="46038" rIns="92075" bIns="46038">
            <a:spAutoFit/>
          </a:bodyPr>
          <a:lstStyle/>
          <a:p>
            <a:pPr algn="ctr" fontAlgn="base">
              <a:spcBef>
                <a:spcPct val="0"/>
              </a:spcBef>
              <a:spcAft>
                <a:spcPct val="0"/>
              </a:spcAft>
            </a:pPr>
            <a:endParaRPr lang="en-GB" sz="1200" dirty="0">
              <a:solidFill>
                <a:srgbClr val="646464"/>
              </a:solidFill>
            </a:endParaRPr>
          </a:p>
        </p:txBody>
      </p:sp>
      <p:sp>
        <p:nvSpPr>
          <p:cNvPr id="147" name="Freeform 94"/>
          <p:cNvSpPr>
            <a:spLocks/>
          </p:cNvSpPr>
          <p:nvPr/>
        </p:nvSpPr>
        <p:spPr bwMode="gray">
          <a:xfrm>
            <a:off x="-2459" y="-3266"/>
            <a:ext cx="7025054" cy="623953"/>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291" name="Rectangle 2"/>
          <p:cNvSpPr txBox="1">
            <a:spLocks noChangeArrowheads="1"/>
          </p:cNvSpPr>
          <p:nvPr/>
        </p:nvSpPr>
        <p:spPr bwMode="gray">
          <a:xfrm>
            <a:off x="35496" y="13569"/>
            <a:ext cx="8839200" cy="607119"/>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algn="l" eaLnBrk="0" hangingPunct="0">
              <a:lnSpc>
                <a:spcPct val="85000"/>
              </a:lnSpc>
              <a:defRPr/>
            </a:pPr>
            <a:r>
              <a:rPr lang="en-US" sz="1600" b="1" kern="0" dirty="0" smtClean="0">
                <a:solidFill>
                  <a:srgbClr val="646464"/>
                </a:solidFill>
                <a:latin typeface="Arial"/>
              </a:rPr>
              <a:t>3.a M&amp;C Planning Dashboard</a:t>
            </a:r>
          </a:p>
          <a:p>
            <a:pPr eaLnBrk="0" hangingPunct="0">
              <a:lnSpc>
                <a:spcPct val="85000"/>
              </a:lnSpc>
              <a:defRPr/>
            </a:pPr>
            <a:endParaRPr lang="en-US" sz="1400" b="1" kern="0" dirty="0">
              <a:solidFill>
                <a:srgbClr val="646464"/>
              </a:solidFill>
              <a:latin typeface="Arial"/>
            </a:endParaRPr>
          </a:p>
        </p:txBody>
      </p:sp>
      <p:sp>
        <p:nvSpPr>
          <p:cNvPr id="292" name="Rectangle 291"/>
          <p:cNvSpPr/>
          <p:nvPr/>
        </p:nvSpPr>
        <p:spPr>
          <a:xfrm>
            <a:off x="-381000" y="358018"/>
            <a:ext cx="4572000" cy="327782"/>
          </a:xfrm>
          <a:prstGeom prst="rect">
            <a:avLst/>
          </a:prstGeom>
        </p:spPr>
        <p:txBody>
          <a:bodyPr>
            <a:spAutoFit/>
          </a:bodyPr>
          <a:lstStyle/>
          <a:p>
            <a:pPr eaLnBrk="0" hangingPunct="0">
              <a:lnSpc>
                <a:spcPct val="85000"/>
              </a:lnSpc>
              <a:defRPr/>
            </a:pPr>
            <a:r>
              <a:rPr lang="en-US" b="1" kern="0" dirty="0" smtClean="0">
                <a:solidFill>
                  <a:srgbClr val="646464"/>
                </a:solidFill>
                <a:latin typeface="Arial"/>
              </a:rPr>
              <a:t>Plan on a Page as at 13</a:t>
            </a:r>
            <a:r>
              <a:rPr lang="en-US" b="1" kern="0" baseline="30000" dirty="0" smtClean="0">
                <a:solidFill>
                  <a:srgbClr val="646464"/>
                </a:solidFill>
                <a:latin typeface="Arial"/>
              </a:rPr>
              <a:t>th</a:t>
            </a:r>
            <a:r>
              <a:rPr lang="en-US" b="1" kern="0" dirty="0" smtClean="0">
                <a:solidFill>
                  <a:srgbClr val="646464"/>
                </a:solidFill>
                <a:latin typeface="Arial"/>
              </a:rPr>
              <a:t> Oct 2011. </a:t>
            </a:r>
          </a:p>
        </p:txBody>
      </p:sp>
      <p:sp>
        <p:nvSpPr>
          <p:cNvPr id="293" name="Rectangle 292"/>
          <p:cNvSpPr/>
          <p:nvPr/>
        </p:nvSpPr>
        <p:spPr>
          <a:xfrm>
            <a:off x="5649678" y="358018"/>
            <a:ext cx="2723823" cy="327782"/>
          </a:xfrm>
          <a:prstGeom prst="rect">
            <a:avLst/>
          </a:prstGeom>
        </p:spPr>
        <p:txBody>
          <a:bodyPr wrap="none">
            <a:spAutoFit/>
          </a:bodyPr>
          <a:lstStyle/>
          <a:p>
            <a:pPr eaLnBrk="0" hangingPunct="0">
              <a:lnSpc>
                <a:spcPct val="85000"/>
              </a:lnSpc>
              <a:defRPr/>
            </a:pPr>
            <a:r>
              <a:rPr lang="en-US" b="1" kern="0" dirty="0" smtClean="0">
                <a:solidFill>
                  <a:srgbClr val="646464"/>
                </a:solidFill>
                <a:latin typeface="Arial"/>
              </a:rPr>
              <a:t>Next Refresh Feb 2012</a:t>
            </a:r>
          </a:p>
        </p:txBody>
      </p:sp>
      <p:sp>
        <p:nvSpPr>
          <p:cNvPr id="222" name="TextBox 221"/>
          <p:cNvSpPr txBox="1"/>
          <p:nvPr/>
        </p:nvSpPr>
        <p:spPr>
          <a:xfrm rot="20015151">
            <a:off x="-15944" y="4137314"/>
            <a:ext cx="8356979" cy="954107"/>
          </a:xfrm>
          <a:prstGeom prst="rect">
            <a:avLst/>
          </a:prstGeom>
          <a:noFill/>
        </p:spPr>
        <p:txBody>
          <a:bodyPr wrap="square" rtlCol="0">
            <a:spAutoFit/>
          </a:bodyPr>
          <a:lstStyle/>
          <a:p>
            <a:r>
              <a:rPr lang="en-GB" sz="2800" dirty="0" smtClean="0">
                <a:solidFill>
                  <a:srgbClr val="FF0000"/>
                </a:solidFill>
              </a:rPr>
              <a:t>Significant re-planning now required based on leadership decision now taken</a:t>
            </a:r>
            <a:endParaRPr lang="en-GB" sz="2800" dirty="0">
              <a:solidFill>
                <a:srgbClr val="FF000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 name="Group 270"/>
          <p:cNvGraphicFramePr>
            <a:graphicFrameLocks noGrp="1"/>
          </p:cNvGraphicFramePr>
          <p:nvPr/>
        </p:nvGraphicFramePr>
        <p:xfrm>
          <a:off x="107506" y="2895600"/>
          <a:ext cx="4540694" cy="3505200"/>
        </p:xfrm>
        <a:graphic>
          <a:graphicData uri="http://schemas.openxmlformats.org/drawingml/2006/table">
            <a:tbl>
              <a:tblPr/>
              <a:tblGrid>
                <a:gridCol w="2040023"/>
                <a:gridCol w="460650"/>
                <a:gridCol w="897021"/>
                <a:gridCol w="608801"/>
                <a:gridCol w="534199"/>
              </a:tblGrid>
              <a:tr h="136355">
                <a:tc gridSpan="5">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B. DEPENDENCY ALIGNMENT STATISTICS</a:t>
                      </a:r>
                      <a:endParaRPr kumimoji="0" lang="en-US" sz="700" b="0" i="0" u="sng" strike="noStrike" kern="1200" cap="none" normalizeH="0" baseline="0" dirty="0" smtClean="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endParaRPr lang="en-GB"/>
                    </a:p>
                  </a:txBody>
                  <a:tcPr/>
                </a:tc>
                <a:tc hMerge="1">
                  <a:txBody>
                    <a:bodyPr/>
                    <a:lstStyle/>
                    <a:p>
                      <a:endParaRPr lang="en-GB"/>
                    </a:p>
                  </a:txBody>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4487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Enterprise Plan League Table Position This Week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10 /19</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 Change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This Week</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Last Week</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6355">
                <a:tc gridSpan="2">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Overall  Dependency Alignment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endParaRPr lang="en-GB"/>
                    </a:p>
                  </a:txBody>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FF0000"/>
                          </a:solidFill>
                          <a:effectLst/>
                          <a:latin typeface="EYInterstate Light" pitchFamily="2" charset="0"/>
                        </a:rPr>
                        <a:t>%0</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58%</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58%</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920818">
                <a:tc gridSpan="5">
                  <a:txBody>
                    <a:bodyPr/>
                    <a:lstStyle/>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endParaRPr lang="en-GB"/>
                    </a:p>
                  </a:txBody>
                  <a:tcPr/>
                </a:tc>
                <a:tc hMerge="1">
                  <a:txBody>
                    <a:bodyPr/>
                    <a:lstStyle/>
                    <a:p>
                      <a:endParaRPr lang="en-GB"/>
                    </a:p>
                  </a:txBody>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endParaRPr kumimoji="0" lang="en-US" sz="700" b="0" i="0" u="none" strike="noStrike" cap="none" normalizeH="0" baseline="0" dirty="0" smtClean="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endParaRPr kumimoji="0" lang="en-US" sz="700" b="0" i="0" u="none" strike="noStrike" cap="none" normalizeH="0" baseline="0" dirty="0" smtClean="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6355">
                <a:tc gridSpan="5">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Commentary – Key Dependency Misalignments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endParaRPr lang="en-GB"/>
                    </a:p>
                  </a:txBody>
                  <a:tcPr/>
                </a:tc>
                <a:tc hMerge="1">
                  <a:txBody>
                    <a:bodyPr/>
                    <a:lstStyle/>
                    <a:p>
                      <a:endParaRPr lang="en-GB"/>
                    </a:p>
                  </a:txBody>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930445">
                <a:tc gridSpan="5">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Key Dependency misalignments this week relate to  :- </a:t>
                      </a:r>
                      <a:r>
                        <a:rPr kumimoji="0" lang="en-US" sz="700" b="1" i="1" u="none" strike="noStrike" cap="none" normalizeH="0" baseline="0" dirty="0" smtClean="0">
                          <a:ln>
                            <a:noFill/>
                          </a:ln>
                          <a:solidFill>
                            <a:schemeClr val="tx1"/>
                          </a:solidFill>
                          <a:effectLst/>
                          <a:latin typeface="EYInterstate Light" pitchFamily="2" charset="0"/>
                        </a:rPr>
                        <a:t>(no change from previous week)</a:t>
                      </a:r>
                    </a:p>
                    <a:p>
                      <a:pPr marL="228600" marR="0" lvl="0" indent="-228600" algn="l" defTabSz="947738" rtl="0" eaLnBrk="0" fontAlgn="base" latinLnBrk="0" hangingPunct="0">
                        <a:lnSpc>
                          <a:spcPct val="100000"/>
                        </a:lnSpc>
                        <a:spcBef>
                          <a:spcPct val="0"/>
                        </a:spcBef>
                        <a:spcAft>
                          <a:spcPct val="10000"/>
                        </a:spcAft>
                        <a:buClr>
                          <a:schemeClr val="hlink"/>
                        </a:buClr>
                        <a:buSzTx/>
                        <a:buFont typeface="EYInterstate" pitchFamily="2" charset="0"/>
                        <a:buAutoNum type="arabicParenR"/>
                        <a:tabLst/>
                      </a:pPr>
                      <a:r>
                        <a:rPr kumimoji="0" lang="en-US" sz="700" b="1" i="0" u="none" strike="noStrike" cap="none" normalizeH="0" baseline="0" dirty="0" smtClean="0">
                          <a:ln>
                            <a:noFill/>
                          </a:ln>
                          <a:solidFill>
                            <a:schemeClr val="tx1"/>
                          </a:solidFill>
                          <a:effectLst/>
                          <a:latin typeface="EYInterstate Light" pitchFamily="2" charset="0"/>
                        </a:rPr>
                        <a:t>A large re-planning exercise is required (based on the above issue). This is likely to take at least until early Feb. </a:t>
                      </a:r>
                    </a:p>
                    <a:p>
                      <a:pPr marL="228600" marR="0" lvl="0" indent="-228600" algn="l" defTabSz="947738" rtl="0" eaLnBrk="0" fontAlgn="base" latinLnBrk="0" hangingPunct="0">
                        <a:lnSpc>
                          <a:spcPct val="100000"/>
                        </a:lnSpc>
                        <a:spcBef>
                          <a:spcPct val="0"/>
                        </a:spcBef>
                        <a:spcAft>
                          <a:spcPct val="10000"/>
                        </a:spcAft>
                        <a:buClr>
                          <a:schemeClr val="hlink"/>
                        </a:buClr>
                        <a:buSzTx/>
                        <a:buFont typeface="EYInterstate" pitchFamily="2" charset="0"/>
                        <a:buAutoNum type="arabicParenR"/>
                        <a:tabLst/>
                      </a:pPr>
                      <a:r>
                        <a:rPr kumimoji="0" lang="en-US" sz="700" b="1" i="0" u="none" strike="noStrike" cap="none" normalizeH="0" baseline="0" dirty="0" smtClean="0">
                          <a:ln>
                            <a:noFill/>
                          </a:ln>
                          <a:solidFill>
                            <a:schemeClr val="tx1"/>
                          </a:solidFill>
                          <a:effectLst/>
                          <a:latin typeface="EYInterstate Light" pitchFamily="2" charset="0"/>
                        </a:rPr>
                        <a:t>Tech Foundation Exchange – In country” build out requirements. No detailed plan yet available from the DCC.  - Further work is required between teams to understand where UAT/ Pilot locations could be and the potential impact this could have.  </a:t>
                      </a:r>
                    </a:p>
                    <a:p>
                      <a:pPr marL="228600" marR="0" lvl="0" indent="-228600" algn="l" defTabSz="947738" rtl="0" eaLnBrk="0" fontAlgn="base" latinLnBrk="0" hangingPunct="0">
                        <a:lnSpc>
                          <a:spcPct val="100000"/>
                        </a:lnSpc>
                        <a:spcBef>
                          <a:spcPct val="0"/>
                        </a:spcBef>
                        <a:spcAft>
                          <a:spcPct val="10000"/>
                        </a:spcAft>
                        <a:buClr>
                          <a:schemeClr val="hlink"/>
                        </a:buClr>
                        <a:buSzTx/>
                        <a:buFont typeface="EYInterstate" pitchFamily="2" charset="0"/>
                        <a:buAutoNum type="arabicParenR"/>
                        <a:tabLst/>
                      </a:pPr>
                      <a:r>
                        <a:rPr kumimoji="0" lang="en-US" sz="700" b="1" i="0" u="none" strike="noStrike" cap="none" normalizeH="0" baseline="0" dirty="0" smtClean="0">
                          <a:ln>
                            <a:noFill/>
                          </a:ln>
                          <a:solidFill>
                            <a:schemeClr val="tx1"/>
                          </a:solidFill>
                          <a:effectLst/>
                          <a:latin typeface="EYInterstate Light" pitchFamily="2" charset="0"/>
                        </a:rPr>
                        <a:t>In addition, a number of dependencies although are aligned have not been achieved and have a due date which has now past. (These are currently not flagged by the EP Team report).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bl>
          </a:graphicData>
        </a:graphic>
      </p:graphicFrame>
      <p:grpSp>
        <p:nvGrpSpPr>
          <p:cNvPr id="2" name="Group 8"/>
          <p:cNvGrpSpPr/>
          <p:nvPr/>
        </p:nvGrpSpPr>
        <p:grpSpPr>
          <a:xfrm>
            <a:off x="107505" y="-3264"/>
            <a:ext cx="11170096" cy="533400"/>
            <a:chOff x="-2459" y="-3265"/>
            <a:chExt cx="9310073" cy="623953"/>
          </a:xfrm>
        </p:grpSpPr>
        <p:sp>
          <p:nvSpPr>
            <p:cNvPr id="8"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69" name="Rectangle 2"/>
            <p:cNvSpPr txBox="1">
              <a:spLocks noChangeArrowheads="1"/>
            </p:cNvSpPr>
            <p:nvPr/>
          </p:nvSpPr>
          <p:spPr bwMode="gray">
            <a:xfrm>
              <a:off x="179802" y="13569"/>
              <a:ext cx="9127812" cy="607119"/>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algn="l" eaLnBrk="0" hangingPunct="0">
                <a:lnSpc>
                  <a:spcPct val="85000"/>
                </a:lnSpc>
                <a:defRPr/>
              </a:pPr>
              <a:r>
                <a:rPr lang="en-US" sz="1600" b="1" kern="0" dirty="0" smtClean="0">
                  <a:solidFill>
                    <a:srgbClr val="646464"/>
                  </a:solidFill>
                  <a:latin typeface="Arial"/>
                </a:rPr>
                <a:t>3.b M&amp;C Planning Dashboard</a:t>
              </a:r>
            </a:p>
          </p:txBody>
        </p:sp>
      </p:grpSp>
      <p:graphicFrame>
        <p:nvGraphicFramePr>
          <p:cNvPr id="10" name="Group 245"/>
          <p:cNvGraphicFramePr>
            <a:graphicFrameLocks noGrp="1"/>
          </p:cNvGraphicFramePr>
          <p:nvPr/>
        </p:nvGraphicFramePr>
        <p:xfrm>
          <a:off x="107507" y="457200"/>
          <a:ext cx="8884096" cy="1872510"/>
        </p:xfrm>
        <a:graphic>
          <a:graphicData uri="http://schemas.openxmlformats.org/drawingml/2006/table">
            <a:tbl>
              <a:tblPr/>
              <a:tblGrid>
                <a:gridCol w="502095"/>
                <a:gridCol w="4038598"/>
                <a:gridCol w="2463471"/>
                <a:gridCol w="584531"/>
                <a:gridCol w="1295401"/>
              </a:tblGrid>
              <a:tr h="77970">
                <a:tc gridSpan="5">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GB" sz="700" b="1" i="0" u="none" strike="noStrike" cap="none" normalizeH="0" baseline="0" dirty="0" smtClean="0">
                          <a:ln>
                            <a:noFill/>
                          </a:ln>
                          <a:solidFill>
                            <a:schemeClr val="tx1"/>
                          </a:solidFill>
                          <a:effectLst/>
                          <a:latin typeface="EYInterstate" pitchFamily="2" charset="0"/>
                        </a:rPr>
                        <a:t>A. KEY PLANNING ISSUES &amp; RISKS (EXTRACT)</a:t>
                      </a:r>
                      <a:endParaRPr kumimoji="0" lang="en-US" sz="700" b="1" i="0" u="none" strike="noStrike" cap="none" normalizeH="0" baseline="0" dirty="0" smtClean="0">
                        <a:ln>
                          <a:noFill/>
                        </a:ln>
                        <a:solidFill>
                          <a:schemeClr val="tx1"/>
                        </a:solidFill>
                        <a:effectLst/>
                        <a:latin typeface="EYInterstate" pitchFamily="2" charset="0"/>
                      </a:endParaRPr>
                    </a:p>
                  </a:txBody>
                  <a:tcPr marL="36000" marR="36000"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smtClean="0">
                        <a:ln>
                          <a:noFill/>
                        </a:ln>
                        <a:solidFill>
                          <a:schemeClr val="tx1"/>
                        </a:solidFill>
                        <a:effectLst/>
                        <a:latin typeface="EYInterstate" pitchFamily="2" charset="0"/>
                      </a:endParaRPr>
                    </a:p>
                  </a:txBody>
                  <a:tcPr marL="36000" marR="36000"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smtClean="0">
                        <a:ln>
                          <a:noFill/>
                        </a:ln>
                        <a:solidFill>
                          <a:schemeClr val="tx1"/>
                        </a:solidFill>
                        <a:effectLst/>
                        <a:latin typeface="EYInterstate" pitchFamily="2" charset="0"/>
                      </a:endParaRPr>
                    </a:p>
                  </a:txBody>
                  <a:tcPr marL="36000" marR="36000"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smtClean="0">
                        <a:ln>
                          <a:noFill/>
                        </a:ln>
                        <a:solidFill>
                          <a:schemeClr val="tx1"/>
                        </a:solidFill>
                        <a:effectLst/>
                        <a:latin typeface="EYInterstate" pitchFamily="2" charset="0"/>
                      </a:endParaRPr>
                    </a:p>
                  </a:txBody>
                  <a:tcPr marL="36000" marR="36000"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smtClean="0">
                        <a:ln>
                          <a:noFill/>
                        </a:ln>
                        <a:solidFill>
                          <a:schemeClr val="tx1"/>
                        </a:solidFill>
                        <a:effectLst/>
                        <a:latin typeface="EYInterstate" pitchFamily="2" charset="0"/>
                      </a:endParaRPr>
                    </a:p>
                  </a:txBody>
                  <a:tcPr marL="36000" marR="36000"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r>
              <a:tr h="771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Ref</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Risk / Issue Description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Proposed Mitigation / Resolution Strategy</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Impact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Owner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19993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I88</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Tech Foundation – Lync, Exchange and SharePoint. Planning activities have been based on a working  a assumption that is now no longer valid for majority of countries. This has significant consequences . Schedules now need to be completely re-planned. Whilst this occurs, significant impact will be felt in terms of missed milestones, </a:t>
                      </a:r>
                      <a:r>
                        <a:rPr kumimoji="0" lang="en-US" sz="700" b="1" i="0" u="none" strike="noStrike" cap="none" normalizeH="0" baseline="0" dirty="0" err="1" smtClean="0">
                          <a:ln>
                            <a:noFill/>
                          </a:ln>
                          <a:solidFill>
                            <a:schemeClr val="tx1"/>
                          </a:solidFill>
                          <a:effectLst/>
                          <a:latin typeface="EYInterstate Light" pitchFamily="2" charset="0"/>
                        </a:rPr>
                        <a:t>mis</a:t>
                      </a:r>
                      <a:r>
                        <a:rPr kumimoji="0" lang="en-US" sz="700" b="1" i="0" u="none" strike="noStrike" cap="none" normalizeH="0" baseline="0" dirty="0" smtClean="0">
                          <a:ln>
                            <a:noFill/>
                          </a:ln>
                          <a:solidFill>
                            <a:schemeClr val="tx1"/>
                          </a:solidFill>
                          <a:effectLst/>
                          <a:latin typeface="EYInterstate Light" pitchFamily="2" charset="0"/>
                        </a:rPr>
                        <a:t>- aligned dependencies etc. From a PMO perspective, this has a significant knock on impact to  the quality of deliverables  produced - </a:t>
                      </a:r>
                      <a:r>
                        <a:rPr kumimoji="0" lang="en-US" sz="700" b="1" i="0" u="none" strike="noStrike" cap="none" normalizeH="0" baseline="0" dirty="0" err="1" smtClean="0">
                          <a:ln>
                            <a:noFill/>
                          </a:ln>
                          <a:solidFill>
                            <a:schemeClr val="tx1"/>
                          </a:solidFill>
                          <a:effectLst/>
                          <a:latin typeface="EYInterstate Light" pitchFamily="2" charset="0"/>
                        </a:rPr>
                        <a:t>eg</a:t>
                      </a:r>
                      <a:r>
                        <a:rPr kumimoji="0" lang="en-US" sz="700" b="1" i="0" u="none" strike="noStrike" cap="none" normalizeH="0" baseline="0" dirty="0" smtClean="0">
                          <a:ln>
                            <a:noFill/>
                          </a:ln>
                          <a:solidFill>
                            <a:schemeClr val="tx1"/>
                          </a:solidFill>
                          <a:effectLst/>
                          <a:latin typeface="EYInterstate Light" pitchFamily="2" charset="0"/>
                        </a:rPr>
                        <a:t> 30 day milestone plans.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Large  scale re-planning activities are now required based on a key decision taken.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H</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A. Mickleson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53628">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I90</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Tx/>
                        <a:buNone/>
                        <a:tabLst/>
                        <a:defRPr/>
                      </a:pPr>
                      <a:r>
                        <a:rPr kumimoji="0" lang="en-US" sz="700" b="1" i="0" u="none" strike="noStrike" cap="none" normalizeH="0" baseline="0" dirty="0" smtClean="0">
                          <a:ln>
                            <a:noFill/>
                          </a:ln>
                          <a:solidFill>
                            <a:schemeClr val="tx1"/>
                          </a:solidFill>
                          <a:effectLst/>
                          <a:latin typeface="EYInterstate Light" pitchFamily="2" charset="0"/>
                        </a:rPr>
                        <a:t>58% Dependency misalignments.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This likely to get worse whilst re-planning takes place.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H</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S. Jelf</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20607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i88</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Baseline plans to be in place for all work streams by 29</a:t>
                      </a:r>
                      <a:r>
                        <a:rPr kumimoji="0" lang="en-US" sz="700" b="1" i="0" u="none" strike="noStrike" cap="none" normalizeH="0" baseline="30000" dirty="0" smtClean="0">
                          <a:ln>
                            <a:noFill/>
                          </a:ln>
                          <a:solidFill>
                            <a:schemeClr val="tx1"/>
                          </a:solidFill>
                          <a:effectLst/>
                          <a:latin typeface="EYInterstate Light" pitchFamily="2" charset="0"/>
                        </a:rPr>
                        <a:t>th</a:t>
                      </a:r>
                      <a:r>
                        <a:rPr kumimoji="0" lang="en-US" sz="700" b="1" i="0" u="none" strike="noStrike" cap="none" normalizeH="0" baseline="0" dirty="0" smtClean="0">
                          <a:ln>
                            <a:noFill/>
                          </a:ln>
                          <a:solidFill>
                            <a:schemeClr val="tx1"/>
                          </a:solidFill>
                          <a:effectLst/>
                          <a:latin typeface="EYInterstate Light" pitchFamily="2" charset="0"/>
                        </a:rPr>
                        <a:t> Feb.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Although achievable for all work streams, certain areas of Tech Foundation , Deployment and SharePoint will not be in a good position to baseline at this point.  Change  Request / Control processes therefore need to be  known and supportive as possible.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H</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G.  Morgan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20607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I105</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“Look See” pilot scope unclear and unrealistic (Exchange / Lync)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Recommendation slides have now been constructed. Awaiting direction from A. Guthrie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H</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ctr" defTabSz="947738" rtl="0" eaLnBrk="0" fontAlgn="base" latinLnBrk="0" hangingPunct="0">
                        <a:lnSpc>
                          <a:spcPct val="100000"/>
                        </a:lnSpc>
                        <a:spcBef>
                          <a:spcPct val="0"/>
                        </a:spcBef>
                        <a:spcAft>
                          <a:spcPct val="10000"/>
                        </a:spcAft>
                        <a:buClr>
                          <a:schemeClr val="hlink"/>
                        </a:buClr>
                        <a:buSzTx/>
                        <a:buFontTx/>
                        <a:buAutoNum type="alphaUcPeriod"/>
                        <a:tabLst/>
                      </a:pPr>
                      <a:r>
                        <a:rPr kumimoji="0" lang="en-US" sz="700" b="1" i="0" u="none" strike="noStrike" cap="none" normalizeH="0" baseline="0" dirty="0" smtClean="0">
                          <a:ln>
                            <a:noFill/>
                          </a:ln>
                          <a:solidFill>
                            <a:schemeClr val="tx1"/>
                          </a:solidFill>
                          <a:effectLst/>
                          <a:latin typeface="EYInterstate Light" pitchFamily="2" charset="0"/>
                        </a:rPr>
                        <a:t>Guthrie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sp>
        <p:nvSpPr>
          <p:cNvPr id="16" name="TextBox 15"/>
          <p:cNvSpPr txBox="1"/>
          <p:nvPr/>
        </p:nvSpPr>
        <p:spPr>
          <a:xfrm>
            <a:off x="4800600" y="71735"/>
            <a:ext cx="3505200" cy="461665"/>
          </a:xfrm>
          <a:prstGeom prst="rect">
            <a:avLst/>
          </a:prstGeom>
          <a:noFill/>
        </p:spPr>
        <p:txBody>
          <a:bodyPr wrap="square" tIns="0" bIns="0" rtlCol="0">
            <a:spAutoFit/>
          </a:bodyPr>
          <a:lstStyle/>
          <a:p>
            <a:r>
              <a:rPr lang="en-GB" sz="600" b="1" dirty="0" smtClean="0"/>
              <a:t>Overall Plan Health</a:t>
            </a:r>
          </a:p>
          <a:p>
            <a:pPr algn="l"/>
            <a:endParaRPr lang="en-GB" sz="600" b="1" dirty="0" smtClean="0"/>
          </a:p>
          <a:p>
            <a:pPr algn="l"/>
            <a:r>
              <a:rPr lang="en-GB" sz="600" b="1" dirty="0" smtClean="0"/>
              <a:t>Project Schedule Quality	               Dependency Alignment                    Milestones Met</a:t>
            </a:r>
          </a:p>
          <a:p>
            <a:pPr algn="l">
              <a:lnSpc>
                <a:spcPct val="200000"/>
              </a:lnSpc>
            </a:pPr>
            <a:endParaRPr lang="en-GB" sz="600" b="1" dirty="0"/>
          </a:p>
        </p:txBody>
      </p:sp>
      <p:sp>
        <p:nvSpPr>
          <p:cNvPr id="23" name="Rectangle 22"/>
          <p:cNvSpPr/>
          <p:nvPr/>
        </p:nvSpPr>
        <p:spPr bwMode="auto">
          <a:xfrm>
            <a:off x="5867400" y="228600"/>
            <a:ext cx="152400" cy="152400"/>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900" b="0" i="0" u="none" strike="noStrike" cap="none" normalizeH="0" baseline="0" dirty="0" smtClean="0">
                <a:ln>
                  <a:noFill/>
                </a:ln>
                <a:solidFill>
                  <a:schemeClr val="tx1"/>
                </a:solidFill>
                <a:effectLst/>
                <a:latin typeface="Arial" charset="0"/>
              </a:rPr>
              <a:t>R</a:t>
            </a:r>
          </a:p>
        </p:txBody>
      </p:sp>
      <p:sp>
        <p:nvSpPr>
          <p:cNvPr id="25" name="Rectangle 24"/>
          <p:cNvSpPr/>
          <p:nvPr/>
        </p:nvSpPr>
        <p:spPr bwMode="auto">
          <a:xfrm>
            <a:off x="7086600" y="228600"/>
            <a:ext cx="152400" cy="152400"/>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900" b="0" i="0" u="none" strike="noStrike" cap="none" normalizeH="0" baseline="0" dirty="0" smtClean="0">
                <a:ln>
                  <a:noFill/>
                </a:ln>
                <a:solidFill>
                  <a:schemeClr val="tx1"/>
                </a:solidFill>
                <a:effectLst/>
                <a:latin typeface="Arial" charset="0"/>
              </a:rPr>
              <a:t>R</a:t>
            </a:r>
          </a:p>
        </p:txBody>
      </p:sp>
      <p:sp>
        <p:nvSpPr>
          <p:cNvPr id="26" name="Rectangle 25"/>
          <p:cNvSpPr/>
          <p:nvPr/>
        </p:nvSpPr>
        <p:spPr bwMode="auto">
          <a:xfrm>
            <a:off x="8001000" y="228600"/>
            <a:ext cx="152400" cy="152400"/>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900" b="0" i="0" u="none" strike="noStrike" cap="none" normalizeH="0" baseline="0" dirty="0" smtClean="0">
                <a:ln>
                  <a:noFill/>
                </a:ln>
                <a:solidFill>
                  <a:schemeClr val="tx1"/>
                </a:solidFill>
                <a:effectLst/>
                <a:latin typeface="Arial" charset="0"/>
              </a:rPr>
              <a:t>A</a:t>
            </a:r>
          </a:p>
        </p:txBody>
      </p:sp>
      <p:graphicFrame>
        <p:nvGraphicFramePr>
          <p:cNvPr id="17" name="Group 270"/>
          <p:cNvGraphicFramePr>
            <a:graphicFrameLocks noGrp="1"/>
          </p:cNvGraphicFramePr>
          <p:nvPr/>
        </p:nvGraphicFramePr>
        <p:xfrm>
          <a:off x="4648200" y="2895600"/>
          <a:ext cx="4343403" cy="3379766"/>
        </p:xfrm>
        <a:graphic>
          <a:graphicData uri="http://schemas.openxmlformats.org/drawingml/2006/table">
            <a:tbl>
              <a:tblPr/>
              <a:tblGrid>
                <a:gridCol w="4343403"/>
              </a:tblGrid>
              <a:tr h="14094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C. 30 DAY PLAN - MILESTONES MISSED STATISTICS</a:t>
                      </a:r>
                      <a:endParaRPr kumimoji="0" lang="en-US" sz="700" b="0" i="0" u="sng" strike="noStrike" kern="1200" cap="none" normalizeH="0" baseline="0" dirty="0" smtClean="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r>
              <a:tr h="229745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0942">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Commentary – Missed Milestones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r>
              <a:tr h="800424">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2  milestones were highlighted on the 30 day milestone, but no indication if they were met or not, so assuming not.  No previous outstanding milestones were  achieved .</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Currently neither Change  Management or SharePoint participate in the 30 day plan  view. However,  it is expected both will be rolled in when further re-planning has taken place – estimated date –  End Feb</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8" name="Group 245"/>
          <p:cNvGraphicFramePr>
            <a:graphicFrameLocks noGrp="1"/>
          </p:cNvGraphicFramePr>
          <p:nvPr/>
        </p:nvGraphicFramePr>
        <p:xfrm>
          <a:off x="107506" y="6400982"/>
          <a:ext cx="8884096" cy="396058"/>
        </p:xfrm>
        <a:graphic>
          <a:graphicData uri="http://schemas.openxmlformats.org/drawingml/2006/table">
            <a:tbl>
              <a:tblPr/>
              <a:tblGrid>
                <a:gridCol w="8884096"/>
              </a:tblGrid>
              <a:tr h="153898">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PROGRAM PLANNING </a:t>
                      </a:r>
                      <a:r>
                        <a:rPr kumimoji="0" lang="en-GB" sz="700" b="1" i="0" u="none" strike="noStrike" cap="none" normalizeH="0" baseline="0" dirty="0" smtClean="0">
                          <a:ln>
                            <a:noFill/>
                          </a:ln>
                          <a:solidFill>
                            <a:schemeClr val="tx1"/>
                          </a:solidFill>
                          <a:effectLst/>
                          <a:latin typeface="EYInterstate" pitchFamily="2" charset="0"/>
                        </a:rPr>
                        <a:t>LATEST INITIATIVES</a:t>
                      </a:r>
                      <a:endParaRPr kumimoji="0" lang="en-US" sz="700" b="1" i="0" u="none" strike="noStrike" cap="none" normalizeH="0" baseline="0" dirty="0" smtClean="0">
                        <a:ln>
                          <a:noFill/>
                        </a:ln>
                        <a:solidFill>
                          <a:schemeClr val="tx1"/>
                        </a:solidFill>
                        <a:effectLst/>
                        <a:latin typeface="EYInterstate" pitchFamily="2" charset="0"/>
                      </a:endParaRPr>
                    </a:p>
                  </a:txBody>
                  <a:tcPr marL="36000" marR="36000"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0720">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700" baseline="0" dirty="0" smtClean="0">
                          <a:latin typeface="EYInterstate Light"/>
                        </a:rPr>
                        <a:t>Quality - Planning Standards briefing meeting  held.  Buy In obtained from new Transition Management stream on the use of Planning Standards. General verbal decisions on planning standards have taken place with A. Guthrie, although formal email around the mandatory use of standards  has not yet been sent.  </a:t>
                      </a:r>
                    </a:p>
                  </a:txBody>
                  <a:tcPr marL="36000" marR="36000"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9" name="Chart 18"/>
          <p:cNvGraphicFramePr/>
          <p:nvPr/>
        </p:nvGraphicFramePr>
        <p:xfrm>
          <a:off x="4648200" y="3048000"/>
          <a:ext cx="4343400" cy="22098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0" name="Chart 19"/>
          <p:cNvGraphicFramePr/>
          <p:nvPr/>
        </p:nvGraphicFramePr>
        <p:xfrm>
          <a:off x="152400" y="3429000"/>
          <a:ext cx="4419601" cy="187642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984885"/>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rPr>
              <a:t>4. Scope and change requests.</a:t>
            </a:r>
            <a:endParaRPr lang="en-US" sz="1600" b="1" kern="0" dirty="0" smtClean="0">
              <a:solidFill>
                <a:srgbClr val="646464"/>
              </a:solidFill>
              <a:latin typeface="EYInterstate"/>
            </a:endParaRPr>
          </a:p>
          <a:p>
            <a:pPr defTabSz="955675" eaLnBrk="0" hangingPunct="0">
              <a:spcAft>
                <a:spcPts val="0"/>
              </a:spcAft>
              <a:defRPr/>
            </a:pPr>
            <a:endParaRPr lang="en-US" sz="1400" b="1" kern="0" dirty="0" smtClean="0">
              <a:solidFill>
                <a:srgbClr val="646464"/>
              </a:solidFill>
              <a:latin typeface="EYInterstate"/>
            </a:endParaRPr>
          </a:p>
          <a:p>
            <a:pPr lvl="0" defTabSz="955675" eaLnBrk="0" hangingPunct="0">
              <a:spcAft>
                <a:spcPts val="0"/>
              </a:spcAft>
              <a:defRPr/>
            </a:pPr>
            <a:endParaRPr lang="en-US" sz="1400" kern="0" dirty="0" smtClean="0">
              <a:solidFill>
                <a:srgbClr val="646464"/>
              </a:solidFill>
            </a:endParaRPr>
          </a:p>
          <a:p>
            <a:pPr defTabSz="955675" eaLnBrk="0" hangingPunct="0">
              <a:spcAft>
                <a:spcPts val="0"/>
              </a:spcAft>
              <a:defRPr/>
            </a:pPr>
            <a:endParaRPr lang="en-US" sz="1400" kern="0" dirty="0">
              <a:solidFill>
                <a:srgbClr val="646464"/>
              </a:solidFill>
              <a:latin typeface="EYInterstate"/>
            </a:endParaRPr>
          </a:p>
        </p:txBody>
      </p:sp>
      <p:graphicFrame>
        <p:nvGraphicFramePr>
          <p:cNvPr id="8" name="Group 270"/>
          <p:cNvGraphicFramePr>
            <a:graphicFrameLocks noGrp="1"/>
          </p:cNvGraphicFramePr>
          <p:nvPr/>
        </p:nvGraphicFramePr>
        <p:xfrm>
          <a:off x="107504" y="762000"/>
          <a:ext cx="9036495" cy="4537086"/>
        </p:xfrm>
        <a:graphic>
          <a:graphicData uri="http://schemas.openxmlformats.org/drawingml/2006/table">
            <a:tbl>
              <a:tblPr/>
              <a:tblGrid>
                <a:gridCol w="1017662"/>
                <a:gridCol w="837593"/>
                <a:gridCol w="837593"/>
                <a:gridCol w="921352"/>
                <a:gridCol w="1268975"/>
                <a:gridCol w="899943"/>
                <a:gridCol w="1084459"/>
                <a:gridCol w="1084459"/>
                <a:gridCol w="1084459"/>
              </a:tblGrid>
              <a:tr h="175739">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gridSpan="4">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Approved change</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endParaRPr kumimoji="0" lang="en-US" sz="700" b="0" i="0" u="none" strike="noStrike" cap="none" normalizeH="0" baseline="0" dirty="0" smtClean="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gridSpan="4">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Pending Change</a:t>
                      </a:r>
                      <a:endParaRPr kumimoji="0" lang="en-US" sz="700" b="1"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651918">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rgbClr val="000000"/>
                          </a:solidFill>
                          <a:effectLst/>
                          <a:latin typeface="EYInterstate Light" pitchFamily="2" charset="0"/>
                        </a:rPr>
                        <a:t>Program/</a:t>
                      </a:r>
                    </a:p>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err="1" smtClean="0">
                          <a:ln>
                            <a:noFill/>
                          </a:ln>
                          <a:solidFill>
                            <a:srgbClr val="000000"/>
                          </a:solidFill>
                          <a:effectLst/>
                          <a:latin typeface="EYInterstate Light" pitchFamily="2" charset="0"/>
                        </a:rPr>
                        <a:t>Workstream</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rgbClr val="000000"/>
                          </a:solidFill>
                          <a:effectLst/>
                          <a:latin typeface="EYInterstate Light" pitchFamily="2" charset="0"/>
                        </a:rPr>
                        <a:t>Approved (Number)</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rgbClr val="000000"/>
                          </a:solidFill>
                          <a:effectLst/>
                          <a:latin typeface="EYInterstate Light" pitchFamily="2" charset="0"/>
                        </a:rPr>
                        <a:t>Cost Impact (cumulative $)</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rgbClr val="000000"/>
                          </a:solidFill>
                          <a:effectLst/>
                          <a:latin typeface="EYInterstate Light" pitchFamily="2" charset="0"/>
                        </a:rPr>
                        <a:t>Schedule Impact (cumulative time)</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1" i="0" u="none" strike="noStrike" cap="none" normalizeH="0" baseline="0" dirty="0" smtClean="0">
                          <a:ln>
                            <a:noFill/>
                          </a:ln>
                          <a:solidFill>
                            <a:srgbClr val="000000"/>
                          </a:solidFill>
                          <a:effectLst/>
                          <a:latin typeface="EYInterstate Light" pitchFamily="2" charset="0"/>
                        </a:rPr>
                        <a:t>Scope Impact</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1" i="0" u="none" strike="noStrike" cap="none" normalizeH="0" baseline="0" dirty="0" smtClean="0">
                          <a:ln>
                            <a:noFill/>
                          </a:ln>
                          <a:solidFill>
                            <a:srgbClr val="000000"/>
                          </a:solidFill>
                          <a:effectLst/>
                          <a:latin typeface="EYInterstate Light" pitchFamily="2" charset="0"/>
                        </a:rPr>
                        <a:t>Pending (Number)</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defRPr/>
                      </a:pPr>
                      <a:r>
                        <a:rPr kumimoji="0" lang="en-US" sz="900" b="1" i="0" u="none" strike="noStrike" cap="none" normalizeH="0" baseline="0" dirty="0" smtClean="0">
                          <a:ln>
                            <a:noFill/>
                          </a:ln>
                          <a:solidFill>
                            <a:srgbClr val="000000"/>
                          </a:solidFill>
                          <a:effectLst/>
                          <a:latin typeface="EYInterstate Light" pitchFamily="2" charset="0"/>
                        </a:rPr>
                        <a:t>Cost Impact (cumulative $)</a:t>
                      </a:r>
                    </a:p>
                    <a:p>
                      <a:pPr marL="0" marR="0" lvl="0" indent="0" algn="ctr" defTabSz="947738" rtl="0" eaLnBrk="0" fontAlgn="base" latinLnBrk="0" hangingPunct="0">
                        <a:lnSpc>
                          <a:spcPct val="100000"/>
                        </a:lnSpc>
                        <a:spcBef>
                          <a:spcPct val="0"/>
                        </a:spcBef>
                        <a:spcAft>
                          <a:spcPct val="10000"/>
                        </a:spcAft>
                        <a:buClr>
                          <a:schemeClr val="hlink"/>
                        </a:buClr>
                        <a:buSzTx/>
                        <a:buFontTx/>
                        <a:buNone/>
                        <a:tabLst/>
                      </a:pP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rgbClr val="000000"/>
                          </a:solidFill>
                          <a:effectLst/>
                          <a:latin typeface="EYInterstate Light" pitchFamily="2" charset="0"/>
                        </a:rPr>
                        <a:t>Schedule Impact (cumulative time)</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rgbClr val="000000"/>
                          </a:solidFill>
                          <a:effectLst/>
                          <a:latin typeface="EYInterstate Light" pitchFamily="2" charset="0"/>
                        </a:rPr>
                        <a:t>Scope Impact</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03722">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0" i="0" u="none" strike="noStrike" kern="1200" cap="none" normalizeH="0" baseline="0" dirty="0" smtClean="0">
                          <a:ln>
                            <a:noFill/>
                          </a:ln>
                          <a:solidFill>
                            <a:srgbClr val="000000"/>
                          </a:solidFill>
                          <a:effectLst/>
                          <a:latin typeface="EYInterstate Light" pitchFamily="2" charset="0"/>
                          <a:ea typeface="+mn-ea"/>
                          <a:cs typeface="+mn-cs"/>
                        </a:rPr>
                        <a:t>App Data Migration</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CR14</a:t>
                      </a: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0" i="0" u="none" strike="noStrike" kern="1200" cap="none" normalizeH="0" baseline="0" dirty="0" smtClean="0">
                          <a:ln>
                            <a:noFill/>
                          </a:ln>
                          <a:solidFill>
                            <a:srgbClr val="000000"/>
                          </a:solidFill>
                          <a:effectLst/>
                          <a:latin typeface="EYInterstate Light" pitchFamily="2" charset="0"/>
                          <a:ea typeface="+mn-ea"/>
                          <a:cs typeface="+mn-cs"/>
                        </a:rPr>
                        <a:t>$2,874,416 </a:t>
                      </a:r>
                    </a:p>
                  </a:txBody>
                  <a:tcPr marL="0" marR="0" marT="0"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CR06</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06948">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0" i="0" u="none" strike="noStrike" kern="1200" cap="none" normalizeH="0" baseline="0" dirty="0" smtClean="0">
                          <a:ln>
                            <a:noFill/>
                          </a:ln>
                          <a:solidFill>
                            <a:srgbClr val="000000"/>
                          </a:solidFill>
                          <a:effectLst/>
                          <a:latin typeface="EYInterstate Light" pitchFamily="2" charset="0"/>
                          <a:ea typeface="+mn-ea"/>
                          <a:cs typeface="+mn-cs"/>
                        </a:rPr>
                        <a:t>Change Management</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CR2-9, 19, 37,59</a:t>
                      </a: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$4,810,754</a:t>
                      </a: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FF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FF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FF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75976">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Fusion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0" i="0" u="none" strike="noStrike" kern="1200" cap="none" normalizeH="0" baseline="0" dirty="0" smtClean="0">
                          <a:ln>
                            <a:noFill/>
                          </a:ln>
                          <a:solidFill>
                            <a:srgbClr val="000000"/>
                          </a:solidFill>
                          <a:effectLst/>
                          <a:latin typeface="EYInterstate Light" pitchFamily="2" charset="0"/>
                          <a:ea typeface="+mn-ea"/>
                          <a:cs typeface="+mn-cs"/>
                        </a:rPr>
                        <a:t>CR12, 16, 23-28, 38, 39, 43</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($986,710)</a:t>
                      </a: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896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SharePoint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0" i="0" u="none" strike="noStrike" kern="1200" cap="none" normalizeH="0" baseline="0" dirty="0" smtClean="0">
                          <a:ln>
                            <a:noFill/>
                          </a:ln>
                          <a:solidFill>
                            <a:srgbClr val="000000"/>
                          </a:solidFill>
                          <a:effectLst/>
                          <a:latin typeface="EYInterstate Light" pitchFamily="2" charset="0"/>
                          <a:ea typeface="+mn-ea"/>
                          <a:cs typeface="+mn-cs"/>
                        </a:rPr>
                        <a:t>CR53-56, 60</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($2,216,336)</a:t>
                      </a: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75976">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Tech Foundation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0" i="0" u="none" strike="noStrike" kern="1200" cap="none" normalizeH="0" baseline="0" dirty="0" smtClean="0">
                          <a:ln>
                            <a:noFill/>
                          </a:ln>
                          <a:solidFill>
                            <a:srgbClr val="000000"/>
                          </a:solidFill>
                          <a:effectLst/>
                          <a:latin typeface="EYInterstate Light" pitchFamily="2" charset="0"/>
                          <a:ea typeface="+mn-ea"/>
                          <a:cs typeface="+mn-cs"/>
                        </a:rPr>
                        <a:t>CR13,17.18, 29.32.52.58</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$1,331,529</a:t>
                      </a: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413963">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Unified Communications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0" i="0" u="none" strike="noStrike" kern="1200" cap="none" normalizeH="0" baseline="0" dirty="0" smtClean="0">
                          <a:ln>
                            <a:noFill/>
                          </a:ln>
                          <a:solidFill>
                            <a:srgbClr val="000000"/>
                          </a:solidFill>
                          <a:effectLst/>
                          <a:latin typeface="EYInterstate Light" pitchFamily="2" charset="0"/>
                          <a:ea typeface="+mn-ea"/>
                          <a:cs typeface="+mn-cs"/>
                        </a:rPr>
                        <a:t>CR10,11,15,20,21,22,30,31,34-36,41,48-51,57</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$6,702,448</a:t>
                      </a: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548838">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SharePoint</a:t>
                      </a:r>
                    </a:p>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(User Experience)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GB" sz="800" b="0" i="0" u="none" strike="noStrike" kern="1200" cap="none" normalizeH="0" baseline="0" dirty="0" smtClean="0">
                          <a:ln>
                            <a:noFill/>
                          </a:ln>
                          <a:solidFill>
                            <a:srgbClr val="000000"/>
                          </a:solidFill>
                          <a:effectLst/>
                          <a:latin typeface="EYInterstate Light" pitchFamily="2" charset="0"/>
                          <a:ea typeface="+mn-ea"/>
                          <a:cs typeface="+mn-cs"/>
                        </a:rPr>
                        <a:t>CR60</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8,800</a:t>
                      </a: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hangingPunct="0"/>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The scope of change includes:</a:t>
                      </a:r>
                      <a:endParaRPr kumimoji="0" lang="en-GB" sz="800" b="0" i="0" u="none" strike="noStrike" kern="1200" cap="none" normalizeH="0" baseline="0" dirty="0" smtClean="0">
                        <a:ln>
                          <a:noFill/>
                        </a:ln>
                        <a:solidFill>
                          <a:srgbClr val="000000"/>
                        </a:solidFill>
                        <a:effectLst/>
                        <a:latin typeface="EYInterstate Light" pitchFamily="2" charset="0"/>
                        <a:ea typeface="+mn-ea"/>
                        <a:cs typeface="+mn-cs"/>
                      </a:endParaRPr>
                    </a:p>
                    <a:p>
                      <a:r>
                        <a:rPr kumimoji="0" lang="en-GB" sz="800" b="0" i="0" u="none" strike="noStrike" kern="1200" cap="none" normalizeH="0" baseline="0" dirty="0" smtClean="0">
                          <a:ln>
                            <a:noFill/>
                          </a:ln>
                          <a:solidFill>
                            <a:srgbClr val="000000"/>
                          </a:solidFill>
                          <a:effectLst/>
                          <a:latin typeface="EYInterstate Light" pitchFamily="2" charset="0"/>
                          <a:ea typeface="+mn-ea"/>
                          <a:cs typeface="+mn-cs"/>
                        </a:rPr>
                        <a:t>1. Defining the UX Accessibility standards for E&amp;Y</a:t>
                      </a:r>
                    </a:p>
                    <a:p>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2. Ensuring that the deliverables from UX (application screens, sites etc) adhere to the Accessibility standards</a:t>
                      </a:r>
                    </a:p>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hangingPunct="0"/>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896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Change Management – Business Blueprint (TBC)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(TBC)</a:t>
                      </a:r>
                    </a:p>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endParaRPr kumimoji="0" lang="en-GB"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(TBC)</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8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                  (TBC)</a:t>
                      </a:r>
                    </a:p>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CR61</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$2,068,040 </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hangingPunct="0"/>
                      <a:r>
                        <a:rPr kumimoji="0" lang="en-US" sz="800" b="0" i="0" u="none" strike="noStrike" kern="1200" cap="none" normalizeH="0" baseline="0" dirty="0" smtClean="0">
                          <a:ln>
                            <a:noFill/>
                          </a:ln>
                          <a:solidFill>
                            <a:srgbClr val="000000"/>
                          </a:solidFill>
                          <a:effectLst/>
                          <a:latin typeface="EYInterstate Light" pitchFamily="2" charset="0"/>
                          <a:ea typeface="+mn-ea"/>
                          <a:cs typeface="+mn-cs"/>
                        </a:rPr>
                        <a:t>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5" name="Group 852"/>
          <p:cNvGraphicFramePr>
            <a:graphicFrameLocks noGrp="1"/>
          </p:cNvGraphicFramePr>
          <p:nvPr/>
        </p:nvGraphicFramePr>
        <p:xfrm>
          <a:off x="107505" y="5791200"/>
          <a:ext cx="8825758" cy="489127"/>
        </p:xfrm>
        <a:graphic>
          <a:graphicData uri="http://schemas.openxmlformats.org/drawingml/2006/table">
            <a:tbl>
              <a:tblPr/>
              <a:tblGrid>
                <a:gridCol w="8825758"/>
              </a:tblGrid>
              <a:tr h="95798">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rgbClr val="000000"/>
                          </a:solidFill>
                          <a:effectLst/>
                          <a:latin typeface="EYInterstate" pitchFamily="2" charset="0"/>
                        </a:rPr>
                        <a:t>PMO Narrative.</a:t>
                      </a:r>
                      <a:endParaRPr kumimoji="0" lang="en-US" sz="700" b="1" i="0" u="none" strike="noStrike" cap="none" normalizeH="0" baseline="0" dirty="0">
                        <a:ln>
                          <a:noFill/>
                        </a:ln>
                        <a:solidFill>
                          <a:srgbClr val="000000"/>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35508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rgbClr val="FF0000"/>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1100" b="0" i="0" u="none" strike="noStrike" cap="none" normalizeH="0" baseline="0" dirty="0" smtClean="0">
                          <a:ln>
                            <a:noFill/>
                          </a:ln>
                          <a:solidFill>
                            <a:srgbClr val="000000"/>
                          </a:solidFill>
                          <a:effectLst/>
                          <a:latin typeface="EYInterstate Light" pitchFamily="2" charset="0"/>
                        </a:rPr>
                        <a:t>  </a:t>
                      </a:r>
                      <a:endParaRPr kumimoji="0" lang="en-US" sz="11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l" defTabSz="955675" eaLnBrk="0" hangingPunct="0">
              <a:spcAft>
                <a:spcPts val="0"/>
              </a:spcAft>
              <a:defRPr/>
            </a:pPr>
            <a:r>
              <a:rPr lang="en-US" sz="1600" b="1" kern="0" dirty="0" smtClean="0">
                <a:solidFill>
                  <a:srgbClr val="646464"/>
                </a:solidFill>
              </a:rPr>
              <a:t>5.a RAID trends and observations</a:t>
            </a:r>
            <a:endParaRPr lang="en-US" sz="1600" b="1" kern="0" dirty="0" smtClean="0">
              <a:solidFill>
                <a:srgbClr val="646464"/>
              </a:solidFill>
              <a:latin typeface="EYInterstate"/>
            </a:endParaRPr>
          </a:p>
        </p:txBody>
      </p:sp>
      <p:graphicFrame>
        <p:nvGraphicFramePr>
          <p:cNvPr id="9" name="Group 270"/>
          <p:cNvGraphicFramePr>
            <a:graphicFrameLocks noGrp="1"/>
          </p:cNvGraphicFramePr>
          <p:nvPr/>
        </p:nvGraphicFramePr>
        <p:xfrm>
          <a:off x="4876800" y="3733800"/>
          <a:ext cx="4133091" cy="1599489"/>
        </p:xfrm>
        <a:graphic>
          <a:graphicData uri="http://schemas.openxmlformats.org/drawingml/2006/table">
            <a:tbl>
              <a:tblPr/>
              <a:tblGrid>
                <a:gridCol w="446821"/>
                <a:gridCol w="2372579"/>
                <a:gridCol w="1313691"/>
              </a:tblGrid>
              <a:tr h="18288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rgbClr val="000000"/>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rgbClr val="000000"/>
                          </a:solidFill>
                          <a:effectLst/>
                          <a:latin typeface="EYInterstate" pitchFamily="2" charset="0"/>
                          <a:ea typeface="+mn-ea"/>
                          <a:cs typeface="+mn-cs"/>
                        </a:rPr>
                        <a:t>Top Critical  Issues</a:t>
                      </a:r>
                      <a:endParaRPr kumimoji="0" lang="en-US" sz="700" b="0" i="0" u="none" strike="noStrike" kern="1200" cap="none" normalizeH="0" baseline="0" dirty="0">
                        <a:ln>
                          <a:noFill/>
                        </a:ln>
                        <a:solidFill>
                          <a:srgbClr val="000000"/>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7917">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Item</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Description</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Action</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550885">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I103</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R27</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A&amp;DM</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See next slide for details.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Pct val="60000"/>
                        <a:buFont typeface="Wingdings" pitchFamily="2" charset="2"/>
                        <a:buNone/>
                        <a:tabLst/>
                        <a:defRPr/>
                      </a:pP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707807">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I81</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I89</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R99</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R78A</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A&amp;DM</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See next slide for details.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Pct val="60000"/>
                        <a:buFont typeface="Wingdings" pitchFamily="2" charset="2"/>
                        <a:buAutoNum type="arabicPeriod"/>
                        <a:tabLst/>
                        <a:defRPr/>
                      </a:pP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0" name="Group 270"/>
          <p:cNvGraphicFramePr>
            <a:graphicFrameLocks noGrp="1"/>
          </p:cNvGraphicFramePr>
          <p:nvPr/>
        </p:nvGraphicFramePr>
        <p:xfrm>
          <a:off x="152400" y="3733800"/>
          <a:ext cx="4590291" cy="1911359"/>
        </p:xfrm>
        <a:graphic>
          <a:graphicData uri="http://schemas.openxmlformats.org/drawingml/2006/table">
            <a:tbl>
              <a:tblPr/>
              <a:tblGrid>
                <a:gridCol w="474860"/>
                <a:gridCol w="1582859"/>
                <a:gridCol w="2532572"/>
              </a:tblGrid>
              <a:tr h="18288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rgbClr val="000000"/>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rgbClr val="000000"/>
                          </a:solidFill>
                          <a:effectLst/>
                          <a:latin typeface="EYInterstate" pitchFamily="2" charset="0"/>
                          <a:ea typeface="+mn-ea"/>
                          <a:cs typeface="+mn-cs"/>
                        </a:rPr>
                        <a:t>Top Critical Risks</a:t>
                      </a:r>
                      <a:endParaRPr kumimoji="0" lang="en-US" sz="700" b="0" i="0" u="none" strike="noStrike" kern="1200" cap="none" normalizeH="0" baseline="0" dirty="0">
                        <a:ln>
                          <a:noFill/>
                        </a:ln>
                        <a:solidFill>
                          <a:srgbClr val="000000"/>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rgbClr val="000000"/>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4198">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Item</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Description</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Proposed Action</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424211">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R26</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R67</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A&amp;DM</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See next slide for details.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eriod"/>
                        <a:tabLst/>
                        <a:defRPr/>
                      </a:pP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37594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R102</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A&amp;DM</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See next slide for details.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eriod"/>
                        <a:tabLst/>
                        <a:defRPr/>
                      </a:pP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65227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R92</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Tech Fndtn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Program has been built on the assumption that Riverbed would work; Microsoft has indicated that Riverbed won't work or may cause challenges.  It is a significant risk to the program that we do not know whether it will work or not.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Action taken by Al 8-Feb to inform Alan of the details around this risk. We do not yet know how to address this. </a:t>
                      </a:r>
                    </a:p>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1. In discussions with Riverbed, trying to find reference clients who have used it with O365. </a:t>
                      </a:r>
                    </a:p>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2. Test Riverbed with Exchange.</a:t>
                      </a:r>
                    </a:p>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8" name="Group 852"/>
          <p:cNvGraphicFramePr>
            <a:graphicFrameLocks noGrp="1"/>
          </p:cNvGraphicFramePr>
          <p:nvPr/>
        </p:nvGraphicFramePr>
        <p:xfrm>
          <a:off x="6667499" y="685800"/>
          <a:ext cx="2342392" cy="667048"/>
        </p:xfrm>
        <a:graphic>
          <a:graphicData uri="http://schemas.openxmlformats.org/drawingml/2006/table">
            <a:tbl>
              <a:tblPr/>
              <a:tblGrid>
                <a:gridCol w="2342392"/>
              </a:tblGrid>
              <a:tr h="76598">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PMO Narrative</a:t>
                      </a: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53300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900" b="0" i="0" u="none" strike="noStrike" cap="none" normalizeH="0" baseline="0" dirty="0" smtClean="0">
                          <a:ln>
                            <a:noFill/>
                          </a:ln>
                          <a:solidFill>
                            <a:srgbClr val="000000"/>
                          </a:solidFill>
                          <a:effectLst/>
                          <a:latin typeface="EYInterstate Light" pitchFamily="2" charset="0"/>
                        </a:rPr>
                        <a:t>New process implemented as of late 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1" name="Chart 10"/>
          <p:cNvGraphicFramePr/>
          <p:nvPr/>
        </p:nvGraphicFramePr>
        <p:xfrm>
          <a:off x="152400" y="530135"/>
          <a:ext cx="6515099" cy="311467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l" defTabSz="955675" eaLnBrk="0" hangingPunct="0">
              <a:spcAft>
                <a:spcPts val="0"/>
              </a:spcAft>
              <a:defRPr/>
            </a:pPr>
            <a:r>
              <a:rPr lang="en-US" sz="1600" b="1" kern="0" dirty="0" smtClean="0">
                <a:solidFill>
                  <a:srgbClr val="646464"/>
                </a:solidFill>
              </a:rPr>
              <a:t>5.b RAID trends and observations</a:t>
            </a:r>
            <a:endParaRPr lang="en-US" sz="1600" b="1" kern="0" dirty="0" smtClean="0">
              <a:solidFill>
                <a:srgbClr val="646464"/>
              </a:solidFill>
              <a:latin typeface="EYInterstate"/>
            </a:endParaRPr>
          </a:p>
        </p:txBody>
      </p:sp>
      <p:graphicFrame>
        <p:nvGraphicFramePr>
          <p:cNvPr id="9" name="Group 270"/>
          <p:cNvGraphicFramePr>
            <a:graphicFrameLocks noGrp="1"/>
          </p:cNvGraphicFramePr>
          <p:nvPr/>
        </p:nvGraphicFramePr>
        <p:xfrm>
          <a:off x="304800" y="685800"/>
          <a:ext cx="8458200" cy="5435331"/>
        </p:xfrm>
        <a:graphic>
          <a:graphicData uri="http://schemas.openxmlformats.org/drawingml/2006/table">
            <a:tbl>
              <a:tblPr/>
              <a:tblGrid>
                <a:gridCol w="483326"/>
                <a:gridCol w="2306187"/>
                <a:gridCol w="2696887"/>
                <a:gridCol w="1371600"/>
                <a:gridCol w="1600200"/>
              </a:tblGrid>
              <a:tr h="23788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Top Critical  Risks and Issues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05417">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Item</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Background</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Description</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Impact</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Action</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92371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I103</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R27</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A&amp;DM</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The SoW between EY and MS was signed Jun’11.</a:t>
                      </a:r>
                    </a:p>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Subsequently the EY Phase 1 delivery team (comprising of PM, BAs, SAs, and Testers) started work and have identified a number of items in the SoW which are contradictory or vague.</a:t>
                      </a:r>
                    </a:p>
                    <a:p>
                      <a:pPr marL="0" marR="0" lvl="0" indent="0" algn="l" defTabSz="947738" rtl="0" eaLnBrk="0" fontAlgn="base" latinLnBrk="0" hangingPunct="0">
                        <a:lnSpc>
                          <a:spcPct val="100000"/>
                        </a:lnSpc>
                        <a:spcBef>
                          <a:spcPct val="0"/>
                        </a:spcBef>
                        <a:spcAft>
                          <a:spcPct val="10000"/>
                        </a:spcAft>
                        <a:buClrTx/>
                        <a:buSzPct val="60000"/>
                        <a:buFont typeface="Arial" pitchFamily="34" charset="0"/>
                        <a:buChar char="•"/>
                        <a:tabLst/>
                        <a:defRPr/>
                      </a:pP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The contract as it is now is not fit for purpose. Key items that need resolving: </a:t>
                      </a:r>
                    </a:p>
                    <a:p>
                      <a:pPr marL="0" marR="0" lvl="0" indent="0" algn="l" defTabSz="947738" rtl="0" eaLnBrk="0" fontAlgn="base" latinLnBrk="0" hangingPunct="0">
                        <a:lnSpc>
                          <a:spcPct val="100000"/>
                        </a:lnSpc>
                        <a:spcBef>
                          <a:spcPct val="0"/>
                        </a:spcBef>
                        <a:spcAft>
                          <a:spcPct val="10000"/>
                        </a:spcAft>
                        <a:buClrTx/>
                        <a:buSzPct val="60000"/>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MS proposed delivery approach conflicts with EY’s standards</a:t>
                      </a:r>
                    </a:p>
                    <a:p>
                      <a:pPr marL="0" marR="0" lvl="0" indent="0" algn="l" defTabSz="947738" rtl="0" eaLnBrk="0" fontAlgn="base" latinLnBrk="0" hangingPunct="0">
                        <a:lnSpc>
                          <a:spcPct val="100000"/>
                        </a:lnSpc>
                        <a:spcBef>
                          <a:spcPct val="0"/>
                        </a:spcBef>
                        <a:spcAft>
                          <a:spcPct val="10000"/>
                        </a:spcAft>
                        <a:buClrTx/>
                        <a:buSzPct val="60000"/>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Unacceptable roles and responsibilities being proposed by MS (i.e. MS are proposing to lead business requirements activities and integration of their development will not be tested within the SharePoint platform)</a:t>
                      </a:r>
                    </a:p>
                    <a:p>
                      <a:pPr marL="0" marR="0" lvl="0" indent="0" algn="l" defTabSz="947738" rtl="0" eaLnBrk="0" fontAlgn="base" latinLnBrk="0" hangingPunct="0">
                        <a:lnSpc>
                          <a:spcPct val="100000"/>
                        </a:lnSpc>
                        <a:spcBef>
                          <a:spcPct val="0"/>
                        </a:spcBef>
                        <a:spcAft>
                          <a:spcPct val="10000"/>
                        </a:spcAft>
                        <a:buClrTx/>
                        <a:buSzPct val="60000"/>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Acceptance criteria not defined for each testing phase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Pct val="60000"/>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EY delivery schedule, quality and cost is at risk due to unacceptable contract terms.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Pct val="60000"/>
                        <a:buFont typeface="Wingdings" pitchFamily="2" charset="2"/>
                        <a:buAutoNum type="arabicPeriod"/>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Stand-down MS team.</a:t>
                      </a:r>
                    </a:p>
                    <a:p>
                      <a:pPr marL="228600" marR="0" lvl="0" indent="-228600" algn="l" defTabSz="947738" rtl="0" eaLnBrk="0" fontAlgn="base" latinLnBrk="0" hangingPunct="0">
                        <a:lnSpc>
                          <a:spcPct val="100000"/>
                        </a:lnSpc>
                        <a:spcBef>
                          <a:spcPct val="0"/>
                        </a:spcBef>
                        <a:spcAft>
                          <a:spcPct val="10000"/>
                        </a:spcAft>
                        <a:buClrTx/>
                        <a:buSzPct val="60000"/>
                        <a:buFont typeface="Wingdings" pitchFamily="2" charset="2"/>
                        <a:buAutoNum type="arabicPeriod"/>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Work with MS to update SoW to reflect revised delivery approach acceptable to EY.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139833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I81</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I89</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R99</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R78A</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A&amp;DM</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The A&amp;DM Phase 1 project was designed to follow the other M&amp;C programs (namely TF and SharePoint) to leverage their deliverables.</a:t>
                      </a:r>
                    </a:p>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Due to a number of reasons (most recently the Office 365 decision), the delivery date of the required deliverables from the TF and SharePoint Programs have moved out significantly. </a:t>
                      </a:r>
                    </a:p>
                    <a:p>
                      <a:pPr marL="0" marR="0" lvl="0" indent="0" algn="l" defTabSz="947738" rtl="0" eaLnBrk="0" fontAlgn="base" latinLnBrk="0" hangingPunct="0">
                        <a:lnSpc>
                          <a:spcPct val="100000"/>
                        </a:lnSpc>
                        <a:spcBef>
                          <a:spcPct val="0"/>
                        </a:spcBef>
                        <a:spcAft>
                          <a:spcPct val="10000"/>
                        </a:spcAft>
                        <a:buClrTx/>
                        <a:buSzPct val="60000"/>
                        <a:buFont typeface="Arial" pitchFamily="34" charset="0"/>
                        <a:buNone/>
                        <a:tabLst/>
                        <a:defRPr/>
                      </a:pP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There are a number of key dependencies required for either the start of Phase 1 build or test which won’t be available by the required timelines: </a:t>
                      </a:r>
                    </a:p>
                    <a:p>
                      <a:pPr marL="0" marR="0" lvl="0" indent="0" algn="l" defTabSz="947738" rtl="0" eaLnBrk="0" fontAlgn="base" latinLnBrk="0" hangingPunct="0">
                        <a:lnSpc>
                          <a:spcPct val="100000"/>
                        </a:lnSpc>
                        <a:spcBef>
                          <a:spcPct val="0"/>
                        </a:spcBef>
                        <a:spcAft>
                          <a:spcPct val="10000"/>
                        </a:spcAft>
                        <a:buClrTx/>
                        <a:buSzPct val="60000"/>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Provisioning of environments for testing and production</a:t>
                      </a:r>
                    </a:p>
                    <a:p>
                      <a:pPr marL="0" marR="0" lvl="0" indent="0" algn="l" defTabSz="947738" rtl="0" eaLnBrk="0" fontAlgn="base" latinLnBrk="0" hangingPunct="0">
                        <a:lnSpc>
                          <a:spcPct val="100000"/>
                        </a:lnSpc>
                        <a:spcBef>
                          <a:spcPct val="0"/>
                        </a:spcBef>
                        <a:spcAft>
                          <a:spcPct val="10000"/>
                        </a:spcAft>
                        <a:buClrTx/>
                        <a:buSzPct val="60000"/>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Branding Master Pages (being delivered by the Frog design agency)</a:t>
                      </a:r>
                    </a:p>
                    <a:p>
                      <a:pPr marL="0" marR="0" lvl="0" indent="0" algn="l" defTabSz="947738" rtl="0" eaLnBrk="0" fontAlgn="base" latinLnBrk="0" hangingPunct="0">
                        <a:lnSpc>
                          <a:spcPct val="100000"/>
                        </a:lnSpc>
                        <a:spcBef>
                          <a:spcPct val="0"/>
                        </a:spcBef>
                        <a:spcAft>
                          <a:spcPct val="10000"/>
                        </a:spcAft>
                        <a:buClrTx/>
                        <a:buSzPct val="60000"/>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O365 hosting platform standards &amp; guidelines</a:t>
                      </a:r>
                    </a:p>
                    <a:p>
                      <a:pPr marL="0" marR="0" lvl="0" indent="0" algn="l" defTabSz="947738" rtl="0" eaLnBrk="0" fontAlgn="base" latinLnBrk="0" hangingPunct="0">
                        <a:lnSpc>
                          <a:spcPct val="100000"/>
                        </a:lnSpc>
                        <a:spcBef>
                          <a:spcPct val="0"/>
                        </a:spcBef>
                        <a:spcAft>
                          <a:spcPct val="10000"/>
                        </a:spcAft>
                        <a:buClrTx/>
                        <a:buSzPct val="60000"/>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Taxonomy</a:t>
                      </a:r>
                    </a:p>
                    <a:p>
                      <a:pPr marL="0" marR="0" lvl="0" indent="0" algn="l" defTabSz="947738" rtl="0" eaLnBrk="0" fontAlgn="base" latinLnBrk="0" hangingPunct="0">
                        <a:lnSpc>
                          <a:spcPct val="100000"/>
                        </a:lnSpc>
                        <a:spcBef>
                          <a:spcPct val="0"/>
                        </a:spcBef>
                        <a:spcAft>
                          <a:spcPct val="10000"/>
                        </a:spcAft>
                        <a:buClrTx/>
                        <a:buSzPct val="60000"/>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Defined list of SharePoint capabilities to leverage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Pct val="60000"/>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If the Phase 1 project team continue (through using workarounds, assumptions, etc.) until these dependencies are delivered by the TF and SharePoint programs, there will need to be an additional significant effort factored into the plan to retrofit designs (and any associated build changes).</a:t>
                      </a:r>
                    </a:p>
                    <a:p>
                      <a:pPr marL="228600" marR="0" lvl="0" indent="-228600" algn="l" defTabSz="947738" rtl="0" eaLnBrk="0" fontAlgn="base" latinLnBrk="0" hangingPunct="0">
                        <a:lnSpc>
                          <a:spcPct val="100000"/>
                        </a:lnSpc>
                        <a:spcBef>
                          <a:spcPct val="0"/>
                        </a:spcBef>
                        <a:spcAft>
                          <a:spcPct val="10000"/>
                        </a:spcAft>
                        <a:buClrTx/>
                        <a:buSzPct val="60000"/>
                        <a:buFont typeface="Wingdings" pitchFamily="2" charset="2"/>
                        <a:buAutoNum type="arabicPeriod"/>
                        <a:tabLst/>
                        <a:defRPr/>
                      </a:pP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Pct val="60000"/>
                        <a:buFont typeface="Wingdings" pitchFamily="2" charset="2"/>
                        <a:buAutoNum type="arabicPeriod"/>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Rebaseline the Phase 1 project plan based on when the inbound dependencies will be delivered by the TF and SP workstreams.</a:t>
                      </a:r>
                    </a:p>
                    <a:p>
                      <a:pPr marL="228600" marR="0" lvl="0" indent="-228600" algn="l" defTabSz="947738" rtl="0" eaLnBrk="0" fontAlgn="base" latinLnBrk="0" hangingPunct="0">
                        <a:lnSpc>
                          <a:spcPct val="100000"/>
                        </a:lnSpc>
                        <a:spcBef>
                          <a:spcPct val="0"/>
                        </a:spcBef>
                        <a:spcAft>
                          <a:spcPct val="10000"/>
                        </a:spcAft>
                        <a:buClrTx/>
                        <a:buSzPct val="60000"/>
                        <a:buFont typeface="Wingdings" pitchFamily="2" charset="2"/>
                        <a:buAutoNum type="arabicPeriod"/>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Stand-down the MS team until when revised project plan suggests (otherwise project will process without knowledge of necessary standards and guidelines and will require rework- therefore regret or increased costs).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131457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R26</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R67</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A&amp;DM</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To re-platform large volumes of Lotus Notes applications into a new technology, the A&amp;DM Program will deliver in a factory approach driving consistency across the firm. </a:t>
                      </a:r>
                    </a:p>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The A&amp;DM Operating Model states how the factory will work with the existing IT Service Delivery teams and the business. </a:t>
                      </a:r>
                    </a:p>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Agreement has been reached on the A&amp;M Operating Model on most items other than who manages the requirements and design phases – the A&amp;DM Program or IT Service Delivery teams.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The benefits of a factory delivery approach cannot be leveraged if the IT Service Delivery teams manage the requirement and design phases. </a:t>
                      </a:r>
                    </a:p>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The Phase 1 project team are encountering resistance from some IT Service Delivery teams when performing the business requirements activities.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Until a decision is reached and communicated the A&amp;DM project team will continue to meet resistance as they progress through delivery which results in delays to the plan and a challenging working relationship.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eriod"/>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Escalate to Mo for a decision. </a:t>
                      </a:r>
                    </a:p>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eriod"/>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Communicate decision to all CBS, Markets and Cross-Org Leaders.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12192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R102</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A&amp;DM</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The Rediscovery team published the first of four reports (containing around 18k applications) to some of the IT Service Delivery teams on Monday 30</a:t>
                      </a:r>
                      <a:r>
                        <a:rPr kumimoji="0" lang="en-US" sz="700" b="0" i="0" u="none" strike="noStrike" kern="1200" cap="none" normalizeH="0" baseline="30000" dirty="0" smtClean="0">
                          <a:ln>
                            <a:noFill/>
                          </a:ln>
                          <a:solidFill>
                            <a:srgbClr val="000000"/>
                          </a:solidFill>
                          <a:effectLst/>
                          <a:latin typeface="EYInterstate Light" pitchFamily="2" charset="0"/>
                          <a:ea typeface="+mn-ea"/>
                          <a:cs typeface="+mn-cs"/>
                        </a:rPr>
                        <a:t>th</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Jan’12 for review/validation.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Some of the IT Service Delivery teams have flagged that they do not have the time or budget (charge code from A&amp;DM) to review/validate the report – their input is required to agree the future state for each application.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The A&amp;DM team will not have the required agreement to re-platform, decommission, archive, etc. applications. </a:t>
                      </a:r>
                    </a:p>
                    <a:p>
                      <a:pPr marL="228600" marR="0" lvl="0" indent="-2286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As a consequence, EY will not be able to realize the rebates from MS for decommissioning Lotus Notes applications.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eriod"/>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Agree priority at the CLT ref supporting the A&amp;DM Rediscovery team vs. other in-flight projects. </a:t>
                      </a:r>
                    </a:p>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eriod"/>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Agree direction at the CLT red where IT Service Delivery teams should book time spend supporting the A&amp;DM Program. </a:t>
                      </a:r>
                    </a:p>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eriod"/>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Communicate agreed decisions to all CBS, Markets and Cross-Org Leaders.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3" name="Rectangle 183"/>
          <p:cNvSpPr txBox="1">
            <a:spLocks noChangeArrowheads="1"/>
          </p:cNvSpPr>
          <p:nvPr/>
        </p:nvSpPr>
        <p:spPr bwMode="gray">
          <a:xfrm>
            <a:off x="2" y="0"/>
            <a:ext cx="7729904" cy="984885"/>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rPr>
              <a:t>6. Resource management</a:t>
            </a:r>
            <a:endParaRPr lang="en-US" sz="1600" b="1" kern="0" dirty="0" smtClean="0">
              <a:solidFill>
                <a:srgbClr val="646464"/>
              </a:solidFill>
              <a:latin typeface="EYInterstate"/>
            </a:endParaRPr>
          </a:p>
          <a:p>
            <a:pPr defTabSz="955675" eaLnBrk="0" hangingPunct="0">
              <a:spcAft>
                <a:spcPts val="0"/>
              </a:spcAft>
              <a:defRPr/>
            </a:pPr>
            <a:endParaRPr lang="en-US" sz="1400" b="1" kern="0" dirty="0" smtClean="0">
              <a:solidFill>
                <a:srgbClr val="646464"/>
              </a:solidFill>
              <a:latin typeface="EYInterstate"/>
            </a:endParaRPr>
          </a:p>
          <a:p>
            <a:pPr lvl="0" defTabSz="955675" eaLnBrk="0" hangingPunct="0">
              <a:spcAft>
                <a:spcPts val="0"/>
              </a:spcAft>
              <a:defRPr/>
            </a:pPr>
            <a:endParaRPr lang="en-US" sz="1400" kern="0" dirty="0" smtClean="0">
              <a:solidFill>
                <a:srgbClr val="646464"/>
              </a:solidFill>
            </a:endParaRPr>
          </a:p>
          <a:p>
            <a:pPr defTabSz="955675" eaLnBrk="0" hangingPunct="0">
              <a:spcAft>
                <a:spcPts val="0"/>
              </a:spcAft>
              <a:defRPr/>
            </a:pPr>
            <a:endParaRPr lang="en-US" sz="1400" kern="0" dirty="0">
              <a:solidFill>
                <a:srgbClr val="646464"/>
              </a:solidFill>
              <a:latin typeface="EYInterstate"/>
            </a:endParaRPr>
          </a:p>
        </p:txBody>
      </p:sp>
      <p:graphicFrame>
        <p:nvGraphicFramePr>
          <p:cNvPr id="4" name="Group 852"/>
          <p:cNvGraphicFramePr>
            <a:graphicFrameLocks noGrp="1"/>
          </p:cNvGraphicFramePr>
          <p:nvPr/>
        </p:nvGraphicFramePr>
        <p:xfrm>
          <a:off x="381000" y="3429000"/>
          <a:ext cx="8458200" cy="968816"/>
        </p:xfrm>
        <a:graphic>
          <a:graphicData uri="http://schemas.openxmlformats.org/drawingml/2006/table">
            <a:tbl>
              <a:tblPr/>
              <a:tblGrid>
                <a:gridCol w="8458200"/>
              </a:tblGrid>
              <a:tr h="176093">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EYInterstate" pitchFamily="2" charset="0"/>
                        </a:rPr>
                        <a:t>PMO Narrative</a:t>
                      </a:r>
                      <a:endParaRPr kumimoji="0" lang="en-US" sz="8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792723">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endParaRPr kumimoji="0" lang="en-US" sz="800" b="0" i="0" u="none" strike="noStrike" cap="none" normalizeH="0" baseline="0" dirty="0" smtClean="0">
                        <a:ln>
                          <a:noFill/>
                        </a:ln>
                        <a:solidFill>
                          <a:srgbClr val="000000"/>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000000"/>
                          </a:solidFill>
                          <a:effectLst/>
                          <a:latin typeface="EYInterstate Light" pitchFamily="2" charset="0"/>
                        </a:rPr>
                        <a:t>Target for new plans  to be published at beginning of March and potential changes to delivery strategy in some areas means resource gap is somewhat unclear. Resource gap reflected above is overstated due to need to move ADM portfolio migration dates out in resource request database. </a:t>
                      </a:r>
                    </a:p>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000000"/>
                          </a:solidFill>
                          <a:effectLst/>
                          <a:latin typeface="EYInterstate Light" pitchFamily="2" charset="0"/>
                        </a:rPr>
                        <a:t>Some progress has been made in clarifying the PM requirement on TF and a resourcing solution is under discussion.  Offers waiting to go out to 2 PMs and 2 BAs</a:t>
                      </a:r>
                    </a:p>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000000"/>
                          </a:solidFill>
                          <a:effectLst/>
                          <a:latin typeface="EYInterstate Light" pitchFamily="2" charset="0"/>
                        </a:rPr>
                        <a:t>Awaiting details of resource for Blueprint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0" name="Table 9"/>
          <p:cNvGraphicFramePr>
            <a:graphicFrameLocks noGrp="1"/>
          </p:cNvGraphicFramePr>
          <p:nvPr/>
        </p:nvGraphicFramePr>
        <p:xfrm>
          <a:off x="381000" y="4724400"/>
          <a:ext cx="8458199" cy="1575948"/>
        </p:xfrm>
        <a:graphic>
          <a:graphicData uri="http://schemas.openxmlformats.org/drawingml/2006/table">
            <a:tbl>
              <a:tblPr/>
              <a:tblGrid>
                <a:gridCol w="1094590"/>
                <a:gridCol w="1094590"/>
                <a:gridCol w="1094590"/>
                <a:gridCol w="5174429"/>
              </a:tblGrid>
              <a:tr h="185322">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gridSpan="2">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r>
              <a:tr h="20780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Program</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RAG</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cap="none" normalizeH="0" baseline="0" dirty="0" smtClean="0">
                          <a:ln>
                            <a:noFill/>
                          </a:ln>
                          <a:solidFill>
                            <a:srgbClr val="000000"/>
                          </a:solidFill>
                          <a:effectLst/>
                          <a:latin typeface="EYInterstate Light" pitchFamily="2" charset="0"/>
                        </a:rPr>
                        <a:t>Previous week RAG</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Commentary</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9267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err="1" smtClean="0">
                          <a:ln>
                            <a:noFill/>
                          </a:ln>
                          <a:solidFill>
                            <a:srgbClr val="000000"/>
                          </a:solidFill>
                          <a:effectLst/>
                          <a:latin typeface="EYInterstate Light" pitchFamily="2" charset="0"/>
                          <a:ea typeface="+mn-ea"/>
                          <a:cs typeface="+mn-cs"/>
                        </a:rPr>
                        <a:t>Sharepoint</a:t>
                      </a: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EYInterstate Light" pitchFamily="2" charset="0"/>
                        </a:rPr>
                        <a:t>RED</a:t>
                      </a:r>
                      <a:endParaRPr lang="en-GB" sz="700" dirty="0">
                        <a:solidFill>
                          <a:srgbClr val="000000"/>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Significant </a:t>
                      </a:r>
                      <a:r>
                        <a:rPr kumimoji="0" lang="en-US" sz="700" b="0" i="0" u="none" strike="noStrike" kern="1200" cap="none" normalizeH="0" baseline="0" dirty="0" err="1" smtClean="0">
                          <a:ln>
                            <a:noFill/>
                          </a:ln>
                          <a:solidFill>
                            <a:srgbClr val="000000"/>
                          </a:solidFill>
                          <a:effectLst/>
                          <a:latin typeface="EYInterstate Light" pitchFamily="2" charset="0"/>
                          <a:ea typeface="+mn-ea"/>
                          <a:cs typeface="+mn-cs"/>
                        </a:rPr>
                        <a:t>replanning</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means no accurate resource forecast currently available.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468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err="1" smtClean="0">
                          <a:ln>
                            <a:noFill/>
                          </a:ln>
                          <a:solidFill>
                            <a:srgbClr val="000000"/>
                          </a:solidFill>
                          <a:effectLst/>
                          <a:latin typeface="EYInterstate Light" pitchFamily="2" charset="0"/>
                          <a:ea typeface="+mn-ea"/>
                          <a:cs typeface="+mn-cs"/>
                        </a:rPr>
                        <a:t>App&amp;Data</a:t>
                      </a: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Need replacements for junior ITA resources in Rediscovery team.  Interviewing a large number of BA candidates. New PM Christian Driver starting Feb 20</a:t>
                      </a:r>
                      <a:r>
                        <a:rPr kumimoji="0" lang="en-US" sz="700" b="0" i="0" u="none" strike="noStrike" kern="1200" cap="none" normalizeH="0" baseline="30000" dirty="0" smtClean="0">
                          <a:ln>
                            <a:noFill/>
                          </a:ln>
                          <a:solidFill>
                            <a:srgbClr val="000000"/>
                          </a:solidFill>
                          <a:effectLst/>
                          <a:latin typeface="EYInterstate Light" pitchFamily="2" charset="0"/>
                          <a:ea typeface="+mn-ea"/>
                          <a:cs typeface="+mn-cs"/>
                        </a:rPr>
                        <a:t>th</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6842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Unified </a:t>
                      </a:r>
                      <a:r>
                        <a:rPr kumimoji="0" lang="en-US" sz="700" b="0" i="0" u="none" strike="noStrike" kern="1200" cap="none" normalizeH="0" baseline="0" dirty="0" err="1" smtClean="0">
                          <a:ln>
                            <a:noFill/>
                          </a:ln>
                          <a:solidFill>
                            <a:srgbClr val="000000"/>
                          </a:solidFill>
                          <a:effectLst/>
                          <a:latin typeface="EYInterstate Light" pitchFamily="2" charset="0"/>
                          <a:ea typeface="+mn-ea"/>
                          <a:cs typeface="+mn-cs"/>
                        </a:rPr>
                        <a:t>Comms</a:t>
                      </a: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700" dirty="0" smtClean="0">
                          <a:solidFill>
                            <a:srgbClr val="000000"/>
                          </a:solidFill>
                        </a:rPr>
                        <a:t>AMBER</a:t>
                      </a:r>
                      <a:endParaRPr lang="en-GB" sz="600" dirty="0">
                        <a:solidFill>
                          <a:srgbClr val="000000"/>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Need to </a:t>
                      </a:r>
                      <a:r>
                        <a:rPr kumimoji="0" lang="en-US" sz="700" b="0" i="0" u="none" strike="noStrike" kern="1200" cap="none" normalizeH="0" baseline="0" dirty="0" err="1" smtClean="0">
                          <a:ln>
                            <a:noFill/>
                          </a:ln>
                          <a:solidFill>
                            <a:srgbClr val="000000"/>
                          </a:solidFill>
                          <a:effectLst/>
                          <a:latin typeface="EYInterstate Light" pitchFamily="2" charset="0"/>
                          <a:ea typeface="+mn-ea"/>
                          <a:cs typeface="+mn-cs"/>
                        </a:rPr>
                        <a:t>replan</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but resource gap has reduced with new BA resources being recruited allowing us to roll off one BA contract resource. Transition still an issue which Nick Coburn and Mike </a:t>
                      </a:r>
                      <a:r>
                        <a:rPr kumimoji="0" lang="en-US" sz="700" b="0" i="0" u="none" strike="noStrike" kern="1200" cap="none" normalizeH="0" baseline="0" dirty="0" err="1" smtClean="0">
                          <a:ln>
                            <a:noFill/>
                          </a:ln>
                          <a:solidFill>
                            <a:srgbClr val="000000"/>
                          </a:solidFill>
                          <a:effectLst/>
                          <a:latin typeface="EYInterstate Light" pitchFamily="2" charset="0"/>
                          <a:ea typeface="+mn-ea"/>
                          <a:cs typeface="+mn-cs"/>
                        </a:rPr>
                        <a:t>Laci</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are addressing.</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524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Tech Foundation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EYInterstate Light" pitchFamily="2" charset="0"/>
                        </a:rPr>
                        <a:t>RED</a:t>
                      </a:r>
                      <a:endParaRPr lang="en-GB" sz="700" dirty="0">
                        <a:solidFill>
                          <a:srgbClr val="000000"/>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Proposed team structure under discussion. Contract BA </a:t>
                      </a:r>
                      <a:r>
                        <a:rPr kumimoji="0" lang="en-GB" sz="700" b="0" i="0" u="none" strike="noStrike" kern="1200" cap="none" normalizeH="0" baseline="0" dirty="0" err="1" smtClean="0">
                          <a:ln>
                            <a:noFill/>
                          </a:ln>
                          <a:solidFill>
                            <a:srgbClr val="000000"/>
                          </a:solidFill>
                          <a:effectLst/>
                          <a:latin typeface="EYInterstate Light" pitchFamily="2" charset="0"/>
                          <a:ea typeface="+mn-ea"/>
                          <a:cs typeface="+mn-cs"/>
                        </a:rPr>
                        <a:t>onboarded</a:t>
                      </a: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 this week to work with Paul </a:t>
                      </a:r>
                      <a:r>
                        <a:rPr kumimoji="0" lang="en-GB" sz="700" b="0" i="0" u="none" strike="noStrike" kern="1200" cap="none" normalizeH="0" baseline="0" dirty="0" err="1" smtClean="0">
                          <a:ln>
                            <a:noFill/>
                          </a:ln>
                          <a:solidFill>
                            <a:srgbClr val="000000"/>
                          </a:solidFill>
                          <a:effectLst/>
                          <a:latin typeface="EYInterstate Light" pitchFamily="2" charset="0"/>
                          <a:ea typeface="+mn-ea"/>
                          <a:cs typeface="+mn-cs"/>
                        </a:rPr>
                        <a:t>Neave</a:t>
                      </a:r>
                      <a:endParaRPr kumimoji="0" lang="en-GB"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Change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New resource plan shows smaller gap but does not include Blueprint. Awaiting details of Blueprint resources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4" name="Chart 13"/>
          <p:cNvGraphicFramePr/>
          <p:nvPr/>
        </p:nvGraphicFramePr>
        <p:xfrm>
          <a:off x="381000" y="53340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984885"/>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rPr>
              <a:t>7. Financial management</a:t>
            </a:r>
            <a:endParaRPr lang="en-US" sz="1600" b="1" kern="0" dirty="0" smtClean="0">
              <a:solidFill>
                <a:srgbClr val="646464"/>
              </a:solidFill>
              <a:latin typeface="EYInterstate"/>
            </a:endParaRPr>
          </a:p>
          <a:p>
            <a:pPr defTabSz="955675" eaLnBrk="0" hangingPunct="0">
              <a:spcAft>
                <a:spcPts val="0"/>
              </a:spcAft>
              <a:defRPr/>
            </a:pPr>
            <a:endParaRPr lang="en-US" sz="1400" b="1" kern="0" dirty="0" smtClean="0">
              <a:solidFill>
                <a:srgbClr val="646464"/>
              </a:solidFill>
              <a:latin typeface="EYInterstate"/>
            </a:endParaRPr>
          </a:p>
          <a:p>
            <a:pPr lvl="0" defTabSz="955675" eaLnBrk="0" hangingPunct="0">
              <a:spcAft>
                <a:spcPts val="0"/>
              </a:spcAft>
              <a:defRPr/>
            </a:pPr>
            <a:endParaRPr lang="en-US" sz="1400" kern="0" dirty="0" smtClean="0">
              <a:solidFill>
                <a:srgbClr val="646464"/>
              </a:solidFill>
            </a:endParaRPr>
          </a:p>
          <a:p>
            <a:pPr defTabSz="955675" eaLnBrk="0" hangingPunct="0">
              <a:spcAft>
                <a:spcPts val="0"/>
              </a:spcAft>
              <a:defRPr/>
            </a:pPr>
            <a:endParaRPr lang="en-US" sz="1400" kern="0" dirty="0">
              <a:solidFill>
                <a:srgbClr val="646464"/>
              </a:solidFill>
              <a:latin typeface="EYInterstate"/>
            </a:endParaRPr>
          </a:p>
        </p:txBody>
      </p:sp>
      <p:graphicFrame>
        <p:nvGraphicFramePr>
          <p:cNvPr id="24" name="Group 270"/>
          <p:cNvGraphicFramePr>
            <a:graphicFrameLocks noGrp="1"/>
          </p:cNvGraphicFramePr>
          <p:nvPr/>
        </p:nvGraphicFramePr>
        <p:xfrm>
          <a:off x="107506" y="4318465"/>
          <a:ext cx="3245295" cy="1015535"/>
        </p:xfrm>
        <a:graphic>
          <a:graphicData uri="http://schemas.openxmlformats.org/drawingml/2006/table">
            <a:tbl>
              <a:tblPr/>
              <a:tblGrid>
                <a:gridCol w="396647"/>
                <a:gridCol w="2848648"/>
              </a:tblGrid>
              <a:tr h="16569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kern="1200" cap="none" normalizeH="0" baseline="0" dirty="0" smtClean="0">
                        <a:ln>
                          <a:noFill/>
                        </a:ln>
                        <a:solidFill>
                          <a:schemeClr val="tx1"/>
                        </a:solidFill>
                        <a:effectLst/>
                        <a:latin typeface="EYInterstate"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61711">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lang="en-GB" sz="700" b="0" i="0" u="none" strike="noStrike" dirty="0" smtClean="0">
                          <a:solidFill>
                            <a:srgbClr val="000000"/>
                          </a:solidFill>
                          <a:latin typeface="EYInterstate Light"/>
                        </a:rPr>
                        <a:t>Estimate at Completion (EAC) exceeds +</a:t>
                      </a:r>
                      <a:r>
                        <a:rPr lang="en-GB" sz="700" b="0" i="0" u="none" strike="noStrike" baseline="0" dirty="0" smtClean="0">
                          <a:solidFill>
                            <a:srgbClr val="000000"/>
                          </a:solidFill>
                          <a:latin typeface="EYInterstate Light"/>
                        </a:rPr>
                        <a:t> </a:t>
                      </a:r>
                      <a:r>
                        <a:rPr lang="en-GB" sz="700" b="0" i="0" u="none" strike="noStrike" dirty="0" smtClean="0">
                          <a:solidFill>
                            <a:srgbClr val="000000"/>
                          </a:solidFill>
                          <a:latin typeface="EYInterstate Light"/>
                        </a:rPr>
                        <a:t>10% or $100,000 of approved spend (budget + approved change requests) and/or pending spend or no project budget defined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61711">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lang="en-GB" sz="700" b="0" i="0" u="none" strike="noStrike" dirty="0" smtClean="0">
                          <a:solidFill>
                            <a:srgbClr val="000000"/>
                          </a:solidFill>
                          <a:latin typeface="EYInterstate Light"/>
                        </a:rPr>
                        <a:t>Estimate at Completion (EAC) = + 6 - 10% of approved spend (budget + approved change request) and/or pending spend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0890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lang="en-GB" sz="700" b="0" i="0" u="none" strike="noStrike" dirty="0" smtClean="0">
                          <a:solidFill>
                            <a:srgbClr val="000000"/>
                          </a:solidFill>
                          <a:latin typeface="EYInterstate Light"/>
                        </a:rPr>
                        <a:t>Estimate at Completion (EAC) = + 0 - 5% of approved spend (budget + approved change requests)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07506" y="694538"/>
          <a:ext cx="7452769" cy="2609941"/>
        </p:xfrm>
        <a:graphic>
          <a:graphicData uri="http://schemas.openxmlformats.org/drawingml/2006/table">
            <a:tbl>
              <a:tblPr/>
              <a:tblGrid>
                <a:gridCol w="787874"/>
                <a:gridCol w="787874"/>
                <a:gridCol w="716251"/>
                <a:gridCol w="716251"/>
                <a:gridCol w="787874"/>
                <a:gridCol w="716251"/>
                <a:gridCol w="927354"/>
                <a:gridCol w="1006520"/>
                <a:gridCol w="1006520"/>
              </a:tblGrid>
              <a:tr h="155275">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gridSpan="8">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BUDGET </a:t>
                      </a:r>
                      <a:r>
                        <a:rPr kumimoji="0" lang="en-US" sz="700" b="1" i="0" u="none" strike="noStrike" kern="1200" cap="none" normalizeH="0" baseline="0" dirty="0">
                          <a:ln>
                            <a:noFill/>
                          </a:ln>
                          <a:solidFill>
                            <a:schemeClr val="tx1"/>
                          </a:solidFill>
                          <a:effectLst/>
                          <a:latin typeface="EYInterstate" pitchFamily="2" charset="0"/>
                          <a:ea typeface="+mn-ea"/>
                          <a:cs typeface="+mn-cs"/>
                        </a:rPr>
                        <a:t>– </a:t>
                      </a:r>
                      <a:r>
                        <a:rPr kumimoji="0" lang="en-US" sz="700" b="1" i="0" u="none" strike="noStrike" kern="1200" cap="none" normalizeH="0" baseline="0" dirty="0" smtClean="0">
                          <a:ln>
                            <a:noFill/>
                          </a:ln>
                          <a:solidFill>
                            <a:schemeClr val="tx1"/>
                          </a:solidFill>
                          <a:effectLst/>
                          <a:latin typeface="EYInterstate" pitchFamily="2" charset="0"/>
                          <a:ea typeface="+mn-ea"/>
                          <a:cs typeface="+mn-cs"/>
                        </a:rPr>
                        <a:t>($M) (as on 03</a:t>
                      </a:r>
                      <a:r>
                        <a:rPr kumimoji="0" lang="en-US" sz="700" b="1" i="0" u="none" strike="noStrike" kern="1200" cap="none" normalizeH="0" baseline="30000" dirty="0" smtClean="0">
                          <a:ln>
                            <a:noFill/>
                          </a:ln>
                          <a:solidFill>
                            <a:schemeClr val="tx1"/>
                          </a:solidFill>
                          <a:effectLst/>
                          <a:latin typeface="EYInterstate" pitchFamily="2" charset="0"/>
                          <a:ea typeface="+mn-ea"/>
                          <a:cs typeface="+mn-cs"/>
                        </a:rPr>
                        <a:t>rd</a:t>
                      </a:r>
                      <a:r>
                        <a:rPr kumimoji="0" lang="en-US" sz="700" b="1" i="0" u="none" strike="noStrike" kern="1200" cap="none" normalizeH="0" baseline="0" dirty="0" smtClean="0">
                          <a:ln>
                            <a:noFill/>
                          </a:ln>
                          <a:solidFill>
                            <a:schemeClr val="tx1"/>
                          </a:solidFill>
                          <a:effectLst/>
                          <a:latin typeface="EYInterstate" pitchFamily="2" charset="0"/>
                          <a:ea typeface="+mn-ea"/>
                          <a:cs typeface="+mn-cs"/>
                        </a:rPr>
                        <a:t> February 2012)</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endParaRPr kumimoji="0" lang="en-US" sz="700" b="0" i="0" u="none" strike="noStrike" cap="none" normalizeH="0" baseline="0" dirty="0" smtClean="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75000"/>
                      </a:schemeClr>
                    </a:solidFill>
                  </a:tcPr>
                </a:tc>
              </a:tr>
              <a:tr h="18000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Program</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rgbClr val="000000"/>
                          </a:solidFill>
                          <a:effectLst/>
                          <a:latin typeface="EYInterstate Light" pitchFamily="2" charset="0"/>
                        </a:rPr>
                        <a:t>Business </a:t>
                      </a:r>
                      <a:r>
                        <a:rPr kumimoji="0" lang="en-US" sz="700" b="1" i="0" u="none" strike="noStrike" cap="none" normalizeH="0" baseline="0" dirty="0" smtClean="0">
                          <a:ln>
                            <a:noFill/>
                          </a:ln>
                          <a:solidFill>
                            <a:srgbClr val="000000"/>
                          </a:solidFill>
                          <a:effectLst/>
                          <a:latin typeface="EYInterstate Light" pitchFamily="2" charset="0"/>
                        </a:rPr>
                        <a:t>Case Budget</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Project Charter Budget </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PMP Budget   (baseline)</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Current Budget (Baseline + </a:t>
                      </a:r>
                      <a:r>
                        <a:rPr kumimoji="0" lang="en-US" sz="700" b="1" i="0" u="none" strike="noStrike" cap="none" normalizeH="0" baseline="0" dirty="0">
                          <a:ln>
                            <a:noFill/>
                          </a:ln>
                          <a:solidFill>
                            <a:srgbClr val="000000"/>
                          </a:solidFill>
                          <a:effectLst/>
                          <a:latin typeface="EYInterstate Light" pitchFamily="2" charset="0"/>
                        </a:rPr>
                        <a:t>Approve CR’s) (1)</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rgbClr val="000000"/>
                          </a:solidFill>
                          <a:effectLst/>
                          <a:latin typeface="EYInterstate Light" pitchFamily="2" charset="0"/>
                        </a:rPr>
                        <a:t>Spend to Date (2)</a:t>
                      </a:r>
                    </a:p>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err="1" smtClean="0">
                          <a:ln>
                            <a:noFill/>
                          </a:ln>
                          <a:solidFill>
                            <a:srgbClr val="000000"/>
                          </a:solidFill>
                          <a:effectLst/>
                          <a:latin typeface="EYInterstate Light" pitchFamily="2" charset="0"/>
                        </a:rPr>
                        <a:t>ResPlan</a:t>
                      </a:r>
                      <a:r>
                        <a:rPr kumimoji="0" lang="en-US" sz="700" b="1" i="0" u="none" strike="noStrike" cap="none" normalizeH="0" baseline="0" dirty="0" smtClean="0">
                          <a:ln>
                            <a:noFill/>
                          </a:ln>
                          <a:solidFill>
                            <a:srgbClr val="000000"/>
                          </a:solidFill>
                          <a:effectLst/>
                          <a:latin typeface="EYInterstate Light" pitchFamily="2" charset="0"/>
                        </a:rPr>
                        <a:t> ETC/ Target ETC</a:t>
                      </a:r>
                      <a:endParaRPr kumimoji="0" lang="en-US" sz="700" b="1" i="0" u="none" strike="noStrike" cap="none" normalizeH="0" baseline="0" dirty="0">
                        <a:ln>
                          <a:noFill/>
                        </a:ln>
                        <a:solidFill>
                          <a:srgbClr val="000000"/>
                        </a:solidFill>
                        <a:effectLst/>
                        <a:latin typeface="EYInterstate Light" pitchFamily="2" charset="0"/>
                      </a:endParaRPr>
                    </a:p>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rgbClr val="000000"/>
                          </a:solidFill>
                          <a:effectLst/>
                          <a:latin typeface="EYInterstate Light" pitchFamily="2" charset="0"/>
                        </a:rPr>
                        <a:t>(3)</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rgbClr val="000000"/>
                          </a:solidFill>
                          <a:effectLst/>
                          <a:latin typeface="EYInterstate Light" pitchFamily="2" charset="0"/>
                        </a:rPr>
                        <a:t>Variance</a:t>
                      </a:r>
                    </a:p>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rgbClr val="000000"/>
                          </a:solidFill>
                          <a:effectLst/>
                          <a:latin typeface="EYInterstate Light" pitchFamily="2" charset="0"/>
                        </a:rPr>
                        <a:t> (2+3</a:t>
                      </a:r>
                      <a:r>
                        <a:rPr kumimoji="0" lang="en-US" sz="700" b="1" i="0" u="none" strike="noStrike" cap="none" normalizeH="0" baseline="0" dirty="0">
                          <a:ln>
                            <a:noFill/>
                          </a:ln>
                          <a:solidFill>
                            <a:srgbClr val="000000"/>
                          </a:solidFill>
                          <a:effectLst/>
                          <a:latin typeface="EYInterstate Light" pitchFamily="2" charset="0"/>
                        </a:rPr>
                        <a:t>) </a:t>
                      </a:r>
                      <a:r>
                        <a:rPr kumimoji="0" lang="en-US" sz="700" b="1" i="0" u="none" strike="noStrike" cap="none" normalizeH="0" baseline="0" dirty="0" smtClean="0">
                          <a:ln>
                            <a:noFill/>
                          </a:ln>
                          <a:solidFill>
                            <a:srgbClr val="000000"/>
                          </a:solidFill>
                          <a:effectLst/>
                          <a:latin typeface="EYInterstate Light" pitchFamily="2" charset="0"/>
                        </a:rPr>
                        <a:t> - 1</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rgbClr val="000000"/>
                          </a:solidFill>
                          <a:effectLst/>
                          <a:latin typeface="EYInterstate Light" pitchFamily="2" charset="0"/>
                        </a:rPr>
                        <a:t>RAG</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20101">
                <a:tc>
                  <a:txBody>
                    <a:bodyPr/>
                    <a:lstStyle/>
                    <a:p>
                      <a:pPr algn="ctr" rtl="0" fontAlgn="ctr"/>
                      <a:r>
                        <a:rPr lang="en-GB" sz="700" b="0" i="0" u="none" strike="noStrike" dirty="0" smtClean="0">
                          <a:solidFill>
                            <a:srgbClr val="000000"/>
                          </a:solidFill>
                          <a:latin typeface="EYInterstate Light"/>
                        </a:rPr>
                        <a:t>Sharepoint / </a:t>
                      </a:r>
                      <a:r>
                        <a:rPr lang="en-GB" sz="700" b="0" i="0" u="none" strike="noStrike" dirty="0">
                          <a:solidFill>
                            <a:srgbClr val="000000"/>
                          </a:solidFill>
                          <a:latin typeface="EYInterstate Light"/>
                        </a:rPr>
                        <a:t>Fusion</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GB" sz="700" b="0" i="0" u="none" strike="noStrike" dirty="0">
                          <a:solidFill>
                            <a:srgbClr val="000000"/>
                          </a:solidFill>
                          <a:latin typeface="EYInterstate Light" pitchFamily="2" charset="0"/>
                        </a:rPr>
                        <a:t>18.4</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11.7</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7.7</a:t>
                      </a:r>
                    </a:p>
                  </a:txBody>
                  <a:tcPr marL="0" marR="0" marT="0"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12.2</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8.2</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fontAlgn="b"/>
                      <a:r>
                        <a:rPr lang="en-GB" sz="700" b="0" i="0" u="none" strike="noStrike" dirty="0" smtClean="0">
                          <a:solidFill>
                            <a:srgbClr val="000000"/>
                          </a:solidFill>
                          <a:latin typeface="Arial"/>
                        </a:rPr>
                        <a:t>RED</a:t>
                      </a:r>
                      <a:endParaRPr lang="en-GB" sz="700" b="0" i="0" u="none" strike="noStrike" dirty="0">
                        <a:solidFill>
                          <a:srgbClr val="000000"/>
                        </a:solidFill>
                        <a:latin typeface="Arial"/>
                      </a:endParaRPr>
                    </a:p>
                  </a:txBody>
                  <a:tcPr marL="0" marR="0" marT="0"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70754">
                <a:tc>
                  <a:txBody>
                    <a:bodyPr/>
                    <a:lstStyle/>
                    <a:p>
                      <a:pPr algn="ctr" rtl="0" fontAlgn="ctr"/>
                      <a:r>
                        <a:rPr lang="en-GB" sz="700" b="0" i="0" u="none" strike="noStrike">
                          <a:solidFill>
                            <a:srgbClr val="000000"/>
                          </a:solidFill>
                          <a:latin typeface="EYInterstate Light"/>
                        </a:rPr>
                        <a:t>Apps &amp; Data Migration</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GB" sz="700" b="0" i="0" u="none" strike="noStrike" dirty="0">
                          <a:solidFill>
                            <a:srgbClr val="000000"/>
                          </a:solidFill>
                          <a:latin typeface="EYInterstate Light" pitchFamily="2" charset="0"/>
                        </a:rPr>
                        <a:t>10.1</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5.5</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1.6</a:t>
                      </a:r>
                    </a:p>
                  </a:txBody>
                  <a:tcPr marL="0" marR="0" marT="0"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4.0</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0.1</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fontAlgn="b"/>
                      <a:r>
                        <a:rPr lang="en-GB" sz="700" b="0" i="0" u="none" strike="noStrike" dirty="0" smtClean="0">
                          <a:solidFill>
                            <a:srgbClr val="000000"/>
                          </a:solidFill>
                          <a:latin typeface="Arial"/>
                        </a:rPr>
                        <a:t>AMBER</a:t>
                      </a:r>
                      <a:endParaRPr lang="en-GB" sz="700" b="0" i="0" u="none" strike="noStrike" dirty="0">
                        <a:solidFill>
                          <a:srgbClr val="000000"/>
                        </a:solidFill>
                        <a:latin typeface="Arial"/>
                      </a:endParaRPr>
                    </a:p>
                  </a:txBody>
                  <a:tcPr marL="0" marR="0" marT="0"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70754">
                <a:tc>
                  <a:txBody>
                    <a:bodyPr/>
                    <a:lstStyle/>
                    <a:p>
                      <a:pPr algn="ctr" rtl="0" fontAlgn="ctr"/>
                      <a:r>
                        <a:rPr lang="en-GB" sz="700" b="0" i="0" u="none" strike="noStrike">
                          <a:solidFill>
                            <a:srgbClr val="000000"/>
                          </a:solidFill>
                          <a:latin typeface="EYInterstate Light"/>
                        </a:rPr>
                        <a:t>Tech Foundation</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GB" sz="700" b="0" i="0" u="none" strike="noStrike" dirty="0">
                          <a:solidFill>
                            <a:srgbClr val="000000"/>
                          </a:solidFill>
                          <a:latin typeface="EYInterstate Light" pitchFamily="2" charset="0"/>
                        </a:rPr>
                        <a:t>4.5</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7.6</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2.6</a:t>
                      </a:r>
                    </a:p>
                  </a:txBody>
                  <a:tcPr marL="0" marR="0" marT="0"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6.0</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1</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fontAlgn="b"/>
                      <a:r>
                        <a:rPr lang="en-GB" sz="700" b="0" i="0" u="none" strike="noStrike" dirty="0" smtClean="0">
                          <a:solidFill>
                            <a:srgbClr val="000000"/>
                          </a:solidFill>
                          <a:latin typeface="Arial"/>
                        </a:rPr>
                        <a:t>RED</a:t>
                      </a:r>
                      <a:endParaRPr lang="en-GB" sz="700" b="0" i="0" u="none" strike="noStrike" dirty="0">
                        <a:solidFill>
                          <a:srgbClr val="000000"/>
                        </a:solidFill>
                        <a:latin typeface="Arial"/>
                      </a:endParaRPr>
                    </a:p>
                  </a:txBody>
                  <a:tcPr marL="0" marR="0" marT="0"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70754">
                <a:tc>
                  <a:txBody>
                    <a:bodyPr/>
                    <a:lstStyle/>
                    <a:p>
                      <a:pPr algn="ctr" rtl="0" fontAlgn="ctr"/>
                      <a:r>
                        <a:rPr lang="en-GB" sz="700" b="0" i="0" u="none" strike="noStrike" dirty="0">
                          <a:solidFill>
                            <a:srgbClr val="000000"/>
                          </a:solidFill>
                          <a:latin typeface="EYInterstate Light"/>
                        </a:rPr>
                        <a:t>Unified </a:t>
                      </a:r>
                      <a:r>
                        <a:rPr lang="en-GB" sz="700" b="0" i="0" u="none" strike="noStrike" dirty="0" err="1">
                          <a:solidFill>
                            <a:srgbClr val="000000"/>
                          </a:solidFill>
                          <a:latin typeface="EYInterstate Light"/>
                        </a:rPr>
                        <a:t>Comms</a:t>
                      </a:r>
                      <a:r>
                        <a:rPr lang="en-GB" sz="700" b="0" i="0" u="none" strike="noStrike" dirty="0">
                          <a:solidFill>
                            <a:srgbClr val="000000"/>
                          </a:solidFill>
                          <a:latin typeface="EYInterstate Light"/>
                        </a:rPr>
                        <a:t> </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GB" sz="700" b="0" i="0" u="none" strike="noStrike" dirty="0">
                          <a:solidFill>
                            <a:srgbClr val="000000"/>
                          </a:solidFill>
                          <a:latin typeface="EYInterstate Light" pitchFamily="2" charset="0"/>
                        </a:rPr>
                        <a:t>5</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3.9</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1.3</a:t>
                      </a:r>
                    </a:p>
                  </a:txBody>
                  <a:tcPr marL="0" marR="0" marT="0"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2.6</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0</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fontAlgn="b"/>
                      <a:r>
                        <a:rPr lang="en-GB" sz="700" b="0" i="0" u="none" strike="noStrike" dirty="0" smtClean="0">
                          <a:solidFill>
                            <a:srgbClr val="000000"/>
                          </a:solidFill>
                          <a:latin typeface="Arial"/>
                        </a:rPr>
                        <a:t>GREEN</a:t>
                      </a:r>
                      <a:endParaRPr lang="en-GB" sz="700" b="0" i="0" u="none" strike="noStrike" dirty="0">
                        <a:solidFill>
                          <a:srgbClr val="000000"/>
                        </a:solidFill>
                        <a:latin typeface="Arial"/>
                      </a:endParaRPr>
                    </a:p>
                  </a:txBody>
                  <a:tcPr marL="0" marR="0" marT="0"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70754">
                <a:tc>
                  <a:txBody>
                    <a:bodyPr/>
                    <a:lstStyle/>
                    <a:p>
                      <a:pPr algn="ctr" rtl="0" fontAlgn="ctr"/>
                      <a:r>
                        <a:rPr lang="en-GB" sz="700" b="0" i="0" u="none" strike="noStrike">
                          <a:solidFill>
                            <a:srgbClr val="000000"/>
                          </a:solidFill>
                          <a:latin typeface="EYInterstate Light"/>
                        </a:rPr>
                        <a:t>Change Management</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GB" sz="700" b="0" i="0" u="none" strike="noStrike" dirty="0">
                          <a:solidFill>
                            <a:srgbClr val="000000"/>
                          </a:solidFill>
                          <a:latin typeface="EYInterstate Light" pitchFamily="2" charset="0"/>
                        </a:rPr>
                        <a:t>8</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3.4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1.1</a:t>
                      </a:r>
                    </a:p>
                  </a:txBody>
                  <a:tcPr marL="0" marR="0" marT="0"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2.3</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0</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algn="ctr" fontAlgn="b"/>
                      <a:r>
                        <a:rPr lang="en-GB" sz="700" b="0" i="0" u="none" strike="noStrike" dirty="0" smtClean="0">
                          <a:solidFill>
                            <a:srgbClr val="000000"/>
                          </a:solidFill>
                          <a:latin typeface="Arial"/>
                        </a:rPr>
                        <a:t>GREEN</a:t>
                      </a:r>
                      <a:endParaRPr lang="en-GB" sz="700" b="0" i="0" u="none" strike="noStrike" dirty="0">
                        <a:solidFill>
                          <a:srgbClr val="000000"/>
                        </a:solidFill>
                        <a:latin typeface="Arial"/>
                      </a:endParaRPr>
                    </a:p>
                  </a:txBody>
                  <a:tcPr marL="0" marR="0" marT="0"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70754">
                <a:tc>
                  <a:txBody>
                    <a:bodyPr/>
                    <a:lstStyle/>
                    <a:p>
                      <a:pPr algn="ctr" rtl="0" fontAlgn="ctr"/>
                      <a:r>
                        <a:rPr lang="en-GB" sz="700" b="0" i="0" u="none" strike="noStrike" dirty="0" smtClean="0">
                          <a:solidFill>
                            <a:srgbClr val="000000"/>
                          </a:solidFill>
                          <a:latin typeface="EYInterstate Light"/>
                        </a:rPr>
                        <a:t>MS PMO</a:t>
                      </a:r>
                      <a:endParaRPr lang="en-GB" sz="700" b="0" i="0" u="none" strike="noStrike" dirty="0">
                        <a:solidFill>
                          <a:srgbClr val="000000"/>
                        </a:solidFill>
                        <a:latin typeface="EYInterstate Light"/>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GB" sz="700" b="0" i="0" u="none" strike="noStrike" dirty="0">
                          <a:solidFill>
                            <a:srgbClr val="000000"/>
                          </a:solidFill>
                          <a:latin typeface="EYInterstate Light" pitchFamily="2" charset="0"/>
                        </a:rPr>
                        <a:t>0</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1.3</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1.7</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0</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r>
              <a:tr h="17075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Total Adjustments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GB" sz="700" b="0" i="0" u="none" strike="noStrike" dirty="0">
                          <a:solidFill>
                            <a:srgbClr val="000000"/>
                          </a:solidFill>
                          <a:latin typeface="EYInterstate Light" pitchFamily="2" charset="0"/>
                        </a:rPr>
                        <a:t>-</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0.7</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0.8</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0</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GB"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r>
              <a:tr h="19189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Approved CRs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ctr"/>
                      <a:endParaRPr lang="en-GB" sz="700" b="0" i="0" u="none" strike="noStrike" dirty="0">
                        <a:solidFill>
                          <a:srgbClr val="000000"/>
                        </a:solidFill>
                        <a:latin typeface="EYInterstate Light" pitchFamily="2" charset="0"/>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endParaRPr lang="en-GB" sz="700" b="0" i="0" u="none" strike="noStrike" kern="1200" dirty="0" smtClean="0">
                        <a:solidFill>
                          <a:srgbClr val="000000"/>
                        </a:solidFill>
                        <a:latin typeface="EYInterstate Light" pitchFamily="2" charset="0"/>
                        <a:ea typeface="+mn-ea"/>
                        <a:cs typeface="+mn-cs"/>
                      </a:endParaRP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endParaRPr lang="en-GB" sz="700" b="0" i="0" u="none" strike="noStrike" kern="1200" dirty="0" smtClean="0">
                        <a:solidFill>
                          <a:srgbClr val="000000"/>
                        </a:solidFill>
                        <a:latin typeface="EYInterstate Light" pitchFamily="2" charset="0"/>
                        <a:ea typeface="+mn-ea"/>
                        <a:cs typeface="+mn-cs"/>
                      </a:endParaRP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GB"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r>
              <a:tr h="17075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Contingency</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rtl="0" fontAlgn="ctr"/>
                      <a:endParaRPr lang="en-GB" sz="700" b="0" i="0" u="none" strike="noStrike" dirty="0">
                        <a:solidFill>
                          <a:srgbClr val="000000"/>
                        </a:solidFill>
                        <a:latin typeface="EYInterstate Light" pitchFamily="2" charset="0"/>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endParaRPr lang="en-GB" sz="700" b="0" i="0" u="none" strike="noStrike" kern="1200" dirty="0" smtClean="0">
                        <a:solidFill>
                          <a:srgbClr val="000000"/>
                        </a:solidFill>
                        <a:latin typeface="EYInterstate Light" pitchFamily="2" charset="0"/>
                        <a:ea typeface="+mn-ea"/>
                        <a:cs typeface="+mn-cs"/>
                      </a:endParaRP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ctr" defTabSz="914400" rtl="0" eaLnBrk="1" fontAlgn="b" latinLnBrk="0" hangingPunct="1"/>
                      <a:r>
                        <a:rPr lang="en-GB" sz="700" b="0" i="0" u="none" strike="noStrike" kern="1200" dirty="0" smtClean="0">
                          <a:solidFill>
                            <a:srgbClr val="000000"/>
                          </a:solidFill>
                          <a:latin typeface="EYInterstate Light" pitchFamily="2" charset="0"/>
                          <a:ea typeface="+mn-ea"/>
                          <a:cs typeface="+mn-cs"/>
                        </a:rPr>
                        <a:t>3</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0</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r>
              <a:tr h="238125">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M&amp;C (FY12 only)</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46</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38.7</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16.3</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31.8</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GB" sz="700" b="0" i="0" u="none" strike="noStrike" kern="1200" cap="none" normalizeH="0" baseline="0" dirty="0" smtClean="0">
                          <a:ln>
                            <a:noFill/>
                          </a:ln>
                          <a:solidFill>
                            <a:srgbClr val="000000"/>
                          </a:solidFill>
                          <a:effectLst/>
                          <a:latin typeface="EYInterstate Light" pitchFamily="2" charset="0"/>
                          <a:ea typeface="+mn-ea"/>
                          <a:cs typeface="+mn-cs"/>
                        </a:rPr>
                        <a:t>9.4</a:t>
                      </a:r>
                    </a:p>
                  </a:txBody>
                  <a:tcPr marL="9525" marR="9525" marT="9525" marB="0" anchor="b">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RED</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7" name="Group 270"/>
          <p:cNvGraphicFramePr>
            <a:graphicFrameLocks noGrp="1"/>
          </p:cNvGraphicFramePr>
          <p:nvPr/>
        </p:nvGraphicFramePr>
        <p:xfrm>
          <a:off x="97466" y="3436788"/>
          <a:ext cx="5562600" cy="480131"/>
        </p:xfrm>
        <a:graphic>
          <a:graphicData uri="http://schemas.openxmlformats.org/drawingml/2006/table">
            <a:tbl>
              <a:tblPr/>
              <a:tblGrid>
                <a:gridCol w="826872"/>
                <a:gridCol w="826872"/>
                <a:gridCol w="826872"/>
                <a:gridCol w="751704"/>
                <a:gridCol w="751704"/>
                <a:gridCol w="826872"/>
                <a:gridCol w="751704"/>
              </a:tblGrid>
              <a:tr h="155275">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 ACT </a:t>
                      </a:r>
                      <a:r>
                        <a:rPr kumimoji="0" lang="en-US" sz="700" b="1" i="0" u="none" strike="noStrike" kern="1200" cap="none" normalizeH="0" baseline="0" dirty="0">
                          <a:ln>
                            <a:noFill/>
                          </a:ln>
                          <a:solidFill>
                            <a:schemeClr val="tx1"/>
                          </a:solidFill>
                          <a:effectLst/>
                          <a:latin typeface="EYInterstate" pitchFamily="2" charset="0"/>
                          <a:ea typeface="+mn-ea"/>
                          <a:cs typeface="+mn-cs"/>
                        </a:rPr>
                        <a:t>– </a:t>
                      </a:r>
                      <a:r>
                        <a:rPr kumimoji="0" lang="en-US" sz="700" b="1" i="0" u="none" strike="noStrike" kern="1200" cap="none" normalizeH="0" baseline="0" dirty="0" smtClean="0">
                          <a:ln>
                            <a:noFill/>
                          </a:ln>
                          <a:solidFill>
                            <a:schemeClr val="tx1"/>
                          </a:solidFill>
                          <a:effectLst/>
                          <a:latin typeface="EYInterstate" pitchFamily="2" charset="0"/>
                          <a:ea typeface="+mn-ea"/>
                          <a:cs typeface="+mn-cs"/>
                        </a:rPr>
                        <a:t>($) (SPEND TO DATE IS FROM WIPs REPORT) - This Variance is what we want to achieve for FY12</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49525">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Program</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FY12 ACT</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FY11 ACT</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FY 11 Spend</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FY13 ACT</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FY14 ACT</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Total ACT</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75331">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M&amp;C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46,000k</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2,296k</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TBD</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42,790k</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9,000k</a:t>
                      </a:r>
                      <a:endParaRPr kumimoji="0" lang="en-US" sz="700" b="0" i="0" u="none" strike="noStrike" kern="1200" cap="none" normalizeH="0" baseline="0" dirty="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000000"/>
                          </a:solidFill>
                          <a:effectLst/>
                          <a:latin typeface="EYInterstate Light" pitchFamily="2" charset="0"/>
                        </a:rPr>
                        <a:t>100,086k</a:t>
                      </a:r>
                      <a:endParaRPr kumimoji="0" lang="en-US" sz="700" b="0"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9" name="Group 270"/>
          <p:cNvGraphicFramePr>
            <a:graphicFrameLocks noGrp="1"/>
          </p:cNvGraphicFramePr>
          <p:nvPr/>
        </p:nvGraphicFramePr>
        <p:xfrm>
          <a:off x="3505200" y="4318465"/>
          <a:ext cx="5472608" cy="1006027"/>
        </p:xfrm>
        <a:graphic>
          <a:graphicData uri="http://schemas.openxmlformats.org/drawingml/2006/table">
            <a:tbl>
              <a:tblPr/>
              <a:tblGrid>
                <a:gridCol w="5472608"/>
              </a:tblGrid>
              <a:tr h="193867">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rgbClr val="FF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08907">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lang="en-GB" sz="700" b="0" i="0" u="none" strike="noStrike" dirty="0" smtClean="0">
                          <a:solidFill>
                            <a:srgbClr val="000000"/>
                          </a:solidFill>
                          <a:latin typeface="EYInterstate Light"/>
                        </a:rPr>
                        <a:t>This information</a:t>
                      </a:r>
                      <a:r>
                        <a:rPr lang="en-GB" sz="700" b="0" i="0" u="none" strike="noStrike" baseline="0" dirty="0" smtClean="0">
                          <a:solidFill>
                            <a:srgbClr val="000000"/>
                          </a:solidFill>
                          <a:latin typeface="EYInterstate Light"/>
                        </a:rPr>
                        <a:t> </a:t>
                      </a:r>
                      <a:r>
                        <a:rPr lang="en-GB" sz="700" b="0" i="0" u="none" strike="noStrike" dirty="0" smtClean="0">
                          <a:solidFill>
                            <a:srgbClr val="000000"/>
                          </a:solidFill>
                          <a:latin typeface="EYInterstate Light"/>
                        </a:rPr>
                        <a:t>is based on the individual </a:t>
                      </a:r>
                      <a:r>
                        <a:rPr lang="en-GB" sz="700" b="0" i="0" u="none" strike="noStrike" dirty="0" err="1" smtClean="0">
                          <a:solidFill>
                            <a:srgbClr val="000000"/>
                          </a:solidFill>
                          <a:latin typeface="EYInterstate Light"/>
                        </a:rPr>
                        <a:t>workstream</a:t>
                      </a:r>
                      <a:r>
                        <a:rPr lang="en-GB" sz="700" b="0" i="0" u="none" strike="noStrike" dirty="0" smtClean="0">
                          <a:solidFill>
                            <a:srgbClr val="000000"/>
                          </a:solidFill>
                          <a:latin typeface="EYInterstate Light"/>
                        </a:rPr>
                        <a:t> resource plans and includes anticipated travel expenses, Microsoft estimates and contractor expenses. The actual to date includes specific provisions for uncharged support costs and Microsoft expenses which have yet to be charged by Microsoft.</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08907">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lang="en-GB" sz="700" b="0" i="0" u="none" strike="noStrike" dirty="0" smtClean="0">
                          <a:solidFill>
                            <a:srgbClr val="000000"/>
                          </a:solidFill>
                          <a:latin typeface="EYInterstate Light"/>
                        </a:rPr>
                        <a:t>The</a:t>
                      </a:r>
                      <a:r>
                        <a:rPr lang="en-GB" sz="700" b="0" i="0" u="none" strike="noStrike" baseline="0" dirty="0" smtClean="0">
                          <a:solidFill>
                            <a:srgbClr val="000000"/>
                          </a:solidFill>
                          <a:latin typeface="EYInterstate Light"/>
                        </a:rPr>
                        <a:t> above information is for FY12. </a:t>
                      </a:r>
                      <a:r>
                        <a:rPr lang="en-GB" sz="700" b="0" i="0" u="none" strike="noStrike" baseline="0" dirty="0" err="1" smtClean="0">
                          <a:solidFill>
                            <a:srgbClr val="000000"/>
                          </a:solidFill>
                          <a:latin typeface="EYInterstate Light"/>
                        </a:rPr>
                        <a:t>Reforecasting</a:t>
                      </a:r>
                      <a:r>
                        <a:rPr lang="en-GB" sz="700" b="0" i="0" u="none" strike="noStrike" baseline="0" dirty="0" smtClean="0">
                          <a:solidFill>
                            <a:srgbClr val="000000"/>
                          </a:solidFill>
                          <a:latin typeface="EYInterstate Light"/>
                        </a:rPr>
                        <a:t> is underway with Project Managers to ensure these forecasts are reflective of the mobilisation that is likely to occur over the  coming months till year end FY12 and ensure their impact on the following financial years is also reflected in the forecasts. </a:t>
                      </a:r>
                      <a:endParaRPr lang="en-GB" sz="700" b="0" i="0" u="none" strike="noStrike" dirty="0" smtClean="0">
                        <a:solidFill>
                          <a:srgbClr val="000000"/>
                        </a:solidFill>
                        <a:latin typeface="EYInterstate Light"/>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lang="en-GB" sz="700" b="0" i="0" u="none" strike="noStrike" dirty="0" smtClean="0">
                        <a:solidFill>
                          <a:srgbClr val="000000"/>
                        </a:solidFill>
                        <a:latin typeface="EYInterstate Ligh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
        <p:nvSpPr>
          <p:cNvPr id="8" name="TextBox 7"/>
          <p:cNvSpPr txBox="1"/>
          <p:nvPr/>
        </p:nvSpPr>
        <p:spPr>
          <a:xfrm>
            <a:off x="201493" y="5867400"/>
            <a:ext cx="3608507" cy="861774"/>
          </a:xfrm>
          <a:prstGeom prst="rect">
            <a:avLst/>
          </a:prstGeom>
          <a:noFill/>
          <a:ln>
            <a:solidFill>
              <a:schemeClr val="tx1"/>
            </a:solidFill>
          </a:ln>
        </p:spPr>
        <p:txBody>
          <a:bodyPr wrap="square" rtlCol="0">
            <a:spAutoFit/>
          </a:bodyPr>
          <a:lstStyle/>
          <a:p>
            <a:pPr algn="l">
              <a:buFont typeface="Arial" charset="0"/>
              <a:buChar char="•"/>
            </a:pPr>
            <a:r>
              <a:rPr lang="en-GB" sz="700" dirty="0" smtClean="0"/>
              <a:t> </a:t>
            </a:r>
            <a:r>
              <a:rPr lang="en-GB" sz="700" dirty="0" smtClean="0">
                <a:solidFill>
                  <a:srgbClr val="000000"/>
                </a:solidFill>
              </a:rPr>
              <a:t>Current budget in the table above is the new target EAC figure i.e. $38.7m</a:t>
            </a:r>
          </a:p>
          <a:p>
            <a:pPr algn="l"/>
            <a:r>
              <a:rPr lang="en-GB" sz="700" dirty="0" smtClean="0">
                <a:solidFill>
                  <a:srgbClr val="000000"/>
                </a:solidFill>
              </a:rPr>
              <a:t> </a:t>
            </a:r>
          </a:p>
          <a:p>
            <a:pPr algn="l">
              <a:buFont typeface="Arial" charset="0"/>
              <a:buChar char="•"/>
            </a:pPr>
            <a:r>
              <a:rPr lang="en-GB" sz="700" dirty="0" smtClean="0">
                <a:solidFill>
                  <a:srgbClr val="000000"/>
                </a:solidFill>
              </a:rPr>
              <a:t>$3m contingency is held by Alan and Guy for FY12 </a:t>
            </a:r>
          </a:p>
          <a:p>
            <a:pPr algn="l">
              <a:buFont typeface="Arial" charset="0"/>
              <a:buChar char="•"/>
            </a:pPr>
            <a:endParaRPr lang="en-GB" sz="700" dirty="0" smtClean="0">
              <a:solidFill>
                <a:srgbClr val="000000"/>
              </a:solidFill>
            </a:endParaRPr>
          </a:p>
          <a:p>
            <a:pPr algn="l">
              <a:buFont typeface="Arial" charset="0"/>
              <a:buChar char="•"/>
            </a:pPr>
            <a:r>
              <a:rPr lang="en-GB" sz="700" dirty="0" smtClean="0">
                <a:solidFill>
                  <a:srgbClr val="000000"/>
                </a:solidFill>
              </a:rPr>
              <a:t> Adjustments for incorrect rates in WIPs is not included in the figures above</a:t>
            </a:r>
          </a:p>
          <a:p>
            <a:pPr algn="l">
              <a:buFont typeface="Arial" charset="0"/>
              <a:buChar char="•"/>
            </a:pPr>
            <a:endParaRPr lang="en-GB" sz="700" dirty="0" smtClean="0">
              <a:solidFill>
                <a:srgbClr val="000000"/>
              </a:solidFill>
            </a:endParaRPr>
          </a:p>
          <a:p>
            <a:pPr algn="l">
              <a:buFont typeface="Arial" charset="0"/>
              <a:buChar char="•"/>
            </a:pPr>
            <a:r>
              <a:rPr lang="en-GB" sz="700" dirty="0" smtClean="0">
                <a:solidFill>
                  <a:srgbClr val="000000"/>
                </a:solidFill>
              </a:rPr>
              <a:t> </a:t>
            </a:r>
            <a:r>
              <a:rPr lang="en-GB" sz="800" b="1" dirty="0" err="1" smtClean="0">
                <a:solidFill>
                  <a:srgbClr val="000000"/>
                </a:solidFill>
              </a:rPr>
              <a:t>ResPlan</a:t>
            </a:r>
            <a:r>
              <a:rPr lang="en-GB" sz="800" b="1" dirty="0" smtClean="0">
                <a:solidFill>
                  <a:srgbClr val="000000"/>
                </a:solidFill>
              </a:rPr>
              <a:t> ETC needs to be brought down in line with the Target ETC</a:t>
            </a:r>
            <a:endParaRPr lang="en-GB" sz="700" b="1" dirty="0" smtClean="0">
              <a:solidFill>
                <a:srgbClr val="000000"/>
              </a:solidFill>
            </a:endParaRPr>
          </a:p>
        </p:txBody>
      </p:sp>
      <p:sp>
        <p:nvSpPr>
          <p:cNvPr id="10" name="TextBox 9"/>
          <p:cNvSpPr txBox="1"/>
          <p:nvPr/>
        </p:nvSpPr>
        <p:spPr>
          <a:xfrm>
            <a:off x="4038600" y="5867400"/>
            <a:ext cx="4068394" cy="630942"/>
          </a:xfrm>
          <a:prstGeom prst="rect">
            <a:avLst/>
          </a:prstGeom>
          <a:noFill/>
          <a:ln>
            <a:solidFill>
              <a:schemeClr val="tx1"/>
            </a:solidFill>
          </a:ln>
        </p:spPr>
        <p:txBody>
          <a:bodyPr wrap="square" rtlCol="0">
            <a:spAutoFit/>
          </a:bodyPr>
          <a:lstStyle/>
          <a:p>
            <a:pPr algn="l">
              <a:buFont typeface="Arial" charset="0"/>
              <a:buChar char="•"/>
            </a:pPr>
            <a:r>
              <a:rPr lang="en-GB" sz="700" dirty="0" smtClean="0"/>
              <a:t> </a:t>
            </a:r>
            <a:r>
              <a:rPr lang="en-GB" sz="700" dirty="0" smtClean="0">
                <a:solidFill>
                  <a:srgbClr val="000000"/>
                </a:solidFill>
              </a:rPr>
              <a:t>Blueprint costs will be added once confirmed</a:t>
            </a:r>
          </a:p>
          <a:p>
            <a:pPr algn="l">
              <a:buFont typeface="Arial" charset="0"/>
              <a:buChar char="•"/>
            </a:pPr>
            <a:r>
              <a:rPr lang="en-GB" sz="700" dirty="0" smtClean="0">
                <a:solidFill>
                  <a:srgbClr val="000000"/>
                </a:solidFill>
              </a:rPr>
              <a:t> Resulting IT costs not yet confirmed – will go to SP</a:t>
            </a:r>
          </a:p>
          <a:p>
            <a:pPr algn="l">
              <a:buFont typeface="Arial" charset="0"/>
              <a:buChar char="•"/>
            </a:pPr>
            <a:r>
              <a:rPr lang="en-GB" sz="700" dirty="0" smtClean="0">
                <a:solidFill>
                  <a:srgbClr val="000000"/>
                </a:solidFill>
              </a:rPr>
              <a:t> TOM costs for FY12 yet to be confirmed</a:t>
            </a:r>
          </a:p>
          <a:p>
            <a:pPr algn="l">
              <a:buFont typeface="Arial" charset="0"/>
              <a:buChar char="•"/>
            </a:pPr>
            <a:r>
              <a:rPr lang="en-GB" sz="700" dirty="0" smtClean="0">
                <a:solidFill>
                  <a:srgbClr val="000000"/>
                </a:solidFill>
              </a:rPr>
              <a:t> Approved CRs have been incorporated in the individual work streams now (SP and TF</a:t>
            </a:r>
            <a:r>
              <a:rPr lang="en-GB" sz="700" dirty="0" smtClean="0"/>
              <a:t>)</a:t>
            </a:r>
          </a:p>
          <a:p>
            <a:pPr algn="l"/>
            <a:endParaRPr lang="en-GB" sz="700" b="1"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l" defTabSz="955675" eaLnBrk="0" hangingPunct="0">
              <a:spcAft>
                <a:spcPts val="0"/>
              </a:spcAft>
              <a:defRPr/>
            </a:pPr>
            <a:r>
              <a:rPr lang="fr-FR" sz="1600" b="1" kern="0" dirty="0">
                <a:solidFill>
                  <a:srgbClr val="646464"/>
                </a:solidFill>
                <a:latin typeface="EYInterstate"/>
              </a:rPr>
              <a:t>8</a:t>
            </a:r>
            <a:r>
              <a:rPr lang="fr-FR" sz="1600" b="1" kern="0" dirty="0" smtClean="0">
                <a:solidFill>
                  <a:srgbClr val="646464"/>
                </a:solidFill>
                <a:latin typeface="EYInterstate"/>
              </a:rPr>
              <a:t>. </a:t>
            </a:r>
            <a:r>
              <a:rPr lang="fr-FR" sz="1600" b="1" kern="0" dirty="0">
                <a:solidFill>
                  <a:srgbClr val="646464"/>
                </a:solidFill>
                <a:latin typeface="EYInterstate"/>
              </a:rPr>
              <a:t>Microsoft RAG Trend by </a:t>
            </a:r>
            <a:r>
              <a:rPr lang="fr-FR" sz="1600" b="1" kern="0" dirty="0" err="1">
                <a:solidFill>
                  <a:srgbClr val="646464"/>
                </a:solidFill>
                <a:latin typeface="EYInterstate"/>
              </a:rPr>
              <a:t>Projects</a:t>
            </a:r>
            <a:endParaRPr lang="fr-FR" sz="1600" b="1" kern="0" dirty="0">
              <a:solidFill>
                <a:srgbClr val="646464"/>
              </a:solidFill>
              <a:latin typeface="EYInterstate"/>
            </a:endParaRPr>
          </a:p>
        </p:txBody>
      </p:sp>
      <p:graphicFrame>
        <p:nvGraphicFramePr>
          <p:cNvPr id="5" name="Chart 4"/>
          <p:cNvGraphicFramePr/>
          <p:nvPr/>
        </p:nvGraphicFramePr>
        <p:xfrm>
          <a:off x="2686050" y="700087"/>
          <a:ext cx="3790949" cy="271157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p:cNvGraphicFramePr>
            <a:graphicFrameLocks noGrp="1"/>
          </p:cNvGraphicFramePr>
          <p:nvPr/>
        </p:nvGraphicFramePr>
        <p:xfrm>
          <a:off x="152400" y="700087"/>
          <a:ext cx="2667000" cy="1762125"/>
        </p:xfrm>
        <a:graphic>
          <a:graphicData uri="http://schemas.openxmlformats.org/drawingml/2006/table">
            <a:tbl>
              <a:tblPr/>
              <a:tblGrid>
                <a:gridCol w="1988949"/>
                <a:gridCol w="678051"/>
              </a:tblGrid>
              <a:tr h="161925">
                <a:tc>
                  <a:txBody>
                    <a:bodyPr/>
                    <a:lstStyle/>
                    <a:p>
                      <a:pPr algn="l" fontAlgn="t"/>
                      <a:r>
                        <a:rPr lang="fr-FR" sz="1000" b="1" i="0" u="none" strike="noStrike" dirty="0">
                          <a:solidFill>
                            <a:srgbClr val="000000"/>
                          </a:solidFill>
                          <a:latin typeface="Arial"/>
                        </a:rPr>
                        <a:t>Microsoft</a:t>
                      </a:r>
                    </a:p>
                  </a:txBody>
                  <a:tcPr marL="0" marR="0" marT="0" marB="0">
                    <a:lnL>
                      <a:noFill/>
                    </a:lnL>
                    <a:lnR>
                      <a:noFill/>
                    </a:lnR>
                    <a:lnT>
                      <a:noFill/>
                    </a:lnT>
                    <a:lnB>
                      <a:noFill/>
                    </a:lnB>
                  </a:tcPr>
                </a:tc>
                <a:tc>
                  <a:txBody>
                    <a:bodyPr/>
                    <a:lstStyle/>
                    <a:p>
                      <a:pPr algn="r" fontAlgn="t"/>
                      <a:endParaRPr lang="fr-FR" sz="1000" b="1" i="0" u="none" strike="noStrike">
                        <a:solidFill>
                          <a:srgbClr val="000000"/>
                        </a:solidFill>
                        <a:latin typeface="Arial"/>
                      </a:endParaRPr>
                    </a:p>
                  </a:txBody>
                  <a:tcPr marL="0" marR="0" marT="0" marB="0">
                    <a:lnL>
                      <a:noFill/>
                    </a:lnL>
                    <a:lnR>
                      <a:noFill/>
                    </a:lnR>
                    <a:lnT>
                      <a:noFill/>
                    </a:lnT>
                    <a:lnB>
                      <a:noFill/>
                    </a:lnB>
                  </a:tcPr>
                </a:tc>
              </a:tr>
              <a:tr h="128588">
                <a:tc>
                  <a:txBody>
                    <a:bodyPr/>
                    <a:lstStyle/>
                    <a:p>
                      <a:pPr algn="l" fontAlgn="t"/>
                      <a:r>
                        <a:rPr lang="fr-FR" sz="1000" b="1" i="0" u="none" strike="noStrike" dirty="0">
                          <a:solidFill>
                            <a:srgbClr val="000000"/>
                          </a:solidFill>
                          <a:latin typeface="Arial"/>
                        </a:rPr>
                        <a:t>RAG by Project</a:t>
                      </a:r>
                    </a:p>
                  </a:txBody>
                  <a:tcPr marL="0" marR="0" marT="0" marB="0">
                    <a:lnL>
                      <a:noFill/>
                    </a:lnL>
                    <a:lnR>
                      <a:noFill/>
                    </a:lnR>
                    <a:lnT>
                      <a:noFill/>
                    </a:lnT>
                    <a:lnB>
                      <a:noFill/>
                    </a:lnB>
                  </a:tcPr>
                </a:tc>
                <a:tc>
                  <a:txBody>
                    <a:bodyPr/>
                    <a:lstStyle/>
                    <a:p>
                      <a:pPr algn="r" fontAlgn="t"/>
                      <a:endParaRPr lang="fr-FR" sz="1000" b="1" i="0" u="none" strike="noStrike">
                        <a:solidFill>
                          <a:srgbClr val="000000"/>
                        </a:solidFill>
                        <a:latin typeface="Arial"/>
                      </a:endParaRPr>
                    </a:p>
                  </a:txBody>
                  <a:tcPr marL="0" marR="0" marT="0" marB="0">
                    <a:lnL>
                      <a:noFill/>
                    </a:lnL>
                    <a:lnR>
                      <a:noFill/>
                    </a:lnR>
                    <a:lnT>
                      <a:noFill/>
                    </a:lnT>
                    <a:lnB>
                      <a:noFill/>
                    </a:lnB>
                  </a:tcPr>
                </a:tc>
              </a:tr>
              <a:tr h="161925">
                <a:tc>
                  <a:txBody>
                    <a:bodyPr/>
                    <a:lstStyle/>
                    <a:p>
                      <a:pPr algn="l" fontAlgn="t"/>
                      <a:endParaRPr lang="fr-FR" sz="1000" b="1" i="0" u="none" strike="noStrike" dirty="0">
                        <a:solidFill>
                          <a:srgbClr val="000000"/>
                        </a:solidFill>
                        <a:latin typeface="Arial"/>
                      </a:endParaRPr>
                    </a:p>
                  </a:txBody>
                  <a:tcPr marL="0" marR="0" marT="0" marB="0">
                    <a:lnL>
                      <a:noFill/>
                    </a:lnL>
                    <a:lnR>
                      <a:noFill/>
                    </a:lnR>
                    <a:lnT>
                      <a:noFill/>
                    </a:lnT>
                    <a:lnB>
                      <a:noFill/>
                    </a:lnB>
                  </a:tcPr>
                </a:tc>
                <a:tc>
                  <a:txBody>
                    <a:bodyPr/>
                    <a:lstStyle/>
                    <a:p>
                      <a:pPr algn="r" fontAlgn="t"/>
                      <a:r>
                        <a:rPr lang="fr-FR" sz="1000" b="1" i="0" u="none" strike="noStrike">
                          <a:solidFill>
                            <a:srgbClr val="000000"/>
                          </a:solidFill>
                          <a:latin typeface="Arial"/>
                        </a:rPr>
                        <a:t>RAG Level</a:t>
                      </a:r>
                    </a:p>
                  </a:txBody>
                  <a:tcPr marL="0" marR="0" marT="0" marB="0">
                    <a:lnL>
                      <a:noFill/>
                    </a:lnL>
                    <a:lnR>
                      <a:noFill/>
                    </a:lnR>
                    <a:lnT>
                      <a:noFill/>
                    </a:lnT>
                    <a:lnB>
                      <a:noFill/>
                    </a:lnB>
                  </a:tcPr>
                </a:tc>
              </a:tr>
              <a:tr h="161925">
                <a:tc>
                  <a:txBody>
                    <a:bodyPr/>
                    <a:lstStyle/>
                    <a:p>
                      <a:pPr algn="l" fontAlgn="t"/>
                      <a:r>
                        <a:rPr lang="fr-FR" sz="1000" b="1" i="0" u="none" strike="noStrike">
                          <a:solidFill>
                            <a:srgbClr val="000000"/>
                          </a:solidFill>
                          <a:latin typeface="Arial"/>
                        </a:rPr>
                        <a:t>SharePoint Foundation</a:t>
                      </a:r>
                    </a:p>
                  </a:txBody>
                  <a:tcPr marL="0" marR="0" marT="0" marB="0">
                    <a:lnL>
                      <a:noFill/>
                    </a:lnL>
                    <a:lnR>
                      <a:noFill/>
                    </a:lnR>
                    <a:lnT>
                      <a:noFill/>
                    </a:lnT>
                    <a:lnB>
                      <a:noFill/>
                    </a:lnB>
                  </a:tcPr>
                </a:tc>
                <a:tc>
                  <a:txBody>
                    <a:bodyPr/>
                    <a:lstStyle/>
                    <a:p>
                      <a:pPr algn="r" fontAlgn="t"/>
                      <a:r>
                        <a:rPr lang="fr-FR" sz="1000" b="1" i="0" u="none" strike="noStrike">
                          <a:solidFill>
                            <a:srgbClr val="000000"/>
                          </a:solidFill>
                          <a:latin typeface="Arial"/>
                        </a:rPr>
                        <a:t>3,31</a:t>
                      </a:r>
                    </a:p>
                  </a:txBody>
                  <a:tcPr marL="0" marR="0" marT="0" marB="0">
                    <a:lnL>
                      <a:noFill/>
                    </a:lnL>
                    <a:lnR>
                      <a:noFill/>
                    </a:lnR>
                    <a:lnT>
                      <a:noFill/>
                    </a:lnT>
                    <a:lnB>
                      <a:noFill/>
                    </a:lnB>
                  </a:tcPr>
                </a:tc>
              </a:tr>
              <a:tr h="161925">
                <a:tc>
                  <a:txBody>
                    <a:bodyPr/>
                    <a:lstStyle/>
                    <a:p>
                      <a:pPr algn="l" fontAlgn="t"/>
                      <a:r>
                        <a:rPr lang="fr-FR" sz="1000" b="1" i="0" u="none" strike="noStrike">
                          <a:solidFill>
                            <a:srgbClr val="000000"/>
                          </a:solidFill>
                          <a:latin typeface="Arial"/>
                        </a:rPr>
                        <a:t>SharePoint Enablement</a:t>
                      </a:r>
                    </a:p>
                  </a:txBody>
                  <a:tcPr marL="0" marR="0" marT="0" marB="0">
                    <a:lnL>
                      <a:noFill/>
                    </a:lnL>
                    <a:lnR>
                      <a:noFill/>
                    </a:lnR>
                    <a:lnT>
                      <a:noFill/>
                    </a:lnT>
                    <a:lnB>
                      <a:noFill/>
                    </a:lnB>
                  </a:tcPr>
                </a:tc>
                <a:tc>
                  <a:txBody>
                    <a:bodyPr/>
                    <a:lstStyle/>
                    <a:p>
                      <a:pPr algn="r" fontAlgn="t"/>
                      <a:r>
                        <a:rPr lang="fr-FR" sz="1000" b="1" i="0" u="none" strike="noStrike">
                          <a:solidFill>
                            <a:srgbClr val="000000"/>
                          </a:solidFill>
                          <a:latin typeface="Arial"/>
                        </a:rPr>
                        <a:t>3,78</a:t>
                      </a:r>
                    </a:p>
                  </a:txBody>
                  <a:tcPr marL="0" marR="0" marT="0" marB="0">
                    <a:lnL>
                      <a:noFill/>
                    </a:lnL>
                    <a:lnR>
                      <a:noFill/>
                    </a:lnR>
                    <a:lnT>
                      <a:noFill/>
                    </a:lnT>
                    <a:lnB>
                      <a:noFill/>
                    </a:lnB>
                  </a:tcPr>
                </a:tc>
              </a:tr>
              <a:tr h="161925">
                <a:tc>
                  <a:txBody>
                    <a:bodyPr/>
                    <a:lstStyle/>
                    <a:p>
                      <a:pPr algn="l" fontAlgn="t"/>
                      <a:r>
                        <a:rPr lang="fr-FR" sz="1000" b="1" i="0" u="none" strike="noStrike">
                          <a:solidFill>
                            <a:srgbClr val="000000"/>
                          </a:solidFill>
                          <a:latin typeface="Arial"/>
                        </a:rPr>
                        <a:t>PMO</a:t>
                      </a:r>
                    </a:p>
                  </a:txBody>
                  <a:tcPr marL="0" marR="0" marT="0" marB="0">
                    <a:lnL>
                      <a:noFill/>
                    </a:lnL>
                    <a:lnR>
                      <a:noFill/>
                    </a:lnR>
                    <a:lnT>
                      <a:noFill/>
                    </a:lnT>
                    <a:lnB>
                      <a:noFill/>
                    </a:lnB>
                  </a:tcPr>
                </a:tc>
                <a:tc>
                  <a:txBody>
                    <a:bodyPr/>
                    <a:lstStyle/>
                    <a:p>
                      <a:pPr algn="r" fontAlgn="t"/>
                      <a:r>
                        <a:rPr lang="fr-FR" sz="1000" b="1" i="0" u="none" strike="noStrike">
                          <a:solidFill>
                            <a:srgbClr val="000000"/>
                          </a:solidFill>
                          <a:latin typeface="Arial"/>
                        </a:rPr>
                        <a:t>4,00</a:t>
                      </a:r>
                    </a:p>
                  </a:txBody>
                  <a:tcPr marL="0" marR="0" marT="0" marB="0">
                    <a:lnL>
                      <a:noFill/>
                    </a:lnL>
                    <a:lnR>
                      <a:noFill/>
                    </a:lnR>
                    <a:lnT>
                      <a:noFill/>
                    </a:lnT>
                    <a:lnB>
                      <a:noFill/>
                    </a:lnB>
                  </a:tcPr>
                </a:tc>
              </a:tr>
              <a:tr h="161925">
                <a:tc>
                  <a:txBody>
                    <a:bodyPr/>
                    <a:lstStyle/>
                    <a:p>
                      <a:pPr algn="l" fontAlgn="t"/>
                      <a:r>
                        <a:rPr lang="fr-FR" sz="1000" b="1" i="0" u="none" strike="noStrike">
                          <a:solidFill>
                            <a:srgbClr val="000000"/>
                          </a:solidFill>
                          <a:latin typeface="Arial"/>
                        </a:rPr>
                        <a:t>Messaging Envisioning</a:t>
                      </a:r>
                    </a:p>
                  </a:txBody>
                  <a:tcPr marL="0" marR="0" marT="0" marB="0">
                    <a:lnL>
                      <a:noFill/>
                    </a:lnL>
                    <a:lnR>
                      <a:noFill/>
                    </a:lnR>
                    <a:lnT>
                      <a:noFill/>
                    </a:lnT>
                    <a:lnB>
                      <a:noFill/>
                    </a:lnB>
                  </a:tcPr>
                </a:tc>
                <a:tc>
                  <a:txBody>
                    <a:bodyPr/>
                    <a:lstStyle/>
                    <a:p>
                      <a:pPr algn="r" fontAlgn="t"/>
                      <a:r>
                        <a:rPr lang="fr-FR" sz="1000" b="1" i="0" u="none" strike="noStrike">
                          <a:solidFill>
                            <a:srgbClr val="000000"/>
                          </a:solidFill>
                          <a:latin typeface="Arial"/>
                        </a:rPr>
                        <a:t>3,33</a:t>
                      </a:r>
                    </a:p>
                  </a:txBody>
                  <a:tcPr marL="0" marR="0" marT="0" marB="0">
                    <a:lnL>
                      <a:noFill/>
                    </a:lnL>
                    <a:lnR>
                      <a:noFill/>
                    </a:lnR>
                    <a:lnT>
                      <a:noFill/>
                    </a:lnT>
                    <a:lnB>
                      <a:noFill/>
                    </a:lnB>
                  </a:tcPr>
                </a:tc>
              </a:tr>
              <a:tr h="161925">
                <a:tc>
                  <a:txBody>
                    <a:bodyPr/>
                    <a:lstStyle/>
                    <a:p>
                      <a:pPr algn="l" fontAlgn="t"/>
                      <a:r>
                        <a:rPr lang="fr-FR" sz="1000" b="1" i="0" u="none" strike="noStrike" dirty="0" err="1">
                          <a:solidFill>
                            <a:srgbClr val="000000"/>
                          </a:solidFill>
                          <a:latin typeface="Arial"/>
                        </a:rPr>
                        <a:t>Lync</a:t>
                      </a:r>
                      <a:r>
                        <a:rPr lang="fr-FR" sz="1000" b="1" i="0" u="none" strike="noStrike" dirty="0">
                          <a:solidFill>
                            <a:srgbClr val="000000"/>
                          </a:solidFill>
                          <a:latin typeface="Arial"/>
                        </a:rPr>
                        <a:t> Planning</a:t>
                      </a:r>
                    </a:p>
                  </a:txBody>
                  <a:tcPr marL="0" marR="0" marT="0" marB="0">
                    <a:lnL>
                      <a:noFill/>
                    </a:lnL>
                    <a:lnR>
                      <a:noFill/>
                    </a:lnR>
                    <a:lnT>
                      <a:noFill/>
                    </a:lnT>
                    <a:lnB>
                      <a:noFill/>
                    </a:lnB>
                  </a:tcPr>
                </a:tc>
                <a:tc>
                  <a:txBody>
                    <a:bodyPr/>
                    <a:lstStyle/>
                    <a:p>
                      <a:pPr algn="r" fontAlgn="t"/>
                      <a:r>
                        <a:rPr lang="fr-FR" sz="1000" b="1" i="0" u="none" strike="noStrike">
                          <a:solidFill>
                            <a:srgbClr val="000000"/>
                          </a:solidFill>
                          <a:latin typeface="Arial"/>
                        </a:rPr>
                        <a:t>3,67</a:t>
                      </a:r>
                    </a:p>
                  </a:txBody>
                  <a:tcPr marL="0" marR="0" marT="0" marB="0">
                    <a:lnL>
                      <a:noFill/>
                    </a:lnL>
                    <a:lnR>
                      <a:noFill/>
                    </a:lnR>
                    <a:lnT>
                      <a:noFill/>
                    </a:lnT>
                    <a:lnB>
                      <a:noFill/>
                    </a:lnB>
                  </a:tcPr>
                </a:tc>
              </a:tr>
              <a:tr h="128588">
                <a:tc>
                  <a:txBody>
                    <a:bodyPr/>
                    <a:lstStyle/>
                    <a:p>
                      <a:pPr algn="l" fontAlgn="t"/>
                      <a:r>
                        <a:rPr lang="fr-FR" sz="1000" b="1" i="0" u="none" strike="noStrike">
                          <a:solidFill>
                            <a:srgbClr val="000000"/>
                          </a:solidFill>
                          <a:latin typeface="Arial"/>
                        </a:rPr>
                        <a:t>Application Transformation</a:t>
                      </a:r>
                    </a:p>
                  </a:txBody>
                  <a:tcPr marL="0" marR="0" marT="0" marB="0">
                    <a:lnL>
                      <a:noFill/>
                    </a:lnL>
                    <a:lnR>
                      <a:noFill/>
                    </a:lnR>
                    <a:lnT>
                      <a:noFill/>
                    </a:lnT>
                    <a:lnB>
                      <a:noFill/>
                    </a:lnB>
                  </a:tcPr>
                </a:tc>
                <a:tc>
                  <a:txBody>
                    <a:bodyPr/>
                    <a:lstStyle/>
                    <a:p>
                      <a:pPr algn="r" fontAlgn="t"/>
                      <a:r>
                        <a:rPr lang="fr-FR" sz="1000" b="1" i="0" u="none" strike="noStrike">
                          <a:solidFill>
                            <a:srgbClr val="000000"/>
                          </a:solidFill>
                          <a:latin typeface="Arial"/>
                        </a:rPr>
                        <a:t>0,00</a:t>
                      </a:r>
                    </a:p>
                  </a:txBody>
                  <a:tcPr marL="0" marR="0" marT="0" marB="0">
                    <a:lnL>
                      <a:noFill/>
                    </a:lnL>
                    <a:lnR>
                      <a:noFill/>
                    </a:lnR>
                    <a:lnT>
                      <a:noFill/>
                    </a:lnT>
                    <a:lnB>
                      <a:noFill/>
                    </a:lnB>
                  </a:tcPr>
                </a:tc>
              </a:tr>
              <a:tr h="161925">
                <a:tc>
                  <a:txBody>
                    <a:bodyPr/>
                    <a:lstStyle/>
                    <a:p>
                      <a:pPr algn="l" fontAlgn="t"/>
                      <a:endParaRPr lang="fr-FR" sz="1000" b="1" i="0" u="none" strike="noStrike">
                        <a:solidFill>
                          <a:srgbClr val="000000"/>
                        </a:solidFill>
                        <a:latin typeface="Arial"/>
                      </a:endParaRPr>
                    </a:p>
                  </a:txBody>
                  <a:tcPr marL="0" marR="0" marT="0" marB="0">
                    <a:lnL>
                      <a:noFill/>
                    </a:lnL>
                    <a:lnR>
                      <a:noFill/>
                    </a:lnR>
                    <a:lnT>
                      <a:noFill/>
                    </a:lnT>
                    <a:lnB>
                      <a:noFill/>
                    </a:lnB>
                  </a:tcPr>
                </a:tc>
                <a:tc>
                  <a:txBody>
                    <a:bodyPr/>
                    <a:lstStyle/>
                    <a:p>
                      <a:pPr algn="r" fontAlgn="t"/>
                      <a:endParaRPr lang="fr-FR" sz="1000" b="1" i="0" u="none" strike="noStrike" dirty="0">
                        <a:solidFill>
                          <a:srgbClr val="000000"/>
                        </a:solidFill>
                        <a:latin typeface="Arial"/>
                      </a:endParaRPr>
                    </a:p>
                  </a:txBody>
                  <a:tcPr marL="0" marR="0" marT="0" marB="0">
                    <a:lnL>
                      <a:noFill/>
                    </a:lnL>
                    <a:lnR>
                      <a:noFill/>
                    </a:lnR>
                    <a:lnT>
                      <a:noFill/>
                    </a:lnT>
                    <a:lnB>
                      <a:noFill/>
                    </a:lnB>
                  </a:tcPr>
                </a:tc>
              </a:tr>
              <a:tr h="161925">
                <a:tc>
                  <a:txBody>
                    <a:bodyPr/>
                    <a:lstStyle/>
                    <a:p>
                      <a:pPr algn="l" fontAlgn="t"/>
                      <a:r>
                        <a:rPr lang="fr-FR" sz="1000" b="1" i="0" u="none" strike="noStrike" dirty="0">
                          <a:solidFill>
                            <a:srgbClr val="000000"/>
                          </a:solidFill>
                          <a:latin typeface="Arial"/>
                        </a:rPr>
                        <a:t>Total RAG </a:t>
                      </a:r>
                      <a:r>
                        <a:rPr lang="fr-FR" sz="1000" b="1" i="0" u="none" strike="noStrike" dirty="0" err="1">
                          <a:solidFill>
                            <a:srgbClr val="000000"/>
                          </a:solidFill>
                          <a:latin typeface="Arial"/>
                        </a:rPr>
                        <a:t>Level</a:t>
                      </a:r>
                      <a:r>
                        <a:rPr lang="fr-FR" sz="1000" b="1" i="0" u="none" strike="noStrike" dirty="0">
                          <a:solidFill>
                            <a:srgbClr val="000000"/>
                          </a:solidFill>
                          <a:latin typeface="Arial"/>
                        </a:rPr>
                        <a:t> :</a:t>
                      </a:r>
                    </a:p>
                  </a:txBody>
                  <a:tcPr marL="0" marR="0" marT="0" marB="0">
                    <a:lnL>
                      <a:noFill/>
                    </a:lnL>
                    <a:lnR>
                      <a:noFill/>
                    </a:lnR>
                    <a:lnT>
                      <a:noFill/>
                    </a:lnT>
                    <a:lnB>
                      <a:noFill/>
                    </a:lnB>
                  </a:tcPr>
                </a:tc>
                <a:tc>
                  <a:txBody>
                    <a:bodyPr/>
                    <a:lstStyle/>
                    <a:p>
                      <a:pPr algn="r" fontAlgn="t"/>
                      <a:r>
                        <a:rPr lang="fr-FR" sz="1000" b="1" i="0" u="none" strike="noStrike" dirty="0">
                          <a:solidFill>
                            <a:srgbClr val="000000"/>
                          </a:solidFill>
                          <a:latin typeface="Arial"/>
                        </a:rPr>
                        <a:t>3,01</a:t>
                      </a:r>
                    </a:p>
                  </a:txBody>
                  <a:tcPr marL="0" marR="0" marT="0" marB="0">
                    <a:lnL>
                      <a:noFill/>
                    </a:lnL>
                    <a:lnR>
                      <a:noFill/>
                    </a:lnR>
                    <a:lnT>
                      <a:noFill/>
                    </a:lnT>
                    <a:lnB>
                      <a:noFill/>
                    </a:lnB>
                  </a:tcPr>
                </a:tc>
              </a:tr>
            </a:tbl>
          </a:graphicData>
        </a:graphic>
      </p:graphicFrame>
      <p:graphicFrame>
        <p:nvGraphicFramePr>
          <p:cNvPr id="8" name="Table 7"/>
          <p:cNvGraphicFramePr>
            <a:graphicFrameLocks noGrp="1"/>
          </p:cNvGraphicFramePr>
          <p:nvPr/>
        </p:nvGraphicFramePr>
        <p:xfrm>
          <a:off x="152400" y="3817144"/>
          <a:ext cx="2667000" cy="1900238"/>
        </p:xfrm>
        <a:graphic>
          <a:graphicData uri="http://schemas.openxmlformats.org/drawingml/2006/table">
            <a:tbl>
              <a:tblPr/>
              <a:tblGrid>
                <a:gridCol w="1988949"/>
                <a:gridCol w="678051"/>
              </a:tblGrid>
              <a:tr h="161925">
                <a:tc>
                  <a:txBody>
                    <a:bodyPr/>
                    <a:lstStyle/>
                    <a:p>
                      <a:pPr algn="l" fontAlgn="t"/>
                      <a:r>
                        <a:rPr lang="fr-FR" sz="1000" b="1" i="0" u="none" strike="noStrike" dirty="0">
                          <a:solidFill>
                            <a:srgbClr val="000000"/>
                          </a:solidFill>
                          <a:latin typeface="Arial"/>
                        </a:rPr>
                        <a:t>Microsoft</a:t>
                      </a:r>
                    </a:p>
                  </a:txBody>
                  <a:tcPr marL="0" marR="0" marT="0" marB="0">
                    <a:lnL>
                      <a:noFill/>
                    </a:lnL>
                    <a:lnR>
                      <a:noFill/>
                    </a:lnR>
                    <a:lnT>
                      <a:noFill/>
                    </a:lnT>
                    <a:lnB>
                      <a:noFill/>
                    </a:lnB>
                  </a:tcPr>
                </a:tc>
                <a:tc>
                  <a:txBody>
                    <a:bodyPr/>
                    <a:lstStyle/>
                    <a:p>
                      <a:pPr algn="r" fontAlgn="t"/>
                      <a:endParaRPr lang="fr-FR" sz="1000" b="1" i="0" u="none" strike="noStrike">
                        <a:solidFill>
                          <a:srgbClr val="000000"/>
                        </a:solidFill>
                        <a:latin typeface="Arial"/>
                      </a:endParaRPr>
                    </a:p>
                  </a:txBody>
                  <a:tcPr marL="0" marR="0" marT="0" marB="0">
                    <a:lnL>
                      <a:noFill/>
                    </a:lnL>
                    <a:lnR>
                      <a:noFill/>
                    </a:lnR>
                    <a:lnT>
                      <a:noFill/>
                    </a:lnT>
                    <a:lnB>
                      <a:noFill/>
                    </a:lnB>
                  </a:tcPr>
                </a:tc>
              </a:tr>
              <a:tr h="157163">
                <a:tc>
                  <a:txBody>
                    <a:bodyPr/>
                    <a:lstStyle/>
                    <a:p>
                      <a:pPr algn="l" fontAlgn="t"/>
                      <a:r>
                        <a:rPr lang="fr-FR" sz="1000" b="1" i="0" u="none" strike="noStrike" dirty="0">
                          <a:solidFill>
                            <a:srgbClr val="000000"/>
                          </a:solidFill>
                          <a:latin typeface="Arial"/>
                        </a:rPr>
                        <a:t>RAG by </a:t>
                      </a:r>
                      <a:r>
                        <a:rPr lang="fr-FR" sz="1000" b="1" i="0" u="none" strike="noStrike" dirty="0" err="1">
                          <a:solidFill>
                            <a:srgbClr val="000000"/>
                          </a:solidFill>
                          <a:latin typeface="Arial"/>
                        </a:rPr>
                        <a:t>Streamline</a:t>
                      </a:r>
                      <a:endParaRPr lang="fr-FR" sz="1000" b="1" i="0" u="none" strike="noStrike" dirty="0">
                        <a:solidFill>
                          <a:srgbClr val="000000"/>
                        </a:solidFill>
                        <a:latin typeface="Arial"/>
                      </a:endParaRPr>
                    </a:p>
                  </a:txBody>
                  <a:tcPr marL="0" marR="0" marT="0" marB="0">
                    <a:lnL>
                      <a:noFill/>
                    </a:lnL>
                    <a:lnR>
                      <a:noFill/>
                    </a:lnR>
                    <a:lnT>
                      <a:noFill/>
                    </a:lnT>
                    <a:lnB>
                      <a:noFill/>
                    </a:lnB>
                  </a:tcPr>
                </a:tc>
                <a:tc>
                  <a:txBody>
                    <a:bodyPr/>
                    <a:lstStyle/>
                    <a:p>
                      <a:pPr algn="r" fontAlgn="t"/>
                      <a:endParaRPr lang="fr-FR" sz="1000" b="1" i="0" u="none" strike="noStrike">
                        <a:solidFill>
                          <a:srgbClr val="000000"/>
                        </a:solidFill>
                        <a:latin typeface="Arial"/>
                      </a:endParaRPr>
                    </a:p>
                  </a:txBody>
                  <a:tcPr marL="0" marR="0" marT="0" marB="0">
                    <a:lnL>
                      <a:noFill/>
                    </a:lnL>
                    <a:lnR>
                      <a:noFill/>
                    </a:lnR>
                    <a:lnT>
                      <a:noFill/>
                    </a:lnT>
                    <a:lnB>
                      <a:noFill/>
                    </a:lnB>
                  </a:tcPr>
                </a:tc>
              </a:tr>
              <a:tr h="161925">
                <a:tc>
                  <a:txBody>
                    <a:bodyPr/>
                    <a:lstStyle/>
                    <a:p>
                      <a:pPr algn="l" fontAlgn="t"/>
                      <a:endParaRPr lang="fr-FR" sz="1000" b="1" i="0" u="none" strike="noStrike" dirty="0">
                        <a:solidFill>
                          <a:srgbClr val="000000"/>
                        </a:solidFill>
                        <a:latin typeface="Arial"/>
                      </a:endParaRPr>
                    </a:p>
                  </a:txBody>
                  <a:tcPr marL="0" marR="0" marT="0" marB="0">
                    <a:lnL>
                      <a:noFill/>
                    </a:lnL>
                    <a:lnR>
                      <a:noFill/>
                    </a:lnR>
                    <a:lnT>
                      <a:noFill/>
                    </a:lnT>
                    <a:lnB>
                      <a:noFill/>
                    </a:lnB>
                  </a:tcPr>
                </a:tc>
                <a:tc>
                  <a:txBody>
                    <a:bodyPr/>
                    <a:lstStyle/>
                    <a:p>
                      <a:pPr algn="r" fontAlgn="t"/>
                      <a:r>
                        <a:rPr lang="fr-FR" sz="1000" b="1" i="0" u="none" strike="noStrike" dirty="0">
                          <a:solidFill>
                            <a:srgbClr val="000000"/>
                          </a:solidFill>
                          <a:latin typeface="Arial"/>
                        </a:rPr>
                        <a:t>RAG </a:t>
                      </a:r>
                      <a:r>
                        <a:rPr lang="fr-FR" sz="1000" b="1" i="0" u="none" strike="noStrike" dirty="0" err="1">
                          <a:solidFill>
                            <a:srgbClr val="000000"/>
                          </a:solidFill>
                          <a:latin typeface="Arial"/>
                        </a:rPr>
                        <a:t>Level</a:t>
                      </a:r>
                      <a:endParaRPr lang="fr-FR" sz="1000" b="1" i="0" u="none" strike="noStrike" dirty="0">
                        <a:solidFill>
                          <a:srgbClr val="000000"/>
                        </a:solidFill>
                        <a:latin typeface="Arial"/>
                      </a:endParaRPr>
                    </a:p>
                  </a:txBody>
                  <a:tcPr marL="0" marR="0" marT="0" marB="0">
                    <a:lnL>
                      <a:noFill/>
                    </a:lnL>
                    <a:lnR>
                      <a:noFill/>
                    </a:lnR>
                    <a:lnT>
                      <a:noFill/>
                    </a:lnT>
                    <a:lnB>
                      <a:noFill/>
                    </a:lnB>
                  </a:tcPr>
                </a:tc>
              </a:tr>
              <a:tr h="161925">
                <a:tc>
                  <a:txBody>
                    <a:bodyPr/>
                    <a:lstStyle/>
                    <a:p>
                      <a:pPr algn="l" fontAlgn="t"/>
                      <a:r>
                        <a:rPr lang="fr-FR" sz="1000" b="1" i="0" u="none" strike="noStrike">
                          <a:solidFill>
                            <a:srgbClr val="000000"/>
                          </a:solidFill>
                          <a:latin typeface="Arial"/>
                        </a:rPr>
                        <a:t>Application Transformation Streamline</a:t>
                      </a:r>
                    </a:p>
                  </a:txBody>
                  <a:tcPr marL="0" marR="0" marT="0" marB="0">
                    <a:lnL>
                      <a:noFill/>
                    </a:lnL>
                    <a:lnR>
                      <a:noFill/>
                    </a:lnR>
                    <a:lnT>
                      <a:noFill/>
                    </a:lnT>
                    <a:lnB>
                      <a:noFill/>
                    </a:lnB>
                  </a:tcPr>
                </a:tc>
                <a:tc>
                  <a:txBody>
                    <a:bodyPr/>
                    <a:lstStyle/>
                    <a:p>
                      <a:pPr algn="r" fontAlgn="t"/>
                      <a:r>
                        <a:rPr lang="fr-FR" sz="1000" b="1" i="0" u="none" strike="noStrike">
                          <a:solidFill>
                            <a:srgbClr val="000000"/>
                          </a:solidFill>
                          <a:latin typeface="Arial"/>
                        </a:rPr>
                        <a:t>0,00</a:t>
                      </a:r>
                    </a:p>
                  </a:txBody>
                  <a:tcPr marL="0" marR="0" marT="0" marB="0">
                    <a:lnL>
                      <a:noFill/>
                    </a:lnL>
                    <a:lnR>
                      <a:noFill/>
                    </a:lnR>
                    <a:lnT>
                      <a:noFill/>
                    </a:lnT>
                    <a:lnB>
                      <a:noFill/>
                    </a:lnB>
                  </a:tcPr>
                </a:tc>
              </a:tr>
              <a:tr h="161925">
                <a:tc>
                  <a:txBody>
                    <a:bodyPr/>
                    <a:lstStyle/>
                    <a:p>
                      <a:pPr algn="l" fontAlgn="t"/>
                      <a:r>
                        <a:rPr lang="fr-FR" sz="1000" b="1" i="0" u="none" strike="noStrike">
                          <a:solidFill>
                            <a:srgbClr val="000000"/>
                          </a:solidFill>
                          <a:latin typeface="Arial"/>
                        </a:rPr>
                        <a:t>SharePoint Streamline</a:t>
                      </a:r>
                    </a:p>
                  </a:txBody>
                  <a:tcPr marL="0" marR="0" marT="0" marB="0">
                    <a:lnL>
                      <a:noFill/>
                    </a:lnL>
                    <a:lnR>
                      <a:noFill/>
                    </a:lnR>
                    <a:lnT>
                      <a:noFill/>
                    </a:lnT>
                    <a:lnB>
                      <a:noFill/>
                    </a:lnB>
                  </a:tcPr>
                </a:tc>
                <a:tc>
                  <a:txBody>
                    <a:bodyPr/>
                    <a:lstStyle/>
                    <a:p>
                      <a:pPr algn="r" fontAlgn="t"/>
                      <a:r>
                        <a:rPr lang="fr-FR" sz="1000" b="1" i="0" u="none" strike="noStrike">
                          <a:solidFill>
                            <a:srgbClr val="000000"/>
                          </a:solidFill>
                          <a:latin typeface="Arial"/>
                        </a:rPr>
                        <a:t>3,55</a:t>
                      </a:r>
                    </a:p>
                  </a:txBody>
                  <a:tcPr marL="0" marR="0" marT="0" marB="0">
                    <a:lnL>
                      <a:noFill/>
                    </a:lnL>
                    <a:lnR>
                      <a:noFill/>
                    </a:lnR>
                    <a:lnT>
                      <a:noFill/>
                    </a:lnT>
                    <a:lnB>
                      <a:noFill/>
                    </a:lnB>
                  </a:tcPr>
                </a:tc>
              </a:tr>
              <a:tr h="161925">
                <a:tc>
                  <a:txBody>
                    <a:bodyPr/>
                    <a:lstStyle/>
                    <a:p>
                      <a:pPr algn="l" fontAlgn="t"/>
                      <a:r>
                        <a:rPr lang="fr-FR" sz="1000" b="1" i="0" u="none" strike="noStrike" dirty="0">
                          <a:solidFill>
                            <a:srgbClr val="000000"/>
                          </a:solidFill>
                          <a:latin typeface="Arial"/>
                        </a:rPr>
                        <a:t>PMO </a:t>
                      </a:r>
                      <a:r>
                        <a:rPr lang="fr-FR" sz="1000" b="1" i="0" u="none" strike="noStrike" dirty="0" err="1">
                          <a:solidFill>
                            <a:srgbClr val="000000"/>
                          </a:solidFill>
                          <a:latin typeface="Arial"/>
                        </a:rPr>
                        <a:t>Streamline</a:t>
                      </a:r>
                      <a:endParaRPr lang="fr-FR" sz="1000" b="1" i="0" u="none" strike="noStrike" dirty="0">
                        <a:solidFill>
                          <a:srgbClr val="000000"/>
                        </a:solidFill>
                        <a:latin typeface="Arial"/>
                      </a:endParaRPr>
                    </a:p>
                  </a:txBody>
                  <a:tcPr marL="0" marR="0" marT="0" marB="0">
                    <a:lnL>
                      <a:noFill/>
                    </a:lnL>
                    <a:lnR>
                      <a:noFill/>
                    </a:lnR>
                    <a:lnT>
                      <a:noFill/>
                    </a:lnT>
                    <a:lnB>
                      <a:noFill/>
                    </a:lnB>
                  </a:tcPr>
                </a:tc>
                <a:tc>
                  <a:txBody>
                    <a:bodyPr/>
                    <a:lstStyle/>
                    <a:p>
                      <a:pPr algn="r" fontAlgn="t"/>
                      <a:r>
                        <a:rPr lang="fr-FR" sz="1000" b="1" i="0" u="none" strike="noStrike">
                          <a:solidFill>
                            <a:srgbClr val="000000"/>
                          </a:solidFill>
                          <a:latin typeface="Arial"/>
                        </a:rPr>
                        <a:t>4,00</a:t>
                      </a:r>
                    </a:p>
                  </a:txBody>
                  <a:tcPr marL="0" marR="0" marT="0" marB="0">
                    <a:lnL>
                      <a:noFill/>
                    </a:lnL>
                    <a:lnR>
                      <a:noFill/>
                    </a:lnR>
                    <a:lnT>
                      <a:noFill/>
                    </a:lnT>
                    <a:lnB>
                      <a:noFill/>
                    </a:lnB>
                  </a:tcPr>
                </a:tc>
              </a:tr>
              <a:tr h="161925">
                <a:tc>
                  <a:txBody>
                    <a:bodyPr/>
                    <a:lstStyle/>
                    <a:p>
                      <a:pPr algn="l" fontAlgn="t"/>
                      <a:r>
                        <a:rPr lang="fr-FR" sz="1000" b="1" i="0" u="none" strike="noStrike" dirty="0" err="1">
                          <a:solidFill>
                            <a:srgbClr val="000000"/>
                          </a:solidFill>
                          <a:latin typeface="Arial"/>
                        </a:rPr>
                        <a:t>Unified</a:t>
                      </a:r>
                      <a:r>
                        <a:rPr lang="fr-FR" sz="1000" b="1" i="0" u="none" strike="noStrike" dirty="0">
                          <a:solidFill>
                            <a:srgbClr val="000000"/>
                          </a:solidFill>
                          <a:latin typeface="Arial"/>
                        </a:rPr>
                        <a:t> Communication </a:t>
                      </a:r>
                      <a:r>
                        <a:rPr lang="fr-FR" sz="1000" b="1" i="0" u="none" strike="noStrike" dirty="0" err="1">
                          <a:solidFill>
                            <a:srgbClr val="000000"/>
                          </a:solidFill>
                          <a:latin typeface="Arial"/>
                        </a:rPr>
                        <a:t>Streamline</a:t>
                      </a:r>
                      <a:endParaRPr lang="fr-FR" sz="1000" b="1" i="0" u="none" strike="noStrike" dirty="0">
                        <a:solidFill>
                          <a:srgbClr val="000000"/>
                        </a:solidFill>
                        <a:latin typeface="Arial"/>
                      </a:endParaRPr>
                    </a:p>
                  </a:txBody>
                  <a:tcPr marL="0" marR="0" marT="0" marB="0">
                    <a:lnL>
                      <a:noFill/>
                    </a:lnL>
                    <a:lnR>
                      <a:noFill/>
                    </a:lnR>
                    <a:lnT>
                      <a:noFill/>
                    </a:lnT>
                    <a:lnB>
                      <a:noFill/>
                    </a:lnB>
                  </a:tcPr>
                </a:tc>
                <a:tc>
                  <a:txBody>
                    <a:bodyPr/>
                    <a:lstStyle/>
                    <a:p>
                      <a:pPr algn="r" fontAlgn="t"/>
                      <a:r>
                        <a:rPr lang="fr-FR" sz="1000" b="1" i="0" u="none" strike="noStrike">
                          <a:solidFill>
                            <a:srgbClr val="000000"/>
                          </a:solidFill>
                          <a:latin typeface="Arial"/>
                        </a:rPr>
                        <a:t>3,40</a:t>
                      </a:r>
                    </a:p>
                  </a:txBody>
                  <a:tcPr marL="0" marR="0" marT="0" marB="0">
                    <a:lnL>
                      <a:noFill/>
                    </a:lnL>
                    <a:lnR>
                      <a:noFill/>
                    </a:lnR>
                    <a:lnT>
                      <a:noFill/>
                    </a:lnT>
                    <a:lnB>
                      <a:noFill/>
                    </a:lnB>
                  </a:tcPr>
                </a:tc>
              </a:tr>
              <a:tr h="161925">
                <a:tc>
                  <a:txBody>
                    <a:bodyPr/>
                    <a:lstStyle/>
                    <a:p>
                      <a:pPr algn="l" fontAlgn="t"/>
                      <a:r>
                        <a:rPr lang="fr-FR" sz="1000" b="1" i="0" u="none" strike="noStrike">
                          <a:solidFill>
                            <a:srgbClr val="000000"/>
                          </a:solidFill>
                          <a:latin typeface="Arial"/>
                        </a:rPr>
                        <a:t>Architecture</a:t>
                      </a:r>
                    </a:p>
                  </a:txBody>
                  <a:tcPr marL="0" marR="0" marT="0" marB="0">
                    <a:lnL>
                      <a:noFill/>
                    </a:lnL>
                    <a:lnR>
                      <a:noFill/>
                    </a:lnR>
                    <a:lnT>
                      <a:noFill/>
                    </a:lnT>
                    <a:lnB>
                      <a:noFill/>
                    </a:lnB>
                  </a:tcPr>
                </a:tc>
                <a:tc>
                  <a:txBody>
                    <a:bodyPr/>
                    <a:lstStyle/>
                    <a:p>
                      <a:pPr algn="r" fontAlgn="t"/>
                      <a:r>
                        <a:rPr lang="fr-FR" sz="1000" b="1" i="0" u="none" strike="noStrike">
                          <a:solidFill>
                            <a:srgbClr val="000000"/>
                          </a:solidFill>
                          <a:latin typeface="Arial"/>
                        </a:rPr>
                        <a:t>3,17</a:t>
                      </a:r>
                    </a:p>
                  </a:txBody>
                  <a:tcPr marL="0" marR="0" marT="0" marB="0">
                    <a:lnL>
                      <a:noFill/>
                    </a:lnL>
                    <a:lnR>
                      <a:noFill/>
                    </a:lnR>
                    <a:lnT>
                      <a:noFill/>
                    </a:lnT>
                    <a:lnB>
                      <a:noFill/>
                    </a:lnB>
                  </a:tcPr>
                </a:tc>
              </a:tr>
              <a:tr h="161925">
                <a:tc>
                  <a:txBody>
                    <a:bodyPr/>
                    <a:lstStyle/>
                    <a:p>
                      <a:pPr algn="l" fontAlgn="t"/>
                      <a:endParaRPr lang="fr-FR" sz="1000" b="1" i="0" u="none" strike="noStrike">
                        <a:solidFill>
                          <a:srgbClr val="000000"/>
                        </a:solidFill>
                        <a:latin typeface="Arial"/>
                      </a:endParaRPr>
                    </a:p>
                  </a:txBody>
                  <a:tcPr marL="0" marR="0" marT="0" marB="0">
                    <a:lnL>
                      <a:noFill/>
                    </a:lnL>
                    <a:lnR>
                      <a:noFill/>
                    </a:lnR>
                    <a:lnT>
                      <a:noFill/>
                    </a:lnT>
                    <a:lnB>
                      <a:noFill/>
                    </a:lnB>
                  </a:tcPr>
                </a:tc>
                <a:tc>
                  <a:txBody>
                    <a:bodyPr/>
                    <a:lstStyle/>
                    <a:p>
                      <a:pPr algn="r" fontAlgn="t"/>
                      <a:endParaRPr lang="fr-FR" sz="1000" b="1" i="0" u="none" strike="noStrike">
                        <a:solidFill>
                          <a:srgbClr val="000000"/>
                        </a:solidFill>
                        <a:latin typeface="Arial"/>
                      </a:endParaRPr>
                    </a:p>
                  </a:txBody>
                  <a:tcPr marL="0" marR="0" marT="0" marB="0">
                    <a:lnL>
                      <a:noFill/>
                    </a:lnL>
                    <a:lnR>
                      <a:noFill/>
                    </a:lnR>
                    <a:lnT>
                      <a:noFill/>
                    </a:lnT>
                    <a:lnB>
                      <a:noFill/>
                    </a:lnB>
                  </a:tcPr>
                </a:tc>
              </a:tr>
              <a:tr h="161925">
                <a:tc>
                  <a:txBody>
                    <a:bodyPr/>
                    <a:lstStyle/>
                    <a:p>
                      <a:pPr algn="l" fontAlgn="t"/>
                      <a:r>
                        <a:rPr lang="fr-FR" sz="1000" b="1" i="0" u="none" strike="noStrike" dirty="0">
                          <a:solidFill>
                            <a:srgbClr val="000000"/>
                          </a:solidFill>
                          <a:latin typeface="Arial"/>
                        </a:rPr>
                        <a:t>Total RAG </a:t>
                      </a:r>
                      <a:r>
                        <a:rPr lang="fr-FR" sz="1000" b="1" i="0" u="none" strike="noStrike" dirty="0" err="1">
                          <a:solidFill>
                            <a:srgbClr val="000000"/>
                          </a:solidFill>
                          <a:latin typeface="Arial"/>
                        </a:rPr>
                        <a:t>Level</a:t>
                      </a:r>
                      <a:r>
                        <a:rPr lang="fr-FR" sz="1000" b="1" i="0" u="none" strike="noStrike" dirty="0">
                          <a:solidFill>
                            <a:srgbClr val="000000"/>
                          </a:solidFill>
                          <a:latin typeface="Arial"/>
                        </a:rPr>
                        <a:t> :</a:t>
                      </a:r>
                    </a:p>
                  </a:txBody>
                  <a:tcPr marL="0" marR="0" marT="0" marB="0">
                    <a:lnL>
                      <a:noFill/>
                    </a:lnL>
                    <a:lnR>
                      <a:noFill/>
                    </a:lnR>
                    <a:lnT>
                      <a:noFill/>
                    </a:lnT>
                    <a:lnB>
                      <a:noFill/>
                    </a:lnB>
                  </a:tcPr>
                </a:tc>
                <a:tc>
                  <a:txBody>
                    <a:bodyPr/>
                    <a:lstStyle/>
                    <a:p>
                      <a:pPr algn="r" fontAlgn="t"/>
                      <a:r>
                        <a:rPr lang="fr-FR" sz="1000" b="1" i="0" u="none" strike="noStrike" dirty="0">
                          <a:solidFill>
                            <a:srgbClr val="000000"/>
                          </a:solidFill>
                          <a:latin typeface="Arial"/>
                        </a:rPr>
                        <a:t>3,01</a:t>
                      </a:r>
                    </a:p>
                  </a:txBody>
                  <a:tcPr marL="0" marR="0" marT="0" marB="0">
                    <a:lnL>
                      <a:noFill/>
                    </a:lnL>
                    <a:lnR>
                      <a:noFill/>
                    </a:lnR>
                    <a:lnT>
                      <a:noFill/>
                    </a:lnT>
                    <a:lnB>
                      <a:noFill/>
                    </a:lnB>
                  </a:tcPr>
                </a:tc>
              </a:tr>
            </a:tbl>
          </a:graphicData>
        </a:graphic>
      </p:graphicFrame>
      <p:graphicFrame>
        <p:nvGraphicFramePr>
          <p:cNvPr id="9" name="Chart 8"/>
          <p:cNvGraphicFramePr/>
          <p:nvPr/>
        </p:nvGraphicFramePr>
        <p:xfrm>
          <a:off x="3619498" y="717430"/>
          <a:ext cx="3733800" cy="271157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p:cNvGraphicFramePr/>
          <p:nvPr/>
        </p:nvGraphicFramePr>
        <p:xfrm>
          <a:off x="3505200" y="3581400"/>
          <a:ext cx="3848098" cy="2947314"/>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984885"/>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latin typeface="EYInterstate"/>
              </a:rPr>
              <a:t>8.a </a:t>
            </a:r>
            <a:r>
              <a:rPr lang="en-US" sz="1600" b="1" kern="0" dirty="0">
                <a:solidFill>
                  <a:srgbClr val="646464"/>
                </a:solidFill>
                <a:latin typeface="EYInterstate"/>
              </a:rPr>
              <a:t>Microsoft Executive Summary</a:t>
            </a:r>
          </a:p>
          <a:p>
            <a:pPr defTabSz="955675" eaLnBrk="0" hangingPunct="0">
              <a:spcAft>
                <a:spcPts val="0"/>
              </a:spcAft>
              <a:defRPr/>
            </a:pPr>
            <a:endParaRPr lang="en-US" sz="1400" b="1" kern="0" dirty="0">
              <a:solidFill>
                <a:srgbClr val="646464"/>
              </a:solidFill>
              <a:latin typeface="EYInterstate"/>
            </a:endParaRPr>
          </a:p>
          <a:p>
            <a:pPr lvl="0" defTabSz="955675" eaLnBrk="0" hangingPunct="0">
              <a:spcAft>
                <a:spcPts val="0"/>
              </a:spcAft>
              <a:defRPr/>
            </a:pPr>
            <a:endParaRPr lang="en-US" sz="1400" kern="0" dirty="0">
              <a:solidFill>
                <a:srgbClr val="646464"/>
              </a:solidFill>
            </a:endParaRPr>
          </a:p>
          <a:p>
            <a:pPr defTabSz="955675" eaLnBrk="0" hangingPunct="0">
              <a:spcAft>
                <a:spcPts val="0"/>
              </a:spcAft>
              <a:defRPr/>
            </a:pPr>
            <a:endParaRPr lang="en-US" sz="1400" kern="0" dirty="0">
              <a:solidFill>
                <a:srgbClr val="646464"/>
              </a:solidFill>
              <a:latin typeface="EYInterstate"/>
            </a:endParaRPr>
          </a:p>
        </p:txBody>
      </p:sp>
      <p:graphicFrame>
        <p:nvGraphicFramePr>
          <p:cNvPr id="7" name="Group 852"/>
          <p:cNvGraphicFramePr>
            <a:graphicFrameLocks noGrp="1"/>
          </p:cNvGraphicFramePr>
          <p:nvPr/>
        </p:nvGraphicFramePr>
        <p:xfrm>
          <a:off x="4572000" y="1676400"/>
          <a:ext cx="3698269" cy="1002715"/>
        </p:xfrm>
        <a:graphic>
          <a:graphicData uri="http://schemas.openxmlformats.org/drawingml/2006/table">
            <a:tbl>
              <a:tblPr/>
              <a:tblGrid>
                <a:gridCol w="3698269"/>
              </a:tblGrid>
              <a:tr h="17663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COMMENTS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57838">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a:ln>
                            <a:noFill/>
                          </a:ln>
                          <a:solidFill>
                            <a:srgbClr val="000000"/>
                          </a:solidFill>
                          <a:effectLst/>
                          <a:latin typeface="EYInterstate Light" pitchFamily="2" charset="0"/>
                        </a:rPr>
                        <a:t>Messaging Envisioning invoice exceeded by $79,872 variance,</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a:ln>
                            <a:noFill/>
                          </a:ln>
                          <a:solidFill>
                            <a:srgbClr val="000000"/>
                          </a:solidFill>
                          <a:effectLst/>
                          <a:latin typeface="EYInterstate Light" pitchFamily="2" charset="0"/>
                        </a:rPr>
                        <a:t>Variance for SharePoint Enablement SOW (T&amp;M)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84131">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err="1">
                          <a:ln>
                            <a:noFill/>
                          </a:ln>
                          <a:solidFill>
                            <a:srgbClr val="000000"/>
                          </a:solidFill>
                          <a:effectLst/>
                          <a:latin typeface="EYInterstate Light" pitchFamily="2" charset="0"/>
                        </a:rPr>
                        <a:t>Lync</a:t>
                      </a:r>
                      <a:r>
                        <a:rPr kumimoji="0" lang="en-US" sz="700" b="0" i="0" u="none" strike="noStrike" cap="none" normalizeH="0" baseline="0" dirty="0">
                          <a:ln>
                            <a:noFill/>
                          </a:ln>
                          <a:solidFill>
                            <a:srgbClr val="000000"/>
                          </a:solidFill>
                          <a:effectLst/>
                          <a:latin typeface="EYInterstate Light" pitchFamily="2" charset="0"/>
                        </a:rPr>
                        <a:t> Envisioning and SharePoint Foundation totally invoiced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84116">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8" name="Table 7"/>
          <p:cNvGraphicFramePr>
            <a:graphicFrameLocks noGrp="1"/>
          </p:cNvGraphicFramePr>
          <p:nvPr/>
        </p:nvGraphicFramePr>
        <p:xfrm>
          <a:off x="152400" y="838200"/>
          <a:ext cx="4191000" cy="2354580"/>
        </p:xfrm>
        <a:graphic>
          <a:graphicData uri="http://schemas.openxmlformats.org/drawingml/2006/table">
            <a:tbl>
              <a:tblPr/>
              <a:tblGrid>
                <a:gridCol w="2544183"/>
                <a:gridCol w="828339"/>
                <a:gridCol w="818478"/>
              </a:tblGrid>
              <a:tr h="161925">
                <a:tc gridSpan="2">
                  <a:txBody>
                    <a:bodyPr/>
                    <a:lstStyle/>
                    <a:p>
                      <a:pPr marL="0" algn="l" defTabSz="914400" rtl="0" eaLnBrk="1" fontAlgn="b" latinLnBrk="0" hangingPunct="1"/>
                      <a:r>
                        <a:rPr lang="en-US" sz="1600" b="1" kern="0" dirty="0">
                          <a:solidFill>
                            <a:srgbClr val="646464"/>
                          </a:solidFill>
                          <a:latin typeface="EYInterstate"/>
                          <a:ea typeface="+mn-ea"/>
                          <a:cs typeface="+mn-cs"/>
                        </a:rPr>
                        <a:t>Microsoft Monthly Spend Summary - January 2012</a:t>
                      </a:r>
                    </a:p>
                  </a:txBody>
                  <a:tcPr marL="0" marR="0" marT="0" marB="0" anchor="b">
                    <a:lnL>
                      <a:noFill/>
                    </a:lnL>
                    <a:lnR>
                      <a:noFill/>
                    </a:lnR>
                    <a:lnT>
                      <a:noFill/>
                    </a:lnT>
                    <a:lnB>
                      <a:noFill/>
                    </a:lnB>
                  </a:tcPr>
                </a:tc>
                <a:tc hMerge="1">
                  <a:txBody>
                    <a:bodyPr/>
                    <a:lstStyle/>
                    <a:p>
                      <a:endParaRPr lang="fr-FR"/>
                    </a:p>
                  </a:txBody>
                  <a:tcPr/>
                </a:tc>
                <a:tc>
                  <a:txBody>
                    <a:bodyPr/>
                    <a:lstStyle/>
                    <a:p>
                      <a:pPr algn="l" fontAlgn="b"/>
                      <a:endParaRPr lang="fr-FR" sz="1000" b="0" i="0" u="none" strike="noStrike">
                        <a:solidFill>
                          <a:srgbClr val="000000"/>
                        </a:solidFill>
                        <a:latin typeface="Arial"/>
                      </a:endParaRPr>
                    </a:p>
                  </a:txBody>
                  <a:tcPr marL="0" marR="0" marT="0" marB="0" anchor="b">
                    <a:lnL>
                      <a:noFill/>
                    </a:lnL>
                    <a:lnR>
                      <a:noFill/>
                    </a:lnR>
                    <a:lnT>
                      <a:noFill/>
                    </a:lnT>
                    <a:lnB>
                      <a:noFill/>
                    </a:lnB>
                  </a:tcPr>
                </a:tc>
              </a:tr>
              <a:tr h="171450">
                <a:tc>
                  <a:txBody>
                    <a:bodyPr/>
                    <a:lstStyle/>
                    <a:p>
                      <a:pPr algn="l" fontAlgn="b"/>
                      <a:endParaRPr lang="fr-FR" sz="1000" b="0" i="0" u="none" strike="noStrike">
                        <a:solidFill>
                          <a:srgbClr val="000000"/>
                        </a:solidFill>
                        <a:latin typeface="Arial"/>
                      </a:endParaRPr>
                    </a:p>
                  </a:txBody>
                  <a:tcPr marL="0" marR="0" marT="0" marB="0" anchor="b">
                    <a:lnL>
                      <a:noFill/>
                    </a:lnL>
                    <a:lnR>
                      <a:noFill/>
                    </a:lnR>
                    <a:lnT>
                      <a:noFill/>
                    </a:lnT>
                    <a:lnB>
                      <a:noFill/>
                    </a:lnB>
                  </a:tcPr>
                </a:tc>
                <a:tc>
                  <a:txBody>
                    <a:bodyPr/>
                    <a:lstStyle/>
                    <a:p>
                      <a:pPr algn="l" fontAlgn="b"/>
                      <a:endParaRPr lang="fr-FR" sz="1000" b="0" i="0" u="none" strike="noStrike" dirty="0">
                        <a:solidFill>
                          <a:srgbClr val="000000"/>
                        </a:solidFill>
                        <a:latin typeface="Arial"/>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fr-FR" sz="1000" b="0" i="0" u="none" strike="noStrike">
                        <a:solidFill>
                          <a:srgbClr val="000000"/>
                        </a:solidFill>
                        <a:latin typeface="Arial"/>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r>
              <a:tr h="171450">
                <a:tc>
                  <a:txBody>
                    <a:bodyPr/>
                    <a:lstStyle/>
                    <a:p>
                      <a:pPr algn="l" fontAlgn="b"/>
                      <a:endParaRPr lang="fr-FR" sz="1000" b="0" i="0" u="none" strike="noStrike">
                        <a:solidFill>
                          <a:srgbClr val="000000"/>
                        </a:solidFill>
                        <a:latin typeface="Arial"/>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l" fontAlgn="b"/>
                      <a:r>
                        <a:rPr lang="fr-FR" sz="1000" b="1" i="0" u="none" strike="noStrike" dirty="0">
                          <a:solidFill>
                            <a:srgbClr val="000000"/>
                          </a:solidFill>
                          <a:latin typeface="EYInterstate"/>
                        </a:rPr>
                        <a:t>Total FY12</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B4B4"/>
                    </a:solidFill>
                  </a:tcPr>
                </a:tc>
                <a:tc>
                  <a:txBody>
                    <a:bodyPr/>
                    <a:lstStyle/>
                    <a:p>
                      <a:pPr algn="l" fontAlgn="b"/>
                      <a:r>
                        <a:rPr lang="fr-FR" sz="1000" b="1" i="0" u="none" strike="noStrike" dirty="0">
                          <a:solidFill>
                            <a:srgbClr val="000000"/>
                          </a:solidFill>
                          <a:latin typeface="EYInterstate"/>
                        </a:rPr>
                        <a:t>Jan-12</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B4B4"/>
                    </a:solidFill>
                  </a:tcPr>
                </a:tc>
              </a:tr>
              <a:tr h="171450">
                <a:tc>
                  <a:txBody>
                    <a:bodyPr/>
                    <a:lstStyle/>
                    <a:p>
                      <a:pPr algn="l" fontAlgn="b"/>
                      <a:r>
                        <a:rPr lang="fr-FR" sz="1000" b="1" i="0" u="none" strike="noStrike" dirty="0" err="1">
                          <a:solidFill>
                            <a:srgbClr val="000000"/>
                          </a:solidFill>
                          <a:latin typeface="EYInterstate"/>
                        </a:rPr>
                        <a:t>Forecast</a:t>
                      </a:r>
                      <a:endParaRPr lang="fr-FR" sz="1000" b="1" i="0" u="none" strike="noStrike" dirty="0">
                        <a:solidFill>
                          <a:srgbClr val="000000"/>
                        </a:solidFill>
                        <a:latin typeface="EYInterstate"/>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E600"/>
                    </a:solidFill>
                  </a:tcPr>
                </a:tc>
                <a:tc>
                  <a:txBody>
                    <a:bodyPr/>
                    <a:lstStyle/>
                    <a:p>
                      <a:pPr algn="l" fontAlgn="b"/>
                      <a:r>
                        <a:rPr lang="fr-FR" sz="1000" b="1" i="0" u="none" strike="noStrike">
                          <a:solidFill>
                            <a:srgbClr val="000000"/>
                          </a:solidFill>
                          <a:latin typeface="EYInterstate"/>
                        </a:rPr>
                        <a:t> $10 647 019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1" i="0" u="none" strike="noStrike">
                          <a:solidFill>
                            <a:srgbClr val="000000"/>
                          </a:solidFill>
                          <a:latin typeface="EYInterstate"/>
                        </a:rPr>
                        <a:t> $    261 970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1925">
                <a:tc>
                  <a:txBody>
                    <a:bodyPr/>
                    <a:lstStyle/>
                    <a:p>
                      <a:pPr algn="l" fontAlgn="b"/>
                      <a:r>
                        <a:rPr lang="fr-FR" sz="1000" b="0" i="1" u="none" strike="noStrike">
                          <a:solidFill>
                            <a:srgbClr val="000000"/>
                          </a:solidFill>
                          <a:latin typeface="EYInterstate"/>
                        </a:rPr>
                        <a:t>Forecast (SOW)</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$ 9 195 973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227 800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1450">
                <a:tc>
                  <a:txBody>
                    <a:bodyPr/>
                    <a:lstStyle/>
                    <a:p>
                      <a:pPr algn="l" fontAlgn="b"/>
                      <a:r>
                        <a:rPr lang="fr-FR" sz="1000" b="0" i="1" u="none" strike="noStrike">
                          <a:solidFill>
                            <a:srgbClr val="000000"/>
                          </a:solidFill>
                          <a:latin typeface="EYInterstate"/>
                        </a:rPr>
                        <a:t>Forecast (Expense)</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$ 1 451 046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34 170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1450">
                <a:tc>
                  <a:txBody>
                    <a:bodyPr/>
                    <a:lstStyle/>
                    <a:p>
                      <a:pPr algn="l" fontAlgn="b"/>
                      <a:r>
                        <a:rPr lang="fr-FR" sz="1000" b="1" i="0" u="none" strike="noStrike" dirty="0" err="1">
                          <a:solidFill>
                            <a:srgbClr val="000000"/>
                          </a:solidFill>
                          <a:latin typeface="EYInterstate"/>
                        </a:rPr>
                        <a:t>Invoiced</a:t>
                      </a:r>
                      <a:endParaRPr lang="fr-FR" sz="1000" b="1" i="0" u="none" strike="noStrike" dirty="0">
                        <a:solidFill>
                          <a:srgbClr val="000000"/>
                        </a:solidFill>
                        <a:latin typeface="EYInterstate"/>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E600"/>
                    </a:solidFill>
                  </a:tcPr>
                </a:tc>
                <a:tc>
                  <a:txBody>
                    <a:bodyPr/>
                    <a:lstStyle/>
                    <a:p>
                      <a:pPr algn="l" fontAlgn="b"/>
                      <a:r>
                        <a:rPr lang="fr-FR" sz="1000" b="1" i="0" u="none" strike="noStrike">
                          <a:solidFill>
                            <a:srgbClr val="000000"/>
                          </a:solidFill>
                          <a:latin typeface="EYInterstate"/>
                        </a:rPr>
                        <a:t> $ 5 360 984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1" i="0" u="none" strike="noStrike">
                          <a:solidFill>
                            <a:srgbClr val="000000"/>
                          </a:solidFill>
                          <a:latin typeface="EYInterstate"/>
                        </a:rPr>
                        <a:t> $ 1 206 174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1450">
                <a:tc>
                  <a:txBody>
                    <a:bodyPr/>
                    <a:lstStyle/>
                    <a:p>
                      <a:pPr algn="l" fontAlgn="b"/>
                      <a:r>
                        <a:rPr lang="fr-FR" sz="1000" b="0" i="1" u="none" strike="noStrike">
                          <a:solidFill>
                            <a:srgbClr val="000000"/>
                          </a:solidFill>
                          <a:latin typeface="EYInterstate"/>
                        </a:rPr>
                        <a:t>Invoiced (SOW)</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$ 5 071 221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00" b="0" i="1" u="none" strike="noStrike" dirty="0">
                          <a:solidFill>
                            <a:srgbClr val="000000"/>
                          </a:solidFill>
                          <a:latin typeface="EYInterstate"/>
                        </a:rPr>
                        <a:t> $   916 411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1450">
                <a:tc>
                  <a:txBody>
                    <a:bodyPr/>
                    <a:lstStyle/>
                    <a:p>
                      <a:pPr algn="l" fontAlgn="b"/>
                      <a:r>
                        <a:rPr lang="fr-FR" sz="1000" b="0" i="1" u="none" strike="noStrike">
                          <a:solidFill>
                            <a:srgbClr val="000000"/>
                          </a:solidFill>
                          <a:latin typeface="EYInterstate"/>
                        </a:rPr>
                        <a:t>Invoiced (Expense)</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289 764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289 764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1450">
                <a:tc>
                  <a:txBody>
                    <a:bodyPr/>
                    <a:lstStyle/>
                    <a:p>
                      <a:pPr algn="l" fontAlgn="b"/>
                      <a:r>
                        <a:rPr lang="fr-FR" sz="1000" b="1" i="0" u="none" strike="noStrike" dirty="0">
                          <a:solidFill>
                            <a:srgbClr val="000000"/>
                          </a:solidFill>
                          <a:latin typeface="EYInterstate"/>
                        </a:rPr>
                        <a:t>Variance</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E600"/>
                    </a:solidFill>
                  </a:tcPr>
                </a:tc>
                <a:tc>
                  <a:txBody>
                    <a:bodyPr/>
                    <a:lstStyle/>
                    <a:p>
                      <a:pPr algn="l" fontAlgn="b"/>
                      <a:r>
                        <a:rPr lang="fr-FR" sz="1000" b="0" i="1" u="none" strike="noStrike">
                          <a:solidFill>
                            <a:srgbClr val="000000"/>
                          </a:solidFill>
                          <a:latin typeface="EYInterstate"/>
                        </a:rPr>
                        <a:t> </a:t>
                      </a: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a:t>
                      </a: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1925">
                <a:tc>
                  <a:txBody>
                    <a:bodyPr/>
                    <a:lstStyle/>
                    <a:p>
                      <a:pPr algn="l" fontAlgn="b"/>
                      <a:r>
                        <a:rPr lang="fr-FR" sz="1000" b="0" i="1" u="none" strike="noStrike">
                          <a:solidFill>
                            <a:srgbClr val="000000"/>
                          </a:solidFill>
                          <a:latin typeface="EYInterstate"/>
                        </a:rPr>
                        <a:t>Variance (SOW)</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$ 4 124 752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-688 611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r>
              <a:tr h="171450">
                <a:tc>
                  <a:txBody>
                    <a:bodyPr/>
                    <a:lstStyle/>
                    <a:p>
                      <a:pPr algn="l" fontAlgn="b"/>
                      <a:r>
                        <a:rPr lang="fr-FR" sz="1000" b="0" i="1" u="none" strike="noStrike">
                          <a:solidFill>
                            <a:srgbClr val="000000"/>
                          </a:solidFill>
                          <a:latin typeface="EYInterstate"/>
                        </a:rPr>
                        <a:t>Variance (Expense)</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$ 1 161 282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dirty="0">
                          <a:solidFill>
                            <a:srgbClr val="000000"/>
                          </a:solidFill>
                          <a:latin typeface="EYInterstate"/>
                        </a:rPr>
                        <a:t> $  -255 594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r>
            </a:tbl>
          </a:graphicData>
        </a:graphic>
      </p:graphicFrame>
      <p:graphicFrame>
        <p:nvGraphicFramePr>
          <p:cNvPr id="9" name="Chart 8"/>
          <p:cNvGraphicFramePr/>
          <p:nvPr/>
        </p:nvGraphicFramePr>
        <p:xfrm>
          <a:off x="-2459" y="3429000"/>
          <a:ext cx="4345859" cy="29718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p:cNvGraphicFramePr/>
          <p:nvPr/>
        </p:nvGraphicFramePr>
        <p:xfrm>
          <a:off x="4572000" y="3429000"/>
          <a:ext cx="4222750" cy="2707481"/>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984885"/>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latin typeface="EYInterstate"/>
              </a:rPr>
              <a:t>8.b </a:t>
            </a:r>
            <a:r>
              <a:rPr lang="en-US" sz="1600" b="1" kern="0" dirty="0">
                <a:solidFill>
                  <a:srgbClr val="646464"/>
                </a:solidFill>
                <a:latin typeface="EYInterstate"/>
              </a:rPr>
              <a:t>Microsoft Executive Summary</a:t>
            </a:r>
          </a:p>
          <a:p>
            <a:pPr defTabSz="955675" eaLnBrk="0" hangingPunct="0">
              <a:spcAft>
                <a:spcPts val="0"/>
              </a:spcAft>
              <a:defRPr/>
            </a:pPr>
            <a:endParaRPr lang="en-US" sz="1400" b="1" kern="0" dirty="0">
              <a:solidFill>
                <a:srgbClr val="646464"/>
              </a:solidFill>
              <a:latin typeface="EYInterstate"/>
            </a:endParaRPr>
          </a:p>
          <a:p>
            <a:pPr lvl="0" defTabSz="955675" eaLnBrk="0" hangingPunct="0">
              <a:spcAft>
                <a:spcPts val="0"/>
              </a:spcAft>
              <a:defRPr/>
            </a:pPr>
            <a:endParaRPr lang="en-US" sz="1400" kern="0" dirty="0">
              <a:solidFill>
                <a:srgbClr val="646464"/>
              </a:solidFill>
            </a:endParaRPr>
          </a:p>
          <a:p>
            <a:pPr defTabSz="955675" eaLnBrk="0" hangingPunct="0">
              <a:spcAft>
                <a:spcPts val="0"/>
              </a:spcAft>
              <a:defRPr/>
            </a:pPr>
            <a:endParaRPr lang="en-US" sz="1400" kern="0" dirty="0">
              <a:solidFill>
                <a:srgbClr val="646464"/>
              </a:solidFill>
              <a:latin typeface="EYInterstate"/>
            </a:endParaRPr>
          </a:p>
        </p:txBody>
      </p:sp>
      <p:graphicFrame>
        <p:nvGraphicFramePr>
          <p:cNvPr id="10" name="Group 852"/>
          <p:cNvGraphicFramePr>
            <a:graphicFrameLocks noGrp="1"/>
          </p:cNvGraphicFramePr>
          <p:nvPr/>
        </p:nvGraphicFramePr>
        <p:xfrm>
          <a:off x="4572000" y="1676400"/>
          <a:ext cx="3698269" cy="1002715"/>
        </p:xfrm>
        <a:graphic>
          <a:graphicData uri="http://schemas.openxmlformats.org/drawingml/2006/table">
            <a:tbl>
              <a:tblPr/>
              <a:tblGrid>
                <a:gridCol w="3698269"/>
              </a:tblGrid>
              <a:tr h="17663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COMMENTS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57838">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84131">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84116">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1" name="Table 10"/>
          <p:cNvGraphicFramePr>
            <a:graphicFrameLocks noGrp="1"/>
          </p:cNvGraphicFramePr>
          <p:nvPr/>
        </p:nvGraphicFramePr>
        <p:xfrm>
          <a:off x="152400" y="838200"/>
          <a:ext cx="4191000" cy="2537528"/>
        </p:xfrm>
        <a:graphic>
          <a:graphicData uri="http://schemas.openxmlformats.org/drawingml/2006/table">
            <a:tbl>
              <a:tblPr/>
              <a:tblGrid>
                <a:gridCol w="2544182"/>
                <a:gridCol w="828340"/>
                <a:gridCol w="818478"/>
              </a:tblGrid>
              <a:tr h="318530">
                <a:tc gridSpan="3">
                  <a:txBody>
                    <a:bodyPr/>
                    <a:lstStyle/>
                    <a:p>
                      <a:pPr marL="0" algn="l" defTabSz="914400" rtl="0" eaLnBrk="1" fontAlgn="b" latinLnBrk="0" hangingPunct="1"/>
                      <a:r>
                        <a:rPr lang="en-US" sz="1600" b="1" kern="0" dirty="0">
                          <a:solidFill>
                            <a:srgbClr val="646464"/>
                          </a:solidFill>
                          <a:latin typeface="EYInterstate"/>
                          <a:ea typeface="+mn-ea"/>
                          <a:cs typeface="+mn-cs"/>
                        </a:rPr>
                        <a:t>Microsoft Cumulative Spend Summary - January 2012 </a:t>
                      </a:r>
                    </a:p>
                  </a:txBody>
                  <a:tcPr marL="0" marR="0" marT="0" marB="0" anchor="b">
                    <a:lnL>
                      <a:noFill/>
                    </a:lnL>
                    <a:lnR>
                      <a:noFill/>
                    </a:lnR>
                    <a:lnT>
                      <a:noFill/>
                    </a:lnT>
                    <a:lnB>
                      <a:noFill/>
                    </a:lnB>
                  </a:tcPr>
                </a:tc>
                <a:tc hMerge="1">
                  <a:txBody>
                    <a:bodyPr/>
                    <a:lstStyle/>
                    <a:p>
                      <a:endParaRPr lang="fr-FR"/>
                    </a:p>
                  </a:txBody>
                  <a:tcPr/>
                </a:tc>
                <a:tc hMerge="1">
                  <a:txBody>
                    <a:bodyPr/>
                    <a:lstStyle/>
                    <a:p>
                      <a:endParaRPr lang="fr-FR"/>
                    </a:p>
                  </a:txBody>
                  <a:tcPr/>
                </a:tc>
              </a:tr>
              <a:tr h="99541">
                <a:tc>
                  <a:txBody>
                    <a:bodyPr/>
                    <a:lstStyle/>
                    <a:p>
                      <a:pPr algn="l" fontAlgn="b"/>
                      <a:endParaRPr lang="fr-FR" sz="1000" b="0" i="0" u="none" strike="noStrike">
                        <a:solidFill>
                          <a:srgbClr val="000000"/>
                        </a:solidFill>
                        <a:latin typeface="Arial"/>
                      </a:endParaRPr>
                    </a:p>
                  </a:txBody>
                  <a:tcPr marL="0" marR="0" marT="0" marB="0" anchor="b">
                    <a:lnL>
                      <a:noFill/>
                    </a:lnL>
                    <a:lnR>
                      <a:noFill/>
                    </a:lnR>
                    <a:lnT>
                      <a:noFill/>
                    </a:lnT>
                    <a:lnB>
                      <a:noFill/>
                    </a:lnB>
                  </a:tcPr>
                </a:tc>
                <a:tc>
                  <a:txBody>
                    <a:bodyPr/>
                    <a:lstStyle/>
                    <a:p>
                      <a:pPr algn="l" fontAlgn="b"/>
                      <a:endParaRPr lang="fr-FR" sz="1000" b="0" i="0" u="none" strike="noStrike">
                        <a:solidFill>
                          <a:srgbClr val="000000"/>
                        </a:solidFill>
                        <a:latin typeface="Arial"/>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fr-FR" sz="1000" b="0" i="0" u="none" strike="noStrike">
                        <a:solidFill>
                          <a:srgbClr val="000000"/>
                        </a:solidFill>
                        <a:latin typeface="Arial"/>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r>
              <a:tr h="99541">
                <a:tc>
                  <a:txBody>
                    <a:bodyPr/>
                    <a:lstStyle/>
                    <a:p>
                      <a:pPr algn="l" fontAlgn="b"/>
                      <a:endParaRPr lang="fr-FR" sz="1000" b="0" i="0" u="none" strike="noStrike">
                        <a:solidFill>
                          <a:srgbClr val="000000"/>
                        </a:solidFill>
                        <a:latin typeface="Arial"/>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l" fontAlgn="b"/>
                      <a:r>
                        <a:rPr lang="fr-FR" sz="1000" b="1" i="0" u="none" strike="noStrike" dirty="0">
                          <a:solidFill>
                            <a:srgbClr val="000000"/>
                          </a:solidFill>
                          <a:latin typeface="EYInterstate"/>
                        </a:rPr>
                        <a:t>Total FY12</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B4B4"/>
                    </a:solidFill>
                  </a:tcPr>
                </a:tc>
                <a:tc>
                  <a:txBody>
                    <a:bodyPr/>
                    <a:lstStyle/>
                    <a:p>
                      <a:pPr algn="l" fontAlgn="b"/>
                      <a:r>
                        <a:rPr lang="fr-FR" sz="1000" b="1" i="0" u="none" strike="noStrike" dirty="0">
                          <a:solidFill>
                            <a:srgbClr val="000000"/>
                          </a:solidFill>
                          <a:latin typeface="EYInterstate"/>
                        </a:rPr>
                        <a:t>Jan-12</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B4B4"/>
                    </a:solidFill>
                  </a:tcPr>
                </a:tc>
              </a:tr>
              <a:tr h="199081">
                <a:tc>
                  <a:txBody>
                    <a:bodyPr/>
                    <a:lstStyle/>
                    <a:p>
                      <a:pPr algn="l" fontAlgn="b"/>
                      <a:r>
                        <a:rPr lang="fr-FR" sz="1000" b="1" i="0" u="none" strike="noStrike" dirty="0" err="1">
                          <a:solidFill>
                            <a:srgbClr val="000000"/>
                          </a:solidFill>
                          <a:latin typeface="EYInterstate"/>
                        </a:rPr>
                        <a:t>Forecast</a:t>
                      </a:r>
                      <a:endParaRPr lang="fr-FR" sz="1000" b="1" i="0" u="none" strike="noStrike" dirty="0">
                        <a:solidFill>
                          <a:srgbClr val="000000"/>
                        </a:solidFill>
                        <a:latin typeface="EYInterstate"/>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E600"/>
                    </a:solidFill>
                  </a:tcPr>
                </a:tc>
                <a:tc>
                  <a:txBody>
                    <a:bodyPr/>
                    <a:lstStyle/>
                    <a:p>
                      <a:pPr algn="l" fontAlgn="b"/>
                      <a:r>
                        <a:rPr lang="fr-FR" sz="1000" b="1" i="0" u="none" strike="noStrike">
                          <a:solidFill>
                            <a:srgbClr val="000000"/>
                          </a:solidFill>
                          <a:latin typeface="EYInterstate"/>
                        </a:rPr>
                        <a:t> $10 647 019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1" i="0" u="none" strike="noStrike">
                          <a:solidFill>
                            <a:srgbClr val="000000"/>
                          </a:solidFill>
                          <a:latin typeface="EYInterstate"/>
                        </a:rPr>
                        <a:t> $ 6 468 769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9081">
                <a:tc>
                  <a:txBody>
                    <a:bodyPr/>
                    <a:lstStyle/>
                    <a:p>
                      <a:pPr algn="l" fontAlgn="b"/>
                      <a:r>
                        <a:rPr lang="fr-FR" sz="1000" b="0" i="1" u="none" strike="noStrike" dirty="0" err="1">
                          <a:solidFill>
                            <a:srgbClr val="000000"/>
                          </a:solidFill>
                          <a:latin typeface="EYInterstate"/>
                        </a:rPr>
                        <a:t>Forecast</a:t>
                      </a:r>
                      <a:r>
                        <a:rPr lang="fr-FR" sz="1000" b="0" i="1" u="none" strike="noStrike" dirty="0">
                          <a:solidFill>
                            <a:srgbClr val="000000"/>
                          </a:solidFill>
                          <a:latin typeface="EYInterstate"/>
                        </a:rPr>
                        <a:t> (SOW)</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$ 9 195 973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$ 5 625 016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9081">
                <a:tc>
                  <a:txBody>
                    <a:bodyPr/>
                    <a:lstStyle/>
                    <a:p>
                      <a:pPr algn="l" fontAlgn="b"/>
                      <a:r>
                        <a:rPr lang="fr-FR" sz="1000" b="0" i="1" u="none" strike="noStrike" dirty="0" err="1">
                          <a:solidFill>
                            <a:srgbClr val="000000"/>
                          </a:solidFill>
                          <a:latin typeface="EYInterstate"/>
                        </a:rPr>
                        <a:t>Forecast</a:t>
                      </a:r>
                      <a:r>
                        <a:rPr lang="fr-FR" sz="1000" b="0" i="1" u="none" strike="noStrike" dirty="0">
                          <a:solidFill>
                            <a:srgbClr val="000000"/>
                          </a:solidFill>
                          <a:latin typeface="EYInterstate"/>
                        </a:rPr>
                        <a:t> (</a:t>
                      </a:r>
                      <a:r>
                        <a:rPr lang="fr-FR" sz="1000" b="0" i="1" u="none" strike="noStrike" dirty="0" err="1">
                          <a:solidFill>
                            <a:srgbClr val="000000"/>
                          </a:solidFill>
                          <a:latin typeface="EYInterstate"/>
                        </a:rPr>
                        <a:t>Expense</a:t>
                      </a:r>
                      <a:r>
                        <a:rPr lang="fr-FR" sz="1000" b="0" i="1" u="none" strike="noStrike" dirty="0">
                          <a:solidFill>
                            <a:srgbClr val="000000"/>
                          </a:solidFill>
                          <a:latin typeface="EYInterstate"/>
                        </a:rPr>
                        <a:t>)</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$ 1 451 046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843 752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9081">
                <a:tc>
                  <a:txBody>
                    <a:bodyPr/>
                    <a:lstStyle/>
                    <a:p>
                      <a:pPr algn="l" fontAlgn="b"/>
                      <a:r>
                        <a:rPr lang="fr-FR" sz="1000" b="1" i="0" u="none" strike="noStrike" dirty="0" err="1">
                          <a:solidFill>
                            <a:srgbClr val="000000"/>
                          </a:solidFill>
                          <a:latin typeface="EYInterstate"/>
                        </a:rPr>
                        <a:t>Invoiced</a:t>
                      </a:r>
                      <a:endParaRPr lang="fr-FR" sz="1000" b="1" i="0" u="none" strike="noStrike" dirty="0">
                        <a:solidFill>
                          <a:srgbClr val="000000"/>
                        </a:solidFill>
                        <a:latin typeface="EYInterstate"/>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E600"/>
                    </a:solidFill>
                  </a:tcPr>
                </a:tc>
                <a:tc>
                  <a:txBody>
                    <a:bodyPr/>
                    <a:lstStyle/>
                    <a:p>
                      <a:pPr algn="l" fontAlgn="b"/>
                      <a:r>
                        <a:rPr lang="fr-FR" sz="1000" b="1" i="0" u="none" strike="noStrike" dirty="0">
                          <a:solidFill>
                            <a:srgbClr val="000000"/>
                          </a:solidFill>
                          <a:latin typeface="EYInterstate"/>
                        </a:rPr>
                        <a:t> $ 5 360 984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1" i="0" u="none" strike="noStrike">
                          <a:solidFill>
                            <a:srgbClr val="000000"/>
                          </a:solidFill>
                          <a:latin typeface="EYInterstate"/>
                        </a:rPr>
                        <a:t> $ 5 360 984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9081">
                <a:tc>
                  <a:txBody>
                    <a:bodyPr/>
                    <a:lstStyle/>
                    <a:p>
                      <a:pPr algn="l" fontAlgn="b"/>
                      <a:r>
                        <a:rPr lang="fr-FR" sz="1000" b="0" i="1" u="none" strike="noStrike">
                          <a:solidFill>
                            <a:srgbClr val="000000"/>
                          </a:solidFill>
                          <a:latin typeface="EYInterstate"/>
                        </a:rPr>
                        <a:t>Invoiced (SOW)</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$ 5 071 221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$ 5 071 221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9081">
                <a:tc>
                  <a:txBody>
                    <a:bodyPr/>
                    <a:lstStyle/>
                    <a:p>
                      <a:pPr algn="l" fontAlgn="b"/>
                      <a:r>
                        <a:rPr lang="fr-FR" sz="1000" b="0" i="1" u="none" strike="noStrike">
                          <a:solidFill>
                            <a:srgbClr val="000000"/>
                          </a:solidFill>
                          <a:latin typeface="EYInterstate"/>
                        </a:rPr>
                        <a:t>Invoiced (Expense)</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289 764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289 764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9541">
                <a:tc>
                  <a:txBody>
                    <a:bodyPr/>
                    <a:lstStyle/>
                    <a:p>
                      <a:pPr algn="l" fontAlgn="b"/>
                      <a:r>
                        <a:rPr lang="fr-FR" sz="1000" b="1" i="0" u="none" strike="noStrike" dirty="0">
                          <a:solidFill>
                            <a:srgbClr val="000000"/>
                          </a:solidFill>
                          <a:latin typeface="EYInterstate"/>
                        </a:rPr>
                        <a:t>Variance</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E600"/>
                    </a:solidFill>
                  </a:tcPr>
                </a:tc>
                <a:tc>
                  <a:txBody>
                    <a:bodyPr/>
                    <a:lstStyle/>
                    <a:p>
                      <a:pPr algn="l" fontAlgn="b"/>
                      <a:r>
                        <a:rPr lang="fr-FR" sz="1000" b="0" i="1" u="none" strike="noStrike">
                          <a:solidFill>
                            <a:srgbClr val="000000"/>
                          </a:solidFill>
                          <a:latin typeface="EYInterstate"/>
                        </a:rPr>
                        <a:t> </a:t>
                      </a: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0" u="none" strike="noStrike">
                          <a:solidFill>
                            <a:srgbClr val="000000"/>
                          </a:solidFill>
                          <a:latin typeface="Arial"/>
                        </a:rPr>
                        <a:t> </a:t>
                      </a: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9081">
                <a:tc>
                  <a:txBody>
                    <a:bodyPr/>
                    <a:lstStyle/>
                    <a:p>
                      <a:pPr algn="l" fontAlgn="b"/>
                      <a:r>
                        <a:rPr lang="fr-FR" sz="1000" b="0" i="1" u="none" strike="noStrike">
                          <a:solidFill>
                            <a:srgbClr val="000000"/>
                          </a:solidFill>
                          <a:latin typeface="EYInterstate"/>
                        </a:rPr>
                        <a:t>Variance (SOW)</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$ 4 124 752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553 796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9081">
                <a:tc>
                  <a:txBody>
                    <a:bodyPr/>
                    <a:lstStyle/>
                    <a:p>
                      <a:pPr algn="l" fontAlgn="b"/>
                      <a:r>
                        <a:rPr lang="fr-FR" sz="1000" b="0" i="1" u="none" strike="noStrike">
                          <a:solidFill>
                            <a:srgbClr val="000000"/>
                          </a:solidFill>
                          <a:latin typeface="EYInterstate"/>
                        </a:rPr>
                        <a:t>Variance (Expense)</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a:solidFill>
                            <a:srgbClr val="000000"/>
                          </a:solidFill>
                          <a:latin typeface="EYInterstate"/>
                        </a:rPr>
                        <a:t> $ 1 161 282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FR" sz="1000" b="0" i="1" u="none" strike="noStrike" dirty="0">
                          <a:solidFill>
                            <a:srgbClr val="000000"/>
                          </a:solidFill>
                          <a:latin typeface="EYInterstate"/>
                        </a:rPr>
                        <a:t> $   553 989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Chart 11"/>
          <p:cNvGraphicFramePr/>
          <p:nvPr/>
        </p:nvGraphicFramePr>
        <p:xfrm>
          <a:off x="-2459" y="3429000"/>
          <a:ext cx="4141440" cy="304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hart 12"/>
          <p:cNvGraphicFramePr/>
          <p:nvPr/>
        </p:nvGraphicFramePr>
        <p:xfrm>
          <a:off x="4138981" y="3429000"/>
          <a:ext cx="4557344" cy="3048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Appendix A – M&amp;C Reports.</a:t>
            </a:r>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72"/>
          <p:cNvGraphicFramePr>
            <a:graphicFrameLocks noGrp="1"/>
          </p:cNvGraphicFramePr>
          <p:nvPr/>
        </p:nvGraphicFramePr>
        <p:xfrm>
          <a:off x="0" y="3428999"/>
          <a:ext cx="4680520" cy="3012919"/>
        </p:xfrm>
        <a:graphic>
          <a:graphicData uri="http://schemas.openxmlformats.org/drawingml/2006/table">
            <a:tbl>
              <a:tblPr/>
              <a:tblGrid>
                <a:gridCol w="4680520"/>
              </a:tblGrid>
              <a:tr h="14008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C.  ACTIVITIES BEHIND SCHEDULE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31063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smtClean="0">
                          <a:ln>
                            <a:noFill/>
                          </a:ln>
                          <a:solidFill>
                            <a:schemeClr val="tx2"/>
                          </a:solidFill>
                          <a:effectLst/>
                          <a:latin typeface="EYInterstate Light" pitchFamily="2" charset="0"/>
                          <a:ea typeface="+mn-ea"/>
                          <a:cs typeface="+mn-cs"/>
                        </a:rPr>
                        <a:t>Application &amp; Data:</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Gaining access to Lotus Notes applications needed for Rediscovery.</a:t>
                      </a: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smtClean="0">
                          <a:ln>
                            <a:noFill/>
                          </a:ln>
                          <a:solidFill>
                            <a:schemeClr val="tx2"/>
                          </a:solidFill>
                          <a:effectLst/>
                          <a:latin typeface="EYInterstate Light" pitchFamily="2" charset="0"/>
                          <a:ea typeface="+mn-ea"/>
                          <a:cs typeface="+mn-cs"/>
                        </a:rPr>
                        <a:t>SharePoint</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Research tools – GAAIT and Credential replacements, Subscribe and Deliver – Overall Vision/Scope.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smtClean="0">
                          <a:ln>
                            <a:noFill/>
                          </a:ln>
                          <a:solidFill>
                            <a:schemeClr val="tx2"/>
                          </a:solidFill>
                          <a:effectLst/>
                          <a:latin typeface="EYInterstate Light" pitchFamily="2" charset="0"/>
                        </a:rPr>
                        <a:t>Unified Communications:</a:t>
                      </a:r>
                      <a:r>
                        <a:rPr kumimoji="0" lang="en-US" sz="700" b="0" i="0" u="none" strike="noStrike" cap="none" normalizeH="0" baseline="0" dirty="0" smtClean="0">
                          <a:ln>
                            <a:noFill/>
                          </a:ln>
                          <a:solidFill>
                            <a:schemeClr val="tx2"/>
                          </a:solidFill>
                          <a:effectLst/>
                          <a:latin typeface="EYInterstate Light" pitchFamily="2" charset="0"/>
                        </a:rPr>
                        <a:t> </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Completion of Migration Master Database due to change in scope to add group and shared mail file migration. Completion of Lync and Outlook requirements and identification of Day 1 integration suite.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smtClean="0">
                          <a:ln>
                            <a:noFill/>
                          </a:ln>
                          <a:solidFill>
                            <a:schemeClr val="tx2"/>
                          </a:solidFill>
                          <a:effectLst/>
                          <a:latin typeface="EYInterstate Light" pitchFamily="2" charset="0"/>
                        </a:rPr>
                        <a:t>Technology Foundation: </a:t>
                      </a: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Sign Off Functional Spec from Microsoft for ID Sync delayed due to O365 impact review</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smtClean="0">
                          <a:ln>
                            <a:noFill/>
                          </a:ln>
                          <a:solidFill>
                            <a:schemeClr val="tx2"/>
                          </a:solidFill>
                          <a:effectLst/>
                          <a:latin typeface="EYInterstate Light" pitchFamily="2" charset="0"/>
                          <a:ea typeface="+mn-ea"/>
                          <a:cs typeface="+mn-cs"/>
                        </a:rPr>
                        <a:t>Change Management:</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Getting FSG Area rep for EMEIA (in progress). Decision on of learning Lead for Outlook and Lync. Benefits realization work started with interviews of key stakeholders. Deployment plan (due to uncertainties on in cloud/on prem solution) still being developed.</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sng" strike="noStrike" kern="1200" cap="none" normalizeH="0" baseline="0" dirty="0" smtClean="0">
                          <a:ln>
                            <a:noFill/>
                          </a:ln>
                          <a:solidFill>
                            <a:schemeClr val="tx2"/>
                          </a:solidFill>
                          <a:effectLst/>
                          <a:latin typeface="EYInterstate Light" pitchFamily="2" charset="0"/>
                          <a:ea typeface="+mn-ea"/>
                          <a:cs typeface="+mn-cs"/>
                        </a:rPr>
                        <a:t>IT Transition Management:</a:t>
                      </a: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 </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Recruitment of TM resources.  Detailed transition plans based on workstream delivery dates.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008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a:t>
                      </a:r>
                      <a:r>
                        <a:rPr kumimoji="0" lang="en-US" sz="700" b="1" i="0" u="none" strike="noStrike" cap="none" normalizeH="0" baseline="0" dirty="0">
                          <a:ln>
                            <a:noFill/>
                          </a:ln>
                          <a:solidFill>
                            <a:schemeClr val="tx1"/>
                          </a:solidFill>
                          <a:effectLst/>
                          <a:latin typeface="EYInterstate" pitchFamily="2" charset="0"/>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42212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sng" strike="noStrike" cap="none" normalizeH="0" baseline="0" dirty="0" smtClean="0">
                          <a:ln>
                            <a:noFill/>
                          </a:ln>
                          <a:solidFill>
                            <a:schemeClr val="tx2"/>
                          </a:solidFill>
                          <a:effectLst/>
                          <a:latin typeface="EYInterstate Light" pitchFamily="2" charset="0"/>
                        </a:rPr>
                        <a:t>Application Data Migration:</a:t>
                      </a:r>
                      <a:r>
                        <a:rPr kumimoji="0" lang="en-US" sz="700" b="0" i="0" u="none" strike="noStrike" cap="none" normalizeH="0" baseline="0" dirty="0" smtClean="0">
                          <a:ln>
                            <a:noFill/>
                          </a:ln>
                          <a:solidFill>
                            <a:schemeClr val="tx2"/>
                          </a:solidFill>
                          <a:effectLst/>
                          <a:latin typeface="EYInterstate Light" pitchFamily="2" charset="0"/>
                        </a:rPr>
                        <a:t> </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Progress agreed actions agreed with Microsoft, Progress with work on the 2</a:t>
                      </a:r>
                      <a:r>
                        <a:rPr kumimoji="0" lang="en-US" sz="700" b="0" i="0" u="none" strike="noStrike" kern="1200" cap="none" normalizeH="0" baseline="30000" dirty="0" smtClean="0">
                          <a:ln>
                            <a:noFill/>
                          </a:ln>
                          <a:solidFill>
                            <a:schemeClr val="tx2"/>
                          </a:solidFill>
                          <a:effectLst/>
                          <a:latin typeface="EYInterstate Light" pitchFamily="2" charset="0"/>
                          <a:ea typeface="+mn-ea"/>
                          <a:cs typeface="+mn-cs"/>
                        </a:rPr>
                        <a:t>nd</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Rediscovery report.</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sng" strike="noStrike" cap="none" normalizeH="0" baseline="0" dirty="0" smtClean="0">
                          <a:ln>
                            <a:noFill/>
                          </a:ln>
                          <a:solidFill>
                            <a:schemeClr val="tx2"/>
                          </a:solidFill>
                          <a:effectLst/>
                          <a:latin typeface="EYInterstate Light" pitchFamily="2" charset="0"/>
                        </a:rPr>
                        <a:t>SharePoint </a:t>
                      </a:r>
                      <a:r>
                        <a:rPr kumimoji="0" lang="en-US" sz="700" b="0" i="0" u="sng" strike="noStrike" kern="1200" cap="none" normalizeH="0" baseline="0" dirty="0" smtClean="0">
                          <a:ln>
                            <a:noFill/>
                          </a:ln>
                          <a:solidFill>
                            <a:schemeClr val="tx2"/>
                          </a:solidFill>
                          <a:effectLst/>
                          <a:latin typeface="EYInterstate Light" pitchFamily="2" charset="0"/>
                          <a:ea typeface="+mn-ea"/>
                          <a:cs typeface="+mn-cs"/>
                        </a:rPr>
                        <a:t>:</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a:t>
                      </a:r>
                      <a:r>
                        <a:rPr kumimoji="0" lang="en-US" sz="700" b="0" i="0" u="none" strike="noStrike" cap="none" normalizeH="0" baseline="0" dirty="0" smtClean="0">
                          <a:ln>
                            <a:noFill/>
                          </a:ln>
                          <a:solidFill>
                            <a:srgbClr val="646464"/>
                          </a:solidFill>
                          <a:effectLst/>
                          <a:latin typeface="EYInterstate Light" pitchFamily="2" charset="0"/>
                        </a:rPr>
                        <a:t>Begin implementation of revised FY12 plan. Updated detailed project plan with effort, duration estimates.  Continue iteration 4 development (Communities, DTU) and iteration 5 requirements  (</a:t>
                      </a: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smtClean="0">
                          <a:ln>
                            <a:noFill/>
                          </a:ln>
                          <a:solidFill>
                            <a:schemeClr val="tx2"/>
                          </a:solidFill>
                          <a:effectLst/>
                          <a:latin typeface="EYInterstate Light" pitchFamily="2" charset="0"/>
                        </a:rPr>
                        <a:t>Technology Foundation: </a:t>
                      </a:r>
                      <a:r>
                        <a:rPr kumimoji="0" lang="en-US" sz="700" b="0" i="0" u="none" strike="noStrike" kern="1200" cap="none" normalizeH="0" baseline="0" dirty="0" smtClean="0">
                          <a:ln>
                            <a:noFill/>
                          </a:ln>
                          <a:solidFill>
                            <a:schemeClr val="tx1"/>
                          </a:solidFill>
                          <a:effectLst/>
                          <a:latin typeface="EYInterstate Light"/>
                          <a:ea typeface="+mn-ea"/>
                          <a:cs typeface="Arial" charset="0"/>
                        </a:rPr>
                        <a:t>Continue with “outing” inc Planning/Review of In-Bound and Outbound Dependencies.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smtClean="0">
                          <a:ln>
                            <a:noFill/>
                          </a:ln>
                          <a:solidFill>
                            <a:schemeClr val="tx2"/>
                          </a:solidFill>
                          <a:effectLst/>
                          <a:latin typeface="EYInterstate Light" pitchFamily="2" charset="0"/>
                        </a:rPr>
                        <a:t>Unified Communications</a:t>
                      </a:r>
                      <a:r>
                        <a:rPr kumimoji="0" lang="en-US" sz="700" b="0" i="0" u="none" strike="noStrike" cap="none" normalizeH="0" baseline="0" dirty="0" smtClean="0">
                          <a:ln>
                            <a:noFill/>
                          </a:ln>
                          <a:solidFill>
                            <a:schemeClr val="tx2"/>
                          </a:solidFill>
                          <a:effectLst/>
                          <a:latin typeface="EYInterstate Light" pitchFamily="2" charset="0"/>
                        </a:rPr>
                        <a:t>: </a:t>
                      </a:r>
                      <a:r>
                        <a:rPr kumimoji="0" lang="en-US" sz="700" b="0" i="0" u="none" strike="noStrike" cap="none" normalizeH="0" baseline="0" dirty="0" smtClean="0">
                          <a:ln>
                            <a:noFill/>
                          </a:ln>
                          <a:solidFill>
                            <a:schemeClr val="tx1"/>
                          </a:solidFill>
                          <a:effectLst/>
                          <a:latin typeface="EYInterstate Light"/>
                          <a:cs typeface="Arial" charset="0"/>
                        </a:rPr>
                        <a:t>Re-plan program timelines, Agree deployment deliverables between UC and Business Deployment, Complete Lync devices evaluation and likely costs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smtClean="0">
                          <a:ln>
                            <a:noFill/>
                          </a:ln>
                          <a:solidFill>
                            <a:schemeClr val="tx2"/>
                          </a:solidFill>
                          <a:effectLst/>
                          <a:latin typeface="EYInterstate Light" pitchFamily="2" charset="0"/>
                          <a:ea typeface="+mn-ea"/>
                          <a:cs typeface="+mn-cs"/>
                        </a:rPr>
                        <a:t>Change Management:</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Develop detailed stakeholder approach. Revise comms plan and strategy following 3 day design session. Review overall business change plan. Interview more learning candidates (urgent). Finalise contract offer with SP change manager. </a:t>
                      </a: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a:ln>
                            <a:noFill/>
                          </a:ln>
                          <a:solidFill>
                            <a:schemeClr val="tx2"/>
                          </a:solidFill>
                          <a:effectLst/>
                          <a:latin typeface="EYInterstate Light" pitchFamily="2" charset="0"/>
                          <a:ea typeface="+mn-ea"/>
                          <a:cs typeface="+mn-cs"/>
                        </a:rPr>
                        <a:t>IT Transition Management</a:t>
                      </a:r>
                      <a:r>
                        <a:rPr kumimoji="0" lang="en-US" sz="700" b="0" i="0" u="sng" strike="noStrike" kern="1200" cap="none" normalizeH="0" baseline="0" dirty="0" smtClean="0">
                          <a:ln>
                            <a:noFill/>
                          </a:ln>
                          <a:solidFill>
                            <a:schemeClr val="tx2"/>
                          </a:solidFill>
                          <a:effectLst/>
                          <a:latin typeface="EYInterstate Light" pitchFamily="2" charset="0"/>
                          <a:ea typeface="+mn-ea"/>
                          <a:cs typeface="+mn-cs"/>
                        </a:rPr>
                        <a:t>:</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Continue recruitment of internal experienced EY TM resources and external search for qualified TM candidates.  Continue planning of </a:t>
                      </a: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early lifecycle support scenarios with RSS/OSS contacts.</a:t>
                      </a: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 name="Group 852"/>
          <p:cNvGraphicFramePr>
            <a:graphicFrameLocks noGrp="1"/>
          </p:cNvGraphicFramePr>
          <p:nvPr/>
        </p:nvGraphicFramePr>
        <p:xfrm>
          <a:off x="4752531" y="3242010"/>
          <a:ext cx="4391470" cy="2015790"/>
        </p:xfrm>
        <a:graphic>
          <a:graphicData uri="http://schemas.openxmlformats.org/drawingml/2006/table">
            <a:tbl>
              <a:tblPr/>
              <a:tblGrid>
                <a:gridCol w="2211781"/>
                <a:gridCol w="2179689"/>
              </a:tblGrid>
              <a:tr h="12189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r>
              <a:tr h="12189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41293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2"/>
                          </a:solidFill>
                          <a:effectLst/>
                          <a:latin typeface="EYInterstate Light" pitchFamily="2" charset="0"/>
                        </a:rPr>
                        <a:t>Need to recruit a significant number of additional resources into the program. Recruitment of skilled staff proving very difficult and will impact schedules.</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2"/>
                          </a:solidFill>
                          <a:effectLst/>
                          <a:latin typeface="EYInterstate Light" pitchFamily="2" charset="0"/>
                        </a:rPr>
                        <a:t>Consider likely impact on the plans.</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1592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a:ln>
                            <a:noFill/>
                          </a:ln>
                          <a:solidFill>
                            <a:schemeClr val="tx2"/>
                          </a:solidFill>
                          <a:effectLst/>
                          <a:latin typeface="EYInterstate Light" pitchFamily="2" charset="0"/>
                          <a:ea typeface="+mn-ea"/>
                          <a:cs typeface="+mn-cs"/>
                        </a:rPr>
                        <a:t>Engagement with Areas has not moved at the pace required to establish a Change Network and start to develop Deployment </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plans.</a:t>
                      </a: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Jackie Knight working with Sophie Boiron and Martin Kremmer on planning engagement to engage with areas from Feb (work in progress).</a:t>
                      </a: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655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Team is investigate the impact of the Office 365  contract and will replan accordingly.</a:t>
                      </a: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Investigate timescale, resource and cost implications.</a:t>
                      </a: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1891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SharePoint - Not able to test due to no test environments.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Providing MS admin &amp; DB rights to fix the issue, Joint SPF / SPE team working to resolve.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1891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On going challenges around a number of inbound technical dependencies on IAM continue to constrain early delivery of infrastructure.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IAM team have added 3 more resources and we are working through the additional activity caused by Office 365.</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4" name="Group 270"/>
          <p:cNvGraphicFramePr>
            <a:graphicFrameLocks noGrp="1"/>
          </p:cNvGraphicFramePr>
          <p:nvPr/>
        </p:nvGraphicFramePr>
        <p:xfrm>
          <a:off x="7391400" y="36991"/>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5" name="Table 4"/>
          <p:cNvGraphicFramePr>
            <a:graphicFrameLocks noGrp="1"/>
          </p:cNvGraphicFramePr>
          <p:nvPr/>
        </p:nvGraphicFramePr>
        <p:xfrm>
          <a:off x="4752531" y="2133600"/>
          <a:ext cx="4391470" cy="980105"/>
        </p:xfrm>
        <a:graphic>
          <a:graphicData uri="http://schemas.openxmlformats.org/drawingml/2006/table">
            <a:tbl>
              <a:tblPr/>
              <a:tblGrid>
                <a:gridCol w="2211781"/>
                <a:gridCol w="2179689"/>
              </a:tblGrid>
              <a:tr h="127484">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r>
              <a:tr h="151247">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9525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Final </a:t>
                      </a:r>
                      <a:r>
                        <a:rPr kumimoji="0" lang="en-US" sz="700" b="0" i="0" u="none" strike="noStrike" kern="1200" cap="none" normalizeH="0" baseline="0" dirty="0">
                          <a:ln>
                            <a:noFill/>
                          </a:ln>
                          <a:solidFill>
                            <a:schemeClr val="tx2"/>
                          </a:solidFill>
                          <a:effectLst/>
                          <a:latin typeface="EYInterstate Light" pitchFamily="2" charset="0"/>
                          <a:ea typeface="+mn-ea"/>
                          <a:cs typeface="+mn-cs"/>
                        </a:rPr>
                        <a:t>selection arising from the hosting services RFP may become delayed by the selection of options and </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services.</a:t>
                      </a: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a:ln>
                            <a:noFill/>
                          </a:ln>
                          <a:solidFill>
                            <a:schemeClr val="tx2"/>
                          </a:solidFill>
                          <a:effectLst/>
                          <a:latin typeface="EYInterstate Light" pitchFamily="2" charset="0"/>
                          <a:ea typeface="+mn-ea"/>
                          <a:cs typeface="+mn-cs"/>
                        </a:rPr>
                        <a:t> </a:t>
                      </a:r>
                      <a:r>
                        <a:rPr kumimoji="0" lang="en-US" sz="700" b="0" i="0" u="none" strike="noStrike" kern="1200" cap="none" normalizeH="0" baseline="0" noProof="0" dirty="0" smtClean="0">
                          <a:ln>
                            <a:noFill/>
                          </a:ln>
                          <a:solidFill>
                            <a:schemeClr val="tx2"/>
                          </a:solidFill>
                          <a:effectLst/>
                          <a:latin typeface="EYInterstate Light" pitchFamily="2" charset="0"/>
                          <a:ea typeface="+mn-ea"/>
                          <a:cs typeface="+mn-cs"/>
                        </a:rPr>
                        <a:t>Once the outcomes of the various RFP decisions are  known,  will  asses the impact upon the current plans.  </a:t>
                      </a:r>
                      <a:endParaRPr kumimoji="0" lang="en-US" sz="700" b="0" i="0" u="none" strike="noStrike" kern="1200" cap="none" normalizeH="0" baseline="0" noProof="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8047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Project will require a significant amount of time from SMRs from both the business &amp; </a:t>
                      </a:r>
                      <a:r>
                        <a:rPr kumimoji="0" lang="en-US" sz="700" b="0" i="0" u="none" strike="noStrike" cap="none" normalizeH="0" baseline="0" dirty="0" smtClean="0">
                          <a:ln>
                            <a:noFill/>
                          </a:ln>
                          <a:solidFill>
                            <a:schemeClr val="tx2"/>
                          </a:solidFill>
                          <a:effectLst/>
                          <a:latin typeface="EYInterstate Light" pitchFamily="2" charset="0"/>
                        </a:rPr>
                        <a:t>IT.</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Provide detailed plans so early visibility of the need for such expertise is identified as early as possible.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553106"/>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582966"/>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550835"/>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383923"/>
            <a:ext cx="8734282" cy="511799"/>
            <a:chOff x="307495" y="6533952"/>
            <a:chExt cx="9404036" cy="511799"/>
          </a:xfrm>
        </p:grpSpPr>
        <p:sp>
          <p:nvSpPr>
            <p:cNvPr id="11" name="TextBox 1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2" name="TextBox 11"/>
            <p:cNvSpPr txBox="1"/>
            <p:nvPr/>
          </p:nvSpPr>
          <p:spPr bwMode="gray">
            <a:xfrm>
              <a:off x="674554" y="6657945"/>
              <a:ext cx="61266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3" name="TextBox 12"/>
            <p:cNvSpPr txBox="1"/>
            <p:nvPr/>
          </p:nvSpPr>
          <p:spPr bwMode="gray">
            <a:xfrm>
              <a:off x="307495" y="6533952"/>
              <a:ext cx="454162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4" name="TextBox 13"/>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5" name="TextBox 14"/>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6"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7" name="Rectangle 183"/>
          <p:cNvSpPr txBox="1">
            <a:spLocks noChangeArrowheads="1"/>
          </p:cNvSpPr>
          <p:nvPr/>
        </p:nvSpPr>
        <p:spPr bwMode="gray">
          <a:xfrm>
            <a:off x="1" y="-34669"/>
            <a:ext cx="7086599" cy="553998"/>
          </a:xfrm>
          <a:prstGeom prst="rect">
            <a:avLst/>
          </a:prstGeom>
        </p:spPr>
        <p:txBody>
          <a:bodyPr wrap="square">
            <a:spAutoFit/>
          </a:bodyPr>
          <a:lstStyle/>
          <a:p>
            <a:pPr algn="l" defTabSz="955675" eaLnBrk="0" hangingPunct="0">
              <a:defRPr/>
            </a:pPr>
            <a:r>
              <a:rPr lang="en-US" sz="1600" b="1" kern="0" dirty="0">
                <a:solidFill>
                  <a:srgbClr val="646464"/>
                </a:solidFill>
              </a:rPr>
              <a:t>13 – Messaging &amp; Collaboration – </a:t>
            </a:r>
            <a:r>
              <a:rPr lang="en-US" sz="1600" b="1" kern="0" dirty="0" smtClean="0">
                <a:solidFill>
                  <a:srgbClr val="646464"/>
                </a:solidFill>
              </a:rPr>
              <a:t>10 February 2012</a:t>
            </a:r>
            <a:endParaRPr lang="en-US" sz="1600" b="1" kern="0" dirty="0">
              <a:solidFill>
                <a:srgbClr val="646464"/>
              </a:solidFill>
            </a:endParaRPr>
          </a:p>
          <a:p>
            <a:pPr algn="l" defTabSz="955675" eaLnBrk="0" hangingPunct="0">
              <a:defRPr/>
            </a:pPr>
            <a:r>
              <a:rPr lang="en-US" sz="1400" kern="0" dirty="0">
                <a:solidFill>
                  <a:srgbClr val="646464"/>
                </a:solidFill>
              </a:rPr>
              <a:t>Guy Morgan</a:t>
            </a:r>
          </a:p>
        </p:txBody>
      </p:sp>
      <p:graphicFrame>
        <p:nvGraphicFramePr>
          <p:cNvPr id="18" name="Table 17"/>
          <p:cNvGraphicFramePr>
            <a:graphicFrameLocks noGrp="1"/>
          </p:cNvGraphicFramePr>
          <p:nvPr/>
        </p:nvGraphicFramePr>
        <p:xfrm>
          <a:off x="4752531" y="5276891"/>
          <a:ext cx="4391469" cy="1149650"/>
        </p:xfrm>
        <a:graphic>
          <a:graphicData uri="http://schemas.openxmlformats.org/drawingml/2006/table">
            <a:tbl>
              <a:tblPr/>
              <a:tblGrid>
                <a:gridCol w="4391469"/>
              </a:tblGrid>
              <a:tr h="144268">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0538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Overall </a:t>
                      </a:r>
                      <a:r>
                        <a:rPr kumimoji="0" lang="en-US" sz="700" b="0" i="0" u="none" strike="noStrike" cap="none" normalizeH="0" baseline="0" dirty="0">
                          <a:ln>
                            <a:noFill/>
                          </a:ln>
                          <a:solidFill>
                            <a:srgbClr val="646464"/>
                          </a:solidFill>
                          <a:effectLst/>
                          <a:latin typeface="EYInterstate Light" pitchFamily="2" charset="0"/>
                        </a:rPr>
                        <a:t>Program status </a:t>
                      </a:r>
                      <a:r>
                        <a:rPr kumimoji="0" lang="en-US" sz="700" b="0" i="0" u="none" strike="noStrike" cap="none" normalizeH="0" baseline="0" dirty="0" smtClean="0">
                          <a:ln>
                            <a:noFill/>
                          </a:ln>
                          <a:solidFill>
                            <a:srgbClr val="646464"/>
                          </a:solidFill>
                          <a:effectLst/>
                          <a:latin typeface="EYInterstate Light" pitchFamily="2" charset="0"/>
                        </a:rPr>
                        <a:t>is </a:t>
                      </a:r>
                      <a:r>
                        <a:rPr kumimoji="0" lang="en-US" sz="700" b="0" i="0" u="none" strike="noStrike" cap="none" normalizeH="0" baseline="0" dirty="0">
                          <a:ln>
                            <a:noFill/>
                          </a:ln>
                          <a:solidFill>
                            <a:srgbClr val="646464"/>
                          </a:solidFill>
                          <a:effectLst/>
                          <a:latin typeface="EYInterstate Light" pitchFamily="2" charset="0"/>
                        </a:rPr>
                        <a:t>Red due to resource challenges which is the </a:t>
                      </a:r>
                      <a:r>
                        <a:rPr kumimoji="0" lang="en-US" sz="700" b="0" i="0" u="none" strike="noStrike" cap="none" normalizeH="0" baseline="0" dirty="0" smtClean="0">
                          <a:ln>
                            <a:noFill/>
                          </a:ln>
                          <a:solidFill>
                            <a:srgbClr val="646464"/>
                          </a:solidFill>
                          <a:effectLst/>
                          <a:latin typeface="EYInterstate Light" pitchFamily="2" charset="0"/>
                        </a:rPr>
                        <a:t>key </a:t>
                      </a:r>
                      <a:r>
                        <a:rPr kumimoji="0" lang="en-US" sz="700" b="0" i="0" u="none" strike="noStrike" cap="none" normalizeH="0" baseline="0" dirty="0">
                          <a:ln>
                            <a:noFill/>
                          </a:ln>
                          <a:solidFill>
                            <a:srgbClr val="646464"/>
                          </a:solidFill>
                          <a:effectLst/>
                          <a:latin typeface="EYInterstate Light" pitchFamily="2" charset="0"/>
                        </a:rPr>
                        <a:t>current focus</a:t>
                      </a:r>
                      <a:r>
                        <a:rPr kumimoji="0" lang="en-US" sz="700" b="0" i="0" u="none" strike="noStrike" cap="none" normalizeH="0" baseline="0" dirty="0" smtClean="0">
                          <a:ln>
                            <a:noFill/>
                          </a:ln>
                          <a:solidFill>
                            <a:srgbClr val="646464"/>
                          </a:solidFill>
                          <a:effectLst/>
                          <a:latin typeface="EYInterstate Light" pitchFamily="2" charset="0"/>
                        </a:rPr>
                        <a:t>. Need to investigate Office 365 impact.  </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noProof="0" dirty="0">
                          <a:ln>
                            <a:noFill/>
                          </a:ln>
                          <a:solidFill>
                            <a:schemeClr val="bg2"/>
                          </a:solidFill>
                          <a:effectLst/>
                          <a:latin typeface="EYInterstate Light" pitchFamily="2" charset="0"/>
                          <a:ea typeface="+mn-ea"/>
                          <a:cs typeface="+mn-cs"/>
                        </a:rPr>
                        <a:t>FY12 Budget </a:t>
                      </a: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                                                        $39,700,000</a:t>
                      </a:r>
                      <a:endParaRPr kumimoji="0" lang="en-US" sz="700" b="0" i="0" u="none" strike="noStrike" kern="1200" cap="none" normalizeH="0" baseline="0" noProof="0" dirty="0">
                        <a:ln>
                          <a:noFill/>
                        </a:ln>
                        <a:solidFill>
                          <a:schemeClr val="bg2"/>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noProof="0" dirty="0">
                          <a:ln>
                            <a:noFill/>
                          </a:ln>
                          <a:solidFill>
                            <a:schemeClr val="bg2"/>
                          </a:solidFill>
                          <a:effectLst/>
                          <a:latin typeface="EYInterstate Light" pitchFamily="2" charset="0"/>
                          <a:ea typeface="+mn-ea"/>
                          <a:cs typeface="+mn-cs"/>
                        </a:rPr>
                        <a:t>Current Budget (Baseline + Approved CRs)	TBD</a:t>
                      </a: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noProof="0" dirty="0">
                          <a:ln>
                            <a:noFill/>
                          </a:ln>
                          <a:solidFill>
                            <a:schemeClr val="bg2"/>
                          </a:solidFill>
                          <a:effectLst/>
                          <a:latin typeface="EYInterstate Light" pitchFamily="2" charset="0"/>
                          <a:ea typeface="+mn-ea"/>
                          <a:cs typeface="+mn-cs"/>
                        </a:rPr>
                        <a:t>Spend to Date		$ </a:t>
                      </a: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16.3M</a:t>
                      </a:r>
                      <a:endParaRPr kumimoji="0" lang="en-US" sz="700" b="0" i="0" u="sng" strike="noStrike" kern="1200" cap="none" normalizeH="0" baseline="0" noProof="0" dirty="0">
                        <a:ln>
                          <a:noFill/>
                        </a:ln>
                        <a:solidFill>
                          <a:schemeClr val="bg2"/>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noProof="0" dirty="0">
                          <a:ln>
                            <a:noFill/>
                          </a:ln>
                          <a:solidFill>
                            <a:schemeClr val="bg2"/>
                          </a:solidFill>
                          <a:effectLst/>
                          <a:latin typeface="EYInterstate Light" pitchFamily="2" charset="0"/>
                          <a:ea typeface="+mn-ea"/>
                          <a:cs typeface="+mn-cs"/>
                        </a:rPr>
                        <a:t>ETC		TBD</a:t>
                      </a:r>
                    </a:p>
                    <a:p>
                      <a:pPr marL="0" marR="0" lvl="0" indent="90488"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Variances		TBD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9" name="Group 272"/>
          <p:cNvGraphicFramePr>
            <a:graphicFrameLocks noGrp="1"/>
          </p:cNvGraphicFramePr>
          <p:nvPr/>
        </p:nvGraphicFramePr>
        <p:xfrm>
          <a:off x="2" y="609600"/>
          <a:ext cx="4680520" cy="2787002"/>
        </p:xfrm>
        <a:graphic>
          <a:graphicData uri="http://schemas.openxmlformats.org/drawingml/2006/table">
            <a:tbl>
              <a:tblPr/>
              <a:tblGrid>
                <a:gridCol w="4680520"/>
              </a:tblGrid>
              <a:tr h="14401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91691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smtClean="0">
                          <a:ln>
                            <a:noFill/>
                          </a:ln>
                          <a:solidFill>
                            <a:schemeClr val="tx2"/>
                          </a:solidFill>
                          <a:effectLst/>
                          <a:latin typeface="EYInterstate Light" pitchFamily="2" charset="0"/>
                        </a:rPr>
                        <a:t>Application &amp; Data Migration:</a:t>
                      </a:r>
                      <a:r>
                        <a:rPr kumimoji="0" lang="en-US" sz="700" b="0" i="0" u="none" strike="noStrike" cap="none" normalizeH="0" baseline="0" dirty="0" smtClean="0">
                          <a:ln>
                            <a:noFill/>
                          </a:ln>
                          <a:solidFill>
                            <a:schemeClr val="tx2"/>
                          </a:solidFill>
                          <a:effectLst/>
                          <a:latin typeface="EYInterstate Light" pitchFamily="2" charset="0"/>
                        </a:rPr>
                        <a:t> </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Phase 1 BA team are documenting the requirements gathered for Wave 1 for workshops held over the last couple of weeks.  Rediscovery team progressed work on building the 2</a:t>
                      </a:r>
                      <a:r>
                        <a:rPr kumimoji="0" lang="en-US" sz="700" b="0" i="0" u="none" strike="noStrike" kern="1200" cap="none" normalizeH="0" baseline="30000" dirty="0" smtClean="0">
                          <a:ln>
                            <a:noFill/>
                          </a:ln>
                          <a:solidFill>
                            <a:schemeClr val="tx2"/>
                          </a:solidFill>
                          <a:effectLst/>
                          <a:latin typeface="EYInterstate Light" pitchFamily="2" charset="0"/>
                          <a:ea typeface="+mn-ea"/>
                          <a:cs typeface="+mn-cs"/>
                        </a:rPr>
                        <a:t>nd</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report due to be sent to the IT Service Delivery teams at end-Feb’12.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smtClean="0">
                          <a:ln>
                            <a:noFill/>
                          </a:ln>
                          <a:solidFill>
                            <a:schemeClr val="tx2"/>
                          </a:solidFill>
                          <a:effectLst/>
                          <a:latin typeface="EYInterstate Light" pitchFamily="2" charset="0"/>
                        </a:rPr>
                        <a:t>Unified Communications</a:t>
                      </a:r>
                      <a:r>
                        <a:rPr kumimoji="0" lang="en-US" sz="700" b="0" i="0" u="none" strike="noStrike" cap="none" normalizeH="0" baseline="0" dirty="0" smtClean="0">
                          <a:ln>
                            <a:noFill/>
                          </a:ln>
                          <a:solidFill>
                            <a:schemeClr val="tx2"/>
                          </a:solidFill>
                          <a:effectLst/>
                          <a:latin typeface="EYInterstate Light" pitchFamily="2" charset="0"/>
                        </a:rPr>
                        <a:t>: </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Significant replanning likely over the next 6 weeks following Office 365 decision.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smtClean="0">
                          <a:ln>
                            <a:noFill/>
                          </a:ln>
                          <a:solidFill>
                            <a:schemeClr val="tx2"/>
                          </a:solidFill>
                          <a:effectLst/>
                          <a:latin typeface="EYInterstate Light" pitchFamily="2" charset="0"/>
                          <a:ea typeface="+mn-ea"/>
                          <a:cs typeface="+mn-cs"/>
                        </a:rPr>
                        <a:t>Technology Foundation:</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ID Sync Functional Spec Review Sign-off started.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smtClean="0">
                          <a:ln>
                            <a:noFill/>
                          </a:ln>
                          <a:solidFill>
                            <a:schemeClr val="tx2"/>
                          </a:solidFill>
                          <a:effectLst/>
                          <a:latin typeface="EYInterstate Light" pitchFamily="2" charset="0"/>
                        </a:rPr>
                        <a:t>SharePoint:</a:t>
                      </a:r>
                      <a:r>
                        <a:rPr kumimoji="0" lang="en-US" sz="700" b="0" i="0" u="none" strike="noStrike" cap="none" normalizeH="0" baseline="0" dirty="0" smtClean="0">
                          <a:ln>
                            <a:noFill/>
                          </a:ln>
                          <a:solidFill>
                            <a:schemeClr val="tx2"/>
                          </a:solidFill>
                          <a:effectLst/>
                          <a:latin typeface="EYInterstate Light" pitchFamily="2" charset="0"/>
                        </a:rPr>
                        <a:t>  </a:t>
                      </a:r>
                      <a:r>
                        <a:rPr kumimoji="0" lang="en-US" sz="700" b="0" i="0" u="none" strike="noStrike" cap="none" normalizeH="0" baseline="0" dirty="0" smtClean="0">
                          <a:ln>
                            <a:noFill/>
                          </a:ln>
                          <a:solidFill>
                            <a:srgbClr val="646464"/>
                          </a:solidFill>
                          <a:effectLst/>
                          <a:latin typeface="EYInterstate Light" pitchFamily="2" charset="0"/>
                        </a:rPr>
                        <a:t>Testing has started on Communities.  Issues are still holding up the People testing. ECMA is </a:t>
                      </a:r>
                      <a:r>
                        <a:rPr kumimoji="0" lang="en-US" sz="700" b="0" i="0" u="none" strike="noStrike" cap="none" normalizeH="0" baseline="0" dirty="0" smtClean="0">
                          <a:ln>
                            <a:noFill/>
                          </a:ln>
                          <a:solidFill>
                            <a:srgbClr val="FF0000"/>
                          </a:solidFill>
                          <a:effectLst/>
                          <a:latin typeface="EYInterstate Light" pitchFamily="2" charset="0"/>
                        </a:rPr>
                        <a:t>RED</a:t>
                      </a:r>
                      <a:r>
                        <a:rPr kumimoji="0" lang="en-US" sz="700" b="0" i="0" u="none" strike="noStrike" cap="none" normalizeH="0" baseline="0" dirty="0" smtClean="0">
                          <a:ln>
                            <a:noFill/>
                          </a:ln>
                          <a:solidFill>
                            <a:srgbClr val="646464"/>
                          </a:solidFill>
                          <a:effectLst/>
                          <a:latin typeface="EYInterstate Light" pitchFamily="2" charset="0"/>
                        </a:rPr>
                        <a:t> as the current Blueprint work has not been integrated with the existing plan.</a:t>
                      </a: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smtClean="0">
                          <a:ln>
                            <a:noFill/>
                          </a:ln>
                          <a:solidFill>
                            <a:schemeClr val="tx2"/>
                          </a:solidFill>
                          <a:effectLst/>
                          <a:latin typeface="EYInterstate Light" pitchFamily="2" charset="0"/>
                          <a:ea typeface="+mn-ea"/>
                          <a:cs typeface="+mn-cs"/>
                        </a:rPr>
                        <a:t>Change Management:</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Initial business engagement started. More candidates interviewed for Outlook and Lync learning resources. Outlook and Lync change activities continue despite uncertainties on cloud/on prem impact.</a:t>
                      </a:r>
                      <a:endParaRPr kumimoji="0" lang="en-GB" sz="700" b="0"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smtClean="0">
                          <a:ln>
                            <a:noFill/>
                          </a:ln>
                          <a:solidFill>
                            <a:schemeClr val="tx2"/>
                          </a:solidFill>
                          <a:effectLst/>
                          <a:latin typeface="EYInterstate Light" pitchFamily="2" charset="0"/>
                          <a:ea typeface="+mn-ea"/>
                          <a:cs typeface="+mn-cs"/>
                        </a:rPr>
                        <a:t>IT Transition Management:</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Developing transition plans with each workstream based on current Transition methodology. Coordinating plan for documentation handover to Operations.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4614">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endParaRPr kumimoji="0" lang="en-CA"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19774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smtClean="0">
                          <a:ln>
                            <a:noFill/>
                          </a:ln>
                          <a:solidFill>
                            <a:schemeClr val="tx2"/>
                          </a:solidFill>
                          <a:effectLst/>
                          <a:latin typeface="EYInterstate Light" pitchFamily="2" charset="0"/>
                        </a:rPr>
                        <a:t>Application &amp; Data Migration:</a:t>
                      </a:r>
                      <a:r>
                        <a:rPr kumimoji="0" lang="en-US" sz="700" b="0" i="0" u="none" strike="noStrike" cap="none" normalizeH="0" baseline="0" dirty="0" smtClean="0">
                          <a:ln>
                            <a:noFill/>
                          </a:ln>
                          <a:solidFill>
                            <a:schemeClr val="tx2"/>
                          </a:solidFill>
                          <a:effectLst/>
                          <a:latin typeface="EYInterstate Light" pitchFamily="2" charset="0"/>
                        </a:rPr>
                        <a:t> </a:t>
                      </a: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On boarded Microsoft PM and Microsoft Architect – Microsoft yet to resource their development and test teams.  Progressed work on the engagement packs for the first wave of applications.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smtClean="0">
                          <a:ln>
                            <a:noFill/>
                          </a:ln>
                          <a:solidFill>
                            <a:schemeClr val="tx2"/>
                          </a:solidFill>
                          <a:effectLst/>
                          <a:latin typeface="EYInterstate Light" pitchFamily="2" charset="0"/>
                        </a:rPr>
                        <a:t>Unified Communications</a:t>
                      </a:r>
                      <a:r>
                        <a:rPr kumimoji="0" lang="en-US" sz="700" b="0" i="0" u="none" strike="noStrike" cap="none" normalizeH="0" baseline="0" dirty="0" smtClean="0">
                          <a:ln>
                            <a:noFill/>
                          </a:ln>
                          <a:solidFill>
                            <a:schemeClr val="tx2"/>
                          </a:solidFill>
                          <a:effectLst/>
                          <a:latin typeface="EYInterstate Light" pitchFamily="2" charset="0"/>
                        </a:rPr>
                        <a:t>: </a:t>
                      </a: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Lync Configuration - </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Outstanding issue on Q&amp;RM request to store external chats. </a:t>
                      </a:r>
                      <a:r>
                        <a:rPr kumimoji="0" lang="en-US" sz="700" b="0" i="0" u="none" strike="noStrike" kern="1200" cap="none" normalizeH="0" baseline="0" noProof="0" dirty="0" smtClean="0">
                          <a:ln>
                            <a:noFill/>
                          </a:ln>
                          <a:solidFill>
                            <a:schemeClr val="tx2"/>
                          </a:solidFill>
                          <a:effectLst/>
                          <a:latin typeface="EYInterstate Light" pitchFamily="2" charset="0"/>
                          <a:ea typeface="+mn-ea"/>
                          <a:cs typeface="+mn-cs"/>
                        </a:rPr>
                        <a:t>Lync Devices Standardization - </a:t>
                      </a:r>
                      <a:r>
                        <a:rPr kumimoji="0" lang="en-GB" sz="700" b="0" i="0" u="none" strike="noStrike" kern="1200" cap="none" normalizeH="0" baseline="0" noProof="0" dirty="0" smtClean="0">
                          <a:ln>
                            <a:noFill/>
                          </a:ln>
                          <a:solidFill>
                            <a:schemeClr val="tx1"/>
                          </a:solidFill>
                          <a:effectLst/>
                          <a:latin typeface="EYInterstate Light" pitchFamily="2" charset="0"/>
                          <a:ea typeface="+mn-ea"/>
                          <a:cs typeface="+mn-cs"/>
                        </a:rPr>
                        <a:t>Survey responses to Global Procurement steadily increasing.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smtClean="0">
                          <a:ln>
                            <a:noFill/>
                          </a:ln>
                          <a:solidFill>
                            <a:schemeClr val="tx2"/>
                          </a:solidFill>
                          <a:effectLst/>
                          <a:latin typeface="EYInterstate Light" pitchFamily="2" charset="0"/>
                        </a:rPr>
                        <a:t>Technology Foundation: </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ID Sync Functional Spec Reviews inc O365 impacts review to take place on 9th Feb.</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smtClean="0">
                          <a:ln>
                            <a:noFill/>
                          </a:ln>
                          <a:solidFill>
                            <a:schemeClr val="tx2"/>
                          </a:solidFill>
                          <a:effectLst/>
                          <a:latin typeface="EYInterstate Light" pitchFamily="2" charset="0"/>
                          <a:ea typeface="+mn-ea"/>
                          <a:cs typeface="+mn-cs"/>
                        </a:rPr>
                        <a:t>SharePoint</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Development continues for 1 workstream (DTU) in Iteration 2 and 3 workstreams (People/Communities/Search) in Iteration 3, Iteration 5 requirements in process.</a:t>
                      </a: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smtClean="0">
                          <a:ln>
                            <a:noFill/>
                          </a:ln>
                          <a:solidFill>
                            <a:schemeClr val="tx2"/>
                          </a:solidFill>
                          <a:effectLst/>
                          <a:latin typeface="EYInterstate Light" pitchFamily="2" charset="0"/>
                          <a:ea typeface="+mn-ea"/>
                          <a:cs typeface="+mn-cs"/>
                        </a:rPr>
                        <a:t>Change Management:</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Engaged and agreed next steps on applications impacting Asia. 2nd interview for learning resource. R&amp;Rs between business lead and change lead defined. </a:t>
                      </a:r>
                      <a:endPar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I</a:t>
                      </a:r>
                      <a:r>
                        <a:rPr kumimoji="0" lang="en-GB" sz="700" b="0" i="0" u="sng" strike="noStrike" kern="1200" cap="none" normalizeH="0" baseline="0" dirty="0" smtClean="0">
                          <a:ln>
                            <a:noFill/>
                          </a:ln>
                          <a:solidFill>
                            <a:schemeClr val="tx2"/>
                          </a:solidFill>
                          <a:effectLst/>
                          <a:latin typeface="EYInterstate Light" pitchFamily="2" charset="0"/>
                          <a:ea typeface="+mn-ea"/>
                          <a:cs typeface="+mn-cs"/>
                        </a:rPr>
                        <a:t>T Transition Management:</a:t>
                      </a: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 Continuing to refocus and reprioritize Transition structure for M&amp;C while working with Nick Coburn.  Transition resource requests have been placed on a temporary hold management.  </a:t>
                      </a:r>
                      <a:endParaRPr kumimoji="0" lang="en-GB" sz="700" b="0" i="0" u="none" strike="noStrike" kern="1200" cap="none" normalizeH="0" baseline="0" noProof="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20" name="Table 19"/>
          <p:cNvGraphicFramePr>
            <a:graphicFrameLocks noGrp="1"/>
          </p:cNvGraphicFramePr>
          <p:nvPr/>
        </p:nvGraphicFramePr>
        <p:xfrm>
          <a:off x="4752531" y="609600"/>
          <a:ext cx="4391469" cy="1511950"/>
        </p:xfrm>
        <a:graphic>
          <a:graphicData uri="http://schemas.openxmlformats.org/drawingml/2006/table">
            <a:tbl>
              <a:tblPr/>
              <a:tblGrid>
                <a:gridCol w="1419669"/>
                <a:gridCol w="692996"/>
                <a:gridCol w="737260"/>
                <a:gridCol w="737260"/>
                <a:gridCol w="804284"/>
              </a:tblGrid>
              <a:tr h="135554">
                <a:tc gridSpan="5">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R w="6350" cap="flat" cmpd="sng" algn="ctr">
                      <a:solidFill>
                        <a:schemeClr val="accent2"/>
                      </a:solidFill>
                      <a:prstDash val="solid"/>
                      <a:round/>
                      <a:headEnd type="none" w="med" len="med"/>
                      <a:tailEnd type="none" w="med" len="med"/>
                    </a:lnR>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97018">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524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Sign off Messaging  Design</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Replanning</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Replanning</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524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Area Change network in place</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7 Nov 2011</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29 Feb 2012</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524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IT Transition Plan for SharePoint, Lync &amp; Messaging</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1 Feb 2012</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29 Feb 2012</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SharePoint QA testing (any iteration)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16 Dec 2012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TBD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7386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A&amp;D - Microsoft commence work on Wave 1 applications</a:t>
                      </a:r>
                    </a:p>
                  </a:txBody>
                  <a:tcPr marL="37059" marR="3705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06/02/2012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06/02/2012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524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a:ln>
                            <a:noFill/>
                          </a:ln>
                          <a:solidFill>
                            <a:srgbClr val="646464"/>
                          </a:solidFill>
                          <a:effectLst/>
                          <a:latin typeface="EYInterstate Light" pitchFamily="2" charset="0"/>
                          <a:ea typeface="+mn-ea"/>
                          <a:cs typeface="+mn-cs"/>
                        </a:rPr>
                        <a:t>Overall M&amp;C  Transition Plan</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a:ln>
                            <a:noFill/>
                          </a:ln>
                          <a:solidFill>
                            <a:srgbClr val="646464"/>
                          </a:solidFill>
                          <a:effectLst/>
                          <a:latin typeface="EYInterstate Light" pitchFamily="2" charset="0"/>
                          <a:ea typeface="+mn-ea"/>
                          <a:cs typeface="+mn-cs"/>
                        </a:rPr>
                        <a:t>17 Feb</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29 </a:t>
                      </a:r>
                      <a:r>
                        <a:rPr kumimoji="0" lang="en-US" sz="700" b="0" i="0" u="none" strike="noStrike" kern="1200" cap="none" normalizeH="0" baseline="0" dirty="0">
                          <a:ln>
                            <a:noFill/>
                          </a:ln>
                          <a:solidFill>
                            <a:srgbClr val="646464"/>
                          </a:solidFill>
                          <a:effectLst/>
                          <a:latin typeface="EYInterstate Light" pitchFamily="2" charset="0"/>
                          <a:ea typeface="+mn-ea"/>
                          <a:cs typeface="+mn-cs"/>
                        </a:rPr>
                        <a:t>Feb</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nvGraphicFramePr>
        <p:xfrm>
          <a:off x="2" y="1792146"/>
          <a:ext cx="4288654" cy="4881684"/>
        </p:xfrm>
        <a:graphic>
          <a:graphicData uri="http://schemas.openxmlformats.org/drawingml/2006/table">
            <a:tbl>
              <a:tblPr/>
              <a:tblGrid>
                <a:gridCol w="4288654"/>
              </a:tblGrid>
              <a:tr h="154385">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12918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Benefits: Progressed </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definition of M&amp;C Benefits Management scope and activities</a:t>
                      </a:r>
                      <a:endParaRPr kumimoji="0" lang="en-US" sz="700" b="0" i="0" u="none" strike="noStrike" kern="1200" cap="none" normalizeH="0" baseline="0" dirty="0" smtClean="0">
                        <a:ln>
                          <a:noFill/>
                        </a:ln>
                        <a:solidFill>
                          <a:srgbClr val="646464"/>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(1) Progressed content &amp; design for M&amp;C CHS – first draft design ready, (2) Drafted script, voiceover &amp; artwork ideas ready on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Epipheo</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animation, (3) Held initial discussion around managing communications to stakeholders (Claire/Sophie), (4) Finalised Jeremy/Chris video</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Learning: (1) Interviews for L&amp;O learning leads progressing, (2) Working on M&amp;C CHS learning materials with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Marianele</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Venables</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(3) engaged with global head of L&amp;D to arrange distribution/presentation of key program messages to Global Learning &amp; Knowledge Committee (GLAKC)</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AD&amp;M: (1) </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Updated potential models for Change in A&amp;DM; document based on Martin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Stuchbury’s</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feedback, (2) Provided slides on A&amp;DM for Assurance meeting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Lync</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&amp; Outlook: (1) Follow on meeting with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AsiaPac</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reps, (2) Potential Finance rep for Impact assessment workshops  identified, (3) Further work on resolving pilot scope, (4) Learning session with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Plantronics</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(5) 1st formal contact with key contacts in Knowledge, HR &amp;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on key interventions for Outlook, (6) Analysis report on current use of IM &amp; EM technology, (7) Initial draft of Community of volunteers proposal.</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rgbClr val="FF0000"/>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18377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12345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 (1) Progress visual design themes, (2) revised </a:t>
                      </a:r>
                      <a:r>
                        <a:rPr kumimoji="0" lang="en-US" sz="700" b="0"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 strategy and plan, (3) raising awareness of program (completion of leaders video represents progression in this area)</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Learning : (1) Recruitment of key positions, (2) finalisation of M&amp;C CHS initial awareness &amp; learning materials, (3) learning paths developed, created &amp; approved, (4) Investigate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Lync</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intranet in a box learning materials, (5) Create learning investment continuum &amp; single page resource ask , (6) Productivity hub available for review</a:t>
                      </a:r>
                      <a:endParaRPr kumimoji="0" lang="en-US" sz="700" b="0" i="0" u="none" strike="noStrike" kern="1200" cap="none" normalizeH="0" baseline="0" dirty="0" smtClean="0">
                        <a:ln>
                          <a:noFill/>
                        </a:ln>
                        <a:solidFill>
                          <a:srgbClr val="FF0000"/>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err="1" smtClean="0">
                          <a:ln>
                            <a:noFill/>
                          </a:ln>
                          <a:solidFill>
                            <a:srgbClr val="646464"/>
                          </a:solidFill>
                          <a:effectLst/>
                          <a:latin typeface="EYInterstate Light" pitchFamily="2" charset="0"/>
                          <a:ea typeface="+mn-ea"/>
                          <a:cs typeface="+mn-cs"/>
                        </a:rPr>
                        <a:t>Lync</a:t>
                      </a: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 and Outlook: (1) Engagement with the Business, (2) </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Update to the Change Plan as implications of Cloud and Tech pilot still need to be more fully understood, (3) </a:t>
                      </a: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Business Change impact Assessment date has moved due to shift in dates for deployment and need to onboard new Learning Lead</a:t>
                      </a:r>
                      <a:endParaRPr kumimoji="0" lang="en-GB" sz="700" b="0" i="0" u="none" strike="noStrike" kern="1200" cap="none" normalizeH="0" baseline="0" dirty="0" smtClean="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4937">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38863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Benefits: (1) </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Plan stakeholder engagement approach for benefits management, (2) Progress development of M&amp;C Benefits Realisation strategy </a:t>
                      </a:r>
                      <a:endParaRPr kumimoji="0" lang="en-US" sz="700" b="0" i="0" u="none" strike="noStrike" kern="1200" cap="none" normalizeH="0" baseline="0" dirty="0" smtClean="0">
                        <a:ln>
                          <a:noFill/>
                        </a:ln>
                        <a:solidFill>
                          <a:srgbClr val="646464"/>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 (1) </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Revise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plan and strategy following 3 day design session, (2) presentation pack for stakeholders, (3) Continue to progress CHS, (4) Continue work on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Epipheo</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animation story, (5) one pager on transitional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(6) Agree way forward for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support, (7) Distribute Chris/Jeremy video</a:t>
                      </a:r>
                      <a:endParaRPr kumimoji="0" lang="en-US" sz="700" b="0" i="0" u="none" strike="noStrike" kern="1200" cap="none" normalizeH="0" baseline="0" dirty="0" smtClean="0">
                        <a:ln>
                          <a:noFill/>
                        </a:ln>
                        <a:solidFill>
                          <a:srgbClr val="FF0000"/>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Learning : </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Engaging with key stakeholders: aiming to present key program messages to GLAKC and will continue work looking at distinguishing the individual needs of different communities</a:t>
                      </a:r>
                      <a:endParaRPr kumimoji="0" lang="en-US" sz="700" b="0" i="0" u="none" strike="noStrike" kern="1200" cap="none" normalizeH="0" baseline="0" dirty="0" smtClean="0">
                        <a:ln>
                          <a:noFill/>
                        </a:ln>
                        <a:solidFill>
                          <a:srgbClr val="646464"/>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Lync</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and Outlook: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interventions session, (2) Finalise mailto:communication, (3) Review Portal with MMD team, (4) Update UC change plan with inputs from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&amp; Learning, (5) Draft approach for High level Impact assessment workshop, (6) Update overview of L&amp;O for CHS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dirty="0" smtClean="0">
                        <a:ln>
                          <a:noFill/>
                        </a:ln>
                        <a:solidFill>
                          <a:srgbClr val="FF0000"/>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kern="1200" cap="none" normalizeH="0" baseline="0" dirty="0" smtClean="0">
                        <a:ln>
                          <a:noFill/>
                        </a:ln>
                        <a:solidFill>
                          <a:srgbClr val="FF0000"/>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nvGraphicFramePr>
        <p:xfrm>
          <a:off x="2" y="570690"/>
          <a:ext cx="4320480" cy="1164791"/>
        </p:xfrm>
        <a:graphic>
          <a:graphicData uri="http://schemas.openxmlformats.org/drawingml/2006/table">
            <a:tbl>
              <a:tblPr/>
              <a:tblGrid>
                <a:gridCol w="4320480"/>
              </a:tblGrid>
              <a:tr h="143867">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A.  </a:t>
                      </a:r>
                      <a:r>
                        <a:rPr kumimoji="0" lang="en-GB" sz="700" b="1" i="0" u="none" strike="noStrike" cap="none" normalizeH="0" baseline="0" dirty="0" smtClean="0">
                          <a:ln>
                            <a:noFill/>
                          </a:ln>
                          <a:solidFill>
                            <a:schemeClr val="tx1"/>
                          </a:solidFill>
                          <a:effectLst/>
                          <a:latin typeface="EYInterstate" pitchFamily="2" charset="0"/>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91424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 continuing to work on the creation and implementation of the </a:t>
                      </a:r>
                      <a:r>
                        <a:rPr kumimoji="0" lang="en-US" sz="700" b="0"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 strategy and to support the change management team.</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Learning : </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Learning lead for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Lync</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&amp; Outlook and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Sharepoint</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not recruited, so limited activity beyond initial preparation, planning and learning inventory creation.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AD&amp;M: </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Current work focuses on assessing the size of the Change challenge for A&amp;DM and the Change model to address this.  Impact on change of move to the right in the plans now worked through.</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err="1" smtClean="0">
                          <a:ln>
                            <a:noFill/>
                          </a:ln>
                          <a:solidFill>
                            <a:srgbClr val="646464"/>
                          </a:solidFill>
                          <a:effectLst/>
                          <a:latin typeface="EYInterstate Light" pitchFamily="2" charset="0"/>
                          <a:ea typeface="+mn-ea"/>
                          <a:cs typeface="+mn-cs"/>
                        </a:rPr>
                        <a:t>Lync</a:t>
                      </a: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 and Outlook: </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Work in this area still focuses on preparation activity as we have been unable to engage with key stakeholders but outline plans are  in place to address this and engagement with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AsiaPac</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has begun. </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5" name="Group 270"/>
          <p:cNvGraphicFramePr>
            <a:graphicFrameLocks noGrp="1"/>
          </p:cNvGraphicFramePr>
          <p:nvPr/>
        </p:nvGraphicFramePr>
        <p:xfrm>
          <a:off x="7429777" y="59747"/>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533"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174678" y="6390185"/>
            <a:ext cx="9139167" cy="540206"/>
            <a:chOff x="-189235" y="6505545"/>
            <a:chExt cx="9900766"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49026" y="6657945"/>
              <a:ext cx="663724"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endParaRPr>
            </a:p>
          </p:txBody>
        </p:sp>
        <p:sp>
          <p:nvSpPr>
            <p:cNvPr id="25" name="TextBox 24"/>
            <p:cNvSpPr txBox="1"/>
            <p:nvPr/>
          </p:nvSpPr>
          <p:spPr bwMode="gray">
            <a:xfrm>
              <a:off x="-189235" y="6505545"/>
              <a:ext cx="492009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553998"/>
          </a:xfrm>
          <a:prstGeom prst="rect">
            <a:avLst/>
          </a:prstGeom>
        </p:spPr>
        <p:txBody>
          <a:bodyPr>
            <a:spAutoFit/>
          </a:bodyPr>
          <a:lstStyle/>
          <a:p>
            <a:pPr algn="l" defTabSz="955675" eaLnBrk="0" fontAlgn="base" hangingPunct="0">
              <a:spcBef>
                <a:spcPct val="0"/>
              </a:spcBef>
              <a:defRPr/>
            </a:pPr>
            <a:r>
              <a:rPr lang="en-US" sz="1600" b="1" kern="0" dirty="0" smtClean="0">
                <a:solidFill>
                  <a:srgbClr val="646464"/>
                </a:solidFill>
              </a:rPr>
              <a:t>Messaging and Collaboration Business Change – 09-Feb-12</a:t>
            </a:r>
            <a:endParaRPr lang="en-US" sz="1600" b="1" kern="0" dirty="0">
              <a:solidFill>
                <a:srgbClr val="646464"/>
              </a:solidFill>
            </a:endParaRPr>
          </a:p>
          <a:p>
            <a:pPr algn="l" defTabSz="955675" eaLnBrk="0" fontAlgn="base" hangingPunct="0">
              <a:spcBef>
                <a:spcPct val="0"/>
              </a:spcBef>
              <a:defRPr/>
            </a:pPr>
            <a:r>
              <a:rPr lang="en-US" sz="1400" kern="0" dirty="0" smtClean="0">
                <a:solidFill>
                  <a:srgbClr val="646464"/>
                </a:solidFill>
              </a:rPr>
              <a:t>James </a:t>
            </a:r>
            <a:r>
              <a:rPr lang="en-US" sz="1400" kern="0" dirty="0" err="1" smtClean="0">
                <a:solidFill>
                  <a:srgbClr val="646464"/>
                </a:solidFill>
              </a:rPr>
              <a:t>Dibb-Simkin</a:t>
            </a:r>
            <a:r>
              <a:rPr lang="en-US" sz="1400" kern="0" dirty="0" smtClean="0">
                <a:solidFill>
                  <a:srgbClr val="646464"/>
                </a:solidFill>
              </a:rPr>
              <a:t> for Sophie </a:t>
            </a:r>
            <a:r>
              <a:rPr lang="en-US" sz="1400" kern="0" dirty="0" err="1" smtClean="0">
                <a:solidFill>
                  <a:srgbClr val="646464"/>
                </a:solidFill>
              </a:rPr>
              <a:t>Boiron</a:t>
            </a:r>
            <a:endParaRPr lang="en-US" sz="1400" kern="0" dirty="0">
              <a:solidFill>
                <a:srgbClr val="646464"/>
              </a:solidFill>
            </a:endParaRPr>
          </a:p>
        </p:txBody>
      </p:sp>
      <p:graphicFrame>
        <p:nvGraphicFramePr>
          <p:cNvPr id="24" name="Group 270"/>
          <p:cNvGraphicFramePr>
            <a:graphicFrameLocks noGrp="1"/>
          </p:cNvGraphicFramePr>
          <p:nvPr/>
        </p:nvGraphicFramePr>
        <p:xfrm>
          <a:off x="4366949" y="548680"/>
          <a:ext cx="4777050" cy="1872208"/>
        </p:xfrm>
        <a:graphic>
          <a:graphicData uri="http://schemas.openxmlformats.org/drawingml/2006/table">
            <a:tbl>
              <a:tblPr/>
              <a:tblGrid>
                <a:gridCol w="2607525"/>
                <a:gridCol w="648468"/>
                <a:gridCol w="651881"/>
                <a:gridCol w="434588"/>
                <a:gridCol w="434588"/>
              </a:tblGrid>
              <a:tr h="153438">
                <a:tc>
                  <a:txBody>
                    <a:bodyPr/>
                    <a:lstStyle/>
                    <a:p>
                      <a:pPr marL="87313" marR="0" lvl="0" indent="-87313" algn="l" defTabSz="947738" rtl="0" eaLnBrk="0" fontAlgn="base" latinLnBrk="0" hangingPunct="0">
                        <a:lnSpc>
                          <a:spcPct val="100000"/>
                        </a:lnSpc>
                        <a:spcBef>
                          <a:spcPct val="0"/>
                        </a:spcBef>
                        <a:spcAft>
                          <a:spcPct val="10000"/>
                        </a:spcAft>
                        <a:buClr>
                          <a:schemeClr val="bg1">
                            <a:lumMod val="50000"/>
                          </a:schemeClr>
                        </a:buClr>
                        <a:buSzTx/>
                        <a:buFont typeface="EYInterstate" pitchFamily="2" charset="0"/>
                        <a:buAutoNum type="alphaUcPeriod" startAt="5"/>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MILESTONES</a:t>
                      </a:r>
                      <a:endParaRPr kumimoji="0" lang="en-US" sz="700" b="0" i="0" u="none" strike="noStrike" kern="1200" cap="none" normalizeH="0" baseline="0" dirty="0" smtClean="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0660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55288">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Finalize key messages, story, narrative &amp; one pager for M&amp;C</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20 Jan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Complete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CHS/intranet site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15 Feb</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26 March</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err="1" smtClean="0">
                          <a:ln>
                            <a:noFill/>
                          </a:ln>
                          <a:solidFill>
                            <a:srgbClr val="646464"/>
                          </a:solidFill>
                          <a:effectLst/>
                          <a:latin typeface="EYInterstate Light" pitchFamily="2" charset="0"/>
                        </a:rPr>
                        <a:t>Epipheo</a:t>
                      </a:r>
                      <a:r>
                        <a:rPr kumimoji="0" lang="en-US" sz="700" b="0" i="0" u="none" strike="noStrike" cap="none" normalizeH="0" baseline="0" dirty="0" smtClean="0">
                          <a:ln>
                            <a:noFill/>
                          </a:ln>
                          <a:solidFill>
                            <a:srgbClr val="646464"/>
                          </a:solidFill>
                          <a:effectLst/>
                          <a:latin typeface="EYInterstate Light" pitchFamily="2" charset="0"/>
                        </a:rPr>
                        <a:t> video/animation graphic</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4 March</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4 March</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Identify </a:t>
                      </a:r>
                      <a:r>
                        <a:rPr kumimoji="0" lang="en-US" sz="700" b="0" i="0" u="none" strike="noStrike" kern="1200" cap="none" normalizeH="0" baseline="0" dirty="0" err="1" smtClean="0">
                          <a:ln>
                            <a:noFill/>
                          </a:ln>
                          <a:solidFill>
                            <a:srgbClr val="646464"/>
                          </a:solidFill>
                          <a:effectLst/>
                          <a:latin typeface="EYInterstate Light" pitchFamily="2" charset="0"/>
                          <a:ea typeface="+mn-ea"/>
                          <a:cs typeface="+mn-cs"/>
                        </a:rPr>
                        <a:t>Lync</a:t>
                      </a: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/Outlook Change network</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26/9/2011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26/4/2012</a:t>
                      </a:r>
                      <a:endParaRPr kumimoji="0" lang="en-US" sz="700" b="1" i="0" u="none" strike="noStrike" kern="1200" cap="none" normalizeH="0" baseline="0" dirty="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Determine user groups and training needs</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13/2/2012</a:t>
                      </a:r>
                      <a:endParaRPr kumimoji="0" lang="en-US" sz="700" b="1" i="0" u="none" strike="noStrike" kern="1200" cap="none" normalizeH="0" baseline="0" dirty="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13/3/2012</a:t>
                      </a:r>
                      <a:endParaRPr kumimoji="0" lang="en-US" sz="700" b="1" i="0" u="none" strike="noStrike" kern="1200" cap="none" normalizeH="0" baseline="0" dirty="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70628">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Sign-off end user Learning Plan – Outlook</a:t>
                      </a:r>
                      <a:endParaRPr kumimoji="0" lang="en-US" sz="700" b="0" i="0" u="none" strike="noStrike" kern="1200" cap="none" normalizeH="0" baseline="0" dirty="0" smtClean="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16/3/2012</a:t>
                      </a:r>
                      <a:endParaRPr kumimoji="0" lang="en-US" sz="700" b="1" i="0" u="none" strike="noStrike" kern="1200" cap="none" normalizeH="0" baseline="0" dirty="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16/5/2012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Sign-off end user Learning Plan –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Lync</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9/3/2012</a:t>
                      </a:r>
                      <a:endParaRPr kumimoji="0" lang="en-US" sz="700" b="1" i="0" u="none" strike="noStrike" kern="1200" cap="none" normalizeH="0" baseline="0" dirty="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9/4/2012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Overall Impact assessment across UC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30/1/2012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TBA</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Sign-off HL Impact assessment for </a:t>
                      </a:r>
                      <a:r>
                        <a:rPr kumimoji="0" lang="en-US" sz="700" b="0" i="0" u="none" strike="noStrike" kern="1200" cap="none" normalizeH="0" baseline="0" dirty="0" err="1" smtClean="0">
                          <a:ln>
                            <a:noFill/>
                          </a:ln>
                          <a:solidFill>
                            <a:srgbClr val="646464"/>
                          </a:solidFill>
                          <a:effectLst/>
                          <a:latin typeface="EYInterstate Light" pitchFamily="2" charset="0"/>
                          <a:ea typeface="+mn-ea"/>
                          <a:cs typeface="+mn-cs"/>
                        </a:rPr>
                        <a:t>Lync</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23/1/2012</a:t>
                      </a:r>
                      <a:endParaRPr kumimoji="0" lang="en-US" sz="700" b="1" i="0" u="none" strike="noStrike" kern="1200" cap="none" normalizeH="0" baseline="0" dirty="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29/3/2012</a:t>
                      </a:r>
                      <a:endParaRPr kumimoji="0" lang="en-US" sz="700" b="1" i="0" u="none" strike="noStrike" kern="1200" cap="none" normalizeH="0" baseline="0" dirty="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Sign-off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Plan for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Lync</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phase 1</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13/2/2012</a:t>
                      </a:r>
                      <a:endParaRPr kumimoji="0" lang="en-US" sz="700" b="1" i="0" u="none" strike="noStrike" kern="1200" cap="none" normalizeH="0" baseline="0" dirty="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13/2/2012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8" name="Table 27"/>
          <p:cNvGraphicFramePr>
            <a:graphicFrameLocks noGrp="1"/>
          </p:cNvGraphicFramePr>
          <p:nvPr/>
        </p:nvGraphicFramePr>
        <p:xfrm>
          <a:off x="4320483" y="2492896"/>
          <a:ext cx="4823518" cy="1521508"/>
        </p:xfrm>
        <a:graphic>
          <a:graphicData uri="http://schemas.openxmlformats.org/drawingml/2006/table">
            <a:tbl>
              <a:tblPr/>
              <a:tblGrid>
                <a:gridCol w="2208531"/>
                <a:gridCol w="2614987"/>
              </a:tblGrid>
              <a:tr h="157905">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87339">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Mitigating Action</a:t>
                      </a:r>
                      <a:endParaRPr kumimoji="0" lang="en-US" sz="700" b="0" i="0" u="none" strike="noStrike" cap="none" normalizeH="0" baseline="0" dirty="0" smtClean="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49683">
                <a:tc>
                  <a:txBody>
                    <a:bodyPr/>
                    <a:lstStyle/>
                    <a:p>
                      <a:pPr>
                        <a:buFont typeface="Arial" pitchFamily="34" charset="0"/>
                        <a:buNone/>
                      </a:pPr>
                      <a:r>
                        <a:rPr kumimoji="0" lang="en-GB" sz="700" b="0" i="0" u="none" strike="noStrike" kern="1200" cap="none" normalizeH="0" baseline="0" noProof="0" dirty="0" smtClean="0">
                          <a:ln>
                            <a:noFill/>
                          </a:ln>
                          <a:solidFill>
                            <a:schemeClr val="bg1">
                              <a:lumMod val="50000"/>
                            </a:schemeClr>
                          </a:solidFill>
                          <a:effectLst/>
                          <a:latin typeface="EYInterstate Light" pitchFamily="2" charset="0"/>
                          <a:ea typeface="+mn-ea"/>
                          <a:cs typeface="+mn-cs"/>
                        </a:rPr>
                        <a:t>Resourcing – Allison Isaacson no longer working on program (maternity leave). Recruitment of </a:t>
                      </a:r>
                      <a:r>
                        <a:rPr kumimoji="0" lang="en-GB" sz="700" b="0" i="0" u="none" strike="noStrike" kern="1200" cap="none" normalizeH="0" baseline="0" noProof="0" dirty="0" err="1" smtClean="0">
                          <a:ln>
                            <a:noFill/>
                          </a:ln>
                          <a:solidFill>
                            <a:schemeClr val="bg1">
                              <a:lumMod val="50000"/>
                            </a:schemeClr>
                          </a:solidFill>
                          <a:effectLst/>
                          <a:latin typeface="EYInterstate Light" pitchFamily="2" charset="0"/>
                          <a:ea typeface="+mn-ea"/>
                          <a:cs typeface="+mn-cs"/>
                        </a:rPr>
                        <a:t>comms</a:t>
                      </a:r>
                      <a:r>
                        <a:rPr kumimoji="0" lang="en-GB" sz="700" b="0" i="0" u="none" strike="noStrike" kern="1200" cap="none" normalizeH="0" baseline="0" noProof="0" dirty="0" smtClean="0">
                          <a:ln>
                            <a:noFill/>
                          </a:ln>
                          <a:solidFill>
                            <a:schemeClr val="bg1">
                              <a:lumMod val="50000"/>
                            </a:schemeClr>
                          </a:solidFill>
                          <a:effectLst/>
                          <a:latin typeface="EYInterstate Light" pitchFamily="2" charset="0"/>
                          <a:ea typeface="+mn-ea"/>
                          <a:cs typeface="+mn-cs"/>
                        </a:rPr>
                        <a:t> support potentially on-hold</a:t>
                      </a:r>
                      <a:endParaRPr kumimoji="0" lang="en-GB" sz="700" b="0" i="0" u="none" strike="noStrike" kern="1200" cap="none" normalizeH="0" baseline="0" noProof="0" dirty="0">
                        <a:ln>
                          <a:noFill/>
                        </a:ln>
                        <a:solidFill>
                          <a:schemeClr val="bg1">
                            <a:lumMod val="50000"/>
                          </a:schemeClr>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r>
                        <a:rPr kumimoji="0" lang="en-GB" sz="700" b="0" i="0" u="none" strike="noStrike" kern="1200" cap="none" normalizeH="0" baseline="0" noProof="0" dirty="0" err="1" smtClean="0">
                          <a:ln>
                            <a:noFill/>
                          </a:ln>
                          <a:solidFill>
                            <a:schemeClr val="bg1">
                              <a:lumMod val="50000"/>
                            </a:schemeClr>
                          </a:solidFill>
                          <a:effectLst/>
                          <a:latin typeface="EYInterstate Light" pitchFamily="2" charset="0"/>
                          <a:ea typeface="+mn-ea"/>
                          <a:cs typeface="+mn-cs"/>
                        </a:rPr>
                        <a:t>Marianela</a:t>
                      </a:r>
                      <a:r>
                        <a:rPr kumimoji="0" lang="en-GB" sz="700" b="0" i="0" u="none" strike="noStrike" kern="1200" cap="none" normalizeH="0" baseline="0" noProof="0" dirty="0" smtClean="0">
                          <a:ln>
                            <a:noFill/>
                          </a:ln>
                          <a:solidFill>
                            <a:schemeClr val="bg1">
                              <a:lumMod val="50000"/>
                            </a:schemeClr>
                          </a:solidFill>
                          <a:effectLst/>
                          <a:latin typeface="EYInterstate Light" pitchFamily="2" charset="0"/>
                          <a:ea typeface="+mn-ea"/>
                          <a:cs typeface="+mn-cs"/>
                        </a:rPr>
                        <a:t>  </a:t>
                      </a:r>
                      <a:r>
                        <a:rPr kumimoji="0" lang="en-GB" sz="700" b="0" i="0" u="none" strike="noStrike" kern="1200" cap="none" normalizeH="0" baseline="0" noProof="0" dirty="0" err="1" smtClean="0">
                          <a:ln>
                            <a:noFill/>
                          </a:ln>
                          <a:solidFill>
                            <a:schemeClr val="bg1">
                              <a:lumMod val="50000"/>
                            </a:schemeClr>
                          </a:solidFill>
                          <a:effectLst/>
                          <a:latin typeface="EYInterstate Light" pitchFamily="2" charset="0"/>
                          <a:ea typeface="+mn-ea"/>
                          <a:cs typeface="+mn-cs"/>
                        </a:rPr>
                        <a:t>Venables</a:t>
                      </a:r>
                      <a:r>
                        <a:rPr kumimoji="0" lang="en-GB" sz="700" b="0" i="0" u="none" strike="noStrike" kern="1200" cap="none" normalizeH="0" baseline="0" noProof="0" dirty="0" smtClean="0">
                          <a:ln>
                            <a:noFill/>
                          </a:ln>
                          <a:solidFill>
                            <a:schemeClr val="bg1">
                              <a:lumMod val="50000"/>
                            </a:schemeClr>
                          </a:solidFill>
                          <a:effectLst/>
                          <a:latin typeface="EYInterstate Light" pitchFamily="2" charset="0"/>
                          <a:ea typeface="+mn-ea"/>
                          <a:cs typeface="+mn-cs"/>
                        </a:rPr>
                        <a:t> supporting on intranet work. Potential for using GSS </a:t>
                      </a:r>
                      <a:r>
                        <a:rPr kumimoji="0" lang="en-GB" sz="700" b="0" i="0" u="none" strike="noStrike" kern="1200" cap="none" normalizeH="0" baseline="0" noProof="0" dirty="0" err="1" smtClean="0">
                          <a:ln>
                            <a:noFill/>
                          </a:ln>
                          <a:solidFill>
                            <a:schemeClr val="bg1">
                              <a:lumMod val="50000"/>
                            </a:schemeClr>
                          </a:solidFill>
                          <a:effectLst/>
                          <a:latin typeface="EYInterstate Light" pitchFamily="2" charset="0"/>
                          <a:ea typeface="+mn-ea"/>
                          <a:cs typeface="+mn-cs"/>
                        </a:rPr>
                        <a:t>comms</a:t>
                      </a:r>
                      <a:r>
                        <a:rPr kumimoji="0" lang="en-GB" sz="700" b="0" i="0" u="none" strike="noStrike" kern="1200" cap="none" normalizeH="0" baseline="0" noProof="0" dirty="0" smtClean="0">
                          <a:ln>
                            <a:noFill/>
                          </a:ln>
                          <a:solidFill>
                            <a:schemeClr val="bg1">
                              <a:lumMod val="50000"/>
                            </a:schemeClr>
                          </a:solidFill>
                          <a:effectLst/>
                          <a:latin typeface="EYInterstate Light" pitchFamily="2" charset="0"/>
                          <a:ea typeface="+mn-ea"/>
                          <a:cs typeface="+mn-cs"/>
                        </a:rPr>
                        <a:t>/design services.</a:t>
                      </a:r>
                      <a:endParaRPr kumimoji="0" lang="en-GB" sz="700" b="0" i="0" u="none" strike="noStrike" kern="1200" cap="none" normalizeH="0" baseline="0" noProof="0" dirty="0">
                        <a:ln>
                          <a:noFill/>
                        </a:ln>
                        <a:solidFill>
                          <a:schemeClr val="bg1">
                            <a:lumMod val="50000"/>
                          </a:schemeClr>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968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bg1">
                              <a:lumMod val="50000"/>
                            </a:schemeClr>
                          </a:solidFill>
                          <a:effectLst/>
                          <a:latin typeface="EYInterstate Light" pitchFamily="2" charset="0"/>
                          <a:ea typeface="+mn-ea"/>
                          <a:cs typeface="+mn-cs"/>
                        </a:rPr>
                        <a:t>Recruitment of required resources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8900" algn="l" defTabSz="914400" rtl="0" eaLnBrk="1" fontAlgn="base" latinLnBrk="0" hangingPunct="1">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bg1">
                              <a:lumMod val="50000"/>
                            </a:schemeClr>
                          </a:solidFill>
                          <a:effectLst/>
                          <a:latin typeface="EYInterstate Light" pitchFamily="2" charset="0"/>
                          <a:ea typeface="+mn-ea"/>
                          <a:cs typeface="+mn-cs"/>
                        </a:rPr>
                        <a:t>Recruitment underway but decisions on which function these people will be recruited into are unanswered.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38943">
                <a:tc>
                  <a:txBody>
                    <a:bodyPr/>
                    <a:lstStyle/>
                    <a:p>
                      <a:pPr marL="0" marR="0" lvl="0" indent="-88900" algn="l" defTabSz="914400" rtl="0" eaLnBrk="1" fontAlgn="base" latinLnBrk="0" hangingPunct="1">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bg1">
                              <a:lumMod val="50000"/>
                            </a:schemeClr>
                          </a:solidFill>
                          <a:effectLst/>
                          <a:latin typeface="EYInterstate Light" pitchFamily="2" charset="0"/>
                          <a:ea typeface="+mn-ea"/>
                          <a:cs typeface="+mn-cs"/>
                        </a:rPr>
                        <a:t>Alignment of M&amp;C with GCL5.0 and DECC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8900" algn="l" defTabSz="914400" rtl="0" eaLnBrk="1" fontAlgn="base" latinLnBrk="0" hangingPunct="1">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bg1">
                              <a:lumMod val="50000"/>
                            </a:schemeClr>
                          </a:solidFill>
                          <a:effectLst/>
                          <a:latin typeface="EYInterstate Light" pitchFamily="2" charset="0"/>
                          <a:ea typeface="+mn-ea"/>
                          <a:cs typeface="+mn-cs"/>
                        </a:rPr>
                        <a:t>Meetings established with Catherine Graham’s team (Learning) and investigation of enterprise plans (CM).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26526">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bg1">
                              <a:lumMod val="50000"/>
                            </a:schemeClr>
                          </a:solidFill>
                          <a:effectLst/>
                          <a:latin typeface="EYInterstate Light" pitchFamily="2" charset="0"/>
                          <a:ea typeface="+mn-ea"/>
                          <a:cs typeface="+mn-cs"/>
                        </a:rPr>
                        <a:t>Any agreement to go to Cloud may have implications on the Change interventions if we have a different solutions for Cloud and on </a:t>
                      </a:r>
                      <a:r>
                        <a:rPr kumimoji="0" lang="en-US" sz="700" b="0" i="0" u="none" strike="noStrike" kern="1200" cap="none" normalizeH="0" baseline="0" noProof="0" dirty="0" err="1" smtClean="0">
                          <a:ln>
                            <a:noFill/>
                          </a:ln>
                          <a:solidFill>
                            <a:schemeClr val="bg1">
                              <a:lumMod val="50000"/>
                            </a:schemeClr>
                          </a:solidFill>
                          <a:effectLst/>
                          <a:latin typeface="EYInterstate Light" pitchFamily="2" charset="0"/>
                          <a:ea typeface="+mn-ea"/>
                          <a:cs typeface="+mn-cs"/>
                        </a:rPr>
                        <a:t>prem</a:t>
                      </a:r>
                      <a:endParaRPr kumimoji="0" lang="en-US" sz="700" b="0" i="0" u="none" strike="noStrike" kern="1200" cap="none" normalizeH="0" baseline="0" noProof="0" dirty="0">
                        <a:ln>
                          <a:noFill/>
                        </a:ln>
                        <a:solidFill>
                          <a:schemeClr val="bg1">
                            <a:lumMod val="50000"/>
                          </a:schemeClr>
                        </a:solidFill>
                        <a:effectLst/>
                        <a:latin typeface="EYInterstate Light" pitchFamily="2" charset="0"/>
                        <a:ea typeface="+mn-ea"/>
                        <a:cs typeface="+mn-cs"/>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bg1">
                              <a:lumMod val="50000"/>
                            </a:schemeClr>
                          </a:solidFill>
                          <a:effectLst/>
                          <a:latin typeface="EYInterstate Light" pitchFamily="2" charset="0"/>
                          <a:ea typeface="+mn-ea"/>
                          <a:cs typeface="+mn-cs"/>
                        </a:rPr>
                        <a:t>Align with Technical teams to understand and close gap between the two solutions or identify different interventions required to address differences.</a:t>
                      </a:r>
                      <a:endParaRPr kumimoji="0" lang="en-US" sz="700" b="0" i="0" u="none" strike="noStrike" kern="1200" cap="none" normalizeH="0" baseline="0" noProof="0" dirty="0">
                        <a:ln>
                          <a:noFill/>
                        </a:ln>
                        <a:solidFill>
                          <a:schemeClr val="bg1">
                            <a:lumMod val="50000"/>
                          </a:schemeClr>
                        </a:solidFill>
                        <a:effectLst/>
                        <a:latin typeface="EYInterstate Light" pitchFamily="2" charset="0"/>
                        <a:ea typeface="+mn-ea"/>
                        <a:cs typeface="+mn-cs"/>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29" name="Group 852"/>
          <p:cNvGraphicFramePr>
            <a:graphicFrameLocks noGrp="1"/>
          </p:cNvGraphicFramePr>
          <p:nvPr/>
        </p:nvGraphicFramePr>
        <p:xfrm>
          <a:off x="4366949" y="4077072"/>
          <a:ext cx="4777051" cy="1629694"/>
        </p:xfrm>
        <a:graphic>
          <a:graphicData uri="http://schemas.openxmlformats.org/drawingml/2006/table">
            <a:tbl>
              <a:tblPr/>
              <a:tblGrid>
                <a:gridCol w="2333071"/>
                <a:gridCol w="2443980"/>
              </a:tblGrid>
              <a:tr h="190854">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84359">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3583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1">
                              <a:lumMod val="50000"/>
                            </a:schemeClr>
                          </a:solidFill>
                          <a:effectLst/>
                          <a:latin typeface="EYInterstate Light" pitchFamily="2" charset="0"/>
                          <a:ea typeface="+mn-ea"/>
                          <a:cs typeface="+mn-cs"/>
                        </a:rPr>
                        <a:t>Need finalized </a:t>
                      </a:r>
                      <a:r>
                        <a:rPr kumimoji="0" lang="en-US" sz="700" b="0" i="0" u="none" strike="noStrike" kern="1200" cap="none" normalizeH="0" baseline="0" dirty="0" err="1" smtClean="0">
                          <a:ln>
                            <a:noFill/>
                          </a:ln>
                          <a:solidFill>
                            <a:schemeClr val="bg1">
                              <a:lumMod val="50000"/>
                            </a:schemeClr>
                          </a:solidFill>
                          <a:effectLst/>
                          <a:latin typeface="EYInterstate Light" pitchFamily="2" charset="0"/>
                          <a:ea typeface="+mn-ea"/>
                          <a:cs typeface="+mn-cs"/>
                        </a:rPr>
                        <a:t>Comms</a:t>
                      </a:r>
                      <a:r>
                        <a:rPr kumimoji="0" lang="en-US" sz="700" b="0" i="0" u="none" strike="noStrike" kern="1200" cap="none" normalizeH="0" baseline="0" dirty="0" smtClean="0">
                          <a:ln>
                            <a:noFill/>
                          </a:ln>
                          <a:solidFill>
                            <a:schemeClr val="bg1">
                              <a:lumMod val="50000"/>
                            </a:schemeClr>
                          </a:solidFill>
                          <a:effectLst/>
                          <a:latin typeface="EYInterstate Light" pitchFamily="2" charset="0"/>
                          <a:ea typeface="+mn-ea"/>
                          <a:cs typeface="+mn-cs"/>
                        </a:rPr>
                        <a:t> strategy and plan (including creative channels and intranet presence) in place</a:t>
                      </a:r>
                      <a:endParaRPr kumimoji="0" lang="en-US" sz="700" b="0" i="0" u="none" strike="noStrike" kern="1200" cap="none" normalizeH="0" baseline="0" dirty="0">
                        <a:ln>
                          <a:noFill/>
                        </a:ln>
                        <a:solidFill>
                          <a:schemeClr val="bg1">
                            <a:lumMod val="50000"/>
                          </a:schemeClr>
                        </a:solidFill>
                        <a:effectLst/>
                        <a:latin typeface="EYInterstate Light" pitchFamily="2" charset="0"/>
                        <a:ea typeface="+mn-ea"/>
                        <a:cs typeface="+mn-cs"/>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1">
                              <a:lumMod val="50000"/>
                            </a:schemeClr>
                          </a:solidFill>
                          <a:effectLst/>
                          <a:latin typeface="EYInterstate Light" pitchFamily="2" charset="0"/>
                          <a:ea typeface="+mn-ea"/>
                          <a:cs typeface="+mn-cs"/>
                        </a:rPr>
                        <a:t>Joanne/Allison/Claire and Jackie to define</a:t>
                      </a:r>
                      <a:endParaRPr kumimoji="0" lang="en-US" sz="700" b="0" i="0" u="none" strike="noStrike" kern="1200" cap="none" normalizeH="0" baseline="0" dirty="0">
                        <a:ln>
                          <a:noFill/>
                        </a:ln>
                        <a:solidFill>
                          <a:schemeClr val="bg1">
                            <a:lumMod val="50000"/>
                          </a:schemeClr>
                        </a:solidFill>
                        <a:effectLst/>
                        <a:latin typeface="EYInterstate Light" pitchFamily="2" charset="0"/>
                        <a:ea typeface="+mn-ea"/>
                        <a:cs typeface="+mn-cs"/>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4815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1">
                              <a:lumMod val="50000"/>
                            </a:schemeClr>
                          </a:solidFill>
                          <a:effectLst/>
                          <a:latin typeface="EYInterstate Light" pitchFamily="2" charset="0"/>
                          <a:ea typeface="+mn-ea"/>
                          <a:cs typeface="+mn-cs"/>
                        </a:rPr>
                        <a:t>Connect with Area Heads of </a:t>
                      </a:r>
                      <a:r>
                        <a:rPr kumimoji="0" lang="en-US" sz="700" b="0" i="0" u="none" strike="noStrike" kern="1200" cap="none" normalizeH="0" baseline="0" dirty="0" err="1" smtClean="0">
                          <a:ln>
                            <a:noFill/>
                          </a:ln>
                          <a:solidFill>
                            <a:schemeClr val="bg1">
                              <a:lumMod val="50000"/>
                            </a:schemeClr>
                          </a:solidFill>
                          <a:effectLst/>
                          <a:latin typeface="EYInterstate Light" pitchFamily="2" charset="0"/>
                          <a:ea typeface="+mn-ea"/>
                          <a:cs typeface="+mn-cs"/>
                        </a:rPr>
                        <a:t>Comms</a:t>
                      </a:r>
                      <a:r>
                        <a:rPr kumimoji="0" lang="en-US" sz="700" b="0" i="0" u="none" strike="noStrike" kern="1200" cap="none" normalizeH="0" baseline="0" dirty="0" smtClean="0">
                          <a:ln>
                            <a:noFill/>
                          </a:ln>
                          <a:solidFill>
                            <a:schemeClr val="bg1">
                              <a:lumMod val="50000"/>
                            </a:schemeClr>
                          </a:solidFill>
                          <a:effectLst/>
                          <a:latin typeface="EYInterstate Light" pitchFamily="2" charset="0"/>
                          <a:ea typeface="+mn-ea"/>
                          <a:cs typeface="+mn-cs"/>
                        </a:rPr>
                        <a:t> re processes and channels for communicating M&amp;C</a:t>
                      </a:r>
                      <a:endParaRPr kumimoji="0" lang="en-US" sz="700" b="0" i="0" u="none" strike="noStrike" kern="1200" cap="none" normalizeH="0" baseline="0" dirty="0">
                        <a:ln>
                          <a:noFill/>
                        </a:ln>
                        <a:solidFill>
                          <a:schemeClr val="bg1">
                            <a:lumMod val="50000"/>
                          </a:schemeClr>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1">
                              <a:lumMod val="50000"/>
                            </a:schemeClr>
                          </a:solidFill>
                          <a:effectLst/>
                          <a:latin typeface="EYInterstate Light" pitchFamily="2" charset="0"/>
                          <a:ea typeface="+mn-ea"/>
                          <a:cs typeface="+mn-cs"/>
                        </a:rPr>
                        <a:t>Scheduled meetings to discuss</a:t>
                      </a:r>
                      <a:endParaRPr kumimoji="0" lang="en-US" sz="700" b="0" i="0" u="none" strike="noStrike" kern="1200" cap="none" normalizeH="0" baseline="0" dirty="0">
                        <a:ln>
                          <a:noFill/>
                        </a:ln>
                        <a:solidFill>
                          <a:schemeClr val="bg1">
                            <a:lumMod val="50000"/>
                          </a:schemeClr>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8101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1">
                              <a:lumMod val="50000"/>
                            </a:schemeClr>
                          </a:solidFill>
                          <a:effectLst/>
                          <a:latin typeface="EYInterstate Light" pitchFamily="2" charset="0"/>
                          <a:ea typeface="+mn-ea"/>
                          <a:cs typeface="+mn-cs"/>
                        </a:rPr>
                        <a:t>Engagement with the Areas is well behind schedule preventing preparation of a Change/ Deployment network &amp; understanding of local impacts</a:t>
                      </a:r>
                      <a:endParaRPr kumimoji="0" lang="en-US" sz="700" b="0" i="0" u="none" strike="noStrike" kern="1200" cap="none" normalizeH="0" baseline="0" dirty="0">
                        <a:ln>
                          <a:noFill/>
                        </a:ln>
                        <a:solidFill>
                          <a:schemeClr val="bg1">
                            <a:lumMod val="50000"/>
                          </a:schemeClr>
                        </a:solidFill>
                        <a:effectLst/>
                        <a:latin typeface="EYInterstate Light" pitchFamily="2" charset="0"/>
                        <a:ea typeface="+mn-ea"/>
                        <a:cs typeface="+mn-cs"/>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1">
                              <a:lumMod val="50000"/>
                            </a:schemeClr>
                          </a:solidFill>
                          <a:effectLst/>
                          <a:latin typeface="EYInterstate Light" pitchFamily="2" charset="0"/>
                          <a:ea typeface="+mn-ea"/>
                          <a:cs typeface="+mn-cs"/>
                        </a:rPr>
                        <a:t>Martin </a:t>
                      </a:r>
                      <a:r>
                        <a:rPr kumimoji="0" lang="en-US" sz="700" b="0" i="0" u="none" strike="noStrike" kern="1200" cap="none" normalizeH="0" baseline="0" dirty="0" err="1" smtClean="0">
                          <a:ln>
                            <a:noFill/>
                          </a:ln>
                          <a:solidFill>
                            <a:schemeClr val="bg1">
                              <a:lumMod val="50000"/>
                            </a:schemeClr>
                          </a:solidFill>
                          <a:effectLst/>
                          <a:latin typeface="EYInterstate Light" pitchFamily="2" charset="0"/>
                          <a:ea typeface="+mn-ea"/>
                          <a:cs typeface="+mn-cs"/>
                        </a:rPr>
                        <a:t>Kremmer</a:t>
                      </a:r>
                      <a:r>
                        <a:rPr kumimoji="0" lang="en-US" sz="700" b="0" i="0" u="none" strike="noStrike" kern="1200" cap="none" normalizeH="0" baseline="0" dirty="0" smtClean="0">
                          <a:ln>
                            <a:noFill/>
                          </a:ln>
                          <a:solidFill>
                            <a:schemeClr val="bg1">
                              <a:lumMod val="50000"/>
                            </a:schemeClr>
                          </a:solidFill>
                          <a:effectLst/>
                          <a:latin typeface="EYInterstate Light" pitchFamily="2" charset="0"/>
                          <a:ea typeface="+mn-ea"/>
                          <a:cs typeface="+mn-cs"/>
                        </a:rPr>
                        <a:t> to identify European rep and Sophie </a:t>
                      </a:r>
                      <a:r>
                        <a:rPr kumimoji="0" lang="en-US" sz="700" b="0" i="0" u="none" strike="noStrike" kern="1200" cap="none" normalizeH="0" baseline="0" dirty="0" err="1" smtClean="0">
                          <a:ln>
                            <a:noFill/>
                          </a:ln>
                          <a:solidFill>
                            <a:schemeClr val="bg1">
                              <a:lumMod val="50000"/>
                            </a:schemeClr>
                          </a:solidFill>
                          <a:effectLst/>
                          <a:latin typeface="EYInterstate Light" pitchFamily="2" charset="0"/>
                          <a:ea typeface="+mn-ea"/>
                          <a:cs typeface="+mn-cs"/>
                        </a:rPr>
                        <a:t>Boiron</a:t>
                      </a:r>
                      <a:r>
                        <a:rPr kumimoji="0" lang="en-US" sz="700" b="0" i="0" u="none" strike="noStrike" kern="1200" cap="none" normalizeH="0" baseline="0" dirty="0" smtClean="0">
                          <a:ln>
                            <a:noFill/>
                          </a:ln>
                          <a:solidFill>
                            <a:schemeClr val="bg1">
                              <a:lumMod val="50000"/>
                            </a:schemeClr>
                          </a:solidFill>
                          <a:effectLst/>
                          <a:latin typeface="EYInterstate Light" pitchFamily="2" charset="0"/>
                          <a:ea typeface="+mn-ea"/>
                          <a:cs typeface="+mn-cs"/>
                        </a:rPr>
                        <a:t> working to engage and confirm reps in other Areas</a:t>
                      </a:r>
                      <a:endParaRPr kumimoji="0" lang="en-US" sz="700" b="0" i="0" u="none" strike="noStrike" kern="1200" cap="none" normalizeH="0" baseline="0" dirty="0">
                        <a:ln>
                          <a:noFill/>
                        </a:ln>
                        <a:solidFill>
                          <a:schemeClr val="bg1">
                            <a:lumMod val="50000"/>
                          </a:schemeClr>
                        </a:solidFill>
                        <a:effectLst/>
                        <a:latin typeface="EYInterstate Light" pitchFamily="2" charset="0"/>
                        <a:ea typeface="+mn-ea"/>
                        <a:cs typeface="+mn-cs"/>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5053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bg1">
                              <a:lumMod val="50000"/>
                            </a:schemeClr>
                          </a:solidFill>
                          <a:effectLst/>
                          <a:latin typeface="EYInterstate Light" pitchFamily="2" charset="0"/>
                        </a:rPr>
                        <a:t>Implication of addition of technical pilot and Cloud not fully understood</a:t>
                      </a: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bg1">
                              <a:lumMod val="50000"/>
                            </a:schemeClr>
                          </a:solidFill>
                          <a:effectLst/>
                          <a:latin typeface="EYInterstate Light" pitchFamily="2" charset="0"/>
                        </a:rPr>
                        <a:t>Assumption is now a “look and see” pilot with 100 users in Business and IT.  Need to be confirmed by Al &amp; Alan.</a:t>
                      </a:r>
                      <a:endParaRPr kumimoji="0" lang="en-US" sz="700" b="0" i="0" u="none" strike="noStrike" cap="none" normalizeH="0" baseline="0" dirty="0">
                        <a:ln>
                          <a:noFill/>
                        </a:ln>
                        <a:solidFill>
                          <a:schemeClr val="bg1">
                            <a:lumMod val="50000"/>
                          </a:schemeClr>
                        </a:solidFill>
                        <a:effectLst/>
                        <a:latin typeface="EYInterstate Light" pitchFamily="2" charset="0"/>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931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bg1">
                              <a:lumMod val="50000"/>
                            </a:schemeClr>
                          </a:solidFill>
                          <a:effectLst/>
                          <a:latin typeface="EYInterstate Light" pitchFamily="2" charset="0"/>
                        </a:rPr>
                        <a:t>UC learning Lead not recruited</a:t>
                      </a:r>
                      <a:endParaRPr kumimoji="0" lang="en-US" sz="700" b="0" i="0" u="none" strike="noStrike" cap="none" normalizeH="0" baseline="0" dirty="0">
                        <a:ln>
                          <a:noFill/>
                        </a:ln>
                        <a:solidFill>
                          <a:schemeClr val="bg1">
                            <a:lumMod val="50000"/>
                          </a:schemeClr>
                        </a:solidFill>
                        <a:effectLst/>
                        <a:latin typeface="EYInterstate Light" pitchFamily="2" charset="0"/>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bg1">
                              <a:lumMod val="50000"/>
                            </a:schemeClr>
                          </a:solidFill>
                          <a:effectLst/>
                          <a:latin typeface="EYInterstate Light" pitchFamily="2" charset="0"/>
                        </a:rPr>
                        <a:t>Brigitte Ireland covering. Recruitment ongoing.</a:t>
                      </a:r>
                      <a:endParaRPr kumimoji="0" lang="en-US" sz="700" b="0" i="0" u="none" strike="noStrike" cap="none" normalizeH="0" baseline="0" dirty="0">
                        <a:ln>
                          <a:noFill/>
                        </a:ln>
                        <a:solidFill>
                          <a:schemeClr val="bg1">
                            <a:lumMod val="50000"/>
                          </a:schemeClr>
                        </a:solidFill>
                        <a:effectLst/>
                        <a:latin typeface="EYInterstate Light" pitchFamily="2" charset="0"/>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1" name="Table 30"/>
          <p:cNvGraphicFramePr>
            <a:graphicFrameLocks noGrp="1"/>
          </p:cNvGraphicFramePr>
          <p:nvPr/>
        </p:nvGraphicFramePr>
        <p:xfrm>
          <a:off x="4320483" y="5805265"/>
          <a:ext cx="4823517" cy="686993"/>
        </p:xfrm>
        <a:graphic>
          <a:graphicData uri="http://schemas.openxmlformats.org/drawingml/2006/table">
            <a:tbl>
              <a:tblPr/>
              <a:tblGrid>
                <a:gridCol w="4823517"/>
              </a:tblGrid>
              <a:tr h="95125">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55294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err="1" smtClean="0">
                          <a:ln>
                            <a:noFill/>
                          </a:ln>
                          <a:solidFill>
                            <a:srgbClr val="646464"/>
                          </a:solidFill>
                          <a:effectLst/>
                          <a:latin typeface="EYInterstate Light" pitchFamily="2" charset="0"/>
                          <a:ea typeface="+mn-ea"/>
                          <a:cs typeface="+mn-cs"/>
                        </a:rPr>
                        <a:t>Comms</a:t>
                      </a: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 </a:t>
                      </a: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Green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Learning : </a:t>
                      </a:r>
                      <a:r>
                        <a:rPr kumimoji="0" lang="en-GB" sz="700" b="1" i="0" u="none" strike="noStrike" kern="1200" cap="none" normalizeH="0" baseline="0" dirty="0" smtClean="0">
                          <a:ln>
                            <a:noFill/>
                          </a:ln>
                          <a:solidFill>
                            <a:srgbClr val="646464"/>
                          </a:solidFill>
                          <a:effectLst/>
                          <a:latin typeface="EYInterstate Light" pitchFamily="2" charset="0"/>
                          <a:ea typeface="+mn-ea"/>
                          <a:cs typeface="+mn-cs"/>
                        </a:rPr>
                        <a:t>Red status is based on recruitment issues and other program issues.</a:t>
                      </a:r>
                      <a:endParaRPr kumimoji="0" lang="en-US" sz="700" b="1" i="0" u="none" strike="noStrike" kern="1200" cap="none" normalizeH="0" baseline="0" dirty="0" smtClean="0">
                        <a:ln>
                          <a:noFill/>
                        </a:ln>
                        <a:solidFill>
                          <a:srgbClr val="646464"/>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AD&amp;M: Green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err="1" smtClean="0">
                          <a:ln>
                            <a:noFill/>
                          </a:ln>
                          <a:solidFill>
                            <a:srgbClr val="646464"/>
                          </a:solidFill>
                          <a:effectLst/>
                          <a:latin typeface="EYInterstate Light" pitchFamily="2" charset="0"/>
                          <a:ea typeface="+mn-ea"/>
                          <a:cs typeface="+mn-cs"/>
                        </a:rPr>
                        <a:t>Lync</a:t>
                      </a:r>
                      <a:r>
                        <a:rPr kumimoji="0" lang="en-US" sz="700" b="1" i="0" u="none" strike="noStrike" kern="1200" cap="none" normalizeH="0" baseline="0" dirty="0" smtClean="0">
                          <a:ln>
                            <a:noFill/>
                          </a:ln>
                          <a:solidFill>
                            <a:srgbClr val="646464"/>
                          </a:solidFill>
                          <a:effectLst/>
                          <a:latin typeface="EYInterstate Light" pitchFamily="2" charset="0"/>
                          <a:ea typeface="+mn-ea"/>
                          <a:cs typeface="+mn-cs"/>
                        </a:rPr>
                        <a:t> &amp; Outlook: Status is based on lack of engagement with the Areas and the unknown implications of Cloud.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nvGraphicFramePr>
        <p:xfrm>
          <a:off x="107504" y="1988840"/>
          <a:ext cx="4355123" cy="4514850"/>
        </p:xfrm>
        <a:graphic>
          <a:graphicData uri="http://schemas.openxmlformats.org/drawingml/2006/table">
            <a:tbl>
              <a:tblPr/>
              <a:tblGrid>
                <a:gridCol w="4355123"/>
              </a:tblGrid>
              <a:tr h="138413">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44576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People build issues have been resolved and QA has initiated testing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Iteration 5 Requirements in process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Development continues (DTU, Search, People, Communities) in Iteration 3 and 4, bug fixes for iteration 1 and 2 (People and Communities only)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Social features RFP vendors score cards have been received, follow up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mtgs</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have been scheduled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Metadata management RFP team meeting to confirm next steps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HTML editor assessment in progress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Detailed project plan version 0.1 complete, meeting with external teams to confirm tasks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DA presentation for People  (ASK integration) started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Search UI Enhancement received approval to proceed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User Experience – continuing the user research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Re-planning activities continued (assumptions, risks, dependencies, project plan drafts)</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GB"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841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22895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Research tools – GAAIT and Credential replacements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Subscribe and Deliver – Overall Vision and Scope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DTU – BA and SA activity are behind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ECMA work stream needs to have schedule revised once Blue Print Strategy is completed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Search PDF / Video RFPs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User feedback from the translation vendor art of the possible sessions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Social Features next steps (potential impact to timeline)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User Experience – scheduling of user research sessions and quick hits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Confirmation of revised FY12 plan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Behind on build and build verification process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841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33910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Begin implementation of revised FY12 plan</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err="1" smtClean="0">
                          <a:ln>
                            <a:noFill/>
                          </a:ln>
                          <a:solidFill>
                            <a:srgbClr val="646464"/>
                          </a:solidFill>
                          <a:effectLst/>
                          <a:latin typeface="EYInterstate Light" pitchFamily="2" charset="0"/>
                        </a:rPr>
                        <a:t>Ovitas</a:t>
                      </a:r>
                      <a:r>
                        <a:rPr kumimoji="0" lang="en-US" sz="700" b="0" i="0" u="none" strike="noStrike" cap="none" normalizeH="0" baseline="0" dirty="0" smtClean="0">
                          <a:ln>
                            <a:noFill/>
                          </a:ln>
                          <a:solidFill>
                            <a:srgbClr val="646464"/>
                          </a:solidFill>
                          <a:effectLst/>
                          <a:latin typeface="EYInterstate Light" pitchFamily="2" charset="0"/>
                        </a:rPr>
                        <a:t> Workshops will continue</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Updated detailed project plan with effort, duration estimates</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Confirmation of next steps for Social Features vendors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Continue iteration 3 and 4 development (</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DTU, Search, People, Communities) bug fixes i1 and 2 (People and Communities only)</a:t>
                      </a:r>
                      <a:endParaRPr kumimoji="0" lang="en-US" sz="700" b="0" i="0" u="none" strike="noStrike" cap="none" normalizeH="0" baseline="0" dirty="0" smtClean="0">
                        <a:ln>
                          <a:noFill/>
                        </a:ln>
                        <a:solidFill>
                          <a:srgbClr val="646464"/>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Continue iteration 6 requirements  (Communities, Search, DTU)</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Will have draft version of re-plan</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Continue resource recruiting for Transition manager for SharePoint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DA for ASK coexistence and DA for group leadership</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O365 Workshops scheduled for week of 2/13</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nvGraphicFramePr>
        <p:xfrm>
          <a:off x="4716016" y="4005064"/>
          <a:ext cx="4355123" cy="2273577"/>
        </p:xfrm>
        <a:graphic>
          <a:graphicData uri="http://schemas.openxmlformats.org/drawingml/2006/table">
            <a:tbl>
              <a:tblPr/>
              <a:tblGrid>
                <a:gridCol w="2113085"/>
                <a:gridCol w="2242038"/>
              </a:tblGrid>
              <a:tr h="17401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6809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Need business engagement on Research tools to begin to understand front end functionality</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Request resources from the FSG and then schedule sessions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Business users are requesting more functionality than available OOB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Work with the WSL to define a process for prioritization/approval before technical design begins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Technical design is taking longer than expected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Review process for opportunities to improve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err="1" smtClean="0">
                          <a:ln>
                            <a:noFill/>
                          </a:ln>
                          <a:solidFill>
                            <a:srgbClr val="646464"/>
                          </a:solidFill>
                          <a:effectLst/>
                          <a:latin typeface="EYInterstate Light" pitchFamily="2" charset="0"/>
                        </a:rPr>
                        <a:t>Ovitas</a:t>
                      </a:r>
                      <a:r>
                        <a:rPr kumimoji="0" lang="en-US" sz="700" b="0" i="0" u="none" strike="noStrike" cap="none" normalizeH="0" baseline="0" dirty="0" smtClean="0">
                          <a:ln>
                            <a:noFill/>
                          </a:ln>
                          <a:solidFill>
                            <a:srgbClr val="646464"/>
                          </a:solidFill>
                          <a:effectLst/>
                          <a:latin typeface="EYInterstate Light" pitchFamily="2" charset="0"/>
                        </a:rPr>
                        <a:t> POC is significantly more work than originally planned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Processing CR for the additional work</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SP Governance  needs to be completed including roles and responsibilities in the program.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Meet with designees on governance and waiting on Ian with roles and responsibilities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324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Scope 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7724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Frog usability work, Accessibility standards, TFS dashboard / M&amp;C project site, Competency Management, </a:t>
                      </a:r>
                      <a:r>
                        <a:rPr kumimoji="0" lang="en-US" sz="700" b="0" i="0" u="none" strike="noStrike" cap="none" normalizeH="0" baseline="0" dirty="0" err="1" smtClean="0">
                          <a:ln>
                            <a:noFill/>
                          </a:ln>
                          <a:solidFill>
                            <a:srgbClr val="646464"/>
                          </a:solidFill>
                          <a:effectLst/>
                          <a:latin typeface="EYInterstate Light" pitchFamily="2" charset="0"/>
                        </a:rPr>
                        <a:t>Ovitas</a:t>
                      </a:r>
                      <a:r>
                        <a:rPr kumimoji="0" lang="en-US" sz="700" b="0" i="0" u="none" strike="noStrike" cap="none" normalizeH="0" baseline="0" dirty="0" smtClean="0">
                          <a:ln>
                            <a:noFill/>
                          </a:ln>
                          <a:solidFill>
                            <a:srgbClr val="646464"/>
                          </a:solidFill>
                          <a:effectLst/>
                          <a:latin typeface="EYInterstate Light" pitchFamily="2" charset="0"/>
                        </a:rPr>
                        <a:t> POC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Complete CR based upon new process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356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Search federation tool assessment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Need to confirm the scope and cost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nvGraphicFramePr>
        <p:xfrm>
          <a:off x="107505" y="620689"/>
          <a:ext cx="4320479" cy="1310265"/>
        </p:xfrm>
        <a:graphic>
          <a:graphicData uri="http://schemas.openxmlformats.org/drawingml/2006/table">
            <a:tbl>
              <a:tblPr/>
              <a:tblGrid>
                <a:gridCol w="4320479"/>
              </a:tblGrid>
              <a:tr h="121358">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A.  </a:t>
                      </a:r>
                      <a:r>
                        <a:rPr kumimoji="0" lang="en-GB" sz="700" b="1" i="0" u="none" strike="noStrike" cap="none" normalizeH="0" baseline="0" dirty="0" smtClean="0">
                          <a:ln>
                            <a:noFill/>
                          </a:ln>
                          <a:solidFill>
                            <a:schemeClr val="tx1"/>
                          </a:solidFill>
                          <a:effectLst/>
                          <a:latin typeface="EYInterstate" pitchFamily="2" charset="0"/>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174785">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The team has made good progress on a number of open items:</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    Testing has started on Communities and People.  </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    Content Management approach and next steps being discussed with WSL</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    Research tools workstream is red due to the </a:t>
                      </a:r>
                      <a:r>
                        <a:rPr kumimoji="0" lang="en-US" sz="700" b="0" i="0" u="none" strike="noStrike" cap="none" normalizeH="0" baseline="0" dirty="0" err="1" smtClean="0">
                          <a:ln>
                            <a:noFill/>
                          </a:ln>
                          <a:solidFill>
                            <a:srgbClr val="646464"/>
                          </a:solidFill>
                          <a:effectLst/>
                          <a:latin typeface="EYInterstate Light" pitchFamily="2" charset="0"/>
                        </a:rPr>
                        <a:t>Ovitas</a:t>
                      </a:r>
                      <a:r>
                        <a:rPr kumimoji="0" lang="en-US" sz="700" b="0" i="0" u="none" strike="noStrike" cap="none" normalizeH="0" baseline="0" dirty="0" smtClean="0">
                          <a:ln>
                            <a:noFill/>
                          </a:ln>
                          <a:solidFill>
                            <a:srgbClr val="646464"/>
                          </a:solidFill>
                          <a:effectLst/>
                          <a:latin typeface="EYInterstate Light" pitchFamily="2" charset="0"/>
                        </a:rPr>
                        <a:t> proposal/ Credentials</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   Metadata Management is red as the RFP is significantly behind schedule.</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   ECMA is red as the current Blueprint work has not been integrated with the existing plan</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   Social Features process will take longer than expected, adjusting plan to reflect 2 vendor bake off</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    SP team has provided Managing Sponsor a proposed FY12 high level course of action</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    Slowing work on People and Communities until Social Features RFP decision is made</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nvGraphicFramePr>
        <p:xfrm>
          <a:off x="4716017" y="637524"/>
          <a:ext cx="4357650" cy="1884637"/>
        </p:xfrm>
        <a:graphic>
          <a:graphicData uri="http://schemas.openxmlformats.org/drawingml/2006/table">
            <a:tbl>
              <a:tblPr/>
              <a:tblGrid>
                <a:gridCol w="1656183"/>
                <a:gridCol w="720080"/>
                <a:gridCol w="720080"/>
                <a:gridCol w="576064"/>
                <a:gridCol w="685243"/>
              </a:tblGrid>
              <a:tr h="15240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smtClean="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smtClean="0">
                          <a:ln>
                            <a:noFill/>
                          </a:ln>
                          <a:solidFill>
                            <a:schemeClr val="bg2"/>
                          </a:solidFill>
                          <a:effectLst/>
                          <a:latin typeface="EYInterstate Light" pitchFamily="2" charset="0"/>
                        </a:rPr>
                        <a:t>This Period</a:t>
                      </a: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Metadata Mgmt Vendor Selection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07 Jan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TBD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Social Features Vendor Selection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06 March</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06 March</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r>
              <a:tr h="13978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QA Test Environment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11 Nov</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01 April</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O365 </a:t>
                      </a:r>
                      <a:r>
                        <a:rPr kumimoji="0" lang="en-US" sz="700" b="0" i="0" u="none" strike="noStrike" cap="none" normalizeH="0" baseline="0" dirty="0" err="1" smtClean="0">
                          <a:ln>
                            <a:noFill/>
                          </a:ln>
                          <a:solidFill>
                            <a:srgbClr val="646464"/>
                          </a:solidFill>
                          <a:effectLst/>
                          <a:latin typeface="EYInterstate Light" pitchFamily="2" charset="0"/>
                        </a:rPr>
                        <a:t>Replan</a:t>
                      </a:r>
                      <a:endParaRPr kumimoji="0" lang="en-US" sz="700" b="0" i="0" u="none" strike="noStrike" cap="none" normalizeH="0" baseline="0" dirty="0" smtClean="0">
                        <a:ln>
                          <a:noFill/>
                        </a:ln>
                        <a:solidFill>
                          <a:srgbClr val="646464"/>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20 February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20 February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ECMA / Research Tools requirements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ON HOLD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ON HOLD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Performance Test Planning</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15 March</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15 March</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Quick Hits from Frog (UX)</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1 Feb</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10 Feb</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kern="1200" cap="none" normalizeH="0" baseline="0" smtClean="0">
                          <a:ln>
                            <a:noFill/>
                          </a:ln>
                          <a:solidFill>
                            <a:srgbClr val="646464"/>
                          </a:solidFill>
                          <a:effectLst/>
                          <a:latin typeface="EYInterstate Light" pitchFamily="2" charset="0"/>
                          <a:ea typeface="+mn-ea"/>
                          <a:cs typeface="+mn-cs"/>
                        </a:rPr>
                        <a:t>AMBER</a:t>
                      </a:r>
                      <a:endParaRPr kumimoji="0" lang="en-US" sz="700" b="0" i="0" u="none" strike="noStrike" kern="1200" cap="none" normalizeH="0" baseline="0" dirty="0" smtClean="0">
                        <a:ln>
                          <a:noFill/>
                        </a:ln>
                        <a:solidFill>
                          <a:srgbClr val="646464"/>
                        </a:solidFill>
                        <a:effectLst/>
                        <a:latin typeface="EYInterstate Light"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Final Frog Deliverables (UX)</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29 Jun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29 Jun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15" name="Group 270"/>
          <p:cNvGraphicFramePr>
            <a:graphicFrameLocks noGrp="1"/>
          </p:cNvGraphicFramePr>
          <p:nvPr/>
        </p:nvGraphicFramePr>
        <p:xfrm>
          <a:off x="7570453" y="69061"/>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6" name="Table 15"/>
          <p:cNvGraphicFramePr>
            <a:graphicFrameLocks noGrp="1"/>
          </p:cNvGraphicFramePr>
          <p:nvPr/>
        </p:nvGraphicFramePr>
        <p:xfrm>
          <a:off x="4716016" y="2564904"/>
          <a:ext cx="4283115" cy="1441569"/>
        </p:xfrm>
        <a:graphic>
          <a:graphicData uri="http://schemas.openxmlformats.org/drawingml/2006/table">
            <a:tbl>
              <a:tblPr/>
              <a:tblGrid>
                <a:gridCol w="2069499"/>
                <a:gridCol w="2213616"/>
              </a:tblGrid>
              <a:tr h="289441">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237452">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Mitigating Action</a:t>
                      </a:r>
                      <a:endParaRPr kumimoji="0" lang="en-US" sz="700" b="0" i="0" u="none" strike="noStrike" cap="none" normalizeH="0" baseline="0" dirty="0" smtClean="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43053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Time and resources needed to coordinate activities across the program may be longer than the requested </a:t>
                      </a:r>
                      <a:r>
                        <a:rPr kumimoji="0" lang="en-US" sz="700" b="0" i="0" u="none" strike="noStrike" cap="none" normalizeH="0" baseline="0" dirty="0" err="1" smtClean="0">
                          <a:ln>
                            <a:noFill/>
                          </a:ln>
                          <a:solidFill>
                            <a:srgbClr val="646464"/>
                          </a:solidFill>
                          <a:effectLst/>
                          <a:latin typeface="EYInterstate Light" pitchFamily="2" charset="0"/>
                        </a:rPr>
                        <a:t>replan</a:t>
                      </a:r>
                      <a:r>
                        <a:rPr kumimoji="0" lang="en-US" sz="700" b="0" i="0" u="none" strike="noStrike" cap="none" normalizeH="0" baseline="0" dirty="0" smtClean="0">
                          <a:ln>
                            <a:noFill/>
                          </a:ln>
                          <a:solidFill>
                            <a:srgbClr val="646464"/>
                          </a:solidFill>
                          <a:effectLst/>
                          <a:latin typeface="EYInterstate Light" pitchFamily="2" charset="0"/>
                        </a:rPr>
                        <a:t> date.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Team will make assumptions based upon current knowledge to produce the plan.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Scheduling cross team meetings to resolve issues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9469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Complexity of scope we are looking to deliver</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Work with the WSL to confirm and prioritize scope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8944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Inter-dependencies across the Program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Work with the other Program Teams to minimize impact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nvGraphicFramePr>
        <p:xfrm>
          <a:off x="4716016" y="6218556"/>
          <a:ext cx="4355123" cy="378796"/>
        </p:xfrm>
        <a:graphic>
          <a:graphicData uri="http://schemas.openxmlformats.org/drawingml/2006/table">
            <a:tbl>
              <a:tblPr/>
              <a:tblGrid>
                <a:gridCol w="4355123"/>
              </a:tblGrid>
              <a:tr h="11529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4475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 Project is RED due to work stream issues and O365 implications,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0" y="6390185"/>
            <a:ext cx="8964489" cy="540206"/>
            <a:chOff x="0" y="6505545"/>
            <a:chExt cx="9711531"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hangingPunct="0">
                <a:spcAft>
                  <a:spcPts val="0"/>
                </a:spcAft>
              </a:pPr>
              <a:r>
                <a:rPr lang="en-US" sz="500" b="1" dirty="0" smtClean="0">
                  <a:solidFill>
                    <a:srgbClr val="646464"/>
                  </a:solidFill>
                  <a:latin typeface="EYInterstate Light" pitchFamily="2" charset="0"/>
                </a:rPr>
                <a:t>F</a:t>
              </a:r>
              <a:r>
                <a:rPr lang="en-US" sz="500" b="1" dirty="0" err="1" smtClean="0">
                  <a:solidFill>
                    <a:srgbClr val="646464"/>
                  </a:solidFill>
                  <a:latin typeface="EYInterstate Light" pitchFamily="2" charset="0"/>
                </a:rPr>
                <a:t>ully</a:t>
              </a:r>
              <a:r>
                <a:rPr lang="en-US" sz="500" b="1" dirty="0" smtClean="0">
                  <a:solidFill>
                    <a:srgbClr val="646464"/>
                  </a:solidFill>
                  <a:latin typeface="EYInterstate Light" pitchFamily="2" charset="0"/>
                </a:rPr>
                <a:t> achieved</a:t>
              </a:r>
              <a:endParaRPr lang="en-GB" sz="500" b="1" kern="0" dirty="0" smtClean="0">
                <a:solidFill>
                  <a:srgbClr val="646464"/>
                </a:solidFill>
                <a:latin typeface="EYInterstate"/>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hangingPunct="0">
                <a:spcAft>
                  <a:spcPts val="0"/>
                </a:spcAft>
              </a:pPr>
              <a:r>
                <a:rPr lang="en-US" sz="500" dirty="0" smtClean="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smtClean="0">
                <a:solidFill>
                  <a:srgbClr val="646464"/>
                </a:solidFill>
                <a:latin typeface="EYInterstate"/>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553998"/>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latin typeface="EYInterstate"/>
              </a:rPr>
              <a:t>R19912– SharePoint 10 February 2012</a:t>
            </a:r>
          </a:p>
          <a:p>
            <a:pPr algn="l" defTabSz="955675" eaLnBrk="0" hangingPunct="0">
              <a:spcAft>
                <a:spcPts val="0"/>
              </a:spcAft>
              <a:defRPr/>
            </a:pPr>
            <a:r>
              <a:rPr lang="en-US" sz="1400" kern="0" dirty="0" smtClean="0">
                <a:solidFill>
                  <a:srgbClr val="646464"/>
                </a:solidFill>
                <a:latin typeface="EYInterstate"/>
              </a:rPr>
              <a:t>Michelle Edmonds / Norm Beard / Brett </a:t>
            </a:r>
            <a:r>
              <a:rPr lang="en-US" sz="1400" kern="0" dirty="0" err="1" smtClean="0">
                <a:solidFill>
                  <a:srgbClr val="646464"/>
                </a:solidFill>
                <a:latin typeface="EYInterstate"/>
              </a:rPr>
              <a:t>Podoll</a:t>
            </a:r>
            <a:endParaRPr lang="en-US" sz="1400" kern="0" dirty="0">
              <a:solidFill>
                <a:srgbClr val="646464"/>
              </a:solidFill>
              <a:latin typeface="EYInterstate"/>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nvGraphicFramePr>
        <p:xfrm>
          <a:off x="70533" y="1628800"/>
          <a:ext cx="4434998" cy="4380689"/>
        </p:xfrm>
        <a:graphic>
          <a:graphicData uri="http://schemas.openxmlformats.org/drawingml/2006/table">
            <a:tbl>
              <a:tblPr/>
              <a:tblGrid>
                <a:gridCol w="4434998"/>
              </a:tblGrid>
              <a:tr h="13730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333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a:ln>
                            <a:noFill/>
                          </a:ln>
                          <a:solidFill>
                            <a:schemeClr val="tx2"/>
                          </a:solidFill>
                          <a:effectLst/>
                          <a:latin typeface="EYInterstate Light" pitchFamily="2" charset="0"/>
                        </a:rPr>
                        <a:t>Application &amp; Data Migration</a:t>
                      </a:r>
                      <a:r>
                        <a:rPr kumimoji="0" lang="en-US" sz="700" b="0" i="0" u="none" strike="noStrike" cap="none" normalizeH="0" baseline="0" dirty="0">
                          <a:ln>
                            <a:noFill/>
                          </a:ln>
                          <a:solidFill>
                            <a:schemeClr val="tx2"/>
                          </a:solidFill>
                          <a:effectLst/>
                          <a:latin typeface="EYInterstate Light" pitchFamily="2" charset="0"/>
                        </a:rPr>
                        <a:t>:  No activity.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a:ln>
                            <a:noFill/>
                          </a:ln>
                          <a:solidFill>
                            <a:schemeClr val="tx2"/>
                          </a:solidFill>
                          <a:effectLst/>
                          <a:latin typeface="EYInterstate Light" pitchFamily="2" charset="0"/>
                        </a:rPr>
                        <a:t>Lync : </a:t>
                      </a:r>
                      <a:r>
                        <a:rPr kumimoji="0" lang="en-US" sz="700" b="0" i="0" u="none" strike="noStrike" cap="none" normalizeH="0" baseline="0" dirty="0">
                          <a:ln>
                            <a:noFill/>
                          </a:ln>
                          <a:solidFill>
                            <a:schemeClr val="tx2"/>
                          </a:solidFill>
                          <a:effectLst/>
                          <a:latin typeface="EYInterstate Light" pitchFamily="2" charset="0"/>
                        </a:rPr>
                        <a:t>Full global push of Lync Dormant Client stands at 95% saturation.  Recommending to close the Lync Dormant Deployment while monitoring progress in Japan.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a:ln>
                            <a:noFill/>
                          </a:ln>
                          <a:solidFill>
                            <a:schemeClr val="tx2"/>
                          </a:solidFill>
                          <a:effectLst/>
                          <a:latin typeface="EYInterstate Light" pitchFamily="2" charset="0"/>
                        </a:rPr>
                        <a:t>Outlook:  </a:t>
                      </a:r>
                      <a:r>
                        <a:rPr kumimoji="0" lang="en-US" sz="700" b="0" i="0" u="none" strike="noStrike" cap="none" normalizeH="0" baseline="0" dirty="0">
                          <a:ln>
                            <a:noFill/>
                          </a:ln>
                          <a:solidFill>
                            <a:schemeClr val="tx2"/>
                          </a:solidFill>
                          <a:effectLst/>
                          <a:latin typeface="EYInterstate Light" pitchFamily="2" charset="0"/>
                        </a:rPr>
                        <a:t>Agreed with Martin Kremmer to use Denmark Advisory and TAS end users to fill remaining needed BU test requirements.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a:ln>
                            <a:noFill/>
                          </a:ln>
                          <a:solidFill>
                            <a:schemeClr val="tx2"/>
                          </a:solidFill>
                          <a:effectLst/>
                          <a:latin typeface="EYInterstate Light" pitchFamily="2" charset="0"/>
                        </a:rPr>
                        <a:t>Exchange</a:t>
                      </a:r>
                      <a:r>
                        <a:rPr kumimoji="0" lang="en-US" sz="700" b="0" i="0" u="none" strike="noStrike" cap="none" normalizeH="0" baseline="0" dirty="0">
                          <a:ln>
                            <a:noFill/>
                          </a:ln>
                          <a:solidFill>
                            <a:schemeClr val="tx2"/>
                          </a:solidFill>
                          <a:effectLst/>
                          <a:latin typeface="EYInterstate Light" pitchFamily="2" charset="0"/>
                        </a:rPr>
                        <a:t>: Continuing to refine an updated Transition plan for exchange. Draft due mid-next week</a:t>
                      </a:r>
                      <a:endParaRPr kumimoji="0" lang="en-US" sz="700" b="0" i="0" u="sng" strike="noStrike" cap="none" normalizeH="0" baseline="0" dirty="0">
                        <a:ln>
                          <a:noFill/>
                        </a:ln>
                        <a:solidFill>
                          <a:schemeClr val="tx2"/>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a:ln>
                            <a:noFill/>
                          </a:ln>
                          <a:solidFill>
                            <a:schemeClr val="tx2"/>
                          </a:solidFill>
                          <a:effectLst/>
                          <a:latin typeface="EYInterstate Light" pitchFamily="2" charset="0"/>
                        </a:rPr>
                        <a:t>Lync Hardware</a:t>
                      </a:r>
                      <a:r>
                        <a:rPr kumimoji="0" lang="en-US" sz="700" b="0" i="0" u="none" strike="noStrike" cap="none" normalizeH="0" baseline="0" dirty="0">
                          <a:ln>
                            <a:noFill/>
                          </a:ln>
                          <a:solidFill>
                            <a:schemeClr val="tx2"/>
                          </a:solidFill>
                          <a:effectLst/>
                          <a:latin typeface="EYInterstate Light" pitchFamily="2" charset="0"/>
                        </a:rPr>
                        <a:t>: Designing transition plan for Lync Hardware deployments.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a:ln>
                            <a:noFill/>
                          </a:ln>
                          <a:solidFill>
                            <a:schemeClr val="tx2"/>
                          </a:solidFill>
                          <a:effectLst/>
                          <a:latin typeface="EYInterstate Light" pitchFamily="2" charset="0"/>
                        </a:rPr>
                        <a:t>MMD</a:t>
                      </a:r>
                      <a:r>
                        <a:rPr kumimoji="0" lang="en-US" sz="700" b="0" i="0" u="none" strike="noStrike" cap="none" normalizeH="0" baseline="0" dirty="0">
                          <a:ln>
                            <a:noFill/>
                          </a:ln>
                          <a:solidFill>
                            <a:schemeClr val="tx2"/>
                          </a:solidFill>
                          <a:effectLst/>
                          <a:latin typeface="EYInterstate Light" pitchFamily="2" charset="0"/>
                        </a:rPr>
                        <a:t>:  No activity.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a:ln>
                            <a:noFill/>
                          </a:ln>
                          <a:solidFill>
                            <a:schemeClr val="tx2"/>
                          </a:solidFill>
                          <a:effectLst/>
                          <a:latin typeface="EYInterstate Light" pitchFamily="2" charset="0"/>
                          <a:ea typeface="+mn-ea"/>
                          <a:cs typeface="+mn-cs"/>
                        </a:rPr>
                        <a:t>SharePoint: </a:t>
                      </a:r>
                      <a:r>
                        <a:rPr kumimoji="0" lang="en-US" sz="700" b="0" i="0" u="none" strike="noStrike" cap="none" normalizeH="0" baseline="0" dirty="0">
                          <a:ln>
                            <a:noFill/>
                          </a:ln>
                          <a:solidFill>
                            <a:schemeClr val="tx2"/>
                          </a:solidFill>
                          <a:effectLst/>
                          <a:latin typeface="EYInterstate Light" pitchFamily="2" charset="0"/>
                        </a:rPr>
                        <a:t> Working with project management to re-baseline Transition activity.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a:ln>
                            <a:noFill/>
                          </a:ln>
                          <a:solidFill>
                            <a:schemeClr val="tx2"/>
                          </a:solidFill>
                          <a:effectLst/>
                          <a:latin typeface="EYInterstate Light" pitchFamily="2" charset="0"/>
                          <a:ea typeface="+mn-ea"/>
                          <a:cs typeface="+mn-cs"/>
                        </a:rPr>
                        <a:t>SharePoint Infrastructure</a:t>
                      </a:r>
                      <a:r>
                        <a:rPr kumimoji="0" lang="en-US" sz="700" b="0" i="0" u="none" strike="noStrike" kern="1200" cap="none" normalizeH="0" baseline="0" dirty="0">
                          <a:ln>
                            <a:noFill/>
                          </a:ln>
                          <a:solidFill>
                            <a:schemeClr val="tx2"/>
                          </a:solidFill>
                          <a:effectLst/>
                          <a:latin typeface="EYInterstate Light" pitchFamily="2" charset="0"/>
                          <a:ea typeface="+mn-ea"/>
                          <a:cs typeface="+mn-cs"/>
                        </a:rPr>
                        <a:t>:  Transition Impact Assessment in progress.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a:ln>
                            <a:noFill/>
                          </a:ln>
                          <a:solidFill>
                            <a:schemeClr val="tx2"/>
                          </a:solidFill>
                          <a:effectLst/>
                          <a:latin typeface="EYInterstate Light" pitchFamily="2" charset="0"/>
                          <a:ea typeface="+mn-ea"/>
                          <a:cs typeface="+mn-cs"/>
                        </a:rPr>
                        <a:t>Change Management</a:t>
                      </a:r>
                      <a:r>
                        <a:rPr kumimoji="0" lang="en-US" sz="700" b="0" i="0" u="none" strike="noStrike" kern="1200" cap="none" normalizeH="0" baseline="0" dirty="0">
                          <a:ln>
                            <a:noFill/>
                          </a:ln>
                          <a:solidFill>
                            <a:schemeClr val="tx2"/>
                          </a:solidFill>
                          <a:effectLst/>
                          <a:latin typeface="EYInterstate Light" pitchFamily="2" charset="0"/>
                          <a:ea typeface="+mn-ea"/>
                          <a:cs typeface="+mn-cs"/>
                        </a:rPr>
                        <a:t>:</a:t>
                      </a:r>
                      <a:r>
                        <a:rPr kumimoji="0" lang="en-GB" sz="700" b="0" i="0" u="none" strike="noStrike" kern="1200" cap="none" normalizeH="0" baseline="0" dirty="0">
                          <a:ln>
                            <a:noFill/>
                          </a:ln>
                          <a:solidFill>
                            <a:schemeClr val="tx2"/>
                          </a:solidFill>
                          <a:effectLst/>
                          <a:latin typeface="EYInterstate Light" pitchFamily="2" charset="0"/>
                          <a:ea typeface="+mn-ea"/>
                          <a:cs typeface="+mn-cs"/>
                        </a:rPr>
                        <a:t>  Working on TOM planning with Nick Coburn and Blaine Pardoe.  Updated the Deployment Communications plan with David Pellot.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a:ln>
                            <a:noFill/>
                          </a:ln>
                          <a:solidFill>
                            <a:schemeClr val="tx2"/>
                          </a:solidFill>
                          <a:effectLst/>
                          <a:latin typeface="EYInterstate Light" pitchFamily="2" charset="0"/>
                          <a:ea typeface="+mn-ea"/>
                          <a:cs typeface="+mn-cs"/>
                        </a:rPr>
                        <a:t>I</a:t>
                      </a:r>
                      <a:r>
                        <a:rPr kumimoji="0" lang="en-GB" sz="700" b="0" i="0" u="sng" strike="noStrike" kern="1200" cap="none" normalizeH="0" baseline="0" dirty="0">
                          <a:ln>
                            <a:noFill/>
                          </a:ln>
                          <a:solidFill>
                            <a:schemeClr val="tx2"/>
                          </a:solidFill>
                          <a:effectLst/>
                          <a:latin typeface="EYInterstate Light" pitchFamily="2" charset="0"/>
                          <a:ea typeface="+mn-ea"/>
                          <a:cs typeface="+mn-cs"/>
                        </a:rPr>
                        <a:t>T Transition </a:t>
                      </a:r>
                      <a:r>
                        <a:rPr kumimoji="0" lang="en-GB" sz="700" b="0" i="0" u="none" strike="noStrike" kern="1200" cap="none" normalizeH="0" baseline="0" dirty="0">
                          <a:ln>
                            <a:noFill/>
                          </a:ln>
                          <a:solidFill>
                            <a:schemeClr val="tx2"/>
                          </a:solidFill>
                          <a:effectLst/>
                          <a:latin typeface="EYInterstate Light" pitchFamily="2" charset="0"/>
                          <a:ea typeface="+mn-ea"/>
                          <a:cs typeface="+mn-cs"/>
                        </a:rPr>
                        <a:t>Management: Continuing to refocus and reprioritize Transition structure for M&amp;C while working with Nick Coburn.  Transition resource requests have been placed on a temporary hold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sng" strike="noStrike" kern="1200" cap="none" normalizeH="0" baseline="0" dirty="0">
                        <a:ln>
                          <a:noFill/>
                        </a:ln>
                        <a:solidFill>
                          <a:schemeClr val="tx2"/>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16344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55729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a:ln>
                            <a:noFill/>
                          </a:ln>
                          <a:solidFill>
                            <a:schemeClr val="tx2"/>
                          </a:solidFill>
                          <a:effectLst/>
                          <a:latin typeface="EYInterstate Light" pitchFamily="2" charset="0"/>
                          <a:ea typeface="+mn-ea"/>
                          <a:cs typeface="+mn-cs"/>
                        </a:rPr>
                        <a:t>Recruitment of TM resources.</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a:ln>
                            <a:noFill/>
                          </a:ln>
                          <a:solidFill>
                            <a:schemeClr val="tx2"/>
                          </a:solidFill>
                          <a:effectLst/>
                          <a:latin typeface="EYInterstate Light" pitchFamily="2" charset="0"/>
                          <a:ea typeface="+mn-ea"/>
                          <a:cs typeface="+mn-cs"/>
                        </a:rPr>
                        <a:t>Detailed transition plans based on </a:t>
                      </a:r>
                      <a:r>
                        <a:rPr kumimoji="0" lang="en-US" sz="700" b="0" i="0" u="none" strike="noStrike" kern="1200" cap="none" normalizeH="0" baseline="0" dirty="0" err="1">
                          <a:ln>
                            <a:noFill/>
                          </a:ln>
                          <a:solidFill>
                            <a:schemeClr val="tx2"/>
                          </a:solidFill>
                          <a:effectLst/>
                          <a:latin typeface="EYInterstate Light" pitchFamily="2" charset="0"/>
                          <a:ea typeface="+mn-ea"/>
                          <a:cs typeface="+mn-cs"/>
                        </a:rPr>
                        <a:t>workstream</a:t>
                      </a:r>
                      <a:r>
                        <a:rPr kumimoji="0" lang="en-US" sz="700" b="0" i="0" u="none" strike="noStrike" kern="1200" cap="none" normalizeH="0" baseline="0" dirty="0">
                          <a:ln>
                            <a:noFill/>
                          </a:ln>
                          <a:solidFill>
                            <a:schemeClr val="tx2"/>
                          </a:solidFill>
                          <a:effectLst/>
                          <a:latin typeface="EYInterstate Light" pitchFamily="2" charset="0"/>
                          <a:ea typeface="+mn-ea"/>
                          <a:cs typeface="+mn-cs"/>
                        </a:rPr>
                        <a:t> delivery dates.</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a:ln>
                            <a:noFill/>
                          </a:ln>
                          <a:solidFill>
                            <a:schemeClr val="tx2"/>
                          </a:solidFill>
                          <a:effectLst/>
                          <a:latin typeface="EYInterstate Light" pitchFamily="2" charset="0"/>
                        </a:rPr>
                        <a:t>Outlook Dormant Deployment -   Requesting a new global BU list from Keelin Miller to supplement the Denmark based testers offered by Martin Kremmer.</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a:ln>
                            <a:noFill/>
                          </a:ln>
                          <a:solidFill>
                            <a:schemeClr val="tx2"/>
                          </a:solidFill>
                          <a:effectLst/>
                          <a:latin typeface="EYInterstate Light" pitchFamily="2" charset="0"/>
                          <a:ea typeface="+mn-ea"/>
                          <a:cs typeface="+mn-cs"/>
                        </a:rPr>
                        <a:t>Detailed planning sessions with I&amp;O teams, specifically RSS / OSS.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6691">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47401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a:ln>
                            <a:noFill/>
                          </a:ln>
                          <a:solidFill>
                            <a:schemeClr val="tx2"/>
                          </a:solidFill>
                          <a:effectLst/>
                          <a:latin typeface="EYInterstate Light" pitchFamily="2" charset="0"/>
                        </a:rPr>
                        <a:t>Application &amp; Data Migration </a:t>
                      </a:r>
                      <a:r>
                        <a:rPr kumimoji="0" lang="en-US" sz="700" b="0" i="0" u="none" strike="noStrike" cap="none" normalizeH="0" baseline="0" dirty="0">
                          <a:ln>
                            <a:noFill/>
                          </a:ln>
                          <a:solidFill>
                            <a:schemeClr val="tx2"/>
                          </a:solidFill>
                          <a:effectLst/>
                          <a:latin typeface="EYInterstate Light" pitchFamily="2" charset="0"/>
                        </a:rPr>
                        <a:t>: Maintain current communication via </a:t>
                      </a:r>
                      <a:r>
                        <a:rPr kumimoji="0" lang="en-US" sz="700" b="0" i="0" u="none" strike="noStrike" cap="none" normalizeH="0" baseline="0" dirty="0" err="1">
                          <a:ln>
                            <a:noFill/>
                          </a:ln>
                          <a:solidFill>
                            <a:schemeClr val="tx2"/>
                          </a:solidFill>
                          <a:effectLst/>
                          <a:latin typeface="EYInterstate Light" pitchFamily="2" charset="0"/>
                        </a:rPr>
                        <a:t>workstream</a:t>
                      </a:r>
                      <a:r>
                        <a:rPr kumimoji="0" lang="en-US" sz="700" b="0" i="0" u="none" strike="noStrike" cap="none" normalizeH="0" baseline="0" dirty="0">
                          <a:ln>
                            <a:noFill/>
                          </a:ln>
                          <a:solidFill>
                            <a:schemeClr val="tx2"/>
                          </a:solidFill>
                          <a:effectLst/>
                          <a:latin typeface="EYInterstate Light" pitchFamily="2" charset="0"/>
                        </a:rPr>
                        <a:t> status updates.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a:ln>
                            <a:noFill/>
                          </a:ln>
                          <a:solidFill>
                            <a:schemeClr val="tx2"/>
                          </a:solidFill>
                          <a:effectLst/>
                          <a:latin typeface="EYInterstate Light" pitchFamily="2" charset="0"/>
                        </a:rPr>
                        <a:t>Lync &amp; Messaging:</a:t>
                      </a:r>
                      <a:r>
                        <a:rPr kumimoji="0" lang="en-US" sz="700" b="0" i="0" u="none" strike="noStrike" cap="none" normalizeH="0" baseline="0" dirty="0">
                          <a:ln>
                            <a:noFill/>
                          </a:ln>
                          <a:solidFill>
                            <a:schemeClr val="tx2"/>
                          </a:solidFill>
                          <a:effectLst/>
                          <a:latin typeface="EYInterstate Light" pitchFamily="2" charset="0"/>
                        </a:rPr>
                        <a:t>.  Gain additional clarity around migration strategy and expected pilots and other pre-go live activities.  Refining Operational Checklist requirements with Rob Dekker.</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a:ln>
                            <a:noFill/>
                          </a:ln>
                          <a:solidFill>
                            <a:schemeClr val="tx2"/>
                          </a:solidFill>
                          <a:effectLst/>
                          <a:latin typeface="EYInterstate Light" pitchFamily="2" charset="0"/>
                        </a:rPr>
                        <a:t>Exchange</a:t>
                      </a:r>
                      <a:r>
                        <a:rPr kumimoji="0" lang="en-US" sz="700" b="0" i="0" u="none" strike="noStrike" cap="none" normalizeH="0" baseline="0" dirty="0">
                          <a:ln>
                            <a:noFill/>
                          </a:ln>
                          <a:solidFill>
                            <a:schemeClr val="tx2"/>
                          </a:solidFill>
                          <a:effectLst/>
                          <a:latin typeface="EYInterstate Light" pitchFamily="2" charset="0"/>
                        </a:rPr>
                        <a:t>:  Lazzaro is expected to deliver a transition plan to Paul Neave by Tuesday, 7 Feb.</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cap="none" normalizeH="0" baseline="0" dirty="0">
                          <a:ln>
                            <a:noFill/>
                          </a:ln>
                          <a:solidFill>
                            <a:schemeClr val="tx2"/>
                          </a:solidFill>
                          <a:effectLst/>
                          <a:latin typeface="EYInterstate Light" pitchFamily="2" charset="0"/>
                        </a:rPr>
                        <a:t>MMD</a:t>
                      </a:r>
                      <a:r>
                        <a:rPr kumimoji="0" lang="en-US" sz="700" b="0" i="0" u="none" strike="noStrike" cap="none" normalizeH="0" baseline="0" dirty="0">
                          <a:ln>
                            <a:noFill/>
                          </a:ln>
                          <a:solidFill>
                            <a:schemeClr val="tx2"/>
                          </a:solidFill>
                          <a:effectLst/>
                          <a:latin typeface="EYInterstate Light" pitchFamily="2" charset="0"/>
                        </a:rPr>
                        <a:t>:  Continue work with Yvonne McGrory to determine Transition Manager needs for MMD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a:ln>
                            <a:noFill/>
                          </a:ln>
                          <a:solidFill>
                            <a:schemeClr val="tx2"/>
                          </a:solidFill>
                          <a:effectLst/>
                          <a:latin typeface="EYInterstate Light" pitchFamily="2" charset="0"/>
                          <a:ea typeface="+mn-ea"/>
                          <a:cs typeface="+mn-cs"/>
                        </a:rPr>
                        <a:t>SharePoint: </a:t>
                      </a:r>
                      <a:r>
                        <a:rPr kumimoji="0" lang="en-US" sz="700" b="0" i="0" u="none" strike="noStrike" cap="none" normalizeH="0" baseline="0" dirty="0">
                          <a:ln>
                            <a:noFill/>
                          </a:ln>
                          <a:solidFill>
                            <a:schemeClr val="tx2"/>
                          </a:solidFill>
                          <a:effectLst/>
                          <a:latin typeface="EYInterstate Light" pitchFamily="2" charset="0"/>
                        </a:rPr>
                        <a:t>Attending Microsoft O365 / SharePoint sessions in Cleveland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a:ln>
                            <a:noFill/>
                          </a:ln>
                          <a:solidFill>
                            <a:schemeClr val="tx2"/>
                          </a:solidFill>
                          <a:effectLst/>
                          <a:latin typeface="EYInterstate Light" pitchFamily="2" charset="0"/>
                          <a:ea typeface="+mn-ea"/>
                          <a:cs typeface="+mn-cs"/>
                        </a:rPr>
                        <a:t>SharePoint Infrastructure</a:t>
                      </a:r>
                      <a:r>
                        <a:rPr kumimoji="0" lang="en-US" sz="700" b="0" i="0" u="none" strike="noStrike" kern="1200" cap="none" normalizeH="0" baseline="0" dirty="0">
                          <a:ln>
                            <a:noFill/>
                          </a:ln>
                          <a:solidFill>
                            <a:schemeClr val="tx2"/>
                          </a:solidFill>
                          <a:effectLst/>
                          <a:latin typeface="EYInterstate Light" pitchFamily="2" charset="0"/>
                          <a:ea typeface="+mn-ea"/>
                          <a:cs typeface="+mn-cs"/>
                        </a:rPr>
                        <a:t>: Delivery of Transition Impact Assessment (TIA) to Operations</a:t>
                      </a:r>
                      <a:endParaRPr kumimoji="0" lang="en-US" sz="700" b="0" i="0" u="sng" strike="noStrike" kern="1200" cap="none" normalizeH="0" baseline="0" dirty="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sng" strike="noStrike" kern="1200" cap="none" normalizeH="0" baseline="0" dirty="0">
                          <a:ln>
                            <a:noFill/>
                          </a:ln>
                          <a:solidFill>
                            <a:schemeClr val="tx2"/>
                          </a:solidFill>
                          <a:effectLst/>
                          <a:latin typeface="EYInterstate Light" pitchFamily="2" charset="0"/>
                          <a:ea typeface="+mn-ea"/>
                          <a:cs typeface="+mn-cs"/>
                        </a:rPr>
                        <a:t>Change Management</a:t>
                      </a:r>
                      <a:r>
                        <a:rPr kumimoji="0" lang="en-US" sz="700" b="0" i="0" u="none" strike="noStrike" kern="1200" cap="none" normalizeH="0" baseline="0" dirty="0">
                          <a:ln>
                            <a:noFill/>
                          </a:ln>
                          <a:solidFill>
                            <a:schemeClr val="tx2"/>
                          </a:solidFill>
                          <a:effectLst/>
                          <a:latin typeface="EYInterstate Light" pitchFamily="2" charset="0"/>
                          <a:ea typeface="+mn-ea"/>
                          <a:cs typeface="+mn-cs"/>
                        </a:rPr>
                        <a:t>: </a:t>
                      </a:r>
                      <a:r>
                        <a:rPr kumimoji="0" lang="en-US" sz="700" b="1" i="0" u="none" strike="noStrike" kern="1200" cap="none" normalizeH="0" baseline="0" dirty="0">
                          <a:ln>
                            <a:noFill/>
                          </a:ln>
                          <a:solidFill>
                            <a:schemeClr val="tx2"/>
                          </a:solidFill>
                          <a:effectLst/>
                          <a:latin typeface="EYInterstate Light" pitchFamily="2" charset="0"/>
                          <a:ea typeface="+mn-ea"/>
                          <a:cs typeface="+mn-cs"/>
                        </a:rPr>
                        <a:t>Continue refining IT change management aspects impacting Transition plan for of a new Operating model with Nick Coburn and Blaine Pardoe.  Start planning work with new IT Change Mangers, Karin Van Den Worm (SharePoint) and Kathleen Andersson (UC)</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a:ln>
                            <a:noFill/>
                          </a:ln>
                          <a:solidFill>
                            <a:schemeClr val="tx2"/>
                          </a:solidFill>
                          <a:effectLst/>
                          <a:latin typeface="EYInterstate Light" pitchFamily="2" charset="0"/>
                          <a:ea typeface="+mn-ea"/>
                          <a:cs typeface="+mn-cs"/>
                        </a:rPr>
                        <a:t>I</a:t>
                      </a:r>
                      <a:r>
                        <a:rPr kumimoji="0" lang="en-GB" sz="700" b="0" i="0" u="sng" strike="noStrike" kern="1200" cap="none" normalizeH="0" baseline="0" dirty="0">
                          <a:ln>
                            <a:noFill/>
                          </a:ln>
                          <a:solidFill>
                            <a:schemeClr val="tx2"/>
                          </a:solidFill>
                          <a:effectLst/>
                          <a:latin typeface="EYInterstate Light" pitchFamily="2" charset="0"/>
                          <a:ea typeface="+mn-ea"/>
                          <a:cs typeface="+mn-cs"/>
                        </a:rPr>
                        <a:t>T Transition Management:</a:t>
                      </a:r>
                      <a:r>
                        <a:rPr kumimoji="0" lang="en-GB" sz="700" b="0" i="0" u="none" strike="noStrike" kern="1200" cap="none" normalizeH="0" baseline="0" dirty="0">
                          <a:ln>
                            <a:noFill/>
                          </a:ln>
                          <a:solidFill>
                            <a:schemeClr val="tx2"/>
                          </a:solidFill>
                          <a:effectLst/>
                          <a:latin typeface="EYInterstate Light" pitchFamily="2" charset="0"/>
                          <a:ea typeface="+mn-ea"/>
                          <a:cs typeface="+mn-cs"/>
                        </a:rPr>
                        <a:t> </a:t>
                      </a:r>
                      <a:r>
                        <a:rPr kumimoji="0" lang="en-US" sz="700" b="1" i="0" u="none" strike="noStrike" kern="1200" cap="none" normalizeH="0" baseline="0" dirty="0">
                          <a:ln>
                            <a:noFill/>
                          </a:ln>
                          <a:solidFill>
                            <a:schemeClr val="tx2"/>
                          </a:solidFill>
                          <a:effectLst/>
                          <a:latin typeface="EYInterstate Light" pitchFamily="2" charset="0"/>
                          <a:ea typeface="+mn-ea"/>
                          <a:cs typeface="+mn-cs"/>
                        </a:rPr>
                        <a:t>Continue recruitment of internal experienced EY TM resources and external search for qualified TM candidates.  Continue planning of </a:t>
                      </a:r>
                      <a:r>
                        <a:rPr kumimoji="0" lang="en-GB" sz="700" b="0" i="0" u="none" strike="noStrike" kern="1200" cap="none" normalizeH="0" baseline="0" dirty="0">
                          <a:ln>
                            <a:noFill/>
                          </a:ln>
                          <a:solidFill>
                            <a:schemeClr val="tx2"/>
                          </a:solidFill>
                          <a:effectLst/>
                          <a:latin typeface="EYInterstate Light" pitchFamily="2" charset="0"/>
                          <a:ea typeface="+mn-ea"/>
                          <a:cs typeface="+mn-cs"/>
                        </a:rPr>
                        <a:t>early lifecycle support scenarios with RSS/OSS contacts.</a:t>
                      </a:r>
                      <a:endParaRPr kumimoji="0" lang="en-US" sz="700" b="1" i="0" u="none" strike="noStrike" kern="1200" cap="none" normalizeH="0" baseline="0" dirty="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1" i="0" u="none" strike="noStrike" kern="1200" cap="none" normalizeH="0" baseline="0" dirty="0">
                        <a:ln>
                          <a:noFill/>
                        </a:ln>
                        <a:solidFill>
                          <a:schemeClr val="tx2"/>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nvGraphicFramePr>
        <p:xfrm>
          <a:off x="4572000" y="4077072"/>
          <a:ext cx="4572000" cy="1745960"/>
        </p:xfrm>
        <a:graphic>
          <a:graphicData uri="http://schemas.openxmlformats.org/drawingml/2006/table">
            <a:tbl>
              <a:tblPr/>
              <a:tblGrid>
                <a:gridCol w="2302705"/>
                <a:gridCol w="2269295"/>
              </a:tblGrid>
              <a:tr h="138975">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34245">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32431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Need to recruit a significant number of additional resources into the program. Recruitment of skilled staff proving very difficult and will impact schedules.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Reviewing Transition Manager resourcing requirements with Nick Coburn to modify current TM needs and strategy</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472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Need to determine if a charge code should be established independent of current work streams.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Discuss at a future Program Management Meeting</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42390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Discussing the need to realign the IT Transition group and Transition Mangers under a single group under M&amp;C or Cross-Org to better manage IT Transition as a service.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chemeClr val="tx2"/>
                          </a:solidFill>
                          <a:effectLst/>
                          <a:latin typeface="EYInterstate Light" pitchFamily="2" charset="0"/>
                        </a:rPr>
                        <a:t>Reviewing Transition Manager resourcing requirements with Nick Coburn to modify current TM needs and strategy</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513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Scope 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9647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None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a:ln>
                          <a:noFill/>
                        </a:ln>
                        <a:solidFill>
                          <a:schemeClr val="tx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nvGraphicFramePr>
        <p:xfrm>
          <a:off x="70533" y="548680"/>
          <a:ext cx="4368529" cy="1008112"/>
        </p:xfrm>
        <a:graphic>
          <a:graphicData uri="http://schemas.openxmlformats.org/drawingml/2006/table">
            <a:tbl>
              <a:tblPr/>
              <a:tblGrid>
                <a:gridCol w="4368529"/>
              </a:tblGrid>
              <a:tr h="19920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A.  </a:t>
                      </a:r>
                      <a:r>
                        <a:rPr kumimoji="0" lang="en-GB" sz="700" b="1" i="0" u="none" strike="noStrike" cap="none" normalizeH="0" baseline="0" dirty="0">
                          <a:ln>
                            <a:noFill/>
                          </a:ln>
                          <a:solidFill>
                            <a:schemeClr val="tx1"/>
                          </a:solidFill>
                          <a:effectLst/>
                          <a:latin typeface="EYInterstate" pitchFamily="2" charset="0"/>
                        </a:rPr>
                        <a:t>EXECUTIVE SUMMARY – a summary of the progress for this period (not of the initiative)</a:t>
                      </a:r>
                      <a:endParaRPr kumimoji="0" lang="en-US" sz="700" b="1" i="0" u="none" strike="noStrike" cap="none" normalizeH="0" baseline="0" dirty="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80891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a:ln>
                            <a:noFill/>
                          </a:ln>
                          <a:solidFill>
                            <a:schemeClr val="tx2"/>
                          </a:solidFill>
                          <a:effectLst/>
                          <a:latin typeface="EYInterstate Light" pitchFamily="2" charset="0"/>
                          <a:ea typeface="+mn-ea"/>
                          <a:cs typeface="+mn-cs"/>
                        </a:rPr>
                        <a:t>  Developing transition plans with each </a:t>
                      </a:r>
                      <a:r>
                        <a:rPr kumimoji="0" lang="en-US" sz="700" b="0" i="0" u="none" strike="noStrike" kern="1200" cap="none" normalizeH="0" baseline="0" dirty="0" err="1">
                          <a:ln>
                            <a:noFill/>
                          </a:ln>
                          <a:solidFill>
                            <a:schemeClr val="tx2"/>
                          </a:solidFill>
                          <a:effectLst/>
                          <a:latin typeface="EYInterstate Light" pitchFamily="2" charset="0"/>
                          <a:ea typeface="+mn-ea"/>
                          <a:cs typeface="+mn-cs"/>
                        </a:rPr>
                        <a:t>workstream</a:t>
                      </a:r>
                      <a:r>
                        <a:rPr kumimoji="0" lang="en-US" sz="700" b="0" i="0" u="none" strike="noStrike" kern="1200" cap="none" normalizeH="0" baseline="0" dirty="0">
                          <a:ln>
                            <a:noFill/>
                          </a:ln>
                          <a:solidFill>
                            <a:schemeClr val="tx2"/>
                          </a:solidFill>
                          <a:effectLst/>
                          <a:latin typeface="EYInterstate Light" pitchFamily="2" charset="0"/>
                          <a:ea typeface="+mn-ea"/>
                          <a:cs typeface="+mn-cs"/>
                        </a:rPr>
                        <a:t> based on current Transition methodology.</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a:ln>
                            <a:noFill/>
                          </a:ln>
                          <a:solidFill>
                            <a:schemeClr val="tx2"/>
                          </a:solidFill>
                          <a:effectLst/>
                          <a:latin typeface="EYInterstate Light" pitchFamily="2" charset="0"/>
                          <a:ea typeface="+mn-ea"/>
                          <a:cs typeface="+mn-cs"/>
                        </a:rPr>
                        <a:t> Coordinating plan to for documentation handover to Operations</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a:ln>
                            <a:noFill/>
                          </a:ln>
                          <a:solidFill>
                            <a:schemeClr val="tx2"/>
                          </a:solidFill>
                          <a:effectLst/>
                          <a:latin typeface="EYInterstate Light" pitchFamily="2" charset="0"/>
                          <a:ea typeface="+mn-ea"/>
                          <a:cs typeface="+mn-cs"/>
                        </a:rPr>
                        <a:t> Deployment of the Lync Dormant client to all current EY desktop computers and adding to  global core </a:t>
                      </a:r>
                      <a:r>
                        <a:rPr kumimoji="0" lang="en-US" sz="700" b="0" i="0" u="none" strike="noStrike" kern="1200" cap="none" normalizeH="0" baseline="0" dirty="0" err="1">
                          <a:ln>
                            <a:noFill/>
                          </a:ln>
                          <a:solidFill>
                            <a:schemeClr val="tx2"/>
                          </a:solidFill>
                          <a:effectLst/>
                          <a:latin typeface="EYInterstate Light" pitchFamily="2" charset="0"/>
                          <a:ea typeface="+mn-ea"/>
                          <a:cs typeface="+mn-cs"/>
                        </a:rPr>
                        <a:t>loadset</a:t>
                      </a:r>
                      <a:r>
                        <a:rPr kumimoji="0" lang="en-US" sz="700" b="0" i="0" u="none" strike="noStrike" kern="1200" cap="none" normalizeH="0" baseline="0" dirty="0">
                          <a:ln>
                            <a:noFill/>
                          </a:ln>
                          <a:solidFill>
                            <a:schemeClr val="tx2"/>
                          </a:solidFill>
                          <a:effectLst/>
                          <a:latin typeface="EYInterstate Light" pitchFamily="2" charset="0"/>
                          <a:ea typeface="+mn-ea"/>
                          <a:cs typeface="+mn-cs"/>
                        </a:rPr>
                        <a:t> builds</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a:ln>
                            <a:noFill/>
                          </a:ln>
                          <a:solidFill>
                            <a:schemeClr val="tx2"/>
                          </a:solidFill>
                          <a:effectLst/>
                          <a:latin typeface="EYInterstate Light" pitchFamily="2" charset="0"/>
                          <a:ea typeface="+mn-ea"/>
                          <a:cs typeface="+mn-cs"/>
                        </a:rPr>
                        <a:t> Expanded M&amp;C Transition team working with Nick Coburn and Blaine Pardoe to develop the future Operational Model and resulting transition plan</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nvGraphicFramePr>
        <p:xfrm>
          <a:off x="4572000" y="548680"/>
          <a:ext cx="4572001" cy="1590580"/>
        </p:xfrm>
        <a:graphic>
          <a:graphicData uri="http://schemas.openxmlformats.org/drawingml/2006/table">
            <a:tbl>
              <a:tblPr/>
              <a:tblGrid>
                <a:gridCol w="1472468"/>
                <a:gridCol w="737984"/>
                <a:gridCol w="784398"/>
                <a:gridCol w="788575"/>
                <a:gridCol w="788576"/>
              </a:tblGrid>
              <a:tr h="149129">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32981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41135">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EYInterstate Light" pitchFamily="2" charset="0"/>
                        </a:rPr>
                        <a:t>IT Transition Plan for SharePoint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EYInterstate Light" pitchFamily="2" charset="0"/>
                        </a:rPr>
                        <a:t>1 Feb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EYInterstate Light" pitchFamily="2" charset="0"/>
                        </a:rPr>
                        <a:t>29 Feb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72008">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EYInterstate Light" pitchFamily="2" charset="0"/>
                        </a:rPr>
                        <a:t>IT Transition Plan for Lync &amp; Messaging</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EYInterstate Light" pitchFamily="2" charset="0"/>
                        </a:rPr>
                        <a:t>1 Feb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EYInterstate Light" pitchFamily="2" charset="0"/>
                        </a:rPr>
                        <a:t>29 Feb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72008">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EYInterstate Light" pitchFamily="2" charset="0"/>
                        </a:rPr>
                        <a:t>IT Transition Plan for Exchange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EYInterstate Light" pitchFamily="2" charset="0"/>
                        </a:rPr>
                        <a:t>1 Feb</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EYInterstate Light" pitchFamily="2" charset="0"/>
                        </a:rPr>
                        <a:t>7 Feb</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4433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EYInterstate Light" pitchFamily="2" charset="0"/>
                        </a:rPr>
                        <a:t>IT Transition Plan for A&amp;DM</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EYInterstate Light" pitchFamily="2" charset="0"/>
                        </a:rPr>
                        <a:t>1 Feb </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EYInterstate Light" pitchFamily="2" charset="0"/>
                        </a:rPr>
                        <a:t>29 Feb </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4433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EYInterstate Light" pitchFamily="2" charset="0"/>
                        </a:rPr>
                        <a:t>Overall M&amp;C  Transition Plan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EYInterstate Light" pitchFamily="2" charset="0"/>
                        </a:rPr>
                        <a:t>17 Feb</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a:ln>
                            <a:noFill/>
                          </a:ln>
                          <a:solidFill>
                            <a:srgbClr val="646464"/>
                          </a:solidFill>
                          <a:effectLst/>
                          <a:latin typeface="EYInterstate Light" pitchFamily="2" charset="0"/>
                        </a:rPr>
                        <a:t>29 Feb</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15" name="Group 270"/>
          <p:cNvGraphicFramePr>
            <a:graphicFrameLocks noGrp="1"/>
          </p:cNvGraphicFramePr>
          <p:nvPr/>
        </p:nvGraphicFramePr>
        <p:xfrm>
          <a:off x="7430164" y="1"/>
          <a:ext cx="1713836" cy="535063"/>
        </p:xfrm>
        <a:graphic>
          <a:graphicData uri="http://schemas.openxmlformats.org/drawingml/2006/table">
            <a:tbl>
              <a:tblPr/>
              <a:tblGrid>
                <a:gridCol w="856917"/>
                <a:gridCol w="85691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16" name="Table 15"/>
          <p:cNvGraphicFramePr>
            <a:graphicFrameLocks noGrp="1"/>
          </p:cNvGraphicFramePr>
          <p:nvPr/>
        </p:nvGraphicFramePr>
        <p:xfrm>
          <a:off x="4572000" y="2136884"/>
          <a:ext cx="4572000" cy="1868984"/>
        </p:xfrm>
        <a:graphic>
          <a:graphicData uri="http://schemas.openxmlformats.org/drawingml/2006/table">
            <a:tbl>
              <a:tblPr/>
              <a:tblGrid>
                <a:gridCol w="2302705"/>
                <a:gridCol w="2269295"/>
              </a:tblGrid>
              <a:tr h="14213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73732">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5822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 Lack of key delivery dates are impacting the progress of Transition Planning.</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a:ln>
                            <a:noFill/>
                          </a:ln>
                          <a:solidFill>
                            <a:schemeClr val="tx2"/>
                          </a:solidFill>
                          <a:effectLst/>
                          <a:latin typeface="EYInterstate Light" pitchFamily="2" charset="0"/>
                          <a:ea typeface="+mn-ea"/>
                          <a:cs typeface="+mn-cs"/>
                        </a:rPr>
                        <a:t> Continue with weekly planning sessions with each work stream and Operations teams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4621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Resourcing of the needed number of Transition Management resources may impact ability to adequately support Pilot / UAT / Migration.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Continue recruitment of internal and external TM resources.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9391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Current Transition &amp; Deployment plans are based on Projects vs. Programs.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Working with Steve </a:t>
                      </a:r>
                      <a:r>
                        <a:rPr kumimoji="0" lang="en-US" sz="700" b="0" i="0" u="none" strike="noStrike" cap="none" normalizeH="0" baseline="0" dirty="0" err="1">
                          <a:ln>
                            <a:noFill/>
                          </a:ln>
                          <a:solidFill>
                            <a:schemeClr val="tx2"/>
                          </a:solidFill>
                          <a:effectLst/>
                          <a:latin typeface="EYInterstate Light" pitchFamily="2" charset="0"/>
                        </a:rPr>
                        <a:t>Jelf</a:t>
                      </a:r>
                      <a:r>
                        <a:rPr kumimoji="0" lang="en-US" sz="700" b="0" i="0" u="none" strike="noStrike" cap="none" normalizeH="0" baseline="0" dirty="0">
                          <a:ln>
                            <a:noFill/>
                          </a:ln>
                          <a:solidFill>
                            <a:schemeClr val="tx2"/>
                          </a:solidFill>
                          <a:effectLst/>
                          <a:latin typeface="EYInterstate Light" pitchFamily="2" charset="0"/>
                        </a:rPr>
                        <a:t> to implement a new project plan template focusing on Program </a:t>
                      </a:r>
                      <a:r>
                        <a:rPr kumimoji="0" lang="en-US" sz="700" b="0" i="0" u="none" strike="noStrike" cap="none" normalizeH="0" baseline="0" dirty="0" err="1">
                          <a:ln>
                            <a:noFill/>
                          </a:ln>
                          <a:solidFill>
                            <a:schemeClr val="tx2"/>
                          </a:solidFill>
                          <a:effectLst/>
                          <a:latin typeface="EYInterstate Light" pitchFamily="2" charset="0"/>
                        </a:rPr>
                        <a:t>vs</a:t>
                      </a:r>
                      <a:r>
                        <a:rPr kumimoji="0" lang="en-US" sz="700" b="0" i="0" u="none" strike="noStrike" cap="none" normalizeH="0" baseline="0" dirty="0">
                          <a:ln>
                            <a:noFill/>
                          </a:ln>
                          <a:solidFill>
                            <a:schemeClr val="tx2"/>
                          </a:solidFill>
                          <a:effectLst/>
                          <a:latin typeface="EYInterstate Light" pitchFamily="2" charset="0"/>
                        </a:rPr>
                        <a:t> Projects.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4621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The combined volume of M&amp;C deliverables in addition to the BAU intake for Operations is to large based on current processes.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Determine volume of deliverables and work with IT Change Management and Operations team to determine the available intake level.</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0615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The overall transition impact of GCL5 project and timeline to M&amp;C has not been fully addressed.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EYInterstate Light" pitchFamily="2" charset="0"/>
                        </a:rPr>
                        <a:t>Work with IT Change Management to assess the impact with the GCL5 team.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533"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174678" y="6390185"/>
            <a:ext cx="9139167" cy="540206"/>
            <a:chOff x="-189235" y="6505545"/>
            <a:chExt cx="9900766"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49026" y="6657945"/>
              <a:ext cx="663724"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endParaRPr>
            </a:p>
          </p:txBody>
        </p:sp>
        <p:sp>
          <p:nvSpPr>
            <p:cNvPr id="25" name="TextBox 24"/>
            <p:cNvSpPr txBox="1"/>
            <p:nvPr/>
          </p:nvSpPr>
          <p:spPr bwMode="gray">
            <a:xfrm>
              <a:off x="-189235" y="6505545"/>
              <a:ext cx="492009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553998"/>
          </a:xfrm>
          <a:prstGeom prst="rect">
            <a:avLst/>
          </a:prstGeom>
        </p:spPr>
        <p:txBody>
          <a:bodyPr>
            <a:spAutoFit/>
          </a:bodyPr>
          <a:lstStyle/>
          <a:p>
            <a:pPr algn="l" defTabSz="955675" eaLnBrk="0" fontAlgn="base" hangingPunct="0">
              <a:spcBef>
                <a:spcPct val="0"/>
              </a:spcBef>
              <a:defRPr/>
            </a:pPr>
            <a:r>
              <a:rPr lang="en-US" sz="1600" b="1" kern="0" dirty="0">
                <a:solidFill>
                  <a:srgbClr val="646464"/>
                </a:solidFill>
              </a:rPr>
              <a:t>IT Transition Management – 10 February 2012</a:t>
            </a:r>
          </a:p>
          <a:p>
            <a:pPr algn="l" defTabSz="955675" eaLnBrk="0" fontAlgn="base" hangingPunct="0">
              <a:spcBef>
                <a:spcPct val="0"/>
              </a:spcBef>
              <a:defRPr/>
            </a:pPr>
            <a:r>
              <a:rPr lang="en-US" sz="1400" kern="0" dirty="0">
                <a:solidFill>
                  <a:srgbClr val="646464"/>
                </a:solidFill>
              </a:rPr>
              <a:t>Mike Laci</a:t>
            </a:r>
          </a:p>
        </p:txBody>
      </p:sp>
      <p:graphicFrame>
        <p:nvGraphicFramePr>
          <p:cNvPr id="24" name="Table 23"/>
          <p:cNvGraphicFramePr>
            <a:graphicFrameLocks noGrp="1"/>
          </p:cNvGraphicFramePr>
          <p:nvPr/>
        </p:nvGraphicFramePr>
        <p:xfrm>
          <a:off x="4505531" y="5877272"/>
          <a:ext cx="4638469" cy="576064"/>
        </p:xfrm>
        <a:graphic>
          <a:graphicData uri="http://schemas.openxmlformats.org/drawingml/2006/table">
            <a:tbl>
              <a:tblPr/>
              <a:tblGrid>
                <a:gridCol w="4638469"/>
              </a:tblGrid>
              <a:tr h="24823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278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rgbClr val="646464"/>
                          </a:solidFill>
                          <a:effectLst/>
                          <a:latin typeface="EYInterstate Light" pitchFamily="2" charset="0"/>
                        </a:rPr>
                        <a:t>The overall Amber assessment is due to current status of </a:t>
                      </a:r>
                      <a:r>
                        <a:rPr kumimoji="0" lang="en-US" sz="700" b="0" i="0" u="none" strike="noStrike" cap="none" normalizeH="0" baseline="0" dirty="0" err="1">
                          <a:ln>
                            <a:noFill/>
                          </a:ln>
                          <a:solidFill>
                            <a:srgbClr val="646464"/>
                          </a:solidFill>
                          <a:effectLst/>
                          <a:latin typeface="EYInterstate Light" pitchFamily="2" charset="0"/>
                        </a:rPr>
                        <a:t>workstream</a:t>
                      </a:r>
                      <a:r>
                        <a:rPr kumimoji="0" lang="en-US" sz="700" b="0" i="0" u="none" strike="noStrike" cap="none" normalizeH="0" baseline="0" dirty="0">
                          <a:ln>
                            <a:noFill/>
                          </a:ln>
                          <a:solidFill>
                            <a:srgbClr val="646464"/>
                          </a:solidFill>
                          <a:effectLst/>
                          <a:latin typeface="EYInterstate Light" pitchFamily="2" charset="0"/>
                        </a:rPr>
                        <a:t> delivery dates to baseline a transition plan.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nvGraphicFramePr>
        <p:xfrm>
          <a:off x="185051" y="2852935"/>
          <a:ext cx="4254011" cy="3881802"/>
        </p:xfrm>
        <a:graphic>
          <a:graphicData uri="http://schemas.openxmlformats.org/drawingml/2006/table">
            <a:tbl>
              <a:tblPr/>
              <a:tblGrid>
                <a:gridCol w="4254011"/>
              </a:tblGrid>
              <a:tr h="13931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580677">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1" i="0" u="none" strike="noStrike" kern="1200" cap="none" normalizeH="0" baseline="0" dirty="0" smtClean="0">
                          <a:ln>
                            <a:noFill/>
                          </a:ln>
                          <a:solidFill>
                            <a:schemeClr val="tx2"/>
                          </a:solidFill>
                          <a:effectLst/>
                          <a:latin typeface="EYInterstate Light" pitchFamily="2" charset="0"/>
                          <a:ea typeface="+mn-ea"/>
                          <a:cs typeface="+mn-cs"/>
                        </a:rPr>
                        <a:t>Phase 1</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Onboarded MS PM and MS Architect – MS yet to resource their development and test teams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Progressed work on the engagement packs for the first wave of applications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Completed workshops with the product owners for applications in waves 2 and 3</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Confirmed delivery dates of a number of inbound dependencies from other projects - most won’t be available for many months after they are needed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Sessions held with MSFT to build detailed plan and reach resolution on a number of items in the SoW which need clarifying before delivery can commence</a:t>
                      </a:r>
                      <a:endParaRPr kumimoji="0" lang="en-GB" sz="700" b="1"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GB" sz="700" b="1"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1" i="0" u="none" strike="noStrike" kern="1200" cap="none" normalizeH="0" baseline="0" dirty="0" smtClean="0">
                          <a:ln>
                            <a:noFill/>
                          </a:ln>
                          <a:solidFill>
                            <a:schemeClr val="tx2"/>
                          </a:solidFill>
                          <a:effectLst/>
                          <a:latin typeface="EYInterstate Light" pitchFamily="2" charset="0"/>
                          <a:ea typeface="+mn-ea"/>
                          <a:cs typeface="+mn-cs"/>
                        </a:rPr>
                        <a:t>Rediscovery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Q&amp;A sessions held with IT Service Delivery teams following publication of 1</a:t>
                      </a:r>
                      <a:r>
                        <a:rPr kumimoji="0" lang="en-GB" sz="700" b="0" i="0" u="none" strike="noStrike" kern="1200" cap="none" normalizeH="0" baseline="30000" dirty="0" smtClean="0">
                          <a:ln>
                            <a:noFill/>
                          </a:ln>
                          <a:solidFill>
                            <a:schemeClr val="tx2"/>
                          </a:solidFill>
                          <a:effectLst/>
                          <a:latin typeface="EYInterstate Light" pitchFamily="2" charset="0"/>
                          <a:ea typeface="+mn-ea"/>
                          <a:cs typeface="+mn-cs"/>
                        </a:rPr>
                        <a:t>st</a:t>
                      </a: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 report on Monday 30</a:t>
                      </a:r>
                      <a:r>
                        <a:rPr kumimoji="0" lang="en-GB" sz="700" b="0" i="0" u="none" strike="noStrike" kern="1200" cap="none" normalizeH="0" baseline="30000" dirty="0" smtClean="0">
                          <a:ln>
                            <a:noFill/>
                          </a:ln>
                          <a:solidFill>
                            <a:schemeClr val="tx2"/>
                          </a:solidFill>
                          <a:effectLst/>
                          <a:latin typeface="EYInterstate Light" pitchFamily="2" charset="0"/>
                          <a:ea typeface="+mn-ea"/>
                          <a:cs typeface="+mn-cs"/>
                        </a:rPr>
                        <a:t>th</a:t>
                      </a: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 Jan’12</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GB" sz="700" b="0"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1" i="0" u="none" strike="noStrike" kern="1200" cap="none" normalizeH="0" baseline="0" dirty="0" smtClean="0">
                          <a:ln>
                            <a:noFill/>
                          </a:ln>
                          <a:solidFill>
                            <a:schemeClr val="tx2"/>
                          </a:solidFill>
                          <a:effectLst/>
                          <a:latin typeface="EYInterstate Light" pitchFamily="2" charset="0"/>
                          <a:ea typeface="+mn-ea"/>
                          <a:cs typeface="+mn-cs"/>
                        </a:rPr>
                        <a:t>Portfolio Planning</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Continued heavy interview schedule for resourcing of portfolios and contractor replacement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13931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53140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Gaining access to Lotus Notes applications needed for Rediscovery – refer to last issue for further details.</a:t>
                      </a:r>
                    </a:p>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Identifying 15 applications for Phase 1 – the team had base lined the applications by 23/12/11 however two are no longer viable so the team are having to source backfills and others are at risk following the receipt of additional information from the Sharepoint Program confirming  the scope of their deliverables.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931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84890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Progress agreed actions agreed with Microsoft (i.e. resolving issues with the SoW, progressing the wave 1 engagement pack, procuring licenses) that need to be completed to ensure they will be productive once they staff-up their delivery team</a:t>
                      </a:r>
                    </a:p>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Progress with work on the 2</a:t>
                      </a:r>
                      <a:r>
                        <a:rPr kumimoji="0" lang="en-US" sz="700" b="0" i="0" u="none" strike="noStrike" kern="1200" cap="none" normalizeH="0" baseline="30000" dirty="0" smtClean="0">
                          <a:ln>
                            <a:noFill/>
                          </a:ln>
                          <a:solidFill>
                            <a:schemeClr val="tx2"/>
                          </a:solidFill>
                          <a:effectLst/>
                          <a:latin typeface="EYInterstate Light" pitchFamily="2" charset="0"/>
                          <a:ea typeface="+mn-ea"/>
                          <a:cs typeface="+mn-cs"/>
                        </a:rPr>
                        <a:t>nd</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Rediscovery report</a:t>
                      </a:r>
                    </a:p>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Prepare to decommission applications once responses have been received from the IT Service Delivery teams on the first Rediscovery report.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nvGraphicFramePr>
        <p:xfrm>
          <a:off x="4572000" y="3470868"/>
          <a:ext cx="4355123" cy="2550421"/>
        </p:xfrm>
        <a:graphic>
          <a:graphicData uri="http://schemas.openxmlformats.org/drawingml/2006/table">
            <a:tbl>
              <a:tblPr/>
              <a:tblGrid>
                <a:gridCol w="2113085"/>
                <a:gridCol w="2242038"/>
              </a:tblGrid>
              <a:tr h="176100">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7610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9587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Agreement needs to be reached between Cross-Org and IT Service Delivery teams on the common operating model and resourcing strategy for the Portfolio Teams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Alan now progressing with Mo, Margaret and Chris to finalise the Operating Model (incl. reaching agreement on the resourcing strategy)</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981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The Microsoft SoW contains many items that need clarifying before delivery can commence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Work with MSFT to reach resolution on each issue in the SoW then update the contract accordingly</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2114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Key dependencies on other M&amp;C Programs will not be delivered by required timelines for current Phase 1 plan</a:t>
                      </a: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Rebaseline the Phase 1 plan based on when the inbound dependencies will be delivered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975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IT SD teams are not reviewing the Rediscovery reports</a:t>
                      </a: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 as they do not have a charge code / bandwidth</a:t>
                      </a: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CLT to agree priority and funding for IT Service Delivery teams to support the A&amp;DM Rediscovery project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45639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The Rediscovery project team require access to all Lotus Notes applications to progress with their analysis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Domino Ops to provide access once approval received from  QRM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7610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Scope 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761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None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nvGraphicFramePr>
        <p:xfrm>
          <a:off x="185051" y="764705"/>
          <a:ext cx="4254011" cy="2124705"/>
        </p:xfrm>
        <a:graphic>
          <a:graphicData uri="http://schemas.openxmlformats.org/drawingml/2006/table">
            <a:tbl>
              <a:tblPr/>
              <a:tblGrid>
                <a:gridCol w="4254011"/>
              </a:tblGrid>
              <a:tr h="175665">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A.  </a:t>
                      </a:r>
                      <a:r>
                        <a:rPr kumimoji="0" lang="en-GB" sz="700" b="1" i="0" u="none" strike="noStrike" cap="none" normalizeH="0" baseline="0" dirty="0" smtClean="0">
                          <a:ln>
                            <a:noFill/>
                          </a:ln>
                          <a:solidFill>
                            <a:schemeClr val="tx1"/>
                          </a:solidFill>
                          <a:effectLst/>
                          <a:latin typeface="EYInterstate" pitchFamily="2" charset="0"/>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967341">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Phase 1 BA team are documenting the requirements gathered for Wave 1 for workshops held over the last couple of weeks.</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Rediscovery team progressed work on building the 2</a:t>
                      </a:r>
                      <a:r>
                        <a:rPr kumimoji="0" lang="en-US" sz="700" b="0" i="0" u="none" strike="noStrike" kern="1200" cap="none" normalizeH="0" baseline="30000" dirty="0" smtClean="0">
                          <a:ln>
                            <a:noFill/>
                          </a:ln>
                          <a:solidFill>
                            <a:schemeClr val="tx2"/>
                          </a:solidFill>
                          <a:effectLst/>
                          <a:latin typeface="EYInterstate Light" pitchFamily="2" charset="0"/>
                          <a:ea typeface="+mn-ea"/>
                          <a:cs typeface="+mn-cs"/>
                        </a:rPr>
                        <a:t>nd</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report due to be sent to the IT Service Delivery teams at end-Feb’12.</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Four issues are preventing the A&amp;DM Program from delivering to plan :</a:t>
                      </a:r>
                    </a:p>
                    <a:p>
                      <a:pPr marL="685800" marR="0" lvl="1" indent="-2286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The A&amp;DM Operating Model is yet to be agreed and communicated to all IT Service Delivery Leads</a:t>
                      </a:r>
                    </a:p>
                    <a:p>
                      <a:pPr marL="685800" marR="0" lvl="1" indent="-2286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The Microsoft SoW contains many items that need clarifying before delivery can commence</a:t>
                      </a:r>
                    </a:p>
                    <a:p>
                      <a:pPr marL="685800" marR="0" lvl="1" indent="-2286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Key dependencies on other M&amp;C Programs will not be delivered by required timelines for current Phase 1 plan</a:t>
                      </a:r>
                    </a:p>
                    <a:p>
                      <a:pPr marL="685800" marR="0" lvl="1" indent="-2286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IT SD teams are not reviewing the Rediscovery reports</a:t>
                      </a: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Experimentus (3</a:t>
                      </a:r>
                      <a:r>
                        <a:rPr kumimoji="0" lang="en-US" sz="700" b="0" i="0" u="none" strike="noStrike" kern="1200" cap="none" normalizeH="0" baseline="30000" dirty="0" smtClean="0">
                          <a:ln>
                            <a:noFill/>
                          </a:ln>
                          <a:solidFill>
                            <a:schemeClr val="tx2"/>
                          </a:solidFill>
                          <a:effectLst/>
                          <a:latin typeface="EYInterstate Light" pitchFamily="2" charset="0"/>
                          <a:ea typeface="+mn-ea"/>
                          <a:cs typeface="+mn-cs"/>
                        </a:rPr>
                        <a:t>rd</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party environment management SMEs) have completed their analysis and presented their findings and recommendations back to EY.</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nvGraphicFramePr>
        <p:xfrm>
          <a:off x="4572000" y="764704"/>
          <a:ext cx="4357650" cy="1321642"/>
        </p:xfrm>
        <a:graphic>
          <a:graphicData uri="http://schemas.openxmlformats.org/drawingml/2006/table">
            <a:tbl>
              <a:tblPr/>
              <a:tblGrid>
                <a:gridCol w="1403433"/>
                <a:gridCol w="703385"/>
                <a:gridCol w="747623"/>
                <a:gridCol w="751604"/>
                <a:gridCol w="751605"/>
              </a:tblGrid>
              <a:tr h="15343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smtClean="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33934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2729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Gain approval to procure initial resources for Portfolio Teams 1 and 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29/02/2012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29/02/2012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01772">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Rediscovery Wave 1 Report complete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03/02/2012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03/02/2012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201772">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Microsoft commence work on Wave 1 applications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06/02/2012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5" name="Group 270"/>
          <p:cNvGraphicFramePr>
            <a:graphicFrameLocks noGrp="1"/>
          </p:cNvGraphicFramePr>
          <p:nvPr/>
        </p:nvGraphicFramePr>
        <p:xfrm>
          <a:off x="7429777" y="71661"/>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6" name="Table 15"/>
          <p:cNvGraphicFramePr>
            <a:graphicFrameLocks noGrp="1"/>
          </p:cNvGraphicFramePr>
          <p:nvPr/>
        </p:nvGraphicFramePr>
        <p:xfrm>
          <a:off x="4572000" y="2132856"/>
          <a:ext cx="4355123" cy="1377239"/>
        </p:xfrm>
        <a:graphic>
          <a:graphicData uri="http://schemas.openxmlformats.org/drawingml/2006/table">
            <a:tbl>
              <a:tblPr/>
              <a:tblGrid>
                <a:gridCol w="2104292"/>
                <a:gridCol w="2250831"/>
              </a:tblGrid>
              <a:tr h="157905">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87339">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Mitigating Action</a:t>
                      </a:r>
                      <a:endParaRPr kumimoji="0" lang="en-US" sz="700" b="0" i="0" u="none" strike="noStrike" cap="none" normalizeH="0" baseline="0" dirty="0" smtClean="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4712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As the start-date for MS commencing work on wave 1 was brought forward to 6</a:t>
                      </a:r>
                      <a:r>
                        <a:rPr kumimoji="0" lang="en-US" sz="700" b="0" i="0" u="none" strike="noStrike" cap="none" normalizeH="0" baseline="30000" dirty="0" smtClean="0">
                          <a:ln>
                            <a:noFill/>
                          </a:ln>
                          <a:solidFill>
                            <a:srgbClr val="646464"/>
                          </a:solidFill>
                          <a:effectLst/>
                          <a:latin typeface="EYInterstate Light" pitchFamily="2" charset="0"/>
                        </a:rPr>
                        <a:t>th</a:t>
                      </a:r>
                      <a:r>
                        <a:rPr kumimoji="0" lang="en-US" sz="700" b="0" i="0" u="none" strike="noStrike" cap="none" normalizeH="0" baseline="0" dirty="0" smtClean="0">
                          <a:ln>
                            <a:noFill/>
                          </a:ln>
                          <a:solidFill>
                            <a:srgbClr val="646464"/>
                          </a:solidFill>
                          <a:effectLst/>
                          <a:latin typeface="EYInterstate Light" pitchFamily="2" charset="0"/>
                        </a:rPr>
                        <a:t> Feb’12 the team are unable to complete all items required in the engagement pack.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Send MS engagement pack ‘as is’ once Microsoft have staffed-up their delivery team then the remaining items as they are ready over the coming days.  EY to ensure MS remain productive throughout this period.</a:t>
                      </a:r>
                      <a:endPar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4712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Three of the Rediscovery DA resources are due to return to ITA by mid-Feb’12 – this will impact productivity as new team members are not due to join until later in the month.</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Look into options for providing ‘virtual’ handover to the incoming resources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nvGraphicFramePr>
        <p:xfrm>
          <a:off x="4572000" y="6093297"/>
          <a:ext cx="4355123" cy="415777"/>
        </p:xfrm>
        <a:graphic>
          <a:graphicData uri="http://schemas.openxmlformats.org/drawingml/2006/table">
            <a:tbl>
              <a:tblPr/>
              <a:tblGrid>
                <a:gridCol w="4355123"/>
              </a:tblGrid>
              <a:tr h="78309">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8173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RAG status remains red  as the first four issues in the table above need resolving.</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533"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174678" y="6390185"/>
            <a:ext cx="9139167" cy="540206"/>
            <a:chOff x="-189235" y="6505545"/>
            <a:chExt cx="9900766"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49026" y="6657945"/>
              <a:ext cx="663724"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endParaRPr>
            </a:p>
          </p:txBody>
        </p:sp>
        <p:sp>
          <p:nvSpPr>
            <p:cNvPr id="25" name="TextBox 24"/>
            <p:cNvSpPr txBox="1"/>
            <p:nvPr/>
          </p:nvSpPr>
          <p:spPr bwMode="gray">
            <a:xfrm>
              <a:off x="-189235" y="6505545"/>
              <a:ext cx="492009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a:t>
              </a:r>
              <a:r>
                <a:rPr lang="en-US" sz="500" dirty="0" smtClean="0">
                  <a:solidFill>
                    <a:srgbClr val="646464"/>
                  </a:solidFill>
                  <a:latin typeface="EYInterstate Light" pitchFamily="2" charset="0"/>
                </a:rPr>
                <a:t>initiative status </a:t>
              </a:r>
              <a:r>
                <a:rPr lang="en-US" sz="500" dirty="0">
                  <a:solidFill>
                    <a:srgbClr val="646464"/>
                  </a:solidFill>
                  <a:latin typeface="EYInterstate Light" pitchFamily="2" charset="0"/>
                </a:rPr>
                <a:t>is governed by the RAG Status Guidance, summarized below. This guidance also applies to the individual Milestones Stats. </a:t>
              </a:r>
              <a:endParaRPr lang="en-GB" sz="500" kern="0" dirty="0">
                <a:solidFill>
                  <a:srgbClr val="646464"/>
                </a:solidFill>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553998"/>
          </a:xfrm>
          <a:prstGeom prst="rect">
            <a:avLst/>
          </a:prstGeom>
        </p:spPr>
        <p:txBody>
          <a:bodyPr>
            <a:spAutoFit/>
          </a:bodyPr>
          <a:lstStyle/>
          <a:p>
            <a:pPr algn="l" defTabSz="955675" eaLnBrk="0" fontAlgn="base" hangingPunct="0">
              <a:spcBef>
                <a:spcPct val="0"/>
              </a:spcBef>
              <a:defRPr/>
            </a:pPr>
            <a:r>
              <a:rPr lang="en-US" sz="1600" b="1" kern="0" dirty="0" smtClean="0">
                <a:solidFill>
                  <a:srgbClr val="646464"/>
                </a:solidFill>
              </a:rPr>
              <a:t>Messaging </a:t>
            </a:r>
            <a:r>
              <a:rPr lang="en-US" sz="1600" b="1" kern="0" dirty="0">
                <a:solidFill>
                  <a:srgbClr val="646464"/>
                </a:solidFill>
              </a:rPr>
              <a:t>&amp; Collaboration </a:t>
            </a:r>
            <a:r>
              <a:rPr lang="en-US" sz="1600" b="1" kern="0" dirty="0" smtClean="0">
                <a:solidFill>
                  <a:srgbClr val="646464"/>
                </a:solidFill>
              </a:rPr>
              <a:t>Application &amp; Data Migration –  10 Feb 2012</a:t>
            </a:r>
            <a:endParaRPr lang="en-US" sz="1600" b="1" kern="0" dirty="0">
              <a:solidFill>
                <a:srgbClr val="646464"/>
              </a:solidFill>
            </a:endParaRPr>
          </a:p>
          <a:p>
            <a:pPr algn="l" defTabSz="955675" eaLnBrk="0" fontAlgn="base" hangingPunct="0">
              <a:spcBef>
                <a:spcPct val="0"/>
              </a:spcBef>
              <a:defRPr/>
            </a:pPr>
            <a:r>
              <a:rPr lang="en-US" sz="1400" kern="0" dirty="0" smtClean="0">
                <a:solidFill>
                  <a:srgbClr val="646464"/>
                </a:solidFill>
              </a:rPr>
              <a:t>Martin Stutchbury and Neil Sahdev</a:t>
            </a:r>
            <a:endParaRPr lang="en-US" sz="1400" kern="0" dirty="0">
              <a:solidFill>
                <a:srgbClr val="646464"/>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nvGraphicFramePr>
        <p:xfrm>
          <a:off x="152400" y="3048000"/>
          <a:ext cx="4468688" cy="3257916"/>
        </p:xfrm>
        <a:graphic>
          <a:graphicData uri="http://schemas.openxmlformats.org/drawingml/2006/table">
            <a:tbl>
              <a:tblPr/>
              <a:tblGrid>
                <a:gridCol w="4468688"/>
              </a:tblGrid>
              <a:tr h="128502">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kern="1200" cap="none" normalizeH="0" baseline="0" dirty="0" smtClean="0">
                          <a:ln>
                            <a:noFill/>
                          </a:ln>
                          <a:solidFill>
                            <a:schemeClr val="tx1"/>
                          </a:solidFill>
                          <a:effectLst/>
                          <a:latin typeface="EYInterstate" pitchFamily="2" charset="0"/>
                          <a:ea typeface="+mn-ea"/>
                          <a:cs typeface="+mn-cs"/>
                        </a:rPr>
                        <a:t>B</a:t>
                      </a:r>
                      <a:r>
                        <a:rPr kumimoji="0" lang="en-CA" sz="700" b="1" i="0" u="none" strike="noStrike" kern="1200" cap="none" normalizeH="0" baseline="0" noProof="0" dirty="0" smtClean="0">
                          <a:ln>
                            <a:noFill/>
                          </a:ln>
                          <a:solidFill>
                            <a:schemeClr val="tx1"/>
                          </a:solidFill>
                          <a:effectLst/>
                          <a:latin typeface="EYInterstate Light" pitchFamily="2" charset="0"/>
                          <a:ea typeface="+mn-ea"/>
                          <a:cs typeface="+mn-cs"/>
                        </a:rPr>
                        <a:t>.  KEY ACCOMPLISHMENTS THIS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169475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Devices: </a:t>
                      </a:r>
                      <a:r>
                        <a:rPr kumimoji="0" lang="en-GB" sz="700" b="0" i="0" u="none" strike="noStrike" kern="1200" cap="none" normalizeH="0" baseline="0" noProof="0" dirty="0" smtClean="0">
                          <a:ln>
                            <a:noFill/>
                          </a:ln>
                          <a:solidFill>
                            <a:schemeClr val="tx1"/>
                          </a:solidFill>
                          <a:effectLst/>
                          <a:latin typeface="EYInterstate Light" pitchFamily="2" charset="0"/>
                          <a:ea typeface="+mn-ea"/>
                          <a:cs typeface="+mn-cs"/>
                        </a:rPr>
                        <a:t>Survey responses to Global Procurement steadily increasing, device evaluation continues until mid-Feb. Working with TF stream to understand network bandwidth constraints on potential performance issues. Request to provide estimated device costs to program leadership to support decision-making on who will bear costs of devices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configuration: Outstanding issue on Q&amp;RM request to store external chats; risk that </a:t>
                      </a: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functional specification will not be able to be signed off until infrastructure implications of this are understood. </a:t>
                      </a:r>
                      <a:r>
                        <a:rPr kumimoji="0" lang="en-GB" sz="700" b="0" i="0" u="none" strike="noStrike" kern="1200" cap="none" normalizeH="0" baseline="0" noProof="0" dirty="0" smtClean="0">
                          <a:ln>
                            <a:noFill/>
                          </a:ln>
                          <a:solidFill>
                            <a:schemeClr val="tx1"/>
                          </a:solidFill>
                          <a:effectLst/>
                          <a:latin typeface="EYInterstate Light" pitchFamily="2" charset="0"/>
                          <a:ea typeface="+mn-ea"/>
                          <a:cs typeface="+mn-cs"/>
                        </a:rPr>
                        <a:t>Meeting with </a:t>
                      </a:r>
                      <a:r>
                        <a:rPr kumimoji="0" lang="en-GB" sz="700" b="0" i="0" u="none" strike="noStrike" kern="1200" cap="none" normalizeH="0" baseline="0" noProof="0" dirty="0" err="1" smtClean="0">
                          <a:ln>
                            <a:noFill/>
                          </a:ln>
                          <a:solidFill>
                            <a:schemeClr val="tx1"/>
                          </a:solidFill>
                          <a:effectLst/>
                          <a:latin typeface="EYInterstate Light" pitchFamily="2" charset="0"/>
                          <a:ea typeface="+mn-ea"/>
                          <a:cs typeface="+mn-cs"/>
                        </a:rPr>
                        <a:t>Lync</a:t>
                      </a:r>
                      <a:r>
                        <a:rPr kumimoji="0" lang="en-GB" sz="700" b="0" i="0" u="none" strike="noStrike" kern="1200" cap="none" normalizeH="0" baseline="0" noProof="0" dirty="0" smtClean="0">
                          <a:ln>
                            <a:noFill/>
                          </a:ln>
                          <a:solidFill>
                            <a:schemeClr val="tx1"/>
                          </a:solidFill>
                          <a:effectLst/>
                          <a:latin typeface="EYInterstate Light" pitchFamily="2" charset="0"/>
                          <a:ea typeface="+mn-ea"/>
                          <a:cs typeface="+mn-cs"/>
                        </a:rPr>
                        <a:t> TF stream and engineering to f</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a:t>
                      </a:r>
                      <a:r>
                        <a:rPr kumimoji="0" lang="en-GB" sz="700" b="0" i="0" u="none" strike="noStrike" kern="1200" cap="none" normalizeH="0" baseline="0" noProof="0" dirty="0" err="1" smtClean="0">
                          <a:ln>
                            <a:noFill/>
                          </a:ln>
                          <a:solidFill>
                            <a:schemeClr val="tx1"/>
                          </a:solidFill>
                          <a:effectLst/>
                          <a:latin typeface="EYInterstate Light" pitchFamily="2" charset="0"/>
                          <a:ea typeface="+mn-ea"/>
                          <a:cs typeface="+mn-cs"/>
                        </a:rPr>
                        <a:t>inalise</a:t>
                      </a:r>
                      <a:r>
                        <a:rPr kumimoji="0" lang="en-GB" sz="700" b="0" i="0" u="none" strike="noStrike" kern="1200" cap="none" normalizeH="0" baseline="0" noProof="0" dirty="0" smtClean="0">
                          <a:ln>
                            <a:noFill/>
                          </a:ln>
                          <a:solidFill>
                            <a:schemeClr val="tx1"/>
                          </a:solidFill>
                          <a:effectLst/>
                          <a:latin typeface="EYInterstate Light" pitchFamily="2" charset="0"/>
                          <a:ea typeface="+mn-ea"/>
                          <a:cs typeface="+mn-cs"/>
                        </a:rPr>
                        <a:t> configuration process and determine activation requirements for deployment</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GB" sz="700" b="0" i="0" u="none" strike="noStrike" kern="1200" cap="none" normalizeH="0" baseline="0" noProof="0" dirty="0" smtClean="0">
                          <a:ln>
                            <a:noFill/>
                          </a:ln>
                          <a:solidFill>
                            <a:schemeClr val="tx1"/>
                          </a:solidFill>
                          <a:effectLst/>
                          <a:latin typeface="EYInterstate Light" pitchFamily="2" charset="0"/>
                          <a:ea typeface="+mn-ea"/>
                          <a:cs typeface="+mn-cs"/>
                        </a:rPr>
                        <a:t>MMD: </a:t>
                      </a:r>
                      <a:r>
                        <a:rPr kumimoji="0" lang="en-US" sz="700" b="0" i="0" u="none" strike="noStrike" cap="none" normalizeH="0" baseline="0" dirty="0" smtClean="0">
                          <a:ln>
                            <a:noFill/>
                          </a:ln>
                          <a:solidFill>
                            <a:srgbClr val="646464"/>
                          </a:solidFill>
                          <a:effectLst/>
                          <a:latin typeface="EYInterstate Light" pitchFamily="2" charset="0"/>
                        </a:rPr>
                        <a:t>QA resources on board and commenced planning, UAT &amp; Prod architectures defined and sent to DA for approval. Performance testing resource requested. New requirements for Microsoft migration process. Final requirements approval scheduled for next week</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1"/>
                          </a:solidFill>
                          <a:effectLst/>
                          <a:latin typeface="EYInterstate Light" pitchFamily="2" charset="0"/>
                          <a:ea typeface="+mn-ea"/>
                          <a:cs typeface="+mn-cs"/>
                        </a:rPr>
                        <a:t>Outlook configuration: Requirements definition continues – delivery date now pushed back to mid-April based on TF timelines. Lack of domain knowledge and engineering SME capacity still impacting delivery</a:t>
                      </a:r>
                      <a:endPar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1"/>
                          </a:solidFill>
                          <a:effectLst/>
                          <a:latin typeface="EYInterstate Light" pitchFamily="2" charset="0"/>
                          <a:ea typeface="+mn-ea"/>
                          <a:cs typeface="+mn-cs"/>
                        </a:rPr>
                        <a:t>Outlook plug-ins/mail-integrated applications: Discovery work continues, Engineering &amp; App Management teams  have begun impact assessment and are documenting assessment process. Discussions have taken place with </a:t>
                      </a:r>
                      <a:r>
                        <a:rPr kumimoji="0" lang="en-GB" sz="700" b="0" i="0" u="none" strike="noStrike" kern="1200" cap="none" normalizeH="0" baseline="0" noProof="0" dirty="0" err="1" smtClean="0">
                          <a:ln>
                            <a:noFill/>
                          </a:ln>
                          <a:solidFill>
                            <a:schemeClr val="tx1"/>
                          </a:solidFill>
                          <a:effectLst/>
                          <a:latin typeface="EYInterstate Light" pitchFamily="2" charset="0"/>
                          <a:ea typeface="+mn-ea"/>
                          <a:cs typeface="+mn-cs"/>
                        </a:rPr>
                        <a:t>AsiaPac</a:t>
                      </a:r>
                      <a:r>
                        <a:rPr kumimoji="0" lang="en-GB" sz="700" b="0" i="0" u="none" strike="noStrike" kern="1200" cap="none" normalizeH="0" baseline="0" noProof="0" dirty="0" smtClean="0">
                          <a:ln>
                            <a:noFill/>
                          </a:ln>
                          <a:solidFill>
                            <a:schemeClr val="tx1"/>
                          </a:solidFill>
                          <a:effectLst/>
                          <a:latin typeface="EYInterstate Light" pitchFamily="2" charset="0"/>
                          <a:ea typeface="+mn-ea"/>
                          <a:cs typeface="+mn-cs"/>
                        </a:rPr>
                        <a:t> on the initial discovery work for their mail-integrated apps</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128502">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C</a:t>
                      </a:r>
                      <a:r>
                        <a:rPr kumimoji="0" lang="en-CA" sz="700" b="1" i="0" u="none" strike="noStrike" kern="1200" cap="none" normalizeH="0" baseline="0" noProof="0" dirty="0" smtClean="0">
                          <a:ln>
                            <a:noFill/>
                          </a:ln>
                          <a:solidFill>
                            <a:schemeClr val="tx1"/>
                          </a:solidFill>
                          <a:effectLst/>
                          <a:latin typeface="EYInterstate Light" pitchFamily="2" charset="0"/>
                          <a:ea typeface="+mn-ea"/>
                          <a:cs typeface="+mn-cs"/>
                        </a:rPr>
                        <a:t>.  ACTIVITIES BEHIND SCHEDULE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45575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Completion of MMD due to change in scope to add group and shared mail file migration, and to develop the self-service portal</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Completion of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and Outlook requirements and identification of Day 1 integration suite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Country-based deployment plan contingent on DCC schedule and in-country builds</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128502">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noProof="0" dirty="0" smtClean="0">
                          <a:ln>
                            <a:noFill/>
                          </a:ln>
                          <a:solidFill>
                            <a:schemeClr val="tx1"/>
                          </a:solidFill>
                          <a:effectLst/>
                          <a:latin typeface="EYInterstate Light" pitchFamily="2" charset="0"/>
                          <a:ea typeface="+mn-ea"/>
                          <a:cs typeface="+mn-cs"/>
                        </a:rPr>
                        <a:t>D.  KEY ACTIVITIES PLANNED NEXT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46598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a:cs typeface="Arial" charset="0"/>
                        </a:rPr>
                        <a:t>Re-plan program timelines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a:cs typeface="Arial" charset="0"/>
                        </a:rPr>
                        <a:t>Agree deployment deliverables between UC and Business Deployment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a:cs typeface="Arial" charset="0"/>
                        </a:rPr>
                        <a:t>Complete </a:t>
                      </a:r>
                      <a:r>
                        <a:rPr kumimoji="0" lang="en-US" sz="700" b="0" i="0" u="none" strike="noStrike" cap="none" normalizeH="0" baseline="0" dirty="0" err="1" smtClean="0">
                          <a:ln>
                            <a:noFill/>
                          </a:ln>
                          <a:solidFill>
                            <a:schemeClr val="tx1"/>
                          </a:solidFill>
                          <a:effectLst/>
                          <a:latin typeface="EYInterstate Light"/>
                          <a:cs typeface="Arial" charset="0"/>
                        </a:rPr>
                        <a:t>Lync</a:t>
                      </a:r>
                      <a:r>
                        <a:rPr kumimoji="0" lang="en-US" sz="700" b="0" i="0" u="none" strike="noStrike" cap="none" normalizeH="0" baseline="0" dirty="0" smtClean="0">
                          <a:ln>
                            <a:noFill/>
                          </a:ln>
                          <a:solidFill>
                            <a:schemeClr val="tx1"/>
                          </a:solidFill>
                          <a:effectLst/>
                          <a:latin typeface="EYInterstate Light"/>
                          <a:cs typeface="Arial" charset="0"/>
                        </a:rPr>
                        <a:t> devices evaluation and likely costs to support decision-making on whether countries will pay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a:cs typeface="Arial" charset="0"/>
                        </a:rPr>
                        <a:t>Agree Group Management proposals and </a:t>
                      </a:r>
                      <a:r>
                        <a:rPr kumimoji="0" lang="en-US" sz="700" b="0" i="0" u="none" strike="noStrike" cap="none" normalizeH="0" baseline="0" smtClean="0">
                          <a:ln>
                            <a:noFill/>
                          </a:ln>
                          <a:solidFill>
                            <a:schemeClr val="tx1"/>
                          </a:solidFill>
                          <a:effectLst/>
                          <a:latin typeface="EYInterstate Light"/>
                          <a:cs typeface="Arial" charset="0"/>
                        </a:rPr>
                        <a:t>decision-making body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1"/>
                        </a:solidFill>
                        <a:effectLst/>
                        <a:latin typeface="EYInterstate Light"/>
                        <a:cs typeface="Arial" charset="0"/>
                      </a:endParaRP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nvGraphicFramePr>
        <p:xfrm>
          <a:off x="4712677" y="4648200"/>
          <a:ext cx="4355123" cy="1194610"/>
        </p:xfrm>
        <a:graphic>
          <a:graphicData uri="http://schemas.openxmlformats.org/drawingml/2006/table">
            <a:tbl>
              <a:tblPr/>
              <a:tblGrid>
                <a:gridCol w="2113085"/>
                <a:gridCol w="2242038"/>
              </a:tblGrid>
              <a:tr h="144000">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G. </a:t>
                      </a:r>
                      <a:r>
                        <a:rPr kumimoji="0" lang="en-US" sz="700" b="1" i="0" u="none" strike="noStrike" kern="1200" cap="none" normalizeH="0" baseline="0" noProof="0" dirty="0" smtClean="0">
                          <a:ln>
                            <a:noFill/>
                          </a:ln>
                          <a:solidFill>
                            <a:schemeClr val="tx1"/>
                          </a:solidFill>
                          <a:effectLst/>
                          <a:latin typeface="EYInterstate Light" pitchFamily="2" charset="0"/>
                          <a:ea typeface="+mn-ea"/>
                          <a:cs typeface="+mn-cs"/>
                        </a:rPr>
                        <a:t>MATTERS FOR IMMEDIATE ATTENTION – typically specific current issues or scope changes</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84597">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Issues to be resolved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Recommended Action</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r>
              <a:tr h="31010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Lack of project PM, BA, and TM resources is impacting plan delivery. Lack of SMEs in IT also delaying progress</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1"/>
                          </a:solidFill>
                          <a:effectLst/>
                          <a:latin typeface="EYInterstate Light" pitchFamily="2" charset="0"/>
                          <a:ea typeface="+mn-ea"/>
                          <a:cs typeface="+mn-cs"/>
                        </a:rPr>
                        <a:t>Recruitment activity continuing, BA constraint easing however no PM resource yet recruited, and 5 TM roles still open</a:t>
                      </a:r>
                      <a:endParaRPr kumimoji="0" lang="en-US" sz="700" b="0" i="0" u="none" strike="noStrike" kern="1200" cap="none" normalizeH="0" baseline="0" dirty="0" smtClean="0">
                        <a:ln>
                          <a:noFill/>
                        </a:ln>
                        <a:solidFill>
                          <a:schemeClr val="tx1"/>
                        </a:solidFill>
                        <a:effectLst/>
                        <a:latin typeface="EYInterstate Light" pitchFamily="2" charset="0"/>
                        <a:ea typeface="+mn-ea"/>
                        <a:cs typeface="+mn-cs"/>
                      </a:endParaRP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17120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Unclear who in Operations is responsible for driving Ops intake process, or how TM/Operations responsibilities are clarified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Working with Ops team to begin process of planning for Operational intake, including reviewing Ops checklist and assigning ownership for artefacts</a:t>
                      </a:r>
                      <a:endParaRPr kumimoji="0" lang="en-GB" sz="700" b="0" i="0" u="none" strike="noStrike" kern="1200" cap="none" normalizeH="0" baseline="0" noProof="0" dirty="0" smtClean="0">
                        <a:ln>
                          <a:noFill/>
                        </a:ln>
                        <a:solidFill>
                          <a:schemeClr val="tx1"/>
                        </a:solidFill>
                        <a:effectLst/>
                        <a:latin typeface="EYInterstate Light" pitchFamily="2" charset="0"/>
                        <a:ea typeface="+mn-ea"/>
                        <a:cs typeface="+mn-cs"/>
                      </a:endParaRP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171201">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Scope Change requests to be approved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Recommended Action</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r>
            </a:tbl>
          </a:graphicData>
        </a:graphic>
      </p:graphicFrame>
      <p:graphicFrame>
        <p:nvGraphicFramePr>
          <p:cNvPr id="3317" name="Group 245"/>
          <p:cNvGraphicFramePr>
            <a:graphicFrameLocks noGrp="1"/>
          </p:cNvGraphicFramePr>
          <p:nvPr/>
        </p:nvGraphicFramePr>
        <p:xfrm>
          <a:off x="152400" y="921770"/>
          <a:ext cx="4458451" cy="2091692"/>
        </p:xfrm>
        <a:graphic>
          <a:graphicData uri="http://schemas.openxmlformats.org/drawingml/2006/table">
            <a:tbl>
              <a:tblPr/>
              <a:tblGrid>
                <a:gridCol w="4458451"/>
              </a:tblGrid>
              <a:tr h="153320">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noProof="0" dirty="0" smtClean="0">
                          <a:ln>
                            <a:noFill/>
                          </a:ln>
                          <a:solidFill>
                            <a:schemeClr val="tx1"/>
                          </a:solidFill>
                          <a:effectLst/>
                          <a:latin typeface="EYInterstate Light" pitchFamily="2" charset="0"/>
                          <a:ea typeface="+mn-ea"/>
                          <a:cs typeface="+mn-cs"/>
                        </a:rPr>
                        <a:t>A.  </a:t>
                      </a:r>
                      <a:r>
                        <a:rPr kumimoji="0" lang="en-GB" sz="700" b="1" i="0" u="none" strike="noStrike" kern="1200" cap="none" normalizeH="0" baseline="0" noProof="0" dirty="0" smtClean="0">
                          <a:ln>
                            <a:noFill/>
                          </a:ln>
                          <a:solidFill>
                            <a:schemeClr val="tx1"/>
                          </a:solidFill>
                          <a:effectLst/>
                          <a:latin typeface="EYInterstate Light" pitchFamily="2" charset="0"/>
                          <a:ea typeface="+mn-ea"/>
                          <a:cs typeface="+mn-cs"/>
                        </a:rPr>
                        <a:t>EXECUTIVE SUMMARY – a summary of the progress for this period  (not of the initiative)</a:t>
                      </a:r>
                      <a:endParaRPr kumimoji="0" lang="en-US" sz="700" b="1" i="0" u="none" strike="noStrike" kern="1200" cap="none" normalizeH="0" baseline="0" noProof="0" dirty="0" smtClean="0">
                        <a:ln>
                          <a:noFill/>
                        </a:ln>
                        <a:solidFill>
                          <a:schemeClr val="tx1"/>
                        </a:solidFill>
                        <a:effectLst/>
                        <a:latin typeface="EYInterstate Light" pitchFamily="2" charset="0"/>
                        <a:ea typeface="+mn-ea"/>
                        <a:cs typeface="+mn-cs"/>
                      </a:endParaRPr>
                    </a:p>
                  </a:txBody>
                  <a:tcPr marL="33231" marR="33231" marT="14400" marB="14400"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174431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Meeting to define “technical pilot” agreed  on common definition of Look/See and recommendations for how this should be delivered. Consensus was that </a:t>
                      </a:r>
                      <a:r>
                        <a:rPr kumimoji="0" lang="en-GB" sz="700" b="0" i="0" u="none" strike="noStrike" kern="1200" cap="none" normalizeH="0" baseline="0" dirty="0" err="1" smtClean="0">
                          <a:ln>
                            <a:noFill/>
                          </a:ln>
                          <a:solidFill>
                            <a:schemeClr val="tx1"/>
                          </a:solidFill>
                          <a:effectLst/>
                          <a:latin typeface="EYInterstate Light" pitchFamily="2" charset="0"/>
                          <a:ea typeface="+mn-ea"/>
                          <a:cs typeface="+mn-cs"/>
                        </a:rPr>
                        <a:t>Lync</a:t>
                      </a: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 Look/See was viable but Exchange Look/See not recommended as delivery constraints would not be resolved by required timeline (June)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Agreed with Engineering and Application Management teams revised approach to impact assessment of mail-integrated applications. Application assessment framework for all categories in process of being drafted,; expected to have a first cut of assessment outcomes by end Feb</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Group Management proposals still under discussion – need to finalise approach with GLMS and IAM teams. Decision on static groups remains priority due to development impact on MMD and Self-service Portal</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Dormant deployment moved to Tech Foundation stream; concerns remain about approach to maintaining currency and potential risks associated with activation, since this has not been tested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Discussions and planning are underway with Business Deployment who have been walked through the original UC deployment plan and transition management activities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Awaiting clarity on decision-making forum for UC. Key decisions still outstanding:</a:t>
                      </a:r>
                    </a:p>
                    <a:p>
                      <a:pPr marL="542925" marR="0" lvl="1"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Confirmation of decision to have business users execute User Acceptance Testing</a:t>
                      </a:r>
                    </a:p>
                    <a:p>
                      <a:pPr marL="542925" marR="0" lvl="1"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Confirmation of Day 1 requirements for mail-integrated applications</a:t>
                      </a:r>
                    </a:p>
                    <a:p>
                      <a:pPr marL="542925" marR="0" lvl="1"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Confirmation that countries will pay for </a:t>
                      </a:r>
                      <a:r>
                        <a:rPr kumimoji="0" lang="en-GB" sz="700" b="0" i="0" u="none" strike="noStrike" kern="1200" cap="none" normalizeH="0" baseline="0" dirty="0" err="1" smtClean="0">
                          <a:ln>
                            <a:noFill/>
                          </a:ln>
                          <a:solidFill>
                            <a:schemeClr val="tx1"/>
                          </a:solidFill>
                          <a:effectLst/>
                          <a:latin typeface="EYInterstate Light" pitchFamily="2" charset="0"/>
                          <a:ea typeface="+mn-ea"/>
                          <a:cs typeface="+mn-cs"/>
                        </a:rPr>
                        <a:t>Lync</a:t>
                      </a: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 devices/peripherals, not the M&amp;C program</a:t>
                      </a:r>
                    </a:p>
                    <a:p>
                      <a:pPr marL="542925" marR="0" lvl="1"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Group Management Proposals</a:t>
                      </a:r>
                    </a:p>
                  </a:txBody>
                  <a:tcPr marL="33231" marR="33231" marT="14400" marB="14400"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nvGraphicFramePr>
        <p:xfrm>
          <a:off x="4718050" y="914400"/>
          <a:ext cx="4355126" cy="1893308"/>
        </p:xfrm>
        <a:graphic>
          <a:graphicData uri="http://schemas.openxmlformats.org/drawingml/2006/table">
            <a:tbl>
              <a:tblPr/>
              <a:tblGrid>
                <a:gridCol w="1400909"/>
                <a:gridCol w="662841"/>
                <a:gridCol w="838200"/>
                <a:gridCol w="701571"/>
                <a:gridCol w="751605"/>
              </a:tblGrid>
              <a:tr h="178298">
                <a:tc gridSpan="5">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E.  </a:t>
                      </a:r>
                      <a:r>
                        <a:rPr kumimoji="0" lang="en-US" sz="700" b="1" i="0" u="none" strike="noStrike" kern="1200" cap="none" normalizeH="0" baseline="0" noProof="0" dirty="0" smtClean="0">
                          <a:ln>
                            <a:noFill/>
                          </a:ln>
                          <a:solidFill>
                            <a:schemeClr val="tx1"/>
                          </a:solidFill>
                          <a:effectLst/>
                          <a:latin typeface="EYInterstate Light" pitchFamily="2" charset="0"/>
                          <a:ea typeface="+mn-ea"/>
                          <a:cs typeface="+mn-cs"/>
                        </a:rPr>
                        <a:t>MILESTONES</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1">
                        <a:lumMod val="20000"/>
                        <a:lumOff val="80000"/>
                      </a:schemeClr>
                    </a:solidFill>
                  </a:tcPr>
                </a:tc>
              </a:tr>
              <a:tr h="178284">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Individual Milestone Name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Planned Date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Projected Date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Last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This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Migration Master DB Live</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20-Dec-11</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MAR-12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Global </a:t>
                      </a: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Accessories Provisioning in place</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29-Jun-12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JUN-12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AMBER</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CC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AMBER</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CC00"/>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Outlook &amp; </a:t>
                      </a: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a:t>
                      </a: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config</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a:t>
                      </a: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compl</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25-Jan-12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JAN-12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UAT Complete</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11-May-12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APR-12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33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Outlook UAT Complete</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01-Jun-12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AUG-12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33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Pilot Complete</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29-Jun-12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MAY-12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33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Deployment</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07-Jul-12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JUL-12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33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Outlook Pilot Complete</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21-Jul-12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OCT-12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33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Outlook Deployment Start</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28-Jul-12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NOV-12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smtClean="0">
                          <a:ln>
                            <a:noFill/>
                          </a:ln>
                          <a:solidFill>
                            <a:schemeClr val="tx1"/>
                          </a:solidFill>
                          <a:effectLst/>
                          <a:latin typeface="EYInterstate Light" pitchFamily="2" charset="0"/>
                          <a:ea typeface="+mn-ea"/>
                          <a:cs typeface="+mn-cs"/>
                        </a:rPr>
                        <a:t>RED</a:t>
                      </a:r>
                      <a:endPar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endParaRP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33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smtClean="0">
                          <a:ln>
                            <a:noFill/>
                          </a:ln>
                          <a:solidFill>
                            <a:schemeClr val="tx1"/>
                          </a:solidFill>
                          <a:effectLst/>
                          <a:latin typeface="EYInterstate Light" pitchFamily="2" charset="0"/>
                          <a:ea typeface="+mn-ea"/>
                          <a:cs typeface="+mn-cs"/>
                        </a:rPr>
                        <a:t>RED</a:t>
                      </a:r>
                      <a:endPar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endParaRP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Outlook Deployment Complete</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01-Dec-12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Q113</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33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5" name="Group 270"/>
          <p:cNvGraphicFramePr>
            <a:graphicFrameLocks noGrp="1"/>
          </p:cNvGraphicFramePr>
          <p:nvPr/>
        </p:nvGraphicFramePr>
        <p:xfrm>
          <a:off x="7570788" y="69850"/>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Red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6" name="Table 15"/>
          <p:cNvGraphicFramePr>
            <a:graphicFrameLocks noGrp="1"/>
          </p:cNvGraphicFramePr>
          <p:nvPr/>
        </p:nvGraphicFramePr>
        <p:xfrm>
          <a:off x="4718050" y="2819400"/>
          <a:ext cx="4355123" cy="1807328"/>
        </p:xfrm>
        <a:graphic>
          <a:graphicData uri="http://schemas.openxmlformats.org/drawingml/2006/table">
            <a:tbl>
              <a:tblPr/>
              <a:tblGrid>
                <a:gridCol w="2104292"/>
                <a:gridCol w="2250831"/>
              </a:tblGrid>
              <a:tr h="155512">
                <a:tc gridSpan="2">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noProof="0" dirty="0" smtClean="0">
                          <a:ln>
                            <a:noFill/>
                          </a:ln>
                          <a:solidFill>
                            <a:schemeClr val="tx1"/>
                          </a:solidFill>
                          <a:effectLst/>
                          <a:latin typeface="EYInterstate Light" pitchFamily="2" charset="0"/>
                          <a:ea typeface="+mn-ea"/>
                          <a:cs typeface="+mn-cs"/>
                        </a:rPr>
                        <a:t>F.  KEY RISKS – typically future challenges or external circumstances that may affect the initiative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55512">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noProof="0" dirty="0" smtClean="0">
                          <a:ln>
                            <a:noFill/>
                          </a:ln>
                          <a:solidFill>
                            <a:schemeClr val="bg1"/>
                          </a:solidFill>
                          <a:effectLst/>
                          <a:latin typeface="EYInterstate Light" pitchFamily="2" charset="0"/>
                          <a:ea typeface="+mn-ea"/>
                          <a:cs typeface="+mn-cs"/>
                        </a:rPr>
                        <a:t>Risks to be addressed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noProof="0" dirty="0" smtClean="0">
                          <a:ln>
                            <a:noFill/>
                          </a:ln>
                          <a:solidFill>
                            <a:schemeClr val="bg1"/>
                          </a:solidFill>
                          <a:effectLst/>
                          <a:latin typeface="EYInterstate Light" pitchFamily="2" charset="0"/>
                          <a:ea typeface="+mn-ea"/>
                          <a:cs typeface="+mn-cs"/>
                        </a:rPr>
                        <a:t>Mitigating Action</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r>
              <a:tr h="3240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devices. Assumption that countries will pay for the </a:t>
                      </a: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devices, not the program, has yet to be validated</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1"/>
                          </a:solidFill>
                          <a:effectLst/>
                          <a:latin typeface="EYInterstate Light" pitchFamily="2" charset="0"/>
                          <a:ea typeface="+mn-ea"/>
                          <a:cs typeface="+mn-cs"/>
                        </a:rPr>
                        <a:t>Added to the RAID log, to be escalated to FSG for decision</a:t>
                      </a:r>
                      <a:endPar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endParaRP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3240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MMD: Management of groups and shared </a:t>
                      </a: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mailfiles</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via MMD and Portal in preparation for migration complex and communication</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Work closely with Engineering to find appropriate solution and seek Design Authority approval and support</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2880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Specification of 2,500 Exchange bootstrap and configuration settings outside competence of BA and Engineering teams, </a:t>
                      </a: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eg</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security</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1"/>
                          </a:solidFill>
                          <a:effectLst/>
                          <a:latin typeface="EYInterstate Light" pitchFamily="2" charset="0"/>
                          <a:ea typeface="+mn-ea"/>
                          <a:cs typeface="+mn-cs"/>
                        </a:rPr>
                        <a:t>Settings should be out of the box and not changed unless a clear and approved business requirement is identified or pre-existing policy applies</a:t>
                      </a:r>
                      <a:endParaRPr kumimoji="0" lang="en-US" sz="700" b="0" i="0" u="none" strike="noStrike" kern="1200" cap="none" normalizeH="0" baseline="0" dirty="0" smtClean="0">
                        <a:ln>
                          <a:noFill/>
                        </a:ln>
                        <a:solidFill>
                          <a:schemeClr val="tx1"/>
                        </a:solidFill>
                        <a:effectLst/>
                        <a:latin typeface="EYInterstate Light" pitchFamily="2" charset="0"/>
                        <a:ea typeface="+mn-ea"/>
                        <a:cs typeface="+mn-cs"/>
                      </a:endParaRP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2880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Risk that Group Management solution being delivered by IAM will not be ready in time and that the Self-serve portal will be required to support group migration of 400k mail groups</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Working with IAM program and GLMS owner to propose group management approach for FSG signoff</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nvGraphicFramePr>
        <p:xfrm>
          <a:off x="4724400" y="5867400"/>
          <a:ext cx="4355123" cy="588132"/>
        </p:xfrm>
        <a:graphic>
          <a:graphicData uri="http://schemas.openxmlformats.org/drawingml/2006/table">
            <a:tbl>
              <a:tblPr/>
              <a:tblGrid>
                <a:gridCol w="4355123"/>
              </a:tblGrid>
              <a:tr h="100223">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1" i="0" u="none" strike="noStrike" kern="1200" cap="none" normalizeH="0" baseline="0" noProof="0" dirty="0" smtClean="0">
                          <a:ln>
                            <a:noFill/>
                          </a:ln>
                          <a:solidFill>
                            <a:schemeClr val="tx1"/>
                          </a:solidFill>
                          <a:effectLst/>
                          <a:latin typeface="EYInterstate Light" pitchFamily="2" charset="0"/>
                          <a:ea typeface="+mn-ea"/>
                          <a:cs typeface="+mn-cs"/>
                        </a:rPr>
                        <a:t>H.  GENERAL COMMENTS – must</a:t>
                      </a:r>
                      <a:r>
                        <a:rPr kumimoji="0" lang="en-US" sz="700" b="1" i="0" u="none" strike="noStrike" kern="1200" cap="none" normalizeH="0" baseline="0" dirty="0" smtClean="0">
                          <a:ln>
                            <a:noFill/>
                          </a:ln>
                          <a:solidFill>
                            <a:schemeClr val="tx1"/>
                          </a:solidFill>
                          <a:effectLst/>
                          <a:latin typeface="EYInterstate Light" pitchFamily="2" charset="0"/>
                          <a:ea typeface="+mn-ea"/>
                          <a:cs typeface="+mn-cs"/>
                        </a:rPr>
                        <a:t> </a:t>
                      </a:r>
                      <a:r>
                        <a:rPr kumimoji="0" lang="en-US" sz="700" b="1" i="0" u="none" strike="noStrike" kern="1200" cap="none" normalizeH="0" baseline="0" noProof="0" dirty="0" smtClean="0">
                          <a:ln>
                            <a:noFill/>
                          </a:ln>
                          <a:solidFill>
                            <a:schemeClr val="tx1"/>
                          </a:solidFill>
                          <a:effectLst/>
                          <a:latin typeface="EYInterstate Light" pitchFamily="2" charset="0"/>
                          <a:ea typeface="+mn-ea"/>
                          <a:cs typeface="+mn-cs"/>
                        </a:rPr>
                        <a:t>include reasoning for an overall Red or Amber Status</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28078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Lack of business validation of Day 1 requirements for mail-enabled applications: UC program has not budgeted for mail-integration effort to date as no clear requirements were known. CRs may potentially add significantly to the UC budget. Deployment strategy still unknown, so Transition Management plans cannot be further developed</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450" y="6584950"/>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550" y="658495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688" y="6573838"/>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69850" y="6581775"/>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a:grpSpLocks/>
          </p:cNvGrpSpPr>
          <p:nvPr/>
        </p:nvGrpSpPr>
        <p:grpSpPr bwMode="auto">
          <a:xfrm>
            <a:off x="0" y="6389688"/>
            <a:ext cx="8964613" cy="541337"/>
            <a:chOff x="0" y="6505545"/>
            <a:chExt cx="9711531" cy="540206"/>
          </a:xfrm>
        </p:grpSpPr>
        <p:sp>
          <p:nvSpPr>
            <p:cNvPr id="31949" name="TextBox 20"/>
            <p:cNvSpPr txBox="1">
              <a:spLocks noChangeArrowheads="1"/>
            </p:cNvSpPr>
            <p:nvPr/>
          </p:nvSpPr>
          <p:spPr bwMode="gray">
            <a:xfrm>
              <a:off x="1639689" y="6576570"/>
              <a:ext cx="2611234" cy="400110"/>
            </a:xfrm>
            <a:prstGeom prst="rect">
              <a:avLst/>
            </a:prstGeom>
            <a:noFill/>
            <a:ln w="9525">
              <a:noFill/>
              <a:miter lim="800000"/>
              <a:headEnd/>
              <a:tailEnd/>
            </a:ln>
          </p:spPr>
          <p:txBody>
            <a:bodyPr>
              <a:spAutoFit/>
            </a:bodyPr>
            <a:lstStyle/>
            <a:p>
              <a:pPr algn="ctr" defTabSz="955675" eaLnBrk="0" hangingPunct="0"/>
              <a:endParaRPr lang="en-GB" sz="500" b="1">
                <a:solidFill>
                  <a:srgbClr val="646464"/>
                </a:solidFill>
                <a:latin typeface="EYInterstate Light" pitchFamily="2" charset="0"/>
                <a:cs typeface="+mn-cs"/>
              </a:endParaRPr>
            </a:p>
            <a:p>
              <a:pPr algn="ctr" defTabSz="955675" eaLnBrk="0" hangingPunct="0"/>
              <a:r>
                <a:rPr lang="en-GB" sz="500" b="1">
                  <a:solidFill>
                    <a:srgbClr val="646464"/>
                  </a:solidFill>
                  <a:latin typeface="EYInterstate Light" pitchFamily="2" charset="0"/>
                  <a:cs typeface="+mn-cs"/>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149" y="6657627"/>
              <a:ext cx="663830" cy="169507"/>
            </a:xfrm>
            <a:prstGeom prst="rect">
              <a:avLst/>
            </a:prstGeom>
          </p:spPr>
          <p:txBody>
            <a:bodyPr wrap="none">
              <a:spAutoFit/>
            </a:bodyPr>
            <a:lstStyle/>
            <a:p>
              <a:pPr algn="ctr" defTabSz="955675" eaLnBrk="0" hangingPunct="0">
                <a:spcAft>
                  <a:spcPts val="0"/>
                </a:spcAft>
                <a:defRPr/>
              </a:pPr>
              <a:r>
                <a:rPr lang="en-US" sz="500" b="1" dirty="0">
                  <a:solidFill>
                    <a:srgbClr val="646464"/>
                  </a:solidFill>
                  <a:latin typeface="EYInterstate Light" pitchFamily="2" charset="0"/>
                  <a:cs typeface="+mn-cs"/>
                </a:rPr>
                <a:t>F</a:t>
              </a:r>
              <a:r>
                <a:rPr lang="en-US" sz="500" b="1" dirty="0" err="1">
                  <a:solidFill>
                    <a:srgbClr val="646464"/>
                  </a:solidFill>
                  <a:latin typeface="EYInterstate Light" pitchFamily="2" charset="0"/>
                  <a:cs typeface="+mn-cs"/>
                </a:rPr>
                <a:t>ully</a:t>
              </a:r>
              <a:r>
                <a:rPr lang="en-US" sz="500" b="1" dirty="0">
                  <a:solidFill>
                    <a:srgbClr val="646464"/>
                  </a:solidFill>
                  <a:latin typeface="EYInterstate Light" pitchFamily="2" charset="0"/>
                  <a:cs typeface="+mn-cs"/>
                </a:rPr>
                <a:t> achieved</a:t>
              </a:r>
              <a:endParaRPr lang="en-GB" sz="500" b="1" kern="0" dirty="0">
                <a:solidFill>
                  <a:srgbClr val="646464"/>
                </a:solidFill>
                <a:latin typeface="EYInterstate"/>
                <a:cs typeface="+mn-cs"/>
              </a:endParaRPr>
            </a:p>
          </p:txBody>
        </p:sp>
        <p:sp>
          <p:nvSpPr>
            <p:cNvPr id="25" name="TextBox 24"/>
            <p:cNvSpPr txBox="1"/>
            <p:nvPr/>
          </p:nvSpPr>
          <p:spPr bwMode="gray">
            <a:xfrm>
              <a:off x="0" y="6505545"/>
              <a:ext cx="4882422" cy="169507"/>
            </a:xfrm>
            <a:prstGeom prst="rect">
              <a:avLst/>
            </a:prstGeom>
          </p:spPr>
          <p:txBody>
            <a:bodyPr wrap="none">
              <a:spAutoFit/>
            </a:bodyPr>
            <a:lstStyle/>
            <a:p>
              <a:pPr algn="ctr" defTabSz="955675" eaLnBrk="0" hangingPunct="0">
                <a:spcAft>
                  <a:spcPts val="0"/>
                </a:spcAft>
                <a:defRPr/>
              </a:pPr>
              <a:r>
                <a:rPr lang="en-US" sz="500" dirty="0">
                  <a:solidFill>
                    <a:srgbClr val="646464"/>
                  </a:solidFill>
                  <a:latin typeface="EYInterstate Light" pitchFamily="2" charset="0"/>
                  <a:cs typeface="+mn-cs"/>
                </a:rPr>
                <a:t>The overall initiative status is governed by the RAG Status Guidance, summarized below. This guidance also applies to the individual Milestones Stats. </a:t>
              </a:r>
              <a:endParaRPr lang="en-GB" sz="500" kern="0" dirty="0">
                <a:solidFill>
                  <a:srgbClr val="646464"/>
                </a:solidFill>
                <a:latin typeface="EYInterstate"/>
                <a:cs typeface="+mn-cs"/>
              </a:endParaRPr>
            </a:p>
          </p:txBody>
        </p:sp>
        <p:sp>
          <p:nvSpPr>
            <p:cNvPr id="31952" name="TextBox 25"/>
            <p:cNvSpPr txBox="1">
              <a:spLocks noChangeArrowheads="1"/>
            </p:cNvSpPr>
            <p:nvPr/>
          </p:nvSpPr>
          <p:spPr bwMode="gray">
            <a:xfrm>
              <a:off x="7423210" y="6564722"/>
              <a:ext cx="2288321" cy="400110"/>
            </a:xfrm>
            <a:prstGeom prst="rect">
              <a:avLst/>
            </a:prstGeom>
            <a:noFill/>
            <a:ln w="9525">
              <a:noFill/>
              <a:miter lim="800000"/>
              <a:headEnd/>
              <a:tailEnd/>
            </a:ln>
          </p:spPr>
          <p:txBody>
            <a:bodyPr>
              <a:spAutoFit/>
            </a:bodyPr>
            <a:lstStyle/>
            <a:p>
              <a:pPr algn="ctr" defTabSz="955675" eaLnBrk="0" hangingPunct="0"/>
              <a:endParaRPr lang="en-GB" sz="500" b="1">
                <a:solidFill>
                  <a:srgbClr val="646464"/>
                </a:solidFill>
                <a:latin typeface="EYInterstate Light" pitchFamily="2" charset="0"/>
                <a:cs typeface="+mn-cs"/>
              </a:endParaRPr>
            </a:p>
            <a:p>
              <a:pPr algn="ctr" defTabSz="955675" eaLnBrk="0" hangingPunct="0"/>
              <a:r>
                <a:rPr lang="en-GB" sz="500" b="1">
                  <a:solidFill>
                    <a:srgbClr val="646464"/>
                  </a:solidFill>
                  <a:latin typeface="EYInterstate Light" pitchFamily="2" charset="0"/>
                  <a:cs typeface="+mn-cs"/>
                </a:rPr>
                <a:t>Project is on track and has no significant challenges and/or issues that may materially impact the overall successful achievement of the expected outcomes, now or in the future. 	</a:t>
              </a:r>
            </a:p>
          </p:txBody>
        </p:sp>
        <p:sp>
          <p:nvSpPr>
            <p:cNvPr id="31953" name="TextBox 26"/>
            <p:cNvSpPr txBox="1">
              <a:spLocks noChangeArrowheads="1"/>
            </p:cNvSpPr>
            <p:nvPr/>
          </p:nvSpPr>
          <p:spPr bwMode="gray">
            <a:xfrm>
              <a:off x="4849123" y="6568697"/>
              <a:ext cx="1976087" cy="477054"/>
            </a:xfrm>
            <a:prstGeom prst="rect">
              <a:avLst/>
            </a:prstGeom>
            <a:noFill/>
            <a:ln w="9525">
              <a:noFill/>
              <a:miter lim="800000"/>
              <a:headEnd/>
              <a:tailEnd/>
            </a:ln>
          </p:spPr>
          <p:txBody>
            <a:bodyPr>
              <a:spAutoFit/>
            </a:bodyPr>
            <a:lstStyle/>
            <a:p>
              <a:pPr algn="ctr" defTabSz="955675" eaLnBrk="0" hangingPunct="0"/>
              <a:endParaRPr lang="en-GB" sz="500" b="1" dirty="0">
                <a:solidFill>
                  <a:srgbClr val="646464"/>
                </a:solidFill>
                <a:latin typeface="EYInterstate Light" pitchFamily="2" charset="0"/>
                <a:cs typeface="+mn-cs"/>
              </a:endParaRPr>
            </a:p>
            <a:p>
              <a:pPr algn="ctr" defTabSz="955675" eaLnBrk="0" hangingPunct="0"/>
              <a:r>
                <a:rPr lang="en-GB" sz="500" b="1" dirty="0">
                  <a:solidFill>
                    <a:srgbClr val="646464"/>
                  </a:solidFill>
                  <a:latin typeface="EYInterstate Light" pitchFamily="2" charset="0"/>
                  <a:cs typeface="+mn-cs"/>
                </a:rPr>
                <a:t>Project is on track but has some significant challenges and/or issues that may materially impact the overall successful achievement of the expected outcomes. 	</a:t>
              </a:r>
            </a:p>
          </p:txBody>
        </p:sp>
      </p:grpSp>
      <p:sp>
        <p:nvSpPr>
          <p:cNvPr id="31910" name="Freeform 94"/>
          <p:cNvSpPr>
            <a:spLocks/>
          </p:cNvSpPr>
          <p:nvPr/>
        </p:nvSpPr>
        <p:spPr bwMode="gray">
          <a:xfrm>
            <a:off x="-3175" y="-3175"/>
            <a:ext cx="7546975" cy="307975"/>
          </a:xfrm>
          <a:custGeom>
            <a:avLst/>
            <a:gdLst>
              <a:gd name="T0" fmla="*/ 2147483647 w 6000"/>
              <a:gd name="T1" fmla="*/ 0 h 754"/>
              <a:gd name="T2" fmla="*/ 2147483647 w 6000"/>
              <a:gd name="T3" fmla="*/ 125460203 h 754"/>
              <a:gd name="T4" fmla="*/ 0 w 6000"/>
              <a:gd name="T5" fmla="*/ 125793910 h 754"/>
              <a:gd name="T6" fmla="*/ 0 w 6000"/>
              <a:gd name="T7" fmla="*/ 500357 h 754"/>
              <a:gd name="T8" fmla="*/ 2147483647 w 6000"/>
              <a:gd name="T9" fmla="*/ 0 h 754"/>
              <a:gd name="T10" fmla="*/ 0 60000 65536"/>
              <a:gd name="T11" fmla="*/ 0 60000 65536"/>
              <a:gd name="T12" fmla="*/ 0 60000 65536"/>
              <a:gd name="T13" fmla="*/ 0 60000 65536"/>
              <a:gd name="T14" fmla="*/ 0 60000 65536"/>
              <a:gd name="T15" fmla="*/ 0 w 6000"/>
              <a:gd name="T16" fmla="*/ 0 h 754"/>
              <a:gd name="T17" fmla="*/ 6000 w 6000"/>
              <a:gd name="T18" fmla="*/ 754 h 754"/>
            </a:gdLst>
            <a:ahLst/>
            <a:cxnLst>
              <a:cxn ang="T10">
                <a:pos x="T0" y="T1"/>
              </a:cxn>
              <a:cxn ang="T11">
                <a:pos x="T2" y="T3"/>
              </a:cxn>
              <a:cxn ang="T12">
                <a:pos x="T4" y="T5"/>
              </a:cxn>
              <a:cxn ang="T13">
                <a:pos x="T6" y="T7"/>
              </a:cxn>
              <a:cxn ang="T14">
                <a:pos x="T8" y="T9"/>
              </a:cxn>
            </a:cxnLst>
            <a:rect l="T15" t="T16" r="T17" b="T18"/>
            <a:pathLst>
              <a:path w="6000" h="754">
                <a:moveTo>
                  <a:pt x="6000" y="0"/>
                </a:moveTo>
                <a:lnTo>
                  <a:pt x="5854" y="752"/>
                </a:lnTo>
                <a:lnTo>
                  <a:pt x="0" y="754"/>
                </a:lnTo>
                <a:lnTo>
                  <a:pt x="0" y="3"/>
                </a:lnTo>
                <a:lnTo>
                  <a:pt x="6000" y="0"/>
                </a:lnTo>
                <a:close/>
              </a:path>
            </a:pathLst>
          </a:custGeom>
          <a:solidFill>
            <a:srgbClr val="FFD200"/>
          </a:solidFill>
          <a:ln w="9525">
            <a:noFill/>
            <a:round/>
            <a:headEnd/>
            <a:tailEnd/>
          </a:ln>
        </p:spPr>
        <p:txBody>
          <a:bodyPr/>
          <a:lstStyle/>
          <a:p>
            <a:endParaRPr lang="en-GB">
              <a:solidFill>
                <a:srgbClr val="000000"/>
              </a:solidFill>
              <a:latin typeface="Arial" pitchFamily="34" charset="0"/>
              <a:cs typeface="+mn-cs"/>
            </a:endParaRPr>
          </a:p>
        </p:txBody>
      </p:sp>
      <p:sp>
        <p:nvSpPr>
          <p:cNvPr id="31911" name="Line 69"/>
          <p:cNvSpPr>
            <a:spLocks noChangeShapeType="1"/>
          </p:cNvSpPr>
          <p:nvPr/>
        </p:nvSpPr>
        <p:spPr bwMode="gray">
          <a:xfrm>
            <a:off x="609600" y="704850"/>
            <a:ext cx="7835900" cy="0"/>
          </a:xfrm>
          <a:prstGeom prst="line">
            <a:avLst/>
          </a:prstGeom>
          <a:noFill/>
          <a:ln w="38100">
            <a:solidFill>
              <a:srgbClr val="FFD200"/>
            </a:solidFill>
            <a:round/>
            <a:headEnd type="diamond" w="med" len="med"/>
            <a:tailEnd type="diamond" w="med" len="med"/>
          </a:ln>
        </p:spPr>
        <p:txBody>
          <a:bodyPr lIns="92075" tIns="46038" rIns="92075" bIns="46038">
            <a:spAutoFit/>
          </a:bodyPr>
          <a:lstStyle/>
          <a:p>
            <a:endParaRPr lang="en-GB">
              <a:solidFill>
                <a:srgbClr val="000000"/>
              </a:solidFill>
              <a:latin typeface="Arial" pitchFamily="34" charset="0"/>
              <a:cs typeface="+mn-cs"/>
            </a:endParaRPr>
          </a:p>
        </p:txBody>
      </p:sp>
      <p:sp>
        <p:nvSpPr>
          <p:cNvPr id="31912" name="Text Box 70"/>
          <p:cNvSpPr txBox="1">
            <a:spLocks noChangeArrowheads="1"/>
          </p:cNvSpPr>
          <p:nvPr/>
        </p:nvSpPr>
        <p:spPr bwMode="gray">
          <a:xfrm>
            <a:off x="76200" y="323850"/>
            <a:ext cx="820738" cy="303213"/>
          </a:xfrm>
          <a:prstGeom prst="rect">
            <a:avLst/>
          </a:prstGeom>
          <a:noFill/>
          <a:ln w="9525" algn="ctr">
            <a:noFill/>
            <a:miter lim="800000"/>
            <a:headEnd type="none" w="sm" len="sm"/>
            <a:tailEnd type="none" w="sm" len="sm"/>
          </a:ln>
        </p:spPr>
        <p:txBody>
          <a:bodyPr lIns="57057" tIns="28529" rIns="57057" bIns="28529">
            <a:spAutoFit/>
          </a:bodyPr>
          <a:lstStyle/>
          <a:p>
            <a:pPr algn="ctr" defTabSz="514350" eaLnBrk="0" hangingPunct="0"/>
            <a:r>
              <a:rPr lang="en-US" sz="800" b="1">
                <a:solidFill>
                  <a:srgbClr val="000000"/>
                </a:solidFill>
                <a:latin typeface="EYInterstate"/>
                <a:cs typeface="+mn-cs"/>
              </a:rPr>
              <a:t>Target Milestones</a:t>
            </a:r>
          </a:p>
        </p:txBody>
      </p:sp>
      <p:sp>
        <p:nvSpPr>
          <p:cNvPr id="31915" name="Line 73"/>
          <p:cNvSpPr>
            <a:spLocks noChangeShapeType="1"/>
          </p:cNvSpPr>
          <p:nvPr/>
        </p:nvSpPr>
        <p:spPr bwMode="gray">
          <a:xfrm>
            <a:off x="6277704" y="68897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31918" name="Line 76"/>
          <p:cNvSpPr>
            <a:spLocks noChangeShapeType="1"/>
          </p:cNvSpPr>
          <p:nvPr/>
        </p:nvSpPr>
        <p:spPr bwMode="gray">
          <a:xfrm>
            <a:off x="7467600" y="68897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31919" name="Line 77"/>
          <p:cNvSpPr>
            <a:spLocks noChangeShapeType="1"/>
          </p:cNvSpPr>
          <p:nvPr/>
        </p:nvSpPr>
        <p:spPr bwMode="gray">
          <a:xfrm>
            <a:off x="2401888" y="68897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31920" name="Line 78"/>
          <p:cNvSpPr>
            <a:spLocks noChangeShapeType="1"/>
          </p:cNvSpPr>
          <p:nvPr/>
        </p:nvSpPr>
        <p:spPr bwMode="gray">
          <a:xfrm>
            <a:off x="3352800" y="68897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31921" name="Line 79"/>
          <p:cNvSpPr>
            <a:spLocks noChangeShapeType="1"/>
          </p:cNvSpPr>
          <p:nvPr/>
        </p:nvSpPr>
        <p:spPr bwMode="gray">
          <a:xfrm>
            <a:off x="3778250" y="68897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31922" name="Line 80"/>
          <p:cNvSpPr>
            <a:spLocks noChangeShapeType="1"/>
          </p:cNvSpPr>
          <p:nvPr/>
        </p:nvSpPr>
        <p:spPr bwMode="gray">
          <a:xfrm>
            <a:off x="4179888" y="68897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31923" name="Line 81"/>
          <p:cNvSpPr>
            <a:spLocks noChangeShapeType="1"/>
          </p:cNvSpPr>
          <p:nvPr/>
        </p:nvSpPr>
        <p:spPr bwMode="gray">
          <a:xfrm>
            <a:off x="5086351" y="68897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31924" name="Line 82"/>
          <p:cNvSpPr>
            <a:spLocks noChangeShapeType="1"/>
          </p:cNvSpPr>
          <p:nvPr/>
        </p:nvSpPr>
        <p:spPr bwMode="gray">
          <a:xfrm>
            <a:off x="5526088" y="68897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31926" name="Text Box 84"/>
          <p:cNvSpPr txBox="1">
            <a:spLocks noChangeArrowheads="1"/>
          </p:cNvSpPr>
          <p:nvPr/>
        </p:nvSpPr>
        <p:spPr bwMode="gray">
          <a:xfrm>
            <a:off x="609600" y="628650"/>
            <a:ext cx="193675" cy="61913"/>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dirty="0">
                <a:solidFill>
                  <a:srgbClr val="000000"/>
                </a:solidFill>
                <a:latin typeface="EYInterstate Light" pitchFamily="2" charset="0"/>
                <a:cs typeface="+mn-cs"/>
              </a:rPr>
              <a:t>July ‘11</a:t>
            </a:r>
          </a:p>
        </p:txBody>
      </p:sp>
      <p:sp>
        <p:nvSpPr>
          <p:cNvPr id="31927" name="Text Box 85"/>
          <p:cNvSpPr txBox="1">
            <a:spLocks noChangeArrowheads="1"/>
          </p:cNvSpPr>
          <p:nvPr/>
        </p:nvSpPr>
        <p:spPr bwMode="gray">
          <a:xfrm>
            <a:off x="1295400" y="628650"/>
            <a:ext cx="187325" cy="61913"/>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a:solidFill>
                  <a:srgbClr val="000000"/>
                </a:solidFill>
                <a:latin typeface="EYInterstate Light" pitchFamily="2" charset="0"/>
                <a:cs typeface="+mn-cs"/>
              </a:rPr>
              <a:t>Aug ‘11</a:t>
            </a:r>
          </a:p>
        </p:txBody>
      </p:sp>
      <p:sp>
        <p:nvSpPr>
          <p:cNvPr id="31928" name="Text Box 86"/>
          <p:cNvSpPr txBox="1">
            <a:spLocks noChangeArrowheads="1"/>
          </p:cNvSpPr>
          <p:nvPr/>
        </p:nvSpPr>
        <p:spPr bwMode="gray">
          <a:xfrm>
            <a:off x="1741487" y="628650"/>
            <a:ext cx="203200" cy="61913"/>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dirty="0">
                <a:solidFill>
                  <a:srgbClr val="000000"/>
                </a:solidFill>
                <a:latin typeface="EYInterstate Light" pitchFamily="2" charset="0"/>
                <a:cs typeface="+mn-cs"/>
              </a:rPr>
              <a:t>Sept ‘11</a:t>
            </a:r>
          </a:p>
        </p:txBody>
      </p:sp>
      <p:sp>
        <p:nvSpPr>
          <p:cNvPr id="31929" name="Text Box 87"/>
          <p:cNvSpPr txBox="1">
            <a:spLocks noChangeArrowheads="1"/>
          </p:cNvSpPr>
          <p:nvPr/>
        </p:nvSpPr>
        <p:spPr bwMode="gray">
          <a:xfrm>
            <a:off x="2152650" y="628650"/>
            <a:ext cx="177800" cy="61913"/>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a:solidFill>
                  <a:srgbClr val="000000"/>
                </a:solidFill>
                <a:latin typeface="EYInterstate Light" pitchFamily="2" charset="0"/>
                <a:cs typeface="+mn-cs"/>
              </a:rPr>
              <a:t>Oct ‘11</a:t>
            </a:r>
          </a:p>
        </p:txBody>
      </p:sp>
      <p:sp>
        <p:nvSpPr>
          <p:cNvPr id="31930" name="Text Box 88"/>
          <p:cNvSpPr txBox="1">
            <a:spLocks noChangeArrowheads="1"/>
          </p:cNvSpPr>
          <p:nvPr/>
        </p:nvSpPr>
        <p:spPr bwMode="gray">
          <a:xfrm>
            <a:off x="2714625" y="628650"/>
            <a:ext cx="185737" cy="61913"/>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a:solidFill>
                  <a:srgbClr val="000000"/>
                </a:solidFill>
                <a:latin typeface="EYInterstate Light" pitchFamily="2" charset="0"/>
                <a:cs typeface="+mn-cs"/>
              </a:rPr>
              <a:t>Nov ‘11</a:t>
            </a:r>
          </a:p>
        </p:txBody>
      </p:sp>
      <p:sp>
        <p:nvSpPr>
          <p:cNvPr id="31931" name="Text Box 89"/>
          <p:cNvSpPr txBox="1">
            <a:spLocks noChangeArrowheads="1"/>
          </p:cNvSpPr>
          <p:nvPr/>
        </p:nvSpPr>
        <p:spPr bwMode="gray">
          <a:xfrm>
            <a:off x="3284537" y="628650"/>
            <a:ext cx="184150" cy="61913"/>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a:solidFill>
                  <a:srgbClr val="000000"/>
                </a:solidFill>
                <a:latin typeface="EYInterstate Light" pitchFamily="2" charset="0"/>
                <a:cs typeface="+mn-cs"/>
              </a:rPr>
              <a:t>Dec ‘11</a:t>
            </a:r>
          </a:p>
        </p:txBody>
      </p:sp>
      <p:sp>
        <p:nvSpPr>
          <p:cNvPr id="31932" name="Text Box 90"/>
          <p:cNvSpPr txBox="1">
            <a:spLocks noChangeArrowheads="1"/>
          </p:cNvSpPr>
          <p:nvPr/>
        </p:nvSpPr>
        <p:spPr bwMode="gray">
          <a:xfrm>
            <a:off x="3705225" y="628650"/>
            <a:ext cx="180975" cy="61913"/>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a:solidFill>
                  <a:srgbClr val="000000"/>
                </a:solidFill>
                <a:latin typeface="EYInterstate Light" pitchFamily="2" charset="0"/>
                <a:cs typeface="+mn-cs"/>
              </a:rPr>
              <a:t>Jan ‘12</a:t>
            </a:r>
          </a:p>
        </p:txBody>
      </p:sp>
      <p:sp>
        <p:nvSpPr>
          <p:cNvPr id="31933" name="Text Box 91"/>
          <p:cNvSpPr txBox="1">
            <a:spLocks noChangeArrowheads="1"/>
          </p:cNvSpPr>
          <p:nvPr/>
        </p:nvSpPr>
        <p:spPr bwMode="gray">
          <a:xfrm>
            <a:off x="4114800" y="628650"/>
            <a:ext cx="180975" cy="61913"/>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dirty="0">
                <a:solidFill>
                  <a:srgbClr val="000000"/>
                </a:solidFill>
                <a:latin typeface="EYInterstate Light" pitchFamily="2" charset="0"/>
                <a:cs typeface="+mn-cs"/>
              </a:rPr>
              <a:t>Feb ‘12</a:t>
            </a:r>
          </a:p>
        </p:txBody>
      </p:sp>
      <p:sp>
        <p:nvSpPr>
          <p:cNvPr id="31934" name="Text Box 92"/>
          <p:cNvSpPr txBox="1">
            <a:spLocks noChangeArrowheads="1"/>
          </p:cNvSpPr>
          <p:nvPr/>
        </p:nvSpPr>
        <p:spPr bwMode="gray">
          <a:xfrm>
            <a:off x="4572000" y="628650"/>
            <a:ext cx="184150" cy="61913"/>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a:solidFill>
                  <a:srgbClr val="000000"/>
                </a:solidFill>
                <a:latin typeface="EYInterstate Light" pitchFamily="2" charset="0"/>
                <a:cs typeface="+mn-cs"/>
              </a:rPr>
              <a:t>Mar ‘12</a:t>
            </a:r>
          </a:p>
        </p:txBody>
      </p:sp>
      <p:sp>
        <p:nvSpPr>
          <p:cNvPr id="31935" name="Text Box 93"/>
          <p:cNvSpPr txBox="1">
            <a:spLocks noChangeArrowheads="1"/>
          </p:cNvSpPr>
          <p:nvPr/>
        </p:nvSpPr>
        <p:spPr bwMode="gray">
          <a:xfrm>
            <a:off x="5002213" y="628650"/>
            <a:ext cx="179387" cy="61913"/>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a:solidFill>
                  <a:srgbClr val="000000"/>
                </a:solidFill>
                <a:latin typeface="EYInterstate Light" pitchFamily="2" charset="0"/>
                <a:cs typeface="+mn-cs"/>
              </a:rPr>
              <a:t>Apr ‘12</a:t>
            </a:r>
          </a:p>
        </p:txBody>
      </p:sp>
      <p:sp>
        <p:nvSpPr>
          <p:cNvPr id="31936" name="Text Box 94"/>
          <p:cNvSpPr txBox="1">
            <a:spLocks noChangeArrowheads="1"/>
          </p:cNvSpPr>
          <p:nvPr/>
        </p:nvSpPr>
        <p:spPr bwMode="gray">
          <a:xfrm>
            <a:off x="5410200" y="628650"/>
            <a:ext cx="192088" cy="61913"/>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dirty="0">
                <a:solidFill>
                  <a:srgbClr val="000000"/>
                </a:solidFill>
                <a:latin typeface="EYInterstate Light" pitchFamily="2" charset="0"/>
                <a:cs typeface="+mn-cs"/>
              </a:rPr>
              <a:t>May ‘12</a:t>
            </a:r>
          </a:p>
        </p:txBody>
      </p:sp>
      <p:sp>
        <p:nvSpPr>
          <p:cNvPr id="31938" name="Line 96"/>
          <p:cNvSpPr>
            <a:spLocks noChangeShapeType="1"/>
          </p:cNvSpPr>
          <p:nvPr/>
        </p:nvSpPr>
        <p:spPr bwMode="gray">
          <a:xfrm>
            <a:off x="1360487" y="68897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31939" name="Line 97"/>
          <p:cNvSpPr>
            <a:spLocks noChangeShapeType="1"/>
          </p:cNvSpPr>
          <p:nvPr/>
        </p:nvSpPr>
        <p:spPr bwMode="gray">
          <a:xfrm>
            <a:off x="4638676" y="68897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31940" name="Text Box 98"/>
          <p:cNvSpPr txBox="1">
            <a:spLocks noChangeArrowheads="1"/>
          </p:cNvSpPr>
          <p:nvPr/>
        </p:nvSpPr>
        <p:spPr bwMode="gray">
          <a:xfrm>
            <a:off x="152400" y="657225"/>
            <a:ext cx="457200" cy="180975"/>
          </a:xfrm>
          <a:prstGeom prst="rect">
            <a:avLst/>
          </a:prstGeom>
          <a:solidFill>
            <a:srgbClr val="FFD200"/>
          </a:solidFill>
          <a:ln w="9525" algn="ctr">
            <a:noFill/>
            <a:miter lim="800000"/>
            <a:headEnd type="none" w="sm" len="sm"/>
            <a:tailEnd type="none" w="sm" len="sm"/>
          </a:ln>
        </p:spPr>
        <p:txBody>
          <a:bodyPr lIns="57057" tIns="28529" rIns="57057" bIns="28529">
            <a:spAutoFit/>
          </a:bodyPr>
          <a:lstStyle/>
          <a:p>
            <a:pPr algn="ctr" defTabSz="514350" eaLnBrk="0" hangingPunct="0"/>
            <a:r>
              <a:rPr lang="en-US" sz="800" b="1">
                <a:solidFill>
                  <a:srgbClr val="000000"/>
                </a:solidFill>
                <a:latin typeface="EYInterstate"/>
                <a:cs typeface="+mn-cs"/>
              </a:rPr>
              <a:t>Actual</a:t>
            </a:r>
          </a:p>
        </p:txBody>
      </p:sp>
      <p:sp>
        <p:nvSpPr>
          <p:cNvPr id="31941" name="Line 125"/>
          <p:cNvSpPr>
            <a:spLocks noChangeShapeType="1"/>
          </p:cNvSpPr>
          <p:nvPr/>
        </p:nvSpPr>
        <p:spPr bwMode="gray">
          <a:xfrm flipV="1">
            <a:off x="979487" y="304800"/>
            <a:ext cx="0" cy="3048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31942" name="Text Box 126"/>
          <p:cNvSpPr txBox="1">
            <a:spLocks noChangeArrowheads="1"/>
          </p:cNvSpPr>
          <p:nvPr/>
        </p:nvSpPr>
        <p:spPr bwMode="gray">
          <a:xfrm>
            <a:off x="979487" y="304800"/>
            <a:ext cx="468313" cy="152400"/>
          </a:xfrm>
          <a:prstGeom prst="rect">
            <a:avLst/>
          </a:prstGeom>
          <a:noFill/>
          <a:ln w="9525" algn="ctr">
            <a:noFill/>
            <a:miter lim="800000"/>
            <a:headEnd type="none" w="sm" len="sm"/>
            <a:tailEnd type="none" w="sm" len="sm"/>
          </a:ln>
        </p:spPr>
        <p:txBody>
          <a:bodyPr wrap="square" lIns="26118" tIns="0" rIns="0" bIns="0">
            <a:spAutoFit/>
          </a:bodyPr>
          <a:lstStyle/>
          <a:p>
            <a:pPr defTabSz="514350" eaLnBrk="0" hangingPunct="0"/>
            <a:r>
              <a:rPr lang="en-US" sz="500" dirty="0">
                <a:solidFill>
                  <a:srgbClr val="000000"/>
                </a:solidFill>
                <a:latin typeface="EYInterstate"/>
                <a:cs typeface="+mn-cs"/>
              </a:rPr>
              <a:t>Envisioning Commences</a:t>
            </a:r>
            <a:endParaRPr lang="en-US" sz="500" dirty="0">
              <a:solidFill>
                <a:srgbClr val="808080"/>
              </a:solidFill>
              <a:latin typeface="EYInterstate"/>
              <a:cs typeface="+mn-cs"/>
            </a:endParaRPr>
          </a:p>
        </p:txBody>
      </p:sp>
      <p:sp>
        <p:nvSpPr>
          <p:cNvPr id="31945" name="Line 125"/>
          <p:cNvSpPr>
            <a:spLocks noChangeShapeType="1"/>
          </p:cNvSpPr>
          <p:nvPr/>
        </p:nvSpPr>
        <p:spPr bwMode="gray">
          <a:xfrm flipV="1">
            <a:off x="2438400" y="457200"/>
            <a:ext cx="0" cy="1524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31946" name="Text Box 126"/>
          <p:cNvSpPr txBox="1">
            <a:spLocks noChangeArrowheads="1"/>
          </p:cNvSpPr>
          <p:nvPr/>
        </p:nvSpPr>
        <p:spPr bwMode="gray">
          <a:xfrm>
            <a:off x="2286000" y="304800"/>
            <a:ext cx="381000" cy="230832"/>
          </a:xfrm>
          <a:prstGeom prst="rect">
            <a:avLst/>
          </a:prstGeom>
          <a:noFill/>
          <a:ln w="9525" algn="ctr">
            <a:noFill/>
            <a:miter lim="800000"/>
            <a:headEnd type="none" w="sm" len="sm"/>
            <a:tailEnd type="none" w="sm" len="sm"/>
          </a:ln>
        </p:spPr>
        <p:txBody>
          <a:bodyPr wrap="square" lIns="26118" tIns="0" rIns="0" bIns="0">
            <a:spAutoFit/>
          </a:bodyPr>
          <a:lstStyle/>
          <a:p>
            <a:pPr defTabSz="514350" eaLnBrk="0" hangingPunct="0"/>
            <a:r>
              <a:rPr lang="en-US" sz="500" dirty="0" smtClean="0">
                <a:solidFill>
                  <a:srgbClr val="000000"/>
                </a:solidFill>
                <a:latin typeface="EYInterstate"/>
                <a:cs typeface="+mn-cs"/>
              </a:rPr>
              <a:t>MSFT </a:t>
            </a:r>
          </a:p>
          <a:p>
            <a:pPr defTabSz="514350" eaLnBrk="0" hangingPunct="0"/>
            <a:r>
              <a:rPr lang="en-US" sz="500" dirty="0" smtClean="0">
                <a:solidFill>
                  <a:srgbClr val="000000"/>
                </a:solidFill>
                <a:latin typeface="EYInterstate"/>
                <a:cs typeface="+mn-cs"/>
              </a:rPr>
              <a:t>Planning</a:t>
            </a:r>
          </a:p>
          <a:p>
            <a:pPr defTabSz="514350" eaLnBrk="0" hangingPunct="0"/>
            <a:r>
              <a:rPr lang="en-US" sz="500" dirty="0" smtClean="0">
                <a:solidFill>
                  <a:srgbClr val="000000"/>
                </a:solidFill>
                <a:latin typeface="EYInterstate"/>
                <a:cs typeface="+mn-cs"/>
              </a:rPr>
              <a:t>Start</a:t>
            </a:r>
            <a:endParaRPr lang="en-US" sz="500" dirty="0">
              <a:solidFill>
                <a:srgbClr val="808080"/>
              </a:solidFill>
              <a:latin typeface="EYInterstate"/>
              <a:cs typeface="+mn-cs"/>
            </a:endParaRPr>
          </a:p>
        </p:txBody>
      </p:sp>
      <p:sp>
        <p:nvSpPr>
          <p:cNvPr id="67" name="Rectangle 183"/>
          <p:cNvSpPr txBox="1">
            <a:spLocks noChangeArrowheads="1"/>
          </p:cNvSpPr>
          <p:nvPr/>
        </p:nvSpPr>
        <p:spPr bwMode="gray">
          <a:xfrm>
            <a:off x="152400" y="0"/>
            <a:ext cx="7620000" cy="338554"/>
          </a:xfrm>
          <a:prstGeom prst="rect">
            <a:avLst/>
          </a:prstGeom>
        </p:spPr>
        <p:txBody>
          <a:bodyPr wrap="square">
            <a:spAutoFit/>
          </a:bodyPr>
          <a:lstStyle/>
          <a:p>
            <a:pPr algn="l" defTabSz="955675" eaLnBrk="0" hangingPunct="0">
              <a:spcAft>
                <a:spcPts val="0"/>
              </a:spcAft>
              <a:defRPr/>
            </a:pPr>
            <a:r>
              <a:rPr lang="en-US" sz="1600" b="1" kern="0" dirty="0" smtClean="0">
                <a:solidFill>
                  <a:srgbClr val="646464"/>
                </a:solidFill>
                <a:latin typeface="EYInterstate"/>
                <a:cs typeface="+mn-cs"/>
              </a:rPr>
              <a:t>R19913 – Unified Communications – </a:t>
            </a:r>
            <a:r>
              <a:rPr lang="en-US" sz="1600" b="1" kern="0" dirty="0" smtClean="0">
                <a:solidFill>
                  <a:srgbClr val="646464"/>
                </a:solidFill>
                <a:latin typeface="EYInterstate"/>
              </a:rPr>
              <a:t>Rewa Bouji</a:t>
            </a:r>
            <a:endParaRPr lang="en-US" sz="1400" kern="0" dirty="0">
              <a:solidFill>
                <a:srgbClr val="646464"/>
              </a:solidFill>
              <a:latin typeface="EYInterstate"/>
              <a:cs typeface="+mn-cs"/>
            </a:endParaRPr>
          </a:p>
        </p:txBody>
      </p:sp>
      <p:sp>
        <p:nvSpPr>
          <p:cNvPr id="57" name="Line 125"/>
          <p:cNvSpPr>
            <a:spLocks noChangeShapeType="1"/>
          </p:cNvSpPr>
          <p:nvPr/>
        </p:nvSpPr>
        <p:spPr bwMode="gray">
          <a:xfrm flipV="1">
            <a:off x="4419600" y="533400"/>
            <a:ext cx="0" cy="1524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58" name="Text Box 126"/>
          <p:cNvSpPr txBox="1">
            <a:spLocks noChangeArrowheads="1"/>
          </p:cNvSpPr>
          <p:nvPr/>
        </p:nvSpPr>
        <p:spPr bwMode="gray">
          <a:xfrm>
            <a:off x="4268787" y="441067"/>
            <a:ext cx="684213" cy="76944"/>
          </a:xfrm>
          <a:prstGeom prst="rect">
            <a:avLst/>
          </a:prstGeom>
          <a:noFill/>
          <a:ln w="9525" algn="ctr">
            <a:noFill/>
            <a:miter lim="800000"/>
            <a:headEnd type="none" w="sm" len="sm"/>
            <a:tailEnd type="none" w="sm" len="sm"/>
          </a:ln>
        </p:spPr>
        <p:txBody>
          <a:bodyPr lIns="26118" tIns="0" rIns="0" bIns="0">
            <a:spAutoFit/>
          </a:bodyPr>
          <a:lstStyle/>
          <a:p>
            <a:pPr defTabSz="514350" eaLnBrk="0" hangingPunct="0"/>
            <a:r>
              <a:rPr lang="en-US" sz="500" dirty="0" smtClean="0">
                <a:solidFill>
                  <a:srgbClr val="000000"/>
                </a:solidFill>
                <a:latin typeface="EYInterstate"/>
                <a:cs typeface="+mn-cs"/>
              </a:rPr>
              <a:t>MMD live</a:t>
            </a:r>
            <a:endParaRPr lang="en-US" sz="500" dirty="0">
              <a:solidFill>
                <a:srgbClr val="808080"/>
              </a:solidFill>
              <a:latin typeface="EYInterstate"/>
              <a:cs typeface="+mn-cs"/>
            </a:endParaRPr>
          </a:p>
        </p:txBody>
      </p:sp>
      <p:sp>
        <p:nvSpPr>
          <p:cNvPr id="59" name="Line 125"/>
          <p:cNvSpPr>
            <a:spLocks noChangeShapeType="1"/>
          </p:cNvSpPr>
          <p:nvPr/>
        </p:nvSpPr>
        <p:spPr bwMode="gray">
          <a:xfrm flipV="1">
            <a:off x="5181600" y="685800"/>
            <a:ext cx="0" cy="1524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61" name="Text Box 95"/>
          <p:cNvSpPr txBox="1">
            <a:spLocks noChangeArrowheads="1"/>
          </p:cNvSpPr>
          <p:nvPr/>
        </p:nvSpPr>
        <p:spPr bwMode="gray">
          <a:xfrm>
            <a:off x="6248400" y="609600"/>
            <a:ext cx="150682" cy="61555"/>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dirty="0" smtClean="0">
                <a:solidFill>
                  <a:srgbClr val="000000"/>
                </a:solidFill>
                <a:latin typeface="EYInterstate Light" pitchFamily="2" charset="0"/>
                <a:cs typeface="+mn-cs"/>
              </a:rPr>
              <a:t>Jul 12</a:t>
            </a:r>
            <a:endParaRPr lang="en-US" sz="400" b="1" dirty="0">
              <a:solidFill>
                <a:srgbClr val="000000"/>
              </a:solidFill>
              <a:latin typeface="EYInterstate Light" pitchFamily="2" charset="0"/>
              <a:cs typeface="+mn-cs"/>
            </a:endParaRPr>
          </a:p>
        </p:txBody>
      </p:sp>
      <p:sp>
        <p:nvSpPr>
          <p:cNvPr id="62" name="Text Box 95"/>
          <p:cNvSpPr txBox="1">
            <a:spLocks noChangeArrowheads="1"/>
          </p:cNvSpPr>
          <p:nvPr/>
        </p:nvSpPr>
        <p:spPr bwMode="gray">
          <a:xfrm>
            <a:off x="6553200" y="609600"/>
            <a:ext cx="173124" cy="61555"/>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dirty="0" smtClean="0">
                <a:solidFill>
                  <a:srgbClr val="000000"/>
                </a:solidFill>
                <a:latin typeface="EYInterstate Light" pitchFamily="2" charset="0"/>
                <a:cs typeface="+mn-cs"/>
              </a:rPr>
              <a:t>Aug 12</a:t>
            </a:r>
            <a:endParaRPr lang="en-US" sz="400" b="1" dirty="0">
              <a:solidFill>
                <a:srgbClr val="000000"/>
              </a:solidFill>
              <a:latin typeface="EYInterstate Light" pitchFamily="2" charset="0"/>
              <a:cs typeface="+mn-cs"/>
            </a:endParaRPr>
          </a:p>
        </p:txBody>
      </p:sp>
      <p:sp>
        <p:nvSpPr>
          <p:cNvPr id="63" name="Line 125"/>
          <p:cNvSpPr>
            <a:spLocks noChangeShapeType="1"/>
          </p:cNvSpPr>
          <p:nvPr/>
        </p:nvSpPr>
        <p:spPr bwMode="gray">
          <a:xfrm flipV="1">
            <a:off x="5562600" y="533400"/>
            <a:ext cx="0" cy="1524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64" name="Text Box 126"/>
          <p:cNvSpPr txBox="1">
            <a:spLocks noChangeArrowheads="1"/>
          </p:cNvSpPr>
          <p:nvPr/>
        </p:nvSpPr>
        <p:spPr bwMode="gray">
          <a:xfrm>
            <a:off x="5105400" y="454968"/>
            <a:ext cx="379413" cy="230832"/>
          </a:xfrm>
          <a:prstGeom prst="rect">
            <a:avLst/>
          </a:prstGeom>
          <a:noFill/>
          <a:ln w="9525" algn="ctr">
            <a:noFill/>
            <a:miter lim="800000"/>
            <a:headEnd type="none" w="sm" len="sm"/>
            <a:tailEnd type="none" w="sm" len="sm"/>
          </a:ln>
        </p:spPr>
        <p:txBody>
          <a:bodyPr wrap="square" lIns="26118" tIns="0" rIns="0" bIns="0">
            <a:spAutoFit/>
          </a:bodyPr>
          <a:lstStyle/>
          <a:p>
            <a:pPr defTabSz="514350" eaLnBrk="0" hangingPunct="0"/>
            <a:r>
              <a:rPr lang="en-US" sz="500" dirty="0" err="1" smtClean="0">
                <a:solidFill>
                  <a:srgbClr val="000000"/>
                </a:solidFill>
                <a:latin typeface="EYInterstate"/>
                <a:cs typeface="+mn-cs"/>
              </a:rPr>
              <a:t>Lync</a:t>
            </a:r>
            <a:r>
              <a:rPr lang="en-US" sz="500" dirty="0" smtClean="0">
                <a:solidFill>
                  <a:srgbClr val="000000"/>
                </a:solidFill>
                <a:latin typeface="EYInterstate"/>
                <a:cs typeface="+mn-cs"/>
              </a:rPr>
              <a:t> </a:t>
            </a:r>
          </a:p>
          <a:p>
            <a:pPr defTabSz="514350" eaLnBrk="0" hangingPunct="0"/>
            <a:r>
              <a:rPr lang="en-US" sz="500" dirty="0" smtClean="0">
                <a:solidFill>
                  <a:srgbClr val="000000"/>
                </a:solidFill>
                <a:latin typeface="EYInterstate"/>
                <a:cs typeface="+mn-cs"/>
              </a:rPr>
              <a:t>UAT </a:t>
            </a:r>
          </a:p>
          <a:p>
            <a:pPr defTabSz="514350" eaLnBrk="0" hangingPunct="0"/>
            <a:r>
              <a:rPr lang="en-US" sz="500" dirty="0" smtClean="0">
                <a:solidFill>
                  <a:srgbClr val="000000"/>
                </a:solidFill>
                <a:latin typeface="EYInterstate"/>
                <a:cs typeface="+mn-cs"/>
              </a:rPr>
              <a:t>End</a:t>
            </a:r>
            <a:endParaRPr lang="en-US" sz="500" dirty="0">
              <a:solidFill>
                <a:srgbClr val="808080"/>
              </a:solidFill>
              <a:latin typeface="EYInterstate"/>
              <a:cs typeface="+mn-cs"/>
            </a:endParaRPr>
          </a:p>
        </p:txBody>
      </p:sp>
      <p:sp>
        <p:nvSpPr>
          <p:cNvPr id="65" name="Text Box 94"/>
          <p:cNvSpPr txBox="1">
            <a:spLocks noChangeArrowheads="1"/>
          </p:cNvSpPr>
          <p:nvPr/>
        </p:nvSpPr>
        <p:spPr bwMode="gray">
          <a:xfrm>
            <a:off x="5867400" y="628649"/>
            <a:ext cx="166712" cy="61555"/>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dirty="0" smtClean="0">
                <a:solidFill>
                  <a:srgbClr val="000000"/>
                </a:solidFill>
                <a:latin typeface="EYInterstate Light" pitchFamily="2" charset="0"/>
                <a:cs typeface="+mn-cs"/>
              </a:rPr>
              <a:t>Jun 12</a:t>
            </a:r>
            <a:endParaRPr lang="en-US" sz="400" b="1" dirty="0">
              <a:solidFill>
                <a:srgbClr val="000000"/>
              </a:solidFill>
              <a:latin typeface="EYInterstate Light" pitchFamily="2" charset="0"/>
              <a:cs typeface="+mn-cs"/>
            </a:endParaRPr>
          </a:p>
        </p:txBody>
      </p:sp>
      <p:sp>
        <p:nvSpPr>
          <p:cNvPr id="66" name="Text Box 126"/>
          <p:cNvSpPr txBox="1">
            <a:spLocks noChangeArrowheads="1"/>
          </p:cNvSpPr>
          <p:nvPr/>
        </p:nvSpPr>
        <p:spPr bwMode="gray">
          <a:xfrm>
            <a:off x="5486400" y="304800"/>
            <a:ext cx="379413" cy="230832"/>
          </a:xfrm>
          <a:prstGeom prst="rect">
            <a:avLst/>
          </a:prstGeom>
          <a:noFill/>
          <a:ln w="9525" algn="ctr">
            <a:noFill/>
            <a:miter lim="800000"/>
            <a:headEnd type="none" w="sm" len="sm"/>
            <a:tailEnd type="none" w="sm" len="sm"/>
          </a:ln>
        </p:spPr>
        <p:txBody>
          <a:bodyPr wrap="square" lIns="26118" tIns="0" rIns="0" bIns="0">
            <a:spAutoFit/>
          </a:bodyPr>
          <a:lstStyle/>
          <a:p>
            <a:pPr defTabSz="514350" eaLnBrk="0" hangingPunct="0"/>
            <a:r>
              <a:rPr lang="en-US" sz="500" dirty="0" err="1" smtClean="0">
                <a:solidFill>
                  <a:srgbClr val="000000"/>
                </a:solidFill>
                <a:latin typeface="EYInterstate"/>
                <a:cs typeface="+mn-cs"/>
              </a:rPr>
              <a:t>Lync</a:t>
            </a:r>
            <a:r>
              <a:rPr lang="en-US" sz="500" dirty="0" smtClean="0">
                <a:solidFill>
                  <a:srgbClr val="000000"/>
                </a:solidFill>
                <a:latin typeface="EYInterstate"/>
                <a:cs typeface="+mn-cs"/>
              </a:rPr>
              <a:t> </a:t>
            </a:r>
          </a:p>
          <a:p>
            <a:pPr defTabSz="514350" eaLnBrk="0" hangingPunct="0"/>
            <a:r>
              <a:rPr lang="en-US" sz="500" dirty="0" smtClean="0">
                <a:solidFill>
                  <a:srgbClr val="000000"/>
                </a:solidFill>
                <a:latin typeface="EYInterstate"/>
                <a:cs typeface="+mn-cs"/>
              </a:rPr>
              <a:t>Pilot </a:t>
            </a:r>
          </a:p>
          <a:p>
            <a:pPr defTabSz="514350" eaLnBrk="0" hangingPunct="0"/>
            <a:r>
              <a:rPr lang="en-US" sz="500" dirty="0" smtClean="0">
                <a:solidFill>
                  <a:srgbClr val="000000"/>
                </a:solidFill>
                <a:latin typeface="EYInterstate"/>
                <a:cs typeface="+mn-cs"/>
              </a:rPr>
              <a:t>End</a:t>
            </a:r>
            <a:endParaRPr lang="en-US" sz="500" dirty="0">
              <a:solidFill>
                <a:srgbClr val="808080"/>
              </a:solidFill>
              <a:latin typeface="EYInterstate"/>
              <a:cs typeface="+mn-cs"/>
            </a:endParaRPr>
          </a:p>
        </p:txBody>
      </p:sp>
      <p:sp>
        <p:nvSpPr>
          <p:cNvPr id="68" name="Line 125"/>
          <p:cNvSpPr>
            <a:spLocks noChangeShapeType="1"/>
          </p:cNvSpPr>
          <p:nvPr/>
        </p:nvSpPr>
        <p:spPr bwMode="gray">
          <a:xfrm flipV="1">
            <a:off x="6248400" y="609600"/>
            <a:ext cx="0" cy="1524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69" name="Line 75"/>
          <p:cNvSpPr>
            <a:spLocks noChangeShapeType="1"/>
          </p:cNvSpPr>
          <p:nvPr/>
        </p:nvSpPr>
        <p:spPr bwMode="gray">
          <a:xfrm>
            <a:off x="6629400" y="6858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70" name="Line 75"/>
          <p:cNvSpPr>
            <a:spLocks noChangeShapeType="1"/>
          </p:cNvSpPr>
          <p:nvPr/>
        </p:nvSpPr>
        <p:spPr bwMode="gray">
          <a:xfrm>
            <a:off x="2819400" y="68897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72" name="Line 125"/>
          <p:cNvSpPr>
            <a:spLocks noChangeShapeType="1"/>
          </p:cNvSpPr>
          <p:nvPr/>
        </p:nvSpPr>
        <p:spPr bwMode="gray">
          <a:xfrm flipV="1">
            <a:off x="6553200" y="457200"/>
            <a:ext cx="0" cy="1524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73" name="Text Box 126"/>
          <p:cNvSpPr txBox="1">
            <a:spLocks noChangeArrowheads="1"/>
          </p:cNvSpPr>
          <p:nvPr/>
        </p:nvSpPr>
        <p:spPr bwMode="gray">
          <a:xfrm>
            <a:off x="6400800" y="304800"/>
            <a:ext cx="380999" cy="153888"/>
          </a:xfrm>
          <a:prstGeom prst="rect">
            <a:avLst/>
          </a:prstGeom>
          <a:noFill/>
          <a:ln w="9525" algn="ctr">
            <a:noFill/>
            <a:miter lim="800000"/>
            <a:headEnd type="none" w="sm" len="sm"/>
            <a:tailEnd type="none" w="sm" len="sm"/>
          </a:ln>
        </p:spPr>
        <p:txBody>
          <a:bodyPr wrap="square" lIns="26118" tIns="0" rIns="0" bIns="0">
            <a:spAutoFit/>
          </a:bodyPr>
          <a:lstStyle/>
          <a:p>
            <a:pPr defTabSz="514350" eaLnBrk="0" hangingPunct="0"/>
            <a:r>
              <a:rPr lang="en-US" sz="500" dirty="0" smtClean="0">
                <a:solidFill>
                  <a:srgbClr val="000000"/>
                </a:solidFill>
                <a:latin typeface="EYInterstate"/>
                <a:cs typeface="+mn-cs"/>
              </a:rPr>
              <a:t>Outlook UAT End</a:t>
            </a:r>
            <a:endParaRPr lang="en-US" sz="500" dirty="0">
              <a:solidFill>
                <a:srgbClr val="808080"/>
              </a:solidFill>
              <a:latin typeface="EYInterstate"/>
              <a:cs typeface="+mn-cs"/>
            </a:endParaRPr>
          </a:p>
        </p:txBody>
      </p:sp>
      <p:sp>
        <p:nvSpPr>
          <p:cNvPr id="75" name="Line 125"/>
          <p:cNvSpPr>
            <a:spLocks noChangeShapeType="1"/>
          </p:cNvSpPr>
          <p:nvPr/>
        </p:nvSpPr>
        <p:spPr bwMode="gray">
          <a:xfrm flipV="1">
            <a:off x="6934199" y="457200"/>
            <a:ext cx="0" cy="1524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76" name="Text Box 126"/>
          <p:cNvSpPr txBox="1">
            <a:spLocks noChangeArrowheads="1"/>
          </p:cNvSpPr>
          <p:nvPr/>
        </p:nvSpPr>
        <p:spPr bwMode="gray">
          <a:xfrm>
            <a:off x="6019800" y="302568"/>
            <a:ext cx="381000" cy="307777"/>
          </a:xfrm>
          <a:prstGeom prst="rect">
            <a:avLst/>
          </a:prstGeom>
          <a:noFill/>
          <a:ln w="9525" algn="ctr">
            <a:noFill/>
            <a:miter lim="800000"/>
            <a:headEnd type="none" w="sm" len="sm"/>
            <a:tailEnd type="none" w="sm" len="sm"/>
          </a:ln>
        </p:spPr>
        <p:txBody>
          <a:bodyPr wrap="square" lIns="26118" tIns="0" rIns="0" bIns="0">
            <a:spAutoFit/>
          </a:bodyPr>
          <a:lstStyle/>
          <a:p>
            <a:pPr defTabSz="514350" eaLnBrk="0" hangingPunct="0"/>
            <a:r>
              <a:rPr lang="en-US" sz="500" dirty="0" err="1" smtClean="0">
                <a:solidFill>
                  <a:srgbClr val="000000"/>
                </a:solidFill>
                <a:latin typeface="EYInterstate"/>
                <a:cs typeface="+mn-cs"/>
              </a:rPr>
              <a:t>Lync</a:t>
            </a:r>
            <a:endParaRPr lang="en-US" sz="500" dirty="0" smtClean="0">
              <a:solidFill>
                <a:srgbClr val="000000"/>
              </a:solidFill>
              <a:latin typeface="EYInterstate"/>
              <a:cs typeface="+mn-cs"/>
            </a:endParaRPr>
          </a:p>
          <a:p>
            <a:pPr defTabSz="514350" eaLnBrk="0" hangingPunct="0"/>
            <a:r>
              <a:rPr lang="en-US" sz="500" dirty="0" smtClean="0">
                <a:solidFill>
                  <a:srgbClr val="000000"/>
                </a:solidFill>
                <a:latin typeface="EYInterstate"/>
                <a:cs typeface="+mn-cs"/>
              </a:rPr>
              <a:t>Deploy</a:t>
            </a:r>
          </a:p>
          <a:p>
            <a:pPr defTabSz="514350" eaLnBrk="0" hangingPunct="0"/>
            <a:r>
              <a:rPr lang="en-US" sz="500" dirty="0" err="1" smtClean="0">
                <a:solidFill>
                  <a:srgbClr val="000000"/>
                </a:solidFill>
                <a:latin typeface="EYInterstate"/>
                <a:cs typeface="+mn-cs"/>
              </a:rPr>
              <a:t>ment</a:t>
            </a:r>
            <a:r>
              <a:rPr lang="en-US" sz="500" dirty="0" smtClean="0">
                <a:solidFill>
                  <a:srgbClr val="000000"/>
                </a:solidFill>
                <a:latin typeface="EYInterstate"/>
                <a:cs typeface="+mn-cs"/>
              </a:rPr>
              <a:t> </a:t>
            </a:r>
          </a:p>
          <a:p>
            <a:pPr defTabSz="514350" eaLnBrk="0" hangingPunct="0"/>
            <a:r>
              <a:rPr lang="en-US" sz="500" dirty="0" smtClean="0">
                <a:solidFill>
                  <a:srgbClr val="000000"/>
                </a:solidFill>
                <a:latin typeface="EYInterstate"/>
                <a:cs typeface="+mn-cs"/>
              </a:rPr>
              <a:t>Start</a:t>
            </a:r>
            <a:endParaRPr lang="en-US" sz="500" dirty="0">
              <a:solidFill>
                <a:srgbClr val="808080"/>
              </a:solidFill>
              <a:latin typeface="EYInterstate"/>
              <a:cs typeface="+mn-cs"/>
            </a:endParaRPr>
          </a:p>
        </p:txBody>
      </p:sp>
      <p:sp>
        <p:nvSpPr>
          <p:cNvPr id="78" name="Line 125"/>
          <p:cNvSpPr>
            <a:spLocks noChangeShapeType="1"/>
          </p:cNvSpPr>
          <p:nvPr/>
        </p:nvSpPr>
        <p:spPr bwMode="gray">
          <a:xfrm flipV="1">
            <a:off x="7467600" y="685800"/>
            <a:ext cx="0" cy="1524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79" name="Line 125"/>
          <p:cNvSpPr>
            <a:spLocks noChangeShapeType="1"/>
          </p:cNvSpPr>
          <p:nvPr/>
        </p:nvSpPr>
        <p:spPr bwMode="gray">
          <a:xfrm flipV="1">
            <a:off x="3363913" y="473333"/>
            <a:ext cx="0" cy="1524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80" name="Text Box 126"/>
          <p:cNvSpPr txBox="1">
            <a:spLocks noChangeArrowheads="1"/>
          </p:cNvSpPr>
          <p:nvPr/>
        </p:nvSpPr>
        <p:spPr bwMode="gray">
          <a:xfrm>
            <a:off x="3289300" y="304800"/>
            <a:ext cx="684213" cy="153888"/>
          </a:xfrm>
          <a:prstGeom prst="rect">
            <a:avLst/>
          </a:prstGeom>
          <a:noFill/>
          <a:ln w="9525" algn="ctr">
            <a:noFill/>
            <a:miter lim="800000"/>
            <a:headEnd type="none" w="sm" len="sm"/>
            <a:tailEnd type="none" w="sm" len="sm"/>
          </a:ln>
        </p:spPr>
        <p:txBody>
          <a:bodyPr lIns="26118" tIns="0" rIns="0" bIns="0">
            <a:spAutoFit/>
          </a:bodyPr>
          <a:lstStyle/>
          <a:p>
            <a:pPr defTabSz="514350" eaLnBrk="0" hangingPunct="0"/>
            <a:r>
              <a:rPr lang="en-US" sz="500" dirty="0" smtClean="0">
                <a:solidFill>
                  <a:srgbClr val="000000"/>
                </a:solidFill>
                <a:latin typeface="EYInterstate"/>
                <a:cs typeface="+mn-cs"/>
              </a:rPr>
              <a:t>MMD </a:t>
            </a:r>
          </a:p>
          <a:p>
            <a:pPr defTabSz="514350" eaLnBrk="0" hangingPunct="0"/>
            <a:r>
              <a:rPr lang="en-US" sz="500" dirty="0" smtClean="0">
                <a:solidFill>
                  <a:srgbClr val="000000"/>
                </a:solidFill>
                <a:latin typeface="EYInterstate"/>
                <a:cs typeface="+mn-cs"/>
              </a:rPr>
              <a:t>build</a:t>
            </a:r>
            <a:endParaRPr lang="en-US" sz="500" dirty="0">
              <a:solidFill>
                <a:srgbClr val="808080"/>
              </a:solidFill>
              <a:latin typeface="EYInterstate"/>
              <a:cs typeface="+mn-cs"/>
            </a:endParaRPr>
          </a:p>
        </p:txBody>
      </p:sp>
      <p:sp>
        <p:nvSpPr>
          <p:cNvPr id="85" name="Line 125"/>
          <p:cNvSpPr>
            <a:spLocks noChangeShapeType="1"/>
          </p:cNvSpPr>
          <p:nvPr/>
        </p:nvSpPr>
        <p:spPr bwMode="gray">
          <a:xfrm flipV="1">
            <a:off x="4964113" y="457199"/>
            <a:ext cx="0" cy="1524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86" name="Text Box 126"/>
          <p:cNvSpPr txBox="1">
            <a:spLocks noChangeArrowheads="1"/>
          </p:cNvSpPr>
          <p:nvPr/>
        </p:nvSpPr>
        <p:spPr bwMode="gray">
          <a:xfrm>
            <a:off x="4724400" y="304800"/>
            <a:ext cx="684213" cy="153888"/>
          </a:xfrm>
          <a:prstGeom prst="rect">
            <a:avLst/>
          </a:prstGeom>
          <a:noFill/>
          <a:ln w="9525" algn="ctr">
            <a:noFill/>
            <a:miter lim="800000"/>
            <a:headEnd type="none" w="sm" len="sm"/>
            <a:tailEnd type="none" w="sm" len="sm"/>
          </a:ln>
        </p:spPr>
        <p:txBody>
          <a:bodyPr wrap="square" lIns="26118" tIns="0" rIns="0" bIns="0">
            <a:spAutoFit/>
          </a:bodyPr>
          <a:lstStyle/>
          <a:p>
            <a:pPr defTabSz="514350" eaLnBrk="0" hangingPunct="0"/>
            <a:r>
              <a:rPr lang="en-US" sz="500" dirty="0" smtClean="0">
                <a:solidFill>
                  <a:srgbClr val="000000"/>
                </a:solidFill>
                <a:latin typeface="EYInterstate"/>
                <a:cs typeface="+mn-cs"/>
              </a:rPr>
              <a:t>Global Accessories Agreements in place</a:t>
            </a:r>
            <a:endParaRPr lang="en-US" sz="500" dirty="0">
              <a:solidFill>
                <a:srgbClr val="808080"/>
              </a:solidFill>
              <a:latin typeface="EYInterstate"/>
              <a:cs typeface="+mn-cs"/>
            </a:endParaRPr>
          </a:p>
        </p:txBody>
      </p:sp>
      <p:sp>
        <p:nvSpPr>
          <p:cNvPr id="87" name="Line 77"/>
          <p:cNvSpPr>
            <a:spLocks noChangeShapeType="1"/>
          </p:cNvSpPr>
          <p:nvPr/>
        </p:nvSpPr>
        <p:spPr bwMode="gray">
          <a:xfrm>
            <a:off x="1828800" y="6858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88" name="Line 125"/>
          <p:cNvSpPr>
            <a:spLocks noChangeShapeType="1"/>
          </p:cNvSpPr>
          <p:nvPr/>
        </p:nvSpPr>
        <p:spPr bwMode="gray">
          <a:xfrm flipV="1">
            <a:off x="1828800" y="457200"/>
            <a:ext cx="0" cy="1524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89" name="Text Box 126"/>
          <p:cNvSpPr txBox="1">
            <a:spLocks noChangeArrowheads="1"/>
          </p:cNvSpPr>
          <p:nvPr/>
        </p:nvSpPr>
        <p:spPr bwMode="gray">
          <a:xfrm>
            <a:off x="1600200" y="304800"/>
            <a:ext cx="381000" cy="307777"/>
          </a:xfrm>
          <a:prstGeom prst="rect">
            <a:avLst/>
          </a:prstGeom>
          <a:noFill/>
          <a:ln w="9525" algn="ctr">
            <a:noFill/>
            <a:miter lim="800000"/>
            <a:headEnd type="none" w="sm" len="sm"/>
            <a:tailEnd type="none" w="sm" len="sm"/>
          </a:ln>
        </p:spPr>
        <p:txBody>
          <a:bodyPr wrap="square" lIns="26118" tIns="0" rIns="0" bIns="0">
            <a:spAutoFit/>
          </a:bodyPr>
          <a:lstStyle/>
          <a:p>
            <a:pPr defTabSz="514350" eaLnBrk="0" hangingPunct="0"/>
            <a:r>
              <a:rPr lang="en-US" sz="500" dirty="0" smtClean="0">
                <a:solidFill>
                  <a:srgbClr val="000000"/>
                </a:solidFill>
                <a:latin typeface="EYInterstate"/>
                <a:cs typeface="+mn-cs"/>
              </a:rPr>
              <a:t>Managing Sponsors Initiation Event</a:t>
            </a:r>
            <a:endParaRPr lang="en-US" sz="500" dirty="0">
              <a:solidFill>
                <a:srgbClr val="808080"/>
              </a:solidFill>
              <a:latin typeface="EYInterstate"/>
              <a:cs typeface="+mn-cs"/>
            </a:endParaRPr>
          </a:p>
        </p:txBody>
      </p:sp>
      <p:sp>
        <p:nvSpPr>
          <p:cNvPr id="90" name="Line 76"/>
          <p:cNvSpPr>
            <a:spLocks noChangeShapeType="1"/>
          </p:cNvSpPr>
          <p:nvPr/>
        </p:nvSpPr>
        <p:spPr bwMode="gray">
          <a:xfrm>
            <a:off x="8516952" y="68897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77" name="Text Box 126"/>
          <p:cNvSpPr txBox="1">
            <a:spLocks noChangeArrowheads="1"/>
          </p:cNvSpPr>
          <p:nvPr/>
        </p:nvSpPr>
        <p:spPr bwMode="gray">
          <a:xfrm>
            <a:off x="7391401" y="304800"/>
            <a:ext cx="304799" cy="230832"/>
          </a:xfrm>
          <a:prstGeom prst="rect">
            <a:avLst/>
          </a:prstGeom>
          <a:noFill/>
          <a:ln w="9525" algn="ctr">
            <a:noFill/>
            <a:miter lim="800000"/>
            <a:headEnd type="none" w="sm" len="sm"/>
            <a:tailEnd type="none" w="sm" len="sm"/>
          </a:ln>
        </p:spPr>
        <p:txBody>
          <a:bodyPr wrap="square" lIns="26118" tIns="0" rIns="0" bIns="0">
            <a:spAutoFit/>
          </a:bodyPr>
          <a:lstStyle/>
          <a:p>
            <a:pPr defTabSz="514350" eaLnBrk="0" hangingPunct="0"/>
            <a:r>
              <a:rPr lang="en-US" sz="500" dirty="0" smtClean="0">
                <a:solidFill>
                  <a:srgbClr val="000000"/>
                </a:solidFill>
                <a:latin typeface="EYInterstate"/>
                <a:cs typeface="+mn-cs"/>
              </a:rPr>
              <a:t>Outlook Deployment Start</a:t>
            </a:r>
            <a:endParaRPr lang="en-US" sz="500" dirty="0">
              <a:solidFill>
                <a:srgbClr val="808080"/>
              </a:solidFill>
              <a:latin typeface="EYInterstate"/>
              <a:cs typeface="+mn-cs"/>
            </a:endParaRPr>
          </a:p>
        </p:txBody>
      </p:sp>
      <p:sp>
        <p:nvSpPr>
          <p:cNvPr id="91" name="Text Box 95"/>
          <p:cNvSpPr txBox="1">
            <a:spLocks noChangeArrowheads="1"/>
          </p:cNvSpPr>
          <p:nvPr/>
        </p:nvSpPr>
        <p:spPr bwMode="gray">
          <a:xfrm>
            <a:off x="8440682" y="609600"/>
            <a:ext cx="169918" cy="61555"/>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dirty="0" smtClean="0">
                <a:solidFill>
                  <a:srgbClr val="000000"/>
                </a:solidFill>
                <a:latin typeface="EYInterstate Light" pitchFamily="2" charset="0"/>
                <a:cs typeface="+mn-cs"/>
              </a:rPr>
              <a:t>Mar 13</a:t>
            </a:r>
            <a:endParaRPr lang="en-US" sz="400" b="1" dirty="0">
              <a:solidFill>
                <a:srgbClr val="000000"/>
              </a:solidFill>
              <a:latin typeface="EYInterstate Light" pitchFamily="2" charset="0"/>
              <a:cs typeface="+mn-cs"/>
            </a:endParaRPr>
          </a:p>
        </p:txBody>
      </p:sp>
      <p:sp>
        <p:nvSpPr>
          <p:cNvPr id="92" name="Text Box 126"/>
          <p:cNvSpPr txBox="1">
            <a:spLocks noChangeArrowheads="1"/>
          </p:cNvSpPr>
          <p:nvPr/>
        </p:nvSpPr>
        <p:spPr bwMode="gray">
          <a:xfrm>
            <a:off x="6858000" y="302568"/>
            <a:ext cx="380999" cy="230832"/>
          </a:xfrm>
          <a:prstGeom prst="rect">
            <a:avLst/>
          </a:prstGeom>
          <a:noFill/>
          <a:ln w="9525" algn="ctr">
            <a:noFill/>
            <a:miter lim="800000"/>
            <a:headEnd type="none" w="sm" len="sm"/>
            <a:tailEnd type="none" w="sm" len="sm"/>
          </a:ln>
        </p:spPr>
        <p:txBody>
          <a:bodyPr wrap="square" lIns="26118" tIns="0" rIns="0" bIns="0">
            <a:spAutoFit/>
          </a:bodyPr>
          <a:lstStyle/>
          <a:p>
            <a:pPr defTabSz="514350" eaLnBrk="0" hangingPunct="0"/>
            <a:r>
              <a:rPr lang="en-US" sz="500" dirty="0" smtClean="0">
                <a:solidFill>
                  <a:srgbClr val="000000"/>
                </a:solidFill>
                <a:latin typeface="EYInterstate"/>
                <a:cs typeface="+mn-cs"/>
              </a:rPr>
              <a:t>Outlook Pilot </a:t>
            </a:r>
          </a:p>
          <a:p>
            <a:pPr defTabSz="514350" eaLnBrk="0" hangingPunct="0"/>
            <a:r>
              <a:rPr lang="en-US" sz="500" dirty="0" smtClean="0">
                <a:solidFill>
                  <a:srgbClr val="000000"/>
                </a:solidFill>
                <a:latin typeface="EYInterstate"/>
                <a:cs typeface="+mn-cs"/>
              </a:rPr>
              <a:t>End</a:t>
            </a:r>
            <a:endParaRPr lang="en-US" sz="500" dirty="0">
              <a:solidFill>
                <a:srgbClr val="808080"/>
              </a:solidFill>
              <a:latin typeface="EYInterstate"/>
              <a:cs typeface="+mn-cs"/>
            </a:endParaRPr>
          </a:p>
        </p:txBody>
      </p:sp>
      <p:sp>
        <p:nvSpPr>
          <p:cNvPr id="94" name="Text Box 126"/>
          <p:cNvSpPr txBox="1">
            <a:spLocks noChangeArrowheads="1"/>
          </p:cNvSpPr>
          <p:nvPr/>
        </p:nvSpPr>
        <p:spPr bwMode="gray">
          <a:xfrm>
            <a:off x="8153400" y="685800"/>
            <a:ext cx="304799" cy="230832"/>
          </a:xfrm>
          <a:prstGeom prst="rect">
            <a:avLst/>
          </a:prstGeom>
          <a:noFill/>
          <a:ln w="9525" algn="ctr">
            <a:noFill/>
            <a:miter lim="800000"/>
            <a:headEnd type="none" w="sm" len="sm"/>
            <a:tailEnd type="none" w="sm" len="sm"/>
          </a:ln>
        </p:spPr>
        <p:txBody>
          <a:bodyPr wrap="square" lIns="26118" tIns="0" rIns="0" bIns="0">
            <a:spAutoFit/>
          </a:bodyPr>
          <a:lstStyle/>
          <a:p>
            <a:pPr defTabSz="514350" eaLnBrk="0" hangingPunct="0"/>
            <a:r>
              <a:rPr lang="en-US" sz="500" dirty="0" smtClean="0">
                <a:solidFill>
                  <a:srgbClr val="000000"/>
                </a:solidFill>
                <a:latin typeface="EYInterstate"/>
                <a:cs typeface="+mn-cs"/>
              </a:rPr>
              <a:t>Outlook Deployment End</a:t>
            </a:r>
            <a:endParaRPr lang="en-US" sz="500" dirty="0">
              <a:solidFill>
                <a:srgbClr val="808080"/>
              </a:solidFill>
              <a:latin typeface="EYInterstate"/>
              <a:cs typeface="+mn-cs"/>
            </a:endParaRPr>
          </a:p>
        </p:txBody>
      </p:sp>
      <p:sp>
        <p:nvSpPr>
          <p:cNvPr id="95" name="Line 125"/>
          <p:cNvSpPr>
            <a:spLocks noChangeShapeType="1"/>
          </p:cNvSpPr>
          <p:nvPr/>
        </p:nvSpPr>
        <p:spPr bwMode="gray">
          <a:xfrm flipV="1">
            <a:off x="8518498" y="685800"/>
            <a:ext cx="0" cy="1524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96" name="Line 125"/>
          <p:cNvSpPr>
            <a:spLocks noChangeShapeType="1"/>
          </p:cNvSpPr>
          <p:nvPr/>
        </p:nvSpPr>
        <p:spPr bwMode="gray">
          <a:xfrm flipV="1">
            <a:off x="4038600" y="533400"/>
            <a:ext cx="0" cy="1524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97" name="Text Box 126"/>
          <p:cNvSpPr txBox="1">
            <a:spLocks noChangeArrowheads="1"/>
          </p:cNvSpPr>
          <p:nvPr/>
        </p:nvSpPr>
        <p:spPr bwMode="gray">
          <a:xfrm>
            <a:off x="3887787" y="304800"/>
            <a:ext cx="684213" cy="230832"/>
          </a:xfrm>
          <a:prstGeom prst="rect">
            <a:avLst/>
          </a:prstGeom>
          <a:noFill/>
          <a:ln w="9525" algn="ctr">
            <a:noFill/>
            <a:miter lim="800000"/>
            <a:headEnd type="none" w="sm" len="sm"/>
            <a:tailEnd type="none" w="sm" len="sm"/>
          </a:ln>
        </p:spPr>
        <p:txBody>
          <a:bodyPr wrap="square" lIns="26118" tIns="0" rIns="0" bIns="0">
            <a:spAutoFit/>
          </a:bodyPr>
          <a:lstStyle/>
          <a:p>
            <a:pPr defTabSz="514350" eaLnBrk="0" hangingPunct="0"/>
            <a:r>
              <a:rPr lang="en-US" sz="500" dirty="0" err="1" smtClean="0">
                <a:solidFill>
                  <a:srgbClr val="000000"/>
                </a:solidFill>
                <a:latin typeface="EYInterstate"/>
                <a:cs typeface="+mn-cs"/>
              </a:rPr>
              <a:t>Lync</a:t>
            </a:r>
            <a:r>
              <a:rPr lang="en-US" sz="500" dirty="0" smtClean="0">
                <a:solidFill>
                  <a:srgbClr val="000000"/>
                </a:solidFill>
                <a:latin typeface="EYInterstate"/>
                <a:cs typeface="+mn-cs"/>
              </a:rPr>
              <a:t> &amp; Outlook configuration </a:t>
            </a:r>
            <a:r>
              <a:rPr lang="en-US" sz="500" dirty="0" err="1" smtClean="0">
                <a:solidFill>
                  <a:srgbClr val="000000"/>
                </a:solidFill>
                <a:latin typeface="EYInterstate"/>
                <a:cs typeface="+mn-cs"/>
              </a:rPr>
              <a:t>reqa</a:t>
            </a:r>
            <a:r>
              <a:rPr lang="en-US" sz="500" dirty="0" smtClean="0">
                <a:solidFill>
                  <a:srgbClr val="000000"/>
                </a:solidFill>
                <a:latin typeface="EYInterstate"/>
                <a:cs typeface="+mn-cs"/>
              </a:rPr>
              <a:t> complete</a:t>
            </a:r>
            <a:endParaRPr lang="en-US" sz="500" dirty="0">
              <a:solidFill>
                <a:srgbClr val="808080"/>
              </a:solidFill>
              <a:latin typeface="EYInterstate"/>
              <a:cs typeface="+mn-cs"/>
            </a:endParaRPr>
          </a:p>
        </p:txBody>
      </p:sp>
      <p:sp>
        <p:nvSpPr>
          <p:cNvPr id="98" name="Line 82"/>
          <p:cNvSpPr>
            <a:spLocks noChangeShapeType="1"/>
          </p:cNvSpPr>
          <p:nvPr/>
        </p:nvSpPr>
        <p:spPr bwMode="gray">
          <a:xfrm>
            <a:off x="5943600" y="6858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a:solidFill>
                <a:srgbClr val="000000"/>
              </a:solidFill>
              <a:latin typeface="Arial" pitchFamily="34" charset="0"/>
              <a:cs typeface="+mn-cs"/>
            </a:endParaRPr>
          </a:p>
        </p:txBody>
      </p:sp>
      <p:sp>
        <p:nvSpPr>
          <p:cNvPr id="84" name="Text Box 95"/>
          <p:cNvSpPr txBox="1">
            <a:spLocks noChangeArrowheads="1"/>
          </p:cNvSpPr>
          <p:nvPr/>
        </p:nvSpPr>
        <p:spPr bwMode="gray">
          <a:xfrm>
            <a:off x="6936606" y="609600"/>
            <a:ext cx="168316" cy="61555"/>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dirty="0" smtClean="0">
                <a:solidFill>
                  <a:srgbClr val="000000"/>
                </a:solidFill>
                <a:latin typeface="EYInterstate Light" pitchFamily="2" charset="0"/>
                <a:cs typeface="+mn-cs"/>
              </a:rPr>
              <a:t>Sep 12</a:t>
            </a:r>
            <a:endParaRPr lang="en-US" sz="400" b="1" dirty="0">
              <a:solidFill>
                <a:srgbClr val="000000"/>
              </a:solidFill>
              <a:latin typeface="EYInterstate Light" pitchFamily="2" charset="0"/>
              <a:cs typeface="+mn-cs"/>
            </a:endParaRPr>
          </a:p>
        </p:txBody>
      </p:sp>
      <p:sp>
        <p:nvSpPr>
          <p:cNvPr id="99" name="Text Box 95"/>
          <p:cNvSpPr txBox="1">
            <a:spLocks noChangeArrowheads="1"/>
          </p:cNvSpPr>
          <p:nvPr/>
        </p:nvSpPr>
        <p:spPr bwMode="gray">
          <a:xfrm>
            <a:off x="7392200" y="609600"/>
            <a:ext cx="171522" cy="61555"/>
          </a:xfrm>
          <a:prstGeom prst="rect">
            <a:avLst/>
          </a:prstGeom>
          <a:noFill/>
          <a:ln w="9525" algn="ctr">
            <a:noFill/>
            <a:miter lim="800000"/>
            <a:headEnd type="none" w="sm" len="sm"/>
            <a:tailEnd type="none" w="sm" len="sm"/>
          </a:ln>
        </p:spPr>
        <p:txBody>
          <a:bodyPr wrap="none" lIns="0" tIns="0" rIns="0" bIns="0">
            <a:spAutoFit/>
          </a:bodyPr>
          <a:lstStyle/>
          <a:p>
            <a:pPr algn="ctr" defTabSz="514350" eaLnBrk="0" hangingPunct="0"/>
            <a:r>
              <a:rPr lang="en-US" sz="400" b="1" dirty="0" smtClean="0">
                <a:solidFill>
                  <a:srgbClr val="000000"/>
                </a:solidFill>
                <a:latin typeface="EYInterstate Light" pitchFamily="2" charset="0"/>
                <a:cs typeface="+mn-cs"/>
              </a:rPr>
              <a:t>Nov 12</a:t>
            </a:r>
            <a:endParaRPr lang="en-US" sz="400" b="1" dirty="0">
              <a:solidFill>
                <a:srgbClr val="000000"/>
              </a:solidFill>
              <a:latin typeface="EYInterstate Light" pitchFamily="2" charset="0"/>
              <a:cs typeface="+mn-cs"/>
            </a:endParaRPr>
          </a:p>
        </p:txBody>
      </p:sp>
      <p:sp>
        <p:nvSpPr>
          <p:cNvPr id="93" name="TextBox 92"/>
          <p:cNvSpPr txBox="1"/>
          <p:nvPr/>
        </p:nvSpPr>
        <p:spPr>
          <a:xfrm>
            <a:off x="4724400" y="407313"/>
            <a:ext cx="2362200" cy="430887"/>
          </a:xfrm>
          <a:prstGeom prst="rect">
            <a:avLst/>
          </a:prstGeom>
          <a:solidFill>
            <a:schemeClr val="accent3">
              <a:lumMod val="95000"/>
            </a:schemeClr>
          </a:solidFill>
          <a:ln>
            <a:solidFill>
              <a:srgbClr val="FF0000"/>
            </a:solidFill>
            <a:prstDash val="dash"/>
          </a:ln>
        </p:spPr>
        <p:txBody>
          <a:bodyPr wrap="square" rtlCol="0">
            <a:spAutoFit/>
          </a:bodyPr>
          <a:lstStyle/>
          <a:p>
            <a:pPr algn="ctr"/>
            <a:r>
              <a:rPr lang="en-GB" sz="1100" b="1" i="1" dirty="0" smtClean="0"/>
              <a:t>Milestones under review following O365 decision</a:t>
            </a:r>
            <a:endParaRPr lang="en-GB" sz="1100" b="1" i="1"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nvGraphicFramePr>
        <p:xfrm>
          <a:off x="76200" y="2590801"/>
          <a:ext cx="4267200" cy="3809999"/>
        </p:xfrm>
        <a:graphic>
          <a:graphicData uri="http://schemas.openxmlformats.org/drawingml/2006/table">
            <a:tbl>
              <a:tblPr/>
              <a:tblGrid>
                <a:gridCol w="4267200"/>
              </a:tblGrid>
              <a:tr h="134883">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08566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rgbClr val="000000"/>
                          </a:solidFill>
                          <a:effectLst/>
                          <a:latin typeface="EYInterstate Light" pitchFamily="2" charset="0"/>
                          <a:ea typeface="+mn-ea"/>
                          <a:cs typeface="Arial" charset="0"/>
                        </a:rPr>
                        <a:t>ID Sync Functional Spec Reviews inc O365 impacts review to take place on 9</a:t>
                      </a:r>
                      <a:r>
                        <a:rPr kumimoji="0" lang="en-US" sz="600" b="0" i="0" u="none" strike="noStrike" kern="1200" cap="none" normalizeH="0" baseline="30000" dirty="0" smtClean="0">
                          <a:ln>
                            <a:noFill/>
                          </a:ln>
                          <a:solidFill>
                            <a:srgbClr val="000000"/>
                          </a:solidFill>
                          <a:effectLst/>
                          <a:latin typeface="EYInterstate Light" pitchFamily="2" charset="0"/>
                          <a:ea typeface="+mn-ea"/>
                          <a:cs typeface="Arial" charset="0"/>
                        </a:rPr>
                        <a:t>th</a:t>
                      </a:r>
                      <a:r>
                        <a:rPr kumimoji="0" lang="en-US" sz="600" b="0" i="0" u="none" strike="noStrike" kern="1200" cap="none" normalizeH="0" baseline="0" dirty="0" smtClean="0">
                          <a:ln>
                            <a:noFill/>
                          </a:ln>
                          <a:solidFill>
                            <a:srgbClr val="000000"/>
                          </a:solidFill>
                          <a:effectLst/>
                          <a:latin typeface="EYInterstate Light" pitchFamily="2" charset="0"/>
                          <a:ea typeface="+mn-ea"/>
                          <a:cs typeface="Arial" charset="0"/>
                        </a:rPr>
                        <a:t> Feb.</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rgbClr val="000000"/>
                          </a:solidFill>
                          <a:effectLst/>
                          <a:latin typeface="EYInterstate Light" pitchFamily="2" charset="0"/>
                        </a:rPr>
                        <a:t>Group Management Vision &amp; Scope Sign-Off for core team is received.</a:t>
                      </a:r>
                      <a:endParaRPr kumimoji="0" lang="en-US" sz="600" b="0" i="0" u="none" strike="noStrike" kern="1200" cap="none" normalizeH="0" baseline="0" dirty="0" smtClean="0">
                        <a:ln>
                          <a:noFill/>
                        </a:ln>
                        <a:solidFill>
                          <a:srgbClr val="000000"/>
                        </a:solidFill>
                        <a:effectLst/>
                        <a:latin typeface="EYInterstate Light" pitchFamily="2" charset="0"/>
                        <a:ea typeface="+mn-ea"/>
                        <a:cs typeface="Arial"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rgbClr val="000000"/>
                          </a:solidFill>
                          <a:effectLst/>
                          <a:latin typeface="EYInterstate Light" pitchFamily="2" charset="0"/>
                          <a:ea typeface="+mn-ea"/>
                          <a:cs typeface="Arial" charset="0"/>
                        </a:rPr>
                        <a:t>Review/Alignment of Enterprise Inbound-Outbound dependencies has taken place.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rgbClr val="000000"/>
                          </a:solidFill>
                          <a:effectLst/>
                          <a:latin typeface="EYInterstate Light" pitchFamily="2" charset="0"/>
                          <a:ea typeface="+mn-ea"/>
                          <a:cs typeface="Arial" charset="0"/>
                        </a:rPr>
                        <a:t>SP2 confirmation received</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600" b="0" i="0" u="sng" strike="noStrike" cap="none" normalizeH="0" baseline="0" dirty="0" smtClean="0">
                          <a:ln>
                            <a:noFill/>
                          </a:ln>
                          <a:solidFill>
                            <a:schemeClr val="tx1">
                              <a:lumMod val="50000"/>
                            </a:schemeClr>
                          </a:solidFill>
                          <a:effectLst/>
                          <a:latin typeface="EYInterstate Light" pitchFamily="2" charset="0"/>
                        </a:rPr>
                        <a:t>AD  Prep</a:t>
                      </a:r>
                      <a:r>
                        <a:rPr kumimoji="0" lang="en-US" sz="600" b="0" i="0" u="none" strike="noStrike" cap="none" normalizeH="0" baseline="0" dirty="0" smtClean="0">
                          <a:ln>
                            <a:noFill/>
                          </a:ln>
                          <a:solidFill>
                            <a:schemeClr val="tx1">
                              <a:lumMod val="50000"/>
                            </a:schemeClr>
                          </a:solidFill>
                          <a:effectLst/>
                          <a:latin typeface="EYInterstate Light" pitchFamily="2" charset="0"/>
                        </a:rPr>
                        <a:t>; </a:t>
                      </a:r>
                    </a:p>
                    <a:p>
                      <a:pPr lvl="0">
                        <a:buFont typeface="Arial" pitchFamily="34" charset="0"/>
                        <a:buChar char="•"/>
                      </a:pPr>
                      <a:r>
                        <a:rPr kumimoji="0" lang="en-US" sz="600" b="0" i="0" u="none" strike="noStrike" kern="1200" cap="none" normalizeH="0" baseline="0" dirty="0" smtClean="0">
                          <a:ln>
                            <a:noFill/>
                          </a:ln>
                          <a:solidFill>
                            <a:schemeClr val="tx1">
                              <a:lumMod val="50000"/>
                            </a:schemeClr>
                          </a:solidFill>
                          <a:effectLst/>
                          <a:latin typeface="EYInterstate Light" pitchFamily="2" charset="0"/>
                          <a:ea typeface="+mn-ea"/>
                          <a:cs typeface="+mn-cs"/>
                        </a:rPr>
                        <a:t>NTLMV2  Complete</a:t>
                      </a:r>
                    </a:p>
                    <a:p>
                      <a:pPr lvl="0">
                        <a:buFont typeface="Arial" pitchFamily="34" charset="0"/>
                        <a:buChar char="•"/>
                      </a:pPr>
                      <a:r>
                        <a:rPr kumimoji="0" lang="en-US" sz="600" b="0" i="0" u="none" strike="noStrike" kern="1200" cap="none" normalizeH="0" baseline="0" dirty="0" smtClean="0">
                          <a:ln>
                            <a:noFill/>
                          </a:ln>
                          <a:solidFill>
                            <a:schemeClr val="tx1">
                              <a:lumMod val="50000"/>
                            </a:schemeClr>
                          </a:solidFill>
                          <a:effectLst/>
                          <a:latin typeface="EYInterstate Light" pitchFamily="2" charset="0"/>
                          <a:ea typeface="+mn-ea"/>
                          <a:cs typeface="+mn-cs"/>
                        </a:rPr>
                        <a:t>Root Domain complete 3</a:t>
                      </a:r>
                      <a:r>
                        <a:rPr kumimoji="0" lang="en-US" sz="600" b="0" i="0" u="none" strike="noStrike" kern="1200" cap="none" normalizeH="0" baseline="30000" dirty="0" smtClean="0">
                          <a:ln>
                            <a:noFill/>
                          </a:ln>
                          <a:solidFill>
                            <a:schemeClr val="tx1">
                              <a:lumMod val="50000"/>
                            </a:schemeClr>
                          </a:solidFill>
                          <a:effectLst/>
                          <a:latin typeface="EYInterstate Light" pitchFamily="2" charset="0"/>
                          <a:ea typeface="+mn-ea"/>
                          <a:cs typeface="+mn-cs"/>
                        </a:rPr>
                        <a:t>rd</a:t>
                      </a:r>
                      <a:r>
                        <a:rPr kumimoji="0" lang="en-US" sz="600" b="0" i="0" u="none" strike="noStrike" kern="1200" cap="none" normalizeH="0" baseline="0" dirty="0" smtClean="0">
                          <a:ln>
                            <a:noFill/>
                          </a:ln>
                          <a:solidFill>
                            <a:schemeClr val="tx1">
                              <a:lumMod val="50000"/>
                            </a:schemeClr>
                          </a:solidFill>
                          <a:effectLst/>
                          <a:latin typeface="EYInterstate Light" pitchFamily="2" charset="0"/>
                          <a:ea typeface="+mn-ea"/>
                          <a:cs typeface="+mn-cs"/>
                        </a:rPr>
                        <a:t> Feb</a:t>
                      </a:r>
                    </a:p>
                    <a:p>
                      <a:pPr lvl="0">
                        <a:buFont typeface="Arial" pitchFamily="34" charset="0"/>
                        <a:buChar char="•"/>
                      </a:pPr>
                      <a:endParaRPr kumimoji="0" lang="en-US" sz="600" b="1" i="0" u="none" strike="noStrike" kern="1200" cap="none" normalizeH="0" baseline="0" dirty="0" smtClean="0">
                        <a:ln>
                          <a:noFill/>
                        </a:ln>
                        <a:solidFill>
                          <a:schemeClr val="tx1">
                            <a:lumMod val="50000"/>
                          </a:schemeClr>
                        </a:solidFill>
                        <a:effectLst/>
                        <a:latin typeface="EYInterstate Light" pitchFamily="2" charset="0"/>
                        <a:ea typeface="+mn-ea"/>
                        <a:cs typeface="+mn-cs"/>
                      </a:endParaRPr>
                    </a:p>
                    <a:p>
                      <a:pPr lvl="0">
                        <a:buFont typeface="Arial" pitchFamily="34" charset="0"/>
                        <a:buNone/>
                      </a:pPr>
                      <a:endParaRPr kumimoji="0" lang="en-US" sz="600" b="0" i="0" u="sng" strike="noStrike" kern="1200" cap="none" normalizeH="0" baseline="0" dirty="0" smtClean="0">
                        <a:ln>
                          <a:noFill/>
                        </a:ln>
                        <a:solidFill>
                          <a:srgbClr val="FF0000"/>
                        </a:solidFill>
                        <a:effectLst/>
                        <a:latin typeface="EYInterstate Light" pitchFamily="2" charset="0"/>
                        <a:ea typeface="+mn-ea"/>
                        <a:cs typeface="+mn-cs"/>
                      </a:endParaRPr>
                    </a:p>
                    <a:p>
                      <a:pPr lvl="0">
                        <a:buFont typeface="Arial" pitchFamily="34" charset="0"/>
                        <a:buNone/>
                      </a:pPr>
                      <a:r>
                        <a:rPr kumimoji="0" lang="en-US" sz="600" b="0" i="0" u="sng" strike="noStrike" kern="1200" cap="none" normalizeH="0" baseline="0" dirty="0" smtClean="0">
                          <a:ln>
                            <a:noFill/>
                          </a:ln>
                          <a:solidFill>
                            <a:schemeClr val="tx1">
                              <a:lumMod val="50000"/>
                            </a:schemeClr>
                          </a:solidFill>
                          <a:effectLst/>
                          <a:latin typeface="EYInterstate Light" pitchFamily="2" charset="0"/>
                          <a:ea typeface="+mn-ea"/>
                          <a:cs typeface="+mn-cs"/>
                        </a:rPr>
                        <a:t>AD RMS: </a:t>
                      </a:r>
                    </a:p>
                    <a:p>
                      <a:pPr lvl="0">
                        <a:buFont typeface="Arial" pitchFamily="34" charset="0"/>
                        <a:buChar char="•"/>
                      </a:pPr>
                      <a:r>
                        <a:rPr kumimoji="0" lang="en-US" sz="600" b="0" i="0" u="none" strike="noStrike" cap="none" normalizeH="0" baseline="0" dirty="0" smtClean="0">
                          <a:ln>
                            <a:noFill/>
                          </a:ln>
                          <a:solidFill>
                            <a:schemeClr val="tx1">
                              <a:lumMod val="50000"/>
                            </a:schemeClr>
                          </a:solidFill>
                          <a:effectLst/>
                          <a:latin typeface="EYInterstate Light" pitchFamily="2" charset="0"/>
                        </a:rPr>
                        <a:t>Received the SOW from Microsoft – Reviewing and commenting with respect to O365 impact.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9547">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600" b="1" i="0" u="none" strike="noStrike" cap="none" normalizeH="0" baseline="0" dirty="0" smtClean="0">
                          <a:ln>
                            <a:noFill/>
                          </a:ln>
                          <a:solidFill>
                            <a:schemeClr val="tx1"/>
                          </a:solidFill>
                          <a:effectLst/>
                          <a:latin typeface="EYInterstate Light"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1132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lumMod val="50000"/>
                            </a:schemeClr>
                          </a:solidFill>
                          <a:effectLst/>
                          <a:latin typeface="EYInterstate Light" pitchFamily="2" charset="0"/>
                          <a:ea typeface="+mn-ea"/>
                          <a:cs typeface="Arial" charset="0"/>
                        </a:rPr>
                        <a:t>Decision 2010 Schema decision for Exchange is  delaying multiple projects</a:t>
                      </a:r>
                    </a:p>
                    <a:p>
                      <a:pPr marL="542925"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lumMod val="50000"/>
                            </a:schemeClr>
                          </a:solidFill>
                          <a:effectLst/>
                          <a:latin typeface="EYInterstate Light" pitchFamily="2" charset="0"/>
                          <a:ea typeface="+mn-ea"/>
                          <a:cs typeface="Arial" charset="0"/>
                        </a:rPr>
                        <a:t>Confirm Split/Shared permission strategy, due 10</a:t>
                      </a:r>
                      <a:r>
                        <a:rPr kumimoji="0" lang="en-US" sz="600" b="0" i="0" u="none" strike="noStrike" kern="1200" cap="none" normalizeH="0" baseline="30000" dirty="0" smtClean="0">
                          <a:ln>
                            <a:noFill/>
                          </a:ln>
                          <a:solidFill>
                            <a:schemeClr val="tx1">
                              <a:lumMod val="50000"/>
                            </a:schemeClr>
                          </a:solidFill>
                          <a:effectLst/>
                          <a:latin typeface="EYInterstate Light" pitchFamily="2" charset="0"/>
                          <a:ea typeface="+mn-ea"/>
                          <a:cs typeface="Arial" charset="0"/>
                        </a:rPr>
                        <a:t>th</a:t>
                      </a:r>
                      <a:r>
                        <a:rPr kumimoji="0" lang="en-US" sz="600" b="0" i="0" u="none" strike="noStrike" kern="1200" cap="none" normalizeH="0" baseline="0" dirty="0" smtClean="0">
                          <a:ln>
                            <a:noFill/>
                          </a:ln>
                          <a:solidFill>
                            <a:schemeClr val="tx1">
                              <a:lumMod val="50000"/>
                            </a:schemeClr>
                          </a:solidFill>
                          <a:effectLst/>
                          <a:latin typeface="EYInterstate Light" pitchFamily="2" charset="0"/>
                          <a:ea typeface="+mn-ea"/>
                          <a:cs typeface="Arial" charset="0"/>
                        </a:rPr>
                        <a:t> Feb</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lumMod val="50000"/>
                            </a:schemeClr>
                          </a:solidFill>
                          <a:effectLst/>
                          <a:latin typeface="EYInterstate Light" pitchFamily="2" charset="0"/>
                          <a:ea typeface="+mn-ea"/>
                          <a:cs typeface="Arial" charset="0"/>
                        </a:rPr>
                        <a:t>EYDEV Test environment is being delayed due to the delayed decision on Split/Shared permission and SP2. However, as SP2 is now confirmed, and Split/Shared permission decision will be made on the 10</a:t>
                      </a:r>
                      <a:r>
                        <a:rPr kumimoji="0" lang="en-US" sz="600" b="0" i="0" u="none" strike="noStrike" kern="1200" cap="none" normalizeH="0" baseline="30000" dirty="0" smtClean="0">
                          <a:ln>
                            <a:noFill/>
                          </a:ln>
                          <a:solidFill>
                            <a:schemeClr val="tx1">
                              <a:lumMod val="50000"/>
                            </a:schemeClr>
                          </a:solidFill>
                          <a:effectLst/>
                          <a:latin typeface="EYInterstate Light" pitchFamily="2" charset="0"/>
                          <a:ea typeface="+mn-ea"/>
                          <a:cs typeface="Arial" charset="0"/>
                        </a:rPr>
                        <a:t>th</a:t>
                      </a:r>
                      <a:r>
                        <a:rPr kumimoji="0" lang="en-US" sz="600" b="0" i="0" u="none" strike="noStrike" kern="1200" cap="none" normalizeH="0" baseline="0" dirty="0" smtClean="0">
                          <a:ln>
                            <a:noFill/>
                          </a:ln>
                          <a:solidFill>
                            <a:schemeClr val="tx1">
                              <a:lumMod val="50000"/>
                            </a:schemeClr>
                          </a:solidFill>
                          <a:effectLst/>
                          <a:latin typeface="EYInterstate Light" pitchFamily="2" charset="0"/>
                          <a:ea typeface="+mn-ea"/>
                          <a:cs typeface="Arial" charset="0"/>
                        </a:rPr>
                        <a:t> Feb, therefore progress will be able to be made from next week</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rgbClr val="000000"/>
                          </a:solidFill>
                          <a:effectLst/>
                          <a:latin typeface="EYInterstate Light" pitchFamily="2" charset="0"/>
                          <a:cs typeface="Arial" charset="0"/>
                        </a:rPr>
                        <a:t>Sign Off Functional Spec from Microsoft for ID Sync delayed due to O365 impact review</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rgbClr val="000000"/>
                          </a:solidFill>
                          <a:effectLst/>
                          <a:latin typeface="EYInterstate Light" pitchFamily="2" charset="0"/>
                          <a:cs typeface="Arial" charset="0"/>
                        </a:rPr>
                        <a:t>Review impact on ID Sync Vision and Scope doc</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600" b="0" i="0" u="sng" strike="noStrike" kern="1200" cap="none" normalizeH="0" baseline="0" dirty="0" smtClean="0">
                        <a:ln>
                          <a:noFill/>
                        </a:ln>
                        <a:solidFill>
                          <a:schemeClr val="tx1">
                            <a:lumMod val="50000"/>
                          </a:schemeClr>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9547">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smtClean="0">
                          <a:ln>
                            <a:noFill/>
                          </a:ln>
                          <a:solidFill>
                            <a:schemeClr val="tx1"/>
                          </a:solidFill>
                          <a:effectLst/>
                          <a:latin typeface="EYInterstate Light"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23709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rgbClr val="000000"/>
                          </a:solidFill>
                          <a:effectLst/>
                          <a:latin typeface="EYInterstate Light" pitchFamily="2" charset="0"/>
                          <a:cs typeface="Arial" charset="0"/>
                        </a:rPr>
                        <a:t>Continue with “outing” inc Planning/Review of In-Bound and Outbound Dependencies.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rgbClr val="000000"/>
                          </a:solidFill>
                          <a:effectLst/>
                          <a:latin typeface="EYInterstate Light" pitchFamily="2" charset="0"/>
                          <a:cs typeface="Arial" charset="0"/>
                        </a:rPr>
                        <a:t>Confirm Root domain complete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rgbClr val="000000"/>
                          </a:solidFill>
                          <a:effectLst/>
                          <a:latin typeface="EYInterstate Light" pitchFamily="2" charset="0"/>
                          <a:cs typeface="Arial" charset="0"/>
                        </a:rPr>
                        <a:t>Receive confirmation of Shared/Split Permissions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rgbClr val="000000"/>
                          </a:solidFill>
                          <a:effectLst/>
                          <a:latin typeface="EYInterstate Light" pitchFamily="2" charset="0"/>
                          <a:cs typeface="Arial" charset="0"/>
                        </a:rPr>
                        <a:t>Confirm EYDEV timelines for M&amp;C to deliver Lync and Exchange kit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rgbClr val="000000"/>
                          </a:solidFill>
                          <a:effectLst/>
                          <a:latin typeface="EYInterstate Light" pitchFamily="2" charset="0"/>
                          <a:cs typeface="Arial" charset="0"/>
                        </a:rPr>
                        <a:t>Review O365 impacts re ID Sync project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rgbClr val="000000"/>
                          </a:solidFill>
                          <a:effectLst/>
                          <a:latin typeface="EYInterstate Light" pitchFamily="2" charset="0"/>
                          <a:cs typeface="Arial" charset="0"/>
                        </a:rPr>
                        <a:t>Complete Group Management Design workshop</a:t>
                      </a:r>
                    </a:p>
                    <a:p>
                      <a:pPr lvl="0">
                        <a:buFont typeface="Arial" pitchFamily="34" charset="0"/>
                        <a:buNone/>
                      </a:pPr>
                      <a:endParaRPr kumimoji="0" lang="en-US" sz="600" b="0" i="0" u="sng" strike="noStrike" cap="none" normalizeH="0" baseline="0" dirty="0" smtClean="0">
                        <a:ln>
                          <a:noFill/>
                        </a:ln>
                        <a:solidFill>
                          <a:schemeClr val="tx1">
                            <a:lumMod val="50000"/>
                          </a:schemeClr>
                        </a:solidFill>
                        <a:effectLst/>
                        <a:latin typeface="EYInterstate Light" pitchFamily="2" charset="0"/>
                      </a:endParaRPr>
                    </a:p>
                    <a:p>
                      <a:pPr lvl="0">
                        <a:buFont typeface="Arial" pitchFamily="34" charset="0"/>
                        <a:buNone/>
                      </a:pPr>
                      <a:r>
                        <a:rPr kumimoji="0" lang="en-US" sz="600" b="0" i="0" u="sng" strike="noStrike" cap="none" normalizeH="0" baseline="0" dirty="0" smtClean="0">
                          <a:ln>
                            <a:noFill/>
                          </a:ln>
                          <a:solidFill>
                            <a:schemeClr val="tx1">
                              <a:lumMod val="50000"/>
                            </a:schemeClr>
                          </a:solidFill>
                          <a:effectLst/>
                          <a:latin typeface="EYInterstate Light" pitchFamily="2" charset="0"/>
                        </a:rPr>
                        <a:t>AD  Prep</a:t>
                      </a:r>
                      <a:r>
                        <a:rPr kumimoji="0" lang="en-US" sz="600" b="0" i="0" u="none" strike="noStrike" cap="none" normalizeH="0" baseline="0" dirty="0" smtClean="0">
                          <a:ln>
                            <a:noFill/>
                          </a:ln>
                          <a:solidFill>
                            <a:schemeClr val="tx1">
                              <a:lumMod val="50000"/>
                            </a:schemeClr>
                          </a:solidFill>
                          <a:effectLst/>
                          <a:latin typeface="EYInterstate Light" pitchFamily="2" charset="0"/>
                        </a:rPr>
                        <a:t>;</a:t>
                      </a:r>
                      <a:endParaRPr lang="en-US" sz="600" b="0" kern="1200" baseline="0" dirty="0" smtClean="0">
                        <a:solidFill>
                          <a:schemeClr val="tx1">
                            <a:lumMod val="50000"/>
                          </a:schemeClr>
                        </a:solidFill>
                        <a:latin typeface="EYInterstate Light" pitchFamily="2" charset="0"/>
                        <a:ea typeface="+mn-ea"/>
                        <a:cs typeface="+mn-cs"/>
                      </a:endParaRPr>
                    </a:p>
                    <a:p>
                      <a:pPr lvl="0">
                        <a:buFont typeface="Arial" pitchFamily="34" charset="0"/>
                        <a:buChar char="•"/>
                      </a:pPr>
                      <a:r>
                        <a:rPr kumimoji="0" lang="en-US" sz="600" b="0" i="0" u="none" strike="noStrike" cap="none" normalizeH="0" baseline="0" dirty="0" smtClean="0">
                          <a:ln>
                            <a:noFill/>
                          </a:ln>
                          <a:solidFill>
                            <a:schemeClr val="tx1">
                              <a:lumMod val="50000"/>
                            </a:schemeClr>
                          </a:solidFill>
                          <a:effectLst/>
                          <a:latin typeface="EYInterstate Light" pitchFamily="2" charset="0"/>
                        </a:rPr>
                        <a:t>M &amp;C to submit a change request for </a:t>
                      </a:r>
                      <a:r>
                        <a:rPr kumimoji="0" lang="en-US" sz="600" b="0" i="0" u="none" strike="noStrike" kern="1200" cap="none" normalizeH="0" baseline="0" dirty="0" smtClean="0">
                          <a:ln>
                            <a:noFill/>
                          </a:ln>
                          <a:solidFill>
                            <a:schemeClr val="tx1">
                              <a:lumMod val="50000"/>
                            </a:schemeClr>
                          </a:solidFill>
                          <a:effectLst/>
                          <a:latin typeface="EYInterstate Light" pitchFamily="2" charset="0"/>
                          <a:ea typeface="+mn-ea"/>
                          <a:cs typeface="+mn-cs"/>
                        </a:rPr>
                        <a:t>Exchange Schema Version will be 2010 SP2</a:t>
                      </a:r>
                    </a:p>
                    <a:p>
                      <a:pPr lvl="0">
                        <a:buFont typeface="Arial" pitchFamily="34" charset="0"/>
                        <a:buChar char="•"/>
                      </a:pPr>
                      <a:r>
                        <a:rPr kumimoji="0" lang="en-US" sz="600" b="0" i="0" u="none" strike="noStrike" kern="1200" cap="none" normalizeH="0" baseline="0" dirty="0" smtClean="0">
                          <a:ln>
                            <a:noFill/>
                          </a:ln>
                          <a:solidFill>
                            <a:schemeClr val="tx1">
                              <a:lumMod val="50000"/>
                            </a:schemeClr>
                          </a:solidFill>
                          <a:effectLst/>
                          <a:latin typeface="EYInterstate Light" pitchFamily="2" charset="0"/>
                          <a:ea typeface="+mn-ea"/>
                          <a:cs typeface="+mn-cs"/>
                        </a:rPr>
                        <a:t>Prepare draft architectural  AD design to support Exchange</a:t>
                      </a:r>
                      <a:endParaRPr kumimoji="0" lang="en-US" sz="600" b="0" i="0" u="none" strike="noStrike" cap="none" normalizeH="0" baseline="0" dirty="0" smtClean="0">
                        <a:ln>
                          <a:noFill/>
                        </a:ln>
                        <a:solidFill>
                          <a:schemeClr val="tx1">
                            <a:lumMod val="50000"/>
                          </a:schemeClr>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600" b="0" i="0" u="sng" strike="noStrike" cap="none" normalizeH="0" baseline="0" dirty="0" smtClean="0">
                          <a:ln>
                            <a:noFill/>
                          </a:ln>
                          <a:solidFill>
                            <a:schemeClr val="tx1">
                              <a:lumMod val="50000"/>
                            </a:schemeClr>
                          </a:solidFill>
                          <a:effectLst/>
                          <a:latin typeface="EYInterstate Light" pitchFamily="2" charset="0"/>
                        </a:rPr>
                        <a:t>AD RMS: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600" b="0" i="0" u="none" strike="noStrike" cap="none" normalizeH="0" baseline="0" dirty="0" smtClean="0">
                          <a:ln>
                            <a:noFill/>
                          </a:ln>
                          <a:solidFill>
                            <a:schemeClr val="tx1">
                              <a:lumMod val="50000"/>
                            </a:schemeClr>
                          </a:solidFill>
                          <a:effectLst/>
                          <a:latin typeface="EYInterstate Light" pitchFamily="2" charset="0"/>
                        </a:rPr>
                        <a:t> Review SOW from Microsoft, re O365 impact.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nvGraphicFramePr>
        <p:xfrm>
          <a:off x="4419600" y="4343400"/>
          <a:ext cx="4648200" cy="1288842"/>
        </p:xfrm>
        <a:graphic>
          <a:graphicData uri="http://schemas.openxmlformats.org/drawingml/2006/table">
            <a:tbl>
              <a:tblPr/>
              <a:tblGrid>
                <a:gridCol w="2357345"/>
                <a:gridCol w="2290855"/>
              </a:tblGrid>
              <a:tr h="114336">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smtClean="0">
                          <a:ln>
                            <a:noFill/>
                          </a:ln>
                          <a:solidFill>
                            <a:schemeClr val="tx1"/>
                          </a:solidFill>
                          <a:effectLst/>
                          <a:latin typeface="EYInterstate Light"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1433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1"/>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1"/>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44405">
                <a:tc>
                  <a:txBody>
                    <a:bodyPr/>
                    <a:lstStyle/>
                    <a:p>
                      <a:pPr marL="85725" marR="0" lvl="0" indent="-85725" algn="l" defTabSz="947738" rtl="0" eaLnBrk="0" fontAlgn="base" latinLnBrk="0" hangingPunct="0">
                        <a:lnSpc>
                          <a:spcPct val="100000"/>
                        </a:lnSpc>
                        <a:spcBef>
                          <a:spcPct val="0"/>
                        </a:spcBef>
                        <a:spcAft>
                          <a:spcPts val="0"/>
                        </a:spcAft>
                        <a:buClrTx/>
                        <a:buSzTx/>
                        <a:buFont typeface="Arial" pitchFamily="34" charset="0"/>
                        <a:buChar char="•"/>
                        <a:tabLst/>
                        <a:defRPr/>
                      </a:pPr>
                      <a:r>
                        <a:rPr kumimoji="0" lang="en-US" sz="600" b="0" i="0" u="none" strike="noStrike" cap="none" normalizeH="0" baseline="0" dirty="0" smtClean="0">
                          <a:ln>
                            <a:noFill/>
                          </a:ln>
                          <a:solidFill>
                            <a:srgbClr val="000000"/>
                          </a:solidFill>
                          <a:effectLst/>
                          <a:latin typeface="EYInterstate Light" pitchFamily="2" charset="0"/>
                        </a:rPr>
                        <a:t>Application Remediation scope is currently unknown. Need support from Service Delivery Managers.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ts val="0"/>
                        </a:spcAft>
                        <a:buClrTx/>
                        <a:buSzTx/>
                        <a:buFontTx/>
                        <a:buChar char="•"/>
                        <a:tabLst/>
                        <a:defRPr/>
                      </a:pPr>
                      <a:r>
                        <a:rPr kumimoji="0" lang="en-US" sz="600" b="0" i="0" u="none" strike="noStrike" cap="none" normalizeH="0" baseline="0" dirty="0" smtClean="0">
                          <a:ln>
                            <a:noFill/>
                          </a:ln>
                          <a:solidFill>
                            <a:srgbClr val="000000"/>
                          </a:solidFill>
                          <a:effectLst/>
                          <a:latin typeface="EYInterstate Light" pitchFamily="2" charset="0"/>
                        </a:rPr>
                        <a:t>Raised weekly on the RAID call. IAM management have prepared strategy to be communicated to App Owners.</a:t>
                      </a:r>
                    </a:p>
                    <a:p>
                      <a:pPr marL="85725" marR="0" lvl="0" indent="-85725" algn="l" defTabSz="947738" rtl="0" eaLnBrk="0" fontAlgn="base" latinLnBrk="0" hangingPunct="0">
                        <a:lnSpc>
                          <a:spcPct val="100000"/>
                        </a:lnSpc>
                        <a:spcBef>
                          <a:spcPct val="0"/>
                        </a:spcBef>
                        <a:spcAft>
                          <a:spcPts val="0"/>
                        </a:spcAft>
                        <a:buClrTx/>
                        <a:buSzTx/>
                        <a:buFontTx/>
                        <a:buChar char="•"/>
                        <a:tabLst/>
                        <a:defRPr/>
                      </a:pPr>
                      <a:r>
                        <a:rPr kumimoji="0" lang="en-US" sz="600" b="0" i="0" u="none" strike="noStrike" cap="none" normalizeH="0" baseline="0" dirty="0" smtClean="0">
                          <a:ln>
                            <a:noFill/>
                          </a:ln>
                          <a:solidFill>
                            <a:srgbClr val="000000"/>
                          </a:solidFill>
                          <a:effectLst/>
                          <a:latin typeface="EYInterstate Light" pitchFamily="2" charset="0"/>
                        </a:rPr>
                        <a:t>Escalate to </a:t>
                      </a:r>
                      <a:r>
                        <a:rPr kumimoji="0" lang="en-US" sz="600" b="0" i="0" u="none" strike="noStrike" cap="none" normalizeH="0" baseline="0" dirty="0" err="1" smtClean="0">
                          <a:ln>
                            <a:noFill/>
                          </a:ln>
                          <a:solidFill>
                            <a:srgbClr val="000000"/>
                          </a:solidFill>
                          <a:effectLst/>
                          <a:latin typeface="EYInterstate Light" pitchFamily="2" charset="0"/>
                        </a:rPr>
                        <a:t>Infosec</a:t>
                      </a:r>
                      <a:r>
                        <a:rPr kumimoji="0" lang="en-US" sz="600" b="0" i="0" u="none" strike="noStrike" cap="none" normalizeH="0" baseline="0" dirty="0" smtClean="0">
                          <a:ln>
                            <a:noFill/>
                          </a:ln>
                          <a:solidFill>
                            <a:srgbClr val="000000"/>
                          </a:solidFill>
                          <a:effectLst/>
                          <a:latin typeface="EYInterstate Light" pitchFamily="2" charset="0"/>
                        </a:rPr>
                        <a:t> lead</a:t>
                      </a:r>
                      <a:endParaRPr kumimoji="0" lang="en-US" sz="600" b="0" i="0" u="none" strike="noStrike" cap="none" normalizeH="0" baseline="0" dirty="0">
                        <a:ln>
                          <a:noFill/>
                        </a:ln>
                        <a:solidFill>
                          <a:srgbClr val="000000"/>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519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1" i="0" u="none" strike="noStrike" cap="none" normalizeH="0" baseline="0" dirty="0" smtClean="0">
                          <a:ln>
                            <a:noFill/>
                          </a:ln>
                          <a:solidFill>
                            <a:srgbClr val="000000"/>
                          </a:solidFill>
                          <a:effectLst/>
                          <a:latin typeface="EYInterstate Light" pitchFamily="2" charset="0"/>
                        </a:rPr>
                        <a:t>Exchange Schema Deployment is on hold, due to decision coming from M &amp; C on  Split or Shared Services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1" i="0" u="none" strike="noStrike" cap="none" normalizeH="0" baseline="0" dirty="0" smtClean="0">
                          <a:ln>
                            <a:noFill/>
                          </a:ln>
                          <a:solidFill>
                            <a:srgbClr val="000000"/>
                          </a:solidFill>
                          <a:effectLst/>
                          <a:latin typeface="EYInterstate Light" pitchFamily="2" charset="0"/>
                        </a:rPr>
                        <a:t>Decision lies with M&amp;C &amp; IAM</a:t>
                      </a:r>
                      <a:endParaRPr kumimoji="0" lang="en-US" sz="6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519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00" b="0" i="0" u="none" strike="noStrike" cap="none" normalizeH="0" baseline="0" dirty="0" smtClean="0">
                          <a:ln>
                            <a:noFill/>
                          </a:ln>
                          <a:solidFill>
                            <a:srgbClr val="000000"/>
                          </a:solidFill>
                          <a:effectLst/>
                          <a:latin typeface="EYInterstate Light" pitchFamily="2" charset="0"/>
                        </a:rPr>
                        <a:t>Office 365 decision will impact ALL IAM Projects, with delays. The output is unlikely to be known until Feb.</a:t>
                      </a:r>
                      <a:endParaRPr kumimoji="0" lang="en-US" sz="6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00" b="0" i="0" u="none" strike="noStrike" cap="none" normalizeH="0" baseline="0" dirty="0" smtClean="0">
                          <a:ln>
                            <a:noFill/>
                          </a:ln>
                          <a:solidFill>
                            <a:srgbClr val="000000"/>
                          </a:solidFill>
                          <a:effectLst/>
                          <a:latin typeface="EYInterstate Light" pitchFamily="2" charset="0"/>
                        </a:rPr>
                        <a:t>Currently M&amp;C are setting up review sessions with the vendor to isolate the impacts. </a:t>
                      </a:r>
                      <a:endParaRPr kumimoji="0" lang="en-US" sz="6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519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00" b="0" i="0" u="none" strike="noStrike" cap="none" normalizeH="0" baseline="0" dirty="0" smtClean="0">
                          <a:ln>
                            <a:noFill/>
                          </a:ln>
                          <a:solidFill>
                            <a:srgbClr val="000000"/>
                          </a:solidFill>
                          <a:effectLst/>
                          <a:latin typeface="EYInterstate Light" pitchFamily="2" charset="0"/>
                        </a:rPr>
                        <a:t>ADRMS SOW review is currently on hold due to the requirement to add the O365 impacts</a:t>
                      </a:r>
                      <a:endParaRPr kumimoji="0" lang="en-US" sz="6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00" b="0" i="0" u="none" strike="noStrike" cap="none" normalizeH="0" baseline="0" dirty="0" smtClean="0">
                          <a:ln>
                            <a:noFill/>
                          </a:ln>
                          <a:solidFill>
                            <a:srgbClr val="000000"/>
                          </a:solidFill>
                          <a:effectLst/>
                          <a:latin typeface="EYInterstate Light" pitchFamily="2" charset="0"/>
                        </a:rPr>
                        <a:t>Push Microsoft to provide updated SOW asap.</a:t>
                      </a:r>
                      <a:endParaRPr kumimoji="0" lang="en-US" sz="6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4336">
                <a:tc>
                  <a:txBody>
                    <a:bodyPr/>
                    <a:lstStyle/>
                    <a:p>
                      <a:pPr marL="0" marR="0" lvl="0" indent="0" algn="l" defTabSz="947738" rtl="0" eaLnBrk="0" fontAlgn="base" latinLnBrk="0" hangingPunct="0">
                        <a:lnSpc>
                          <a:spcPct val="100000"/>
                        </a:lnSpc>
                        <a:spcBef>
                          <a:spcPct val="0"/>
                        </a:spcBef>
                        <a:spcAft>
                          <a:spcPts val="0"/>
                        </a:spcAft>
                        <a:buClr>
                          <a:schemeClr val="hlink"/>
                        </a:buClr>
                        <a:buSzTx/>
                        <a:buFont typeface="EYInterstate" pitchFamily="2" charset="0"/>
                        <a:buNone/>
                        <a:tabLst/>
                      </a:pPr>
                      <a:r>
                        <a:rPr kumimoji="0" lang="en-US" sz="600" b="1" i="0" u="none" strike="noStrike" cap="none" normalizeH="0" baseline="0" dirty="0" smtClean="0">
                          <a:ln>
                            <a:noFill/>
                          </a:ln>
                          <a:solidFill>
                            <a:schemeClr val="bg1"/>
                          </a:solidFill>
                          <a:effectLst/>
                          <a:latin typeface="EYInterstate Light" pitchFamily="2" charset="0"/>
                        </a:rPr>
                        <a:t>Scope 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ts val="0"/>
                        </a:spcAft>
                        <a:buClr>
                          <a:schemeClr val="hlink"/>
                        </a:buClr>
                        <a:buSzTx/>
                        <a:buFont typeface="EYInterstate" pitchFamily="2" charset="0"/>
                        <a:buNone/>
                        <a:tabLst/>
                      </a:pPr>
                      <a:r>
                        <a:rPr kumimoji="0" lang="en-US" sz="600" b="1" i="0" u="none" strike="noStrike" cap="none" normalizeH="0" baseline="0" dirty="0" smtClean="0">
                          <a:ln>
                            <a:noFill/>
                          </a:ln>
                          <a:solidFill>
                            <a:schemeClr val="bg1"/>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bl>
          </a:graphicData>
        </a:graphic>
      </p:graphicFrame>
      <p:graphicFrame>
        <p:nvGraphicFramePr>
          <p:cNvPr id="3317" name="Group 245"/>
          <p:cNvGraphicFramePr>
            <a:graphicFrameLocks noGrp="1"/>
          </p:cNvGraphicFramePr>
          <p:nvPr/>
        </p:nvGraphicFramePr>
        <p:xfrm>
          <a:off x="76201" y="1228656"/>
          <a:ext cx="4267200" cy="1750746"/>
        </p:xfrm>
        <a:graphic>
          <a:graphicData uri="http://schemas.openxmlformats.org/drawingml/2006/table">
            <a:tbl>
              <a:tblPr/>
              <a:tblGrid>
                <a:gridCol w="4267200"/>
              </a:tblGrid>
              <a:tr h="127878">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Light" pitchFamily="2" charset="0"/>
                        </a:rPr>
                        <a:t>A.  </a:t>
                      </a:r>
                      <a:r>
                        <a:rPr kumimoji="0" lang="en-GB" sz="700" b="1" i="0" u="none" strike="noStrike" cap="none" normalizeH="0" baseline="0" dirty="0" smtClean="0">
                          <a:ln>
                            <a:noFill/>
                          </a:ln>
                          <a:solidFill>
                            <a:schemeClr val="tx1"/>
                          </a:solidFill>
                          <a:effectLst/>
                          <a:latin typeface="EYInterstate Light" pitchFamily="2" charset="0"/>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EYInterstate Light"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61526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600" b="0" i="0" u="none" strike="noStrike" cap="none" normalizeH="0" baseline="0" dirty="0" smtClean="0">
                          <a:ln>
                            <a:noFill/>
                          </a:ln>
                          <a:solidFill>
                            <a:srgbClr val="000000"/>
                          </a:solidFill>
                          <a:effectLst/>
                          <a:latin typeface="EYInterstate Light" pitchFamily="2" charset="0"/>
                        </a:rPr>
                        <a:t>ID Sync Functional Spec Review Sign-off started</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600" b="0" i="0" u="none" strike="noStrike" cap="none" normalizeH="0" baseline="0" dirty="0" smtClean="0">
                          <a:ln>
                            <a:noFill/>
                          </a:ln>
                          <a:solidFill>
                            <a:srgbClr val="000000"/>
                          </a:solidFill>
                          <a:effectLst/>
                          <a:latin typeface="EYInterstate Light" pitchFamily="2" charset="0"/>
                        </a:rPr>
                        <a:t>M&amp;C have raised a CR against the ID Sync project for additional capabilities</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600" b="0" i="0" u="none" strike="noStrike" cap="none" normalizeH="0" baseline="0" dirty="0" smtClean="0">
                          <a:ln>
                            <a:noFill/>
                          </a:ln>
                          <a:solidFill>
                            <a:srgbClr val="000000"/>
                          </a:solidFill>
                          <a:effectLst/>
                          <a:latin typeface="EYInterstate Light" pitchFamily="2" charset="0"/>
                        </a:rPr>
                        <a:t>Group Management Vision &amp; Scope sign-off complete</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600" b="0" i="0" u="none" strike="noStrike" cap="none" normalizeH="0" baseline="0" dirty="0" smtClean="0">
                          <a:ln>
                            <a:noFill/>
                          </a:ln>
                          <a:solidFill>
                            <a:srgbClr val="000000"/>
                          </a:solidFill>
                          <a:effectLst/>
                          <a:latin typeface="EYInterstate Light" pitchFamily="2" charset="0"/>
                        </a:rPr>
                        <a:t>Application Remediation – Sent out </a:t>
                      </a:r>
                      <a:r>
                        <a:rPr kumimoji="0" lang="en-US" sz="600" b="0" i="0" u="none" strike="noStrike" cap="none" normalizeH="0" baseline="0" dirty="0" err="1" smtClean="0">
                          <a:ln>
                            <a:noFill/>
                          </a:ln>
                          <a:solidFill>
                            <a:srgbClr val="000000"/>
                          </a:solidFill>
                          <a:effectLst/>
                          <a:latin typeface="EYInterstate Light" pitchFamily="2" charset="0"/>
                        </a:rPr>
                        <a:t>comms</a:t>
                      </a:r>
                      <a:r>
                        <a:rPr kumimoji="0" lang="en-US" sz="600" b="0" i="0" u="none" strike="noStrike" cap="none" normalizeH="0" baseline="0" dirty="0" smtClean="0">
                          <a:ln>
                            <a:noFill/>
                          </a:ln>
                          <a:solidFill>
                            <a:srgbClr val="000000"/>
                          </a:solidFill>
                          <a:effectLst/>
                          <a:latin typeface="EYInterstate Light" pitchFamily="2" charset="0"/>
                        </a:rPr>
                        <a:t> to the 8 Applications Owners. Responses received and being addressed.</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600" b="0" i="0" u="none" strike="noStrike" cap="none" normalizeH="0" baseline="0" dirty="0" smtClean="0">
                          <a:ln>
                            <a:noFill/>
                          </a:ln>
                          <a:solidFill>
                            <a:srgbClr val="000000"/>
                          </a:solidFill>
                          <a:effectLst/>
                          <a:latin typeface="EYInterstate Light" pitchFamily="2" charset="0"/>
                        </a:rPr>
                        <a:t>Group Management Design workshop started</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endParaRPr kumimoji="0" lang="en-US" sz="600" b="0" i="0" u="none" strike="noStrike" cap="none" normalizeH="0" baseline="0" dirty="0" smtClean="0">
                        <a:ln>
                          <a:noFill/>
                        </a:ln>
                        <a:solidFill>
                          <a:srgbClr val="000000"/>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600" b="0" i="0" u="none" strike="noStrike" cap="none" normalizeH="0" baseline="0" dirty="0" smtClean="0">
                          <a:ln>
                            <a:noFill/>
                          </a:ln>
                          <a:solidFill>
                            <a:schemeClr val="tx1">
                              <a:lumMod val="50000"/>
                            </a:schemeClr>
                          </a:solidFill>
                          <a:effectLst/>
                          <a:latin typeface="EYInterstate Light" pitchFamily="2" charset="0"/>
                        </a:rPr>
                        <a:t>Root Domain Enablement is complete</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600" b="0" i="0" u="none" strike="noStrike" cap="none" normalizeH="0" baseline="0" dirty="0" smtClean="0">
                          <a:ln>
                            <a:noFill/>
                          </a:ln>
                          <a:solidFill>
                            <a:srgbClr val="000000"/>
                          </a:solidFill>
                          <a:effectLst/>
                          <a:latin typeface="EYInterstate Light" pitchFamily="2" charset="0"/>
                        </a:rPr>
                        <a:t>SP2 for Exchange decision received. IAM will upgrade the requisite environment(s). EYDEV due for completion 27</a:t>
                      </a:r>
                      <a:r>
                        <a:rPr kumimoji="0" lang="en-US" sz="600" b="0" i="0" u="none" strike="noStrike" cap="none" normalizeH="0" baseline="30000" dirty="0" smtClean="0">
                          <a:ln>
                            <a:noFill/>
                          </a:ln>
                          <a:solidFill>
                            <a:srgbClr val="000000"/>
                          </a:solidFill>
                          <a:effectLst/>
                          <a:latin typeface="EYInterstate Light" pitchFamily="2" charset="0"/>
                        </a:rPr>
                        <a:t>th</a:t>
                      </a:r>
                      <a:r>
                        <a:rPr kumimoji="0" lang="en-US" sz="600" b="0" i="0" u="none" strike="noStrike" cap="none" normalizeH="0" baseline="0" dirty="0" smtClean="0">
                          <a:ln>
                            <a:noFill/>
                          </a:ln>
                          <a:solidFill>
                            <a:srgbClr val="000000"/>
                          </a:solidFill>
                          <a:effectLst/>
                          <a:latin typeface="EYInterstate Light" pitchFamily="2" charset="0"/>
                        </a:rPr>
                        <a:t> Feb.</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endParaRPr kumimoji="0" lang="en-US" sz="600" b="0" i="0" u="none" strike="noStrike" cap="none" normalizeH="0" baseline="0" dirty="0" smtClean="0">
                        <a:ln>
                          <a:noFill/>
                        </a:ln>
                        <a:solidFill>
                          <a:srgbClr val="000000"/>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600" b="0" i="0" u="sng" strike="noStrike" cap="none" normalizeH="0" baseline="0" dirty="0" smtClean="0">
                          <a:ln>
                            <a:noFill/>
                          </a:ln>
                          <a:solidFill>
                            <a:schemeClr val="tx1">
                              <a:lumMod val="50000"/>
                            </a:schemeClr>
                          </a:solidFill>
                          <a:effectLst/>
                          <a:latin typeface="EYInterstate Light" pitchFamily="2" charset="0"/>
                        </a:rPr>
                        <a:t>AD RMS:</a:t>
                      </a:r>
                    </a:p>
                    <a:p>
                      <a:pPr marL="0" marR="0" lvl="0" indent="0" algn="l" defTabSz="914400" rtl="0" eaLnBrk="1" fontAlgn="base" latinLnBrk="0" hangingPunct="1">
                        <a:lnSpc>
                          <a:spcPct val="100000"/>
                        </a:lnSpc>
                        <a:spcBef>
                          <a:spcPct val="0"/>
                        </a:spcBef>
                        <a:spcAft>
                          <a:spcPct val="10000"/>
                        </a:spcAft>
                        <a:buClr>
                          <a:schemeClr val="hlink"/>
                        </a:buClr>
                        <a:buSzTx/>
                        <a:buFont typeface="Arial" pitchFamily="34" charset="0"/>
                        <a:buChar char="•"/>
                        <a:tabLst/>
                        <a:defRPr/>
                      </a:pPr>
                      <a:r>
                        <a:rPr kumimoji="0" lang="en-US" sz="600" b="0" i="0" u="none" strike="noStrike" kern="1200" cap="none" normalizeH="0" baseline="0" dirty="0" smtClean="0">
                          <a:ln>
                            <a:noFill/>
                          </a:ln>
                          <a:solidFill>
                            <a:schemeClr val="tx1">
                              <a:lumMod val="50000"/>
                            </a:schemeClr>
                          </a:solidFill>
                          <a:effectLst/>
                          <a:latin typeface="EYInterstate Light" pitchFamily="2" charset="0"/>
                          <a:ea typeface="+mn-ea"/>
                          <a:cs typeface="+mn-cs"/>
                        </a:rPr>
                        <a:t>Updated SOW with O365 impacts. Received</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42" name="Group 270"/>
          <p:cNvGraphicFramePr>
            <a:graphicFrameLocks noGrp="1"/>
          </p:cNvGraphicFramePr>
          <p:nvPr/>
        </p:nvGraphicFramePr>
        <p:xfrm>
          <a:off x="4484074" y="1241810"/>
          <a:ext cx="4583726" cy="1196590"/>
        </p:xfrm>
        <a:graphic>
          <a:graphicData uri="http://schemas.openxmlformats.org/drawingml/2006/table">
            <a:tbl>
              <a:tblPr/>
              <a:tblGrid>
                <a:gridCol w="1627251"/>
                <a:gridCol w="852370"/>
                <a:gridCol w="774882"/>
                <a:gridCol w="697393"/>
                <a:gridCol w="631830"/>
              </a:tblGrid>
              <a:tr h="81223">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kern="1200" cap="none" normalizeH="0" baseline="0" dirty="0" smtClean="0">
                          <a:ln>
                            <a:noFill/>
                          </a:ln>
                          <a:solidFill>
                            <a:schemeClr val="tx1"/>
                          </a:solidFill>
                          <a:effectLst/>
                          <a:latin typeface="EYInterstate Light" pitchFamily="2" charset="0"/>
                          <a:ea typeface="+mn-ea"/>
                          <a:cs typeface="+mn-cs"/>
                        </a:rPr>
                        <a:t>E.  MILESTONES</a:t>
                      </a:r>
                      <a:endParaRPr kumimoji="0" lang="en-US" sz="600" b="0" i="0" u="none" strike="noStrike" kern="1200" cap="none" normalizeH="0" baseline="0" dirty="0" smtClean="0">
                        <a:ln>
                          <a:noFill/>
                        </a:ln>
                        <a:solidFill>
                          <a:schemeClr val="tx1"/>
                        </a:solidFill>
                        <a:effectLst/>
                        <a:latin typeface="EYInterstate Light"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6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6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6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6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81223">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6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6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58588">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600" b="0" i="0" u="none" strike="noStrike" cap="none" normalizeH="0" baseline="0" dirty="0" smtClean="0">
                          <a:ln>
                            <a:noFill/>
                          </a:ln>
                          <a:solidFill>
                            <a:schemeClr val="tx1"/>
                          </a:solidFill>
                          <a:effectLst/>
                          <a:latin typeface="EYInterstate Light" pitchFamily="2" charset="0"/>
                        </a:rPr>
                        <a:t>IAM – Critical Application Remediation Impact Assessment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solidFill>
                          <a:effectLst/>
                          <a:latin typeface="EYInterstate Light" pitchFamily="2" charset="0"/>
                        </a:rPr>
                        <a:t>Sep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solidFill>
                          <a:effectLst/>
                          <a:latin typeface="EYInterstate Light" pitchFamily="2" charset="0"/>
                        </a:rPr>
                        <a:t> 29 Feb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00" b="0" i="0" u="none" strike="noStrike" cap="none" normalizeH="0" baseline="0" dirty="0" smtClean="0">
                          <a:ln>
                            <a:noFill/>
                          </a:ln>
                          <a:solidFill>
                            <a:schemeClr val="tx1"/>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52329">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600" b="0" i="0" u="none" strike="noStrike" cap="none" normalizeH="0" baseline="0" dirty="0" smtClean="0">
                          <a:ln>
                            <a:noFill/>
                          </a:ln>
                          <a:solidFill>
                            <a:schemeClr val="tx1">
                              <a:lumMod val="50000"/>
                            </a:schemeClr>
                          </a:solidFill>
                          <a:effectLst/>
                          <a:latin typeface="EYInterstate Light" pitchFamily="2" charset="0"/>
                        </a:rPr>
                        <a:t>IAM - AD Preparation  Exchange</a:t>
                      </a:r>
                    </a:p>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600" b="0" i="0" u="none" strike="noStrike" cap="none" normalizeH="0" baseline="0" dirty="0" smtClean="0">
                          <a:ln>
                            <a:noFill/>
                          </a:ln>
                          <a:solidFill>
                            <a:schemeClr val="tx1">
                              <a:lumMod val="50000"/>
                            </a:schemeClr>
                          </a:solidFill>
                          <a:effectLst/>
                          <a:latin typeface="EYInterstate Light" pitchFamily="2" charset="0"/>
                        </a:rPr>
                        <a:t>(Schema Extensions – SP2)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lumMod val="50000"/>
                            </a:schemeClr>
                          </a:solidFill>
                          <a:effectLst/>
                          <a:latin typeface="EYInterstate Light" pitchFamily="2" charset="0"/>
                        </a:rPr>
                        <a:t>15 Mar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lumMod val="50000"/>
                            </a:schemeClr>
                          </a:solidFill>
                          <a:effectLst/>
                          <a:latin typeface="EYInterstate Light" pitchFamily="2" charset="0"/>
                        </a:rPr>
                        <a:t>21 Dec 2011</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00" b="0" i="0" u="none" strike="noStrike" cap="none" normalizeH="0" baseline="0" dirty="0" smtClean="0">
                          <a:ln>
                            <a:noFill/>
                          </a:ln>
                          <a:solidFill>
                            <a:schemeClr val="tx1"/>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00" b="0" i="0" u="none" strike="noStrike" cap="none" normalizeH="0" baseline="0" dirty="0" smtClean="0">
                          <a:ln>
                            <a:noFill/>
                          </a:ln>
                          <a:solidFill>
                            <a:schemeClr val="tx1"/>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45865">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600" b="0" i="0" u="none" strike="noStrike" cap="none" normalizeH="0" baseline="0" dirty="0" smtClean="0">
                          <a:ln>
                            <a:noFill/>
                          </a:ln>
                          <a:solidFill>
                            <a:schemeClr val="tx1">
                              <a:lumMod val="50000"/>
                            </a:schemeClr>
                          </a:solidFill>
                          <a:effectLst/>
                          <a:latin typeface="EYInterstate Light" pitchFamily="2" charset="0"/>
                        </a:rPr>
                        <a:t>Root Domain Enablement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lumMod val="50000"/>
                            </a:schemeClr>
                          </a:solidFill>
                          <a:effectLst/>
                          <a:latin typeface="EYInterstate Light" pitchFamily="2" charset="0"/>
                        </a:rPr>
                        <a:t>20 Feb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lumMod val="50000"/>
                            </a:schemeClr>
                          </a:solidFill>
                          <a:effectLst/>
                          <a:latin typeface="EYInterstate Light" pitchFamily="2" charset="0"/>
                        </a:rPr>
                        <a:t>21 Dec 2011</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00" b="0" i="0" u="none" strike="noStrike" cap="none" normalizeH="0" baseline="0" dirty="0" smtClean="0">
                          <a:ln>
                            <a:noFill/>
                          </a:ln>
                          <a:solidFill>
                            <a:schemeClr val="tx1"/>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00" b="0" i="0" u="none" strike="noStrike" cap="none" normalizeH="0" baseline="0" dirty="0" smtClean="0">
                          <a:ln>
                            <a:noFill/>
                          </a:ln>
                          <a:solidFill>
                            <a:schemeClr val="tx1"/>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8122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600" b="0" i="0" u="none" strike="noStrike" cap="none" normalizeH="0" baseline="0" dirty="0" smtClean="0">
                          <a:ln>
                            <a:noFill/>
                          </a:ln>
                          <a:solidFill>
                            <a:schemeClr val="tx1"/>
                          </a:solidFill>
                          <a:effectLst/>
                          <a:latin typeface="EYInterstate Light" pitchFamily="2" charset="0"/>
                        </a:rPr>
                        <a:t>IAM - ID Sync Complete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solidFill>
                          <a:effectLst/>
                          <a:latin typeface="EYInterstate Light" pitchFamily="2" charset="0"/>
                        </a:rPr>
                        <a:t> Sept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solidFill>
                          <a:effectLst/>
                          <a:latin typeface="EYInterstate Light" pitchFamily="2" charset="0"/>
                        </a:rPr>
                        <a:t>29 June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00" b="0" i="0" u="none" strike="noStrike" cap="none" normalizeH="0" baseline="0" dirty="0" smtClean="0">
                          <a:ln>
                            <a:noFill/>
                          </a:ln>
                          <a:solidFill>
                            <a:schemeClr val="tx1"/>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8122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600" b="0" i="0" u="none" strike="noStrike" cap="none" normalizeH="0" baseline="0" dirty="0" smtClean="0">
                          <a:ln>
                            <a:noFill/>
                          </a:ln>
                          <a:solidFill>
                            <a:schemeClr val="tx1"/>
                          </a:solidFill>
                          <a:effectLst/>
                          <a:latin typeface="EYInterstate Light" pitchFamily="2" charset="0"/>
                        </a:rPr>
                        <a:t>IAM Group Management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solidFill>
                          <a:effectLst/>
                          <a:latin typeface="EYInterstate Light" pitchFamily="2" charset="0"/>
                        </a:rPr>
                        <a:t> Sept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solidFill>
                          <a:effectLst/>
                          <a:latin typeface="EYInterstate Light" pitchFamily="2" charset="0"/>
                        </a:rPr>
                        <a:t>30July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00" b="0" i="0" u="none" strike="noStrike" cap="none" normalizeH="0" baseline="0" dirty="0" smtClean="0">
                          <a:ln>
                            <a:noFill/>
                          </a:ln>
                          <a:solidFill>
                            <a:schemeClr val="tx1"/>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45865">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600" b="0" i="0" u="none" strike="noStrike" cap="none" normalizeH="0" baseline="0" dirty="0" smtClean="0">
                          <a:ln>
                            <a:noFill/>
                          </a:ln>
                          <a:solidFill>
                            <a:schemeClr val="tx1">
                              <a:lumMod val="50000"/>
                            </a:schemeClr>
                          </a:solidFill>
                          <a:effectLst/>
                          <a:latin typeface="EYInterstate Light" pitchFamily="2" charset="0"/>
                        </a:rPr>
                        <a:t>IAM AD RMS (Rights Management Server)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lumMod val="50000"/>
                            </a:schemeClr>
                          </a:solidFill>
                          <a:effectLst/>
                          <a:latin typeface="EYInterstate Light" pitchFamily="2" charset="0"/>
                        </a:rPr>
                        <a:t>TBC</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lumMod val="50000"/>
                            </a:schemeClr>
                          </a:solidFill>
                          <a:effectLst/>
                          <a:latin typeface="EYInterstate Light" pitchFamily="2" charset="0"/>
                        </a:rPr>
                        <a:t>23 May2011</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00" b="0" i="0" u="none" strike="noStrike" cap="none" normalizeH="0" baseline="0" dirty="0" smtClean="0">
                          <a:ln>
                            <a:noFill/>
                          </a:ln>
                          <a:solidFill>
                            <a:schemeClr val="tx1"/>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bl>
          </a:graphicData>
        </a:graphic>
      </p:graphicFrame>
      <p:graphicFrame>
        <p:nvGraphicFramePr>
          <p:cNvPr id="15" name="Group 270"/>
          <p:cNvGraphicFramePr>
            <a:graphicFrameLocks noGrp="1"/>
          </p:cNvGraphicFramePr>
          <p:nvPr/>
        </p:nvGraphicFramePr>
        <p:xfrm>
          <a:off x="7570788" y="69850"/>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bl>
          </a:graphicData>
        </a:graphic>
      </p:graphicFrame>
      <p:graphicFrame>
        <p:nvGraphicFramePr>
          <p:cNvPr id="16" name="Table 15"/>
          <p:cNvGraphicFramePr>
            <a:graphicFrameLocks noGrp="1"/>
          </p:cNvGraphicFramePr>
          <p:nvPr/>
        </p:nvGraphicFramePr>
        <p:xfrm>
          <a:off x="4434381" y="2514600"/>
          <a:ext cx="4633419" cy="1870173"/>
        </p:xfrm>
        <a:graphic>
          <a:graphicData uri="http://schemas.openxmlformats.org/drawingml/2006/table">
            <a:tbl>
              <a:tblPr/>
              <a:tblGrid>
                <a:gridCol w="2349848"/>
                <a:gridCol w="2283571"/>
              </a:tblGrid>
              <a:tr h="101860">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01860">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Mitigating Action</a:t>
                      </a:r>
                      <a:endParaRPr kumimoji="0" lang="en-US" sz="700" b="0" i="0" u="none" strike="noStrike" cap="none" normalizeH="0" baseline="0" dirty="0" smtClean="0">
                        <a:ln>
                          <a:noFill/>
                        </a:ln>
                        <a:solidFill>
                          <a:schemeClr val="bg1"/>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36821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smtClean="0">
                          <a:ln>
                            <a:noFill/>
                          </a:ln>
                          <a:solidFill>
                            <a:srgbClr val="000000"/>
                          </a:solidFill>
                          <a:effectLst/>
                          <a:latin typeface="EYInterstate Light" pitchFamily="2" charset="0"/>
                        </a:rPr>
                        <a:t>Application Remediation. When we take control of the (circa 14 Attributes), we require the Application owners to ensure there will not be a “Clash”. The impact could negatively impact the way these Critical Applications work, or access to said applications.</a:t>
                      </a:r>
                      <a:endParaRPr kumimoji="0" lang="en-US" sz="5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smtClean="0">
                          <a:ln>
                            <a:noFill/>
                          </a:ln>
                          <a:solidFill>
                            <a:srgbClr val="000000"/>
                          </a:solidFill>
                          <a:effectLst/>
                          <a:latin typeface="EYInterstate Light" pitchFamily="2" charset="0"/>
                        </a:rPr>
                        <a:t>We need the SDLs, SDMs, Portfolio Owners and Application owners to review apps, and confirm if remediation is required, inc how long this will take. IAM are setting up a process to gain ownership from M&amp;C to help drive this forward, inc management of, therein via the IAM stream.</a:t>
                      </a:r>
                      <a:endParaRPr kumimoji="0" lang="en-US" sz="5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9873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smtClean="0">
                          <a:ln>
                            <a:noFill/>
                          </a:ln>
                          <a:solidFill>
                            <a:srgbClr val="000000"/>
                          </a:solidFill>
                          <a:effectLst/>
                          <a:latin typeface="EYInterstate Light" pitchFamily="2" charset="0"/>
                        </a:rPr>
                        <a:t>In order to build out servers for the M&amp;C Exchange program, IAM need the server specifications and build configurations. Each day delayed in receiving this information, is a day delay to the end delivery date. Impacted by O365 decision.</a:t>
                      </a:r>
                      <a:endParaRPr kumimoji="0" lang="en-US" sz="5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rgbClr val="000000"/>
                          </a:solidFill>
                          <a:effectLst/>
                          <a:latin typeface="EYInterstate Light" pitchFamily="2" charset="0"/>
                        </a:rPr>
                        <a:t>M&amp;C to work with Microsoft to provide the required information ASAP.</a:t>
                      </a:r>
                    </a:p>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5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924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smtClean="0">
                          <a:ln>
                            <a:noFill/>
                          </a:ln>
                          <a:solidFill>
                            <a:srgbClr val="000000"/>
                          </a:solidFill>
                          <a:effectLst/>
                          <a:latin typeface="EYInterstate Light" pitchFamily="2" charset="0"/>
                        </a:rPr>
                        <a:t>Exchange Schema Deployment is on hold, due to decision coming from M &amp; C on Split or Shared Services. Confirmation due 10</a:t>
                      </a:r>
                      <a:r>
                        <a:rPr kumimoji="0" lang="en-US" sz="500" b="0" i="0" u="none" strike="noStrike" cap="none" normalizeH="0" baseline="30000" dirty="0" smtClean="0">
                          <a:ln>
                            <a:noFill/>
                          </a:ln>
                          <a:solidFill>
                            <a:srgbClr val="000000"/>
                          </a:solidFill>
                          <a:effectLst/>
                          <a:latin typeface="EYInterstate Light" pitchFamily="2" charset="0"/>
                        </a:rPr>
                        <a:t>th</a:t>
                      </a:r>
                      <a:r>
                        <a:rPr kumimoji="0" lang="en-US" sz="500" b="0" i="0" u="none" strike="noStrike" cap="none" normalizeH="0" baseline="0" dirty="0" smtClean="0">
                          <a:ln>
                            <a:noFill/>
                          </a:ln>
                          <a:solidFill>
                            <a:srgbClr val="000000"/>
                          </a:solidFill>
                          <a:effectLst/>
                          <a:latin typeface="EYInterstate Light" pitchFamily="2" charset="0"/>
                        </a:rPr>
                        <a:t> Feb.</a:t>
                      </a:r>
                      <a:endParaRPr kumimoji="0" lang="en-US" sz="5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smtClean="0">
                          <a:ln>
                            <a:noFill/>
                          </a:ln>
                          <a:solidFill>
                            <a:srgbClr val="000000"/>
                          </a:solidFill>
                          <a:effectLst/>
                          <a:latin typeface="EYInterstate Light" pitchFamily="2" charset="0"/>
                        </a:rPr>
                        <a:t>Follow up with M &amp;C on the decision.</a:t>
                      </a:r>
                      <a:endParaRPr kumimoji="0" lang="en-US" sz="5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924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smtClean="0">
                          <a:ln>
                            <a:noFill/>
                          </a:ln>
                          <a:solidFill>
                            <a:srgbClr val="000000"/>
                          </a:solidFill>
                          <a:effectLst/>
                          <a:latin typeface="EYInterstate Light" pitchFamily="2" charset="0"/>
                        </a:rPr>
                        <a:t>Cannot  get sign-off for the Functional Spec, as the decision  to go Office 365 has impact on ID Sync, hence delaying the project.</a:t>
                      </a:r>
                      <a:endParaRPr kumimoji="0" lang="en-US" sz="5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smtClean="0">
                          <a:ln>
                            <a:noFill/>
                          </a:ln>
                          <a:solidFill>
                            <a:srgbClr val="000000"/>
                          </a:solidFill>
                          <a:effectLst/>
                          <a:latin typeface="EYInterstate Light" pitchFamily="2" charset="0"/>
                        </a:rPr>
                        <a:t>M&amp;C and vendor inc IAM to attend workshop sessions set up w/c 23</a:t>
                      </a:r>
                      <a:r>
                        <a:rPr kumimoji="0" lang="en-US" sz="500" b="0" i="0" u="none" strike="noStrike" cap="none" normalizeH="0" baseline="30000" dirty="0" smtClean="0">
                          <a:ln>
                            <a:noFill/>
                          </a:ln>
                          <a:solidFill>
                            <a:srgbClr val="000000"/>
                          </a:solidFill>
                          <a:effectLst/>
                          <a:latin typeface="EYInterstate Light" pitchFamily="2" charset="0"/>
                        </a:rPr>
                        <a:t>rd</a:t>
                      </a:r>
                      <a:r>
                        <a:rPr kumimoji="0" lang="en-US" sz="500" b="0" i="0" u="none" strike="noStrike" cap="none" normalizeH="0" baseline="0" dirty="0" smtClean="0">
                          <a:ln>
                            <a:noFill/>
                          </a:ln>
                          <a:solidFill>
                            <a:srgbClr val="000000"/>
                          </a:solidFill>
                          <a:effectLst/>
                          <a:latin typeface="EYInterstate Light" pitchFamily="2" charset="0"/>
                        </a:rPr>
                        <a:t> Jan</a:t>
                      </a:r>
                      <a:endParaRPr kumimoji="0" lang="en-US" sz="5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3619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smtClean="0">
                          <a:ln>
                            <a:noFill/>
                          </a:ln>
                          <a:solidFill>
                            <a:srgbClr val="000000"/>
                          </a:solidFill>
                          <a:effectLst/>
                          <a:latin typeface="EYInterstate Light" pitchFamily="2" charset="0"/>
                        </a:rPr>
                        <a:t>Cannot get sign-off on the Vision and scope until the impacts are known with respect to the Office 365 decision. Impact wont be known for a number of weeks.  Hence delaying this project</a:t>
                      </a:r>
                      <a:endParaRPr kumimoji="0" lang="en-US" sz="5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rgbClr val="000000"/>
                          </a:solidFill>
                          <a:effectLst/>
                          <a:latin typeface="EYInterstate Light" pitchFamily="2" charset="0"/>
                        </a:rPr>
                        <a:t>M&amp;C and vendor inc IAM to attend workshop sessions set up w/c 23</a:t>
                      </a:r>
                      <a:r>
                        <a:rPr kumimoji="0" lang="en-US" sz="500" b="0" i="0" u="none" strike="noStrike" cap="none" normalizeH="0" baseline="30000" dirty="0" smtClean="0">
                          <a:ln>
                            <a:noFill/>
                          </a:ln>
                          <a:solidFill>
                            <a:srgbClr val="000000"/>
                          </a:solidFill>
                          <a:effectLst/>
                          <a:latin typeface="EYInterstate Light" pitchFamily="2" charset="0"/>
                        </a:rPr>
                        <a:t>rd</a:t>
                      </a:r>
                      <a:r>
                        <a:rPr kumimoji="0" lang="en-US" sz="500" b="0" i="0" u="none" strike="noStrike" cap="none" normalizeH="0" baseline="0" dirty="0" smtClean="0">
                          <a:ln>
                            <a:noFill/>
                          </a:ln>
                          <a:solidFill>
                            <a:srgbClr val="000000"/>
                          </a:solidFill>
                          <a:effectLst/>
                          <a:latin typeface="EYInterstate Light" pitchFamily="2" charset="0"/>
                        </a:rPr>
                        <a:t> Jan. </a:t>
                      </a:r>
                    </a:p>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5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723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smtClean="0">
                          <a:ln>
                            <a:noFill/>
                          </a:ln>
                          <a:solidFill>
                            <a:srgbClr val="000000"/>
                          </a:solidFill>
                          <a:effectLst/>
                          <a:latin typeface="EYInterstate Light" pitchFamily="2" charset="0"/>
                        </a:rPr>
                        <a:t>ADRMS is currently on hold due to the O365 impact review</a:t>
                      </a:r>
                      <a:endParaRPr kumimoji="0" lang="en-US" sz="5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smtClean="0">
                          <a:ln>
                            <a:noFill/>
                          </a:ln>
                          <a:solidFill>
                            <a:srgbClr val="000000"/>
                          </a:solidFill>
                          <a:effectLst/>
                          <a:latin typeface="EYInterstate Light" pitchFamily="2" charset="0"/>
                        </a:rPr>
                        <a:t>Accept delay due to O365 review.</a:t>
                      </a:r>
                      <a:endParaRPr kumimoji="0" lang="en-US" sz="5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nvGraphicFramePr>
        <p:xfrm>
          <a:off x="4419600" y="5638800"/>
          <a:ext cx="4648200" cy="779234"/>
        </p:xfrm>
        <a:graphic>
          <a:graphicData uri="http://schemas.openxmlformats.org/drawingml/2006/table">
            <a:tbl>
              <a:tblPr/>
              <a:tblGrid>
                <a:gridCol w="4648200"/>
              </a:tblGrid>
              <a:tr h="17579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smtClean="0">
                          <a:ln>
                            <a:noFill/>
                          </a:ln>
                          <a:solidFill>
                            <a:schemeClr val="tx1"/>
                          </a:solidFill>
                          <a:effectLst/>
                          <a:latin typeface="EYInterstate Light"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8503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00" b="0" i="0" u="none" strike="noStrike" cap="none" normalizeH="0" baseline="0" dirty="0" smtClean="0">
                          <a:ln>
                            <a:noFill/>
                          </a:ln>
                          <a:solidFill>
                            <a:srgbClr val="000000"/>
                          </a:solidFill>
                          <a:effectLst/>
                          <a:latin typeface="EYInterstate Light" pitchFamily="2" charset="0"/>
                        </a:rPr>
                        <a:t>AMBER: Until the Shared/Split permission decision is made, the </a:t>
                      </a:r>
                      <a:r>
                        <a:rPr kumimoji="0" lang="en-US" sz="600" b="0" i="0" u="none" strike="noStrike" cap="none" normalizeH="0" baseline="0" dirty="0" err="1" smtClean="0">
                          <a:ln>
                            <a:noFill/>
                          </a:ln>
                          <a:solidFill>
                            <a:srgbClr val="000000"/>
                          </a:solidFill>
                          <a:effectLst/>
                          <a:latin typeface="EYInterstate Light" pitchFamily="2" charset="0"/>
                        </a:rPr>
                        <a:t>config</a:t>
                      </a:r>
                      <a:r>
                        <a:rPr kumimoji="0" lang="en-US" sz="600" b="0" i="0" u="none" strike="noStrike" cap="none" normalizeH="0" baseline="0" dirty="0" smtClean="0">
                          <a:ln>
                            <a:noFill/>
                          </a:ln>
                          <a:solidFill>
                            <a:srgbClr val="000000"/>
                          </a:solidFill>
                          <a:effectLst/>
                          <a:latin typeface="EYInterstate Light" pitchFamily="2" charset="0"/>
                        </a:rPr>
                        <a:t> for EYDEV environment is being delayed affecting the ID Sync Project.</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00" b="0" i="0" u="none" strike="noStrike" cap="none" normalizeH="0" baseline="0" dirty="0" smtClean="0">
                          <a:ln>
                            <a:noFill/>
                          </a:ln>
                          <a:solidFill>
                            <a:srgbClr val="000000"/>
                          </a:solidFill>
                          <a:effectLst/>
                          <a:latin typeface="EYInterstate Light" pitchFamily="2" charset="0"/>
                        </a:rPr>
                        <a:t>Application remediation activities are progressed, with the first 8 App owners contacted. Currently communicating with them, with respect to questions etc</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00" b="0" i="0" u="none" strike="noStrike" cap="none" normalizeH="0" baseline="0" dirty="0" smtClean="0">
                          <a:ln>
                            <a:noFill/>
                          </a:ln>
                          <a:solidFill>
                            <a:srgbClr val="000000"/>
                          </a:solidFill>
                          <a:effectLst/>
                          <a:latin typeface="EYInterstate Light" pitchFamily="2" charset="0"/>
                        </a:rPr>
                        <a:t>Going Office 365 is also delaying the above projects, and will delay the projects by at least a 4 weeks</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00" b="0" i="0" u="none" strike="noStrike" cap="none" normalizeH="0" baseline="0" dirty="0" smtClean="0">
                          <a:ln>
                            <a:noFill/>
                          </a:ln>
                          <a:solidFill>
                            <a:srgbClr val="000000"/>
                          </a:solidFill>
                          <a:effectLst/>
                          <a:latin typeface="EYInterstate Light" pitchFamily="2" charset="0"/>
                        </a:rPr>
                        <a:t>Minimum 90 day lead time is impacting the delivery of ID Sync and </a:t>
                      </a:r>
                      <a:r>
                        <a:rPr kumimoji="0" lang="en-US" sz="600" b="0" i="0" u="none" strike="noStrike" cap="none" normalizeH="0" baseline="0" dirty="0" err="1" smtClean="0">
                          <a:ln>
                            <a:noFill/>
                          </a:ln>
                          <a:solidFill>
                            <a:srgbClr val="000000"/>
                          </a:solidFill>
                          <a:effectLst/>
                          <a:latin typeface="EYInterstate Light" pitchFamily="2" charset="0"/>
                        </a:rPr>
                        <a:t>Grp</a:t>
                      </a:r>
                      <a:r>
                        <a:rPr kumimoji="0" lang="en-US" sz="600" b="0" i="0" u="none" strike="noStrike" cap="none" normalizeH="0" baseline="0" dirty="0" smtClean="0">
                          <a:ln>
                            <a:noFill/>
                          </a:ln>
                          <a:solidFill>
                            <a:srgbClr val="000000"/>
                          </a:solidFill>
                          <a:effectLst/>
                          <a:latin typeface="EYInterstate Light" pitchFamily="2" charset="0"/>
                        </a:rPr>
                        <a:t> Management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450" y="6584950"/>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550" y="658495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688" y="6573838"/>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69850" y="6581775"/>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a:grpSpLocks/>
          </p:cNvGrpSpPr>
          <p:nvPr/>
        </p:nvGrpSpPr>
        <p:grpSpPr bwMode="auto">
          <a:xfrm>
            <a:off x="0" y="6389688"/>
            <a:ext cx="8964613" cy="541337"/>
            <a:chOff x="0" y="6505545"/>
            <a:chExt cx="9711531" cy="540206"/>
          </a:xfrm>
        </p:grpSpPr>
        <p:sp>
          <p:nvSpPr>
            <p:cNvPr id="20714" name="TextBox 20"/>
            <p:cNvSpPr txBox="1">
              <a:spLocks noChangeArrowheads="1"/>
            </p:cNvSpPr>
            <p:nvPr/>
          </p:nvSpPr>
          <p:spPr bwMode="gray">
            <a:xfrm>
              <a:off x="1639689" y="6576570"/>
              <a:ext cx="2611234" cy="400110"/>
            </a:xfrm>
            <a:prstGeom prst="rect">
              <a:avLst/>
            </a:prstGeom>
            <a:noFill/>
            <a:ln w="9525">
              <a:noFill/>
              <a:miter lim="800000"/>
              <a:headEnd/>
              <a:tailEnd/>
            </a:ln>
          </p:spPr>
          <p:txBody>
            <a:bodyPr>
              <a:spAutoFit/>
            </a:bodyPr>
            <a:lstStyle/>
            <a:p>
              <a:pPr defTabSz="955675" eaLnBrk="0" hangingPunct="0"/>
              <a:endParaRPr lang="en-GB" sz="500" b="1" dirty="0">
                <a:solidFill>
                  <a:srgbClr val="646464"/>
                </a:solidFill>
                <a:latin typeface="EYInterstate Light" pitchFamily="2" charset="0"/>
              </a:endParaRPr>
            </a:p>
            <a:p>
              <a:pPr defTabSz="955675" eaLnBrk="0" hangingPunct="0"/>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149" y="6657627"/>
              <a:ext cx="663830" cy="169507"/>
            </a:xfrm>
            <a:prstGeom prst="rect">
              <a:avLst/>
            </a:prstGeom>
          </p:spPr>
          <p:txBody>
            <a:bodyPr wrap="none">
              <a:spAutoFit/>
            </a:bodyPr>
            <a:lstStyle/>
            <a:p>
              <a:pPr defTabSz="955675" eaLnBrk="0" hangingPunct="0">
                <a:spcAft>
                  <a:spcPts val="0"/>
                </a:spcAft>
                <a:defRPr/>
              </a:pPr>
              <a:r>
                <a:rPr lang="en-US" sz="500" b="1" dirty="0">
                  <a:solidFill>
                    <a:srgbClr val="646464"/>
                  </a:solidFill>
                  <a:latin typeface="EYInterstate Light" pitchFamily="2" charset="0"/>
                </a:rPr>
                <a:t>Fully achieved</a:t>
              </a:r>
              <a:endParaRPr lang="en-GB" sz="500" b="1" kern="0" dirty="0">
                <a:solidFill>
                  <a:srgbClr val="646464"/>
                </a:solidFill>
                <a:latin typeface="EYInterstate"/>
              </a:endParaRPr>
            </a:p>
          </p:txBody>
        </p:sp>
        <p:sp>
          <p:nvSpPr>
            <p:cNvPr id="25" name="TextBox 24"/>
            <p:cNvSpPr txBox="1"/>
            <p:nvPr/>
          </p:nvSpPr>
          <p:spPr bwMode="gray">
            <a:xfrm>
              <a:off x="0" y="6505545"/>
              <a:ext cx="4882422" cy="169507"/>
            </a:xfrm>
            <a:prstGeom prst="rect">
              <a:avLst/>
            </a:prstGeom>
          </p:spPr>
          <p:txBody>
            <a:bodyPr wrap="none">
              <a:spAutoFit/>
            </a:bodyPr>
            <a:lstStyle/>
            <a:p>
              <a:pPr defTabSz="955675" eaLnBrk="0" hangingPunct="0">
                <a:spcAft>
                  <a:spcPts val="0"/>
                </a:spcAft>
                <a:defRPr/>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a:endParaRPr>
            </a:p>
          </p:txBody>
        </p:sp>
        <p:sp>
          <p:nvSpPr>
            <p:cNvPr id="20717" name="TextBox 25"/>
            <p:cNvSpPr txBox="1">
              <a:spLocks noChangeArrowheads="1"/>
            </p:cNvSpPr>
            <p:nvPr/>
          </p:nvSpPr>
          <p:spPr bwMode="gray">
            <a:xfrm>
              <a:off x="7423210" y="6564722"/>
              <a:ext cx="2288321" cy="400110"/>
            </a:xfrm>
            <a:prstGeom prst="rect">
              <a:avLst/>
            </a:prstGeom>
            <a:noFill/>
            <a:ln w="9525">
              <a:noFill/>
              <a:miter lim="800000"/>
              <a:headEnd/>
              <a:tailEnd/>
            </a:ln>
          </p:spPr>
          <p:txBody>
            <a:bodyPr>
              <a:spAutoFit/>
            </a:bodyPr>
            <a:lstStyle/>
            <a:p>
              <a:pPr defTabSz="955675" eaLnBrk="0" hangingPunct="0"/>
              <a:endParaRPr lang="en-GB" sz="500" b="1" dirty="0">
                <a:solidFill>
                  <a:srgbClr val="646464"/>
                </a:solidFill>
                <a:latin typeface="EYInterstate Light" pitchFamily="2" charset="0"/>
              </a:endParaRPr>
            </a:p>
            <a:p>
              <a:pPr defTabSz="955675" eaLnBrk="0" hangingPunct="0"/>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0718" name="TextBox 26"/>
            <p:cNvSpPr txBox="1">
              <a:spLocks noChangeArrowheads="1"/>
            </p:cNvSpPr>
            <p:nvPr/>
          </p:nvSpPr>
          <p:spPr bwMode="gray">
            <a:xfrm>
              <a:off x="4849123" y="6568697"/>
              <a:ext cx="1976087" cy="477054"/>
            </a:xfrm>
            <a:prstGeom prst="rect">
              <a:avLst/>
            </a:prstGeom>
            <a:noFill/>
            <a:ln w="9525">
              <a:noFill/>
              <a:miter lim="800000"/>
              <a:headEnd/>
              <a:tailEnd/>
            </a:ln>
          </p:spPr>
          <p:txBody>
            <a:bodyPr>
              <a:spAutoFit/>
            </a:bodyPr>
            <a:lstStyle/>
            <a:p>
              <a:pPr defTabSz="955675" eaLnBrk="0" hangingPunct="0"/>
              <a:endParaRPr lang="en-GB" sz="500" b="1" dirty="0">
                <a:solidFill>
                  <a:srgbClr val="646464"/>
                </a:solidFill>
                <a:latin typeface="EYInterstate Light" pitchFamily="2" charset="0"/>
              </a:endParaRPr>
            </a:p>
            <a:p>
              <a:pPr defTabSz="955675" eaLnBrk="0" hangingPunct="0"/>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20667" name="Freeform 94"/>
          <p:cNvSpPr>
            <a:spLocks/>
          </p:cNvSpPr>
          <p:nvPr/>
        </p:nvSpPr>
        <p:spPr bwMode="gray">
          <a:xfrm>
            <a:off x="-3175" y="-3175"/>
            <a:ext cx="7546975" cy="307975"/>
          </a:xfrm>
          <a:custGeom>
            <a:avLst/>
            <a:gdLst>
              <a:gd name="T0" fmla="*/ 2147483647 w 6000"/>
              <a:gd name="T1" fmla="*/ 0 h 754"/>
              <a:gd name="T2" fmla="*/ 2147483647 w 6000"/>
              <a:gd name="T3" fmla="*/ 2147483647 h 754"/>
              <a:gd name="T4" fmla="*/ 0 w 6000"/>
              <a:gd name="T5" fmla="*/ 2147483647 h 754"/>
              <a:gd name="T6" fmla="*/ 0 w 6000"/>
              <a:gd name="T7" fmla="*/ 2147483647 h 754"/>
              <a:gd name="T8" fmla="*/ 2147483647 w 6000"/>
              <a:gd name="T9" fmla="*/ 0 h 754"/>
              <a:gd name="T10" fmla="*/ 0 60000 65536"/>
              <a:gd name="T11" fmla="*/ 0 60000 65536"/>
              <a:gd name="T12" fmla="*/ 0 60000 65536"/>
              <a:gd name="T13" fmla="*/ 0 60000 65536"/>
              <a:gd name="T14" fmla="*/ 0 60000 65536"/>
              <a:gd name="T15" fmla="*/ 0 w 6000"/>
              <a:gd name="T16" fmla="*/ 0 h 754"/>
              <a:gd name="T17" fmla="*/ 6000 w 6000"/>
              <a:gd name="T18" fmla="*/ 754 h 754"/>
            </a:gdLst>
            <a:ahLst/>
            <a:cxnLst>
              <a:cxn ang="T10">
                <a:pos x="T0" y="T1"/>
              </a:cxn>
              <a:cxn ang="T11">
                <a:pos x="T2" y="T3"/>
              </a:cxn>
              <a:cxn ang="T12">
                <a:pos x="T4" y="T5"/>
              </a:cxn>
              <a:cxn ang="T13">
                <a:pos x="T6" y="T7"/>
              </a:cxn>
              <a:cxn ang="T14">
                <a:pos x="T8" y="T9"/>
              </a:cxn>
            </a:cxnLst>
            <a:rect l="T15" t="T16" r="T17" b="T18"/>
            <a:pathLst>
              <a:path w="6000" h="754">
                <a:moveTo>
                  <a:pt x="6000" y="0"/>
                </a:moveTo>
                <a:lnTo>
                  <a:pt x="5854" y="752"/>
                </a:lnTo>
                <a:lnTo>
                  <a:pt x="0" y="754"/>
                </a:lnTo>
                <a:lnTo>
                  <a:pt x="0" y="3"/>
                </a:lnTo>
                <a:lnTo>
                  <a:pt x="6000" y="0"/>
                </a:lnTo>
                <a:close/>
              </a:path>
            </a:pathLst>
          </a:custGeom>
          <a:solidFill>
            <a:srgbClr val="FFD200"/>
          </a:solidFill>
          <a:ln w="9525">
            <a:noFill/>
            <a:round/>
            <a:headEnd/>
            <a:tailEnd/>
          </a:ln>
        </p:spPr>
        <p:txBody>
          <a:bodyPr/>
          <a:lstStyle/>
          <a:p>
            <a:endParaRPr lang="en-GB" dirty="0"/>
          </a:p>
        </p:txBody>
      </p:sp>
      <p:sp>
        <p:nvSpPr>
          <p:cNvPr id="67" name="Rectangle 183"/>
          <p:cNvSpPr txBox="1">
            <a:spLocks noChangeArrowheads="1"/>
          </p:cNvSpPr>
          <p:nvPr/>
        </p:nvSpPr>
        <p:spPr bwMode="gray">
          <a:xfrm>
            <a:off x="152400" y="0"/>
            <a:ext cx="7424738" cy="338138"/>
          </a:xfrm>
          <a:prstGeom prst="rect">
            <a:avLst/>
          </a:prstGeom>
        </p:spPr>
        <p:txBody>
          <a:bodyPr>
            <a:spAutoFit/>
          </a:bodyPr>
          <a:lstStyle/>
          <a:p>
            <a:pPr algn="l" defTabSz="955675" eaLnBrk="0" hangingPunct="0">
              <a:spcAft>
                <a:spcPts val="0"/>
              </a:spcAft>
              <a:defRPr/>
            </a:pPr>
            <a:r>
              <a:rPr lang="en-US" sz="1600" b="1" kern="0" dirty="0">
                <a:solidFill>
                  <a:srgbClr val="646464"/>
                </a:solidFill>
                <a:latin typeface="+mj-lt"/>
              </a:rPr>
              <a:t>R11915 –</a:t>
            </a:r>
            <a:r>
              <a:rPr lang="en-US" sz="1600" b="1" kern="0" dirty="0" smtClean="0">
                <a:solidFill>
                  <a:srgbClr val="646464"/>
                </a:solidFill>
                <a:latin typeface="+mj-lt"/>
              </a:rPr>
              <a:t>TF IAM </a:t>
            </a:r>
            <a:r>
              <a:rPr lang="en-US" sz="1600" b="1" kern="0" dirty="0">
                <a:solidFill>
                  <a:srgbClr val="646464"/>
                </a:solidFill>
                <a:latin typeface="+mj-lt"/>
              </a:rPr>
              <a:t>(In-bound Dependencies) – </a:t>
            </a:r>
            <a:r>
              <a:rPr lang="en-US" sz="1600" b="1" kern="0" dirty="0" smtClean="0">
                <a:solidFill>
                  <a:srgbClr val="646464"/>
                </a:solidFill>
                <a:latin typeface="+mj-lt"/>
              </a:rPr>
              <a:t>Adrian Mickleson</a:t>
            </a:r>
            <a:endParaRPr lang="en-US" sz="1600" kern="0" dirty="0">
              <a:solidFill>
                <a:srgbClr val="646464"/>
              </a:solidFill>
              <a:latin typeface="+mj-lt"/>
            </a:endParaRPr>
          </a:p>
        </p:txBody>
      </p:sp>
      <p:sp>
        <p:nvSpPr>
          <p:cNvPr id="20669" name="Line 69"/>
          <p:cNvSpPr>
            <a:spLocks noChangeShapeType="1"/>
          </p:cNvSpPr>
          <p:nvPr/>
        </p:nvSpPr>
        <p:spPr bwMode="gray">
          <a:xfrm>
            <a:off x="898525" y="914400"/>
            <a:ext cx="7835900" cy="0"/>
          </a:xfrm>
          <a:prstGeom prst="line">
            <a:avLst/>
          </a:prstGeom>
          <a:noFill/>
          <a:ln w="38100">
            <a:solidFill>
              <a:srgbClr val="FFD200"/>
            </a:solidFill>
            <a:round/>
            <a:headEnd type="diamond" w="med" len="med"/>
            <a:tailEnd type="diamond" w="med" len="med"/>
          </a:ln>
        </p:spPr>
        <p:txBody>
          <a:bodyPr lIns="92075" tIns="46038" rIns="92075" bIns="46038">
            <a:spAutoFit/>
          </a:bodyPr>
          <a:lstStyle/>
          <a:p>
            <a:endParaRPr lang="en-GB" dirty="0"/>
          </a:p>
        </p:txBody>
      </p:sp>
      <p:sp>
        <p:nvSpPr>
          <p:cNvPr id="20670" name="Text Box 70"/>
          <p:cNvSpPr txBox="1">
            <a:spLocks noChangeArrowheads="1"/>
          </p:cNvSpPr>
          <p:nvPr/>
        </p:nvSpPr>
        <p:spPr bwMode="gray">
          <a:xfrm>
            <a:off x="228600" y="533400"/>
            <a:ext cx="820738" cy="303213"/>
          </a:xfrm>
          <a:prstGeom prst="rect">
            <a:avLst/>
          </a:prstGeom>
          <a:noFill/>
          <a:ln w="9525" algn="ctr">
            <a:noFill/>
            <a:miter lim="800000"/>
            <a:headEnd type="none" w="sm" len="sm"/>
            <a:tailEnd type="none" w="sm" len="sm"/>
          </a:ln>
        </p:spPr>
        <p:txBody>
          <a:bodyPr lIns="57057" tIns="28529" rIns="57057" bIns="28529">
            <a:spAutoFit/>
          </a:bodyPr>
          <a:lstStyle/>
          <a:p>
            <a:pPr defTabSz="514350" eaLnBrk="0" hangingPunct="0"/>
            <a:r>
              <a:rPr lang="en-US" sz="800" b="1" dirty="0">
                <a:solidFill>
                  <a:srgbClr val="000000"/>
                </a:solidFill>
                <a:latin typeface="EYInterstate" pitchFamily="2" charset="0"/>
              </a:rPr>
              <a:t>Target Milestones</a:t>
            </a:r>
          </a:p>
        </p:txBody>
      </p:sp>
      <p:sp>
        <p:nvSpPr>
          <p:cNvPr id="20671" name="Line 71"/>
          <p:cNvSpPr>
            <a:spLocks noChangeShapeType="1"/>
          </p:cNvSpPr>
          <p:nvPr/>
        </p:nvSpPr>
        <p:spPr bwMode="gray">
          <a:xfrm>
            <a:off x="1184275"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0672" name="Line 72"/>
          <p:cNvSpPr>
            <a:spLocks noChangeShapeType="1"/>
          </p:cNvSpPr>
          <p:nvPr/>
        </p:nvSpPr>
        <p:spPr bwMode="gray">
          <a:xfrm>
            <a:off x="1981200"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0673" name="Line 73"/>
          <p:cNvSpPr>
            <a:spLocks noChangeShapeType="1"/>
          </p:cNvSpPr>
          <p:nvPr/>
        </p:nvSpPr>
        <p:spPr bwMode="gray">
          <a:xfrm>
            <a:off x="7469188"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0674" name="Text Box 74"/>
          <p:cNvSpPr txBox="1">
            <a:spLocks noChangeArrowheads="1"/>
          </p:cNvSpPr>
          <p:nvPr/>
        </p:nvSpPr>
        <p:spPr bwMode="gray">
          <a:xfrm>
            <a:off x="1082675" y="990600"/>
            <a:ext cx="285750"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May ‘11</a:t>
            </a:r>
          </a:p>
        </p:txBody>
      </p:sp>
      <p:sp>
        <p:nvSpPr>
          <p:cNvPr id="20675" name="Line 75"/>
          <p:cNvSpPr>
            <a:spLocks noChangeShapeType="1"/>
          </p:cNvSpPr>
          <p:nvPr/>
        </p:nvSpPr>
        <p:spPr bwMode="gray">
          <a:xfrm>
            <a:off x="6908800"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0676" name="Line 76"/>
          <p:cNvSpPr>
            <a:spLocks noChangeShapeType="1"/>
          </p:cNvSpPr>
          <p:nvPr/>
        </p:nvSpPr>
        <p:spPr bwMode="gray">
          <a:xfrm>
            <a:off x="8058150"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0677" name="Line 77"/>
          <p:cNvSpPr>
            <a:spLocks noChangeShapeType="1"/>
          </p:cNvSpPr>
          <p:nvPr/>
        </p:nvSpPr>
        <p:spPr bwMode="gray">
          <a:xfrm>
            <a:off x="2554288"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0678" name="Line 78"/>
          <p:cNvSpPr>
            <a:spLocks noChangeShapeType="1"/>
          </p:cNvSpPr>
          <p:nvPr/>
        </p:nvSpPr>
        <p:spPr bwMode="gray">
          <a:xfrm>
            <a:off x="3684588"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0679" name="Line 79"/>
          <p:cNvSpPr>
            <a:spLocks noChangeShapeType="1"/>
          </p:cNvSpPr>
          <p:nvPr/>
        </p:nvSpPr>
        <p:spPr bwMode="gray">
          <a:xfrm>
            <a:off x="4083050"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0680" name="Line 80"/>
          <p:cNvSpPr>
            <a:spLocks noChangeShapeType="1"/>
          </p:cNvSpPr>
          <p:nvPr/>
        </p:nvSpPr>
        <p:spPr bwMode="gray">
          <a:xfrm>
            <a:off x="4633913"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0681" name="Line 81"/>
          <p:cNvSpPr>
            <a:spLocks noChangeShapeType="1"/>
          </p:cNvSpPr>
          <p:nvPr/>
        </p:nvSpPr>
        <p:spPr bwMode="gray">
          <a:xfrm>
            <a:off x="5786438"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0682" name="Line 82"/>
          <p:cNvSpPr>
            <a:spLocks noChangeShapeType="1"/>
          </p:cNvSpPr>
          <p:nvPr/>
        </p:nvSpPr>
        <p:spPr bwMode="gray">
          <a:xfrm>
            <a:off x="6346825"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0683" name="Text Box 83"/>
          <p:cNvSpPr txBox="1">
            <a:spLocks noChangeArrowheads="1"/>
          </p:cNvSpPr>
          <p:nvPr/>
        </p:nvSpPr>
        <p:spPr bwMode="gray">
          <a:xfrm>
            <a:off x="1879600" y="990600"/>
            <a:ext cx="31432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June ‘11</a:t>
            </a:r>
          </a:p>
        </p:txBody>
      </p:sp>
      <p:sp>
        <p:nvSpPr>
          <p:cNvPr id="20684" name="Text Box 84"/>
          <p:cNvSpPr txBox="1">
            <a:spLocks noChangeArrowheads="1"/>
          </p:cNvSpPr>
          <p:nvPr/>
        </p:nvSpPr>
        <p:spPr bwMode="gray">
          <a:xfrm>
            <a:off x="2451100" y="990600"/>
            <a:ext cx="292100"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July ‘11</a:t>
            </a:r>
          </a:p>
        </p:txBody>
      </p:sp>
      <p:sp>
        <p:nvSpPr>
          <p:cNvPr id="20685" name="Text Box 85"/>
          <p:cNvSpPr txBox="1">
            <a:spLocks noChangeArrowheads="1"/>
          </p:cNvSpPr>
          <p:nvPr/>
        </p:nvSpPr>
        <p:spPr bwMode="gray">
          <a:xfrm>
            <a:off x="3090863" y="990600"/>
            <a:ext cx="279400"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Aug ‘11</a:t>
            </a:r>
          </a:p>
        </p:txBody>
      </p:sp>
      <p:sp>
        <p:nvSpPr>
          <p:cNvPr id="20686" name="Text Box 86"/>
          <p:cNvSpPr txBox="1">
            <a:spLocks noChangeArrowheads="1"/>
          </p:cNvSpPr>
          <p:nvPr/>
        </p:nvSpPr>
        <p:spPr bwMode="gray">
          <a:xfrm>
            <a:off x="3582988" y="990600"/>
            <a:ext cx="303212"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Sept ‘11</a:t>
            </a:r>
          </a:p>
        </p:txBody>
      </p:sp>
      <p:sp>
        <p:nvSpPr>
          <p:cNvPr id="20687" name="Text Box 87"/>
          <p:cNvSpPr txBox="1">
            <a:spLocks noChangeArrowheads="1"/>
          </p:cNvSpPr>
          <p:nvPr/>
        </p:nvSpPr>
        <p:spPr bwMode="gray">
          <a:xfrm>
            <a:off x="3994150" y="990600"/>
            <a:ext cx="26352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Oct ‘11</a:t>
            </a:r>
          </a:p>
        </p:txBody>
      </p:sp>
      <p:sp>
        <p:nvSpPr>
          <p:cNvPr id="20688" name="Text Box 88"/>
          <p:cNvSpPr txBox="1">
            <a:spLocks noChangeArrowheads="1"/>
          </p:cNvSpPr>
          <p:nvPr/>
        </p:nvSpPr>
        <p:spPr bwMode="gray">
          <a:xfrm>
            <a:off x="4556125" y="990600"/>
            <a:ext cx="277813"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Nov ‘11</a:t>
            </a:r>
          </a:p>
        </p:txBody>
      </p:sp>
      <p:sp>
        <p:nvSpPr>
          <p:cNvPr id="20689" name="Text Box 89"/>
          <p:cNvSpPr txBox="1">
            <a:spLocks noChangeArrowheads="1"/>
          </p:cNvSpPr>
          <p:nvPr/>
        </p:nvSpPr>
        <p:spPr bwMode="gray">
          <a:xfrm>
            <a:off x="5126038" y="990600"/>
            <a:ext cx="274637"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Dec ‘11</a:t>
            </a:r>
          </a:p>
        </p:txBody>
      </p:sp>
      <p:sp>
        <p:nvSpPr>
          <p:cNvPr id="20690" name="Text Box 90"/>
          <p:cNvSpPr txBox="1">
            <a:spLocks noChangeArrowheads="1"/>
          </p:cNvSpPr>
          <p:nvPr/>
        </p:nvSpPr>
        <p:spPr bwMode="gray">
          <a:xfrm>
            <a:off x="5692775" y="990600"/>
            <a:ext cx="26987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Jan ‘12</a:t>
            </a:r>
          </a:p>
        </p:txBody>
      </p:sp>
      <p:sp>
        <p:nvSpPr>
          <p:cNvPr id="20691" name="Text Box 91"/>
          <p:cNvSpPr txBox="1">
            <a:spLocks noChangeArrowheads="1"/>
          </p:cNvSpPr>
          <p:nvPr/>
        </p:nvSpPr>
        <p:spPr bwMode="gray">
          <a:xfrm>
            <a:off x="6257925" y="990600"/>
            <a:ext cx="26987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Feb ‘12</a:t>
            </a:r>
          </a:p>
        </p:txBody>
      </p:sp>
      <p:sp>
        <p:nvSpPr>
          <p:cNvPr id="20692" name="Text Box 92"/>
          <p:cNvSpPr txBox="1">
            <a:spLocks noChangeArrowheads="1"/>
          </p:cNvSpPr>
          <p:nvPr/>
        </p:nvSpPr>
        <p:spPr bwMode="gray">
          <a:xfrm>
            <a:off x="6824663" y="990600"/>
            <a:ext cx="274637"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Mar ‘12</a:t>
            </a:r>
          </a:p>
        </p:txBody>
      </p:sp>
      <p:sp>
        <p:nvSpPr>
          <p:cNvPr id="20693" name="Text Box 93"/>
          <p:cNvSpPr txBox="1">
            <a:spLocks noChangeArrowheads="1"/>
          </p:cNvSpPr>
          <p:nvPr/>
        </p:nvSpPr>
        <p:spPr bwMode="gray">
          <a:xfrm>
            <a:off x="7391400" y="990600"/>
            <a:ext cx="268288"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Apr ‘12</a:t>
            </a:r>
          </a:p>
        </p:txBody>
      </p:sp>
      <p:sp>
        <p:nvSpPr>
          <p:cNvPr id="20694" name="Text Box 94"/>
          <p:cNvSpPr txBox="1">
            <a:spLocks noChangeArrowheads="1"/>
          </p:cNvSpPr>
          <p:nvPr/>
        </p:nvSpPr>
        <p:spPr bwMode="gray">
          <a:xfrm>
            <a:off x="7954963" y="990600"/>
            <a:ext cx="285750"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May ‘12</a:t>
            </a:r>
          </a:p>
        </p:txBody>
      </p:sp>
      <p:sp>
        <p:nvSpPr>
          <p:cNvPr id="20695" name="Text Box 95"/>
          <p:cNvSpPr txBox="1">
            <a:spLocks noChangeArrowheads="1"/>
          </p:cNvSpPr>
          <p:nvPr/>
        </p:nvSpPr>
        <p:spPr bwMode="gray">
          <a:xfrm>
            <a:off x="8532813" y="990600"/>
            <a:ext cx="31432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June ‘12</a:t>
            </a:r>
          </a:p>
        </p:txBody>
      </p:sp>
      <p:sp>
        <p:nvSpPr>
          <p:cNvPr id="20696" name="Line 96"/>
          <p:cNvSpPr>
            <a:spLocks noChangeShapeType="1"/>
          </p:cNvSpPr>
          <p:nvPr/>
        </p:nvSpPr>
        <p:spPr bwMode="gray">
          <a:xfrm>
            <a:off x="3200400"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0697" name="Line 97"/>
          <p:cNvSpPr>
            <a:spLocks noChangeShapeType="1"/>
          </p:cNvSpPr>
          <p:nvPr/>
        </p:nvSpPr>
        <p:spPr bwMode="gray">
          <a:xfrm>
            <a:off x="5202238"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0698" name="Text Box 98"/>
          <p:cNvSpPr txBox="1">
            <a:spLocks noChangeArrowheads="1"/>
          </p:cNvSpPr>
          <p:nvPr/>
        </p:nvSpPr>
        <p:spPr bwMode="gray">
          <a:xfrm>
            <a:off x="152400" y="914400"/>
            <a:ext cx="457200" cy="180975"/>
          </a:xfrm>
          <a:prstGeom prst="rect">
            <a:avLst/>
          </a:prstGeom>
          <a:solidFill>
            <a:srgbClr val="FFD200"/>
          </a:solidFill>
          <a:ln w="9525" algn="ctr">
            <a:noFill/>
            <a:miter lim="800000"/>
            <a:headEnd type="none" w="sm" len="sm"/>
            <a:tailEnd type="none" w="sm" len="sm"/>
          </a:ln>
        </p:spPr>
        <p:txBody>
          <a:bodyPr lIns="57057" tIns="28529" rIns="57057" bIns="28529">
            <a:spAutoFit/>
          </a:bodyPr>
          <a:lstStyle/>
          <a:p>
            <a:pPr defTabSz="514350" eaLnBrk="0" hangingPunct="0"/>
            <a:r>
              <a:rPr lang="en-US" sz="800" b="1" dirty="0">
                <a:solidFill>
                  <a:srgbClr val="000000"/>
                </a:solidFill>
                <a:latin typeface="EYInterstate" pitchFamily="2" charset="0"/>
              </a:rPr>
              <a:t>Actual</a:t>
            </a:r>
          </a:p>
        </p:txBody>
      </p:sp>
      <p:sp>
        <p:nvSpPr>
          <p:cNvPr id="20699" name="Line 125"/>
          <p:cNvSpPr>
            <a:spLocks noChangeShapeType="1"/>
          </p:cNvSpPr>
          <p:nvPr/>
        </p:nvSpPr>
        <p:spPr bwMode="gray">
          <a:xfrm flipV="1">
            <a:off x="2819400" y="533400"/>
            <a:ext cx="0" cy="304800"/>
          </a:xfrm>
          <a:prstGeom prst="line">
            <a:avLst/>
          </a:prstGeom>
          <a:noFill/>
          <a:ln w="6350">
            <a:solidFill>
              <a:srgbClr val="00B050"/>
            </a:solidFill>
            <a:round/>
            <a:headEnd type="diamond" w="lg" len="lg"/>
            <a:tailEnd type="none" w="sm" len="sm"/>
          </a:ln>
        </p:spPr>
        <p:txBody>
          <a:bodyPr lIns="92075" tIns="46038" rIns="92075" bIns="46038">
            <a:spAutoFit/>
          </a:bodyPr>
          <a:lstStyle/>
          <a:p>
            <a:endParaRPr lang="en-GB" dirty="0"/>
          </a:p>
        </p:txBody>
      </p:sp>
      <p:sp>
        <p:nvSpPr>
          <p:cNvPr id="20700" name="Text Box 126"/>
          <p:cNvSpPr txBox="1">
            <a:spLocks noChangeArrowheads="1"/>
          </p:cNvSpPr>
          <p:nvPr/>
        </p:nvSpPr>
        <p:spPr bwMode="gray">
          <a:xfrm>
            <a:off x="2819400" y="533400"/>
            <a:ext cx="533400" cy="184150"/>
          </a:xfrm>
          <a:prstGeom prst="rect">
            <a:avLst/>
          </a:prstGeom>
          <a:noFill/>
          <a:ln w="9525" algn="ctr">
            <a:noFill/>
            <a:miter lim="800000"/>
            <a:headEnd type="none" w="sm" len="sm"/>
            <a:tailEnd type="none" w="sm" len="sm"/>
          </a:ln>
        </p:spPr>
        <p:txBody>
          <a:bodyPr lIns="26118" tIns="0" rIns="0" bIns="0">
            <a:spAutoFit/>
          </a:bodyPr>
          <a:lstStyle/>
          <a:p>
            <a:pPr defTabSz="514350" eaLnBrk="0" hangingPunct="0"/>
            <a:r>
              <a:rPr lang="en-US" sz="600" dirty="0">
                <a:solidFill>
                  <a:srgbClr val="000000"/>
                </a:solidFill>
                <a:latin typeface="EYInterstate" pitchFamily="2" charset="0"/>
              </a:rPr>
              <a:t>Envisioning Commenced</a:t>
            </a:r>
            <a:endParaRPr lang="en-US" sz="600" dirty="0">
              <a:solidFill>
                <a:srgbClr val="808080"/>
              </a:solidFill>
              <a:latin typeface="EYInterstate" pitchFamily="2" charset="0"/>
            </a:endParaRPr>
          </a:p>
        </p:txBody>
      </p:sp>
      <p:sp>
        <p:nvSpPr>
          <p:cNvPr id="20701" name="Line 125"/>
          <p:cNvSpPr>
            <a:spLocks noChangeShapeType="1"/>
          </p:cNvSpPr>
          <p:nvPr/>
        </p:nvSpPr>
        <p:spPr bwMode="gray">
          <a:xfrm flipV="1">
            <a:off x="3352800" y="381000"/>
            <a:ext cx="0" cy="457200"/>
          </a:xfrm>
          <a:prstGeom prst="line">
            <a:avLst/>
          </a:prstGeom>
          <a:noFill/>
          <a:ln w="6350">
            <a:solidFill>
              <a:srgbClr val="00B050"/>
            </a:solidFill>
            <a:round/>
            <a:headEnd type="diamond" w="lg" len="lg"/>
            <a:tailEnd type="none" w="sm" len="sm"/>
          </a:ln>
        </p:spPr>
        <p:txBody>
          <a:bodyPr lIns="92075" tIns="46038" rIns="92075" bIns="46038">
            <a:spAutoFit/>
          </a:bodyPr>
          <a:lstStyle/>
          <a:p>
            <a:endParaRPr lang="en-GB" dirty="0"/>
          </a:p>
        </p:txBody>
      </p:sp>
      <p:sp>
        <p:nvSpPr>
          <p:cNvPr id="20702" name="Text Box 126"/>
          <p:cNvSpPr txBox="1">
            <a:spLocks noChangeArrowheads="1"/>
          </p:cNvSpPr>
          <p:nvPr/>
        </p:nvSpPr>
        <p:spPr bwMode="gray">
          <a:xfrm>
            <a:off x="2667000" y="381000"/>
            <a:ext cx="684213" cy="92075"/>
          </a:xfrm>
          <a:prstGeom prst="rect">
            <a:avLst/>
          </a:prstGeom>
          <a:noFill/>
          <a:ln w="9525" algn="ctr">
            <a:noFill/>
            <a:miter lim="800000"/>
            <a:headEnd type="none" w="sm" len="sm"/>
            <a:tailEnd type="none" w="sm" len="sm"/>
          </a:ln>
        </p:spPr>
        <p:txBody>
          <a:bodyPr lIns="26118" tIns="0" rIns="0" bIns="0">
            <a:spAutoFit/>
          </a:bodyPr>
          <a:lstStyle/>
          <a:p>
            <a:pPr algn="r" defTabSz="514350" eaLnBrk="0" hangingPunct="0"/>
            <a:r>
              <a:rPr lang="en-US" sz="600" dirty="0">
                <a:solidFill>
                  <a:srgbClr val="000000"/>
                </a:solidFill>
                <a:latin typeface="EYInterstate" pitchFamily="2" charset="0"/>
              </a:rPr>
              <a:t>Initiation Event</a:t>
            </a:r>
            <a:endParaRPr lang="en-US" sz="600" dirty="0">
              <a:solidFill>
                <a:srgbClr val="808080"/>
              </a:solidFill>
              <a:latin typeface="EYInterstate" pitchFamily="2" charset="0"/>
            </a:endParaRPr>
          </a:p>
        </p:txBody>
      </p:sp>
      <p:sp>
        <p:nvSpPr>
          <p:cNvPr id="137" name="Line 125"/>
          <p:cNvSpPr>
            <a:spLocks noChangeShapeType="1"/>
          </p:cNvSpPr>
          <p:nvPr/>
        </p:nvSpPr>
        <p:spPr bwMode="gray">
          <a:xfrm flipV="1">
            <a:off x="4025900" y="381000"/>
            <a:ext cx="0" cy="457200"/>
          </a:xfrm>
          <a:prstGeom prst="line">
            <a:avLst/>
          </a:prstGeom>
          <a:noFill/>
          <a:ln w="6350">
            <a:solidFill>
              <a:schemeClr val="tx1">
                <a:lumMod val="40000"/>
                <a:lumOff val="60000"/>
              </a:schemeClr>
            </a:solidFill>
            <a:round/>
            <a:headEnd type="diamond" w="lg" len="lg"/>
            <a:tailEnd type="none" w="sm" len="sm"/>
          </a:ln>
        </p:spPr>
        <p:txBody>
          <a:bodyPr lIns="92075" tIns="46038" rIns="92075" bIns="46038">
            <a:spAutoFit/>
          </a:bodyPr>
          <a:lstStyle/>
          <a:p>
            <a:pPr>
              <a:defRPr/>
            </a:pPr>
            <a:endParaRPr lang="en-GB" dirty="0"/>
          </a:p>
        </p:txBody>
      </p:sp>
      <p:sp>
        <p:nvSpPr>
          <p:cNvPr id="138" name="Text Box 126"/>
          <p:cNvSpPr txBox="1">
            <a:spLocks noChangeArrowheads="1"/>
          </p:cNvSpPr>
          <p:nvPr/>
        </p:nvSpPr>
        <p:spPr bwMode="gray">
          <a:xfrm>
            <a:off x="4038600" y="381000"/>
            <a:ext cx="684213" cy="184150"/>
          </a:xfrm>
          <a:prstGeom prst="rect">
            <a:avLst/>
          </a:prstGeom>
          <a:noFill/>
          <a:ln w="9525" algn="ctr">
            <a:noFill/>
            <a:miter lim="800000"/>
            <a:headEnd type="none" w="sm" len="sm"/>
            <a:tailEnd type="none" w="sm" len="sm"/>
          </a:ln>
        </p:spPr>
        <p:txBody>
          <a:bodyPr lIns="26118" tIns="0" rIns="0" bIns="0">
            <a:spAutoFit/>
          </a:bodyPr>
          <a:lstStyle/>
          <a:p>
            <a:pPr defTabSz="514350" eaLnBrk="0" hangingPunct="0">
              <a:defRPr/>
            </a:pPr>
            <a:r>
              <a:rPr lang="en-US" sz="600" i="1" dirty="0">
                <a:solidFill>
                  <a:schemeClr val="tx1">
                    <a:lumMod val="40000"/>
                    <a:lumOff val="60000"/>
                  </a:schemeClr>
                </a:solidFill>
                <a:latin typeface="EYInterstate" pitchFamily="2" charset="0"/>
              </a:rPr>
              <a:t>Planning Commences*</a:t>
            </a:r>
          </a:p>
        </p:txBody>
      </p:sp>
      <p:sp>
        <p:nvSpPr>
          <p:cNvPr id="20705" name="Text Box 126"/>
          <p:cNvSpPr txBox="1">
            <a:spLocks noChangeArrowheads="1"/>
          </p:cNvSpPr>
          <p:nvPr/>
        </p:nvSpPr>
        <p:spPr bwMode="gray">
          <a:xfrm>
            <a:off x="3733800" y="609600"/>
            <a:ext cx="914400" cy="184150"/>
          </a:xfrm>
          <a:prstGeom prst="rect">
            <a:avLst/>
          </a:prstGeom>
          <a:noFill/>
          <a:ln w="9525" algn="ctr">
            <a:noFill/>
            <a:miter lim="800000"/>
            <a:headEnd type="none" w="sm" len="sm"/>
            <a:tailEnd type="none" w="sm" len="sm"/>
          </a:ln>
        </p:spPr>
        <p:txBody>
          <a:bodyPr lIns="26118" tIns="0" rIns="0" bIns="0">
            <a:spAutoFit/>
          </a:bodyPr>
          <a:lstStyle/>
          <a:p>
            <a:r>
              <a:rPr lang="en-GB" sz="600" dirty="0">
                <a:latin typeface="EYInterstate" pitchFamily="2" charset="0"/>
              </a:rPr>
              <a:t>Approve  Envisioning Vision Scope &amp; SOWs</a:t>
            </a:r>
          </a:p>
        </p:txBody>
      </p:sp>
      <p:sp>
        <p:nvSpPr>
          <p:cNvPr id="20706" name="Line 125"/>
          <p:cNvSpPr>
            <a:spLocks noChangeShapeType="1"/>
          </p:cNvSpPr>
          <p:nvPr/>
        </p:nvSpPr>
        <p:spPr bwMode="gray">
          <a:xfrm flipV="1">
            <a:off x="3733800" y="609600"/>
            <a:ext cx="0" cy="2286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dirty="0"/>
          </a:p>
        </p:txBody>
      </p:sp>
      <p:sp>
        <p:nvSpPr>
          <p:cNvPr id="141" name="Text Box 126"/>
          <p:cNvSpPr txBox="1">
            <a:spLocks noChangeArrowheads="1"/>
          </p:cNvSpPr>
          <p:nvPr/>
        </p:nvSpPr>
        <p:spPr bwMode="gray">
          <a:xfrm>
            <a:off x="4543425" y="381000"/>
            <a:ext cx="914400" cy="184150"/>
          </a:xfrm>
          <a:prstGeom prst="rect">
            <a:avLst/>
          </a:prstGeom>
          <a:noFill/>
          <a:ln w="9525" algn="ctr">
            <a:noFill/>
            <a:miter lim="800000"/>
            <a:headEnd type="none" w="sm" len="sm"/>
            <a:tailEnd type="none" w="sm" len="sm"/>
          </a:ln>
        </p:spPr>
        <p:txBody>
          <a:bodyPr lIns="26118" tIns="0" rIns="0" bIns="0">
            <a:spAutoFit/>
          </a:bodyPr>
          <a:lstStyle/>
          <a:p>
            <a:pPr>
              <a:defRPr/>
            </a:pPr>
            <a:r>
              <a:rPr lang="en-GB" sz="600" i="1" dirty="0">
                <a:solidFill>
                  <a:schemeClr val="tx1">
                    <a:lumMod val="40000"/>
                    <a:lumOff val="60000"/>
                  </a:schemeClr>
                </a:solidFill>
                <a:latin typeface="EYInterstate" pitchFamily="2" charset="0"/>
              </a:rPr>
              <a:t>Approval of Planning and Design Deliverables*</a:t>
            </a:r>
          </a:p>
        </p:txBody>
      </p:sp>
      <p:sp>
        <p:nvSpPr>
          <p:cNvPr id="142" name="Line 125"/>
          <p:cNvSpPr>
            <a:spLocks noChangeShapeType="1"/>
          </p:cNvSpPr>
          <p:nvPr/>
        </p:nvSpPr>
        <p:spPr bwMode="gray">
          <a:xfrm flipV="1">
            <a:off x="4530725" y="381000"/>
            <a:ext cx="0" cy="457200"/>
          </a:xfrm>
          <a:prstGeom prst="line">
            <a:avLst/>
          </a:prstGeom>
          <a:noFill/>
          <a:ln w="6350">
            <a:solidFill>
              <a:schemeClr val="tx1">
                <a:lumMod val="40000"/>
                <a:lumOff val="60000"/>
              </a:schemeClr>
            </a:solidFill>
            <a:round/>
            <a:headEnd type="diamond" w="lg" len="lg"/>
            <a:tailEnd type="none" w="sm" len="sm"/>
          </a:ln>
        </p:spPr>
        <p:txBody>
          <a:bodyPr lIns="92075" tIns="46038" rIns="92075" bIns="46038">
            <a:spAutoFit/>
          </a:bodyPr>
          <a:lstStyle/>
          <a:p>
            <a:pPr>
              <a:defRPr/>
            </a:pPr>
            <a:endParaRPr lang="en-GB" dirty="0"/>
          </a:p>
        </p:txBody>
      </p:sp>
      <p:sp>
        <p:nvSpPr>
          <p:cNvPr id="143" name="Line 125"/>
          <p:cNvSpPr>
            <a:spLocks noChangeShapeType="1"/>
          </p:cNvSpPr>
          <p:nvPr/>
        </p:nvSpPr>
        <p:spPr bwMode="gray">
          <a:xfrm flipV="1">
            <a:off x="4759325" y="609600"/>
            <a:ext cx="0" cy="228600"/>
          </a:xfrm>
          <a:prstGeom prst="line">
            <a:avLst/>
          </a:prstGeom>
          <a:noFill/>
          <a:ln w="6350">
            <a:solidFill>
              <a:schemeClr val="tx1">
                <a:lumMod val="40000"/>
                <a:lumOff val="60000"/>
              </a:schemeClr>
            </a:solidFill>
            <a:round/>
            <a:headEnd type="diamond" w="lg" len="lg"/>
            <a:tailEnd type="none" w="sm" len="sm"/>
          </a:ln>
        </p:spPr>
        <p:txBody>
          <a:bodyPr lIns="92075" tIns="46038" rIns="92075" bIns="46038">
            <a:spAutoFit/>
          </a:bodyPr>
          <a:lstStyle/>
          <a:p>
            <a:pPr>
              <a:defRPr/>
            </a:pPr>
            <a:endParaRPr lang="en-GB" dirty="0"/>
          </a:p>
        </p:txBody>
      </p:sp>
      <p:sp>
        <p:nvSpPr>
          <p:cNvPr id="144" name="Text Box 126"/>
          <p:cNvSpPr txBox="1">
            <a:spLocks noChangeArrowheads="1"/>
          </p:cNvSpPr>
          <p:nvPr/>
        </p:nvSpPr>
        <p:spPr bwMode="gray">
          <a:xfrm>
            <a:off x="4772025" y="609600"/>
            <a:ext cx="1219200" cy="184150"/>
          </a:xfrm>
          <a:prstGeom prst="rect">
            <a:avLst/>
          </a:prstGeom>
          <a:noFill/>
          <a:ln w="9525" algn="ctr">
            <a:noFill/>
            <a:miter lim="800000"/>
            <a:headEnd type="none" w="sm" len="sm"/>
            <a:tailEnd type="none" w="sm" len="sm"/>
          </a:ln>
        </p:spPr>
        <p:txBody>
          <a:bodyPr lIns="26118" tIns="0" rIns="0" bIns="0">
            <a:spAutoFit/>
          </a:bodyPr>
          <a:lstStyle/>
          <a:p>
            <a:pPr>
              <a:defRPr/>
            </a:pPr>
            <a:r>
              <a:rPr lang="en-GB" sz="600" i="1" dirty="0">
                <a:solidFill>
                  <a:schemeClr val="tx1">
                    <a:lumMod val="40000"/>
                    <a:lumOff val="60000"/>
                  </a:schemeClr>
                </a:solidFill>
                <a:latin typeface="EYInterstate" pitchFamily="2" charset="0"/>
              </a:rPr>
              <a:t>Approve design documentation for Lync and Outlook Pilot*</a:t>
            </a:r>
          </a:p>
        </p:txBody>
      </p:sp>
      <p:sp>
        <p:nvSpPr>
          <p:cNvPr id="145" name="Line 125"/>
          <p:cNvSpPr>
            <a:spLocks noChangeShapeType="1"/>
          </p:cNvSpPr>
          <p:nvPr/>
        </p:nvSpPr>
        <p:spPr bwMode="gray">
          <a:xfrm flipV="1">
            <a:off x="6235700" y="609600"/>
            <a:ext cx="0" cy="228600"/>
          </a:xfrm>
          <a:prstGeom prst="line">
            <a:avLst/>
          </a:prstGeom>
          <a:noFill/>
          <a:ln w="6350">
            <a:solidFill>
              <a:schemeClr val="tx1">
                <a:lumMod val="40000"/>
                <a:lumOff val="60000"/>
              </a:schemeClr>
            </a:solidFill>
            <a:round/>
            <a:headEnd type="diamond" w="lg" len="lg"/>
            <a:tailEnd type="none" w="sm" len="sm"/>
          </a:ln>
        </p:spPr>
        <p:txBody>
          <a:bodyPr lIns="92075" tIns="46038" rIns="92075" bIns="46038">
            <a:spAutoFit/>
          </a:bodyPr>
          <a:lstStyle/>
          <a:p>
            <a:pPr>
              <a:defRPr/>
            </a:pPr>
            <a:endParaRPr lang="en-GB" dirty="0"/>
          </a:p>
        </p:txBody>
      </p:sp>
      <p:sp>
        <p:nvSpPr>
          <p:cNvPr id="146" name="Text Box 126"/>
          <p:cNvSpPr txBox="1">
            <a:spLocks noChangeArrowheads="1"/>
          </p:cNvSpPr>
          <p:nvPr/>
        </p:nvSpPr>
        <p:spPr bwMode="gray">
          <a:xfrm>
            <a:off x="6070600" y="604838"/>
            <a:ext cx="914400" cy="92075"/>
          </a:xfrm>
          <a:prstGeom prst="rect">
            <a:avLst/>
          </a:prstGeom>
          <a:noFill/>
          <a:ln w="9525" algn="ctr">
            <a:noFill/>
            <a:miter lim="800000"/>
            <a:headEnd type="none" w="sm" len="sm"/>
            <a:tailEnd type="none" w="sm" len="sm"/>
          </a:ln>
        </p:spPr>
        <p:txBody>
          <a:bodyPr lIns="26118" tIns="0" rIns="0" bIns="0">
            <a:spAutoFit/>
          </a:bodyPr>
          <a:lstStyle/>
          <a:p>
            <a:pPr>
              <a:defRPr/>
            </a:pPr>
            <a:r>
              <a:rPr lang="en-GB" sz="600" i="1" dirty="0">
                <a:solidFill>
                  <a:schemeClr val="tx1">
                    <a:lumMod val="40000"/>
                    <a:lumOff val="60000"/>
                  </a:schemeClr>
                </a:solidFill>
                <a:latin typeface="EYInterstate" pitchFamily="2" charset="0"/>
              </a:rPr>
              <a:t>Create UAT Test cases*</a:t>
            </a:r>
          </a:p>
        </p:txBody>
      </p:sp>
      <p:sp>
        <p:nvSpPr>
          <p:cNvPr id="147" name="TextBox 146"/>
          <p:cNvSpPr txBox="1"/>
          <p:nvPr/>
        </p:nvSpPr>
        <p:spPr>
          <a:xfrm>
            <a:off x="7772400" y="609600"/>
            <a:ext cx="1219200" cy="554038"/>
          </a:xfrm>
          <a:prstGeom prst="rect">
            <a:avLst/>
          </a:prstGeom>
          <a:noFill/>
        </p:spPr>
        <p:txBody>
          <a:bodyPr>
            <a:spAutoFit/>
          </a:bodyPr>
          <a:lstStyle/>
          <a:p>
            <a:pPr>
              <a:defRPr/>
            </a:pPr>
            <a:r>
              <a:rPr lang="en-US" sz="600" i="1" dirty="0">
                <a:solidFill>
                  <a:schemeClr val="tx1">
                    <a:lumMod val="40000"/>
                    <a:lumOff val="60000"/>
                  </a:schemeClr>
                </a:solidFill>
                <a:latin typeface="EYInterstate Light" pitchFamily="2" charset="0"/>
              </a:rPr>
              <a:t>*Milestones subject to   approval of SOWs</a:t>
            </a:r>
          </a:p>
          <a:p>
            <a:pPr>
              <a:defRPr/>
            </a:pPr>
            <a:endParaRPr lang="en-GB"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nvGraphicFramePr>
        <p:xfrm>
          <a:off x="152400" y="2839908"/>
          <a:ext cx="4419598" cy="3643188"/>
        </p:xfrm>
        <a:graphic>
          <a:graphicData uri="http://schemas.openxmlformats.org/drawingml/2006/table">
            <a:tbl>
              <a:tblPr/>
              <a:tblGrid>
                <a:gridCol w="4419598"/>
              </a:tblGrid>
              <a:tr h="12959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Light"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233179">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cap="none" normalizeH="0" baseline="0" dirty="0" smtClean="0">
                          <a:ln>
                            <a:noFill/>
                          </a:ln>
                          <a:solidFill>
                            <a:schemeClr val="tx1"/>
                          </a:solidFill>
                          <a:effectLst/>
                          <a:latin typeface="EYInterstate Light" pitchFamily="2" charset="0"/>
                        </a:rPr>
                        <a:t>Lync Dormant Package</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Currently the firm has 161,912 Total Machines we can deploy to:</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Our current target list is 148k machines because:</a:t>
                      </a:r>
                    </a:p>
                    <a:p>
                      <a:pPr marL="542925" marR="0" lvl="1"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M&amp;C have agreed to hold off on deploying to current Outlook users, of which there are 6078</a:t>
                      </a:r>
                    </a:p>
                    <a:p>
                      <a:pPr marL="542925" marR="0" lvl="1"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The total number is further reduced because we have stalled the deployment to Japan, until we confirm whether we are responsible for deploying the language pack. There are 6913 Users.</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Current Lync saturation (based on 148k workstations) is 89%. i.e. We have currently deployed to </a:t>
                      </a:r>
                      <a:r>
                        <a:rPr lang="en-GB" sz="700" kern="1200" dirty="0" smtClean="0">
                          <a:solidFill>
                            <a:schemeClr val="tx1"/>
                          </a:solidFill>
                          <a:latin typeface="EYInterstate Light" pitchFamily="2" charset="0"/>
                          <a:ea typeface="+mn-ea"/>
                          <a:cs typeface="+mn-cs"/>
                        </a:rPr>
                        <a:t>131,953 Workstations</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endParaRPr lang="en-GB" sz="700" kern="1200" dirty="0" smtClean="0">
                        <a:solidFill>
                          <a:schemeClr val="tx1"/>
                        </a:solidFill>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lang="en-GB" sz="700" kern="1200" dirty="0" smtClean="0">
                          <a:solidFill>
                            <a:schemeClr val="tx1"/>
                          </a:solidFill>
                          <a:latin typeface="EYInterstate Light" pitchFamily="2" charset="0"/>
                          <a:ea typeface="+mn-ea"/>
                          <a:cs typeface="+mn-cs"/>
                        </a:rPr>
                        <a:t>Report</a:t>
                      </a:r>
                      <a:r>
                        <a:rPr lang="en-GB" sz="700" kern="1200" baseline="0" dirty="0" smtClean="0">
                          <a:solidFill>
                            <a:schemeClr val="tx1"/>
                          </a:solidFill>
                          <a:latin typeface="EYInterstate Light" pitchFamily="2" charset="0"/>
                          <a:ea typeface="+mn-ea"/>
                          <a:cs typeface="+mn-cs"/>
                        </a:rPr>
                        <a:t> back from Americas is now showing a failure rate of less than 1%.</a:t>
                      </a:r>
                      <a:endParaRPr lang="en-GB" sz="700" kern="1200" dirty="0" smtClean="0">
                        <a:solidFill>
                          <a:schemeClr val="tx1"/>
                        </a:solidFill>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endParaRPr lang="en-GB" sz="700" kern="1200" dirty="0" smtClean="0">
                        <a:solidFill>
                          <a:schemeClr val="tx1"/>
                        </a:solidFill>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959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Light"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94886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GB" sz="700" kern="1200" dirty="0" smtClean="0">
                          <a:solidFill>
                            <a:schemeClr val="tx1"/>
                          </a:solidFill>
                          <a:latin typeface="EYInterstate Light" pitchFamily="2" charset="0"/>
                          <a:ea typeface="+mn-ea"/>
                          <a:cs typeface="+mn-cs"/>
                        </a:rPr>
                        <a:t>Lync</a:t>
                      </a:r>
                    </a:p>
                    <a:p>
                      <a:pPr marL="542925" marR="0" lvl="1" indent="-85725" algn="l" defTabSz="947738" rtl="0" eaLnBrk="0" fontAlgn="base" latinLnBrk="0" hangingPunct="0">
                        <a:lnSpc>
                          <a:spcPct val="100000"/>
                        </a:lnSpc>
                        <a:spcBef>
                          <a:spcPct val="0"/>
                        </a:spcBef>
                        <a:spcAft>
                          <a:spcPct val="10000"/>
                        </a:spcAft>
                        <a:buClrTx/>
                        <a:buSzTx/>
                        <a:buFontTx/>
                        <a:buChar char="•"/>
                        <a:tabLst/>
                        <a:defRPr/>
                      </a:pPr>
                      <a:r>
                        <a:rPr lang="en-GB" sz="700" kern="1200" dirty="0" smtClean="0">
                          <a:solidFill>
                            <a:schemeClr val="tx1"/>
                          </a:solidFill>
                          <a:latin typeface="EYInterstate Light" pitchFamily="2" charset="0"/>
                          <a:ea typeface="+mn-ea"/>
                          <a:cs typeface="+mn-cs"/>
                        </a:rPr>
                        <a:t>6913 installations in Japan  is moving forward. We are currently awaiting dates</a:t>
                      </a:r>
                      <a:r>
                        <a:rPr lang="en-GB" sz="700" kern="1200" baseline="0" dirty="0" smtClean="0">
                          <a:solidFill>
                            <a:schemeClr val="tx1"/>
                          </a:solidFill>
                          <a:latin typeface="EYInterstate Light" pitchFamily="2" charset="0"/>
                          <a:ea typeface="+mn-ea"/>
                          <a:cs typeface="+mn-cs"/>
                        </a:rPr>
                        <a:t> &amp; </a:t>
                      </a:r>
                      <a:r>
                        <a:rPr lang="en-GB" sz="700" kern="1200" dirty="0" smtClean="0">
                          <a:solidFill>
                            <a:schemeClr val="tx1"/>
                          </a:solidFill>
                          <a:latin typeface="EYInterstate Light" pitchFamily="2" charset="0"/>
                          <a:ea typeface="+mn-ea"/>
                          <a:cs typeface="+mn-cs"/>
                        </a:rPr>
                        <a:t>approval to carry out the deployment</a:t>
                      </a:r>
                    </a:p>
                    <a:p>
                      <a:pPr marL="542925" marR="0" lvl="1" indent="-85725" algn="l" defTabSz="947738" rtl="0" eaLnBrk="0" fontAlgn="base" latinLnBrk="0" hangingPunct="0">
                        <a:lnSpc>
                          <a:spcPct val="100000"/>
                        </a:lnSpc>
                        <a:spcBef>
                          <a:spcPct val="0"/>
                        </a:spcBef>
                        <a:spcAft>
                          <a:spcPct val="10000"/>
                        </a:spcAft>
                        <a:buClrTx/>
                        <a:buSzTx/>
                        <a:buFontTx/>
                        <a:buChar char="•"/>
                        <a:tabLst/>
                        <a:defRPr/>
                      </a:pPr>
                      <a:r>
                        <a:rPr lang="en-GB" sz="700" kern="1200" baseline="0" dirty="0" smtClean="0">
                          <a:solidFill>
                            <a:schemeClr val="tx1"/>
                          </a:solidFill>
                          <a:latin typeface="EYInterstate Light" pitchFamily="2" charset="0"/>
                          <a:ea typeface="+mn-ea"/>
                          <a:cs typeface="+mn-cs"/>
                        </a:rPr>
                        <a:t>Awaiting Business User </a:t>
                      </a:r>
                      <a:r>
                        <a:rPr lang="en-GB" sz="700" kern="1200" baseline="0" dirty="0" err="1" smtClean="0">
                          <a:solidFill>
                            <a:schemeClr val="tx1"/>
                          </a:solidFill>
                          <a:latin typeface="EYInterstate Light" pitchFamily="2" charset="0"/>
                          <a:ea typeface="+mn-ea"/>
                          <a:cs typeface="+mn-cs"/>
                        </a:rPr>
                        <a:t>detial</a:t>
                      </a:r>
                      <a:r>
                        <a:rPr lang="en-GB" sz="700" kern="1200" baseline="0" dirty="0" smtClean="0">
                          <a:solidFill>
                            <a:schemeClr val="tx1"/>
                          </a:solidFill>
                          <a:latin typeface="EYInterstate Light" pitchFamily="2" charset="0"/>
                          <a:ea typeface="+mn-ea"/>
                          <a:cs typeface="+mn-cs"/>
                        </a:rPr>
                        <a:t> so that we can start out Transition 2 Testing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959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Light"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78196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Continue with the Lync deployment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Confirm success of Outlook deployment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Receive confirmation of deployment date for Japan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Start Transition 2 – Business Users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nvGraphicFramePr>
        <p:xfrm>
          <a:off x="4648200" y="4038600"/>
          <a:ext cx="4355123" cy="1277046"/>
        </p:xfrm>
        <a:graphic>
          <a:graphicData uri="http://schemas.openxmlformats.org/drawingml/2006/table">
            <a:tbl>
              <a:tblPr/>
              <a:tblGrid>
                <a:gridCol w="2113085"/>
                <a:gridCol w="2242038"/>
              </a:tblGrid>
              <a:tr h="13378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Light"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3378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1"/>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1"/>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570332">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SCCM is currently not deploying, neither providing reporting capabilities in order for us to deploy, and confirm deployment status.</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Fix SCCM to enable the continuation of out Lync &amp; Outlook deployments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0457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Scope 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Recommended Action</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1"/>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1"/>
                    </a:solidFill>
                  </a:tcPr>
                </a:tc>
              </a:tr>
              <a:tr h="13378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chemeClr val="tx1"/>
                          </a:solidFill>
                          <a:effectLst/>
                          <a:latin typeface="EYInterstate Light" pitchFamily="2" charset="0"/>
                        </a:rPr>
                        <a:t>TOTAL - 0 change controls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nvGraphicFramePr>
        <p:xfrm>
          <a:off x="152400" y="1371600"/>
          <a:ext cx="4419600" cy="1447800"/>
        </p:xfrm>
        <a:graphic>
          <a:graphicData uri="http://schemas.openxmlformats.org/drawingml/2006/table">
            <a:tbl>
              <a:tblPr/>
              <a:tblGrid>
                <a:gridCol w="4419600"/>
              </a:tblGrid>
              <a:tr h="166882">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Light" pitchFamily="2" charset="0"/>
                        </a:rPr>
                        <a:t>A.  </a:t>
                      </a:r>
                      <a:r>
                        <a:rPr kumimoji="0" lang="en-GB" sz="700" b="1" i="0" u="none" strike="noStrike" cap="none" normalizeH="0" baseline="0" dirty="0">
                          <a:ln>
                            <a:noFill/>
                          </a:ln>
                          <a:solidFill>
                            <a:schemeClr val="tx1"/>
                          </a:solidFill>
                          <a:effectLst/>
                          <a:latin typeface="EYInterstate Light" pitchFamily="2" charset="0"/>
                        </a:rPr>
                        <a:t>EXECUTIVE SUMMARY – a summary of the progress for this period (not of the initiative)</a:t>
                      </a:r>
                      <a:endParaRPr kumimoji="0" lang="en-US" sz="700" b="1" i="0" u="none" strike="noStrike" cap="none" normalizeH="0" baseline="0" dirty="0">
                        <a:ln>
                          <a:noFill/>
                        </a:ln>
                        <a:solidFill>
                          <a:schemeClr val="tx1"/>
                        </a:solidFill>
                        <a:effectLst/>
                        <a:latin typeface="EYInterstate Light"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280918">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endParaRPr kumimoji="0" lang="en-US" sz="700" b="0" i="0" u="none" strike="noStrike" cap="none" normalizeH="0" baseline="0" dirty="0" smtClean="0">
                        <a:ln>
                          <a:noFill/>
                        </a:ln>
                        <a:solidFill>
                          <a:schemeClr val="tx1"/>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Lync is currently deployed</a:t>
                      </a:r>
                      <a:r>
                        <a:rPr lang="en-GB" sz="700" kern="1200" dirty="0" smtClean="0">
                          <a:solidFill>
                            <a:schemeClr val="tx1"/>
                          </a:solidFill>
                          <a:latin typeface="EYInterstate Light" pitchFamily="2" charset="0"/>
                          <a:ea typeface="+mn-ea"/>
                          <a:cs typeface="+mn-cs"/>
                        </a:rPr>
                        <a:t> with a saturation rate of 92% </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lang="en-GB" sz="700" kern="1200" dirty="0" smtClean="0">
                          <a:solidFill>
                            <a:schemeClr val="tx1"/>
                          </a:solidFill>
                          <a:latin typeface="EYInterstate Light" pitchFamily="2" charset="0"/>
                          <a:ea typeface="+mn-ea"/>
                          <a:cs typeface="+mn-cs"/>
                        </a:rPr>
                        <a:t>M&amp;C</a:t>
                      </a:r>
                      <a:r>
                        <a:rPr lang="en-GB" sz="700" kern="1200" baseline="0" dirty="0" smtClean="0">
                          <a:solidFill>
                            <a:schemeClr val="tx1"/>
                          </a:solidFill>
                          <a:latin typeface="EYInterstate Light" pitchFamily="2" charset="0"/>
                          <a:ea typeface="+mn-ea"/>
                          <a:cs typeface="+mn-cs"/>
                        </a:rPr>
                        <a:t> have agreed not to role out to the </a:t>
                      </a:r>
                      <a:r>
                        <a:rPr lang="en-GB" sz="700" kern="1200" dirty="0" smtClean="0">
                          <a:solidFill>
                            <a:schemeClr val="tx1"/>
                          </a:solidFill>
                          <a:latin typeface="EYInterstate Light" pitchFamily="2" charset="0"/>
                          <a:ea typeface="+mn-ea"/>
                          <a:cs typeface="+mn-cs"/>
                        </a:rPr>
                        <a:t> 6078 workstations which currently have Outlook installed.</a:t>
                      </a:r>
                      <a:r>
                        <a:rPr lang="en-GB" sz="700" kern="1200" baseline="0" dirty="0" smtClean="0">
                          <a:solidFill>
                            <a:schemeClr val="tx1"/>
                          </a:solidFill>
                          <a:latin typeface="EYInterstate Light" pitchFamily="2" charset="0"/>
                          <a:ea typeface="+mn-ea"/>
                          <a:cs typeface="+mn-cs"/>
                        </a:rPr>
                        <a:t> </a:t>
                      </a:r>
                      <a:endParaRPr kumimoji="0" lang="en-GB" sz="700" b="0" i="0" u="none" strike="noStrike" kern="1200" cap="none" normalizeH="0" baseline="0" dirty="0" smtClean="0">
                        <a:ln>
                          <a:noFill/>
                        </a:ln>
                        <a:solidFill>
                          <a:schemeClr val="tx1"/>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Outlook Package Transition 1B test has completed. Results still coming in. Delayed due to SCCM reporting issues.</a:t>
                      </a:r>
                      <a:endParaRPr kumimoji="0" lang="en-US" sz="100" b="0" i="0" u="none" strike="noStrike" cap="none" normalizeH="0" baseline="0" dirty="0" smtClean="0">
                        <a:ln>
                          <a:noFill/>
                        </a:ln>
                        <a:solidFill>
                          <a:schemeClr val="tx1"/>
                        </a:solidFill>
                        <a:effectLst/>
                        <a:latin typeface="EYInterstate Light" pitchFamily="2" charset="0"/>
                      </a:endParaRP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5" name="Group 270"/>
          <p:cNvGraphicFramePr>
            <a:graphicFrameLocks noGrp="1"/>
          </p:cNvGraphicFramePr>
          <p:nvPr/>
        </p:nvGraphicFramePr>
        <p:xfrm>
          <a:off x="7570788" y="69850"/>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bl>
          </a:graphicData>
        </a:graphic>
      </p:graphicFrame>
      <p:graphicFrame>
        <p:nvGraphicFramePr>
          <p:cNvPr id="16" name="Table 15"/>
          <p:cNvGraphicFramePr>
            <a:graphicFrameLocks noGrp="1"/>
          </p:cNvGraphicFramePr>
          <p:nvPr/>
        </p:nvGraphicFramePr>
        <p:xfrm>
          <a:off x="4648200" y="2590800"/>
          <a:ext cx="4355123" cy="1373260"/>
        </p:xfrm>
        <a:graphic>
          <a:graphicData uri="http://schemas.openxmlformats.org/drawingml/2006/table">
            <a:tbl>
              <a:tblPr/>
              <a:tblGrid>
                <a:gridCol w="2104292"/>
                <a:gridCol w="2250831"/>
              </a:tblGrid>
              <a:tr h="111972">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Light"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11972">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1"/>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1"/>
                          </a:solidFill>
                          <a:effectLst/>
                          <a:latin typeface="EYInterstate Light" pitchFamily="2" charset="0"/>
                        </a:rPr>
                        <a:t>Mitigating Action</a:t>
                      </a:r>
                      <a:endParaRPr kumimoji="0" lang="en-US" sz="700" b="0" i="0" u="none" strike="noStrike" cap="none" normalizeH="0" baseline="0" dirty="0">
                        <a:ln>
                          <a:noFill/>
                        </a:ln>
                        <a:solidFill>
                          <a:schemeClr val="bg1"/>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43772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SCCM has operation issues that is impacting our ability to roll out the remainder of Lync and confirm the success of our Outlook deployment</a:t>
                      </a:r>
                      <a:endParaRPr kumimoji="0" lang="en-US" sz="700" b="0" i="0" u="none" strike="noStrike" cap="none" normalizeH="0" baseline="0" dirty="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The SCCM Team are working with Microsoft to isolate and solve the issue. Current fix date is unknown.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43772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We cannot start out Transition 2 (Business User Testing) until the required user details have been provided. This is being delayed due to the SCCM issues, and the fact that this is the “Busy Period” for B Users, and they are reluctant to be part of out test process.</a:t>
                      </a:r>
                      <a:endParaRPr kumimoji="0" lang="en-US" sz="700" b="0" i="0" u="none" strike="noStrike" cap="none" normalizeH="0" baseline="0" dirty="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We are awaiting details from Keelin Miller.</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nvGraphicFramePr>
        <p:xfrm>
          <a:off x="4648200" y="5538283"/>
          <a:ext cx="4355123" cy="522665"/>
        </p:xfrm>
        <a:graphic>
          <a:graphicData uri="http://schemas.openxmlformats.org/drawingml/2006/table">
            <a:tbl>
              <a:tblPr/>
              <a:tblGrid>
                <a:gridCol w="4355123"/>
              </a:tblGrid>
              <a:tr h="164591">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Light"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1640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 GREEN – Although we have a delay to Outlook, the impact is minimal at this stage, although this is TBC based on the new decision to Pilot from June 2012.</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We currently have a saturation rate of 92% for Lync.</a:t>
                      </a:r>
                      <a:endParaRPr kumimoji="0" lang="en-US" sz="700" b="0" i="0" u="none" strike="noStrike" cap="none" normalizeH="0" baseline="0" dirty="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450" y="6584950"/>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550" y="658495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688" y="6573838"/>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69850" y="6581775"/>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a:grpSpLocks/>
          </p:cNvGrpSpPr>
          <p:nvPr/>
        </p:nvGrpSpPr>
        <p:grpSpPr bwMode="auto">
          <a:xfrm>
            <a:off x="0" y="6389688"/>
            <a:ext cx="8964613" cy="541337"/>
            <a:chOff x="0" y="6505545"/>
            <a:chExt cx="9711531" cy="540206"/>
          </a:xfrm>
        </p:grpSpPr>
        <p:sp>
          <p:nvSpPr>
            <p:cNvPr id="21731" name="TextBox 20"/>
            <p:cNvSpPr txBox="1">
              <a:spLocks noChangeArrowheads="1"/>
            </p:cNvSpPr>
            <p:nvPr/>
          </p:nvSpPr>
          <p:spPr bwMode="gray">
            <a:xfrm>
              <a:off x="1639689" y="6576570"/>
              <a:ext cx="2611234" cy="400110"/>
            </a:xfrm>
            <a:prstGeom prst="rect">
              <a:avLst/>
            </a:prstGeom>
            <a:noFill/>
            <a:ln w="9525">
              <a:noFill/>
              <a:miter lim="800000"/>
              <a:headEnd/>
              <a:tailEnd/>
            </a:ln>
          </p:spPr>
          <p:txBody>
            <a:bodyPr>
              <a:spAutoFit/>
            </a:bodyPr>
            <a:lstStyle/>
            <a:p>
              <a:pPr defTabSz="955675" eaLnBrk="0" hangingPunct="0"/>
              <a:endParaRPr lang="en-GB" sz="500" b="1" dirty="0">
                <a:solidFill>
                  <a:srgbClr val="646464"/>
                </a:solidFill>
                <a:latin typeface="EYInterstate Light" pitchFamily="2" charset="0"/>
              </a:endParaRPr>
            </a:p>
            <a:p>
              <a:pPr defTabSz="955675" eaLnBrk="0" hangingPunct="0"/>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149" y="6657627"/>
              <a:ext cx="663830" cy="169507"/>
            </a:xfrm>
            <a:prstGeom prst="rect">
              <a:avLst/>
            </a:prstGeom>
          </p:spPr>
          <p:txBody>
            <a:bodyPr wrap="none">
              <a:spAutoFit/>
            </a:bodyPr>
            <a:lstStyle/>
            <a:p>
              <a:pPr defTabSz="955675" eaLnBrk="0" hangingPunct="0">
                <a:spcAft>
                  <a:spcPts val="0"/>
                </a:spcAft>
                <a:defRPr/>
              </a:pPr>
              <a:r>
                <a:rPr lang="en-US" sz="500" b="1" dirty="0">
                  <a:solidFill>
                    <a:srgbClr val="646464"/>
                  </a:solidFill>
                  <a:latin typeface="EYInterstate Light" pitchFamily="2" charset="0"/>
                </a:rPr>
                <a:t>Fully achieved</a:t>
              </a:r>
              <a:endParaRPr lang="en-GB" sz="500" b="1" kern="0" dirty="0">
                <a:solidFill>
                  <a:srgbClr val="646464"/>
                </a:solidFill>
                <a:latin typeface="EYInterstate"/>
              </a:endParaRPr>
            </a:p>
          </p:txBody>
        </p:sp>
        <p:sp>
          <p:nvSpPr>
            <p:cNvPr id="25" name="TextBox 24"/>
            <p:cNvSpPr txBox="1"/>
            <p:nvPr/>
          </p:nvSpPr>
          <p:spPr bwMode="gray">
            <a:xfrm>
              <a:off x="0" y="6505545"/>
              <a:ext cx="4882422" cy="169507"/>
            </a:xfrm>
            <a:prstGeom prst="rect">
              <a:avLst/>
            </a:prstGeom>
          </p:spPr>
          <p:txBody>
            <a:bodyPr wrap="none">
              <a:spAutoFit/>
            </a:bodyPr>
            <a:lstStyle/>
            <a:p>
              <a:pPr defTabSz="955675" eaLnBrk="0" hangingPunct="0">
                <a:spcAft>
                  <a:spcPts val="0"/>
                </a:spcAft>
                <a:defRPr/>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a:endParaRPr>
            </a:p>
          </p:txBody>
        </p:sp>
        <p:sp>
          <p:nvSpPr>
            <p:cNvPr id="21734" name="TextBox 25"/>
            <p:cNvSpPr txBox="1">
              <a:spLocks noChangeArrowheads="1"/>
            </p:cNvSpPr>
            <p:nvPr/>
          </p:nvSpPr>
          <p:spPr bwMode="gray">
            <a:xfrm>
              <a:off x="7423210" y="6564722"/>
              <a:ext cx="2288321" cy="400110"/>
            </a:xfrm>
            <a:prstGeom prst="rect">
              <a:avLst/>
            </a:prstGeom>
            <a:noFill/>
            <a:ln w="9525">
              <a:noFill/>
              <a:miter lim="800000"/>
              <a:headEnd/>
              <a:tailEnd/>
            </a:ln>
          </p:spPr>
          <p:txBody>
            <a:bodyPr>
              <a:spAutoFit/>
            </a:bodyPr>
            <a:lstStyle/>
            <a:p>
              <a:pPr defTabSz="955675" eaLnBrk="0" hangingPunct="0"/>
              <a:endParaRPr lang="en-GB" sz="500" b="1" dirty="0">
                <a:solidFill>
                  <a:srgbClr val="646464"/>
                </a:solidFill>
                <a:latin typeface="EYInterstate Light" pitchFamily="2" charset="0"/>
              </a:endParaRPr>
            </a:p>
            <a:p>
              <a:pPr defTabSz="955675" eaLnBrk="0" hangingPunct="0"/>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1735" name="TextBox 26"/>
            <p:cNvSpPr txBox="1">
              <a:spLocks noChangeArrowheads="1"/>
            </p:cNvSpPr>
            <p:nvPr/>
          </p:nvSpPr>
          <p:spPr bwMode="gray">
            <a:xfrm>
              <a:off x="4849123" y="6568697"/>
              <a:ext cx="1976087" cy="477054"/>
            </a:xfrm>
            <a:prstGeom prst="rect">
              <a:avLst/>
            </a:prstGeom>
            <a:noFill/>
            <a:ln w="9525">
              <a:noFill/>
              <a:miter lim="800000"/>
              <a:headEnd/>
              <a:tailEnd/>
            </a:ln>
          </p:spPr>
          <p:txBody>
            <a:bodyPr>
              <a:spAutoFit/>
            </a:bodyPr>
            <a:lstStyle/>
            <a:p>
              <a:pPr defTabSz="955675" eaLnBrk="0" hangingPunct="0"/>
              <a:endParaRPr lang="en-GB" sz="500" b="1" dirty="0">
                <a:solidFill>
                  <a:srgbClr val="646464"/>
                </a:solidFill>
                <a:latin typeface="EYInterstate Light" pitchFamily="2" charset="0"/>
              </a:endParaRPr>
            </a:p>
            <a:p>
              <a:pPr defTabSz="955675" eaLnBrk="0" hangingPunct="0"/>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21682" name="Freeform 94"/>
          <p:cNvSpPr>
            <a:spLocks/>
          </p:cNvSpPr>
          <p:nvPr/>
        </p:nvSpPr>
        <p:spPr bwMode="gray">
          <a:xfrm>
            <a:off x="-3175" y="-3175"/>
            <a:ext cx="7546975" cy="307975"/>
          </a:xfrm>
          <a:custGeom>
            <a:avLst/>
            <a:gdLst>
              <a:gd name="T0" fmla="*/ 2147483647 w 6000"/>
              <a:gd name="T1" fmla="*/ 0 h 754"/>
              <a:gd name="T2" fmla="*/ 2147483647 w 6000"/>
              <a:gd name="T3" fmla="*/ 2147483647 h 754"/>
              <a:gd name="T4" fmla="*/ 0 w 6000"/>
              <a:gd name="T5" fmla="*/ 2147483647 h 754"/>
              <a:gd name="T6" fmla="*/ 0 w 6000"/>
              <a:gd name="T7" fmla="*/ 2147483647 h 754"/>
              <a:gd name="T8" fmla="*/ 2147483647 w 6000"/>
              <a:gd name="T9" fmla="*/ 0 h 754"/>
              <a:gd name="T10" fmla="*/ 0 60000 65536"/>
              <a:gd name="T11" fmla="*/ 0 60000 65536"/>
              <a:gd name="T12" fmla="*/ 0 60000 65536"/>
              <a:gd name="T13" fmla="*/ 0 60000 65536"/>
              <a:gd name="T14" fmla="*/ 0 60000 65536"/>
              <a:gd name="T15" fmla="*/ 0 w 6000"/>
              <a:gd name="T16" fmla="*/ 0 h 754"/>
              <a:gd name="T17" fmla="*/ 6000 w 6000"/>
              <a:gd name="T18" fmla="*/ 754 h 754"/>
            </a:gdLst>
            <a:ahLst/>
            <a:cxnLst>
              <a:cxn ang="T10">
                <a:pos x="T0" y="T1"/>
              </a:cxn>
              <a:cxn ang="T11">
                <a:pos x="T2" y="T3"/>
              </a:cxn>
              <a:cxn ang="T12">
                <a:pos x="T4" y="T5"/>
              </a:cxn>
              <a:cxn ang="T13">
                <a:pos x="T6" y="T7"/>
              </a:cxn>
              <a:cxn ang="T14">
                <a:pos x="T8" y="T9"/>
              </a:cxn>
            </a:cxnLst>
            <a:rect l="T15" t="T16" r="T17" b="T18"/>
            <a:pathLst>
              <a:path w="6000" h="754">
                <a:moveTo>
                  <a:pt x="6000" y="0"/>
                </a:moveTo>
                <a:lnTo>
                  <a:pt x="5854" y="752"/>
                </a:lnTo>
                <a:lnTo>
                  <a:pt x="0" y="754"/>
                </a:lnTo>
                <a:lnTo>
                  <a:pt x="0" y="3"/>
                </a:lnTo>
                <a:lnTo>
                  <a:pt x="6000" y="0"/>
                </a:lnTo>
                <a:close/>
              </a:path>
            </a:pathLst>
          </a:custGeom>
          <a:solidFill>
            <a:srgbClr val="FFD200"/>
          </a:solidFill>
          <a:ln w="9525">
            <a:noFill/>
            <a:round/>
            <a:headEnd/>
            <a:tailEnd/>
          </a:ln>
        </p:spPr>
        <p:txBody>
          <a:bodyPr/>
          <a:lstStyle/>
          <a:p>
            <a:endParaRPr lang="en-GB" dirty="0"/>
          </a:p>
        </p:txBody>
      </p:sp>
      <p:sp>
        <p:nvSpPr>
          <p:cNvPr id="67" name="Rectangle 183"/>
          <p:cNvSpPr txBox="1">
            <a:spLocks noChangeArrowheads="1"/>
          </p:cNvSpPr>
          <p:nvPr/>
        </p:nvSpPr>
        <p:spPr bwMode="gray">
          <a:xfrm>
            <a:off x="0" y="0"/>
            <a:ext cx="7729538" cy="338138"/>
          </a:xfrm>
          <a:prstGeom prst="rect">
            <a:avLst/>
          </a:prstGeom>
        </p:spPr>
        <p:txBody>
          <a:bodyPr>
            <a:spAutoFit/>
          </a:bodyPr>
          <a:lstStyle/>
          <a:p>
            <a:pPr algn="l" defTabSz="955675" eaLnBrk="0" hangingPunct="0">
              <a:spcAft>
                <a:spcPts val="0"/>
              </a:spcAft>
              <a:defRPr/>
            </a:pPr>
            <a:r>
              <a:rPr lang="en-US" sz="1600" b="1" kern="0" dirty="0">
                <a:solidFill>
                  <a:srgbClr val="646464"/>
                </a:solidFill>
                <a:latin typeface="+mj-lt"/>
              </a:rPr>
              <a:t>R19913– </a:t>
            </a:r>
            <a:r>
              <a:rPr lang="en-US" sz="1600" b="1" kern="0" dirty="0" smtClean="0">
                <a:solidFill>
                  <a:srgbClr val="646464"/>
                </a:solidFill>
                <a:latin typeface="+mj-lt"/>
              </a:rPr>
              <a:t>UC Dormant Deployment</a:t>
            </a:r>
            <a:endParaRPr lang="en-US" sz="1400" kern="0" dirty="0">
              <a:solidFill>
                <a:srgbClr val="646464"/>
              </a:solidFill>
              <a:latin typeface="+mj-lt"/>
            </a:endParaRPr>
          </a:p>
        </p:txBody>
      </p:sp>
      <p:sp>
        <p:nvSpPr>
          <p:cNvPr id="21684" name="Line 69"/>
          <p:cNvSpPr>
            <a:spLocks noChangeShapeType="1"/>
          </p:cNvSpPr>
          <p:nvPr/>
        </p:nvSpPr>
        <p:spPr bwMode="gray">
          <a:xfrm>
            <a:off x="762000" y="914400"/>
            <a:ext cx="7835900" cy="0"/>
          </a:xfrm>
          <a:prstGeom prst="line">
            <a:avLst/>
          </a:prstGeom>
          <a:noFill/>
          <a:ln w="38100">
            <a:solidFill>
              <a:srgbClr val="FFD200"/>
            </a:solidFill>
            <a:round/>
            <a:headEnd type="diamond" w="med" len="med"/>
            <a:tailEnd type="diamond" w="med" len="med"/>
          </a:ln>
        </p:spPr>
        <p:txBody>
          <a:bodyPr lIns="92075" tIns="46038" rIns="92075" bIns="46038">
            <a:spAutoFit/>
          </a:bodyPr>
          <a:lstStyle/>
          <a:p>
            <a:endParaRPr lang="en-GB" dirty="0"/>
          </a:p>
        </p:txBody>
      </p:sp>
      <p:sp>
        <p:nvSpPr>
          <p:cNvPr id="21685" name="Text Box 70"/>
          <p:cNvSpPr txBox="1">
            <a:spLocks noChangeArrowheads="1"/>
          </p:cNvSpPr>
          <p:nvPr/>
        </p:nvSpPr>
        <p:spPr bwMode="gray">
          <a:xfrm>
            <a:off x="228600" y="533400"/>
            <a:ext cx="820738" cy="303213"/>
          </a:xfrm>
          <a:prstGeom prst="rect">
            <a:avLst/>
          </a:prstGeom>
          <a:noFill/>
          <a:ln w="9525" algn="ctr">
            <a:noFill/>
            <a:miter lim="800000"/>
            <a:headEnd type="none" w="sm" len="sm"/>
            <a:tailEnd type="none" w="sm" len="sm"/>
          </a:ln>
        </p:spPr>
        <p:txBody>
          <a:bodyPr lIns="57057" tIns="28529" rIns="57057" bIns="28529">
            <a:spAutoFit/>
          </a:bodyPr>
          <a:lstStyle/>
          <a:p>
            <a:pPr defTabSz="514350" eaLnBrk="0" hangingPunct="0"/>
            <a:r>
              <a:rPr lang="en-US" sz="800" b="1" dirty="0">
                <a:solidFill>
                  <a:srgbClr val="000000"/>
                </a:solidFill>
                <a:latin typeface="EYInterstate" pitchFamily="2" charset="0"/>
              </a:rPr>
              <a:t>Target Milestones</a:t>
            </a:r>
          </a:p>
        </p:txBody>
      </p:sp>
      <p:sp>
        <p:nvSpPr>
          <p:cNvPr id="21686" name="Line 71"/>
          <p:cNvSpPr>
            <a:spLocks noChangeShapeType="1"/>
          </p:cNvSpPr>
          <p:nvPr/>
        </p:nvSpPr>
        <p:spPr bwMode="gray">
          <a:xfrm>
            <a:off x="1184275"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1687" name="Line 72"/>
          <p:cNvSpPr>
            <a:spLocks noChangeShapeType="1"/>
          </p:cNvSpPr>
          <p:nvPr/>
        </p:nvSpPr>
        <p:spPr bwMode="gray">
          <a:xfrm>
            <a:off x="1981200"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1688" name="Line 73"/>
          <p:cNvSpPr>
            <a:spLocks noChangeShapeType="1"/>
          </p:cNvSpPr>
          <p:nvPr/>
        </p:nvSpPr>
        <p:spPr bwMode="gray">
          <a:xfrm>
            <a:off x="7469188"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1689" name="Text Box 74"/>
          <p:cNvSpPr txBox="1">
            <a:spLocks noChangeArrowheads="1"/>
          </p:cNvSpPr>
          <p:nvPr/>
        </p:nvSpPr>
        <p:spPr bwMode="gray">
          <a:xfrm>
            <a:off x="1082675" y="990600"/>
            <a:ext cx="285750"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May ‘11</a:t>
            </a:r>
          </a:p>
        </p:txBody>
      </p:sp>
      <p:sp>
        <p:nvSpPr>
          <p:cNvPr id="21690" name="Line 75"/>
          <p:cNvSpPr>
            <a:spLocks noChangeShapeType="1"/>
          </p:cNvSpPr>
          <p:nvPr/>
        </p:nvSpPr>
        <p:spPr bwMode="gray">
          <a:xfrm>
            <a:off x="6908800"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1691" name="Line 76"/>
          <p:cNvSpPr>
            <a:spLocks noChangeShapeType="1"/>
          </p:cNvSpPr>
          <p:nvPr/>
        </p:nvSpPr>
        <p:spPr bwMode="gray">
          <a:xfrm>
            <a:off x="8058150"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1692" name="Line 77"/>
          <p:cNvSpPr>
            <a:spLocks noChangeShapeType="1"/>
          </p:cNvSpPr>
          <p:nvPr/>
        </p:nvSpPr>
        <p:spPr bwMode="gray">
          <a:xfrm>
            <a:off x="2554288"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1693" name="Line 78"/>
          <p:cNvSpPr>
            <a:spLocks noChangeShapeType="1"/>
          </p:cNvSpPr>
          <p:nvPr/>
        </p:nvSpPr>
        <p:spPr bwMode="gray">
          <a:xfrm>
            <a:off x="3684588"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1694" name="Line 79"/>
          <p:cNvSpPr>
            <a:spLocks noChangeShapeType="1"/>
          </p:cNvSpPr>
          <p:nvPr/>
        </p:nvSpPr>
        <p:spPr bwMode="gray">
          <a:xfrm>
            <a:off x="4083050"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1695" name="Line 80"/>
          <p:cNvSpPr>
            <a:spLocks noChangeShapeType="1"/>
          </p:cNvSpPr>
          <p:nvPr/>
        </p:nvSpPr>
        <p:spPr bwMode="gray">
          <a:xfrm>
            <a:off x="4633913"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1696" name="Line 81"/>
          <p:cNvSpPr>
            <a:spLocks noChangeShapeType="1"/>
          </p:cNvSpPr>
          <p:nvPr/>
        </p:nvSpPr>
        <p:spPr bwMode="gray">
          <a:xfrm>
            <a:off x="5786438"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1697" name="Line 82"/>
          <p:cNvSpPr>
            <a:spLocks noChangeShapeType="1"/>
          </p:cNvSpPr>
          <p:nvPr/>
        </p:nvSpPr>
        <p:spPr bwMode="gray">
          <a:xfrm>
            <a:off x="6346825"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1698" name="Text Box 83"/>
          <p:cNvSpPr txBox="1">
            <a:spLocks noChangeArrowheads="1"/>
          </p:cNvSpPr>
          <p:nvPr/>
        </p:nvSpPr>
        <p:spPr bwMode="gray">
          <a:xfrm>
            <a:off x="1879600" y="990600"/>
            <a:ext cx="31432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June ‘11</a:t>
            </a:r>
          </a:p>
        </p:txBody>
      </p:sp>
      <p:sp>
        <p:nvSpPr>
          <p:cNvPr id="21699" name="Text Box 84"/>
          <p:cNvSpPr txBox="1">
            <a:spLocks noChangeArrowheads="1"/>
          </p:cNvSpPr>
          <p:nvPr/>
        </p:nvSpPr>
        <p:spPr bwMode="gray">
          <a:xfrm>
            <a:off x="2451100" y="990600"/>
            <a:ext cx="292100"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July ‘11</a:t>
            </a:r>
          </a:p>
        </p:txBody>
      </p:sp>
      <p:sp>
        <p:nvSpPr>
          <p:cNvPr id="21700" name="Text Box 85"/>
          <p:cNvSpPr txBox="1">
            <a:spLocks noChangeArrowheads="1"/>
          </p:cNvSpPr>
          <p:nvPr/>
        </p:nvSpPr>
        <p:spPr bwMode="gray">
          <a:xfrm>
            <a:off x="3090863" y="990600"/>
            <a:ext cx="279400"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Aug ‘11</a:t>
            </a:r>
          </a:p>
        </p:txBody>
      </p:sp>
      <p:sp>
        <p:nvSpPr>
          <p:cNvPr id="21701" name="Text Box 86"/>
          <p:cNvSpPr txBox="1">
            <a:spLocks noChangeArrowheads="1"/>
          </p:cNvSpPr>
          <p:nvPr/>
        </p:nvSpPr>
        <p:spPr bwMode="gray">
          <a:xfrm>
            <a:off x="3582988" y="990600"/>
            <a:ext cx="303212"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Sept ‘11</a:t>
            </a:r>
          </a:p>
        </p:txBody>
      </p:sp>
      <p:sp>
        <p:nvSpPr>
          <p:cNvPr id="21702" name="Text Box 87"/>
          <p:cNvSpPr txBox="1">
            <a:spLocks noChangeArrowheads="1"/>
          </p:cNvSpPr>
          <p:nvPr/>
        </p:nvSpPr>
        <p:spPr bwMode="gray">
          <a:xfrm>
            <a:off x="3994150" y="990600"/>
            <a:ext cx="26352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Oct ‘11</a:t>
            </a:r>
          </a:p>
        </p:txBody>
      </p:sp>
      <p:sp>
        <p:nvSpPr>
          <p:cNvPr id="21703" name="Text Box 88"/>
          <p:cNvSpPr txBox="1">
            <a:spLocks noChangeArrowheads="1"/>
          </p:cNvSpPr>
          <p:nvPr/>
        </p:nvSpPr>
        <p:spPr bwMode="gray">
          <a:xfrm>
            <a:off x="4556125" y="990600"/>
            <a:ext cx="277813"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Nov ‘11</a:t>
            </a:r>
          </a:p>
        </p:txBody>
      </p:sp>
      <p:sp>
        <p:nvSpPr>
          <p:cNvPr id="21704" name="Text Box 89"/>
          <p:cNvSpPr txBox="1">
            <a:spLocks noChangeArrowheads="1"/>
          </p:cNvSpPr>
          <p:nvPr/>
        </p:nvSpPr>
        <p:spPr bwMode="gray">
          <a:xfrm>
            <a:off x="5126038" y="990600"/>
            <a:ext cx="274637"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Dec ‘11</a:t>
            </a:r>
          </a:p>
        </p:txBody>
      </p:sp>
      <p:sp>
        <p:nvSpPr>
          <p:cNvPr id="21705" name="Text Box 90"/>
          <p:cNvSpPr txBox="1">
            <a:spLocks noChangeArrowheads="1"/>
          </p:cNvSpPr>
          <p:nvPr/>
        </p:nvSpPr>
        <p:spPr bwMode="gray">
          <a:xfrm>
            <a:off x="5692775" y="990600"/>
            <a:ext cx="26987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Jan ‘12</a:t>
            </a:r>
          </a:p>
        </p:txBody>
      </p:sp>
      <p:sp>
        <p:nvSpPr>
          <p:cNvPr id="21706" name="Text Box 91"/>
          <p:cNvSpPr txBox="1">
            <a:spLocks noChangeArrowheads="1"/>
          </p:cNvSpPr>
          <p:nvPr/>
        </p:nvSpPr>
        <p:spPr bwMode="gray">
          <a:xfrm>
            <a:off x="6257925" y="990600"/>
            <a:ext cx="26987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Feb ‘12</a:t>
            </a:r>
          </a:p>
        </p:txBody>
      </p:sp>
      <p:sp>
        <p:nvSpPr>
          <p:cNvPr id="21707" name="Text Box 92"/>
          <p:cNvSpPr txBox="1">
            <a:spLocks noChangeArrowheads="1"/>
          </p:cNvSpPr>
          <p:nvPr/>
        </p:nvSpPr>
        <p:spPr bwMode="gray">
          <a:xfrm>
            <a:off x="6824663" y="990600"/>
            <a:ext cx="274637"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Mar ‘12</a:t>
            </a:r>
          </a:p>
        </p:txBody>
      </p:sp>
      <p:sp>
        <p:nvSpPr>
          <p:cNvPr id="21708" name="Text Box 93"/>
          <p:cNvSpPr txBox="1">
            <a:spLocks noChangeArrowheads="1"/>
          </p:cNvSpPr>
          <p:nvPr/>
        </p:nvSpPr>
        <p:spPr bwMode="gray">
          <a:xfrm>
            <a:off x="7391400" y="990600"/>
            <a:ext cx="268288"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Apr ‘12</a:t>
            </a:r>
          </a:p>
        </p:txBody>
      </p:sp>
      <p:sp>
        <p:nvSpPr>
          <p:cNvPr id="21709" name="Text Box 94"/>
          <p:cNvSpPr txBox="1">
            <a:spLocks noChangeArrowheads="1"/>
          </p:cNvSpPr>
          <p:nvPr/>
        </p:nvSpPr>
        <p:spPr bwMode="gray">
          <a:xfrm>
            <a:off x="7954963" y="990600"/>
            <a:ext cx="285750"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May ‘12</a:t>
            </a:r>
          </a:p>
        </p:txBody>
      </p:sp>
      <p:sp>
        <p:nvSpPr>
          <p:cNvPr id="21710" name="Text Box 95"/>
          <p:cNvSpPr txBox="1">
            <a:spLocks noChangeArrowheads="1"/>
          </p:cNvSpPr>
          <p:nvPr/>
        </p:nvSpPr>
        <p:spPr bwMode="gray">
          <a:xfrm>
            <a:off x="8532813" y="990600"/>
            <a:ext cx="31432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June ‘12</a:t>
            </a:r>
          </a:p>
        </p:txBody>
      </p:sp>
      <p:sp>
        <p:nvSpPr>
          <p:cNvPr id="21711" name="Line 96"/>
          <p:cNvSpPr>
            <a:spLocks noChangeShapeType="1"/>
          </p:cNvSpPr>
          <p:nvPr/>
        </p:nvSpPr>
        <p:spPr bwMode="gray">
          <a:xfrm>
            <a:off x="3200400"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1712" name="Line 97"/>
          <p:cNvSpPr>
            <a:spLocks noChangeShapeType="1"/>
          </p:cNvSpPr>
          <p:nvPr/>
        </p:nvSpPr>
        <p:spPr bwMode="gray">
          <a:xfrm>
            <a:off x="5202238" y="898525"/>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21713" name="Text Box 98"/>
          <p:cNvSpPr txBox="1">
            <a:spLocks noChangeArrowheads="1"/>
          </p:cNvSpPr>
          <p:nvPr/>
        </p:nvSpPr>
        <p:spPr bwMode="gray">
          <a:xfrm>
            <a:off x="152400" y="914400"/>
            <a:ext cx="457200" cy="180975"/>
          </a:xfrm>
          <a:prstGeom prst="rect">
            <a:avLst/>
          </a:prstGeom>
          <a:solidFill>
            <a:srgbClr val="FFD200"/>
          </a:solidFill>
          <a:ln w="9525" algn="ctr">
            <a:noFill/>
            <a:miter lim="800000"/>
            <a:headEnd type="none" w="sm" len="sm"/>
            <a:tailEnd type="none" w="sm" len="sm"/>
          </a:ln>
        </p:spPr>
        <p:txBody>
          <a:bodyPr lIns="57057" tIns="28529" rIns="57057" bIns="28529">
            <a:spAutoFit/>
          </a:bodyPr>
          <a:lstStyle/>
          <a:p>
            <a:pPr defTabSz="514350" eaLnBrk="0" hangingPunct="0"/>
            <a:r>
              <a:rPr lang="en-US" sz="800" b="1" dirty="0">
                <a:solidFill>
                  <a:srgbClr val="000000"/>
                </a:solidFill>
                <a:latin typeface="EYInterstate" pitchFamily="2" charset="0"/>
              </a:rPr>
              <a:t>Actual</a:t>
            </a:r>
          </a:p>
        </p:txBody>
      </p:sp>
      <p:sp>
        <p:nvSpPr>
          <p:cNvPr id="21714" name="Line 125"/>
          <p:cNvSpPr>
            <a:spLocks noChangeShapeType="1"/>
          </p:cNvSpPr>
          <p:nvPr/>
        </p:nvSpPr>
        <p:spPr bwMode="gray">
          <a:xfrm flipV="1">
            <a:off x="2819400" y="533400"/>
            <a:ext cx="0" cy="304800"/>
          </a:xfrm>
          <a:prstGeom prst="line">
            <a:avLst/>
          </a:prstGeom>
          <a:noFill/>
          <a:ln w="6350">
            <a:solidFill>
              <a:srgbClr val="00B050"/>
            </a:solidFill>
            <a:round/>
            <a:headEnd type="diamond" w="lg" len="lg"/>
            <a:tailEnd type="none" w="sm" len="sm"/>
          </a:ln>
        </p:spPr>
        <p:txBody>
          <a:bodyPr lIns="92075" tIns="46038" rIns="92075" bIns="46038">
            <a:spAutoFit/>
          </a:bodyPr>
          <a:lstStyle/>
          <a:p>
            <a:endParaRPr lang="en-GB" dirty="0"/>
          </a:p>
        </p:txBody>
      </p:sp>
      <p:sp>
        <p:nvSpPr>
          <p:cNvPr id="21715" name="Text Box 126"/>
          <p:cNvSpPr txBox="1">
            <a:spLocks noChangeArrowheads="1"/>
          </p:cNvSpPr>
          <p:nvPr/>
        </p:nvSpPr>
        <p:spPr bwMode="gray">
          <a:xfrm>
            <a:off x="2819400" y="533400"/>
            <a:ext cx="533400" cy="184150"/>
          </a:xfrm>
          <a:prstGeom prst="rect">
            <a:avLst/>
          </a:prstGeom>
          <a:noFill/>
          <a:ln w="9525" algn="ctr">
            <a:noFill/>
            <a:miter lim="800000"/>
            <a:headEnd type="none" w="sm" len="sm"/>
            <a:tailEnd type="none" w="sm" len="sm"/>
          </a:ln>
        </p:spPr>
        <p:txBody>
          <a:bodyPr lIns="26118" tIns="0" rIns="0" bIns="0">
            <a:spAutoFit/>
          </a:bodyPr>
          <a:lstStyle/>
          <a:p>
            <a:pPr defTabSz="514350" eaLnBrk="0" hangingPunct="0"/>
            <a:r>
              <a:rPr lang="en-US" sz="600" dirty="0">
                <a:solidFill>
                  <a:srgbClr val="000000"/>
                </a:solidFill>
                <a:latin typeface="EYInterstate" pitchFamily="2" charset="0"/>
              </a:rPr>
              <a:t>Envisioning Commenced</a:t>
            </a:r>
            <a:endParaRPr lang="en-US" sz="600" dirty="0">
              <a:solidFill>
                <a:srgbClr val="808080"/>
              </a:solidFill>
              <a:latin typeface="EYInterstate" pitchFamily="2" charset="0"/>
            </a:endParaRPr>
          </a:p>
        </p:txBody>
      </p:sp>
      <p:sp>
        <p:nvSpPr>
          <p:cNvPr id="21716" name="Line 125"/>
          <p:cNvSpPr>
            <a:spLocks noChangeShapeType="1"/>
          </p:cNvSpPr>
          <p:nvPr/>
        </p:nvSpPr>
        <p:spPr bwMode="gray">
          <a:xfrm flipV="1">
            <a:off x="3352800" y="381000"/>
            <a:ext cx="0" cy="457200"/>
          </a:xfrm>
          <a:prstGeom prst="line">
            <a:avLst/>
          </a:prstGeom>
          <a:noFill/>
          <a:ln w="6350">
            <a:solidFill>
              <a:srgbClr val="00B050"/>
            </a:solidFill>
            <a:round/>
            <a:headEnd type="diamond" w="lg" len="lg"/>
            <a:tailEnd type="none" w="sm" len="sm"/>
          </a:ln>
        </p:spPr>
        <p:txBody>
          <a:bodyPr lIns="92075" tIns="46038" rIns="92075" bIns="46038">
            <a:spAutoFit/>
          </a:bodyPr>
          <a:lstStyle/>
          <a:p>
            <a:endParaRPr lang="en-GB" dirty="0"/>
          </a:p>
        </p:txBody>
      </p:sp>
      <p:sp>
        <p:nvSpPr>
          <p:cNvPr id="21717" name="Text Box 126"/>
          <p:cNvSpPr txBox="1">
            <a:spLocks noChangeArrowheads="1"/>
          </p:cNvSpPr>
          <p:nvPr/>
        </p:nvSpPr>
        <p:spPr bwMode="gray">
          <a:xfrm>
            <a:off x="2667000" y="381000"/>
            <a:ext cx="684213" cy="92075"/>
          </a:xfrm>
          <a:prstGeom prst="rect">
            <a:avLst/>
          </a:prstGeom>
          <a:noFill/>
          <a:ln w="9525" algn="ctr">
            <a:noFill/>
            <a:miter lim="800000"/>
            <a:headEnd type="none" w="sm" len="sm"/>
            <a:tailEnd type="none" w="sm" len="sm"/>
          </a:ln>
        </p:spPr>
        <p:txBody>
          <a:bodyPr lIns="26118" tIns="0" rIns="0" bIns="0">
            <a:spAutoFit/>
          </a:bodyPr>
          <a:lstStyle/>
          <a:p>
            <a:pPr algn="r" defTabSz="514350" eaLnBrk="0" hangingPunct="0"/>
            <a:r>
              <a:rPr lang="en-US" sz="600" dirty="0">
                <a:solidFill>
                  <a:srgbClr val="000000"/>
                </a:solidFill>
                <a:latin typeface="EYInterstate" pitchFamily="2" charset="0"/>
              </a:rPr>
              <a:t>Initiation Event</a:t>
            </a:r>
            <a:endParaRPr lang="en-US" sz="600" dirty="0">
              <a:solidFill>
                <a:srgbClr val="808080"/>
              </a:solidFill>
              <a:latin typeface="EYInterstate" pitchFamily="2" charset="0"/>
            </a:endParaRPr>
          </a:p>
        </p:txBody>
      </p:sp>
      <p:sp>
        <p:nvSpPr>
          <p:cNvPr id="21718" name="Text Box 126"/>
          <p:cNvSpPr txBox="1">
            <a:spLocks noChangeArrowheads="1"/>
          </p:cNvSpPr>
          <p:nvPr/>
        </p:nvSpPr>
        <p:spPr bwMode="gray">
          <a:xfrm>
            <a:off x="3733800" y="609600"/>
            <a:ext cx="914400" cy="184150"/>
          </a:xfrm>
          <a:prstGeom prst="rect">
            <a:avLst/>
          </a:prstGeom>
          <a:noFill/>
          <a:ln w="9525" algn="ctr">
            <a:noFill/>
            <a:miter lim="800000"/>
            <a:headEnd type="none" w="sm" len="sm"/>
            <a:tailEnd type="none" w="sm" len="sm"/>
          </a:ln>
        </p:spPr>
        <p:txBody>
          <a:bodyPr lIns="26118" tIns="0" rIns="0" bIns="0">
            <a:spAutoFit/>
          </a:bodyPr>
          <a:lstStyle/>
          <a:p>
            <a:r>
              <a:rPr lang="en-GB" sz="600" dirty="0">
                <a:latin typeface="EYInterstate" pitchFamily="2" charset="0"/>
              </a:rPr>
              <a:t>Approve  Envisioning Vision Scope &amp; SOWs</a:t>
            </a:r>
          </a:p>
        </p:txBody>
      </p:sp>
      <p:sp>
        <p:nvSpPr>
          <p:cNvPr id="21719" name="Line 125"/>
          <p:cNvSpPr>
            <a:spLocks noChangeShapeType="1"/>
          </p:cNvSpPr>
          <p:nvPr/>
        </p:nvSpPr>
        <p:spPr bwMode="gray">
          <a:xfrm flipV="1">
            <a:off x="3733800" y="609600"/>
            <a:ext cx="0" cy="2286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dirty="0"/>
          </a:p>
        </p:txBody>
      </p:sp>
      <p:sp>
        <p:nvSpPr>
          <p:cNvPr id="111" name="TextBox 110"/>
          <p:cNvSpPr txBox="1"/>
          <p:nvPr/>
        </p:nvSpPr>
        <p:spPr>
          <a:xfrm>
            <a:off x="7772400" y="609600"/>
            <a:ext cx="1219200" cy="554038"/>
          </a:xfrm>
          <a:prstGeom prst="rect">
            <a:avLst/>
          </a:prstGeom>
          <a:noFill/>
        </p:spPr>
        <p:txBody>
          <a:bodyPr>
            <a:spAutoFit/>
          </a:bodyPr>
          <a:lstStyle/>
          <a:p>
            <a:pPr>
              <a:defRPr/>
            </a:pPr>
            <a:r>
              <a:rPr lang="en-US" sz="600" i="1" dirty="0">
                <a:solidFill>
                  <a:schemeClr val="tx1">
                    <a:lumMod val="40000"/>
                    <a:lumOff val="60000"/>
                  </a:schemeClr>
                </a:solidFill>
                <a:latin typeface="EYInterstate Light" pitchFamily="2" charset="0"/>
              </a:rPr>
              <a:t>*Milestones subject to   approval of SOWs</a:t>
            </a:r>
          </a:p>
          <a:p>
            <a:pPr>
              <a:defRPr/>
            </a:pPr>
            <a:endParaRPr lang="en-GB" dirty="0"/>
          </a:p>
        </p:txBody>
      </p:sp>
      <p:grpSp>
        <p:nvGrpSpPr>
          <p:cNvPr id="3" name="Group 67"/>
          <p:cNvGrpSpPr>
            <a:grpSpLocks/>
          </p:cNvGrpSpPr>
          <p:nvPr/>
        </p:nvGrpSpPr>
        <p:grpSpPr bwMode="auto">
          <a:xfrm>
            <a:off x="4038600" y="381000"/>
            <a:ext cx="3124200" cy="457200"/>
            <a:chOff x="3657600" y="381000"/>
            <a:chExt cx="3124200" cy="457200"/>
          </a:xfrm>
        </p:grpSpPr>
        <p:sp>
          <p:nvSpPr>
            <p:cNvPr id="69" name="Line 125"/>
            <p:cNvSpPr>
              <a:spLocks noChangeShapeType="1"/>
            </p:cNvSpPr>
            <p:nvPr/>
          </p:nvSpPr>
          <p:spPr bwMode="gray">
            <a:xfrm flipV="1">
              <a:off x="3657600" y="381000"/>
              <a:ext cx="0" cy="457200"/>
            </a:xfrm>
            <a:prstGeom prst="line">
              <a:avLst/>
            </a:prstGeom>
            <a:noFill/>
            <a:ln w="6350">
              <a:solidFill>
                <a:schemeClr val="tx1">
                  <a:lumMod val="40000"/>
                  <a:lumOff val="60000"/>
                </a:schemeClr>
              </a:solidFill>
              <a:round/>
              <a:headEnd type="diamond" w="lg" len="lg"/>
              <a:tailEnd type="none" w="sm" len="sm"/>
            </a:ln>
          </p:spPr>
          <p:txBody>
            <a:bodyPr lIns="92075" tIns="46038" rIns="92075" bIns="46038">
              <a:spAutoFit/>
            </a:bodyPr>
            <a:lstStyle/>
            <a:p>
              <a:pPr>
                <a:defRPr/>
              </a:pPr>
              <a:endParaRPr lang="en-GB" dirty="0"/>
            </a:p>
          </p:txBody>
        </p:sp>
        <p:sp>
          <p:nvSpPr>
            <p:cNvPr id="70" name="Text Box 126"/>
            <p:cNvSpPr txBox="1">
              <a:spLocks noChangeArrowheads="1"/>
            </p:cNvSpPr>
            <p:nvPr/>
          </p:nvSpPr>
          <p:spPr bwMode="gray">
            <a:xfrm>
              <a:off x="3657600" y="381000"/>
              <a:ext cx="684213" cy="184150"/>
            </a:xfrm>
            <a:prstGeom prst="rect">
              <a:avLst/>
            </a:prstGeom>
            <a:noFill/>
            <a:ln w="9525" algn="ctr">
              <a:noFill/>
              <a:miter lim="800000"/>
              <a:headEnd type="none" w="sm" len="sm"/>
              <a:tailEnd type="none" w="sm" len="sm"/>
            </a:ln>
          </p:spPr>
          <p:txBody>
            <a:bodyPr lIns="26118" tIns="0" rIns="0" bIns="0">
              <a:spAutoFit/>
            </a:bodyPr>
            <a:lstStyle/>
            <a:p>
              <a:pPr defTabSz="514350" eaLnBrk="0" hangingPunct="0">
                <a:defRPr/>
              </a:pPr>
              <a:r>
                <a:rPr lang="en-US" sz="600" i="1" dirty="0">
                  <a:solidFill>
                    <a:schemeClr val="tx1">
                      <a:lumMod val="40000"/>
                      <a:lumOff val="60000"/>
                    </a:schemeClr>
                  </a:solidFill>
                  <a:latin typeface="EYInterstate" pitchFamily="2" charset="0"/>
                </a:rPr>
                <a:t>Planning Commences*</a:t>
              </a:r>
            </a:p>
          </p:txBody>
        </p:sp>
        <p:sp>
          <p:nvSpPr>
            <p:cNvPr id="71" name="Text Box 126"/>
            <p:cNvSpPr txBox="1">
              <a:spLocks noChangeArrowheads="1"/>
            </p:cNvSpPr>
            <p:nvPr/>
          </p:nvSpPr>
          <p:spPr bwMode="gray">
            <a:xfrm>
              <a:off x="4191000" y="381000"/>
              <a:ext cx="914400" cy="184150"/>
            </a:xfrm>
            <a:prstGeom prst="rect">
              <a:avLst/>
            </a:prstGeom>
            <a:noFill/>
            <a:ln w="9525" algn="ctr">
              <a:noFill/>
              <a:miter lim="800000"/>
              <a:headEnd type="none" w="sm" len="sm"/>
              <a:tailEnd type="none" w="sm" len="sm"/>
            </a:ln>
          </p:spPr>
          <p:txBody>
            <a:bodyPr lIns="26118" tIns="0" rIns="0" bIns="0">
              <a:spAutoFit/>
            </a:bodyPr>
            <a:lstStyle/>
            <a:p>
              <a:pPr>
                <a:defRPr/>
              </a:pPr>
              <a:r>
                <a:rPr lang="en-GB" sz="600" i="1" dirty="0">
                  <a:solidFill>
                    <a:schemeClr val="tx1">
                      <a:lumMod val="40000"/>
                      <a:lumOff val="60000"/>
                    </a:schemeClr>
                  </a:solidFill>
                  <a:latin typeface="EYInterstate" pitchFamily="2" charset="0"/>
                </a:rPr>
                <a:t>Approval of Planning and Design Deliverables*</a:t>
              </a:r>
            </a:p>
          </p:txBody>
        </p:sp>
        <p:sp>
          <p:nvSpPr>
            <p:cNvPr id="72" name="Line 125"/>
            <p:cNvSpPr>
              <a:spLocks noChangeShapeType="1"/>
            </p:cNvSpPr>
            <p:nvPr/>
          </p:nvSpPr>
          <p:spPr bwMode="gray">
            <a:xfrm flipV="1">
              <a:off x="4191000" y="381000"/>
              <a:ext cx="0" cy="457200"/>
            </a:xfrm>
            <a:prstGeom prst="line">
              <a:avLst/>
            </a:prstGeom>
            <a:noFill/>
            <a:ln w="6350">
              <a:solidFill>
                <a:schemeClr val="tx1">
                  <a:lumMod val="40000"/>
                  <a:lumOff val="60000"/>
                </a:schemeClr>
              </a:solidFill>
              <a:round/>
              <a:headEnd type="diamond" w="lg" len="lg"/>
              <a:tailEnd type="none" w="sm" len="sm"/>
            </a:ln>
          </p:spPr>
          <p:txBody>
            <a:bodyPr lIns="92075" tIns="46038" rIns="92075" bIns="46038">
              <a:spAutoFit/>
            </a:bodyPr>
            <a:lstStyle/>
            <a:p>
              <a:pPr>
                <a:defRPr/>
              </a:pPr>
              <a:endParaRPr lang="en-GB" dirty="0"/>
            </a:p>
          </p:txBody>
        </p:sp>
        <p:sp>
          <p:nvSpPr>
            <p:cNvPr id="73" name="Line 125"/>
            <p:cNvSpPr>
              <a:spLocks noChangeShapeType="1"/>
            </p:cNvSpPr>
            <p:nvPr/>
          </p:nvSpPr>
          <p:spPr bwMode="gray">
            <a:xfrm flipV="1">
              <a:off x="4419600" y="609600"/>
              <a:ext cx="0" cy="228600"/>
            </a:xfrm>
            <a:prstGeom prst="line">
              <a:avLst/>
            </a:prstGeom>
            <a:noFill/>
            <a:ln w="6350">
              <a:solidFill>
                <a:schemeClr val="tx1">
                  <a:lumMod val="40000"/>
                  <a:lumOff val="60000"/>
                </a:schemeClr>
              </a:solidFill>
              <a:round/>
              <a:headEnd type="diamond" w="lg" len="lg"/>
              <a:tailEnd type="none" w="sm" len="sm"/>
            </a:ln>
          </p:spPr>
          <p:txBody>
            <a:bodyPr lIns="92075" tIns="46038" rIns="92075" bIns="46038">
              <a:spAutoFit/>
            </a:bodyPr>
            <a:lstStyle/>
            <a:p>
              <a:pPr>
                <a:defRPr/>
              </a:pPr>
              <a:endParaRPr lang="en-GB" dirty="0"/>
            </a:p>
          </p:txBody>
        </p:sp>
        <p:sp>
          <p:nvSpPr>
            <p:cNvPr id="74" name="Text Box 126"/>
            <p:cNvSpPr txBox="1">
              <a:spLocks noChangeArrowheads="1"/>
            </p:cNvSpPr>
            <p:nvPr/>
          </p:nvSpPr>
          <p:spPr bwMode="gray">
            <a:xfrm>
              <a:off x="4419600" y="609600"/>
              <a:ext cx="1219200" cy="184150"/>
            </a:xfrm>
            <a:prstGeom prst="rect">
              <a:avLst/>
            </a:prstGeom>
            <a:noFill/>
            <a:ln w="9525" algn="ctr">
              <a:noFill/>
              <a:miter lim="800000"/>
              <a:headEnd type="none" w="sm" len="sm"/>
              <a:tailEnd type="none" w="sm" len="sm"/>
            </a:ln>
          </p:spPr>
          <p:txBody>
            <a:bodyPr lIns="26118" tIns="0" rIns="0" bIns="0">
              <a:spAutoFit/>
            </a:bodyPr>
            <a:lstStyle/>
            <a:p>
              <a:pPr>
                <a:defRPr/>
              </a:pPr>
              <a:r>
                <a:rPr lang="en-GB" sz="600" i="1" dirty="0">
                  <a:solidFill>
                    <a:schemeClr val="tx1">
                      <a:lumMod val="40000"/>
                      <a:lumOff val="60000"/>
                    </a:schemeClr>
                  </a:solidFill>
                  <a:latin typeface="EYInterstate" pitchFamily="2" charset="0"/>
                </a:rPr>
                <a:t>Approve design documentation for Lync and Outlook Pilot*</a:t>
              </a:r>
            </a:p>
          </p:txBody>
        </p:sp>
        <p:sp>
          <p:nvSpPr>
            <p:cNvPr id="75" name="Line 125"/>
            <p:cNvSpPr>
              <a:spLocks noChangeShapeType="1"/>
            </p:cNvSpPr>
            <p:nvPr/>
          </p:nvSpPr>
          <p:spPr bwMode="gray">
            <a:xfrm flipV="1">
              <a:off x="5867400" y="609600"/>
              <a:ext cx="0" cy="228600"/>
            </a:xfrm>
            <a:prstGeom prst="line">
              <a:avLst/>
            </a:prstGeom>
            <a:noFill/>
            <a:ln w="6350">
              <a:solidFill>
                <a:schemeClr val="tx1">
                  <a:lumMod val="40000"/>
                  <a:lumOff val="60000"/>
                </a:schemeClr>
              </a:solidFill>
              <a:round/>
              <a:headEnd type="diamond" w="lg" len="lg"/>
              <a:tailEnd type="none" w="sm" len="sm"/>
            </a:ln>
          </p:spPr>
          <p:txBody>
            <a:bodyPr lIns="92075" tIns="46038" rIns="92075" bIns="46038">
              <a:spAutoFit/>
            </a:bodyPr>
            <a:lstStyle/>
            <a:p>
              <a:pPr>
                <a:defRPr/>
              </a:pPr>
              <a:endParaRPr lang="en-GB" dirty="0"/>
            </a:p>
          </p:txBody>
        </p:sp>
        <p:sp>
          <p:nvSpPr>
            <p:cNvPr id="76" name="Text Box 126"/>
            <p:cNvSpPr txBox="1">
              <a:spLocks noChangeArrowheads="1"/>
            </p:cNvSpPr>
            <p:nvPr/>
          </p:nvSpPr>
          <p:spPr bwMode="gray">
            <a:xfrm>
              <a:off x="5867400" y="609600"/>
              <a:ext cx="914400" cy="92075"/>
            </a:xfrm>
            <a:prstGeom prst="rect">
              <a:avLst/>
            </a:prstGeom>
            <a:noFill/>
            <a:ln w="9525" algn="ctr">
              <a:noFill/>
              <a:miter lim="800000"/>
              <a:headEnd type="none" w="sm" len="sm"/>
              <a:tailEnd type="none" w="sm" len="sm"/>
            </a:ln>
          </p:spPr>
          <p:txBody>
            <a:bodyPr lIns="26118" tIns="0" rIns="0" bIns="0">
              <a:spAutoFit/>
            </a:bodyPr>
            <a:lstStyle/>
            <a:p>
              <a:pPr>
                <a:defRPr/>
              </a:pPr>
              <a:r>
                <a:rPr lang="en-GB" sz="600" i="1" dirty="0">
                  <a:solidFill>
                    <a:schemeClr val="tx1">
                      <a:lumMod val="40000"/>
                      <a:lumOff val="60000"/>
                    </a:schemeClr>
                  </a:solidFill>
                  <a:latin typeface="EYInterstate" pitchFamily="2" charset="0"/>
                </a:rPr>
                <a:t>Create UAT Test cases*</a:t>
              </a:r>
            </a:p>
          </p:txBody>
        </p:sp>
      </p:grpSp>
      <p:graphicFrame>
        <p:nvGraphicFramePr>
          <p:cNvPr id="68" name="Group 270"/>
          <p:cNvGraphicFramePr>
            <a:graphicFrameLocks noGrp="1"/>
          </p:cNvGraphicFramePr>
          <p:nvPr/>
        </p:nvGraphicFramePr>
        <p:xfrm>
          <a:off x="4648200" y="1371600"/>
          <a:ext cx="4355126" cy="1230996"/>
        </p:xfrm>
        <a:graphic>
          <a:graphicData uri="http://schemas.openxmlformats.org/drawingml/2006/table">
            <a:tbl>
              <a:tblPr/>
              <a:tblGrid>
                <a:gridCol w="1400909"/>
                <a:gridCol w="703385"/>
                <a:gridCol w="747623"/>
                <a:gridCol w="751604"/>
                <a:gridCol w="751605"/>
              </a:tblGrid>
              <a:tr h="5784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Light" pitchFamily="2" charset="0"/>
                          <a:ea typeface="+mn-ea"/>
                          <a:cs typeface="+mn-cs"/>
                        </a:rPr>
                        <a:t>E.  MILESTONES</a:t>
                      </a: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6051">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0452">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Lync dormant Client deployment complete</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22 Dec 2011</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 Jan 2012</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GREEN</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GREEN</a:t>
                      </a:r>
                      <a:endParaRPr kumimoji="0" lang="en-US" sz="700" b="0" i="0" u="none" strike="noStrike" cap="none" normalizeH="0" baseline="0" dirty="0">
                        <a:ln>
                          <a:noFill/>
                        </a:ln>
                        <a:solidFill>
                          <a:schemeClr val="tx1"/>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90452">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Outlook </a:t>
                      </a:r>
                      <a:r>
                        <a:rPr kumimoji="0" lang="en-US" sz="700" b="0" i="0" u="none" strike="noStrike" cap="none" normalizeH="0" baseline="0" dirty="0">
                          <a:ln>
                            <a:noFill/>
                          </a:ln>
                          <a:solidFill>
                            <a:schemeClr val="tx1"/>
                          </a:solidFill>
                          <a:effectLst/>
                          <a:latin typeface="EYInterstate Light" pitchFamily="2" charset="0"/>
                        </a:rPr>
                        <a:t>Client </a:t>
                      </a:r>
                      <a:r>
                        <a:rPr kumimoji="0" lang="en-US" sz="700" b="0" i="0" u="none" strike="noStrike" cap="none" normalizeH="0" baseline="0" dirty="0" smtClean="0">
                          <a:ln>
                            <a:noFill/>
                          </a:ln>
                          <a:solidFill>
                            <a:schemeClr val="tx1"/>
                          </a:solidFill>
                          <a:effectLst/>
                          <a:latin typeface="EYInterstate Light" pitchFamily="2" charset="0"/>
                        </a:rPr>
                        <a:t>Transition 1B Ready </a:t>
                      </a:r>
                      <a:r>
                        <a:rPr kumimoji="0" lang="en-US" sz="700" b="0" i="0" u="none" strike="noStrike" cap="none" normalizeH="0" baseline="0" dirty="0">
                          <a:ln>
                            <a:noFill/>
                          </a:ln>
                          <a:solidFill>
                            <a:schemeClr val="tx1"/>
                          </a:solidFill>
                          <a:effectLst/>
                          <a:latin typeface="EYInterstate Light" pitchFamily="2" charset="0"/>
                        </a:rPr>
                        <a:t>to </a:t>
                      </a:r>
                      <a:r>
                        <a:rPr kumimoji="0" lang="en-US" sz="700" b="0" i="0" u="none" strike="noStrike" cap="none" normalizeH="0" baseline="0" dirty="0" smtClean="0">
                          <a:ln>
                            <a:noFill/>
                          </a:ln>
                          <a:solidFill>
                            <a:schemeClr val="tx1"/>
                          </a:solidFill>
                          <a:effectLst/>
                          <a:latin typeface="EYInterstate Light" pitchFamily="2" charset="0"/>
                        </a:rPr>
                        <a:t>Deploy</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6 Jan 2012</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6 Jan 2012</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GREEN</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AMBER</a:t>
                      </a:r>
                      <a:endParaRPr kumimoji="0" lang="en-US" sz="700" b="0" i="0" u="none" strike="noStrike" cap="none" normalizeH="0" baseline="0" dirty="0">
                        <a:ln>
                          <a:noFill/>
                        </a:ln>
                        <a:solidFill>
                          <a:schemeClr val="tx1"/>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90452">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Outlook </a:t>
                      </a:r>
                      <a:r>
                        <a:rPr kumimoji="0" lang="en-US" sz="700" b="0" i="0" u="none" strike="noStrike" cap="none" normalizeH="0" baseline="0" dirty="0">
                          <a:ln>
                            <a:noFill/>
                          </a:ln>
                          <a:solidFill>
                            <a:schemeClr val="tx1"/>
                          </a:solidFill>
                          <a:effectLst/>
                          <a:latin typeface="EYInterstate Light" pitchFamily="2" charset="0"/>
                        </a:rPr>
                        <a:t>Client </a:t>
                      </a:r>
                      <a:r>
                        <a:rPr kumimoji="0" lang="en-US" sz="700" b="0" i="0" u="none" strike="noStrike" cap="none" normalizeH="0" baseline="0" dirty="0" smtClean="0">
                          <a:ln>
                            <a:noFill/>
                          </a:ln>
                          <a:solidFill>
                            <a:schemeClr val="tx1"/>
                          </a:solidFill>
                          <a:effectLst/>
                          <a:latin typeface="EYInterstate Light" pitchFamily="2" charset="0"/>
                        </a:rPr>
                        <a:t>Transition 2 Ready </a:t>
                      </a:r>
                      <a:r>
                        <a:rPr kumimoji="0" lang="en-US" sz="700" b="0" i="0" u="none" strike="noStrike" cap="none" normalizeH="0" baseline="0" dirty="0">
                          <a:ln>
                            <a:noFill/>
                          </a:ln>
                          <a:solidFill>
                            <a:schemeClr val="tx1"/>
                          </a:solidFill>
                          <a:effectLst/>
                          <a:latin typeface="EYInterstate Light" pitchFamily="2" charset="0"/>
                        </a:rPr>
                        <a:t>to </a:t>
                      </a:r>
                      <a:r>
                        <a:rPr kumimoji="0" lang="en-US" sz="700" b="0" i="0" u="none" strike="noStrike" cap="none" normalizeH="0" baseline="0" dirty="0" smtClean="0">
                          <a:ln>
                            <a:noFill/>
                          </a:ln>
                          <a:solidFill>
                            <a:schemeClr val="tx1"/>
                          </a:solidFill>
                          <a:effectLst/>
                          <a:latin typeface="EYInterstate Light" pitchFamily="2" charset="0"/>
                        </a:rPr>
                        <a:t>Deploy</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26Jan 2012</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AMBER</a:t>
                      </a:r>
                      <a:endParaRPr kumimoji="0" lang="en-US" sz="700" b="0" i="0" u="none" strike="noStrike" cap="none" normalizeH="0" baseline="0" dirty="0">
                        <a:ln>
                          <a:noFill/>
                        </a:ln>
                        <a:solidFill>
                          <a:schemeClr val="tx1"/>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90452">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Outlook dormant Client deployment complete</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10 Apr 2012</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8 Mar 2012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 xmlns:p14="http://schemas.microsoft.com/office/powerpoint/2010/main" val="2386812573"/>
              </p:ext>
            </p:extLst>
          </p:nvPr>
        </p:nvGraphicFramePr>
        <p:xfrm>
          <a:off x="75619" y="2971800"/>
          <a:ext cx="4355123" cy="982577"/>
        </p:xfrm>
        <a:graphic>
          <a:graphicData uri="http://schemas.openxmlformats.org/drawingml/2006/table">
            <a:tbl>
              <a:tblPr/>
              <a:tblGrid>
                <a:gridCol w="4355123"/>
              </a:tblGrid>
              <a:tr h="120289">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800" b="1" i="0" u="none" strike="noStrike" cap="none" normalizeH="0" baseline="0" dirty="0" smtClean="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24921">
                <a:tc>
                  <a:txBody>
                    <a:bodyPr/>
                    <a:lstStyle/>
                    <a:p>
                      <a:pPr marL="22860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Expect to receive the final approval from all tech leads on the functional spec.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0289">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800" b="1" i="0" u="none" strike="noStrike" cap="none" normalizeH="0" baseline="0" dirty="0" smtClean="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2028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800" b="0" i="0" u="none" strike="noStrike" cap="none" normalizeH="0" baseline="0" dirty="0" smtClean="0">
                          <a:ln>
                            <a:noFill/>
                          </a:ln>
                          <a:solidFill>
                            <a:srgbClr val="646464"/>
                          </a:solidFill>
                          <a:effectLst/>
                          <a:latin typeface="EYInterstate Light" pitchFamily="2" charset="0"/>
                        </a:rPr>
                        <a:t>Signatures of V/S deliverable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0289">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60512">
                <a:tc>
                  <a:txBody>
                    <a:bodyPr/>
                    <a:lstStyle/>
                    <a:p>
                      <a:pPr marL="230188"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Will work on securing tech lead approval of the CRs..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 xmlns:p14="http://schemas.microsoft.com/office/powerpoint/2010/main" val="3742608818"/>
              </p:ext>
            </p:extLst>
          </p:nvPr>
        </p:nvGraphicFramePr>
        <p:xfrm>
          <a:off x="76200" y="4267200"/>
          <a:ext cx="4427983" cy="2060730"/>
        </p:xfrm>
        <a:graphic>
          <a:graphicData uri="http://schemas.openxmlformats.org/drawingml/2006/table">
            <a:tbl>
              <a:tblPr/>
              <a:tblGrid>
                <a:gridCol w="2148436"/>
                <a:gridCol w="2279547"/>
              </a:tblGrid>
              <a:tr h="297347">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59023">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59023">
                <a:tc gridSpan="2">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Al and Alan to sign a T&amp;M contract to keep Marc engaged.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1200" b="0" i="0" u="none" strike="noStrike" kern="1200" cap="none" normalizeH="0" baseline="0" dirty="0" smtClean="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43567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800" b="0" i="0" u="none" strike="noStrike" kern="1200" cap="none" normalizeH="0" baseline="0" dirty="0" smtClean="0">
                          <a:ln>
                            <a:noFill/>
                          </a:ln>
                          <a:solidFill>
                            <a:srgbClr val="646464"/>
                          </a:solidFill>
                          <a:effectLst/>
                          <a:latin typeface="EYInterstate Light" pitchFamily="2" charset="0"/>
                          <a:ea typeface="+mn-ea"/>
                          <a:cs typeface="+mn-cs"/>
                        </a:rPr>
                        <a:t>Formal sign-off of V/S Deliverable</a:t>
                      </a:r>
                      <a:endParaRPr kumimoji="0" lang="en-US" sz="8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kern="1200" cap="none" normalizeH="0" baseline="0" dirty="0" smtClean="0">
                          <a:ln>
                            <a:noFill/>
                          </a:ln>
                          <a:solidFill>
                            <a:srgbClr val="646464"/>
                          </a:solidFill>
                          <a:effectLst/>
                          <a:latin typeface="EYInterstate Light" pitchFamily="2" charset="0"/>
                          <a:ea typeface="+mn-ea"/>
                          <a:cs typeface="+mn-cs"/>
                        </a:rPr>
                        <a:t>Continue to discuss requirement of signature  for V/S deliverable with EY</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41497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kern="1200" cap="none" normalizeH="0" baseline="0" dirty="0" smtClean="0">
                          <a:ln>
                            <a:noFill/>
                          </a:ln>
                          <a:solidFill>
                            <a:srgbClr val="646464"/>
                          </a:solidFill>
                          <a:effectLst/>
                          <a:latin typeface="EYInterstate Light" pitchFamily="2" charset="0"/>
                          <a:ea typeface="+mn-ea"/>
                          <a:cs typeface="+mn-cs"/>
                        </a:rPr>
                        <a:t>Agendas for the business requirements workshops are required.</a:t>
                      </a:r>
                    </a:p>
                  </a:txBody>
                  <a:tcPr marL="36195" marR="36195"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800" b="0" i="0" u="none" strike="noStrike" kern="1200" cap="none" normalizeH="0" baseline="0" dirty="0" smtClean="0">
                          <a:ln>
                            <a:noFill/>
                          </a:ln>
                          <a:solidFill>
                            <a:srgbClr val="646464"/>
                          </a:solidFill>
                          <a:effectLst/>
                          <a:latin typeface="EYInterstate Light" pitchFamily="2" charset="0"/>
                          <a:ea typeface="+mn-ea"/>
                          <a:cs typeface="+mn-cs"/>
                        </a:rPr>
                        <a:t>EY to provide agendas </a:t>
                      </a:r>
                      <a:endParaRPr kumimoji="0" lang="en-US" sz="800" b="0" i="0" u="none" strike="noStrike" kern="1200" cap="none" normalizeH="0" baseline="0" dirty="0">
                        <a:ln>
                          <a:noFill/>
                        </a:ln>
                        <a:solidFill>
                          <a:srgbClr val="646464"/>
                        </a:solidFill>
                        <a:effectLst/>
                        <a:latin typeface="EYInterstate Light" pitchFamily="2" charset="0"/>
                        <a:ea typeface="+mn-ea"/>
                        <a:cs typeface="+mn-cs"/>
                      </a:endParaRPr>
                    </a:p>
                  </a:txBody>
                  <a:tcPr marL="36195" marR="36195"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97347">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EYInterstate Light" pitchFamily="2" charset="0"/>
                        </a:rPr>
                        <a:t>Scope 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EYInterstate Light" pitchFamily="2" charset="0"/>
                        </a:rPr>
                        <a:t>Recommended Action /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97347">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646464"/>
                          </a:solidFill>
                          <a:effectLst/>
                          <a:latin typeface="EYInterstate Light" pitchFamily="2" charset="0"/>
                        </a:rPr>
                        <a:t>5 CRs pending</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800" b="0" i="0" u="none" strike="noStrike" cap="none" normalizeH="0" baseline="0" dirty="0" smtClean="0">
                          <a:ln>
                            <a:noFill/>
                          </a:ln>
                          <a:solidFill>
                            <a:srgbClr val="646464"/>
                          </a:solidFill>
                          <a:effectLst/>
                          <a:latin typeface="EYInterstate Light" pitchFamily="2" charset="0"/>
                        </a:rPr>
                        <a:t>Microsoft to secure tech lead approval</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 xmlns:p14="http://schemas.microsoft.com/office/powerpoint/2010/main" val="4070054492"/>
              </p:ext>
            </p:extLst>
          </p:nvPr>
        </p:nvGraphicFramePr>
        <p:xfrm>
          <a:off x="76200" y="620688"/>
          <a:ext cx="4357473" cy="1630368"/>
        </p:xfrm>
        <a:graphic>
          <a:graphicData uri="http://schemas.openxmlformats.org/drawingml/2006/table">
            <a:tbl>
              <a:tblPr/>
              <a:tblGrid>
                <a:gridCol w="4357473"/>
              </a:tblGrid>
              <a:tr h="82752">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EYInterstate" pitchFamily="2" charset="0"/>
                        </a:rPr>
                        <a:t>A.  </a:t>
                      </a:r>
                      <a:r>
                        <a:rPr kumimoji="0" lang="en-GB" sz="800" b="1" i="0" u="none" strike="noStrike" cap="none" normalizeH="0" baseline="0" dirty="0" smtClean="0">
                          <a:ln>
                            <a:noFill/>
                          </a:ln>
                          <a:solidFill>
                            <a:schemeClr val="tx1"/>
                          </a:solidFill>
                          <a:effectLst/>
                          <a:latin typeface="EYInterstate" pitchFamily="2" charset="0"/>
                        </a:rPr>
                        <a:t>EXECUTIVE SUMMARY – a summary of the progress for this period (not of the initiative)</a:t>
                      </a:r>
                      <a:endParaRPr kumimoji="0" lang="en-US" sz="800" b="1" i="0" u="none" strike="noStrike" cap="none" normalizeH="0" baseline="0" dirty="0" smtClean="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58449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800" b="0" i="0" u="none" strike="noStrike" cap="none" normalizeH="0" baseline="0" dirty="0" smtClean="0">
                          <a:ln>
                            <a:noFill/>
                          </a:ln>
                          <a:solidFill>
                            <a:srgbClr val="646464"/>
                          </a:solidFill>
                          <a:effectLst/>
                          <a:latin typeface="EYInterstate Light" pitchFamily="2" charset="0"/>
                        </a:rPr>
                        <a:t>Lync:</a:t>
                      </a:r>
                      <a:endParaRPr kumimoji="0" lang="en-US" sz="800" b="0" i="0" u="none" strike="noStrike" cap="none" normalizeH="0" baseline="0" dirty="0" smtClean="0">
                        <a:ln>
                          <a:noFill/>
                        </a:ln>
                        <a:solidFill>
                          <a:schemeClr val="bg2"/>
                        </a:solidFill>
                        <a:effectLst/>
                        <a:latin typeface="EYInterstate Light" pitchFamily="2" charset="0"/>
                      </a:endParaRP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Functional Spec</a:t>
                      </a:r>
                    </a:p>
                    <a:p>
                      <a:pPr marL="69215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Minor update this week to close out IAM viewpoint</a:t>
                      </a:r>
                    </a:p>
                    <a:p>
                      <a:pPr marL="69215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Discussion to close out video tomorrow</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5 CRs Delivered</a:t>
                      </a:r>
                    </a:p>
                    <a:p>
                      <a:pPr marL="69215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MTP Sizing</a:t>
                      </a:r>
                    </a:p>
                    <a:p>
                      <a:pPr marL="69215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Build </a:t>
                      </a:r>
                      <a:r>
                        <a:rPr kumimoji="0" lang="en-US" sz="800" b="0" i="0" u="none" strike="noStrike" cap="none" normalizeH="0" baseline="0" dirty="0" err="1" smtClean="0">
                          <a:ln>
                            <a:noFill/>
                          </a:ln>
                          <a:solidFill>
                            <a:srgbClr val="646464"/>
                          </a:solidFill>
                          <a:effectLst/>
                          <a:latin typeface="EYInterstate Light" pitchFamily="2" charset="0"/>
                        </a:rPr>
                        <a:t>EY.Dev</a:t>
                      </a:r>
                      <a:endParaRPr kumimoji="0" lang="en-US" sz="800" b="0" i="0" u="none" strike="noStrike" cap="none" normalizeH="0" baseline="0" dirty="0" smtClean="0">
                        <a:ln>
                          <a:noFill/>
                        </a:ln>
                        <a:solidFill>
                          <a:srgbClr val="646464"/>
                        </a:solidFill>
                        <a:effectLst/>
                        <a:latin typeface="EYInterstate Light" pitchFamily="2" charset="0"/>
                      </a:endParaRPr>
                    </a:p>
                    <a:p>
                      <a:pPr marL="69215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Mobile PoC</a:t>
                      </a:r>
                    </a:p>
                    <a:p>
                      <a:pPr marL="69215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Add Alcatel to the </a:t>
                      </a:r>
                      <a:r>
                        <a:rPr kumimoji="0" lang="en-US" sz="800" b="0" i="0" u="none" strike="noStrike" cap="none" normalizeH="0" baseline="0" dirty="0" err="1" smtClean="0">
                          <a:ln>
                            <a:noFill/>
                          </a:ln>
                          <a:solidFill>
                            <a:srgbClr val="646464"/>
                          </a:solidFill>
                          <a:effectLst/>
                          <a:latin typeface="EYInterstate Light" pitchFamily="2" charset="0"/>
                        </a:rPr>
                        <a:t>Func</a:t>
                      </a:r>
                      <a:r>
                        <a:rPr kumimoji="0" lang="en-US" sz="800" b="0" i="0" u="none" strike="noStrike" cap="none" normalizeH="0" baseline="0" dirty="0" smtClean="0">
                          <a:ln>
                            <a:noFill/>
                          </a:ln>
                          <a:solidFill>
                            <a:srgbClr val="646464"/>
                          </a:solidFill>
                          <a:effectLst/>
                          <a:latin typeface="EYInterstate Light" pitchFamily="2" charset="0"/>
                        </a:rPr>
                        <a:t> Spec</a:t>
                      </a:r>
                    </a:p>
                    <a:p>
                      <a:pPr marL="69215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Centralized Consulting Strategy</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extLst>
              <p:ext uri="{D42A27DB-BD31-4B8C-83A1-F6EECF244321}">
                <p14:modId xmlns="" xmlns:p14="http://schemas.microsoft.com/office/powerpoint/2010/main" val="4139580250"/>
              </p:ext>
            </p:extLst>
          </p:nvPr>
        </p:nvGraphicFramePr>
        <p:xfrm>
          <a:off x="4644008" y="548680"/>
          <a:ext cx="4355126" cy="1611469"/>
        </p:xfrm>
        <a:graphic>
          <a:graphicData uri="http://schemas.openxmlformats.org/drawingml/2006/table">
            <a:tbl>
              <a:tblPr/>
              <a:tblGrid>
                <a:gridCol w="1400909"/>
                <a:gridCol w="703385"/>
                <a:gridCol w="776026"/>
                <a:gridCol w="723201"/>
                <a:gridCol w="751605"/>
              </a:tblGrid>
              <a:tr h="1314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kern="1200" cap="none" normalizeH="0" baseline="0" dirty="0" smtClean="0">
                          <a:ln>
                            <a:noFill/>
                          </a:ln>
                          <a:solidFill>
                            <a:schemeClr val="tx1"/>
                          </a:solidFill>
                          <a:effectLst/>
                          <a:latin typeface="EYInterstate" pitchFamily="2" charset="0"/>
                          <a:ea typeface="+mn-ea"/>
                          <a:cs typeface="+mn-cs"/>
                        </a:rPr>
                        <a:t>E.  MILESTONES</a:t>
                      </a:r>
                      <a:endParaRPr kumimoji="0" lang="en-US" sz="1200" b="0" i="0" u="none" strike="noStrike" kern="1200" cap="none" normalizeH="0" baseline="0" dirty="0" smtClean="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12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12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12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12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6282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67113">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900" b="0" i="0" u="none" strike="noStrike" cap="none" normalizeH="0" baseline="0" dirty="0" smtClean="0">
                          <a:ln>
                            <a:noFill/>
                          </a:ln>
                          <a:solidFill>
                            <a:srgbClr val="646464"/>
                          </a:solidFill>
                          <a:effectLst/>
                          <a:latin typeface="EYInterstate Light" pitchFamily="2" charset="0"/>
                        </a:rPr>
                        <a:t>Lync Vision &amp; Scope Doc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900" b="0" i="0" u="none" strike="noStrike" cap="none" normalizeH="0" baseline="0" dirty="0" smtClean="0">
                          <a:ln>
                            <a:noFill/>
                          </a:ln>
                          <a:solidFill>
                            <a:srgbClr val="646464"/>
                          </a:solidFill>
                          <a:effectLst/>
                          <a:latin typeface="EYInterstate Light" pitchFamily="2" charset="0"/>
                        </a:rPr>
                        <a:t>4-Aug-2011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900" b="0" i="0" u="none" strike="noStrike" cap="none" normalizeH="0" baseline="0" dirty="0" smtClean="0">
                          <a:ln>
                            <a:noFill/>
                          </a:ln>
                          <a:solidFill>
                            <a:schemeClr val="tx1"/>
                          </a:solidFill>
                          <a:effectLst/>
                          <a:latin typeface="EYInterstate Light" pitchFamily="2" charset="0"/>
                        </a:rPr>
                        <a:t>Complete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9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9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900" b="0" i="0" u="none" strike="noStrike" cap="none" normalizeH="0" baseline="0" dirty="0" smtClean="0">
                          <a:ln>
                            <a:noFill/>
                          </a:ln>
                          <a:solidFill>
                            <a:srgbClr val="646464"/>
                          </a:solidFill>
                          <a:effectLst/>
                          <a:latin typeface="EYInterstate Light" pitchFamily="2" charset="0"/>
                        </a:rPr>
                        <a:t>Lync Planning Workshops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900" b="0" i="0" u="none" strike="noStrike" cap="none" normalizeH="0" baseline="0" dirty="0" smtClean="0">
                          <a:ln>
                            <a:noFill/>
                          </a:ln>
                          <a:solidFill>
                            <a:srgbClr val="646464"/>
                          </a:solidFill>
                          <a:effectLst/>
                          <a:latin typeface="EYInterstate Light" pitchFamily="2" charset="0"/>
                        </a:rPr>
                        <a:t>10/14/2011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900" b="0" i="0" u="none" strike="noStrike" cap="none" normalizeH="0" baseline="0" dirty="0" smtClean="0">
                          <a:ln>
                            <a:noFill/>
                          </a:ln>
                          <a:solidFill>
                            <a:schemeClr val="tx1"/>
                          </a:solidFill>
                          <a:effectLst/>
                          <a:latin typeface="EYInterstate Light" pitchFamily="2" charset="0"/>
                        </a:rPr>
                        <a:t>Complete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9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9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900" b="0" i="0" u="none" strike="noStrike" cap="none" normalizeH="0" baseline="0" dirty="0" smtClean="0">
                          <a:ln>
                            <a:noFill/>
                          </a:ln>
                          <a:solidFill>
                            <a:srgbClr val="646464"/>
                          </a:solidFill>
                          <a:effectLst/>
                          <a:latin typeface="EYInterstate Light" pitchFamily="2" charset="0"/>
                        </a:rPr>
                        <a:t>Functional Spec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900" b="0" i="0" u="none" strike="noStrike" cap="none" normalizeH="0" baseline="0" dirty="0" smtClean="0">
                          <a:ln>
                            <a:noFill/>
                          </a:ln>
                          <a:solidFill>
                            <a:srgbClr val="646464"/>
                          </a:solidFill>
                          <a:effectLst/>
                          <a:latin typeface="EYInterstate Light" pitchFamily="2" charset="0"/>
                        </a:rPr>
                        <a:t>1/10/2012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900" b="0" i="0" u="none" strike="noStrike" cap="none" normalizeH="0" baseline="0" dirty="0" smtClean="0">
                          <a:ln>
                            <a:noFill/>
                          </a:ln>
                          <a:solidFill>
                            <a:schemeClr val="tx1"/>
                          </a:solidFill>
                          <a:effectLst/>
                          <a:latin typeface="EYInterstate Light" pitchFamily="2" charset="0"/>
                        </a:rPr>
                        <a:t>Complete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9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9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900" b="0" i="0" u="none" strike="noStrike" cap="none" normalizeH="0" baseline="0" dirty="0" smtClean="0">
                          <a:ln>
                            <a:noFill/>
                          </a:ln>
                          <a:solidFill>
                            <a:srgbClr val="646464"/>
                          </a:solidFill>
                          <a:effectLst/>
                          <a:latin typeface="EYInterstate Light" pitchFamily="2" charset="0"/>
                        </a:rPr>
                        <a:t>POC Security POC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900" b="0" i="0" u="none" strike="noStrike" kern="1200" cap="none" normalizeH="0" baseline="0" dirty="0" smtClean="0">
                          <a:ln>
                            <a:noFill/>
                          </a:ln>
                          <a:solidFill>
                            <a:srgbClr val="646464"/>
                          </a:solidFill>
                          <a:effectLst/>
                          <a:latin typeface="EYInterstate Light" pitchFamily="2" charset="0"/>
                          <a:ea typeface="+mn-ea"/>
                          <a:cs typeface="+mn-cs"/>
                        </a:rPr>
                        <a:t>12/15/2011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900" b="0" i="0" u="none" strike="noStrike" kern="1200" cap="none" normalizeH="0" baseline="0" dirty="0" smtClean="0">
                          <a:ln>
                            <a:noFill/>
                          </a:ln>
                          <a:solidFill>
                            <a:schemeClr val="tx1"/>
                          </a:solidFill>
                          <a:effectLst/>
                          <a:latin typeface="EYInterstate Light" pitchFamily="2" charset="0"/>
                          <a:ea typeface="+mn-ea"/>
                          <a:cs typeface="+mn-cs"/>
                        </a:rPr>
                        <a:t>Complete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900" b="0" i="0" u="none" strike="noStrike" kern="1200" cap="none" normalizeH="0" baseline="0" dirty="0" smtClean="0">
                          <a:ln>
                            <a:noFill/>
                          </a:ln>
                          <a:solidFill>
                            <a:schemeClr val="accent3"/>
                          </a:solidFill>
                          <a:effectLst/>
                          <a:latin typeface="EYInterstate Light" pitchFamily="2" charset="0"/>
                          <a:ea typeface="+mn-ea"/>
                          <a:cs typeface="+mn-cs"/>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900" b="0" i="0" u="none" strike="noStrike" kern="1200" cap="none" normalizeH="0" baseline="0" dirty="0" smtClean="0">
                          <a:ln>
                            <a:noFill/>
                          </a:ln>
                          <a:solidFill>
                            <a:schemeClr val="accent3"/>
                          </a:solidFill>
                          <a:effectLst/>
                          <a:latin typeface="EYInterstate Light" pitchFamily="2" charset="0"/>
                          <a:ea typeface="+mn-ea"/>
                          <a:cs typeface="+mn-cs"/>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900" b="0" i="0" u="none" strike="noStrike" cap="none" normalizeH="0" baseline="0" dirty="0" smtClean="0">
                          <a:ln>
                            <a:noFill/>
                          </a:ln>
                          <a:solidFill>
                            <a:srgbClr val="646464"/>
                          </a:solidFill>
                          <a:effectLst/>
                          <a:latin typeface="EYInterstate Light" pitchFamily="2" charset="0"/>
                        </a:rPr>
                        <a:t>Production Pilot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9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900" b="0" i="0" u="none" strike="noStrike" kern="1200" cap="none" normalizeH="0" baseline="0" dirty="0" smtClean="0">
                          <a:ln>
                            <a:noFill/>
                          </a:ln>
                          <a:solidFill>
                            <a:schemeClr val="tx1"/>
                          </a:solidFill>
                          <a:effectLst/>
                          <a:latin typeface="EYInterstate Light" pitchFamily="2" charset="0"/>
                          <a:ea typeface="+mn-ea"/>
                          <a:cs typeface="+mn-cs"/>
                        </a:rPr>
                        <a:t>On Hold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900" b="0" i="0" u="none" strike="noStrike" kern="1200" cap="none" normalizeH="0" baseline="0" dirty="0" smtClean="0">
                          <a:ln>
                            <a:noFill/>
                          </a:ln>
                          <a:solidFill>
                            <a:schemeClr val="accent3"/>
                          </a:solidFill>
                          <a:effectLst/>
                          <a:latin typeface="EYInterstate Light" pitchFamily="2" charset="0"/>
                          <a:ea typeface="+mn-ea"/>
                          <a:cs typeface="+mn-cs"/>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900" b="0" i="0" u="none" strike="noStrike" kern="1200" cap="none" normalizeH="0" baseline="0" dirty="0" smtClean="0">
                          <a:ln>
                            <a:noFill/>
                          </a:ln>
                          <a:solidFill>
                            <a:schemeClr val="accent3"/>
                          </a:solidFill>
                          <a:effectLst/>
                          <a:latin typeface="EYInterstate Light" pitchFamily="2" charset="0"/>
                          <a:ea typeface="+mn-ea"/>
                          <a:cs typeface="+mn-cs"/>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15" name="Group 270"/>
          <p:cNvGraphicFramePr>
            <a:graphicFrameLocks noGrp="1"/>
          </p:cNvGraphicFramePr>
          <p:nvPr>
            <p:extLst>
              <p:ext uri="{D42A27DB-BD31-4B8C-83A1-F6EECF244321}">
                <p14:modId xmlns="" xmlns:p14="http://schemas.microsoft.com/office/powerpoint/2010/main" val="815839130"/>
              </p:ext>
            </p:extLst>
          </p:nvPr>
        </p:nvGraphicFramePr>
        <p:xfrm>
          <a:off x="7380312" y="21570"/>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16" name="Table 15"/>
          <p:cNvGraphicFramePr>
            <a:graphicFrameLocks noGrp="1"/>
          </p:cNvGraphicFramePr>
          <p:nvPr>
            <p:extLst>
              <p:ext uri="{D42A27DB-BD31-4B8C-83A1-F6EECF244321}">
                <p14:modId xmlns="" xmlns:p14="http://schemas.microsoft.com/office/powerpoint/2010/main" val="1576990613"/>
              </p:ext>
            </p:extLst>
          </p:nvPr>
        </p:nvGraphicFramePr>
        <p:xfrm>
          <a:off x="4572000" y="2971800"/>
          <a:ext cx="4355123" cy="691698"/>
        </p:xfrm>
        <a:graphic>
          <a:graphicData uri="http://schemas.openxmlformats.org/drawingml/2006/table">
            <a:tbl>
              <a:tblPr/>
              <a:tblGrid>
                <a:gridCol w="1841585"/>
                <a:gridCol w="2513538"/>
              </a:tblGrid>
              <a:tr h="138113">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38113">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Mitigating Action</a:t>
                      </a:r>
                      <a:endParaRPr kumimoji="0" lang="en-US" sz="1200" b="0" i="0" u="none" strike="noStrike" cap="none" normalizeH="0" baseline="0" dirty="0" smtClean="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996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12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12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extLst>
              <p:ext uri="{D42A27DB-BD31-4B8C-83A1-F6EECF244321}">
                <p14:modId xmlns="" xmlns:p14="http://schemas.microsoft.com/office/powerpoint/2010/main" val="2397786428"/>
              </p:ext>
            </p:extLst>
          </p:nvPr>
        </p:nvGraphicFramePr>
        <p:xfrm>
          <a:off x="4674631" y="4352636"/>
          <a:ext cx="4355123" cy="908172"/>
        </p:xfrm>
        <a:graphic>
          <a:graphicData uri="http://schemas.openxmlformats.org/drawingml/2006/table">
            <a:tbl>
              <a:tblPr/>
              <a:tblGrid>
                <a:gridCol w="4355123"/>
              </a:tblGrid>
              <a:tr h="11365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kern="1200" cap="none" normalizeH="0" baseline="0" dirty="0" smtClean="0">
                          <a:ln>
                            <a:noFill/>
                          </a:ln>
                          <a:solidFill>
                            <a:schemeClr val="tx1"/>
                          </a:solidFill>
                          <a:effectLst/>
                          <a:latin typeface="EYInterstate" pitchFamily="2" charset="0"/>
                          <a:ea typeface="+mn-ea"/>
                          <a:cs typeface="+mn-cs"/>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18398">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defRPr/>
                      </a:pPr>
                      <a:r>
                        <a:rPr kumimoji="0" lang="en-US" sz="800" b="1" i="0" u="none" strike="noStrike" kern="1200" cap="none" normalizeH="0" baseline="0" dirty="0" smtClean="0">
                          <a:ln>
                            <a:noFill/>
                          </a:ln>
                          <a:solidFill>
                            <a:schemeClr val="tx1"/>
                          </a:solidFill>
                          <a:effectLst/>
                          <a:latin typeface="EYInterstate" pitchFamily="2" charset="0"/>
                          <a:ea typeface="+mn-ea"/>
                          <a:cs typeface="+mn-cs"/>
                        </a:rPr>
                        <a:t>Although deliverable acceptance per contract was discussed, accepted and documented 9/23, signature or acknowledgement at the executive sponsor level is required.</a:t>
                      </a:r>
                    </a:p>
                    <a:p>
                      <a:pPr marL="85725" marR="0" lvl="0" indent="-85725" algn="l" defTabSz="947738" rtl="0" eaLnBrk="0" fontAlgn="base" latinLnBrk="0" hangingPunct="0">
                        <a:lnSpc>
                          <a:spcPct val="100000"/>
                        </a:lnSpc>
                        <a:spcBef>
                          <a:spcPct val="0"/>
                        </a:spcBef>
                        <a:spcAft>
                          <a:spcPct val="0"/>
                        </a:spcAft>
                        <a:buClrTx/>
                        <a:buSzTx/>
                        <a:buFontTx/>
                        <a:buNone/>
                        <a:tabLst/>
                        <a:defRPr/>
                      </a:pPr>
                      <a:r>
                        <a:rPr kumimoji="0" lang="en-US" sz="800" b="1" i="0" u="none" strike="noStrike" kern="1200" cap="none" normalizeH="0" baseline="0" dirty="0" smtClean="0">
                          <a:ln>
                            <a:noFill/>
                          </a:ln>
                          <a:solidFill>
                            <a:schemeClr val="tx1"/>
                          </a:solidFill>
                          <a:effectLst/>
                          <a:latin typeface="EYInterstate" pitchFamily="2" charset="0"/>
                          <a:ea typeface="+mn-ea"/>
                          <a:cs typeface="+mn-cs"/>
                        </a:rPr>
                        <a:t>A number of activities were delayed or took longer than contract</a:t>
                      </a:r>
                    </a:p>
                    <a:p>
                      <a:pPr marL="85725" marR="0" lvl="0" indent="-85725" algn="l" defTabSz="947738" rtl="0" eaLnBrk="0" fontAlgn="base" latinLnBrk="0" hangingPunct="0">
                        <a:lnSpc>
                          <a:spcPct val="100000"/>
                        </a:lnSpc>
                        <a:spcBef>
                          <a:spcPct val="0"/>
                        </a:spcBef>
                        <a:spcAft>
                          <a:spcPct val="0"/>
                        </a:spcAft>
                        <a:buClrTx/>
                        <a:buSzTx/>
                        <a:buFontTx/>
                        <a:buNone/>
                        <a:tabLst/>
                        <a:defRPr/>
                      </a:pPr>
                      <a:r>
                        <a:rPr kumimoji="0" lang="en-US" sz="800" b="1" i="0" u="none" strike="noStrike" kern="1200" cap="none" normalizeH="0" baseline="0" dirty="0" smtClean="0">
                          <a:ln>
                            <a:noFill/>
                          </a:ln>
                          <a:solidFill>
                            <a:schemeClr val="tx1"/>
                          </a:solidFill>
                          <a:effectLst/>
                          <a:latin typeface="EYInterstate" pitchFamily="2" charset="0"/>
                          <a:ea typeface="+mn-ea"/>
                          <a:cs typeface="+mn-cs"/>
                        </a:rPr>
                        <a:t>Lab Setup 2 weeks</a:t>
                      </a:r>
                    </a:p>
                    <a:p>
                      <a:pPr marL="85725" marR="0" lvl="0" indent="-85725" algn="l" defTabSz="947738" rtl="0" eaLnBrk="0" fontAlgn="base" latinLnBrk="0" hangingPunct="0">
                        <a:lnSpc>
                          <a:spcPct val="100000"/>
                        </a:lnSpc>
                        <a:spcBef>
                          <a:spcPct val="0"/>
                        </a:spcBef>
                        <a:spcAft>
                          <a:spcPct val="0"/>
                        </a:spcAft>
                        <a:buClrTx/>
                        <a:buSzTx/>
                        <a:buFontTx/>
                        <a:buNone/>
                        <a:tabLst/>
                        <a:defRPr/>
                      </a:pPr>
                      <a:r>
                        <a:rPr kumimoji="0" lang="en-US" sz="800" b="1" i="0" u="none" strike="noStrike" kern="1200" cap="none" normalizeH="0" baseline="0" dirty="0" smtClean="0">
                          <a:ln>
                            <a:noFill/>
                          </a:ln>
                          <a:solidFill>
                            <a:schemeClr val="tx1"/>
                          </a:solidFill>
                          <a:effectLst/>
                          <a:latin typeface="EYInterstate" pitchFamily="2" charset="0"/>
                          <a:ea typeface="+mn-ea"/>
                          <a:cs typeface="+mn-cs"/>
                        </a:rPr>
                        <a:t>Functional spec Review 2 weeks</a:t>
                      </a:r>
                    </a:p>
                    <a:p>
                      <a:pPr marL="85725" marR="0" lvl="0" indent="-85725" algn="l" defTabSz="947738" rtl="0" eaLnBrk="0" fontAlgn="base" latinLnBrk="0" hangingPunct="0">
                        <a:lnSpc>
                          <a:spcPct val="100000"/>
                        </a:lnSpc>
                        <a:spcBef>
                          <a:spcPct val="0"/>
                        </a:spcBef>
                        <a:spcAft>
                          <a:spcPct val="0"/>
                        </a:spcAft>
                        <a:buClrTx/>
                        <a:buSzTx/>
                        <a:buFontTx/>
                        <a:buNone/>
                        <a:tabLst/>
                        <a:defRPr/>
                      </a:pPr>
                      <a:r>
                        <a:rPr kumimoji="0" lang="en-US" sz="800" b="1" i="0" u="none" strike="noStrike" kern="1200" cap="none" normalizeH="0" baseline="0" dirty="0" smtClean="0">
                          <a:ln>
                            <a:noFill/>
                          </a:ln>
                          <a:solidFill>
                            <a:schemeClr val="tx1"/>
                          </a:solidFill>
                          <a:effectLst/>
                          <a:latin typeface="EYInterstate" pitchFamily="2" charset="0"/>
                          <a:ea typeface="+mn-ea"/>
                          <a:cs typeface="+mn-cs"/>
                        </a:rPr>
                        <a:t>Data for Dial plans and Network 1 week</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0" y="6390185"/>
            <a:ext cx="8964489" cy="540206"/>
            <a:chOff x="0" y="6505545"/>
            <a:chExt cx="9711531"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hangingPunct="0">
                <a:spcAft>
                  <a:spcPts val="0"/>
                </a:spcAft>
              </a:pPr>
              <a:r>
                <a:rPr lang="en-US" sz="500" b="1" dirty="0" smtClean="0">
                  <a:solidFill>
                    <a:srgbClr val="646464"/>
                  </a:solidFill>
                  <a:latin typeface="EYInterstate Light" pitchFamily="2" charset="0"/>
                </a:rPr>
                <a:t>Fully achieved</a:t>
              </a:r>
              <a:endParaRPr lang="en-GB" sz="500" b="1" kern="0" dirty="0" smtClean="0">
                <a:solidFill>
                  <a:srgbClr val="646464"/>
                </a:solidFill>
                <a:latin typeface="EYInterstate"/>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hangingPunct="0">
                <a:spcAft>
                  <a:spcPts val="0"/>
                </a:spcAft>
              </a:pPr>
              <a:r>
                <a:rPr lang="en-US" sz="500" dirty="0" smtClean="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smtClean="0">
                <a:solidFill>
                  <a:srgbClr val="646464"/>
                </a:solidFill>
                <a:latin typeface="EYInterstate"/>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584775"/>
          </a:xfrm>
          <a:prstGeom prst="rect">
            <a:avLst/>
          </a:prstGeom>
        </p:spPr>
        <p:txBody>
          <a:bodyPr>
            <a:spAutoFit/>
          </a:bodyPr>
          <a:lstStyle/>
          <a:p>
            <a:pPr algn="l" defTabSz="955675" eaLnBrk="0" hangingPunct="0">
              <a:spcAft>
                <a:spcPts val="0"/>
              </a:spcAft>
              <a:defRPr/>
            </a:pPr>
            <a:r>
              <a:rPr lang="en-US" sz="1600" b="1" kern="0" dirty="0">
                <a:solidFill>
                  <a:srgbClr val="646464"/>
                </a:solidFill>
                <a:latin typeface="EYInterstate"/>
              </a:rPr>
              <a:t>EY Messaging &amp; Collaboration Program – </a:t>
            </a:r>
            <a:r>
              <a:rPr lang="en-US" sz="1600" b="1" kern="0" dirty="0" smtClean="0">
                <a:solidFill>
                  <a:srgbClr val="646464"/>
                </a:solidFill>
                <a:latin typeface="EYInterstate"/>
              </a:rPr>
              <a:t>Week 19: Friday, February 10</a:t>
            </a:r>
            <a:r>
              <a:rPr lang="en-US" sz="1600" b="1" kern="0" baseline="30000" dirty="0" smtClean="0">
                <a:solidFill>
                  <a:srgbClr val="646464"/>
                </a:solidFill>
                <a:latin typeface="EYInterstate"/>
              </a:rPr>
              <a:t>th</a:t>
            </a:r>
            <a:r>
              <a:rPr lang="en-US" sz="1600" b="1" kern="0" dirty="0" smtClean="0">
                <a:solidFill>
                  <a:srgbClr val="646464"/>
                </a:solidFill>
                <a:latin typeface="EYInterstate"/>
              </a:rPr>
              <a:t> , 2012: Lync</a:t>
            </a:r>
            <a:r>
              <a:rPr lang="en-US" sz="1600" b="1" kern="0" dirty="0">
                <a:solidFill>
                  <a:srgbClr val="646464"/>
                </a:solidFill>
                <a:latin typeface="EYInterstate"/>
              </a:rPr>
              <a:t> </a:t>
            </a:r>
            <a:r>
              <a:rPr lang="en-US" sz="1600" b="1" kern="0" dirty="0" smtClean="0">
                <a:solidFill>
                  <a:srgbClr val="646464"/>
                </a:solidFill>
                <a:latin typeface="EYInterstate"/>
              </a:rPr>
              <a:t>Workstream</a:t>
            </a:r>
            <a:endParaRPr lang="en-US" sz="1600" b="1" kern="0" dirty="0">
              <a:solidFill>
                <a:srgbClr val="646464"/>
              </a:solidFill>
              <a:latin typeface="EYInterstate"/>
            </a:endParaRPr>
          </a:p>
        </p:txBody>
      </p:sp>
    </p:spTree>
    <p:extLst>
      <p:ext uri="{BB962C8B-B14F-4D97-AF65-F5344CB8AC3E}">
        <p14:creationId xmlns="" xmlns:p14="http://schemas.microsoft.com/office/powerpoint/2010/main" val="23334709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nvGraphicFramePr>
        <p:xfrm>
          <a:off x="82550" y="2362200"/>
          <a:ext cx="4419598" cy="3897840"/>
        </p:xfrm>
        <a:graphic>
          <a:graphicData uri="http://schemas.openxmlformats.org/drawingml/2006/table">
            <a:tbl>
              <a:tblPr/>
              <a:tblGrid>
                <a:gridCol w="4419598"/>
              </a:tblGrid>
              <a:tr h="128962">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Light"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002197">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1" i="0" u="sng" strike="noStrike" kern="1200" cap="none" normalizeH="0" baseline="0" noProof="0" dirty="0" smtClean="0">
                          <a:ln>
                            <a:noFill/>
                          </a:ln>
                          <a:solidFill>
                            <a:schemeClr val="tx1"/>
                          </a:solidFill>
                          <a:effectLst/>
                          <a:latin typeface="EYInterstate Light" pitchFamily="2" charset="0"/>
                          <a:ea typeface="+mn-ea"/>
                          <a:cs typeface="+mn-cs"/>
                        </a:rPr>
                        <a:t>Messaging</a:t>
                      </a:r>
                      <a:endParaRPr kumimoji="0" lang="en-GB" sz="700" b="0" i="0" u="none" strike="noStrike" cap="none" normalizeH="0" baseline="0" dirty="0" smtClean="0">
                        <a:ln>
                          <a:noFill/>
                        </a:ln>
                        <a:solidFill>
                          <a:schemeClr val="tx1"/>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Continuing design on the basis of the recommendation presented and agreed by the DA of 3 copies with SAN for large and medium sites and JBOD/RAID for small sites.  Any change to this decision will impact the Microsoft deliverable timeline and require a CR.</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Sections of Functional Spec delivered and  reviewed by EY and live reviews conducted with Microsoft</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Continued to resolve design issues and answer MS design queries</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Transition Impact assessment - 1</a:t>
                      </a:r>
                      <a:r>
                        <a:rPr kumimoji="0" lang="en-US" sz="700" b="0" i="0" u="none" strike="noStrike" cap="none" normalizeH="0" baseline="30000" dirty="0" smtClean="0">
                          <a:ln>
                            <a:noFill/>
                          </a:ln>
                          <a:solidFill>
                            <a:schemeClr val="tx1"/>
                          </a:solidFill>
                          <a:effectLst/>
                          <a:latin typeface="EYInterstate Light" pitchFamily="2" charset="0"/>
                        </a:rPr>
                        <a:t>st</a:t>
                      </a:r>
                      <a:r>
                        <a:rPr kumimoji="0" lang="en-US" sz="700" b="0" i="0" u="none" strike="noStrike" cap="none" normalizeH="0" baseline="0" dirty="0" smtClean="0">
                          <a:ln>
                            <a:noFill/>
                          </a:ln>
                          <a:solidFill>
                            <a:schemeClr val="tx1"/>
                          </a:solidFill>
                          <a:effectLst/>
                          <a:latin typeface="EYInterstate Light" pitchFamily="2" charset="0"/>
                        </a:rPr>
                        <a:t> draft reviewed</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Non-production environments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2574">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Light"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309258">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1" i="0" u="sng" strike="noStrike" kern="1200" cap="none" normalizeH="0" baseline="0" noProof="0" dirty="0" smtClean="0">
                          <a:ln>
                            <a:noFill/>
                          </a:ln>
                          <a:solidFill>
                            <a:schemeClr val="tx1"/>
                          </a:solidFill>
                          <a:effectLst/>
                          <a:latin typeface="EYInterstate Light" pitchFamily="2" charset="0"/>
                          <a:ea typeface="+mn-ea"/>
                          <a:cs typeface="+mn-cs"/>
                        </a:rPr>
                        <a:t>Messaging</a:t>
                      </a:r>
                      <a:endParaRPr kumimoji="0" lang="en-GB" sz="700" b="0" i="0" u="none" strike="noStrike" cap="none" normalizeH="0" baseline="0" dirty="0" smtClean="0">
                        <a:ln>
                          <a:noFill/>
                        </a:ln>
                        <a:solidFill>
                          <a:schemeClr val="tx1"/>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Messaging BoM for Dev/Test environment provisioning. Continuing lag on setting up exchange Lab.</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We are proceeding with design on the basis of the sites and user numbers communicated on 07 Dec. Latest Q&amp;RM discussion 0f 16-Dec re 1 GDC has not been incorporated in the design until have confirmation that this is the direction to be followed. Any change to the 07 Dec assumptions will impact the Microsoft deliverable timeline and require a CR. Q&amp;RM</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Dates for delivery of the Full draft of the Functional Spec  have slipped, impacted by Xmas holidays and delayed design decisions. Hoping to pull back time by initiating face-2-face review in Feb</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Impact of O365 decisions yet to be worked into the plan</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Concerned about the large number of dependencies on IAM</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8962">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Light"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184247">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1" i="0" u="sng" strike="noStrike" kern="1200" cap="none" normalizeH="0" baseline="0" noProof="0" dirty="0" smtClean="0">
                          <a:ln>
                            <a:noFill/>
                          </a:ln>
                          <a:solidFill>
                            <a:schemeClr val="tx1"/>
                          </a:solidFill>
                          <a:effectLst/>
                          <a:latin typeface="EYInterstate Light" pitchFamily="2" charset="0"/>
                          <a:ea typeface="+mn-ea"/>
                          <a:cs typeface="+mn-cs"/>
                        </a:rPr>
                        <a:t>Messaging</a:t>
                      </a:r>
                      <a:endParaRPr kumimoji="0" lang="en-US" sz="700" b="0" i="0" u="none" strike="noStrike" cap="none" normalizeH="0" baseline="0" dirty="0" smtClean="0">
                        <a:ln>
                          <a:noFill/>
                        </a:ln>
                        <a:solidFill>
                          <a:srgbClr val="646464"/>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Continued review of MS Functional Specification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Gap analysis for areas not covered by the MS functional specification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Transition Planning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Reviews of sections of Functional specification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Definition of Messaging environment requirements for non-production environments i.e. design verification and QA Lab</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Planning for next phase with Ops, Eng, </a:t>
                      </a:r>
                      <a:r>
                        <a:rPr kumimoji="0" lang="en-US" sz="700" b="0" i="0" u="none" strike="noStrike" cap="none" normalizeH="0" baseline="0" dirty="0" err="1" smtClean="0">
                          <a:ln>
                            <a:noFill/>
                          </a:ln>
                          <a:solidFill>
                            <a:schemeClr val="tx1"/>
                          </a:solidFill>
                          <a:effectLst/>
                          <a:latin typeface="EYInterstate Light" pitchFamily="2" charset="0"/>
                        </a:rPr>
                        <a:t>Arch,QA</a:t>
                      </a:r>
                      <a:r>
                        <a:rPr kumimoji="0" lang="en-US" sz="700" b="0" i="0" u="none" strike="noStrike" cap="none" normalizeH="0" baseline="0" dirty="0" smtClean="0">
                          <a:ln>
                            <a:noFill/>
                          </a:ln>
                          <a:solidFill>
                            <a:schemeClr val="tx1"/>
                          </a:solidFill>
                          <a:effectLst/>
                          <a:latin typeface="EYInterstate Light" pitchFamily="2" charset="0"/>
                        </a:rPr>
                        <a:t> etc.</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Revalidate network requirements and ability to meet with existing topology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Impact of O365 on design</a:t>
                      </a: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nvGraphicFramePr>
        <p:xfrm>
          <a:off x="4578350" y="3921534"/>
          <a:ext cx="4507523" cy="2256894"/>
        </p:xfrm>
        <a:graphic>
          <a:graphicData uri="http://schemas.openxmlformats.org/drawingml/2006/table">
            <a:tbl>
              <a:tblPr/>
              <a:tblGrid>
                <a:gridCol w="2187029"/>
                <a:gridCol w="2320494"/>
              </a:tblGrid>
              <a:tr h="228600">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3667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6006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The alignment of  definition of EY supplementary requirements for EY deliverable  items with the MS planning phase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Continue to Define EY supplementary requirements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Need to conduct exercise to understand what is not covered by the Microsoft deliverables and how these impact and are documented as part of the overall design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6006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The in-country location and  corresponding DR sites are key to design decisions</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Proceeding on the basis of the sites and user numbers communicated on 07 Dec. Latest Q&amp;RM discussion re 1 GDC has not been incorporated in the design work . Confirmation that this is the direction to be followed  required. Any change to the 07 Dec assumptions will impact the timeline and require a CR.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6006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Storage Design decision</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We are proceeding with the design on the basis of the recommendation </a:t>
                      </a:r>
                      <a:r>
                        <a:rPr kumimoji="0" lang="en-US" sz="700" b="0" i="0" u="none" strike="noStrike" cap="none" normalizeH="0" baseline="0" dirty="0" smtClean="0">
                          <a:ln>
                            <a:noFill/>
                          </a:ln>
                          <a:solidFill>
                            <a:srgbClr val="646464"/>
                          </a:solidFill>
                          <a:effectLst/>
                          <a:latin typeface="EYInterstate Light" pitchFamily="2" charset="0"/>
                        </a:rPr>
                        <a:t>presented  and agreed by the DA.</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667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Scope 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4933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TOTAL - 0 change controls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nvGraphicFramePr>
        <p:xfrm>
          <a:off x="82550" y="1193604"/>
          <a:ext cx="4419600" cy="1092396"/>
        </p:xfrm>
        <a:graphic>
          <a:graphicData uri="http://schemas.openxmlformats.org/drawingml/2006/table">
            <a:tbl>
              <a:tblPr/>
              <a:tblGrid>
                <a:gridCol w="4419600"/>
              </a:tblGrid>
              <a:tr h="126563">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Light" pitchFamily="2" charset="0"/>
                        </a:rPr>
                        <a:t>A.  </a:t>
                      </a:r>
                      <a:r>
                        <a:rPr kumimoji="0" lang="en-GB" sz="700" b="1" i="0" u="none" strike="noStrike" cap="none" normalizeH="0" baseline="0" dirty="0" smtClean="0">
                          <a:ln>
                            <a:noFill/>
                          </a:ln>
                          <a:solidFill>
                            <a:schemeClr val="tx1"/>
                          </a:solidFill>
                          <a:effectLst/>
                          <a:latin typeface="EYInterstate Light" pitchFamily="2" charset="0"/>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EYInterstate Light"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864037">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1" i="0" u="sng" strike="noStrike" kern="1200" cap="none" normalizeH="0" baseline="0" noProof="0" dirty="0" smtClean="0">
                          <a:ln>
                            <a:noFill/>
                          </a:ln>
                          <a:solidFill>
                            <a:schemeClr val="tx1"/>
                          </a:solidFill>
                          <a:effectLst/>
                          <a:latin typeface="EYInterstate Light" pitchFamily="2" charset="0"/>
                          <a:ea typeface="+mn-ea"/>
                          <a:cs typeface="+mn-cs"/>
                        </a:rPr>
                        <a:t>Messaging</a:t>
                      </a:r>
                      <a:endParaRPr kumimoji="0" lang="en-GB" sz="700" b="0" i="0" u="none" strike="noStrike" cap="none" normalizeH="0" baseline="0" dirty="0" smtClean="0">
                        <a:ln>
                          <a:noFill/>
                        </a:ln>
                        <a:solidFill>
                          <a:schemeClr val="tx1"/>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GB" sz="700" b="0" i="0" u="none" strike="noStrike" cap="none" normalizeH="0" baseline="0" dirty="0" smtClean="0">
                          <a:ln>
                            <a:noFill/>
                          </a:ln>
                          <a:solidFill>
                            <a:schemeClr val="tx1"/>
                          </a:solidFill>
                          <a:effectLst/>
                          <a:latin typeface="EYInterstate Light" pitchFamily="2" charset="0"/>
                        </a:rPr>
                        <a:t>Envisioning workshops conducted in Secaucus</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GB" sz="700" b="0" i="0" u="none" strike="noStrike" cap="none" normalizeH="0" baseline="0" dirty="0" smtClean="0">
                          <a:ln>
                            <a:noFill/>
                          </a:ln>
                          <a:solidFill>
                            <a:schemeClr val="tx1"/>
                          </a:solidFill>
                          <a:effectLst/>
                          <a:latin typeface="EYInterstate Light" pitchFamily="2" charset="0"/>
                        </a:rPr>
                        <a:t>Microsoft have delivered Vision Scope deliverables and Planning SOWs for messaging</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GB" sz="700" b="0" i="0" u="none" strike="noStrike" cap="none" normalizeH="0" baseline="0" dirty="0" smtClean="0">
                          <a:ln>
                            <a:noFill/>
                          </a:ln>
                          <a:solidFill>
                            <a:schemeClr val="tx1"/>
                          </a:solidFill>
                          <a:effectLst/>
                          <a:latin typeface="EYInterstate Light" pitchFamily="2" charset="0"/>
                        </a:rPr>
                        <a:t>Planning activities commenced for MSF Planning phases for Messaging</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cap="none" normalizeH="0" baseline="0" dirty="0" smtClean="0">
                          <a:ln>
                            <a:noFill/>
                          </a:ln>
                          <a:solidFill>
                            <a:schemeClr val="tx1"/>
                          </a:solidFill>
                          <a:effectLst/>
                          <a:latin typeface="EYInterstate Light" pitchFamily="2" charset="0"/>
                        </a:rPr>
                        <a:t>MSF Planning phase for Messaging commenced </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cap="none" normalizeH="0" baseline="0" dirty="0" smtClean="0">
                          <a:ln>
                            <a:noFill/>
                          </a:ln>
                          <a:solidFill>
                            <a:schemeClr val="tx1"/>
                          </a:solidFill>
                          <a:effectLst/>
                          <a:latin typeface="EYInterstate Light" pitchFamily="2" charset="0"/>
                        </a:rPr>
                        <a:t>Planning F2F workshops conducted in Secaucus</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cap="none" normalizeH="0" baseline="0" dirty="0" smtClean="0">
                          <a:ln>
                            <a:noFill/>
                          </a:ln>
                          <a:solidFill>
                            <a:schemeClr val="tx1"/>
                          </a:solidFill>
                          <a:effectLst/>
                          <a:latin typeface="EYInterstate Light" pitchFamily="2" charset="0"/>
                        </a:rPr>
                        <a:t>First Draft of Migration &amp; Coexistence Document delivered by Microsoft</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cap="none" normalizeH="0" baseline="0" dirty="0" smtClean="0">
                          <a:ln>
                            <a:noFill/>
                          </a:ln>
                          <a:solidFill>
                            <a:schemeClr val="tx1"/>
                          </a:solidFill>
                          <a:effectLst/>
                          <a:latin typeface="EYInterstate Light" pitchFamily="2" charset="0"/>
                        </a:rPr>
                        <a:t>7 Pre-draft sections of the Functional Spec available for review</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nvGraphicFramePr>
        <p:xfrm>
          <a:off x="4572000" y="1073027"/>
          <a:ext cx="4507526" cy="1485305"/>
        </p:xfrm>
        <a:graphic>
          <a:graphicData uri="http://schemas.openxmlformats.org/drawingml/2006/table">
            <a:tbl>
              <a:tblPr/>
              <a:tblGrid>
                <a:gridCol w="1419597"/>
                <a:gridCol w="758333"/>
                <a:gridCol w="773785"/>
                <a:gridCol w="777905"/>
                <a:gridCol w="777906"/>
              </a:tblGrid>
              <a:tr h="108407">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smtClean="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729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23867">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Finalize In-Country Locations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17 Nov 2011</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30 Jan 2011</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94681">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Messaging BoM for Dev/Test environment provisioning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16 Dec  2011</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30 Jan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96342">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Messaging Design (1</a:t>
                      </a:r>
                      <a:r>
                        <a:rPr kumimoji="0" lang="en-US" sz="700" b="0" i="0" u="none" strike="noStrike" cap="none" normalizeH="0" baseline="30000" dirty="0" smtClean="0">
                          <a:ln>
                            <a:noFill/>
                          </a:ln>
                          <a:solidFill>
                            <a:schemeClr val="tx1"/>
                          </a:solidFill>
                          <a:effectLst/>
                          <a:latin typeface="EYInterstate Light" pitchFamily="2" charset="0"/>
                        </a:rPr>
                        <a:t>st</a:t>
                      </a:r>
                      <a:r>
                        <a:rPr kumimoji="0" lang="en-US" sz="700" b="0" i="0" u="none" strike="noStrike" cap="none" normalizeH="0" baseline="0" dirty="0" smtClean="0">
                          <a:ln>
                            <a:noFill/>
                          </a:ln>
                          <a:solidFill>
                            <a:schemeClr val="tx1"/>
                          </a:solidFill>
                          <a:effectLst/>
                          <a:latin typeface="EYInterstate Light" pitchFamily="2" charset="0"/>
                        </a:rPr>
                        <a:t> draft)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30 Jan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14 Feb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60741">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Messaging Design (EY Design Approval)*</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05 Mar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30 Mar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5297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Messaging Testing  commences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18 Apr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18 Apr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94681">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Exchange available for UAT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02 Jul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02 Jul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bl>
          </a:graphicData>
        </a:graphic>
      </p:graphicFrame>
      <p:graphicFrame>
        <p:nvGraphicFramePr>
          <p:cNvPr id="15" name="Group 270"/>
          <p:cNvGraphicFramePr>
            <a:graphicFrameLocks noGrp="1"/>
          </p:cNvGraphicFramePr>
          <p:nvPr/>
        </p:nvGraphicFramePr>
        <p:xfrm>
          <a:off x="7570788" y="69850"/>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bl>
          </a:graphicData>
        </a:graphic>
      </p:graphicFrame>
      <p:graphicFrame>
        <p:nvGraphicFramePr>
          <p:cNvPr id="16" name="Table 15"/>
          <p:cNvGraphicFramePr>
            <a:graphicFrameLocks noGrp="1"/>
          </p:cNvGraphicFramePr>
          <p:nvPr/>
        </p:nvGraphicFramePr>
        <p:xfrm>
          <a:off x="4572000" y="2514600"/>
          <a:ext cx="4507523" cy="1426536"/>
        </p:xfrm>
        <a:graphic>
          <a:graphicData uri="http://schemas.openxmlformats.org/drawingml/2006/table">
            <a:tbl>
              <a:tblPr/>
              <a:tblGrid>
                <a:gridCol w="2177928"/>
                <a:gridCol w="2329595"/>
              </a:tblGrid>
              <a:tr h="129061">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29061">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1"/>
                          </a:solidFill>
                          <a:effectLst/>
                          <a:latin typeface="EYInterstate Light" pitchFamily="2" charset="0"/>
                        </a:rPr>
                        <a:t>Mitigating Action</a:t>
                      </a:r>
                      <a:endParaRPr kumimoji="0" lang="en-US" sz="700" b="0" i="0" u="none" strike="noStrike" cap="none" normalizeH="0" baseline="0" dirty="0" smtClean="0">
                        <a:ln>
                          <a:noFill/>
                        </a:ln>
                        <a:solidFill>
                          <a:schemeClr val="bg1"/>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67988">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Meeting the bandwidth requirements between the primary and secondary sites to achieve the HA reqt.</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Working with the network team to size the problem. Initial analysis indicated  that less of a problem subsequently revised and needs to be done again.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70346">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Regaining the timeline slip on getting the specification Signed off </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Planning face to face review session in Feb to short-circuit the review cycles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70346">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DCC timeline for in-country data room build does not support envisaged exchange roll out</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Work with DCC to understand better what can be achieved. Lead times increasing to 90-120 days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70346">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No of dependencies on IAM programme and ensuring M&amp;C </a:t>
                      </a:r>
                      <a:r>
                        <a:rPr kumimoji="0" lang="en-GB" sz="700" b="0" i="0" u="none" strike="noStrike" kern="1200" cap="none" normalizeH="0" baseline="0" dirty="0" err="1" smtClean="0">
                          <a:ln>
                            <a:noFill/>
                          </a:ln>
                          <a:solidFill>
                            <a:schemeClr val="tx1"/>
                          </a:solidFill>
                          <a:effectLst/>
                          <a:latin typeface="EYInterstate Light" pitchFamily="2" charset="0"/>
                          <a:ea typeface="+mn-ea"/>
                          <a:cs typeface="+mn-cs"/>
                        </a:rPr>
                        <a:t>reqts</a:t>
                      </a: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 being addressed</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Work with IAM to ensure dates achievable and that all M&amp;C </a:t>
                      </a:r>
                      <a:r>
                        <a:rPr kumimoji="0" lang="en-US" sz="700" b="0" i="0" u="none" strike="noStrike" cap="none" normalizeH="0" baseline="0" dirty="0" err="1" smtClean="0">
                          <a:ln>
                            <a:noFill/>
                          </a:ln>
                          <a:solidFill>
                            <a:srgbClr val="646464"/>
                          </a:solidFill>
                          <a:effectLst/>
                          <a:latin typeface="EYInterstate Light" pitchFamily="2" charset="0"/>
                        </a:rPr>
                        <a:t>reqts</a:t>
                      </a:r>
                      <a:r>
                        <a:rPr kumimoji="0" lang="en-US" sz="700" b="0" i="0" u="none" strike="noStrike" cap="none" normalizeH="0" baseline="0" dirty="0" smtClean="0">
                          <a:ln>
                            <a:noFill/>
                          </a:ln>
                          <a:solidFill>
                            <a:srgbClr val="646464"/>
                          </a:solidFill>
                          <a:effectLst/>
                          <a:latin typeface="EYInterstate Light" pitchFamily="2" charset="0"/>
                        </a:rPr>
                        <a:t> have been taken into consideration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nvGraphicFramePr>
        <p:xfrm>
          <a:off x="4572000" y="6178428"/>
          <a:ext cx="4495800" cy="374772"/>
        </p:xfrm>
        <a:graphic>
          <a:graphicData uri="http://schemas.openxmlformats.org/drawingml/2006/table">
            <a:tbl>
              <a:tblPr/>
              <a:tblGrid>
                <a:gridCol w="4495800"/>
              </a:tblGrid>
              <a:tr h="73869">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Light"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5473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 Amber – delays on key design decisions  means we are progressing on assumptions that still may change . Delays in these decisions have now started to impacting timescales of the design phase.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450" y="6584950"/>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550" y="658495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688" y="6573838"/>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69850" y="6581775"/>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a:grpSpLocks/>
          </p:cNvGrpSpPr>
          <p:nvPr/>
        </p:nvGrpSpPr>
        <p:grpSpPr bwMode="auto">
          <a:xfrm>
            <a:off x="0" y="6389688"/>
            <a:ext cx="8964613" cy="541337"/>
            <a:chOff x="0" y="6505545"/>
            <a:chExt cx="9711531" cy="540206"/>
          </a:xfrm>
        </p:grpSpPr>
        <p:sp>
          <p:nvSpPr>
            <p:cNvPr id="19689" name="TextBox 20"/>
            <p:cNvSpPr txBox="1">
              <a:spLocks noChangeArrowheads="1"/>
            </p:cNvSpPr>
            <p:nvPr/>
          </p:nvSpPr>
          <p:spPr bwMode="gray">
            <a:xfrm>
              <a:off x="1639689" y="6576570"/>
              <a:ext cx="2611234" cy="400110"/>
            </a:xfrm>
            <a:prstGeom prst="rect">
              <a:avLst/>
            </a:prstGeom>
            <a:noFill/>
            <a:ln w="9525">
              <a:noFill/>
              <a:miter lim="800000"/>
              <a:headEnd/>
              <a:tailEnd/>
            </a:ln>
          </p:spPr>
          <p:txBody>
            <a:bodyPr>
              <a:spAutoFit/>
            </a:bodyPr>
            <a:lstStyle/>
            <a:p>
              <a:pPr defTabSz="955675" eaLnBrk="0" hangingPunct="0"/>
              <a:endParaRPr lang="en-GB" sz="500" b="1" dirty="0">
                <a:solidFill>
                  <a:srgbClr val="646464"/>
                </a:solidFill>
                <a:latin typeface="EYInterstate Light" pitchFamily="2" charset="0"/>
              </a:endParaRPr>
            </a:p>
            <a:p>
              <a:pPr defTabSz="955675" eaLnBrk="0" hangingPunct="0"/>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149" y="6657627"/>
              <a:ext cx="663830" cy="169507"/>
            </a:xfrm>
            <a:prstGeom prst="rect">
              <a:avLst/>
            </a:prstGeom>
          </p:spPr>
          <p:txBody>
            <a:bodyPr wrap="none">
              <a:spAutoFit/>
            </a:bodyPr>
            <a:lstStyle/>
            <a:p>
              <a:pPr defTabSz="955675" eaLnBrk="0" hangingPunct="0">
                <a:spcAft>
                  <a:spcPts val="0"/>
                </a:spcAft>
                <a:defRPr/>
              </a:pPr>
              <a:r>
                <a:rPr lang="en-US" sz="500" b="1" dirty="0">
                  <a:solidFill>
                    <a:srgbClr val="646464"/>
                  </a:solidFill>
                  <a:latin typeface="EYInterstate Light" pitchFamily="2" charset="0"/>
                </a:rPr>
                <a:t>Fully achieved</a:t>
              </a:r>
              <a:endParaRPr lang="en-GB" sz="500" b="1" kern="0" dirty="0">
                <a:solidFill>
                  <a:srgbClr val="646464"/>
                </a:solidFill>
                <a:latin typeface="EYInterstate"/>
              </a:endParaRPr>
            </a:p>
          </p:txBody>
        </p:sp>
        <p:sp>
          <p:nvSpPr>
            <p:cNvPr id="25" name="TextBox 24"/>
            <p:cNvSpPr txBox="1"/>
            <p:nvPr/>
          </p:nvSpPr>
          <p:spPr bwMode="gray">
            <a:xfrm>
              <a:off x="0" y="6505545"/>
              <a:ext cx="4882422" cy="169507"/>
            </a:xfrm>
            <a:prstGeom prst="rect">
              <a:avLst/>
            </a:prstGeom>
          </p:spPr>
          <p:txBody>
            <a:bodyPr wrap="none">
              <a:spAutoFit/>
            </a:bodyPr>
            <a:lstStyle/>
            <a:p>
              <a:pPr defTabSz="955675" eaLnBrk="0" hangingPunct="0">
                <a:spcAft>
                  <a:spcPts val="0"/>
                </a:spcAft>
                <a:defRPr/>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a:endParaRPr>
            </a:p>
          </p:txBody>
        </p:sp>
        <p:sp>
          <p:nvSpPr>
            <p:cNvPr id="19692" name="TextBox 25"/>
            <p:cNvSpPr txBox="1">
              <a:spLocks noChangeArrowheads="1"/>
            </p:cNvSpPr>
            <p:nvPr/>
          </p:nvSpPr>
          <p:spPr bwMode="gray">
            <a:xfrm>
              <a:off x="7423210" y="6564722"/>
              <a:ext cx="2288321" cy="400110"/>
            </a:xfrm>
            <a:prstGeom prst="rect">
              <a:avLst/>
            </a:prstGeom>
            <a:noFill/>
            <a:ln w="9525">
              <a:noFill/>
              <a:miter lim="800000"/>
              <a:headEnd/>
              <a:tailEnd/>
            </a:ln>
          </p:spPr>
          <p:txBody>
            <a:bodyPr>
              <a:spAutoFit/>
            </a:bodyPr>
            <a:lstStyle/>
            <a:p>
              <a:pPr defTabSz="955675" eaLnBrk="0" hangingPunct="0"/>
              <a:endParaRPr lang="en-GB" sz="500" b="1" dirty="0">
                <a:solidFill>
                  <a:srgbClr val="646464"/>
                </a:solidFill>
                <a:latin typeface="EYInterstate Light" pitchFamily="2" charset="0"/>
              </a:endParaRPr>
            </a:p>
            <a:p>
              <a:pPr defTabSz="955675" eaLnBrk="0" hangingPunct="0"/>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9693" name="TextBox 26"/>
            <p:cNvSpPr txBox="1">
              <a:spLocks noChangeArrowheads="1"/>
            </p:cNvSpPr>
            <p:nvPr/>
          </p:nvSpPr>
          <p:spPr bwMode="gray">
            <a:xfrm>
              <a:off x="4849123" y="6568697"/>
              <a:ext cx="1976087" cy="477054"/>
            </a:xfrm>
            <a:prstGeom prst="rect">
              <a:avLst/>
            </a:prstGeom>
            <a:noFill/>
            <a:ln w="9525">
              <a:noFill/>
              <a:miter lim="800000"/>
              <a:headEnd/>
              <a:tailEnd/>
            </a:ln>
          </p:spPr>
          <p:txBody>
            <a:bodyPr>
              <a:spAutoFit/>
            </a:bodyPr>
            <a:lstStyle/>
            <a:p>
              <a:pPr defTabSz="955675" eaLnBrk="0" hangingPunct="0"/>
              <a:endParaRPr lang="en-GB" sz="500" b="1" dirty="0">
                <a:solidFill>
                  <a:srgbClr val="646464"/>
                </a:solidFill>
                <a:latin typeface="EYInterstate Light" pitchFamily="2" charset="0"/>
              </a:endParaRPr>
            </a:p>
            <a:p>
              <a:pPr defTabSz="955675" eaLnBrk="0" hangingPunct="0"/>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9640" name="Freeform 94"/>
          <p:cNvSpPr>
            <a:spLocks/>
          </p:cNvSpPr>
          <p:nvPr/>
        </p:nvSpPr>
        <p:spPr bwMode="gray">
          <a:xfrm>
            <a:off x="-3175" y="-3175"/>
            <a:ext cx="7546975" cy="307975"/>
          </a:xfrm>
          <a:custGeom>
            <a:avLst/>
            <a:gdLst>
              <a:gd name="T0" fmla="*/ 2147483647 w 6000"/>
              <a:gd name="T1" fmla="*/ 0 h 754"/>
              <a:gd name="T2" fmla="*/ 2147483647 w 6000"/>
              <a:gd name="T3" fmla="*/ 125460203 h 754"/>
              <a:gd name="T4" fmla="*/ 0 w 6000"/>
              <a:gd name="T5" fmla="*/ 125793910 h 754"/>
              <a:gd name="T6" fmla="*/ 0 w 6000"/>
              <a:gd name="T7" fmla="*/ 500357 h 754"/>
              <a:gd name="T8" fmla="*/ 2147483647 w 6000"/>
              <a:gd name="T9" fmla="*/ 0 h 754"/>
              <a:gd name="T10" fmla="*/ 0 60000 65536"/>
              <a:gd name="T11" fmla="*/ 0 60000 65536"/>
              <a:gd name="T12" fmla="*/ 0 60000 65536"/>
              <a:gd name="T13" fmla="*/ 0 60000 65536"/>
              <a:gd name="T14" fmla="*/ 0 60000 65536"/>
              <a:gd name="T15" fmla="*/ 0 w 6000"/>
              <a:gd name="T16" fmla="*/ 0 h 754"/>
              <a:gd name="T17" fmla="*/ 6000 w 6000"/>
              <a:gd name="T18" fmla="*/ 754 h 754"/>
            </a:gdLst>
            <a:ahLst/>
            <a:cxnLst>
              <a:cxn ang="T10">
                <a:pos x="T0" y="T1"/>
              </a:cxn>
              <a:cxn ang="T11">
                <a:pos x="T2" y="T3"/>
              </a:cxn>
              <a:cxn ang="T12">
                <a:pos x="T4" y="T5"/>
              </a:cxn>
              <a:cxn ang="T13">
                <a:pos x="T6" y="T7"/>
              </a:cxn>
              <a:cxn ang="T14">
                <a:pos x="T8" y="T9"/>
              </a:cxn>
            </a:cxnLst>
            <a:rect l="T15" t="T16" r="T17" b="T18"/>
            <a:pathLst>
              <a:path w="6000" h="754">
                <a:moveTo>
                  <a:pt x="6000" y="0"/>
                </a:moveTo>
                <a:lnTo>
                  <a:pt x="5854" y="752"/>
                </a:lnTo>
                <a:lnTo>
                  <a:pt x="0" y="754"/>
                </a:lnTo>
                <a:lnTo>
                  <a:pt x="0" y="3"/>
                </a:lnTo>
                <a:lnTo>
                  <a:pt x="6000" y="0"/>
                </a:lnTo>
                <a:close/>
              </a:path>
            </a:pathLst>
          </a:custGeom>
          <a:solidFill>
            <a:srgbClr val="FFD200"/>
          </a:solidFill>
          <a:ln w="9525">
            <a:noFill/>
            <a:round/>
            <a:headEnd/>
            <a:tailEnd/>
          </a:ln>
        </p:spPr>
        <p:txBody>
          <a:bodyPr/>
          <a:lstStyle/>
          <a:p>
            <a:endParaRPr lang="en-GB" dirty="0"/>
          </a:p>
        </p:txBody>
      </p:sp>
      <p:sp>
        <p:nvSpPr>
          <p:cNvPr id="19641" name="Line 69"/>
          <p:cNvSpPr>
            <a:spLocks noChangeShapeType="1"/>
          </p:cNvSpPr>
          <p:nvPr/>
        </p:nvSpPr>
        <p:spPr bwMode="gray">
          <a:xfrm>
            <a:off x="762000" y="886341"/>
            <a:ext cx="8153400" cy="0"/>
          </a:xfrm>
          <a:prstGeom prst="line">
            <a:avLst/>
          </a:prstGeom>
          <a:noFill/>
          <a:ln w="38100">
            <a:solidFill>
              <a:srgbClr val="FFD200"/>
            </a:solidFill>
            <a:round/>
            <a:headEnd type="diamond" w="med" len="med"/>
            <a:tailEnd type="diamond" w="med" len="med"/>
          </a:ln>
        </p:spPr>
        <p:txBody>
          <a:bodyPr wrap="square" lIns="92075" tIns="46038" rIns="92075" bIns="46038">
            <a:spAutoFit/>
          </a:bodyPr>
          <a:lstStyle/>
          <a:p>
            <a:endParaRPr lang="en-GB" dirty="0"/>
          </a:p>
        </p:txBody>
      </p:sp>
      <p:sp>
        <p:nvSpPr>
          <p:cNvPr id="19642" name="Text Box 70"/>
          <p:cNvSpPr txBox="1">
            <a:spLocks noChangeArrowheads="1"/>
          </p:cNvSpPr>
          <p:nvPr/>
        </p:nvSpPr>
        <p:spPr bwMode="gray">
          <a:xfrm>
            <a:off x="228600" y="533400"/>
            <a:ext cx="820738" cy="303213"/>
          </a:xfrm>
          <a:prstGeom prst="rect">
            <a:avLst/>
          </a:prstGeom>
          <a:noFill/>
          <a:ln w="9525" algn="ctr">
            <a:noFill/>
            <a:miter lim="800000"/>
            <a:headEnd type="none" w="sm" len="sm"/>
            <a:tailEnd type="none" w="sm" len="sm"/>
          </a:ln>
        </p:spPr>
        <p:txBody>
          <a:bodyPr lIns="57057" tIns="28529" rIns="57057" bIns="28529">
            <a:spAutoFit/>
          </a:bodyPr>
          <a:lstStyle/>
          <a:p>
            <a:pPr defTabSz="514350" eaLnBrk="0" hangingPunct="0"/>
            <a:r>
              <a:rPr lang="en-US" sz="800" b="1" dirty="0">
                <a:solidFill>
                  <a:srgbClr val="000000"/>
                </a:solidFill>
                <a:latin typeface="EYInterstate" pitchFamily="2" charset="0"/>
              </a:rPr>
              <a:t>Target Milestones</a:t>
            </a:r>
          </a:p>
        </p:txBody>
      </p:sp>
      <p:sp>
        <p:nvSpPr>
          <p:cNvPr id="19645" name="Line 73"/>
          <p:cNvSpPr>
            <a:spLocks noChangeShapeType="1"/>
          </p:cNvSpPr>
          <p:nvPr/>
        </p:nvSpPr>
        <p:spPr bwMode="gray">
          <a:xfrm>
            <a:off x="5780088"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19647" name="Line 75"/>
          <p:cNvSpPr>
            <a:spLocks noChangeShapeType="1"/>
          </p:cNvSpPr>
          <p:nvPr/>
        </p:nvSpPr>
        <p:spPr bwMode="gray">
          <a:xfrm>
            <a:off x="5219700"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19648" name="Line 76"/>
          <p:cNvSpPr>
            <a:spLocks noChangeShapeType="1"/>
          </p:cNvSpPr>
          <p:nvPr/>
        </p:nvSpPr>
        <p:spPr bwMode="gray">
          <a:xfrm>
            <a:off x="6324600"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19649" name="Line 77"/>
          <p:cNvSpPr>
            <a:spLocks noChangeShapeType="1"/>
          </p:cNvSpPr>
          <p:nvPr/>
        </p:nvSpPr>
        <p:spPr bwMode="gray">
          <a:xfrm>
            <a:off x="865188"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19650" name="Line 78"/>
          <p:cNvSpPr>
            <a:spLocks noChangeShapeType="1"/>
          </p:cNvSpPr>
          <p:nvPr/>
        </p:nvSpPr>
        <p:spPr bwMode="gray">
          <a:xfrm>
            <a:off x="1995488"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19651" name="Line 79"/>
          <p:cNvSpPr>
            <a:spLocks noChangeShapeType="1"/>
          </p:cNvSpPr>
          <p:nvPr/>
        </p:nvSpPr>
        <p:spPr bwMode="gray">
          <a:xfrm>
            <a:off x="2393950"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19652" name="Line 80"/>
          <p:cNvSpPr>
            <a:spLocks noChangeShapeType="1"/>
          </p:cNvSpPr>
          <p:nvPr/>
        </p:nvSpPr>
        <p:spPr bwMode="gray">
          <a:xfrm>
            <a:off x="2944813"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19653" name="Line 81"/>
          <p:cNvSpPr>
            <a:spLocks noChangeShapeType="1"/>
          </p:cNvSpPr>
          <p:nvPr/>
        </p:nvSpPr>
        <p:spPr bwMode="gray">
          <a:xfrm>
            <a:off x="4097338"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19654" name="Line 82"/>
          <p:cNvSpPr>
            <a:spLocks noChangeShapeType="1"/>
          </p:cNvSpPr>
          <p:nvPr/>
        </p:nvSpPr>
        <p:spPr bwMode="gray">
          <a:xfrm>
            <a:off x="4657725"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19656" name="Text Box 84"/>
          <p:cNvSpPr txBox="1">
            <a:spLocks noChangeArrowheads="1"/>
          </p:cNvSpPr>
          <p:nvPr/>
        </p:nvSpPr>
        <p:spPr bwMode="gray">
          <a:xfrm>
            <a:off x="762000" y="930275"/>
            <a:ext cx="292100"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July ‘11</a:t>
            </a:r>
          </a:p>
        </p:txBody>
      </p:sp>
      <p:sp>
        <p:nvSpPr>
          <p:cNvPr id="19657" name="Text Box 85"/>
          <p:cNvSpPr txBox="1">
            <a:spLocks noChangeArrowheads="1"/>
          </p:cNvSpPr>
          <p:nvPr/>
        </p:nvSpPr>
        <p:spPr bwMode="gray">
          <a:xfrm>
            <a:off x="1314832" y="930275"/>
            <a:ext cx="279400"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Aug ‘11</a:t>
            </a:r>
          </a:p>
        </p:txBody>
      </p:sp>
      <p:sp>
        <p:nvSpPr>
          <p:cNvPr id="19658" name="Text Box 86"/>
          <p:cNvSpPr txBox="1">
            <a:spLocks noChangeArrowheads="1"/>
          </p:cNvSpPr>
          <p:nvPr/>
        </p:nvSpPr>
        <p:spPr bwMode="gray">
          <a:xfrm>
            <a:off x="1854964" y="930275"/>
            <a:ext cx="303212"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Sept ‘11</a:t>
            </a:r>
          </a:p>
        </p:txBody>
      </p:sp>
      <p:sp>
        <p:nvSpPr>
          <p:cNvPr id="19659" name="Text Box 87"/>
          <p:cNvSpPr txBox="1">
            <a:spLocks noChangeArrowheads="1"/>
          </p:cNvSpPr>
          <p:nvPr/>
        </p:nvSpPr>
        <p:spPr bwMode="gray">
          <a:xfrm>
            <a:off x="2418908" y="930275"/>
            <a:ext cx="26352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Oct ‘11</a:t>
            </a:r>
          </a:p>
        </p:txBody>
      </p:sp>
      <p:sp>
        <p:nvSpPr>
          <p:cNvPr id="19660" name="Text Box 88"/>
          <p:cNvSpPr txBox="1">
            <a:spLocks noChangeArrowheads="1"/>
          </p:cNvSpPr>
          <p:nvPr/>
        </p:nvSpPr>
        <p:spPr bwMode="gray">
          <a:xfrm>
            <a:off x="2943165" y="930275"/>
            <a:ext cx="277813"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Nov ‘11</a:t>
            </a:r>
          </a:p>
        </p:txBody>
      </p:sp>
      <p:sp>
        <p:nvSpPr>
          <p:cNvPr id="19661" name="Text Box 89"/>
          <p:cNvSpPr txBox="1">
            <a:spLocks noChangeArrowheads="1"/>
          </p:cNvSpPr>
          <p:nvPr/>
        </p:nvSpPr>
        <p:spPr bwMode="gray">
          <a:xfrm>
            <a:off x="3481710" y="930275"/>
            <a:ext cx="274637"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Dec ‘11</a:t>
            </a:r>
          </a:p>
        </p:txBody>
      </p:sp>
      <p:sp>
        <p:nvSpPr>
          <p:cNvPr id="19662" name="Text Box 90"/>
          <p:cNvSpPr txBox="1">
            <a:spLocks noChangeArrowheads="1"/>
          </p:cNvSpPr>
          <p:nvPr/>
        </p:nvSpPr>
        <p:spPr bwMode="gray">
          <a:xfrm>
            <a:off x="4017079" y="930275"/>
            <a:ext cx="26987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Jan ‘12</a:t>
            </a:r>
          </a:p>
        </p:txBody>
      </p:sp>
      <p:sp>
        <p:nvSpPr>
          <p:cNvPr id="19663" name="Text Box 91"/>
          <p:cNvSpPr txBox="1">
            <a:spLocks noChangeArrowheads="1"/>
          </p:cNvSpPr>
          <p:nvPr/>
        </p:nvSpPr>
        <p:spPr bwMode="gray">
          <a:xfrm>
            <a:off x="4547686" y="930275"/>
            <a:ext cx="26987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Feb ‘12</a:t>
            </a:r>
          </a:p>
        </p:txBody>
      </p:sp>
      <p:sp>
        <p:nvSpPr>
          <p:cNvPr id="19664" name="Text Box 92"/>
          <p:cNvSpPr txBox="1">
            <a:spLocks noChangeArrowheads="1"/>
          </p:cNvSpPr>
          <p:nvPr/>
        </p:nvSpPr>
        <p:spPr bwMode="gray">
          <a:xfrm>
            <a:off x="5078293" y="930275"/>
            <a:ext cx="274637"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Mar ‘12</a:t>
            </a:r>
          </a:p>
        </p:txBody>
      </p:sp>
      <p:sp>
        <p:nvSpPr>
          <p:cNvPr id="19665" name="Text Box 93"/>
          <p:cNvSpPr txBox="1">
            <a:spLocks noChangeArrowheads="1"/>
          </p:cNvSpPr>
          <p:nvPr/>
        </p:nvSpPr>
        <p:spPr bwMode="gray">
          <a:xfrm>
            <a:off x="5613662" y="930275"/>
            <a:ext cx="268288"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Apr ‘12</a:t>
            </a:r>
          </a:p>
        </p:txBody>
      </p:sp>
      <p:sp>
        <p:nvSpPr>
          <p:cNvPr id="19666" name="Text Box 94"/>
          <p:cNvSpPr txBox="1">
            <a:spLocks noChangeArrowheads="1"/>
          </p:cNvSpPr>
          <p:nvPr/>
        </p:nvSpPr>
        <p:spPr bwMode="gray">
          <a:xfrm>
            <a:off x="6142682" y="930275"/>
            <a:ext cx="285750"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May ‘12</a:t>
            </a:r>
          </a:p>
        </p:txBody>
      </p:sp>
      <p:sp>
        <p:nvSpPr>
          <p:cNvPr id="19667" name="Text Box 95"/>
          <p:cNvSpPr txBox="1">
            <a:spLocks noChangeArrowheads="1"/>
          </p:cNvSpPr>
          <p:nvPr/>
        </p:nvSpPr>
        <p:spPr bwMode="gray">
          <a:xfrm>
            <a:off x="6689164" y="930275"/>
            <a:ext cx="314325" cy="92075"/>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a:solidFill>
                  <a:srgbClr val="000000"/>
                </a:solidFill>
                <a:latin typeface="EYInterstate Light" pitchFamily="2" charset="0"/>
              </a:rPr>
              <a:t>June ‘12</a:t>
            </a:r>
          </a:p>
        </p:txBody>
      </p:sp>
      <p:sp>
        <p:nvSpPr>
          <p:cNvPr id="19668" name="Line 96"/>
          <p:cNvSpPr>
            <a:spLocks noChangeShapeType="1"/>
          </p:cNvSpPr>
          <p:nvPr/>
        </p:nvSpPr>
        <p:spPr bwMode="gray">
          <a:xfrm>
            <a:off x="1511300"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19669" name="Line 97"/>
          <p:cNvSpPr>
            <a:spLocks noChangeShapeType="1"/>
          </p:cNvSpPr>
          <p:nvPr/>
        </p:nvSpPr>
        <p:spPr bwMode="gray">
          <a:xfrm>
            <a:off x="3513138"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19670" name="Text Box 98"/>
          <p:cNvSpPr txBox="1">
            <a:spLocks noChangeArrowheads="1"/>
          </p:cNvSpPr>
          <p:nvPr/>
        </p:nvSpPr>
        <p:spPr bwMode="gray">
          <a:xfrm>
            <a:off x="152400" y="854075"/>
            <a:ext cx="457200" cy="180975"/>
          </a:xfrm>
          <a:prstGeom prst="rect">
            <a:avLst/>
          </a:prstGeom>
          <a:solidFill>
            <a:srgbClr val="FFD200"/>
          </a:solidFill>
          <a:ln w="9525" algn="ctr">
            <a:noFill/>
            <a:miter lim="800000"/>
            <a:headEnd type="none" w="sm" len="sm"/>
            <a:tailEnd type="none" w="sm" len="sm"/>
          </a:ln>
        </p:spPr>
        <p:txBody>
          <a:bodyPr lIns="57057" tIns="28529" rIns="57057" bIns="28529">
            <a:spAutoFit/>
          </a:bodyPr>
          <a:lstStyle/>
          <a:p>
            <a:pPr defTabSz="514350" eaLnBrk="0" hangingPunct="0"/>
            <a:r>
              <a:rPr lang="en-US" sz="800" b="1" dirty="0">
                <a:solidFill>
                  <a:srgbClr val="000000"/>
                </a:solidFill>
                <a:latin typeface="EYInterstate" pitchFamily="2" charset="0"/>
              </a:rPr>
              <a:t>Actual</a:t>
            </a:r>
          </a:p>
        </p:txBody>
      </p:sp>
      <p:sp>
        <p:nvSpPr>
          <p:cNvPr id="19671" name="Line 125"/>
          <p:cNvSpPr>
            <a:spLocks noChangeShapeType="1"/>
          </p:cNvSpPr>
          <p:nvPr/>
        </p:nvSpPr>
        <p:spPr bwMode="gray">
          <a:xfrm flipV="1">
            <a:off x="1130300" y="533400"/>
            <a:ext cx="0" cy="304800"/>
          </a:xfrm>
          <a:prstGeom prst="line">
            <a:avLst/>
          </a:prstGeom>
          <a:noFill/>
          <a:ln w="6350">
            <a:solidFill>
              <a:srgbClr val="00B050"/>
            </a:solidFill>
            <a:round/>
            <a:headEnd type="diamond" w="lg" len="lg"/>
            <a:tailEnd type="none" w="sm" len="sm"/>
          </a:ln>
        </p:spPr>
        <p:txBody>
          <a:bodyPr lIns="92075" tIns="46038" rIns="92075" bIns="46038">
            <a:spAutoFit/>
          </a:bodyPr>
          <a:lstStyle/>
          <a:p>
            <a:endParaRPr lang="en-GB" dirty="0"/>
          </a:p>
        </p:txBody>
      </p:sp>
      <p:sp>
        <p:nvSpPr>
          <p:cNvPr id="19672" name="Text Box 126"/>
          <p:cNvSpPr txBox="1">
            <a:spLocks noChangeArrowheads="1"/>
          </p:cNvSpPr>
          <p:nvPr/>
        </p:nvSpPr>
        <p:spPr bwMode="gray">
          <a:xfrm>
            <a:off x="1130300" y="533400"/>
            <a:ext cx="533400" cy="184150"/>
          </a:xfrm>
          <a:prstGeom prst="rect">
            <a:avLst/>
          </a:prstGeom>
          <a:noFill/>
          <a:ln w="9525" algn="ctr">
            <a:noFill/>
            <a:miter lim="800000"/>
            <a:headEnd type="none" w="sm" len="sm"/>
            <a:tailEnd type="none" w="sm" len="sm"/>
          </a:ln>
        </p:spPr>
        <p:txBody>
          <a:bodyPr lIns="26118" tIns="0" rIns="0" bIns="0">
            <a:spAutoFit/>
          </a:bodyPr>
          <a:lstStyle/>
          <a:p>
            <a:pPr defTabSz="514350" eaLnBrk="0" hangingPunct="0"/>
            <a:r>
              <a:rPr lang="en-US" sz="600" dirty="0">
                <a:solidFill>
                  <a:srgbClr val="000000"/>
                </a:solidFill>
                <a:latin typeface="EYInterstate" pitchFamily="2" charset="0"/>
              </a:rPr>
              <a:t>Envisioning Commenced</a:t>
            </a:r>
            <a:endParaRPr lang="en-US" sz="600" dirty="0">
              <a:solidFill>
                <a:srgbClr val="808080"/>
              </a:solidFill>
              <a:latin typeface="EYInterstate" pitchFamily="2" charset="0"/>
            </a:endParaRPr>
          </a:p>
        </p:txBody>
      </p:sp>
      <p:sp>
        <p:nvSpPr>
          <p:cNvPr id="19673" name="Line 125"/>
          <p:cNvSpPr>
            <a:spLocks noChangeShapeType="1"/>
          </p:cNvSpPr>
          <p:nvPr/>
        </p:nvSpPr>
        <p:spPr bwMode="gray">
          <a:xfrm flipV="1">
            <a:off x="1663700" y="381000"/>
            <a:ext cx="0" cy="457200"/>
          </a:xfrm>
          <a:prstGeom prst="line">
            <a:avLst/>
          </a:prstGeom>
          <a:noFill/>
          <a:ln w="6350">
            <a:solidFill>
              <a:srgbClr val="00B050"/>
            </a:solidFill>
            <a:round/>
            <a:headEnd type="diamond" w="lg" len="lg"/>
            <a:tailEnd type="none" w="sm" len="sm"/>
          </a:ln>
        </p:spPr>
        <p:txBody>
          <a:bodyPr lIns="92075" tIns="46038" rIns="92075" bIns="46038">
            <a:spAutoFit/>
          </a:bodyPr>
          <a:lstStyle/>
          <a:p>
            <a:endParaRPr lang="en-GB" dirty="0"/>
          </a:p>
        </p:txBody>
      </p:sp>
      <p:sp>
        <p:nvSpPr>
          <p:cNvPr id="19674" name="Text Box 126"/>
          <p:cNvSpPr txBox="1">
            <a:spLocks noChangeArrowheads="1"/>
          </p:cNvSpPr>
          <p:nvPr/>
        </p:nvSpPr>
        <p:spPr bwMode="gray">
          <a:xfrm>
            <a:off x="977900" y="381000"/>
            <a:ext cx="684213" cy="92075"/>
          </a:xfrm>
          <a:prstGeom prst="rect">
            <a:avLst/>
          </a:prstGeom>
          <a:noFill/>
          <a:ln w="9525" algn="ctr">
            <a:noFill/>
            <a:miter lim="800000"/>
            <a:headEnd type="none" w="sm" len="sm"/>
            <a:tailEnd type="none" w="sm" len="sm"/>
          </a:ln>
        </p:spPr>
        <p:txBody>
          <a:bodyPr lIns="26118" tIns="0" rIns="0" bIns="0">
            <a:spAutoFit/>
          </a:bodyPr>
          <a:lstStyle/>
          <a:p>
            <a:pPr algn="r" defTabSz="514350" eaLnBrk="0" hangingPunct="0"/>
            <a:r>
              <a:rPr lang="en-US" sz="600" dirty="0">
                <a:solidFill>
                  <a:srgbClr val="000000"/>
                </a:solidFill>
                <a:latin typeface="EYInterstate" pitchFamily="2" charset="0"/>
              </a:rPr>
              <a:t>Initiation Event</a:t>
            </a:r>
            <a:endParaRPr lang="en-US" sz="600" dirty="0">
              <a:solidFill>
                <a:srgbClr val="808080"/>
              </a:solidFill>
              <a:latin typeface="EYInterstate" pitchFamily="2" charset="0"/>
            </a:endParaRPr>
          </a:p>
        </p:txBody>
      </p:sp>
      <p:sp>
        <p:nvSpPr>
          <p:cNvPr id="67" name="Rectangle 183"/>
          <p:cNvSpPr txBox="1">
            <a:spLocks noChangeArrowheads="1"/>
          </p:cNvSpPr>
          <p:nvPr/>
        </p:nvSpPr>
        <p:spPr bwMode="gray">
          <a:xfrm>
            <a:off x="152400" y="0"/>
            <a:ext cx="7424738" cy="338138"/>
          </a:xfrm>
          <a:prstGeom prst="rect">
            <a:avLst/>
          </a:prstGeom>
        </p:spPr>
        <p:txBody>
          <a:bodyPr>
            <a:spAutoFit/>
          </a:bodyPr>
          <a:lstStyle/>
          <a:p>
            <a:pPr algn="l" defTabSz="955675" eaLnBrk="0" hangingPunct="0">
              <a:spcAft>
                <a:spcPts val="0"/>
              </a:spcAft>
              <a:defRPr/>
            </a:pPr>
            <a:r>
              <a:rPr lang="en-US" sz="1600" b="1" kern="0" dirty="0">
                <a:solidFill>
                  <a:srgbClr val="646464"/>
                </a:solidFill>
                <a:latin typeface="EYInterstate"/>
              </a:rPr>
              <a:t>R11915 –</a:t>
            </a:r>
            <a:r>
              <a:rPr lang="en-US" sz="1600" b="1" kern="0" dirty="0" smtClean="0">
                <a:solidFill>
                  <a:srgbClr val="646464"/>
                </a:solidFill>
                <a:latin typeface="EYInterstate"/>
              </a:rPr>
              <a:t>Technology Foundation - Messaging </a:t>
            </a:r>
            <a:r>
              <a:rPr lang="en-US" sz="1600" b="1" kern="0" dirty="0">
                <a:solidFill>
                  <a:srgbClr val="646464"/>
                </a:solidFill>
                <a:latin typeface="EYInterstate"/>
              </a:rPr>
              <a:t>– </a:t>
            </a:r>
            <a:r>
              <a:rPr lang="en-US" sz="1600" b="1" kern="0" dirty="0" smtClean="0">
                <a:solidFill>
                  <a:srgbClr val="646464"/>
                </a:solidFill>
                <a:latin typeface="EYInterstate"/>
              </a:rPr>
              <a:t>Adrian Mickleson</a:t>
            </a:r>
            <a:endParaRPr lang="en-US" sz="1400" kern="0" dirty="0">
              <a:solidFill>
                <a:srgbClr val="646464"/>
              </a:solidFill>
              <a:latin typeface="EYInterstate"/>
            </a:endParaRPr>
          </a:p>
        </p:txBody>
      </p:sp>
      <p:grpSp>
        <p:nvGrpSpPr>
          <p:cNvPr id="3" name="Group 68"/>
          <p:cNvGrpSpPr/>
          <p:nvPr/>
        </p:nvGrpSpPr>
        <p:grpSpPr>
          <a:xfrm>
            <a:off x="2273300" y="304800"/>
            <a:ext cx="914400" cy="533400"/>
            <a:chOff x="3657600" y="609600"/>
            <a:chExt cx="914400" cy="228600"/>
          </a:xfrm>
        </p:grpSpPr>
        <p:sp>
          <p:nvSpPr>
            <p:cNvPr id="19677" name="Text Box 126"/>
            <p:cNvSpPr txBox="1">
              <a:spLocks noChangeArrowheads="1"/>
            </p:cNvSpPr>
            <p:nvPr/>
          </p:nvSpPr>
          <p:spPr bwMode="gray">
            <a:xfrm>
              <a:off x="3657600" y="609600"/>
              <a:ext cx="914400" cy="184150"/>
            </a:xfrm>
            <a:prstGeom prst="rect">
              <a:avLst/>
            </a:prstGeom>
            <a:noFill/>
            <a:ln w="9525" algn="ctr">
              <a:noFill/>
              <a:miter lim="800000"/>
              <a:headEnd type="none" w="sm" len="sm"/>
              <a:tailEnd type="none" w="sm" len="sm"/>
            </a:ln>
          </p:spPr>
          <p:txBody>
            <a:bodyPr lIns="26118" tIns="0" rIns="0" bIns="0">
              <a:spAutoFit/>
            </a:bodyPr>
            <a:lstStyle/>
            <a:p>
              <a:r>
                <a:rPr lang="en-GB" sz="600" dirty="0">
                  <a:latin typeface="EYInterstate" pitchFamily="2" charset="0"/>
                </a:rPr>
                <a:t>Approve  Envisioning Vision Scope &amp; SOWs</a:t>
              </a:r>
            </a:p>
          </p:txBody>
        </p:sp>
        <p:sp>
          <p:nvSpPr>
            <p:cNvPr id="19678" name="Line 125"/>
            <p:cNvSpPr>
              <a:spLocks noChangeShapeType="1"/>
            </p:cNvSpPr>
            <p:nvPr/>
          </p:nvSpPr>
          <p:spPr bwMode="gray">
            <a:xfrm flipV="1">
              <a:off x="3657600" y="609600"/>
              <a:ext cx="0" cy="228600"/>
            </a:xfrm>
            <a:prstGeom prst="line">
              <a:avLst/>
            </a:prstGeom>
            <a:noFill/>
            <a:ln w="6350">
              <a:solidFill>
                <a:schemeClr val="tx1"/>
              </a:solidFill>
              <a:round/>
              <a:headEnd type="diamond" w="lg" len="lg"/>
              <a:tailEnd type="none" w="sm" len="sm"/>
            </a:ln>
          </p:spPr>
          <p:txBody>
            <a:bodyPr lIns="92075" tIns="46038" rIns="92075" bIns="46038">
              <a:spAutoFit/>
            </a:bodyPr>
            <a:lstStyle/>
            <a:p>
              <a:endParaRPr lang="en-GB" dirty="0"/>
            </a:p>
          </p:txBody>
        </p:sp>
      </p:grpSp>
      <p:sp>
        <p:nvSpPr>
          <p:cNvPr id="21699" name="Line 125"/>
          <p:cNvSpPr>
            <a:spLocks noChangeShapeType="1"/>
          </p:cNvSpPr>
          <p:nvPr/>
        </p:nvSpPr>
        <p:spPr bwMode="gray">
          <a:xfrm flipV="1">
            <a:off x="2501900" y="533400"/>
            <a:ext cx="0" cy="304800"/>
          </a:xfrm>
          <a:prstGeom prst="line">
            <a:avLst/>
          </a:prstGeom>
          <a:noFill/>
          <a:ln w="6350">
            <a:solidFill>
              <a:srgbClr val="00B050"/>
            </a:solidFill>
            <a:round/>
            <a:headEnd type="diamond" w="lg" len="lg"/>
            <a:tailEnd type="none" w="sm" len="sm"/>
          </a:ln>
        </p:spPr>
        <p:txBody>
          <a:bodyPr wrap="square" lIns="92075" tIns="46038" rIns="92075" bIns="46038">
            <a:spAutoFit/>
          </a:bodyPr>
          <a:lstStyle/>
          <a:p>
            <a:pPr>
              <a:defRPr/>
            </a:pPr>
            <a:endParaRPr lang="en-GB" dirty="0"/>
          </a:p>
        </p:txBody>
      </p:sp>
      <p:sp>
        <p:nvSpPr>
          <p:cNvPr id="21700" name="Text Box 126"/>
          <p:cNvSpPr txBox="1">
            <a:spLocks noChangeArrowheads="1"/>
          </p:cNvSpPr>
          <p:nvPr/>
        </p:nvSpPr>
        <p:spPr bwMode="gray">
          <a:xfrm>
            <a:off x="2501900" y="533400"/>
            <a:ext cx="684213" cy="184666"/>
          </a:xfrm>
          <a:prstGeom prst="rect">
            <a:avLst/>
          </a:prstGeom>
          <a:noFill/>
          <a:ln w="9525" algn="ctr">
            <a:noFill/>
            <a:miter lim="800000"/>
            <a:headEnd type="none" w="sm" len="sm"/>
            <a:tailEnd type="none" w="sm" len="sm"/>
          </a:ln>
        </p:spPr>
        <p:txBody>
          <a:bodyPr wrap="square" lIns="26118" tIns="0" rIns="0" bIns="0">
            <a:spAutoFit/>
          </a:bodyPr>
          <a:lstStyle/>
          <a:p>
            <a:pPr defTabSz="514350" eaLnBrk="0" hangingPunct="0">
              <a:defRPr/>
            </a:pPr>
            <a:r>
              <a:rPr lang="en-US" sz="600" i="1" dirty="0" smtClean="0">
                <a:latin typeface="EYInterstate" pitchFamily="2" charset="0"/>
              </a:rPr>
              <a:t>Planning &amp; Design Commences</a:t>
            </a:r>
            <a:endParaRPr lang="en-US" sz="600" i="1" dirty="0">
              <a:latin typeface="EYInterstate" pitchFamily="2" charset="0"/>
            </a:endParaRPr>
          </a:p>
        </p:txBody>
      </p:sp>
      <p:sp>
        <p:nvSpPr>
          <p:cNvPr id="62" name="Line 125"/>
          <p:cNvSpPr>
            <a:spLocks noChangeShapeType="1"/>
          </p:cNvSpPr>
          <p:nvPr/>
        </p:nvSpPr>
        <p:spPr bwMode="gray">
          <a:xfrm flipV="1">
            <a:off x="5626100" y="304800"/>
            <a:ext cx="12700" cy="533400"/>
          </a:xfrm>
          <a:prstGeom prst="line">
            <a:avLst/>
          </a:prstGeom>
          <a:noFill/>
          <a:ln w="6350">
            <a:solidFill>
              <a:schemeClr val="tx1">
                <a:lumMod val="40000"/>
                <a:lumOff val="60000"/>
              </a:schemeClr>
            </a:solidFill>
            <a:round/>
            <a:headEnd type="diamond" w="lg" len="lg"/>
            <a:tailEnd type="none" w="sm" len="sm"/>
          </a:ln>
        </p:spPr>
        <p:txBody>
          <a:bodyPr wrap="square" lIns="92075" tIns="46038" rIns="92075" bIns="46038">
            <a:spAutoFit/>
          </a:bodyPr>
          <a:lstStyle/>
          <a:p>
            <a:pPr>
              <a:defRPr/>
            </a:pPr>
            <a:endParaRPr lang="en-GB" dirty="0"/>
          </a:p>
        </p:txBody>
      </p:sp>
      <p:sp>
        <p:nvSpPr>
          <p:cNvPr id="63" name="Text Box 126"/>
          <p:cNvSpPr txBox="1">
            <a:spLocks noChangeArrowheads="1"/>
          </p:cNvSpPr>
          <p:nvPr/>
        </p:nvSpPr>
        <p:spPr bwMode="gray">
          <a:xfrm>
            <a:off x="5638800" y="304800"/>
            <a:ext cx="1143000" cy="184666"/>
          </a:xfrm>
          <a:prstGeom prst="rect">
            <a:avLst/>
          </a:prstGeom>
          <a:noFill/>
          <a:ln w="9525" algn="ctr">
            <a:noFill/>
            <a:miter lim="800000"/>
            <a:headEnd type="none" w="sm" len="sm"/>
            <a:tailEnd type="none" w="sm" len="sm"/>
          </a:ln>
        </p:spPr>
        <p:txBody>
          <a:bodyPr wrap="square" lIns="26118" tIns="0" rIns="0" bIns="0">
            <a:spAutoFit/>
          </a:bodyPr>
          <a:lstStyle/>
          <a:p>
            <a:pPr>
              <a:defRPr/>
            </a:pPr>
            <a:r>
              <a:rPr lang="en-GB" sz="600" i="1" dirty="0" smtClean="0">
                <a:solidFill>
                  <a:schemeClr val="tx1">
                    <a:lumMod val="40000"/>
                    <a:lumOff val="60000"/>
                  </a:schemeClr>
                </a:solidFill>
                <a:latin typeface="EYInterstate" pitchFamily="2" charset="0"/>
              </a:rPr>
              <a:t>Design Authority Approve Design for messaging </a:t>
            </a:r>
            <a:endParaRPr lang="en-GB" sz="600" i="1" dirty="0">
              <a:solidFill>
                <a:schemeClr val="tx1">
                  <a:lumMod val="40000"/>
                  <a:lumOff val="60000"/>
                </a:schemeClr>
              </a:solidFill>
              <a:latin typeface="EYInterstate" pitchFamily="2" charset="0"/>
            </a:endParaRPr>
          </a:p>
        </p:txBody>
      </p:sp>
      <p:sp>
        <p:nvSpPr>
          <p:cNvPr id="64" name="Line 125"/>
          <p:cNvSpPr>
            <a:spLocks noChangeShapeType="1"/>
          </p:cNvSpPr>
          <p:nvPr/>
        </p:nvSpPr>
        <p:spPr bwMode="gray">
          <a:xfrm flipV="1">
            <a:off x="7543800" y="609600"/>
            <a:ext cx="0" cy="228600"/>
          </a:xfrm>
          <a:prstGeom prst="line">
            <a:avLst/>
          </a:prstGeom>
          <a:noFill/>
          <a:ln w="6350">
            <a:solidFill>
              <a:schemeClr val="tx1">
                <a:lumMod val="40000"/>
                <a:lumOff val="60000"/>
              </a:schemeClr>
            </a:solidFill>
            <a:round/>
            <a:headEnd type="diamond" w="lg" len="lg"/>
            <a:tailEnd type="none" w="sm" len="sm"/>
          </a:ln>
        </p:spPr>
        <p:txBody>
          <a:bodyPr lIns="92075" tIns="46038" rIns="92075" bIns="46038">
            <a:spAutoFit/>
          </a:bodyPr>
          <a:lstStyle/>
          <a:p>
            <a:pPr>
              <a:defRPr/>
            </a:pPr>
            <a:endParaRPr lang="en-GB" dirty="0"/>
          </a:p>
        </p:txBody>
      </p:sp>
      <p:sp>
        <p:nvSpPr>
          <p:cNvPr id="65" name="Text Box 126"/>
          <p:cNvSpPr txBox="1">
            <a:spLocks noChangeArrowheads="1"/>
          </p:cNvSpPr>
          <p:nvPr/>
        </p:nvSpPr>
        <p:spPr bwMode="gray">
          <a:xfrm>
            <a:off x="7620000" y="609600"/>
            <a:ext cx="838200" cy="184666"/>
          </a:xfrm>
          <a:prstGeom prst="rect">
            <a:avLst/>
          </a:prstGeom>
          <a:noFill/>
          <a:ln w="9525" algn="ctr">
            <a:noFill/>
            <a:miter lim="800000"/>
            <a:headEnd type="none" w="sm" len="sm"/>
            <a:tailEnd type="none" w="sm" len="sm"/>
          </a:ln>
        </p:spPr>
        <p:txBody>
          <a:bodyPr wrap="square" lIns="26118" tIns="0" rIns="0" bIns="0">
            <a:spAutoFit/>
          </a:bodyPr>
          <a:lstStyle/>
          <a:p>
            <a:pPr>
              <a:defRPr/>
            </a:pPr>
            <a:r>
              <a:rPr lang="en-GB" sz="600" i="1" dirty="0" smtClean="0">
                <a:solidFill>
                  <a:schemeClr val="tx1">
                    <a:lumMod val="40000"/>
                    <a:lumOff val="60000"/>
                  </a:schemeClr>
                </a:solidFill>
                <a:latin typeface="EYInterstate" pitchFamily="2" charset="0"/>
              </a:rPr>
              <a:t>Exchange available for  UAT Testing</a:t>
            </a:r>
            <a:endParaRPr lang="en-GB" sz="600" i="1" dirty="0">
              <a:solidFill>
                <a:schemeClr val="tx1">
                  <a:lumMod val="40000"/>
                  <a:lumOff val="60000"/>
                </a:schemeClr>
              </a:solidFill>
              <a:latin typeface="EYInterstate" pitchFamily="2" charset="0"/>
            </a:endParaRPr>
          </a:p>
        </p:txBody>
      </p:sp>
      <p:sp>
        <p:nvSpPr>
          <p:cNvPr id="70" name="Line 125"/>
          <p:cNvSpPr>
            <a:spLocks noChangeShapeType="1"/>
          </p:cNvSpPr>
          <p:nvPr/>
        </p:nvSpPr>
        <p:spPr bwMode="gray">
          <a:xfrm flipV="1">
            <a:off x="6096000" y="533400"/>
            <a:ext cx="0" cy="304800"/>
          </a:xfrm>
          <a:prstGeom prst="line">
            <a:avLst/>
          </a:prstGeom>
          <a:noFill/>
          <a:ln w="6350">
            <a:solidFill>
              <a:schemeClr val="tx1">
                <a:lumMod val="40000"/>
                <a:lumOff val="60000"/>
              </a:schemeClr>
            </a:solidFill>
            <a:round/>
            <a:headEnd type="diamond" w="lg" len="lg"/>
            <a:tailEnd type="none" w="sm" len="sm"/>
          </a:ln>
        </p:spPr>
        <p:txBody>
          <a:bodyPr wrap="square" lIns="92075" tIns="46038" rIns="92075" bIns="46038">
            <a:spAutoFit/>
          </a:bodyPr>
          <a:lstStyle/>
          <a:p>
            <a:pPr>
              <a:defRPr/>
            </a:pPr>
            <a:endParaRPr lang="en-GB" dirty="0"/>
          </a:p>
        </p:txBody>
      </p:sp>
      <p:sp>
        <p:nvSpPr>
          <p:cNvPr id="71" name="Text Box 126"/>
          <p:cNvSpPr txBox="1">
            <a:spLocks noChangeArrowheads="1"/>
          </p:cNvSpPr>
          <p:nvPr/>
        </p:nvSpPr>
        <p:spPr bwMode="gray">
          <a:xfrm>
            <a:off x="6096000" y="533400"/>
            <a:ext cx="533400" cy="184666"/>
          </a:xfrm>
          <a:prstGeom prst="rect">
            <a:avLst/>
          </a:prstGeom>
          <a:noFill/>
          <a:ln w="9525" algn="ctr">
            <a:noFill/>
            <a:miter lim="800000"/>
            <a:headEnd type="none" w="sm" len="sm"/>
            <a:tailEnd type="none" w="sm" len="sm"/>
          </a:ln>
        </p:spPr>
        <p:txBody>
          <a:bodyPr wrap="square" lIns="26118" tIns="0" rIns="0" bIns="0">
            <a:spAutoFit/>
          </a:bodyPr>
          <a:lstStyle/>
          <a:p>
            <a:pPr>
              <a:defRPr/>
            </a:pPr>
            <a:r>
              <a:rPr lang="en-GB" sz="600" i="1" dirty="0" smtClean="0">
                <a:solidFill>
                  <a:schemeClr val="tx1">
                    <a:lumMod val="40000"/>
                    <a:lumOff val="60000"/>
                  </a:schemeClr>
                </a:solidFill>
                <a:latin typeface="EYInterstate" pitchFamily="2" charset="0"/>
              </a:rPr>
              <a:t>Start Testing</a:t>
            </a:r>
          </a:p>
          <a:p>
            <a:pPr>
              <a:defRPr/>
            </a:pPr>
            <a:r>
              <a:rPr lang="en-GB" sz="600" i="1" dirty="0" smtClean="0">
                <a:solidFill>
                  <a:schemeClr val="tx1">
                    <a:lumMod val="40000"/>
                    <a:lumOff val="60000"/>
                  </a:schemeClr>
                </a:solidFill>
                <a:latin typeface="EYInterstate" pitchFamily="2" charset="0"/>
              </a:rPr>
              <a:t> messaging</a:t>
            </a:r>
            <a:endParaRPr lang="en-GB" sz="600" i="1" dirty="0">
              <a:solidFill>
                <a:schemeClr val="tx1">
                  <a:lumMod val="40000"/>
                  <a:lumOff val="60000"/>
                </a:schemeClr>
              </a:solidFill>
              <a:latin typeface="EYInterstate" pitchFamily="2" charset="0"/>
            </a:endParaRPr>
          </a:p>
        </p:txBody>
      </p:sp>
      <p:sp>
        <p:nvSpPr>
          <p:cNvPr id="68" name="Line 76"/>
          <p:cNvSpPr>
            <a:spLocks noChangeShapeType="1"/>
          </p:cNvSpPr>
          <p:nvPr/>
        </p:nvSpPr>
        <p:spPr bwMode="gray">
          <a:xfrm>
            <a:off x="6858000"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72" name="Line 76"/>
          <p:cNvSpPr>
            <a:spLocks noChangeShapeType="1"/>
          </p:cNvSpPr>
          <p:nvPr/>
        </p:nvSpPr>
        <p:spPr bwMode="gray">
          <a:xfrm>
            <a:off x="7467600"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73" name="Line 76"/>
          <p:cNvSpPr>
            <a:spLocks noChangeShapeType="1"/>
          </p:cNvSpPr>
          <p:nvPr/>
        </p:nvSpPr>
        <p:spPr bwMode="gray">
          <a:xfrm>
            <a:off x="8001000"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74" name="Line 76"/>
          <p:cNvSpPr>
            <a:spLocks noChangeShapeType="1"/>
          </p:cNvSpPr>
          <p:nvPr/>
        </p:nvSpPr>
        <p:spPr bwMode="gray">
          <a:xfrm>
            <a:off x="8534400" y="838200"/>
            <a:ext cx="0" cy="53975"/>
          </a:xfrm>
          <a:prstGeom prst="line">
            <a:avLst/>
          </a:prstGeom>
          <a:noFill/>
          <a:ln w="28575">
            <a:solidFill>
              <a:srgbClr val="5F5F5F"/>
            </a:solidFill>
            <a:round/>
            <a:headEnd type="none" w="sm" len="sm"/>
            <a:tailEnd type="none" w="sm" len="sm"/>
          </a:ln>
        </p:spPr>
        <p:txBody>
          <a:bodyPr lIns="92075" tIns="46038" rIns="92075" bIns="46038">
            <a:spAutoFit/>
          </a:bodyPr>
          <a:lstStyle/>
          <a:p>
            <a:endParaRPr lang="en-GB" dirty="0"/>
          </a:p>
        </p:txBody>
      </p:sp>
      <p:sp>
        <p:nvSpPr>
          <p:cNvPr id="75" name="Text Box 95"/>
          <p:cNvSpPr txBox="1">
            <a:spLocks noChangeArrowheads="1"/>
          </p:cNvSpPr>
          <p:nvPr/>
        </p:nvSpPr>
        <p:spPr bwMode="gray">
          <a:xfrm>
            <a:off x="7264221" y="930275"/>
            <a:ext cx="291747" cy="92333"/>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smtClean="0">
                <a:solidFill>
                  <a:srgbClr val="000000"/>
                </a:solidFill>
                <a:latin typeface="EYInterstate Light" pitchFamily="2" charset="0"/>
              </a:rPr>
              <a:t>July </a:t>
            </a:r>
            <a:r>
              <a:rPr lang="en-US" sz="600" b="1" dirty="0">
                <a:solidFill>
                  <a:srgbClr val="000000"/>
                </a:solidFill>
                <a:latin typeface="EYInterstate Light" pitchFamily="2" charset="0"/>
              </a:rPr>
              <a:t>‘12</a:t>
            </a:r>
          </a:p>
        </p:txBody>
      </p:sp>
      <p:sp>
        <p:nvSpPr>
          <p:cNvPr id="76" name="Text Box 95"/>
          <p:cNvSpPr txBox="1">
            <a:spLocks noChangeArrowheads="1"/>
          </p:cNvSpPr>
          <p:nvPr/>
        </p:nvSpPr>
        <p:spPr bwMode="gray">
          <a:xfrm>
            <a:off x="7816700" y="930275"/>
            <a:ext cx="304571" cy="92333"/>
          </a:xfrm>
          <a:prstGeom prst="rect">
            <a:avLst/>
          </a:prstGeom>
          <a:noFill/>
          <a:ln w="9525" algn="ctr">
            <a:noFill/>
            <a:miter lim="800000"/>
            <a:headEnd type="none" w="sm" len="sm"/>
            <a:tailEnd type="none" w="sm" len="sm"/>
          </a:ln>
        </p:spPr>
        <p:txBody>
          <a:bodyPr wrap="none" lIns="0" tIns="0" rIns="0" bIns="0">
            <a:spAutoFit/>
          </a:bodyPr>
          <a:lstStyle/>
          <a:p>
            <a:pPr defTabSz="514350" eaLnBrk="0" hangingPunct="0"/>
            <a:r>
              <a:rPr lang="en-US" sz="600" b="1" dirty="0" smtClean="0">
                <a:solidFill>
                  <a:srgbClr val="000000"/>
                </a:solidFill>
                <a:latin typeface="EYInterstate Light" pitchFamily="2" charset="0"/>
              </a:rPr>
              <a:t>JAug‘12</a:t>
            </a:r>
            <a:endParaRPr lang="en-US" sz="600" b="1" dirty="0">
              <a:solidFill>
                <a:srgbClr val="000000"/>
              </a:solidFill>
              <a:latin typeface="EYInterstate Light" pitchFamily="2" charset="0"/>
            </a:endParaRPr>
          </a:p>
        </p:txBody>
      </p:sp>
      <p:sp>
        <p:nvSpPr>
          <p:cNvPr id="77" name="Text Box 95"/>
          <p:cNvSpPr txBox="1">
            <a:spLocks noChangeArrowheads="1"/>
          </p:cNvSpPr>
          <p:nvPr/>
        </p:nvSpPr>
        <p:spPr bwMode="gray">
          <a:xfrm>
            <a:off x="8382000" y="930275"/>
            <a:ext cx="314325" cy="92333"/>
          </a:xfrm>
          <a:prstGeom prst="rect">
            <a:avLst/>
          </a:prstGeom>
          <a:noFill/>
          <a:ln w="9525" algn="ctr">
            <a:noFill/>
            <a:miter lim="800000"/>
            <a:headEnd type="none" w="sm" len="sm"/>
            <a:tailEnd type="none" w="sm" len="sm"/>
          </a:ln>
        </p:spPr>
        <p:txBody>
          <a:bodyPr wrap="square" lIns="0" tIns="0" rIns="0" bIns="0">
            <a:spAutoFit/>
          </a:bodyPr>
          <a:lstStyle/>
          <a:p>
            <a:pPr defTabSz="514350" eaLnBrk="0" hangingPunct="0"/>
            <a:r>
              <a:rPr lang="en-US" sz="600" b="1" dirty="0" smtClean="0">
                <a:solidFill>
                  <a:srgbClr val="000000"/>
                </a:solidFill>
                <a:latin typeface="EYInterstate Light" pitchFamily="2" charset="0"/>
              </a:rPr>
              <a:t>Sept </a:t>
            </a:r>
            <a:r>
              <a:rPr lang="en-US" sz="600" b="1" dirty="0">
                <a:solidFill>
                  <a:srgbClr val="000000"/>
                </a:solidFill>
                <a:latin typeface="EYInterstate Light" pitchFamily="2" charset="0"/>
              </a:rPr>
              <a:t>‘12</a:t>
            </a:r>
          </a:p>
        </p:txBody>
      </p:sp>
      <p:sp>
        <p:nvSpPr>
          <p:cNvPr id="78" name="Line 125"/>
          <p:cNvSpPr>
            <a:spLocks noChangeShapeType="1"/>
          </p:cNvSpPr>
          <p:nvPr/>
        </p:nvSpPr>
        <p:spPr bwMode="gray">
          <a:xfrm flipV="1">
            <a:off x="4572000" y="533400"/>
            <a:ext cx="0" cy="304800"/>
          </a:xfrm>
          <a:prstGeom prst="line">
            <a:avLst/>
          </a:prstGeom>
          <a:noFill/>
          <a:ln w="6350">
            <a:solidFill>
              <a:schemeClr val="tx1">
                <a:lumMod val="40000"/>
                <a:lumOff val="60000"/>
              </a:schemeClr>
            </a:solidFill>
            <a:round/>
            <a:headEnd type="diamond" w="lg" len="lg"/>
            <a:tailEnd type="none" w="sm" len="sm"/>
          </a:ln>
        </p:spPr>
        <p:txBody>
          <a:bodyPr wrap="square" lIns="92075" tIns="46038" rIns="92075" bIns="46038">
            <a:spAutoFit/>
          </a:bodyPr>
          <a:lstStyle/>
          <a:p>
            <a:pPr>
              <a:defRPr/>
            </a:pPr>
            <a:endParaRPr lang="en-GB" dirty="0"/>
          </a:p>
        </p:txBody>
      </p:sp>
      <p:sp>
        <p:nvSpPr>
          <p:cNvPr id="79" name="Text Box 126"/>
          <p:cNvSpPr txBox="1">
            <a:spLocks noChangeArrowheads="1"/>
          </p:cNvSpPr>
          <p:nvPr/>
        </p:nvSpPr>
        <p:spPr bwMode="gray">
          <a:xfrm>
            <a:off x="4572000" y="457200"/>
            <a:ext cx="685800" cy="184666"/>
          </a:xfrm>
          <a:prstGeom prst="rect">
            <a:avLst/>
          </a:prstGeom>
          <a:noFill/>
          <a:ln w="9525" algn="ctr">
            <a:noFill/>
            <a:miter lim="800000"/>
            <a:headEnd type="none" w="sm" len="sm"/>
            <a:tailEnd type="none" w="sm" len="sm"/>
          </a:ln>
        </p:spPr>
        <p:txBody>
          <a:bodyPr wrap="square" lIns="26118" tIns="0" rIns="0" bIns="0">
            <a:spAutoFit/>
          </a:bodyPr>
          <a:lstStyle/>
          <a:p>
            <a:pPr>
              <a:defRPr/>
            </a:pPr>
            <a:r>
              <a:rPr lang="en-GB" sz="600" i="1" dirty="0" smtClean="0">
                <a:solidFill>
                  <a:schemeClr val="tx1">
                    <a:lumMod val="40000"/>
                    <a:lumOff val="60000"/>
                  </a:schemeClr>
                </a:solidFill>
                <a:latin typeface="EYInterstate" pitchFamily="2" charset="0"/>
              </a:rPr>
              <a:t>BoM to provision Test Env available</a:t>
            </a:r>
            <a:endParaRPr lang="en-GB" sz="600" i="1" dirty="0">
              <a:solidFill>
                <a:schemeClr val="tx1">
                  <a:lumMod val="40000"/>
                  <a:lumOff val="60000"/>
                </a:schemeClr>
              </a:solidFill>
              <a:latin typeface="EYInterstate" pitchFamily="2" charset="0"/>
            </a:endParaRPr>
          </a:p>
        </p:txBody>
      </p:sp>
      <p:sp>
        <p:nvSpPr>
          <p:cNvPr id="80" name="Line 125"/>
          <p:cNvSpPr>
            <a:spLocks noChangeShapeType="1"/>
          </p:cNvSpPr>
          <p:nvPr/>
        </p:nvSpPr>
        <p:spPr bwMode="gray">
          <a:xfrm flipV="1">
            <a:off x="3657600" y="304800"/>
            <a:ext cx="12700" cy="533400"/>
          </a:xfrm>
          <a:prstGeom prst="line">
            <a:avLst/>
          </a:prstGeom>
          <a:noFill/>
          <a:ln w="6350">
            <a:solidFill>
              <a:srgbClr val="00B050"/>
            </a:solidFill>
            <a:round/>
            <a:headEnd type="diamond" w="lg" len="lg"/>
            <a:tailEnd type="none" w="sm" len="sm"/>
          </a:ln>
        </p:spPr>
        <p:txBody>
          <a:bodyPr wrap="square" lIns="92075" tIns="46038" rIns="92075" bIns="46038">
            <a:spAutoFit/>
          </a:bodyPr>
          <a:lstStyle/>
          <a:p>
            <a:pPr>
              <a:defRPr/>
            </a:pPr>
            <a:endParaRPr lang="en-GB" dirty="0"/>
          </a:p>
        </p:txBody>
      </p:sp>
      <p:sp>
        <p:nvSpPr>
          <p:cNvPr id="81" name="Text Box 126"/>
          <p:cNvSpPr txBox="1">
            <a:spLocks noChangeArrowheads="1"/>
          </p:cNvSpPr>
          <p:nvPr/>
        </p:nvSpPr>
        <p:spPr bwMode="gray">
          <a:xfrm>
            <a:off x="3670300" y="304800"/>
            <a:ext cx="1143000" cy="184666"/>
          </a:xfrm>
          <a:prstGeom prst="rect">
            <a:avLst/>
          </a:prstGeom>
          <a:noFill/>
          <a:ln w="9525" algn="ctr">
            <a:noFill/>
            <a:miter lim="800000"/>
            <a:headEnd type="none" w="sm" len="sm"/>
            <a:tailEnd type="none" w="sm" len="sm"/>
          </a:ln>
        </p:spPr>
        <p:txBody>
          <a:bodyPr wrap="square" lIns="26118" tIns="0" rIns="0" bIns="0">
            <a:spAutoFit/>
          </a:bodyPr>
          <a:lstStyle/>
          <a:p>
            <a:pPr>
              <a:defRPr/>
            </a:pPr>
            <a:r>
              <a:rPr lang="en-GB" sz="600" i="1" dirty="0" smtClean="0">
                <a:solidFill>
                  <a:schemeClr val="tx1">
                    <a:lumMod val="40000"/>
                    <a:lumOff val="60000"/>
                  </a:schemeClr>
                </a:solidFill>
                <a:latin typeface="EYInterstate" pitchFamily="2" charset="0"/>
              </a:rPr>
              <a:t>Design Authority Approve storage solution selection</a:t>
            </a:r>
            <a:endParaRPr lang="en-GB" sz="600" i="1" dirty="0">
              <a:solidFill>
                <a:schemeClr val="tx1">
                  <a:lumMod val="40000"/>
                  <a:lumOff val="60000"/>
                </a:schemeClr>
              </a:solidFill>
              <a:latin typeface="EYInterstate" pitchFamily="2" charset="0"/>
            </a:endParaRPr>
          </a:p>
        </p:txBody>
      </p:sp>
      <p:sp>
        <p:nvSpPr>
          <p:cNvPr id="82" name="Line 125"/>
          <p:cNvSpPr>
            <a:spLocks noChangeShapeType="1"/>
          </p:cNvSpPr>
          <p:nvPr/>
        </p:nvSpPr>
        <p:spPr bwMode="gray">
          <a:xfrm flipV="1">
            <a:off x="4191000" y="533400"/>
            <a:ext cx="0" cy="304800"/>
          </a:xfrm>
          <a:prstGeom prst="line">
            <a:avLst/>
          </a:prstGeom>
          <a:noFill/>
          <a:ln w="6350">
            <a:solidFill>
              <a:schemeClr val="tx1">
                <a:lumMod val="40000"/>
                <a:lumOff val="60000"/>
              </a:schemeClr>
            </a:solidFill>
            <a:round/>
            <a:headEnd type="diamond" w="lg" len="lg"/>
            <a:tailEnd type="none" w="sm" len="sm"/>
          </a:ln>
        </p:spPr>
        <p:txBody>
          <a:bodyPr wrap="square" lIns="92075" tIns="46038" rIns="92075" bIns="46038">
            <a:spAutoFit/>
          </a:bodyPr>
          <a:lstStyle/>
          <a:p>
            <a:pPr>
              <a:defRPr/>
            </a:pPr>
            <a:endParaRPr lang="en-GB" dirty="0"/>
          </a:p>
        </p:txBody>
      </p:sp>
      <p:sp>
        <p:nvSpPr>
          <p:cNvPr id="83" name="Text Box 126"/>
          <p:cNvSpPr txBox="1">
            <a:spLocks noChangeArrowheads="1"/>
          </p:cNvSpPr>
          <p:nvPr/>
        </p:nvSpPr>
        <p:spPr bwMode="gray">
          <a:xfrm>
            <a:off x="4191000" y="533400"/>
            <a:ext cx="457200" cy="276999"/>
          </a:xfrm>
          <a:prstGeom prst="rect">
            <a:avLst/>
          </a:prstGeom>
          <a:noFill/>
          <a:ln w="9525" algn="ctr">
            <a:noFill/>
            <a:miter lim="800000"/>
            <a:headEnd type="none" w="sm" len="sm"/>
            <a:tailEnd type="none" w="sm" len="sm"/>
          </a:ln>
        </p:spPr>
        <p:txBody>
          <a:bodyPr wrap="square" lIns="26118" tIns="0" rIns="0" bIns="0">
            <a:spAutoFit/>
          </a:bodyPr>
          <a:lstStyle/>
          <a:p>
            <a:pPr>
              <a:defRPr/>
            </a:pPr>
            <a:r>
              <a:rPr lang="en-GB" sz="600" i="1" dirty="0" smtClean="0">
                <a:solidFill>
                  <a:schemeClr val="tx1">
                    <a:lumMod val="40000"/>
                    <a:lumOff val="60000"/>
                  </a:schemeClr>
                </a:solidFill>
                <a:latin typeface="EYInterstate" pitchFamily="2" charset="0"/>
              </a:rPr>
              <a:t>Country</a:t>
            </a:r>
          </a:p>
          <a:p>
            <a:pPr>
              <a:defRPr/>
            </a:pPr>
            <a:r>
              <a:rPr lang="en-GB" sz="600" i="1" dirty="0" smtClean="0">
                <a:solidFill>
                  <a:schemeClr val="tx1">
                    <a:lumMod val="40000"/>
                    <a:lumOff val="60000"/>
                  </a:schemeClr>
                </a:solidFill>
                <a:latin typeface="EYInterstate" pitchFamily="2" charset="0"/>
              </a:rPr>
              <a:t>Location</a:t>
            </a:r>
          </a:p>
          <a:p>
            <a:pPr>
              <a:defRPr/>
            </a:pPr>
            <a:r>
              <a:rPr lang="en-GB" sz="600" i="1" dirty="0" smtClean="0">
                <a:solidFill>
                  <a:schemeClr val="tx1">
                    <a:lumMod val="40000"/>
                    <a:lumOff val="60000"/>
                  </a:schemeClr>
                </a:solidFill>
                <a:latin typeface="EYInterstate" pitchFamily="2" charset="0"/>
              </a:rPr>
              <a:t>Decision</a:t>
            </a:r>
            <a:endParaRPr lang="en-GB" sz="600" i="1" dirty="0">
              <a:solidFill>
                <a:schemeClr val="tx1">
                  <a:lumMod val="40000"/>
                  <a:lumOff val="60000"/>
                </a:schemeClr>
              </a:solidFill>
              <a:latin typeface="EYInterstate" pitchFamily="2" charset="0"/>
            </a:endParaRPr>
          </a:p>
        </p:txBody>
      </p:sp>
      <p:sp>
        <p:nvSpPr>
          <p:cNvPr id="84" name="Line 125"/>
          <p:cNvSpPr>
            <a:spLocks noChangeShapeType="1"/>
          </p:cNvSpPr>
          <p:nvPr/>
        </p:nvSpPr>
        <p:spPr bwMode="gray">
          <a:xfrm flipV="1">
            <a:off x="4800600" y="685800"/>
            <a:ext cx="0" cy="152400"/>
          </a:xfrm>
          <a:prstGeom prst="line">
            <a:avLst/>
          </a:prstGeom>
          <a:noFill/>
          <a:ln w="6350">
            <a:solidFill>
              <a:schemeClr val="tx1">
                <a:lumMod val="40000"/>
                <a:lumOff val="60000"/>
              </a:schemeClr>
            </a:solidFill>
            <a:round/>
            <a:headEnd type="diamond" w="lg" len="lg"/>
            <a:tailEnd type="none" w="sm" len="sm"/>
          </a:ln>
        </p:spPr>
        <p:txBody>
          <a:bodyPr wrap="square" lIns="92075" tIns="46038" rIns="92075" bIns="46038">
            <a:spAutoFit/>
          </a:bodyPr>
          <a:lstStyle/>
          <a:p>
            <a:pPr>
              <a:defRPr/>
            </a:pPr>
            <a:endParaRPr lang="en-GB" dirty="0"/>
          </a:p>
        </p:txBody>
      </p:sp>
      <p:sp>
        <p:nvSpPr>
          <p:cNvPr id="85" name="Text Box 126"/>
          <p:cNvSpPr txBox="1">
            <a:spLocks noChangeArrowheads="1"/>
          </p:cNvSpPr>
          <p:nvPr/>
        </p:nvSpPr>
        <p:spPr bwMode="gray">
          <a:xfrm>
            <a:off x="4876800" y="609600"/>
            <a:ext cx="457200" cy="276999"/>
          </a:xfrm>
          <a:prstGeom prst="rect">
            <a:avLst/>
          </a:prstGeom>
          <a:noFill/>
          <a:ln w="9525" algn="ctr">
            <a:noFill/>
            <a:miter lim="800000"/>
            <a:headEnd type="none" w="sm" len="sm"/>
            <a:tailEnd type="none" w="sm" len="sm"/>
          </a:ln>
        </p:spPr>
        <p:txBody>
          <a:bodyPr wrap="square" lIns="26118" tIns="0" rIns="0" bIns="0">
            <a:spAutoFit/>
          </a:bodyPr>
          <a:lstStyle/>
          <a:p>
            <a:pPr>
              <a:defRPr/>
            </a:pPr>
            <a:r>
              <a:rPr lang="en-GB" sz="600" i="1" dirty="0" smtClean="0">
                <a:solidFill>
                  <a:schemeClr val="tx1">
                    <a:lumMod val="40000"/>
                    <a:lumOff val="60000"/>
                  </a:schemeClr>
                </a:solidFill>
                <a:latin typeface="EYInterstate" pitchFamily="2" charset="0"/>
              </a:rPr>
              <a:t>1</a:t>
            </a:r>
            <a:r>
              <a:rPr lang="en-GB" sz="600" i="1" baseline="30000" dirty="0" smtClean="0">
                <a:solidFill>
                  <a:schemeClr val="tx1">
                    <a:lumMod val="40000"/>
                    <a:lumOff val="60000"/>
                  </a:schemeClr>
                </a:solidFill>
                <a:latin typeface="EYInterstate" pitchFamily="2" charset="0"/>
              </a:rPr>
              <a:t>st</a:t>
            </a:r>
            <a:r>
              <a:rPr lang="en-GB" sz="600" i="1" dirty="0" smtClean="0">
                <a:solidFill>
                  <a:schemeClr val="tx1">
                    <a:lumMod val="40000"/>
                    <a:lumOff val="60000"/>
                  </a:schemeClr>
                </a:solidFill>
                <a:latin typeface="EYInterstate" pitchFamily="2" charset="0"/>
              </a:rPr>
              <a:t> draft of Functional Spec</a:t>
            </a:r>
            <a:endParaRPr lang="en-GB" sz="600" i="1" dirty="0">
              <a:solidFill>
                <a:schemeClr val="tx1">
                  <a:lumMod val="40000"/>
                  <a:lumOff val="60000"/>
                </a:schemeClr>
              </a:solidFill>
              <a:latin typeface="EYInterstate" pitchFamily="2"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xmlns="" val="3330474701"/>
              </p:ext>
            </p:extLst>
          </p:nvPr>
        </p:nvGraphicFramePr>
        <p:xfrm>
          <a:off x="107504" y="2481889"/>
          <a:ext cx="4355123" cy="3614111"/>
        </p:xfrm>
        <a:graphic>
          <a:graphicData uri="http://schemas.openxmlformats.org/drawingml/2006/table">
            <a:tbl>
              <a:tblPr/>
              <a:tblGrid>
                <a:gridCol w="4355123"/>
              </a:tblGrid>
              <a:tr h="171509">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Light"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985943">
                <a:tc>
                  <a:txBody>
                    <a:bodyPr/>
                    <a:lstStyle/>
                    <a:p>
                      <a:pPr marL="171450" marR="0" lvl="0" indent="-17145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Office 365 signed between EY and MS. Execution details unclear but will impact work in progress</a:t>
                      </a:r>
                    </a:p>
                    <a:p>
                      <a:pPr marL="171450" marR="0" lvl="0" indent="-17145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Supported  Environment Defect resolution</a:t>
                      </a:r>
                    </a:p>
                    <a:p>
                      <a:pPr marL="628650" marR="0" lvl="1" indent="-17145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Identified known defects- further identified that most of these are new requirements</a:t>
                      </a:r>
                    </a:p>
                    <a:p>
                      <a:pPr marL="628650" marR="0" lvl="1" indent="-17145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Provided MS Support for defect resolution and agreed on automated builds to quickly rebuild servers</a:t>
                      </a:r>
                    </a:p>
                    <a:p>
                      <a:pPr marL="628650" marR="0" lvl="1" indent="-17145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Started work on using automation to repair CIDE environment</a:t>
                      </a:r>
                    </a:p>
                    <a:p>
                      <a:pPr marL="171450" marR="0" lvl="0" indent="-17145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Test Plan</a:t>
                      </a:r>
                    </a:p>
                    <a:p>
                      <a:pPr marL="285750" marR="0" lvl="1" indent="-5715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Delivered to modified target of Jan 13</a:t>
                      </a:r>
                    </a:p>
                    <a:p>
                      <a:pPr marL="171450" marR="0" lvl="0" indent="-17145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Started planning for CR002. </a:t>
                      </a:r>
                      <a:r>
                        <a:rPr kumimoji="0" lang="en-US" sz="700" b="0" i="0" u="none" strike="noStrike" cap="none" normalizeH="0" baseline="0" dirty="0" smtClean="0">
                          <a:ln>
                            <a:noFill/>
                          </a:ln>
                          <a:solidFill>
                            <a:schemeClr val="tx1">
                              <a:lumMod val="50000"/>
                              <a:lumOff val="50000"/>
                            </a:schemeClr>
                          </a:solidFill>
                          <a:effectLst/>
                          <a:latin typeface="EYInterstate Light" pitchFamily="2" charset="0"/>
                        </a:rPr>
                        <a:t>EY and MS PMO have jointly agreed that the scope be set aside and the joint MS-EY team develop a Build, Stabilize, Deploy Task Plan. Developed overall WBS and SharePoint specific </a:t>
                      </a:r>
                    </a:p>
                    <a:p>
                      <a:pPr marL="171450" marR="0" lvl="0" indent="-17145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Maintained communication cadence with client PM on overall project</a:t>
                      </a:r>
                    </a:p>
                    <a:p>
                      <a:pPr marL="171450" marR="0" lvl="0" indent="-17145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err="1" smtClean="0">
                          <a:ln>
                            <a:noFill/>
                          </a:ln>
                          <a:solidFill>
                            <a:srgbClr val="646464"/>
                          </a:solidFill>
                          <a:effectLst/>
                          <a:latin typeface="EYInterstate Light" pitchFamily="2" charset="0"/>
                        </a:rPr>
                        <a:t>Onboarded</a:t>
                      </a:r>
                      <a:r>
                        <a:rPr kumimoji="0" lang="en-US" sz="700" b="0" i="0" u="none" strike="noStrike" cap="none" normalizeH="0" baseline="0" dirty="0" smtClean="0">
                          <a:ln>
                            <a:noFill/>
                          </a:ln>
                          <a:solidFill>
                            <a:srgbClr val="646464"/>
                          </a:solidFill>
                          <a:effectLst/>
                          <a:latin typeface="EYInterstate Light" pitchFamily="2" charset="0"/>
                        </a:rPr>
                        <a:t>  MS Build resource – </a:t>
                      </a:r>
                      <a:r>
                        <a:rPr kumimoji="0" lang="en-US" sz="700" b="0" i="0" u="none" strike="noStrike" cap="none" normalizeH="0" baseline="0" dirty="0" err="1" smtClean="0">
                          <a:ln>
                            <a:noFill/>
                          </a:ln>
                          <a:solidFill>
                            <a:srgbClr val="646464"/>
                          </a:solidFill>
                          <a:effectLst/>
                          <a:latin typeface="EYInterstate Light" pitchFamily="2" charset="0"/>
                        </a:rPr>
                        <a:t>Suman</a:t>
                      </a:r>
                      <a:r>
                        <a:rPr kumimoji="0" lang="en-US" sz="700" b="0" i="0" u="none" strike="noStrike" cap="none" normalizeH="0" baseline="0" dirty="0" smtClean="0">
                          <a:ln>
                            <a:noFill/>
                          </a:ln>
                          <a:solidFill>
                            <a:srgbClr val="646464"/>
                          </a:solidFill>
                          <a:effectLst/>
                          <a:latin typeface="EYInterstate Light" pitchFamily="2" charset="0"/>
                        </a:rPr>
                        <a:t> </a:t>
                      </a:r>
                      <a:r>
                        <a:rPr kumimoji="0" lang="en-US" sz="700" b="0" i="0" u="none" strike="noStrike" cap="none" normalizeH="0" baseline="0" dirty="0" err="1" smtClean="0">
                          <a:ln>
                            <a:noFill/>
                          </a:ln>
                          <a:solidFill>
                            <a:srgbClr val="646464"/>
                          </a:solidFill>
                          <a:effectLst/>
                          <a:latin typeface="EYInterstate Light" pitchFamily="2" charset="0"/>
                        </a:rPr>
                        <a:t>Chakrabarti</a:t>
                      </a: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71509">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Light"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3145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None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71509">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Light"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782191">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
                        <a:tabLst/>
                      </a:pPr>
                      <a:r>
                        <a:rPr lang="en-US" sz="700" b="0" kern="1200" baseline="0" dirty="0" smtClean="0">
                          <a:solidFill>
                            <a:schemeClr val="tx1">
                              <a:lumMod val="50000"/>
                              <a:lumOff val="50000"/>
                            </a:schemeClr>
                          </a:solidFill>
                          <a:effectLst/>
                          <a:latin typeface="EYInterstate Light" pitchFamily="2" charset="0"/>
                          <a:ea typeface="+mn-ea"/>
                          <a:cs typeface="+mn-cs"/>
                        </a:rPr>
                        <a:t>Work under CR002</a:t>
                      </a:r>
                    </a:p>
                    <a:p>
                      <a:pPr marL="542925" marR="0" lvl="1" indent="-85725" algn="l" defTabSz="947738" rtl="0" eaLnBrk="0" fontAlgn="base" latinLnBrk="0" hangingPunct="0">
                        <a:lnSpc>
                          <a:spcPct val="100000"/>
                        </a:lnSpc>
                        <a:spcBef>
                          <a:spcPct val="0"/>
                        </a:spcBef>
                        <a:spcAft>
                          <a:spcPct val="10000"/>
                        </a:spcAft>
                        <a:buClrTx/>
                        <a:buSzTx/>
                        <a:buFont typeface="Wingdings" pitchFamily="2" charset="2"/>
                        <a:buChar char="§"/>
                        <a:tabLst/>
                      </a:pPr>
                      <a:r>
                        <a:rPr lang="en-US" sz="700" b="0" kern="1200" baseline="0" dirty="0" smtClean="0">
                          <a:solidFill>
                            <a:schemeClr val="tx1">
                              <a:lumMod val="50000"/>
                              <a:lumOff val="50000"/>
                            </a:schemeClr>
                          </a:solidFill>
                          <a:effectLst/>
                          <a:latin typeface="EYInterstate Light" pitchFamily="2" charset="0"/>
                          <a:ea typeface="+mn-ea"/>
                          <a:cs typeface="+mn-cs"/>
                        </a:rPr>
                        <a:t>EY and MS planning for Change Request 002 for SP Environments approved by EY PMO on 12/9. Estimation and Elaboration</a:t>
                      </a:r>
                    </a:p>
                    <a:p>
                      <a:pPr marL="542925" marR="0" lvl="1" indent="-85725" algn="l" defTabSz="947738" rtl="0" eaLnBrk="0" fontAlgn="base" latinLnBrk="0" hangingPunct="0">
                        <a:lnSpc>
                          <a:spcPct val="100000"/>
                        </a:lnSpc>
                        <a:spcBef>
                          <a:spcPct val="0"/>
                        </a:spcBef>
                        <a:spcAft>
                          <a:spcPct val="10000"/>
                        </a:spcAft>
                        <a:buClrTx/>
                        <a:buSzTx/>
                        <a:buFont typeface="Wingdings" pitchFamily="2" charset="2"/>
                        <a:buChar char="§"/>
                        <a:tabLst/>
                      </a:pPr>
                      <a:r>
                        <a:rPr lang="en-US" sz="700" b="0" kern="1200" baseline="0" dirty="0" smtClean="0">
                          <a:solidFill>
                            <a:schemeClr val="tx1">
                              <a:lumMod val="50000"/>
                              <a:lumOff val="50000"/>
                            </a:schemeClr>
                          </a:solidFill>
                          <a:effectLst/>
                          <a:latin typeface="EYInterstate Light" pitchFamily="2" charset="0"/>
                          <a:ea typeface="+mn-ea"/>
                          <a:cs typeface="+mn-cs"/>
                        </a:rPr>
                        <a:t>Provide environments troubleshooting assistance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xmlns="" val="307402544"/>
              </p:ext>
            </p:extLst>
          </p:nvPr>
        </p:nvGraphicFramePr>
        <p:xfrm>
          <a:off x="4636477" y="3733800"/>
          <a:ext cx="4355123" cy="1549235"/>
        </p:xfrm>
        <a:graphic>
          <a:graphicData uri="http://schemas.openxmlformats.org/drawingml/2006/table">
            <a:tbl>
              <a:tblPr/>
              <a:tblGrid>
                <a:gridCol w="2113085"/>
                <a:gridCol w="2242038"/>
              </a:tblGrid>
              <a:tr h="175793">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Light"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698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3775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lumMod val="50000"/>
                              <a:lumOff val="50000"/>
                            </a:schemeClr>
                          </a:solidFill>
                          <a:effectLst/>
                          <a:latin typeface="EYInterstate Light" pitchFamily="2" charset="0"/>
                        </a:rPr>
                        <a:t>Delayed approval of CR 002 has invalidated assumptions and approach used in estimating and staffing the CR.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lumMod val="50000"/>
                              <a:lumOff val="50000"/>
                            </a:schemeClr>
                          </a:solidFill>
                          <a:effectLst/>
                          <a:latin typeface="EYInterstate Light" pitchFamily="2" charset="0"/>
                        </a:rPr>
                        <a:t>Microsoft and EY PMOs have agreed to set aside outdated scope and focus on a Build Stabilize Deploy task plan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1">
                            <a:lumMod val="50000"/>
                            <a:lumOff val="50000"/>
                          </a:schemeClr>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4701">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Scope 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Recommended Action /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46771">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CR001 – SharePoint Foundation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MS and EY Project Managers recommend CR for approval, currently pending approval with Guy Morgan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46771">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CR </a:t>
                      </a:r>
                      <a:r>
                        <a:rPr kumimoji="0" lang="en-US" sz="700" b="0" i="1" u="none" strike="noStrike" cap="none" normalizeH="0" baseline="0" dirty="0" err="1" smtClean="0">
                          <a:ln>
                            <a:noFill/>
                          </a:ln>
                          <a:solidFill>
                            <a:srgbClr val="646464"/>
                          </a:solidFill>
                          <a:effectLst/>
                          <a:latin typeface="EYInterstate Light" pitchFamily="2" charset="0"/>
                        </a:rPr>
                        <a:t>nnn</a:t>
                      </a:r>
                      <a:r>
                        <a:rPr kumimoji="0" lang="en-US" sz="700" b="0" i="0" u="none" strike="noStrike" cap="none" normalizeH="0" baseline="0" dirty="0" smtClean="0">
                          <a:ln>
                            <a:noFill/>
                          </a:ln>
                          <a:solidFill>
                            <a:srgbClr val="646464"/>
                          </a:solidFill>
                          <a:effectLst/>
                          <a:latin typeface="EYInterstate Light" pitchFamily="2" charset="0"/>
                        </a:rPr>
                        <a:t> – Cleanup CR</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57150" marR="0" lvl="0" indent="-5715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 A CR to formalize project directions such as stand alone test strategy doc, 1-GDC model, etc.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xmlns="" val="78610465"/>
              </p:ext>
            </p:extLst>
          </p:nvPr>
        </p:nvGraphicFramePr>
        <p:xfrm>
          <a:off x="115128" y="1448321"/>
          <a:ext cx="4360985" cy="913879"/>
        </p:xfrm>
        <a:graphic>
          <a:graphicData uri="http://schemas.openxmlformats.org/drawingml/2006/table">
            <a:tbl>
              <a:tblPr/>
              <a:tblGrid>
                <a:gridCol w="4360985"/>
              </a:tblGrid>
              <a:tr h="143639">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Light" pitchFamily="2" charset="0"/>
                        </a:rPr>
                        <a:t>A.  </a:t>
                      </a:r>
                      <a:r>
                        <a:rPr kumimoji="0" lang="en-GB" sz="700" b="1" i="0" u="none" strike="noStrike" cap="none" normalizeH="0" baseline="0" dirty="0" smtClean="0">
                          <a:ln>
                            <a:noFill/>
                          </a:ln>
                          <a:solidFill>
                            <a:schemeClr val="tx1"/>
                          </a:solidFill>
                          <a:effectLst/>
                          <a:latin typeface="EYInterstate Light" pitchFamily="2" charset="0"/>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EYInterstate Light"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770240">
                <a:tc>
                  <a:txBody>
                    <a:bodyPr/>
                    <a:lstStyle/>
                    <a:p>
                      <a:pPr marL="228600" marR="0" lvl="0" indent="-171450" algn="l" defTabSz="947738" rtl="0" eaLnBrk="0" fontAlgn="base" latinLnBrk="0" hangingPunct="0">
                        <a:lnSpc>
                          <a:spcPct val="100000"/>
                        </a:lnSpc>
                        <a:spcBef>
                          <a:spcPct val="0"/>
                        </a:spcBef>
                        <a:spcAft>
                          <a:spcPct val="10000"/>
                        </a:spcAft>
                        <a:buClr>
                          <a:schemeClr val="tx1">
                            <a:lumMod val="50000"/>
                            <a:lumOff val="50000"/>
                          </a:schemeClr>
                        </a:buClr>
                        <a:buSzTx/>
                        <a:buFont typeface="Arial" pitchFamily="34" charset="0"/>
                        <a:buChar char="•"/>
                        <a:tabLst/>
                        <a:defRPr/>
                      </a:pPr>
                      <a:r>
                        <a:rPr kumimoji="0" lang="en-US" sz="700" b="0" i="0" u="none" strike="noStrike" cap="none" normalizeH="0" baseline="0" dirty="0" smtClean="0">
                          <a:ln>
                            <a:noFill/>
                          </a:ln>
                          <a:solidFill>
                            <a:schemeClr val="tx1">
                              <a:lumMod val="50000"/>
                              <a:lumOff val="50000"/>
                            </a:schemeClr>
                          </a:solidFill>
                          <a:effectLst/>
                          <a:latin typeface="EYInterstate Light" pitchFamily="2" charset="0"/>
                        </a:rPr>
                        <a:t>Delivered last item open from original SOW – Test plan/guidance.</a:t>
                      </a:r>
                    </a:p>
                    <a:p>
                      <a:pPr marL="228600" marR="0" lvl="0" indent="-171450" algn="l" defTabSz="947738" rtl="0" eaLnBrk="0" fontAlgn="base" latinLnBrk="0" hangingPunct="0">
                        <a:lnSpc>
                          <a:spcPct val="100000"/>
                        </a:lnSpc>
                        <a:spcBef>
                          <a:spcPct val="0"/>
                        </a:spcBef>
                        <a:spcAft>
                          <a:spcPct val="10000"/>
                        </a:spcAft>
                        <a:buClr>
                          <a:schemeClr val="tx1">
                            <a:lumMod val="50000"/>
                            <a:lumOff val="50000"/>
                          </a:schemeClr>
                        </a:buClr>
                        <a:buSzTx/>
                        <a:buFont typeface="Arial" pitchFamily="34" charset="0"/>
                        <a:buChar char="•"/>
                        <a:tabLst/>
                        <a:defRPr/>
                      </a:pPr>
                      <a:r>
                        <a:rPr kumimoji="0" lang="en-US" sz="700" b="0" i="0" u="none" strike="noStrike" cap="none" normalizeH="0" baseline="0" dirty="0" smtClean="0">
                          <a:ln>
                            <a:noFill/>
                          </a:ln>
                          <a:solidFill>
                            <a:schemeClr val="tx1">
                              <a:lumMod val="50000"/>
                              <a:lumOff val="50000"/>
                            </a:schemeClr>
                          </a:solidFill>
                          <a:effectLst/>
                          <a:latin typeface="EYInterstate Light" pitchFamily="2" charset="0"/>
                        </a:rPr>
                        <a:t>Change Request 001 is pending. </a:t>
                      </a:r>
                    </a:p>
                    <a:p>
                      <a:pPr marL="228600" marR="0" lvl="0" indent="-171450" algn="l" defTabSz="947738" rtl="0" eaLnBrk="0" fontAlgn="base" latinLnBrk="0" hangingPunct="0">
                        <a:lnSpc>
                          <a:spcPct val="100000"/>
                        </a:lnSpc>
                        <a:spcBef>
                          <a:spcPct val="0"/>
                        </a:spcBef>
                        <a:spcAft>
                          <a:spcPct val="10000"/>
                        </a:spcAft>
                        <a:buClr>
                          <a:schemeClr val="tx1">
                            <a:lumMod val="50000"/>
                            <a:lumOff val="50000"/>
                          </a:schemeClr>
                        </a:buClr>
                        <a:buSzTx/>
                        <a:buFont typeface="Arial" pitchFamily="34" charset="0"/>
                        <a:buChar char="•"/>
                        <a:tabLst/>
                        <a:defRPr/>
                      </a:pPr>
                      <a:r>
                        <a:rPr kumimoji="0" lang="en-US" sz="700" b="0" i="0" u="none" strike="noStrike" cap="none" normalizeH="0" baseline="0" dirty="0" smtClean="0">
                          <a:ln>
                            <a:noFill/>
                          </a:ln>
                          <a:solidFill>
                            <a:schemeClr val="tx1">
                              <a:lumMod val="50000"/>
                              <a:lumOff val="50000"/>
                            </a:schemeClr>
                          </a:solidFill>
                          <a:effectLst/>
                          <a:latin typeface="EYInterstate Light" pitchFamily="2" charset="0"/>
                        </a:rPr>
                        <a:t>Started planning for Build Stabilize Deploy phases under the auspices of Change Request 002</a:t>
                      </a:r>
                    </a:p>
                    <a:p>
                      <a:pPr marL="228600" marR="0" lvl="0" indent="-171450" algn="l" defTabSz="947738" rtl="0" eaLnBrk="0" fontAlgn="base" latinLnBrk="0" hangingPunct="0">
                        <a:lnSpc>
                          <a:spcPct val="100000"/>
                        </a:lnSpc>
                        <a:spcBef>
                          <a:spcPct val="0"/>
                        </a:spcBef>
                        <a:spcAft>
                          <a:spcPct val="10000"/>
                        </a:spcAft>
                        <a:buClr>
                          <a:schemeClr val="tx1">
                            <a:lumMod val="50000"/>
                            <a:lumOff val="50000"/>
                          </a:schemeClr>
                        </a:buClr>
                        <a:buSzTx/>
                        <a:buFont typeface="Arial" pitchFamily="34" charset="0"/>
                        <a:buChar char="•"/>
                        <a:tabLst/>
                        <a:defRPr/>
                      </a:pPr>
                      <a:r>
                        <a:rPr kumimoji="0" lang="en-US" sz="700" b="0" i="0" u="none" strike="noStrike" cap="none" normalizeH="0" baseline="0" dirty="0" smtClean="0">
                          <a:ln>
                            <a:noFill/>
                          </a:ln>
                          <a:solidFill>
                            <a:schemeClr val="tx1">
                              <a:lumMod val="50000"/>
                              <a:lumOff val="50000"/>
                            </a:schemeClr>
                          </a:solidFill>
                          <a:effectLst/>
                          <a:latin typeface="EYInterstate Light" pitchFamily="2" charset="0"/>
                        </a:rPr>
                        <a:t>Delay in processing the SP Foundation CRs has delayed this project’s schedule</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xmlns="" val="2271902636"/>
              </p:ext>
            </p:extLst>
          </p:nvPr>
        </p:nvGraphicFramePr>
        <p:xfrm>
          <a:off x="4609363" y="1447800"/>
          <a:ext cx="4355126" cy="1253169"/>
        </p:xfrm>
        <a:graphic>
          <a:graphicData uri="http://schemas.openxmlformats.org/drawingml/2006/table">
            <a:tbl>
              <a:tblPr/>
              <a:tblGrid>
                <a:gridCol w="1400909"/>
                <a:gridCol w="703385"/>
                <a:gridCol w="776026"/>
                <a:gridCol w="723201"/>
                <a:gridCol w="751605"/>
              </a:tblGrid>
              <a:tr h="163955">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Light" pitchFamily="2" charset="0"/>
                          <a:ea typeface="+mn-ea"/>
                          <a:cs typeface="+mn-cs"/>
                        </a:rPr>
                        <a:t>E.  MILESTONES</a:t>
                      </a:r>
                      <a:endParaRPr kumimoji="0" lang="en-US" sz="700" b="0" i="0" u="none" strike="noStrike" kern="1200" cap="none" normalizeH="0" baseline="0" dirty="0" smtClean="0">
                        <a:ln>
                          <a:noFill/>
                        </a:ln>
                        <a:solidFill>
                          <a:schemeClr val="tx1"/>
                        </a:solidFill>
                        <a:effectLst/>
                        <a:latin typeface="EYInterstate Light"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78827">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33282">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SharePoint Foundation Vision &amp; Scope Document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12-Aug-2011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Delivered 10/19</a:t>
                      </a: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000000"/>
                          </a:solidFill>
                          <a:effectLst/>
                          <a:latin typeface="EYInterstate Light" pitchFamily="2" charset="0"/>
                        </a:rPr>
                        <a:t>COMPLETE</a:t>
                      </a: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000000"/>
                          </a:solidFill>
                          <a:effectLst/>
                          <a:latin typeface="EYInterstate Light" pitchFamily="2" charset="0"/>
                        </a:rPr>
                        <a:t>COMPLETE</a:t>
                      </a: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5010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Review of Architecture and Design Document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12/16/2011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Completed -12/15</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000000"/>
                          </a:solidFill>
                          <a:effectLst/>
                          <a:latin typeface="EYInterstate Light" pitchFamily="2" charset="0"/>
                        </a:rPr>
                        <a:t>COMPLETE</a:t>
                      </a: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78827">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Deliver Architecture and Design Document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12/20/2011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Delivered 12/16</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000000"/>
                          </a:solidFill>
                          <a:effectLst/>
                          <a:latin typeface="EYInterstate Light" pitchFamily="2" charset="0"/>
                        </a:rPr>
                        <a:t>COMPLETE</a:t>
                      </a: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78827">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Phase Close-Out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12/30/2011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1/13/2012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5" name="Group 270"/>
          <p:cNvGraphicFramePr>
            <a:graphicFrameLocks noGrp="1"/>
          </p:cNvGraphicFramePr>
          <p:nvPr>
            <p:extLst>
              <p:ext uri="{D42A27DB-BD31-4B8C-83A1-F6EECF244321}">
                <p14:modId xmlns:p14="http://schemas.microsoft.com/office/powerpoint/2010/main" xmlns="" val="3939894002"/>
              </p:ext>
            </p:extLst>
          </p:nvPr>
        </p:nvGraphicFramePr>
        <p:xfrm>
          <a:off x="7570453" y="69061"/>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accent3"/>
                          </a:solidFill>
                          <a:effectLst/>
                          <a:latin typeface="EYInterstate Light" pitchFamily="2" charset="0"/>
                        </a:rPr>
                        <a:t>AMBER</a:t>
                      </a:r>
                      <a:endParaRPr kumimoji="0" lang="en-US" sz="700" b="0" i="0" u="none" strike="noStrike" kern="1200" cap="none" normalizeH="0" baseline="0" dirty="0" smtClean="0">
                        <a:ln>
                          <a:noFill/>
                        </a:ln>
                        <a:solidFill>
                          <a:srgbClr val="646464"/>
                        </a:solidFill>
                        <a:effectLst/>
                        <a:latin typeface="EYInterstate Light"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accent3"/>
                          </a:solidFill>
                          <a:effectLst/>
                          <a:latin typeface="EYInterstate Light" pitchFamily="2" charset="0"/>
                        </a:rPr>
                        <a:t>GREEN</a:t>
                      </a:r>
                      <a:endParaRPr kumimoji="0" lang="en-US" sz="700" b="0" i="0" u="none" strike="noStrike" kern="1200" cap="none" normalizeH="0" baseline="0" dirty="0" smtClean="0">
                        <a:ln>
                          <a:noFill/>
                        </a:ln>
                        <a:solidFill>
                          <a:srgbClr val="646464"/>
                        </a:solidFill>
                        <a:effectLst/>
                        <a:latin typeface="EYInterstate Light"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xmlns="" val="3074380252"/>
              </p:ext>
            </p:extLst>
          </p:nvPr>
        </p:nvGraphicFramePr>
        <p:xfrm>
          <a:off x="4648200" y="5643556"/>
          <a:ext cx="4355123" cy="452444"/>
        </p:xfrm>
        <a:graphic>
          <a:graphicData uri="http://schemas.openxmlformats.org/drawingml/2006/table">
            <a:tbl>
              <a:tblPr/>
              <a:tblGrid>
                <a:gridCol w="4355123"/>
              </a:tblGrid>
              <a:tr h="11365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Light"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1839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CR001 pending EY approval. Delays in approval have affected overall EY SharePoint timeline because of lack of environments.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0" y="6390185"/>
            <a:ext cx="8964489" cy="540206"/>
            <a:chOff x="0" y="6505545"/>
            <a:chExt cx="9711531"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hangingPunct="0">
                <a:spcAft>
                  <a:spcPts val="0"/>
                </a:spcAft>
              </a:pPr>
              <a:r>
                <a:rPr lang="en-US" sz="500" b="1" dirty="0" smtClean="0">
                  <a:solidFill>
                    <a:srgbClr val="646464"/>
                  </a:solidFill>
                  <a:latin typeface="EYInterstate Light" pitchFamily="2" charset="0"/>
                </a:rPr>
                <a:t>Fully achieved</a:t>
              </a:r>
              <a:endParaRPr lang="en-GB" sz="500" b="1" kern="0" dirty="0" smtClean="0">
                <a:solidFill>
                  <a:srgbClr val="646464"/>
                </a:solidFill>
                <a:latin typeface="EYInterstate"/>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hangingPunct="0">
                <a:spcAft>
                  <a:spcPts val="0"/>
                </a:spcAft>
              </a:pPr>
              <a:r>
                <a:rPr lang="en-US" sz="500" dirty="0" smtClean="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smtClean="0">
                <a:solidFill>
                  <a:srgbClr val="646464"/>
                </a:solidFill>
                <a:latin typeface="EYInterstate"/>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584775"/>
          </a:xfrm>
          <a:prstGeom prst="rect">
            <a:avLst/>
          </a:prstGeom>
        </p:spPr>
        <p:txBody>
          <a:bodyPr>
            <a:spAutoFit/>
          </a:bodyPr>
          <a:lstStyle/>
          <a:p>
            <a:pPr algn="l" defTabSz="955675" eaLnBrk="0" hangingPunct="0">
              <a:spcAft>
                <a:spcPts val="0"/>
              </a:spcAft>
              <a:defRPr/>
            </a:pPr>
            <a:r>
              <a:rPr lang="en-US" sz="1600" b="1" kern="0" dirty="0">
                <a:solidFill>
                  <a:srgbClr val="646464"/>
                </a:solidFill>
                <a:latin typeface="+mj-lt"/>
              </a:rPr>
              <a:t>EY </a:t>
            </a:r>
            <a:r>
              <a:rPr lang="en-US" sz="1600" b="1" kern="0" dirty="0" smtClean="0">
                <a:solidFill>
                  <a:srgbClr val="646464"/>
                </a:solidFill>
                <a:latin typeface="+mj-lt"/>
              </a:rPr>
              <a:t>M&amp;C </a:t>
            </a:r>
            <a:r>
              <a:rPr lang="en-US" sz="1600" b="1" kern="0" dirty="0">
                <a:solidFill>
                  <a:srgbClr val="646464"/>
                </a:solidFill>
                <a:latin typeface="+mj-lt"/>
              </a:rPr>
              <a:t>Program – </a:t>
            </a:r>
            <a:r>
              <a:rPr lang="en-US" sz="1600" b="1" kern="0" dirty="0" smtClean="0">
                <a:solidFill>
                  <a:srgbClr val="646464"/>
                </a:solidFill>
                <a:latin typeface="+mj-lt"/>
              </a:rPr>
              <a:t>Week 27: Friday, February 10, 2012: SharePoint</a:t>
            </a:r>
            <a:r>
              <a:rPr lang="en-US" sz="1600" b="1" kern="0" dirty="0">
                <a:solidFill>
                  <a:srgbClr val="646464"/>
                </a:solidFill>
                <a:latin typeface="+mj-lt"/>
              </a:rPr>
              <a:t> </a:t>
            </a:r>
            <a:r>
              <a:rPr lang="en-US" sz="1600" b="1" kern="0" dirty="0" smtClean="0">
                <a:solidFill>
                  <a:srgbClr val="646464"/>
                </a:solidFill>
                <a:latin typeface="+mj-lt"/>
              </a:rPr>
              <a:t>Foundation Workstream</a:t>
            </a:r>
            <a:endParaRPr lang="en-US" sz="1600" b="1" kern="0" dirty="0">
              <a:solidFill>
                <a:srgbClr val="646464"/>
              </a:solidFill>
              <a:latin typeface="+mj-lt"/>
            </a:endParaRPr>
          </a:p>
        </p:txBody>
      </p:sp>
      <p:graphicFrame>
        <p:nvGraphicFramePr>
          <p:cNvPr id="24" name="Table 23"/>
          <p:cNvGraphicFramePr>
            <a:graphicFrameLocks noGrp="1"/>
          </p:cNvGraphicFramePr>
          <p:nvPr>
            <p:extLst>
              <p:ext uri="{D42A27DB-BD31-4B8C-83A1-F6EECF244321}">
                <p14:modId xmlns="" xmlns:p14="http://schemas.microsoft.com/office/powerpoint/2010/main" val="2155336528"/>
              </p:ext>
            </p:extLst>
          </p:nvPr>
        </p:nvGraphicFramePr>
        <p:xfrm>
          <a:off x="4636477" y="2971800"/>
          <a:ext cx="4355123" cy="475854"/>
        </p:xfrm>
        <a:graphic>
          <a:graphicData uri="http://schemas.openxmlformats.org/drawingml/2006/table">
            <a:tbl>
              <a:tblPr/>
              <a:tblGrid>
                <a:gridCol w="1841585"/>
                <a:gridCol w="2513538"/>
              </a:tblGrid>
              <a:tr h="138113">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Light"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38113">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Mitigating Action</a:t>
                      </a:r>
                      <a:endParaRPr kumimoji="0" lang="en-US" sz="700" b="0" i="0" u="none" strike="noStrike" cap="none" normalizeH="0" baseline="0" dirty="0" smtClean="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996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xmlns="" val="35480611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4"/>
          <p:cNvSpPr>
            <a:spLocks/>
          </p:cNvSpPr>
          <p:nvPr/>
        </p:nvSpPr>
        <p:spPr bwMode="gray">
          <a:xfrm>
            <a:off x="0" y="0"/>
            <a:ext cx="7025054" cy="6858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l" fontAlgn="ctr">
              <a:spcBef>
                <a:spcPts val="0"/>
              </a:spcBef>
              <a:spcAft>
                <a:spcPts val="0"/>
              </a:spcAft>
              <a:defRPr/>
            </a:pPr>
            <a:r>
              <a:rPr lang="en-US" sz="2000" b="1" kern="0" dirty="0" smtClean="0">
                <a:solidFill>
                  <a:srgbClr val="646464"/>
                </a:solidFill>
                <a:latin typeface="EYInterstate"/>
              </a:rPr>
              <a:t>Infrastructure.</a:t>
            </a:r>
          </a:p>
          <a:p>
            <a:pPr algn="l" fontAlgn="ctr">
              <a:spcBef>
                <a:spcPts val="0"/>
              </a:spcBef>
              <a:spcAft>
                <a:spcPts val="0"/>
              </a:spcAft>
              <a:defRPr/>
            </a:pPr>
            <a:r>
              <a:rPr lang="en-US" sz="1600" b="1" kern="0" dirty="0" smtClean="0">
                <a:solidFill>
                  <a:srgbClr val="646464"/>
                </a:solidFill>
                <a:latin typeface="EYInterstate"/>
              </a:rPr>
              <a:t>Al </a:t>
            </a:r>
            <a:r>
              <a:rPr lang="en-US" sz="1600" b="1" kern="0" dirty="0" err="1" smtClean="0">
                <a:solidFill>
                  <a:srgbClr val="646464"/>
                </a:solidFill>
                <a:latin typeface="EYInterstate"/>
              </a:rPr>
              <a:t>Grljevic</a:t>
            </a:r>
            <a:r>
              <a:rPr lang="en-US" sz="1600" b="1" kern="0" dirty="0" smtClean="0">
                <a:solidFill>
                  <a:srgbClr val="646464"/>
                </a:solidFill>
                <a:latin typeface="EYInterstate"/>
              </a:rPr>
              <a:t>.</a:t>
            </a:r>
          </a:p>
          <a:p>
            <a:pPr algn="l" fontAlgn="ctr">
              <a:spcBef>
                <a:spcPts val="0"/>
              </a:spcBef>
              <a:spcAft>
                <a:spcPts val="0"/>
              </a:spcAft>
              <a:defRPr/>
            </a:pPr>
            <a:r>
              <a:rPr lang="en-US" sz="2000" b="1" kern="0" dirty="0" smtClean="0">
                <a:solidFill>
                  <a:srgbClr val="646464"/>
                </a:solidFill>
                <a:latin typeface="EYInterstate"/>
              </a:rPr>
              <a:t> </a:t>
            </a:r>
            <a:endParaRPr lang="en-GB" sz="2000" dirty="0" smtClean="0">
              <a:solidFill>
                <a:srgbClr val="000000"/>
              </a:solidFill>
              <a:latin typeface="EYInterstate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83"/>
          <p:cNvSpPr txBox="1">
            <a:spLocks noChangeArrowheads="1"/>
          </p:cNvSpPr>
          <p:nvPr/>
        </p:nvSpPr>
        <p:spPr bwMode="gray">
          <a:xfrm>
            <a:off x="2" y="0"/>
            <a:ext cx="7729904" cy="738664"/>
          </a:xfrm>
          <a:prstGeom prst="rect">
            <a:avLst/>
          </a:prstGeom>
        </p:spPr>
        <p:txBody>
          <a:bodyPr wrap="square">
            <a:spAutoFit/>
          </a:bodyPr>
          <a:lstStyle/>
          <a:p>
            <a:pPr defTabSz="955675" eaLnBrk="0" hangingPunct="0">
              <a:spcAft>
                <a:spcPts val="0"/>
              </a:spcAft>
              <a:defRPr/>
            </a:pPr>
            <a:endParaRPr lang="en-US" sz="1400" b="1" kern="0" dirty="0" smtClean="0">
              <a:solidFill>
                <a:srgbClr val="646464"/>
              </a:solidFill>
              <a:latin typeface="EYInterstate"/>
            </a:endParaRPr>
          </a:p>
          <a:p>
            <a:pPr lvl="0" defTabSz="955675" eaLnBrk="0" hangingPunct="0">
              <a:spcAft>
                <a:spcPts val="0"/>
              </a:spcAft>
              <a:defRPr/>
            </a:pPr>
            <a:endParaRPr lang="en-US" sz="1400" kern="0" dirty="0" smtClean="0">
              <a:solidFill>
                <a:srgbClr val="646464"/>
              </a:solidFill>
            </a:endParaRPr>
          </a:p>
          <a:p>
            <a:pPr defTabSz="955675" eaLnBrk="0" hangingPunct="0">
              <a:spcAft>
                <a:spcPts val="0"/>
              </a:spcAft>
              <a:defRPr/>
            </a:pPr>
            <a:endParaRPr lang="en-US" sz="1400" kern="0" dirty="0">
              <a:solidFill>
                <a:srgbClr val="646464"/>
              </a:solidFill>
              <a:latin typeface="EYInterstate"/>
            </a:endParaRPr>
          </a:p>
        </p:txBody>
      </p:sp>
      <p:sp>
        <p:nvSpPr>
          <p:cNvPr id="3" name="Freeform 94"/>
          <p:cNvSpPr>
            <a:spLocks/>
          </p:cNvSpPr>
          <p:nvPr/>
        </p:nvSpPr>
        <p:spPr bwMode="gray">
          <a:xfrm>
            <a:off x="-2459" y="-3266"/>
            <a:ext cx="7025054" cy="741929"/>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l"/>
            <a:r>
              <a:rPr lang="en-US" sz="2000" b="1" kern="0" dirty="0" smtClean="0">
                <a:solidFill>
                  <a:srgbClr val="646464"/>
                </a:solidFill>
                <a:latin typeface="EYInterstate"/>
              </a:rPr>
              <a:t>Business Deployment.</a:t>
            </a:r>
          </a:p>
          <a:p>
            <a:pPr algn="l"/>
            <a:r>
              <a:rPr lang="en-US" sz="1600" b="1" kern="0" dirty="0" smtClean="0">
                <a:solidFill>
                  <a:srgbClr val="646464"/>
                </a:solidFill>
                <a:latin typeface="EYInterstate"/>
              </a:rPr>
              <a:t>TBC.</a:t>
            </a:r>
            <a:endParaRPr lang="en-GB" sz="1600" dirty="0">
              <a:solidFill>
                <a:srgbClr val="000000"/>
              </a:solidFill>
              <a:latin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83"/>
          <p:cNvSpPr txBox="1">
            <a:spLocks noChangeArrowheads="1"/>
          </p:cNvSpPr>
          <p:nvPr/>
        </p:nvSpPr>
        <p:spPr bwMode="gray">
          <a:xfrm>
            <a:off x="2" y="0"/>
            <a:ext cx="7729904" cy="738664"/>
          </a:xfrm>
          <a:prstGeom prst="rect">
            <a:avLst/>
          </a:prstGeom>
        </p:spPr>
        <p:txBody>
          <a:bodyPr wrap="square">
            <a:spAutoFit/>
          </a:bodyPr>
          <a:lstStyle/>
          <a:p>
            <a:pPr defTabSz="955675" eaLnBrk="0" hangingPunct="0">
              <a:spcAft>
                <a:spcPts val="0"/>
              </a:spcAft>
              <a:defRPr/>
            </a:pPr>
            <a:endParaRPr lang="en-US" sz="1400" b="1" kern="0" dirty="0" smtClean="0">
              <a:solidFill>
                <a:srgbClr val="646464"/>
              </a:solidFill>
              <a:latin typeface="EYInterstate"/>
            </a:endParaRPr>
          </a:p>
          <a:p>
            <a:pPr lvl="0" defTabSz="955675" eaLnBrk="0" hangingPunct="0">
              <a:spcAft>
                <a:spcPts val="0"/>
              </a:spcAft>
              <a:defRPr/>
            </a:pPr>
            <a:endParaRPr lang="en-US" sz="1400" kern="0" dirty="0" smtClean="0">
              <a:solidFill>
                <a:srgbClr val="646464"/>
              </a:solidFill>
            </a:endParaRPr>
          </a:p>
          <a:p>
            <a:pPr defTabSz="955675" eaLnBrk="0" hangingPunct="0">
              <a:spcAft>
                <a:spcPts val="0"/>
              </a:spcAft>
              <a:defRPr/>
            </a:pPr>
            <a:endParaRPr lang="en-US" sz="1400" kern="0" dirty="0">
              <a:solidFill>
                <a:srgbClr val="646464"/>
              </a:solidFill>
              <a:latin typeface="EYInterstate"/>
            </a:endParaRPr>
          </a:p>
        </p:txBody>
      </p:sp>
      <p:sp>
        <p:nvSpPr>
          <p:cNvPr id="3" name="Freeform 94"/>
          <p:cNvSpPr>
            <a:spLocks/>
          </p:cNvSpPr>
          <p:nvPr/>
        </p:nvSpPr>
        <p:spPr bwMode="gray">
          <a:xfrm>
            <a:off x="-2459" y="-3266"/>
            <a:ext cx="7025054" cy="741929"/>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l"/>
            <a:r>
              <a:rPr lang="en-US" sz="2000" b="1" kern="0" dirty="0" smtClean="0">
                <a:solidFill>
                  <a:srgbClr val="646464"/>
                </a:solidFill>
                <a:latin typeface="EYInterstate"/>
              </a:rPr>
              <a:t>Release Management.</a:t>
            </a:r>
          </a:p>
          <a:p>
            <a:pPr algn="l"/>
            <a:r>
              <a:rPr lang="en-US" sz="1600" b="1" kern="0" dirty="0" smtClean="0">
                <a:solidFill>
                  <a:srgbClr val="646464"/>
                </a:solidFill>
                <a:latin typeface="EYInterstate"/>
              </a:rPr>
              <a:t>TBC.</a:t>
            </a:r>
            <a:endParaRPr lang="en-GB" sz="1600" dirty="0">
              <a:solidFill>
                <a:srgbClr val="000000"/>
              </a:solidFill>
              <a:latin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67000" y="3457575"/>
            <a:ext cx="5934075" cy="908050"/>
          </a:xfrm>
        </p:spPr>
        <p:txBody>
          <a:bodyPr/>
          <a:lstStyle/>
          <a:p>
            <a:r>
              <a:rPr lang="en-GB" dirty="0" smtClean="0"/>
              <a:t>Appendix B. Microsoft Reports.</a:t>
            </a:r>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xmlns="" val="938181175"/>
              </p:ext>
            </p:extLst>
          </p:nvPr>
        </p:nvGraphicFramePr>
        <p:xfrm>
          <a:off x="4718539" y="4564829"/>
          <a:ext cx="4355123" cy="1977756"/>
        </p:xfrm>
        <a:graphic>
          <a:graphicData uri="http://schemas.openxmlformats.org/drawingml/2006/table">
            <a:tbl>
              <a:tblPr/>
              <a:tblGrid>
                <a:gridCol w="4355123"/>
              </a:tblGrid>
              <a:tr h="7834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4976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bg2"/>
                          </a:solidFill>
                          <a:effectLst/>
                          <a:latin typeface="EYInterstate Light" pitchFamily="2" charset="0"/>
                        </a:rPr>
                        <a:t>Holiday period</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bg2"/>
                          </a:solidFill>
                          <a:effectLst/>
                          <a:latin typeface="EYInterstate Light" pitchFamily="2" charset="0"/>
                        </a:rPr>
                        <a:t>Planning initial sessions for Office 365</a:t>
                      </a:r>
                    </a:p>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7834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9599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Signatures for SPF, Lync and Messaging Vision Scope Deliverables</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Application Transformation Start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7834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55845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SharePoint Foundation (SPF)</a:t>
                      </a:r>
                    </a:p>
                    <a:p>
                      <a:pPr marL="228600" marR="0" lvl="1"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Re-casting of CR0017</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Develop new CRS as requested for </a:t>
                      </a:r>
                      <a:r>
                        <a:rPr kumimoji="0" lang="en-US" sz="700" b="0" i="0" u="none" strike="noStrike" cap="none" normalizeH="0" baseline="0" dirty="0" err="1" smtClean="0">
                          <a:ln>
                            <a:noFill/>
                          </a:ln>
                          <a:solidFill>
                            <a:srgbClr val="646464"/>
                          </a:solidFill>
                          <a:effectLst/>
                          <a:latin typeface="EYInterstate Light" pitchFamily="2" charset="0"/>
                        </a:rPr>
                        <a:t>Lync</a:t>
                      </a:r>
                      <a:endParaRPr kumimoji="0" lang="en-US" sz="700" b="0" i="0" u="none" strike="noStrike" cap="none" normalizeH="0" baseline="0" dirty="0" smtClean="0">
                        <a:ln>
                          <a:noFill/>
                        </a:ln>
                        <a:solidFill>
                          <a:srgbClr val="646464"/>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Application Transformation</a:t>
                      </a:r>
                    </a:p>
                    <a:p>
                      <a:pPr marL="228600" marR="0" lvl="1"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Continue to work with EY team to establish start date</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SharePoint Enablement</a:t>
                      </a:r>
                    </a:p>
                    <a:p>
                      <a:pPr marL="228600" marR="0" lvl="1"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Build out of additional environments</a:t>
                      </a:r>
                    </a:p>
                    <a:p>
                      <a:pPr marL="0" marR="0" lvl="0" indent="-3143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xmlns="" val="3508981502"/>
              </p:ext>
            </p:extLst>
          </p:nvPr>
        </p:nvGraphicFramePr>
        <p:xfrm>
          <a:off x="4718539" y="3021920"/>
          <a:ext cx="4355123" cy="869989"/>
        </p:xfrm>
        <a:graphic>
          <a:graphicData uri="http://schemas.openxmlformats.org/drawingml/2006/table">
            <a:tbl>
              <a:tblPr/>
              <a:tblGrid>
                <a:gridCol w="2113085"/>
                <a:gridCol w="2242038"/>
              </a:tblGrid>
              <a:tr h="175793">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698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418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Signature for DESIGN Deliverables for Lync, SPF and Messaging</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Obtain executive signatures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18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Confirm approach for ADM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Key meeting scheduled for Tuesday, 2/14</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18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Additional issues in workstream status pages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xmlns="" val="613071755"/>
              </p:ext>
            </p:extLst>
          </p:nvPr>
        </p:nvGraphicFramePr>
        <p:xfrm>
          <a:off x="2" y="504049"/>
          <a:ext cx="4718534" cy="5210952"/>
        </p:xfrm>
        <a:graphic>
          <a:graphicData uri="http://schemas.openxmlformats.org/drawingml/2006/table">
            <a:tbl>
              <a:tblPr/>
              <a:tblGrid>
                <a:gridCol w="4718534"/>
              </a:tblGrid>
              <a:tr h="13912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A.  </a:t>
                      </a:r>
                      <a:r>
                        <a:rPr kumimoji="0" lang="en-GB" sz="700" b="1" i="0" u="none" strike="noStrike" cap="none" normalizeH="0" baseline="0" dirty="0" smtClean="0">
                          <a:ln>
                            <a:noFill/>
                          </a:ln>
                          <a:solidFill>
                            <a:schemeClr val="tx1"/>
                          </a:solidFill>
                          <a:effectLst/>
                          <a:latin typeface="EYInterstate" pitchFamily="2" charset="0"/>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507183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0" i="0" u="none" strike="noStrike" cap="none" normalizeH="0" baseline="0" dirty="0" smtClean="0">
                          <a:ln>
                            <a:noFill/>
                          </a:ln>
                          <a:solidFill>
                            <a:schemeClr val="bg2"/>
                          </a:solidFill>
                          <a:effectLst/>
                          <a:latin typeface="EYInterstate Light" pitchFamily="2" charset="0"/>
                        </a:rPr>
                        <a:t>Messaging</a:t>
                      </a:r>
                      <a:r>
                        <a:rPr kumimoji="0" lang="en-US" sz="800" b="0" i="0" u="none" strike="noStrike" cap="none" normalizeH="0" baseline="0" dirty="0" smtClean="0">
                          <a:ln>
                            <a:noFill/>
                          </a:ln>
                          <a:solidFill>
                            <a:schemeClr val="bg2"/>
                          </a:solidFill>
                          <a:effectLst/>
                          <a:latin typeface="EYInterstate Light" pitchFamily="2" charset="0"/>
                        </a:rPr>
                        <a:t>:</a:t>
                      </a:r>
                    </a:p>
                    <a:p>
                      <a:pPr marL="228600" marR="0" lvl="0" indent="-17145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800" b="0" i="0" u="none" strike="noStrike" cap="none" normalizeH="0" baseline="0" dirty="0" smtClean="0">
                          <a:ln>
                            <a:noFill/>
                          </a:ln>
                          <a:solidFill>
                            <a:schemeClr val="tx1"/>
                          </a:solidFill>
                          <a:effectLst/>
                          <a:latin typeface="EYInterstate Light" pitchFamily="2" charset="0"/>
                        </a:rPr>
                        <a:t>Work on the Functional Specification continues on schedule as does work on the Coexistence and Migration Strategy Document.  Both of these are the major deliverables of the contract. The EY and MS project managers defined the schedule for the review cycles, schedule and process for the Functional Specification and Coexistence and Migration Strategy deliverables. In this period, the EY </a:t>
                      </a:r>
                      <a:r>
                        <a:rPr kumimoji="0" lang="en-US" sz="800" b="0" i="0" u="none" strike="noStrike" cap="none" normalizeH="0" baseline="0" dirty="0" err="1" smtClean="0">
                          <a:ln>
                            <a:noFill/>
                          </a:ln>
                          <a:solidFill>
                            <a:schemeClr val="tx1"/>
                          </a:solidFill>
                          <a:effectLst/>
                          <a:latin typeface="EYInterstate Light" pitchFamily="2" charset="0"/>
                        </a:rPr>
                        <a:t>PjM</a:t>
                      </a:r>
                      <a:r>
                        <a:rPr kumimoji="0" lang="en-US" sz="800" b="0" i="0" u="none" strike="noStrike" cap="none" normalizeH="0" baseline="0" dirty="0" smtClean="0">
                          <a:ln>
                            <a:noFill/>
                          </a:ln>
                          <a:solidFill>
                            <a:schemeClr val="tx1"/>
                          </a:solidFill>
                          <a:effectLst/>
                          <a:latin typeface="EYInterstate Light" pitchFamily="2" charset="0"/>
                        </a:rPr>
                        <a:t> cancelled the review meeting for the Coexistence and Migration Strategy Document 2</a:t>
                      </a:r>
                      <a:r>
                        <a:rPr kumimoji="0" lang="en-US" sz="800" b="0" i="0" u="none" strike="noStrike" cap="none" normalizeH="0" baseline="30000" dirty="0" smtClean="0">
                          <a:ln>
                            <a:noFill/>
                          </a:ln>
                          <a:solidFill>
                            <a:schemeClr val="tx1"/>
                          </a:solidFill>
                          <a:effectLst/>
                          <a:latin typeface="EYInterstate Light" pitchFamily="2" charset="0"/>
                        </a:rPr>
                        <a:t>nd</a:t>
                      </a:r>
                      <a:r>
                        <a:rPr kumimoji="0" lang="en-US" sz="800" b="0" i="0" u="none" strike="noStrike" cap="none" normalizeH="0" baseline="0" dirty="0" smtClean="0">
                          <a:ln>
                            <a:noFill/>
                          </a:ln>
                          <a:solidFill>
                            <a:schemeClr val="tx1"/>
                          </a:solidFill>
                          <a:effectLst/>
                          <a:latin typeface="EYInterstate Light" pitchFamily="2" charset="0"/>
                        </a:rPr>
                        <a:t> Draft due to decisions made in London this week on the impact of the O365D project. A Change Request has been verbally communicated to </a:t>
                      </a:r>
                      <a:r>
                        <a:rPr kumimoji="0" lang="en-US" sz="800" b="0" i="0" u="none" strike="noStrike" cap="none" normalizeH="0" baseline="0" dirty="0" err="1" smtClean="0">
                          <a:ln>
                            <a:noFill/>
                          </a:ln>
                          <a:solidFill>
                            <a:schemeClr val="tx1"/>
                          </a:solidFill>
                          <a:effectLst/>
                          <a:latin typeface="EYInterstate Light" pitchFamily="2" charset="0"/>
                        </a:rPr>
                        <a:t>replan</a:t>
                      </a:r>
                      <a:r>
                        <a:rPr kumimoji="0" lang="en-US" sz="800" b="0" i="0" u="none" strike="noStrike" cap="none" normalizeH="0" baseline="0" dirty="0" smtClean="0">
                          <a:ln>
                            <a:noFill/>
                          </a:ln>
                          <a:solidFill>
                            <a:schemeClr val="tx1"/>
                          </a:solidFill>
                          <a:effectLst/>
                          <a:latin typeface="EYInterstate Light" pitchFamily="2" charset="0"/>
                        </a:rPr>
                        <a:t> the Function Specification and the Coexistence and Migration Strategy Document so that those documents incorporate the dependencies between Exchange on-premises (the current contracted scope) and the separately contracted O365D service.</a:t>
                      </a:r>
                    </a:p>
                    <a:p>
                      <a:pPr marL="228600" marR="0" lvl="0" indent="-17145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endParaRPr kumimoji="0" lang="en-US" sz="700" b="0" i="0" u="none" strike="noStrike" cap="none" normalizeH="0" baseline="0" dirty="0" smtClean="0">
                        <a:ln>
                          <a:noFill/>
                        </a:ln>
                        <a:solidFill>
                          <a:schemeClr val="tx1"/>
                        </a:solidFill>
                        <a:effectLst/>
                        <a:latin typeface="EYInterstate Light" pitchFamily="2" charset="0"/>
                      </a:endParaRPr>
                    </a:p>
                    <a:p>
                      <a:pPr marL="5715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err="1" smtClean="0">
                          <a:ln>
                            <a:noFill/>
                          </a:ln>
                          <a:solidFill>
                            <a:srgbClr val="646464"/>
                          </a:solidFill>
                          <a:effectLst/>
                          <a:latin typeface="EYInterstate Light" pitchFamily="2" charset="0"/>
                        </a:rPr>
                        <a:t>Lync</a:t>
                      </a:r>
                      <a:r>
                        <a:rPr kumimoji="0" lang="en-US" sz="700" b="0" i="0" u="none" strike="noStrike" cap="none" normalizeH="0" baseline="0" dirty="0" smtClean="0">
                          <a:ln>
                            <a:noFill/>
                          </a:ln>
                          <a:solidFill>
                            <a:srgbClr val="646464"/>
                          </a:solidFill>
                          <a:effectLst/>
                          <a:latin typeface="EYInterstate Light" pitchFamily="2" charset="0"/>
                        </a:rPr>
                        <a:t>:</a:t>
                      </a:r>
                      <a:endParaRPr kumimoji="0" lang="en-US" sz="700" b="0" i="0" u="none" strike="noStrike" cap="none" normalizeH="0" baseline="0" dirty="0" smtClean="0">
                        <a:ln>
                          <a:noFill/>
                        </a:ln>
                        <a:solidFill>
                          <a:schemeClr val="bg2"/>
                        </a:solidFill>
                        <a:effectLst/>
                        <a:latin typeface="EYInterstate Light" pitchFamily="2" charset="0"/>
                      </a:endParaRP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5 CR’s delivered in final format ready for PMO discussion and signature</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Bridge SOW for key resources delivered for signature (T&amp;M as needed)</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0" i="0" u="none" strike="noStrike" cap="none" normalizeH="0" baseline="0" dirty="0" smtClean="0">
                          <a:ln>
                            <a:noFill/>
                          </a:ln>
                          <a:solidFill>
                            <a:srgbClr val="646464"/>
                          </a:solidFill>
                          <a:effectLst/>
                          <a:latin typeface="EYInterstate Light" pitchFamily="2" charset="0"/>
                        </a:rPr>
                        <a:t>Identity Management:</a:t>
                      </a:r>
                      <a:endParaRPr kumimoji="0" lang="en-US" sz="700" b="0" i="0" u="none" strike="noStrike" cap="none" normalizeH="0" baseline="0" dirty="0" smtClean="0">
                        <a:ln>
                          <a:noFill/>
                        </a:ln>
                        <a:solidFill>
                          <a:schemeClr val="bg2"/>
                        </a:solidFill>
                        <a:effectLst/>
                        <a:latin typeface="EYInterstate Light" pitchFamily="2" charset="0"/>
                      </a:endParaRPr>
                    </a:p>
                    <a:p>
                      <a:pPr marL="22860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Continued review and update of the Functional Spec doc.</a:t>
                      </a:r>
                    </a:p>
                    <a:p>
                      <a:pPr marL="22860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EYInterstate Light" pitchFamily="2" charset="0"/>
                        </a:rPr>
                        <a:t>Begun work on operations guide</a:t>
                      </a:r>
                    </a:p>
                    <a:p>
                      <a:pPr marL="228600" marR="0" lvl="0" indent="-17145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endParaRPr kumimoji="0" lang="en-US" sz="700" b="0" i="0" u="none" strike="noStrike" cap="none" normalizeH="0" baseline="0" dirty="0" smtClean="0">
                        <a:ln>
                          <a:noFill/>
                        </a:ln>
                        <a:solidFill>
                          <a:srgbClr val="646464"/>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SharePoint Foundation</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         Updates will be made as a result of Cleveland SP meeting during the week of 2/13</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SharePoint Enablement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Community test environment ready to use, testing underway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FY12 SP course of action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SP Features mapping completed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Iteration 5 Requirements in process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Development continues for 1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workstream</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(DTU) in Iteration 2 and 3 </a:t>
                      </a:r>
                      <a:r>
                        <a:rPr kumimoji="0" lang="en-GB" sz="700" b="0" i="0" u="none" strike="noStrike" kern="1200" cap="none" normalizeH="0" baseline="0" dirty="0" err="1" smtClean="0">
                          <a:ln>
                            <a:noFill/>
                          </a:ln>
                          <a:solidFill>
                            <a:srgbClr val="646464"/>
                          </a:solidFill>
                          <a:effectLst/>
                          <a:latin typeface="EYInterstate Light" pitchFamily="2" charset="0"/>
                          <a:ea typeface="+mn-ea"/>
                          <a:cs typeface="+mn-cs"/>
                        </a:rPr>
                        <a:t>workstreams</a:t>
                      </a: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(People/Communities/Search) in Iteration 3</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Social features RFP vendors responses received and under review by team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Metadata management RFP responses to cloud questions received from one vendor</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HTML editor assessment in progress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Detailed project plan version 0.1 complete, meeting with external teams to confirm tasks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DA presentation for DTU occurred</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SharePoint ADM</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  Alma (PM) and Tom (Lead architect) started work this week in Cleveland, ramping up with SPE team and key program resources</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PMO</a:t>
                      </a:r>
                    </a:p>
                    <a:p>
                      <a:pPr marL="228600" marR="0" lvl="0" indent="-17145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The M&amp;C PMO is rated yellow as we work through the impacts to the overall program that the addition of Office 365 may have. Overall program is red is as indicated by work stream details.</a:t>
                      </a:r>
                    </a:p>
                    <a:p>
                      <a:pPr marL="228600" marR="0" lvl="0" indent="-17145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O365 planning meeting in London was very productive.  Action items are being worked as per schedule</a:t>
                      </a:r>
                    </a:p>
                    <a:p>
                      <a:pPr marL="228600" marR="0" lvl="0" indent="-17145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O365 Planning meeting in Cleveland for SP is ongoing.  </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xmlns="" val="375543201"/>
              </p:ext>
            </p:extLst>
          </p:nvPr>
        </p:nvGraphicFramePr>
        <p:xfrm>
          <a:off x="4718536" y="604124"/>
          <a:ext cx="4355126" cy="1487856"/>
        </p:xfrm>
        <a:graphic>
          <a:graphicData uri="http://schemas.openxmlformats.org/drawingml/2006/table">
            <a:tbl>
              <a:tblPr/>
              <a:tblGrid>
                <a:gridCol w="1400909"/>
                <a:gridCol w="703385"/>
                <a:gridCol w="776026"/>
                <a:gridCol w="723201"/>
                <a:gridCol w="751605"/>
              </a:tblGrid>
              <a:tr h="1314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smtClean="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6282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16761">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cap="none" normalizeH="0" baseline="0" dirty="0" smtClean="0">
                          <a:ln>
                            <a:noFill/>
                          </a:ln>
                          <a:solidFill>
                            <a:srgbClr val="646464"/>
                          </a:solidFill>
                          <a:effectLst/>
                          <a:latin typeface="EYInterstate Light" pitchFamily="2" charset="0"/>
                        </a:rPr>
                        <a:t>Messaging  Plan Workstream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67113">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Lync Plan Workstream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AMBER</a:t>
                      </a:r>
                      <a:endParaRPr kumimoji="0" lang="en-US" sz="700" b="0" i="0" u="none" strike="noStrike" cap="none" normalizeH="0" baseline="0" dirty="0" smtClean="0">
                        <a:ln>
                          <a:noFill/>
                        </a:ln>
                        <a:solidFill>
                          <a:srgbClr val="FFC000"/>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SharePoint Foundation Workstream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D200"/>
                    </a:solidFill>
                  </a:tcPr>
                </a:tc>
              </a:tr>
              <a:tr h="19819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Application Transformation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Planned start 6 Feb 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SharePoint Enablement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Identity Management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xmlns="" val="2172440814"/>
              </p:ext>
            </p:extLst>
          </p:nvPr>
        </p:nvGraphicFramePr>
        <p:xfrm>
          <a:off x="4718539" y="2091980"/>
          <a:ext cx="4355123" cy="929940"/>
        </p:xfrm>
        <a:graphic>
          <a:graphicData uri="http://schemas.openxmlformats.org/drawingml/2006/table">
            <a:tbl>
              <a:tblPr/>
              <a:tblGrid>
                <a:gridCol w="2104292"/>
                <a:gridCol w="2250831"/>
              </a:tblGrid>
              <a:tr h="138113">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38113">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Mitigating Action</a:t>
                      </a:r>
                      <a:endParaRPr kumimoji="0" lang="en-US" sz="700" b="0" i="0" u="none" strike="noStrike" cap="none" normalizeH="0" baseline="0" dirty="0" smtClean="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996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 Office 365 impacts across program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Jointly work to execute the appropriate changes to each work stream affected by this agreement.  Key meetings this week and next on both Messaging and SP sides</a:t>
                      </a:r>
                      <a:endParaRPr lang="en-US" sz="700" dirty="0" smtClean="0">
                        <a:solidFill>
                          <a:schemeClr val="bg2"/>
                        </a:solidFill>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996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Additional risks in work stream status pages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xmlns="" val="2630319826"/>
              </p:ext>
            </p:extLst>
          </p:nvPr>
        </p:nvGraphicFramePr>
        <p:xfrm>
          <a:off x="4718539" y="3898574"/>
          <a:ext cx="4355123" cy="492120"/>
        </p:xfrm>
        <a:graphic>
          <a:graphicData uri="http://schemas.openxmlformats.org/drawingml/2006/table">
            <a:tbl>
              <a:tblPr/>
              <a:tblGrid>
                <a:gridCol w="4355123"/>
              </a:tblGrid>
              <a:tr h="11365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1839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lumMod val="50000"/>
                              <a:lumOff val="50000"/>
                            </a:schemeClr>
                          </a:solidFill>
                          <a:effectLst/>
                          <a:latin typeface="EYInterstate Light" pitchFamily="2" charset="0"/>
                        </a:rPr>
                        <a:t>Re-planning work for SPE is key for hitting communicated roll-out dates.  This needs to be wrapped up by 2/20 and ready for communication at RSF </a:t>
                      </a:r>
                      <a:r>
                        <a:rPr kumimoji="0" lang="en-US" sz="700" b="0" i="0" u="none" strike="noStrike" cap="none" normalizeH="0" baseline="0" dirty="0" err="1" smtClean="0">
                          <a:ln>
                            <a:noFill/>
                          </a:ln>
                          <a:solidFill>
                            <a:schemeClr val="tx1">
                              <a:lumMod val="50000"/>
                              <a:lumOff val="50000"/>
                            </a:schemeClr>
                          </a:solidFill>
                          <a:effectLst/>
                          <a:latin typeface="EYInterstate Light" pitchFamily="2" charset="0"/>
                        </a:rPr>
                        <a:t>mneeting</a:t>
                      </a:r>
                      <a:r>
                        <a:rPr kumimoji="0" lang="en-US" sz="700" b="0" i="0" u="none" strike="noStrike" cap="none" normalizeH="0" baseline="0" dirty="0" smtClean="0">
                          <a:ln>
                            <a:noFill/>
                          </a:ln>
                          <a:solidFill>
                            <a:schemeClr val="tx1">
                              <a:lumMod val="50000"/>
                              <a:lumOff val="50000"/>
                            </a:schemeClr>
                          </a:solidFill>
                          <a:effectLst/>
                          <a:latin typeface="EYInterstate Light" pitchFamily="2" charset="0"/>
                        </a:rPr>
                        <a:t> on 2/28</a:t>
                      </a:r>
                    </a:p>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0" y="6390185"/>
            <a:ext cx="8964489" cy="540206"/>
            <a:chOff x="0" y="6505545"/>
            <a:chExt cx="9711531"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hangingPunct="0">
                <a:spcAft>
                  <a:spcPts val="0"/>
                </a:spcAft>
              </a:pPr>
              <a:r>
                <a:rPr lang="en-US" sz="500" b="1" dirty="0" smtClean="0">
                  <a:solidFill>
                    <a:srgbClr val="646464"/>
                  </a:solidFill>
                  <a:latin typeface="EYInterstate Light" pitchFamily="2" charset="0"/>
                </a:rPr>
                <a:t>Fully achieved</a:t>
              </a:r>
              <a:endParaRPr lang="en-GB" sz="500" b="1" kern="0" dirty="0" smtClean="0">
                <a:solidFill>
                  <a:srgbClr val="646464"/>
                </a:solidFill>
                <a:latin typeface="EYInterstate"/>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hangingPunct="0">
                <a:spcAft>
                  <a:spcPts val="0"/>
                </a:spcAft>
              </a:pPr>
              <a:r>
                <a:rPr lang="en-US" sz="500" dirty="0" smtClean="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smtClean="0">
                <a:solidFill>
                  <a:srgbClr val="646464"/>
                </a:solidFill>
                <a:latin typeface="EYInterstate"/>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553998"/>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latin typeface="EYInterstate"/>
              </a:rPr>
              <a:t>EY Messaging &amp; Collaboration Program –Feb 3rd, 2012 PMO</a:t>
            </a:r>
          </a:p>
          <a:p>
            <a:pPr algn="l" defTabSz="955675" eaLnBrk="0" hangingPunct="0">
              <a:spcAft>
                <a:spcPts val="0"/>
              </a:spcAft>
              <a:defRPr/>
            </a:pPr>
            <a:r>
              <a:rPr lang="en-US" sz="1400" kern="0" dirty="0" smtClean="0">
                <a:solidFill>
                  <a:srgbClr val="646464"/>
                </a:solidFill>
                <a:latin typeface="EYInterstate"/>
              </a:rPr>
              <a:t>Joe Measer, Howard Jones, Jason Ritchie</a:t>
            </a:r>
            <a:endParaRPr lang="en-US" sz="1400" kern="0" dirty="0">
              <a:solidFill>
                <a:srgbClr val="646464"/>
              </a:solidFill>
              <a:latin typeface="EYInterstate"/>
            </a:endParaRPr>
          </a:p>
        </p:txBody>
      </p:sp>
      <p:graphicFrame>
        <p:nvGraphicFramePr>
          <p:cNvPr id="24" name="Group 270"/>
          <p:cNvGraphicFramePr>
            <a:graphicFrameLocks noGrp="1"/>
          </p:cNvGraphicFramePr>
          <p:nvPr/>
        </p:nvGraphicFramePr>
        <p:xfrm>
          <a:off x="7570453" y="69061"/>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nvGraphicFramePr>
        <p:xfrm>
          <a:off x="107504" y="2132856"/>
          <a:ext cx="4355123" cy="4196700"/>
        </p:xfrm>
        <a:graphic>
          <a:graphicData uri="http://schemas.openxmlformats.org/drawingml/2006/table">
            <a:tbl>
              <a:tblPr/>
              <a:tblGrid>
                <a:gridCol w="4355123"/>
              </a:tblGrid>
              <a:tr h="64791">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79092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Community test environment ready to use, testing underway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 FY12 SP course of action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SP Features mapping completed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Iteration 5 Requirements in process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Development continues for 1 workstream (DTU) in Iteration 2 and 3 workstreams (People/Communities/Search) in Iteration 3</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Social features RFP vendors responses received and under review by team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Metadata management RFP responses to cloud questions received from one vendor</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HTML editor assessment in progress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Detailed project plan version 0.1 complete, meeting with external teams to confirm tasks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DA presentation for DTU occurred</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GB"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7712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45618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Research tools – GAAIT and Credential replacements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Subscribe and Deliver – Overall Vision and Scope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DTU – BA and SA activity are behind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ECMA work stream needs to have schedule revised once Blue Print Strategy is completed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Communities activities behind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Search PDF / Video and hit highlighting RFPs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Testing of the People code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Completed the machine translation vendor art of the possible sessions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Scorecard assessment from Social Features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Feedback on machine translation vendors</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chemeClr val="tx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6922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71285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Begin implementation of revised FY12 plan</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Updated detailed project plan with effort, duration estimates</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Scorecard assessments of Social Features vendors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Continue iteration 4 development (Communities, DTU)</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Continue iteration 5 requirements  (Communities, Search, DTU)</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Will have draft version of re-plan</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Continue resource recruiting for Transition manager for SharePoint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Complete the DA DTU process</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DA for ASK coexistence and DA for group leadership</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nvGraphicFramePr>
        <p:xfrm>
          <a:off x="4716016" y="4005064"/>
          <a:ext cx="4355123" cy="2166897"/>
        </p:xfrm>
        <a:graphic>
          <a:graphicData uri="http://schemas.openxmlformats.org/drawingml/2006/table">
            <a:tbl>
              <a:tblPr/>
              <a:tblGrid>
                <a:gridCol w="2113085"/>
                <a:gridCol w="2242038"/>
              </a:tblGrid>
              <a:tr h="17401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6809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Need business engagement on Research tools to begin to understand front end functionality</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Request resources from the FSG and then schedule sessions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Business users are requesting more functionality than available OOB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Need a process for prioritization/approval before technical design begins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Technical design is taking longer than expected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Review process for opportunities to improve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err="1" smtClean="0">
                          <a:ln>
                            <a:noFill/>
                          </a:ln>
                          <a:solidFill>
                            <a:srgbClr val="646464"/>
                          </a:solidFill>
                          <a:effectLst/>
                          <a:latin typeface="EYInterstate Light" pitchFamily="2" charset="0"/>
                        </a:rPr>
                        <a:t>Ovitas</a:t>
                      </a:r>
                      <a:r>
                        <a:rPr kumimoji="0" lang="en-US" sz="700" b="0" i="0" u="none" strike="noStrike" cap="none" normalizeH="0" baseline="0" dirty="0" smtClean="0">
                          <a:ln>
                            <a:noFill/>
                          </a:ln>
                          <a:solidFill>
                            <a:srgbClr val="646464"/>
                          </a:solidFill>
                          <a:effectLst/>
                          <a:latin typeface="EYInterstate Light" pitchFamily="2" charset="0"/>
                        </a:rPr>
                        <a:t> POC is significantly more work than originally planned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Processing CR for the additional work</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SP Governance  needs to be completed including roles and responsibilities in the program.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Meet with designees on governance and waiting on Ian with roles and responsibilities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324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Scope 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7724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Frog usability work, Accessibility standards, TFS dashboard / M&amp;C project site, Competency Management, </a:t>
                      </a:r>
                      <a:r>
                        <a:rPr kumimoji="0" lang="en-US" sz="700" b="0" i="0" u="none" strike="noStrike" cap="none" normalizeH="0" baseline="0" dirty="0" err="1" smtClean="0">
                          <a:ln>
                            <a:noFill/>
                          </a:ln>
                          <a:solidFill>
                            <a:srgbClr val="646464"/>
                          </a:solidFill>
                          <a:effectLst/>
                          <a:latin typeface="EYInterstate Light" pitchFamily="2" charset="0"/>
                        </a:rPr>
                        <a:t>Ovitas</a:t>
                      </a:r>
                      <a:r>
                        <a:rPr kumimoji="0" lang="en-US" sz="700" b="0" i="0" u="none" strike="noStrike" cap="none" normalizeH="0" baseline="0" dirty="0" smtClean="0">
                          <a:ln>
                            <a:noFill/>
                          </a:ln>
                          <a:solidFill>
                            <a:srgbClr val="646464"/>
                          </a:solidFill>
                          <a:effectLst/>
                          <a:latin typeface="EYInterstate Light" pitchFamily="2" charset="0"/>
                        </a:rPr>
                        <a:t> POC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Complete CR based upon new process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356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Search federation tool assessment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Need to confirm the scope and cost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nvGraphicFramePr>
        <p:xfrm>
          <a:off x="107505" y="620689"/>
          <a:ext cx="4320479" cy="1310265"/>
        </p:xfrm>
        <a:graphic>
          <a:graphicData uri="http://schemas.openxmlformats.org/drawingml/2006/table">
            <a:tbl>
              <a:tblPr/>
              <a:tblGrid>
                <a:gridCol w="4320479"/>
              </a:tblGrid>
              <a:tr h="121358">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A.  </a:t>
                      </a:r>
                      <a:r>
                        <a:rPr kumimoji="0" lang="en-GB" sz="700" b="1" i="0" u="none" strike="noStrike" cap="none" normalizeH="0" baseline="0" dirty="0" smtClean="0">
                          <a:ln>
                            <a:noFill/>
                          </a:ln>
                          <a:solidFill>
                            <a:schemeClr val="tx1"/>
                          </a:solidFill>
                          <a:effectLst/>
                          <a:latin typeface="EYInterstate" pitchFamily="2" charset="0"/>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174785">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The team has made good progress on a number of open items:</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    Testing has started on Communities.  Issues are still holding up the People testing.  </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    Content management approach issues have been resolved.</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   Research tools workstream is red due to the </a:t>
                      </a:r>
                      <a:r>
                        <a:rPr kumimoji="0" lang="en-US" sz="700" b="0" i="0" u="none" strike="noStrike" cap="none" normalizeH="0" baseline="0" dirty="0" err="1" smtClean="0">
                          <a:ln>
                            <a:noFill/>
                          </a:ln>
                          <a:solidFill>
                            <a:srgbClr val="646464"/>
                          </a:solidFill>
                          <a:effectLst/>
                          <a:latin typeface="EYInterstate Light" pitchFamily="2" charset="0"/>
                        </a:rPr>
                        <a:t>Ovitas</a:t>
                      </a:r>
                      <a:r>
                        <a:rPr kumimoji="0" lang="en-US" sz="700" b="0" i="0" u="none" strike="noStrike" cap="none" normalizeH="0" baseline="0" dirty="0" smtClean="0">
                          <a:ln>
                            <a:noFill/>
                          </a:ln>
                          <a:solidFill>
                            <a:srgbClr val="646464"/>
                          </a:solidFill>
                          <a:effectLst/>
                          <a:latin typeface="EYInterstate Light" pitchFamily="2" charset="0"/>
                        </a:rPr>
                        <a:t> proposal/ Credentials</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   Metadata Management is red as the RFP is significantly behind schedule.</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   ECMA is red as the current Blueprint work has not been integrated with the existing plan</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   Social Features process will take longer than expected, adjusting plan to reflect 2 vendor bake off</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    SP team has provided Managing Sponsor a proposed FY12 high level course of action</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    Slowing work on People and Communities until Social Features RFP decision is made</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nvGraphicFramePr>
        <p:xfrm>
          <a:off x="4716017" y="620688"/>
          <a:ext cx="4357650" cy="2215412"/>
        </p:xfrm>
        <a:graphic>
          <a:graphicData uri="http://schemas.openxmlformats.org/drawingml/2006/table">
            <a:tbl>
              <a:tblPr/>
              <a:tblGrid>
                <a:gridCol w="1656183"/>
                <a:gridCol w="720080"/>
                <a:gridCol w="720080"/>
                <a:gridCol w="576064"/>
                <a:gridCol w="685243"/>
              </a:tblGrid>
              <a:tr h="15240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smtClean="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smtClean="0">
                          <a:ln>
                            <a:noFill/>
                          </a:ln>
                          <a:solidFill>
                            <a:schemeClr val="bg2"/>
                          </a:solidFill>
                          <a:effectLst/>
                          <a:latin typeface="EYInterstate Light" pitchFamily="2" charset="0"/>
                        </a:rPr>
                        <a:t>This Period</a:t>
                      </a: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8884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SharePoint QA testing (any iteration)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16 December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rgbClr val="646464"/>
                          </a:solidFill>
                          <a:effectLst/>
                          <a:latin typeface="EYInterstate Light" pitchFamily="2" charset="0"/>
                        </a:rPr>
                        <a:t>TBD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8884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SharePoint coding</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16 December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TBD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People requirements i5</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07 February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SLOW DOWN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Communities requirements i5</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07 February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SLOW DOWN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CM requirements i3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16 December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TBD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r>
              <a:tr h="13978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Taxonomy requirements i5</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07 February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07 February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Search requirements i5</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07 February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07 February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ECMA requirements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ON HOLD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ON HOLD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Research tools requirements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ON HOLD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ON HOLD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Subscribe/Deliver requirements i5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07 February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07 February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5" name="Group 270"/>
          <p:cNvGraphicFramePr>
            <a:graphicFrameLocks noGrp="1"/>
          </p:cNvGraphicFramePr>
          <p:nvPr/>
        </p:nvGraphicFramePr>
        <p:xfrm>
          <a:off x="7570453" y="69061"/>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6" name="Table 15"/>
          <p:cNvGraphicFramePr>
            <a:graphicFrameLocks noGrp="1"/>
          </p:cNvGraphicFramePr>
          <p:nvPr/>
        </p:nvGraphicFramePr>
        <p:xfrm>
          <a:off x="4716016" y="2918779"/>
          <a:ext cx="4283115" cy="1037013"/>
        </p:xfrm>
        <a:graphic>
          <a:graphicData uri="http://schemas.openxmlformats.org/drawingml/2006/table">
            <a:tbl>
              <a:tblPr/>
              <a:tblGrid>
                <a:gridCol w="2069499"/>
                <a:gridCol w="2213616"/>
              </a:tblGrid>
              <a:tr h="66849">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97487">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Mitigating Action</a:t>
                      </a:r>
                      <a:endParaRPr kumimoji="0" lang="en-US" sz="700" b="0" i="0" u="none" strike="noStrike" cap="none" normalizeH="0" baseline="0" dirty="0" smtClean="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996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Time needed to coordinate activities across the program may be longer than the requested </a:t>
                      </a:r>
                      <a:r>
                        <a:rPr kumimoji="0" lang="en-US" sz="700" b="0" i="0" u="none" strike="noStrike" cap="none" normalizeH="0" baseline="0" dirty="0" err="1" smtClean="0">
                          <a:ln>
                            <a:noFill/>
                          </a:ln>
                          <a:solidFill>
                            <a:srgbClr val="646464"/>
                          </a:solidFill>
                          <a:effectLst/>
                          <a:latin typeface="EYInterstate Light" pitchFamily="2" charset="0"/>
                        </a:rPr>
                        <a:t>replan</a:t>
                      </a:r>
                      <a:r>
                        <a:rPr kumimoji="0" lang="en-US" sz="700" b="0" i="0" u="none" strike="noStrike" cap="none" normalizeH="0" baseline="0" dirty="0" smtClean="0">
                          <a:ln>
                            <a:noFill/>
                          </a:ln>
                          <a:solidFill>
                            <a:srgbClr val="646464"/>
                          </a:solidFill>
                          <a:effectLst/>
                          <a:latin typeface="EYInterstate Light" pitchFamily="2" charset="0"/>
                        </a:rPr>
                        <a:t> date.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Team will make assumptions based upon current knowledge to produce the plan.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Scheduling cross team meetings to resolve issues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9962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Resources changes to implement the approved </a:t>
                      </a:r>
                      <a:r>
                        <a:rPr kumimoji="0" lang="en-US" sz="700" b="0" i="0" u="none" strike="noStrike" cap="none" normalizeH="0" baseline="0" dirty="0" err="1" smtClean="0">
                          <a:ln>
                            <a:noFill/>
                          </a:ln>
                          <a:solidFill>
                            <a:srgbClr val="646464"/>
                          </a:solidFill>
                          <a:effectLst/>
                          <a:latin typeface="EYInterstate Light" pitchFamily="2" charset="0"/>
                        </a:rPr>
                        <a:t>replan</a:t>
                      </a:r>
                      <a:r>
                        <a:rPr kumimoji="0" lang="en-US" sz="700" b="0" i="0" u="none" strike="noStrike" cap="none" normalizeH="0" baseline="0" dirty="0" smtClean="0">
                          <a:ln>
                            <a:noFill/>
                          </a:ln>
                          <a:solidFill>
                            <a:srgbClr val="646464"/>
                          </a:solidFill>
                          <a:effectLst/>
                          <a:latin typeface="EYInterstate Light" pitchFamily="2" charset="0"/>
                        </a:rPr>
                        <a:t> may take longer than expected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Communicate </a:t>
                      </a:r>
                      <a:r>
                        <a:rPr kumimoji="0" lang="en-US" sz="700" b="0" i="0" u="none" strike="noStrike" kern="1200" cap="none" normalizeH="0" baseline="0" noProof="0" dirty="0" err="1" smtClean="0">
                          <a:ln>
                            <a:noFill/>
                          </a:ln>
                          <a:solidFill>
                            <a:schemeClr val="bg2"/>
                          </a:solidFill>
                          <a:effectLst/>
                          <a:latin typeface="EYInterstate Light" pitchFamily="2" charset="0"/>
                          <a:ea typeface="+mn-ea"/>
                          <a:cs typeface="+mn-cs"/>
                        </a:rPr>
                        <a:t>replan</a:t>
                      </a: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 effort to resource managers and then begin conversations as soon as possible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nvGraphicFramePr>
        <p:xfrm>
          <a:off x="4716016" y="6218556"/>
          <a:ext cx="4355123" cy="378796"/>
        </p:xfrm>
        <a:graphic>
          <a:graphicData uri="http://schemas.openxmlformats.org/drawingml/2006/table">
            <a:tbl>
              <a:tblPr/>
              <a:tblGrid>
                <a:gridCol w="4355123"/>
              </a:tblGrid>
              <a:tr h="11529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4475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EYInterstate Light" pitchFamily="2" charset="0"/>
                        </a:rPr>
                        <a:t> Project is RED due </a:t>
                      </a:r>
                      <a:r>
                        <a:rPr kumimoji="0" lang="en-US" sz="700" b="0" i="0" u="none" strike="noStrike" cap="none" normalizeH="0" baseline="0" smtClean="0">
                          <a:ln>
                            <a:noFill/>
                          </a:ln>
                          <a:solidFill>
                            <a:srgbClr val="646464"/>
                          </a:solidFill>
                          <a:effectLst/>
                          <a:latin typeface="EYInterstate Light" pitchFamily="2" charset="0"/>
                        </a:rPr>
                        <a:t>to work stream </a:t>
                      </a:r>
                      <a:r>
                        <a:rPr kumimoji="0" lang="en-US" sz="700" b="0" i="0" u="none" strike="noStrike" cap="none" normalizeH="0" baseline="0" dirty="0" smtClean="0">
                          <a:ln>
                            <a:noFill/>
                          </a:ln>
                          <a:solidFill>
                            <a:srgbClr val="646464"/>
                          </a:solidFill>
                          <a:effectLst/>
                          <a:latin typeface="EYInterstate Light" pitchFamily="2" charset="0"/>
                        </a:rPr>
                        <a:t>issues and O365 implications,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0" y="6390185"/>
            <a:ext cx="8964489" cy="540206"/>
            <a:chOff x="0" y="6505545"/>
            <a:chExt cx="9711531"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hangingPunct="0">
                <a:spcAft>
                  <a:spcPts val="0"/>
                </a:spcAft>
              </a:pPr>
              <a:r>
                <a:rPr lang="en-US" sz="500" b="1" dirty="0" smtClean="0">
                  <a:solidFill>
                    <a:srgbClr val="646464"/>
                  </a:solidFill>
                  <a:latin typeface="EYInterstate Light" pitchFamily="2" charset="0"/>
                </a:rPr>
                <a:t>F</a:t>
              </a:r>
              <a:r>
                <a:rPr lang="en-US" sz="500" b="1" dirty="0" err="1" smtClean="0">
                  <a:solidFill>
                    <a:srgbClr val="646464"/>
                  </a:solidFill>
                  <a:latin typeface="EYInterstate Light" pitchFamily="2" charset="0"/>
                </a:rPr>
                <a:t>ully</a:t>
              </a:r>
              <a:r>
                <a:rPr lang="en-US" sz="500" b="1" dirty="0" smtClean="0">
                  <a:solidFill>
                    <a:srgbClr val="646464"/>
                  </a:solidFill>
                  <a:latin typeface="EYInterstate Light" pitchFamily="2" charset="0"/>
                </a:rPr>
                <a:t> achieved</a:t>
              </a:r>
              <a:endParaRPr lang="en-GB" sz="500" b="1" kern="0" dirty="0" smtClean="0">
                <a:solidFill>
                  <a:srgbClr val="646464"/>
                </a:solidFill>
                <a:latin typeface="EYInterstate"/>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hangingPunct="0">
                <a:spcAft>
                  <a:spcPts val="0"/>
                </a:spcAft>
              </a:pPr>
              <a:r>
                <a:rPr lang="en-US" sz="500" dirty="0" smtClean="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smtClean="0">
                <a:solidFill>
                  <a:srgbClr val="646464"/>
                </a:solidFill>
                <a:latin typeface="EYInterstate"/>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553998"/>
          </a:xfrm>
          <a:prstGeom prst="rect">
            <a:avLst/>
          </a:prstGeom>
        </p:spPr>
        <p:txBody>
          <a:bodyPr>
            <a:spAutoFit/>
          </a:bodyPr>
          <a:lstStyle/>
          <a:p>
            <a:pPr defTabSz="955675" eaLnBrk="0" hangingPunct="0">
              <a:spcAft>
                <a:spcPts val="0"/>
              </a:spcAft>
              <a:defRPr/>
            </a:pPr>
            <a:r>
              <a:rPr lang="en-US" sz="1600" b="1" kern="0" dirty="0" smtClean="0">
                <a:solidFill>
                  <a:srgbClr val="646464"/>
                </a:solidFill>
                <a:latin typeface="EYInterstate"/>
              </a:rPr>
              <a:t>R19912– SharePoint 3 February 2012</a:t>
            </a:r>
          </a:p>
          <a:p>
            <a:pPr defTabSz="955675" eaLnBrk="0" hangingPunct="0">
              <a:spcAft>
                <a:spcPts val="0"/>
              </a:spcAft>
              <a:defRPr/>
            </a:pPr>
            <a:r>
              <a:rPr lang="en-US" sz="1400" kern="0" dirty="0" smtClean="0">
                <a:solidFill>
                  <a:srgbClr val="646464"/>
                </a:solidFill>
                <a:latin typeface="EYInterstate"/>
              </a:rPr>
              <a:t>Michelle Edmonds / Norm Beard / Brett </a:t>
            </a:r>
            <a:r>
              <a:rPr lang="en-US" sz="1400" kern="0" dirty="0" err="1" smtClean="0">
                <a:solidFill>
                  <a:srgbClr val="646464"/>
                </a:solidFill>
                <a:latin typeface="EYInterstate"/>
              </a:rPr>
              <a:t>Podoll</a:t>
            </a:r>
            <a:endParaRPr lang="en-US" sz="1400" kern="0" dirty="0">
              <a:solidFill>
                <a:srgbClr val="646464"/>
              </a:solidFill>
              <a:latin typeface="EYInterstate"/>
            </a:endParaRPr>
          </a:p>
        </p:txBody>
      </p:sp>
    </p:spTree>
    <p:extLst>
      <p:ext uri="{BB962C8B-B14F-4D97-AF65-F5344CB8AC3E}">
        <p14:creationId xmlns:p14="http://schemas.microsoft.com/office/powerpoint/2010/main" xmlns="" val="4704669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xmlns="" val="1799622867"/>
              </p:ext>
            </p:extLst>
          </p:nvPr>
        </p:nvGraphicFramePr>
        <p:xfrm>
          <a:off x="75619" y="2564904"/>
          <a:ext cx="4355123" cy="1444356"/>
        </p:xfrm>
        <a:graphic>
          <a:graphicData uri="http://schemas.openxmlformats.org/drawingml/2006/table">
            <a:tbl>
              <a:tblPr/>
              <a:tblGrid>
                <a:gridCol w="4355123"/>
              </a:tblGrid>
              <a:tr h="8644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1200" b="1" i="0" u="none" strike="noStrike" cap="none" normalizeH="0" baseline="0" dirty="0" smtClean="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62112">
                <a:tc>
                  <a:txBody>
                    <a:bodyPr/>
                    <a:lstStyle/>
                    <a:p>
                      <a:pPr marL="22860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Data Flow Diagram Created delivered to MS PMO</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8644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1200" b="1" i="0" u="none" strike="noStrike" cap="none" normalizeH="0" baseline="0" dirty="0" smtClean="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6211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1200" b="0" i="0" u="none" strike="noStrike" cap="none" normalizeH="0" baseline="0" dirty="0" smtClean="0">
                          <a:ln>
                            <a:noFill/>
                          </a:ln>
                          <a:solidFill>
                            <a:srgbClr val="646464"/>
                          </a:solidFill>
                          <a:effectLst/>
                          <a:latin typeface="EYInterstate Light" pitchFamily="2" charset="0"/>
                        </a:rPr>
                        <a:t>Signatures of V/S deliverable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8644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80550">
                <a:tc>
                  <a:txBody>
                    <a:bodyPr/>
                    <a:lstStyle/>
                    <a:p>
                      <a:pPr marL="230188"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Microsoft to secure tech lead sign off of CRs and of Functional Spec.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xmlns="" val="2280862192"/>
              </p:ext>
            </p:extLst>
          </p:nvPr>
        </p:nvGraphicFramePr>
        <p:xfrm>
          <a:off x="88139" y="3933056"/>
          <a:ext cx="4355123" cy="2697150"/>
        </p:xfrm>
        <a:graphic>
          <a:graphicData uri="http://schemas.openxmlformats.org/drawingml/2006/table">
            <a:tbl>
              <a:tblPr/>
              <a:tblGrid>
                <a:gridCol w="2113085"/>
                <a:gridCol w="2242038"/>
              </a:tblGrid>
              <a:tr h="175793">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698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3775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1200" b="0" i="0" u="none" strike="noStrike" kern="1200" cap="none" normalizeH="0" baseline="0" dirty="0" smtClean="0">
                          <a:ln>
                            <a:noFill/>
                          </a:ln>
                          <a:solidFill>
                            <a:srgbClr val="646464"/>
                          </a:solidFill>
                          <a:effectLst/>
                          <a:latin typeface="EYInterstate Light" pitchFamily="2" charset="0"/>
                          <a:ea typeface="+mn-ea"/>
                          <a:cs typeface="+mn-cs"/>
                        </a:rPr>
                        <a:t>Formal sign-off of V/S Deliverable</a:t>
                      </a:r>
                      <a:endParaRPr kumimoji="0" lang="en-US" sz="12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kern="1200" cap="none" normalizeH="0" baseline="0" dirty="0" smtClean="0">
                          <a:ln>
                            <a:noFill/>
                          </a:ln>
                          <a:solidFill>
                            <a:srgbClr val="646464"/>
                          </a:solidFill>
                          <a:effectLst/>
                          <a:latin typeface="EYInterstate Light" pitchFamily="2" charset="0"/>
                          <a:ea typeface="+mn-ea"/>
                          <a:cs typeface="+mn-cs"/>
                        </a:rPr>
                        <a:t>Continue to discuss requirement of signature  for V/S deliverable with EY</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18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kern="1200" cap="none" normalizeH="0" baseline="0" dirty="0" smtClean="0">
                          <a:ln>
                            <a:noFill/>
                          </a:ln>
                          <a:solidFill>
                            <a:srgbClr val="646464"/>
                          </a:solidFill>
                          <a:effectLst/>
                          <a:latin typeface="EYInterstate Light" pitchFamily="2" charset="0"/>
                          <a:ea typeface="+mn-ea"/>
                          <a:cs typeface="+mn-cs"/>
                        </a:rPr>
                        <a:t>Agendas for the business requirements workshops are required.</a:t>
                      </a:r>
                    </a:p>
                  </a:txBody>
                  <a:tcPr marL="36195" marR="36195"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1200" b="0" i="0" u="none" strike="noStrike" kern="1200" cap="none" normalizeH="0" baseline="0" dirty="0" smtClean="0">
                          <a:ln>
                            <a:noFill/>
                          </a:ln>
                          <a:solidFill>
                            <a:srgbClr val="646464"/>
                          </a:solidFill>
                          <a:effectLst/>
                          <a:latin typeface="EYInterstate Light" pitchFamily="2" charset="0"/>
                          <a:ea typeface="+mn-ea"/>
                          <a:cs typeface="+mn-cs"/>
                        </a:rPr>
                        <a:t>EY to provide agendas </a:t>
                      </a:r>
                      <a:endParaRPr kumimoji="0" lang="en-US" sz="1200" b="0" i="0" u="none" strike="noStrike" kern="1200" cap="none" normalizeH="0" baseline="0" dirty="0">
                        <a:ln>
                          <a:noFill/>
                        </a:ln>
                        <a:solidFill>
                          <a:srgbClr val="646464"/>
                        </a:solidFill>
                        <a:effectLst/>
                        <a:latin typeface="EYInterstate Light" pitchFamily="2" charset="0"/>
                        <a:ea typeface="+mn-ea"/>
                        <a:cs typeface="+mn-cs"/>
                      </a:endParaRPr>
                    </a:p>
                  </a:txBody>
                  <a:tcPr marL="36195" marR="36195"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18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kern="1200" cap="none" normalizeH="0" baseline="0" dirty="0" smtClean="0">
                          <a:ln>
                            <a:noFill/>
                          </a:ln>
                          <a:solidFill>
                            <a:srgbClr val="646464"/>
                          </a:solidFill>
                          <a:effectLst/>
                          <a:latin typeface="EYInterstate Light" pitchFamily="2" charset="0"/>
                          <a:ea typeface="+mn-ea"/>
                          <a:cs typeface="+mn-cs"/>
                        </a:rPr>
                        <a:t>Conclude RFP decisions</a:t>
                      </a:r>
                    </a:p>
                  </a:txBody>
                  <a:tcPr marL="36195" marR="36195"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1200" b="0" i="0" u="none" strike="noStrike" kern="1200" cap="none" normalizeH="0" baseline="0" dirty="0" smtClean="0">
                          <a:ln>
                            <a:noFill/>
                          </a:ln>
                          <a:solidFill>
                            <a:srgbClr val="646464"/>
                          </a:solidFill>
                          <a:effectLst/>
                          <a:latin typeface="EYInterstate Light" pitchFamily="2" charset="0"/>
                          <a:ea typeface="+mn-ea"/>
                          <a:cs typeface="+mn-cs"/>
                        </a:rPr>
                        <a:t>Inform Microsoft</a:t>
                      </a:r>
                      <a:endParaRPr kumimoji="0" lang="en-US" sz="1200" b="0" i="0" u="none" strike="noStrike" kern="1200" cap="none" normalizeH="0" baseline="0" dirty="0">
                        <a:ln>
                          <a:noFill/>
                        </a:ln>
                        <a:solidFill>
                          <a:srgbClr val="646464"/>
                        </a:solidFill>
                        <a:effectLst/>
                        <a:latin typeface="EYInterstate Light" pitchFamily="2" charset="0"/>
                        <a:ea typeface="+mn-ea"/>
                        <a:cs typeface="+mn-cs"/>
                      </a:endParaRPr>
                    </a:p>
                  </a:txBody>
                  <a:tcPr marL="36195" marR="36195"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4701">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Scope 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Recommended Action /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29947">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1200" b="0" i="0" u="none" strike="noStrike" cap="none" normalizeH="0" baseline="0" dirty="0" smtClean="0">
                          <a:ln>
                            <a:noFill/>
                          </a:ln>
                          <a:solidFill>
                            <a:srgbClr val="646464"/>
                          </a:solidFill>
                          <a:effectLst/>
                          <a:latin typeface="EYInterstate Light" pitchFamily="2" charset="0"/>
                        </a:rPr>
                        <a:t>5 CRs pending</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1200" b="0" i="0" u="none" strike="noStrike" cap="none" normalizeH="0" baseline="0" dirty="0" smtClean="0">
                          <a:ln>
                            <a:noFill/>
                          </a:ln>
                          <a:solidFill>
                            <a:srgbClr val="646464"/>
                          </a:solidFill>
                          <a:effectLst/>
                          <a:latin typeface="EYInterstate Light" pitchFamily="2" charset="0"/>
                        </a:rPr>
                        <a:t>Microsoft to secure tech lead approval</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xmlns="" val="1233866002"/>
              </p:ext>
            </p:extLst>
          </p:nvPr>
        </p:nvGraphicFramePr>
        <p:xfrm>
          <a:off x="72688" y="620688"/>
          <a:ext cx="4360985" cy="2014416"/>
        </p:xfrm>
        <a:graphic>
          <a:graphicData uri="http://schemas.openxmlformats.org/drawingml/2006/table">
            <a:tbl>
              <a:tblPr/>
              <a:tblGrid>
                <a:gridCol w="4360985"/>
              </a:tblGrid>
              <a:tr h="82752">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EYInterstate" pitchFamily="2" charset="0"/>
                        </a:rPr>
                        <a:t>A.  </a:t>
                      </a:r>
                      <a:r>
                        <a:rPr kumimoji="0" lang="en-GB" sz="1200" b="1" i="0" u="none" strike="noStrike" cap="none" normalizeH="0" baseline="0" dirty="0" smtClean="0">
                          <a:ln>
                            <a:noFill/>
                          </a:ln>
                          <a:solidFill>
                            <a:schemeClr val="tx1"/>
                          </a:solidFill>
                          <a:effectLst/>
                          <a:latin typeface="EYInterstate" pitchFamily="2" charset="0"/>
                        </a:rPr>
                        <a:t>EXECUTIVE SUMMARY – a summary of the progress for this period (not of the initiative)</a:t>
                      </a:r>
                      <a:endParaRPr kumimoji="0" lang="en-US" sz="1200" b="1" i="0" u="none" strike="noStrike" cap="none" normalizeH="0" baseline="0" dirty="0" smtClean="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58449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1200" b="0" i="0" u="none" strike="noStrike" cap="none" normalizeH="0" baseline="0" dirty="0" smtClean="0">
                          <a:ln>
                            <a:noFill/>
                          </a:ln>
                          <a:solidFill>
                            <a:srgbClr val="646464"/>
                          </a:solidFill>
                          <a:effectLst/>
                          <a:latin typeface="EYInterstate Light" pitchFamily="2" charset="0"/>
                        </a:rPr>
                        <a:t>Lync:</a:t>
                      </a:r>
                      <a:endParaRPr kumimoji="0" lang="en-US" sz="1200" b="0" i="0" u="none" strike="noStrike" cap="none" normalizeH="0" baseline="0" dirty="0" smtClean="0">
                        <a:ln>
                          <a:noFill/>
                        </a:ln>
                        <a:solidFill>
                          <a:schemeClr val="bg2"/>
                        </a:solidFill>
                        <a:effectLst/>
                        <a:latin typeface="EYInterstate Light" pitchFamily="2" charset="0"/>
                      </a:endParaRP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Functional Spec delivered to EY PMO for Signature</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5 CRs Delivered</a:t>
                      </a:r>
                    </a:p>
                    <a:p>
                      <a:pPr marL="69215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MTP Sizing</a:t>
                      </a:r>
                    </a:p>
                    <a:p>
                      <a:pPr marL="69215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Build </a:t>
                      </a:r>
                      <a:r>
                        <a:rPr kumimoji="0" lang="en-US" sz="1200" b="0" i="0" u="none" strike="noStrike" cap="none" normalizeH="0" baseline="0" dirty="0" err="1" smtClean="0">
                          <a:ln>
                            <a:noFill/>
                          </a:ln>
                          <a:solidFill>
                            <a:srgbClr val="646464"/>
                          </a:solidFill>
                          <a:effectLst/>
                          <a:latin typeface="EYInterstate Light" pitchFamily="2" charset="0"/>
                        </a:rPr>
                        <a:t>EY.Dev</a:t>
                      </a:r>
                      <a:endParaRPr kumimoji="0" lang="en-US" sz="1200" b="0" i="0" u="none" strike="noStrike" cap="none" normalizeH="0" baseline="0" dirty="0" smtClean="0">
                        <a:ln>
                          <a:noFill/>
                        </a:ln>
                        <a:solidFill>
                          <a:srgbClr val="646464"/>
                        </a:solidFill>
                        <a:effectLst/>
                        <a:latin typeface="EYInterstate Light" pitchFamily="2" charset="0"/>
                      </a:endParaRPr>
                    </a:p>
                    <a:p>
                      <a:pPr marL="69215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Mobile PoC</a:t>
                      </a:r>
                    </a:p>
                    <a:p>
                      <a:pPr marL="69215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Add Alcatel to the </a:t>
                      </a:r>
                      <a:r>
                        <a:rPr kumimoji="0" lang="en-US" sz="1200" b="0" i="0" u="none" strike="noStrike" cap="none" normalizeH="0" baseline="0" dirty="0" err="1" smtClean="0">
                          <a:ln>
                            <a:noFill/>
                          </a:ln>
                          <a:solidFill>
                            <a:srgbClr val="646464"/>
                          </a:solidFill>
                          <a:effectLst/>
                          <a:latin typeface="EYInterstate Light" pitchFamily="2" charset="0"/>
                        </a:rPr>
                        <a:t>Func</a:t>
                      </a:r>
                      <a:r>
                        <a:rPr kumimoji="0" lang="en-US" sz="1200" b="0" i="0" u="none" strike="noStrike" cap="none" normalizeH="0" baseline="0" dirty="0" smtClean="0">
                          <a:ln>
                            <a:noFill/>
                          </a:ln>
                          <a:solidFill>
                            <a:srgbClr val="646464"/>
                          </a:solidFill>
                          <a:effectLst/>
                          <a:latin typeface="EYInterstate Light" pitchFamily="2" charset="0"/>
                        </a:rPr>
                        <a:t> Spec</a:t>
                      </a:r>
                    </a:p>
                    <a:p>
                      <a:pPr marL="69215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Centralized Consulting Strategy</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xmlns="" val="3151228268"/>
              </p:ext>
            </p:extLst>
          </p:nvPr>
        </p:nvGraphicFramePr>
        <p:xfrm>
          <a:off x="4674630" y="620688"/>
          <a:ext cx="4355126" cy="2386122"/>
        </p:xfrm>
        <a:graphic>
          <a:graphicData uri="http://schemas.openxmlformats.org/drawingml/2006/table">
            <a:tbl>
              <a:tblPr/>
              <a:tblGrid>
                <a:gridCol w="1400909"/>
                <a:gridCol w="703385"/>
                <a:gridCol w="776026"/>
                <a:gridCol w="723201"/>
                <a:gridCol w="751605"/>
              </a:tblGrid>
              <a:tr h="1314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kern="1200" cap="none" normalizeH="0" baseline="0" dirty="0" smtClean="0">
                          <a:ln>
                            <a:noFill/>
                          </a:ln>
                          <a:solidFill>
                            <a:schemeClr val="tx1"/>
                          </a:solidFill>
                          <a:effectLst/>
                          <a:latin typeface="EYInterstate" pitchFamily="2" charset="0"/>
                          <a:ea typeface="+mn-ea"/>
                          <a:cs typeface="+mn-cs"/>
                        </a:rPr>
                        <a:t>E.  MILESTONES</a:t>
                      </a:r>
                      <a:endParaRPr kumimoji="0" lang="en-US" sz="1200" b="0" i="0" u="none" strike="noStrike" kern="1200" cap="none" normalizeH="0" baseline="0" dirty="0" smtClean="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12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12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12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12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6282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12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12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67113">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200" b="0" i="0" u="none" strike="noStrike" cap="none" normalizeH="0" baseline="0" dirty="0" smtClean="0">
                          <a:ln>
                            <a:noFill/>
                          </a:ln>
                          <a:solidFill>
                            <a:srgbClr val="646464"/>
                          </a:solidFill>
                          <a:effectLst/>
                          <a:latin typeface="EYInterstate Light" pitchFamily="2" charset="0"/>
                        </a:rPr>
                        <a:t>Lync Vision &amp; Scope Doc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1200" b="0" i="0" u="none" strike="noStrike" cap="none" normalizeH="0" baseline="0" dirty="0" smtClean="0">
                          <a:ln>
                            <a:noFill/>
                          </a:ln>
                          <a:solidFill>
                            <a:srgbClr val="646464"/>
                          </a:solidFill>
                          <a:effectLst/>
                          <a:latin typeface="EYInterstate Light" pitchFamily="2" charset="0"/>
                        </a:rPr>
                        <a:t>4-Aug-2011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1200" b="0" i="0" u="none" strike="noStrike" cap="none" normalizeH="0" baseline="0" dirty="0" smtClean="0">
                          <a:ln>
                            <a:noFill/>
                          </a:ln>
                          <a:solidFill>
                            <a:schemeClr val="tx1"/>
                          </a:solidFill>
                          <a:effectLst/>
                          <a:latin typeface="EYInterstate Light" pitchFamily="2" charset="0"/>
                        </a:rPr>
                        <a:t>Complete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12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12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200" b="0" i="0" u="none" strike="noStrike" cap="none" normalizeH="0" baseline="0" dirty="0" smtClean="0">
                          <a:ln>
                            <a:noFill/>
                          </a:ln>
                          <a:solidFill>
                            <a:srgbClr val="646464"/>
                          </a:solidFill>
                          <a:effectLst/>
                          <a:latin typeface="EYInterstate Light" pitchFamily="2" charset="0"/>
                        </a:rPr>
                        <a:t>Lync Planning Workshops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1200" b="0" i="0" u="none" strike="noStrike" cap="none" normalizeH="0" baseline="0" dirty="0" smtClean="0">
                          <a:ln>
                            <a:noFill/>
                          </a:ln>
                          <a:solidFill>
                            <a:srgbClr val="646464"/>
                          </a:solidFill>
                          <a:effectLst/>
                          <a:latin typeface="EYInterstate Light" pitchFamily="2" charset="0"/>
                        </a:rPr>
                        <a:t>10/14/2011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1200" b="0" i="0" u="none" strike="noStrike" cap="none" normalizeH="0" baseline="0" dirty="0" smtClean="0">
                          <a:ln>
                            <a:noFill/>
                          </a:ln>
                          <a:solidFill>
                            <a:schemeClr val="tx1"/>
                          </a:solidFill>
                          <a:effectLst/>
                          <a:latin typeface="EYInterstate Light" pitchFamily="2" charset="0"/>
                        </a:rPr>
                        <a:t>Complete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12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12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200" b="0" i="0" u="none" strike="noStrike" cap="none" normalizeH="0" baseline="0" dirty="0" smtClean="0">
                          <a:ln>
                            <a:noFill/>
                          </a:ln>
                          <a:solidFill>
                            <a:srgbClr val="646464"/>
                          </a:solidFill>
                          <a:effectLst/>
                          <a:latin typeface="EYInterstate Light" pitchFamily="2" charset="0"/>
                        </a:rPr>
                        <a:t>Functional Spec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1200" b="0" i="0" u="none" strike="noStrike" cap="none" normalizeH="0" baseline="0" dirty="0" smtClean="0">
                          <a:ln>
                            <a:noFill/>
                          </a:ln>
                          <a:solidFill>
                            <a:srgbClr val="646464"/>
                          </a:solidFill>
                          <a:effectLst/>
                          <a:latin typeface="EYInterstate Light" pitchFamily="2" charset="0"/>
                        </a:rPr>
                        <a:t>1/10/2012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1200" b="0" i="0" u="none" strike="noStrike" cap="none" normalizeH="0" baseline="0" dirty="0" smtClean="0">
                          <a:ln>
                            <a:noFill/>
                          </a:ln>
                          <a:solidFill>
                            <a:schemeClr val="tx1"/>
                          </a:solidFill>
                          <a:effectLst/>
                          <a:latin typeface="EYInterstate Light" pitchFamily="2" charset="0"/>
                        </a:rPr>
                        <a:t>Complete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12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12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200" b="0" i="0" u="none" strike="noStrike" cap="none" normalizeH="0" baseline="0" dirty="0" smtClean="0">
                          <a:ln>
                            <a:noFill/>
                          </a:ln>
                          <a:solidFill>
                            <a:srgbClr val="646464"/>
                          </a:solidFill>
                          <a:effectLst/>
                          <a:latin typeface="EYInterstate Light" pitchFamily="2" charset="0"/>
                        </a:rPr>
                        <a:t>POC Security POC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1200" b="0" i="0" u="none" strike="noStrike" kern="1200" cap="none" normalizeH="0" baseline="0" dirty="0" smtClean="0">
                          <a:ln>
                            <a:noFill/>
                          </a:ln>
                          <a:solidFill>
                            <a:srgbClr val="646464"/>
                          </a:solidFill>
                          <a:effectLst/>
                          <a:latin typeface="EYInterstate Light" pitchFamily="2" charset="0"/>
                          <a:ea typeface="+mn-ea"/>
                          <a:cs typeface="+mn-cs"/>
                        </a:rPr>
                        <a:t>12/15/2011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1200" b="0" i="0" u="none" strike="noStrike" kern="1200" cap="none" normalizeH="0" baseline="0" dirty="0" smtClean="0">
                          <a:ln>
                            <a:noFill/>
                          </a:ln>
                          <a:solidFill>
                            <a:schemeClr val="tx1"/>
                          </a:solidFill>
                          <a:effectLst/>
                          <a:latin typeface="EYInterstate Light" pitchFamily="2" charset="0"/>
                          <a:ea typeface="+mn-ea"/>
                          <a:cs typeface="+mn-cs"/>
                        </a:rPr>
                        <a:t>Complete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1200" b="0" i="0" u="none" strike="noStrike" kern="1200" cap="none" normalizeH="0" baseline="0" dirty="0" smtClean="0">
                          <a:ln>
                            <a:noFill/>
                          </a:ln>
                          <a:solidFill>
                            <a:schemeClr val="accent3"/>
                          </a:solidFill>
                          <a:effectLst/>
                          <a:latin typeface="EYInterstate Light" pitchFamily="2" charset="0"/>
                          <a:ea typeface="+mn-ea"/>
                          <a:cs typeface="+mn-cs"/>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1200" b="0" i="0" u="none" strike="noStrike" kern="1200" cap="none" normalizeH="0" baseline="0" dirty="0" smtClean="0">
                          <a:ln>
                            <a:noFill/>
                          </a:ln>
                          <a:solidFill>
                            <a:schemeClr val="accent3"/>
                          </a:solidFill>
                          <a:effectLst/>
                          <a:latin typeface="EYInterstate Light" pitchFamily="2" charset="0"/>
                          <a:ea typeface="+mn-ea"/>
                          <a:cs typeface="+mn-cs"/>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200" b="0" i="0" u="none" strike="noStrike" cap="none" normalizeH="0" baseline="0" dirty="0" smtClean="0">
                          <a:ln>
                            <a:noFill/>
                          </a:ln>
                          <a:solidFill>
                            <a:srgbClr val="646464"/>
                          </a:solidFill>
                          <a:effectLst/>
                          <a:latin typeface="EYInterstate Light" pitchFamily="2" charset="0"/>
                        </a:rPr>
                        <a:t>Production Pilot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1200" b="0" i="0" u="none" strike="noStrike" cap="none" normalizeH="0" baseline="0" dirty="0" smtClean="0">
                          <a:ln>
                            <a:noFill/>
                          </a:ln>
                          <a:solidFill>
                            <a:srgbClr val="646464"/>
                          </a:solidFill>
                          <a:effectLst/>
                          <a:latin typeface="EYInterstate Light" pitchFamily="2" charset="0"/>
                        </a:rPr>
                        <a:t>3/9/11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1200" b="0" i="0" u="none" strike="noStrike" kern="1200" cap="none" normalizeH="0" baseline="0" dirty="0" smtClean="0">
                          <a:ln>
                            <a:noFill/>
                          </a:ln>
                          <a:solidFill>
                            <a:schemeClr val="tx1"/>
                          </a:solidFill>
                          <a:effectLst/>
                          <a:latin typeface="EYInterstate Light" pitchFamily="2" charset="0"/>
                          <a:ea typeface="+mn-ea"/>
                          <a:cs typeface="+mn-cs"/>
                        </a:rPr>
                        <a:t>On Hold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1200" b="0" i="0" u="none" strike="noStrike" kern="1200" cap="none" normalizeH="0" baseline="0" dirty="0" smtClean="0">
                          <a:ln>
                            <a:noFill/>
                          </a:ln>
                          <a:solidFill>
                            <a:schemeClr val="accent3"/>
                          </a:solidFill>
                          <a:effectLst/>
                          <a:latin typeface="EYInterstate Light" pitchFamily="2" charset="0"/>
                          <a:ea typeface="+mn-ea"/>
                          <a:cs typeface="+mn-cs"/>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1200" b="0" i="0" u="none" strike="noStrike" kern="1200" cap="none" normalizeH="0" baseline="0" dirty="0" smtClean="0">
                          <a:ln>
                            <a:noFill/>
                          </a:ln>
                          <a:solidFill>
                            <a:schemeClr val="accent3"/>
                          </a:solidFill>
                          <a:effectLst/>
                          <a:latin typeface="EYInterstate Light" pitchFamily="2" charset="0"/>
                          <a:ea typeface="+mn-ea"/>
                          <a:cs typeface="+mn-cs"/>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15" name="Group 270"/>
          <p:cNvGraphicFramePr>
            <a:graphicFrameLocks noGrp="1"/>
          </p:cNvGraphicFramePr>
          <p:nvPr>
            <p:extLst>
              <p:ext uri="{D42A27DB-BD31-4B8C-83A1-F6EECF244321}">
                <p14:modId xmlns:p14="http://schemas.microsoft.com/office/powerpoint/2010/main" xmlns="" val="3272604376"/>
              </p:ext>
            </p:extLst>
          </p:nvPr>
        </p:nvGraphicFramePr>
        <p:xfrm>
          <a:off x="7380312" y="21570"/>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xmlns="" val="378340878"/>
              </p:ext>
            </p:extLst>
          </p:nvPr>
        </p:nvGraphicFramePr>
        <p:xfrm>
          <a:off x="4674631" y="2204864"/>
          <a:ext cx="4355123" cy="813618"/>
        </p:xfrm>
        <a:graphic>
          <a:graphicData uri="http://schemas.openxmlformats.org/drawingml/2006/table">
            <a:tbl>
              <a:tblPr/>
              <a:tblGrid>
                <a:gridCol w="1841585"/>
                <a:gridCol w="2513538"/>
              </a:tblGrid>
              <a:tr h="138113">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38113">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Mitigating Action</a:t>
                      </a:r>
                      <a:endParaRPr kumimoji="0" lang="en-US" sz="1200" b="0" i="0" u="none" strike="noStrike" cap="none" normalizeH="0" baseline="0" dirty="0" smtClean="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996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12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12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xmlns="" val="2376192958"/>
              </p:ext>
            </p:extLst>
          </p:nvPr>
        </p:nvGraphicFramePr>
        <p:xfrm>
          <a:off x="4674631" y="3068960"/>
          <a:ext cx="4355123" cy="2157852"/>
        </p:xfrm>
        <a:graphic>
          <a:graphicData uri="http://schemas.openxmlformats.org/drawingml/2006/table">
            <a:tbl>
              <a:tblPr/>
              <a:tblGrid>
                <a:gridCol w="4355123"/>
              </a:tblGrid>
              <a:tr h="11365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EYInterstate"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1839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Al and Alan to sign a T&amp;M contract to keep Marc engaged.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Although deliverable acceptance per contract was discussed, accepted and documented 9/23, signature or acknowledgement at the executive sponsor level is required.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A number of activities were delayed or took longer than contract</a:t>
                      </a:r>
                    </a:p>
                    <a:p>
                      <a:pPr marL="542925"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Lab Setup 2 weeks</a:t>
                      </a:r>
                    </a:p>
                    <a:p>
                      <a:pPr marL="542925"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Functional spec Review 2 weeks</a:t>
                      </a:r>
                    </a:p>
                    <a:p>
                      <a:pPr marL="542925"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1200" b="0" i="0" u="none" strike="noStrike" cap="none" normalizeH="0" baseline="0" dirty="0" smtClean="0">
                          <a:ln>
                            <a:noFill/>
                          </a:ln>
                          <a:solidFill>
                            <a:srgbClr val="646464"/>
                          </a:solidFill>
                          <a:effectLst/>
                          <a:latin typeface="EYInterstate Light" pitchFamily="2" charset="0"/>
                        </a:rPr>
                        <a:t>Data for Dial plans and Network 1 week</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0" y="6390185"/>
            <a:ext cx="8964489" cy="540206"/>
            <a:chOff x="0" y="6505545"/>
            <a:chExt cx="9711531"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hangingPunct="0">
                <a:spcAft>
                  <a:spcPts val="0"/>
                </a:spcAft>
              </a:pPr>
              <a:r>
                <a:rPr lang="en-US" sz="500" b="1" dirty="0" smtClean="0">
                  <a:solidFill>
                    <a:srgbClr val="646464"/>
                  </a:solidFill>
                  <a:latin typeface="EYInterstate Light" pitchFamily="2" charset="0"/>
                </a:rPr>
                <a:t>Fully achieved</a:t>
              </a:r>
              <a:endParaRPr lang="en-GB" sz="500" b="1" kern="0" dirty="0" smtClean="0">
                <a:solidFill>
                  <a:srgbClr val="646464"/>
                </a:solidFill>
                <a:latin typeface="EYInterstate"/>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hangingPunct="0">
                <a:spcAft>
                  <a:spcPts val="0"/>
                </a:spcAft>
              </a:pPr>
              <a:r>
                <a:rPr lang="en-US" sz="500" dirty="0" smtClean="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smtClean="0">
                <a:solidFill>
                  <a:srgbClr val="646464"/>
                </a:solidFill>
                <a:latin typeface="EYInterstate"/>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defTabSz="955675" eaLnBrk="0" hangingPunct="0">
              <a:spcAft>
                <a:spcPts val="0"/>
              </a:spcAft>
              <a:defRPr/>
            </a:pPr>
            <a:r>
              <a:rPr lang="en-US" sz="1600" b="1" kern="0" dirty="0">
                <a:solidFill>
                  <a:srgbClr val="646464"/>
                </a:solidFill>
                <a:latin typeface="EYInterstate"/>
              </a:rPr>
              <a:t>EY Messaging &amp; Collaboration Program – </a:t>
            </a:r>
            <a:r>
              <a:rPr lang="en-US" sz="1600" b="1" kern="0" dirty="0" smtClean="0">
                <a:solidFill>
                  <a:srgbClr val="646464"/>
                </a:solidFill>
                <a:latin typeface="EYInterstate"/>
              </a:rPr>
              <a:t>Week 18: Friday, February 3</a:t>
            </a:r>
            <a:r>
              <a:rPr lang="en-US" sz="1600" b="1" kern="0" baseline="30000" dirty="0" smtClean="0">
                <a:solidFill>
                  <a:srgbClr val="646464"/>
                </a:solidFill>
                <a:latin typeface="EYInterstate"/>
              </a:rPr>
              <a:t>rd</a:t>
            </a:r>
            <a:r>
              <a:rPr lang="en-US" sz="1600" b="1" kern="0" dirty="0" smtClean="0">
                <a:solidFill>
                  <a:srgbClr val="646464"/>
                </a:solidFill>
                <a:latin typeface="EYInterstate"/>
              </a:rPr>
              <a:t> , 2012: Lync</a:t>
            </a:r>
            <a:r>
              <a:rPr lang="en-US" sz="1600" b="1" kern="0" dirty="0">
                <a:solidFill>
                  <a:srgbClr val="646464"/>
                </a:solidFill>
                <a:latin typeface="EYInterstate"/>
              </a:rPr>
              <a:t> </a:t>
            </a:r>
            <a:r>
              <a:rPr lang="en-US" sz="1600" b="1" kern="0" dirty="0" smtClean="0">
                <a:solidFill>
                  <a:srgbClr val="646464"/>
                </a:solidFill>
                <a:latin typeface="EYInterstate"/>
              </a:rPr>
              <a:t>Workstream</a:t>
            </a:r>
            <a:endParaRPr lang="en-US" sz="1600" b="1" kern="0" dirty="0">
              <a:solidFill>
                <a:srgbClr val="646464"/>
              </a:solidFill>
              <a:latin typeface="EYInterstate"/>
            </a:endParaRPr>
          </a:p>
        </p:txBody>
      </p:sp>
    </p:spTree>
    <p:extLst>
      <p:ext uri="{BB962C8B-B14F-4D97-AF65-F5344CB8AC3E}">
        <p14:creationId xmlns:p14="http://schemas.microsoft.com/office/powerpoint/2010/main" xmlns="" val="26458522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xmlns="" val="4035199857"/>
              </p:ext>
            </p:extLst>
          </p:nvPr>
        </p:nvGraphicFramePr>
        <p:xfrm>
          <a:off x="68010" y="2110372"/>
          <a:ext cx="4355123" cy="1611996"/>
        </p:xfrm>
        <a:graphic>
          <a:graphicData uri="http://schemas.openxmlformats.org/drawingml/2006/table">
            <a:tbl>
              <a:tblPr/>
              <a:tblGrid>
                <a:gridCol w="4355123"/>
              </a:tblGrid>
              <a:tr h="142557">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1200" b="1" i="0" u="none" strike="noStrike" cap="none" normalizeH="0" baseline="0" dirty="0" smtClean="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0408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1000" b="0" i="0" u="none" strike="noStrike" cap="none" normalizeH="0" baseline="0" dirty="0" smtClean="0">
                          <a:ln>
                            <a:noFill/>
                          </a:ln>
                          <a:solidFill>
                            <a:srgbClr val="646464"/>
                          </a:solidFill>
                          <a:effectLst/>
                          <a:latin typeface="EYInterstate Light" pitchFamily="2" charset="0"/>
                        </a:rPr>
                        <a:t>Identity</a:t>
                      </a:r>
                    </a:p>
                    <a:p>
                      <a:pPr marL="22860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1000" b="0" i="0" u="none" strike="noStrike" cap="none" normalizeH="0" baseline="0" dirty="0" smtClean="0">
                          <a:ln>
                            <a:noFill/>
                          </a:ln>
                          <a:solidFill>
                            <a:srgbClr val="646464"/>
                          </a:solidFill>
                          <a:effectLst/>
                          <a:latin typeface="EYInterstate Light" pitchFamily="2" charset="0"/>
                        </a:rPr>
                        <a:t>Continued review and update of the Functional Spec doc.</a:t>
                      </a:r>
                    </a:p>
                    <a:p>
                      <a:pPr marL="228600" marR="0" lvl="1" indent="-85725" algn="l" defTabSz="947738" rtl="0" eaLnBrk="0" fontAlgn="base" latinLnBrk="0" hangingPunct="0">
                        <a:lnSpc>
                          <a:spcPct val="100000"/>
                        </a:lnSpc>
                        <a:spcBef>
                          <a:spcPct val="0"/>
                        </a:spcBef>
                        <a:spcAft>
                          <a:spcPct val="10000"/>
                        </a:spcAft>
                        <a:buClrTx/>
                        <a:buSzTx/>
                        <a:buFontTx/>
                        <a:buChar char="•"/>
                        <a:tabLst/>
                        <a:defRPr/>
                      </a:pPr>
                      <a:r>
                        <a:rPr kumimoji="0" lang="en-US" sz="1000" b="0" i="0" u="none" strike="noStrike" cap="none" normalizeH="0" baseline="0" dirty="0" smtClean="0">
                          <a:ln>
                            <a:noFill/>
                          </a:ln>
                          <a:solidFill>
                            <a:srgbClr val="646464"/>
                          </a:solidFill>
                          <a:effectLst/>
                          <a:latin typeface="EYInterstate Light" pitchFamily="2" charset="0"/>
                        </a:rPr>
                        <a:t>Begun work on operations guide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2557">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1000" b="1" i="0" u="none" strike="noStrike" cap="none" normalizeH="0" baseline="0" dirty="0" smtClean="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4255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1000" b="0" i="0" u="none" strike="noStrike" cap="none" normalizeH="0" baseline="0" dirty="0" smtClean="0">
                          <a:ln>
                            <a:noFill/>
                          </a:ln>
                          <a:solidFill>
                            <a:srgbClr val="646464"/>
                          </a:solidFill>
                          <a:effectLst/>
                          <a:latin typeface="EYInterstate Light" pitchFamily="2" charset="0"/>
                        </a:rPr>
                        <a:t>Functional Spec</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1000" b="0" i="0" u="none" strike="noStrike" cap="none" normalizeH="0" baseline="0" dirty="0" smtClean="0">
                          <a:ln>
                            <a:noFill/>
                          </a:ln>
                          <a:solidFill>
                            <a:srgbClr val="646464"/>
                          </a:solidFill>
                          <a:effectLst/>
                          <a:latin typeface="EYInterstate Light" pitchFamily="2" charset="0"/>
                        </a:rPr>
                        <a:t>EY </a:t>
                      </a:r>
                      <a:r>
                        <a:rPr kumimoji="0" lang="en-US" sz="1000" b="0" i="0" u="none" strike="noStrike" cap="none" normalizeH="0" baseline="0" dirty="0" err="1" smtClean="0">
                          <a:ln>
                            <a:noFill/>
                          </a:ln>
                          <a:solidFill>
                            <a:srgbClr val="646464"/>
                          </a:solidFill>
                          <a:effectLst/>
                          <a:latin typeface="EYInterstate Light" pitchFamily="2" charset="0"/>
                        </a:rPr>
                        <a:t>Dev</a:t>
                      </a:r>
                      <a:endParaRPr kumimoji="0" lang="en-US" sz="10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2557">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5438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1000" b="0" i="0" u="none" strike="noStrike" cap="none" normalizeH="0" baseline="0" dirty="0" smtClean="0">
                          <a:ln>
                            <a:noFill/>
                          </a:ln>
                          <a:solidFill>
                            <a:srgbClr val="646464"/>
                          </a:solidFill>
                          <a:effectLst/>
                          <a:latin typeface="EYInterstate Light" pitchFamily="2" charset="0"/>
                        </a:rPr>
                        <a:t>O365 Planning meetings specific to identity</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xmlns="" val="772502758"/>
              </p:ext>
            </p:extLst>
          </p:nvPr>
        </p:nvGraphicFramePr>
        <p:xfrm>
          <a:off x="4433673" y="5001892"/>
          <a:ext cx="4640570" cy="1447470"/>
        </p:xfrm>
        <a:graphic>
          <a:graphicData uri="http://schemas.openxmlformats.org/drawingml/2006/table">
            <a:tbl>
              <a:tblPr/>
              <a:tblGrid>
                <a:gridCol w="2251583"/>
                <a:gridCol w="2388987"/>
              </a:tblGrid>
              <a:tr h="175793">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EYInterstate" pitchFamily="2" charset="0"/>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698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3775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1000" b="0" i="0" u="none" strike="noStrike" cap="none" normalizeH="0" baseline="0" dirty="0" err="1" smtClean="0">
                          <a:ln>
                            <a:noFill/>
                          </a:ln>
                          <a:solidFill>
                            <a:srgbClr val="646464"/>
                          </a:solidFill>
                          <a:effectLst/>
                          <a:latin typeface="EYInterstate Light" pitchFamily="2" charset="0"/>
                        </a:rPr>
                        <a:t>EY.Dev</a:t>
                      </a:r>
                      <a:endParaRPr kumimoji="0" lang="en-US" sz="10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000" b="0" i="0" u="none" strike="noStrike" cap="none" normalizeH="0" baseline="0" dirty="0" smtClean="0">
                          <a:ln>
                            <a:noFill/>
                          </a:ln>
                          <a:solidFill>
                            <a:srgbClr val="646464"/>
                          </a:solidFill>
                          <a:effectLst/>
                          <a:latin typeface="EYInterstate Light" pitchFamily="2" charset="0"/>
                        </a:rPr>
                        <a:t>Adrian to get environment setup though other workstreams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4701">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000" b="1" i="0" u="none" strike="noStrike" cap="none" normalizeH="0" baseline="0" dirty="0" smtClean="0">
                          <a:ln>
                            <a:noFill/>
                          </a:ln>
                          <a:solidFill>
                            <a:schemeClr val="bg2"/>
                          </a:solidFill>
                          <a:effectLst/>
                          <a:latin typeface="EYInterstate Light" pitchFamily="2" charset="0"/>
                        </a:rPr>
                        <a:t>Scope 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000" b="1" i="0" u="none" strike="noStrike" cap="none" normalizeH="0" baseline="0" dirty="0" smtClean="0">
                          <a:ln>
                            <a:noFill/>
                          </a:ln>
                          <a:solidFill>
                            <a:schemeClr val="bg2"/>
                          </a:solidFill>
                          <a:effectLst/>
                          <a:latin typeface="EYInterstate Light" pitchFamily="2" charset="0"/>
                        </a:rPr>
                        <a:t>Recommended Action /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29947">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1000" b="0" i="0" u="none" strike="noStrike" cap="none" normalizeH="0" baseline="0" dirty="0" smtClean="0">
                          <a:ln>
                            <a:noFill/>
                          </a:ln>
                          <a:solidFill>
                            <a:srgbClr val="646464"/>
                          </a:solidFill>
                          <a:effectLst/>
                          <a:latin typeface="EYInterstate Light" pitchFamily="2" charset="0"/>
                        </a:rPr>
                        <a:t>O365 Impact CR submitted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000" b="0" i="0" u="none" strike="noStrike" cap="none" normalizeH="0" baseline="0" dirty="0" smtClean="0">
                          <a:ln>
                            <a:noFill/>
                          </a:ln>
                          <a:solidFill>
                            <a:srgbClr val="646464"/>
                          </a:solidFill>
                          <a:effectLst/>
                          <a:latin typeface="EYInterstate Light" pitchFamily="2" charset="0"/>
                        </a:rPr>
                        <a:t>EY review and signature pending</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xmlns="" val="4187151864"/>
              </p:ext>
            </p:extLst>
          </p:nvPr>
        </p:nvGraphicFramePr>
        <p:xfrm>
          <a:off x="72688" y="620688"/>
          <a:ext cx="4360985" cy="1185543"/>
        </p:xfrm>
        <a:graphic>
          <a:graphicData uri="http://schemas.openxmlformats.org/drawingml/2006/table">
            <a:tbl>
              <a:tblPr/>
              <a:tblGrid>
                <a:gridCol w="4360985"/>
              </a:tblGrid>
              <a:tr h="143639">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EYInterstate" pitchFamily="2" charset="0"/>
                        </a:rPr>
                        <a:t>A.  </a:t>
                      </a:r>
                      <a:r>
                        <a:rPr kumimoji="0" lang="en-GB" sz="1200" b="1" i="0" u="none" strike="noStrike" cap="none" normalizeH="0" baseline="0" dirty="0" smtClean="0">
                          <a:ln>
                            <a:noFill/>
                          </a:ln>
                          <a:solidFill>
                            <a:schemeClr val="tx1"/>
                          </a:solidFill>
                          <a:effectLst/>
                          <a:latin typeface="EYInterstate" pitchFamily="2" charset="0"/>
                        </a:rPr>
                        <a:t>EXECUTIVE SUMMARY – a summary of the progress for this period (not of the initiative)</a:t>
                      </a:r>
                      <a:endParaRPr kumimoji="0" lang="en-US" sz="1200" b="1" i="0" u="none" strike="noStrike" cap="none" normalizeH="0" baseline="0" dirty="0" smtClean="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790983">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1000" b="0" i="0" u="none" strike="noStrike" cap="none" normalizeH="0" baseline="0" dirty="0" smtClean="0">
                          <a:ln>
                            <a:noFill/>
                          </a:ln>
                          <a:solidFill>
                            <a:srgbClr val="646464"/>
                          </a:solidFill>
                          <a:effectLst/>
                          <a:latin typeface="EYInterstate Light" pitchFamily="2" charset="0"/>
                        </a:rPr>
                        <a:t>Identity:</a:t>
                      </a:r>
                      <a:endParaRPr kumimoji="0" lang="en-US" sz="1000" b="0" i="0" u="none" strike="noStrike" cap="none" normalizeH="0" baseline="0" dirty="0" smtClean="0">
                        <a:ln>
                          <a:noFill/>
                        </a:ln>
                        <a:solidFill>
                          <a:schemeClr val="bg2"/>
                        </a:solidFill>
                        <a:effectLst/>
                        <a:latin typeface="EYInterstate Light" pitchFamily="2" charset="0"/>
                      </a:endParaRP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000" b="0" i="0" u="none" strike="noStrike" cap="none" normalizeH="0" baseline="0" dirty="0" smtClean="0">
                          <a:ln>
                            <a:noFill/>
                          </a:ln>
                          <a:solidFill>
                            <a:srgbClr val="646464"/>
                          </a:solidFill>
                          <a:effectLst/>
                          <a:latin typeface="EYInterstate Light" pitchFamily="2" charset="0"/>
                        </a:rPr>
                        <a:t>Project Delayed for </a:t>
                      </a:r>
                      <a:r>
                        <a:rPr kumimoji="0" lang="en-US" sz="1000" b="0" i="0" u="none" strike="noStrike" cap="none" normalizeH="0" baseline="0" dirty="0" err="1" smtClean="0">
                          <a:ln>
                            <a:noFill/>
                          </a:ln>
                          <a:solidFill>
                            <a:srgbClr val="646464"/>
                          </a:solidFill>
                          <a:effectLst/>
                          <a:latin typeface="EYInterstate Light" pitchFamily="2" charset="0"/>
                        </a:rPr>
                        <a:t>EY.Dev</a:t>
                      </a:r>
                      <a:endParaRPr kumimoji="0" lang="en-US" sz="1000" b="0" i="0" u="none" strike="noStrike" cap="none" normalizeH="0" baseline="0" dirty="0" smtClean="0">
                        <a:ln>
                          <a:noFill/>
                        </a:ln>
                        <a:solidFill>
                          <a:srgbClr val="646464"/>
                        </a:solidFill>
                        <a:effectLst/>
                        <a:latin typeface="EYInterstate Light" pitchFamily="2" charset="0"/>
                      </a:endParaRP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000" b="0" i="0" u="none" strike="noStrike" cap="none" normalizeH="0" baseline="0" dirty="0" smtClean="0">
                          <a:ln>
                            <a:noFill/>
                          </a:ln>
                          <a:solidFill>
                            <a:srgbClr val="646464"/>
                          </a:solidFill>
                          <a:effectLst/>
                          <a:latin typeface="EYInterstate Light" pitchFamily="2" charset="0"/>
                        </a:rPr>
                        <a:t>Sean Power being reactivated at EY request</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000" b="0" i="0" u="none" strike="noStrike" cap="none" normalizeH="0" baseline="0" dirty="0" smtClean="0">
                          <a:ln>
                            <a:noFill/>
                          </a:ln>
                          <a:solidFill>
                            <a:srgbClr val="646464"/>
                          </a:solidFill>
                          <a:effectLst/>
                          <a:latin typeface="EYInterstate Light" pitchFamily="2" charset="0"/>
                        </a:rPr>
                        <a:t>John Bruce back from London; CR submitted</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xmlns="" val="4279254458"/>
              </p:ext>
            </p:extLst>
          </p:nvPr>
        </p:nvGraphicFramePr>
        <p:xfrm>
          <a:off x="4495800" y="620689"/>
          <a:ext cx="4648200" cy="3142647"/>
        </p:xfrm>
        <a:graphic>
          <a:graphicData uri="http://schemas.openxmlformats.org/drawingml/2006/table">
            <a:tbl>
              <a:tblPr/>
              <a:tblGrid>
                <a:gridCol w="1481828"/>
                <a:gridCol w="753898"/>
                <a:gridCol w="831756"/>
                <a:gridCol w="775137"/>
                <a:gridCol w="805581"/>
              </a:tblGrid>
              <a:tr h="225139">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kern="1200" cap="none" normalizeH="0" baseline="0" dirty="0" smtClean="0">
                          <a:ln>
                            <a:noFill/>
                          </a:ln>
                          <a:solidFill>
                            <a:schemeClr val="tx1"/>
                          </a:solidFill>
                          <a:effectLst/>
                          <a:latin typeface="EYInterstate" pitchFamily="2" charset="0"/>
                          <a:ea typeface="+mn-ea"/>
                          <a:cs typeface="+mn-cs"/>
                        </a:rPr>
                        <a:t>E.  MILESTONES</a:t>
                      </a:r>
                      <a:endParaRPr kumimoji="0" lang="en-US" sz="1200" b="0" i="0" u="none" strike="noStrike" kern="1200" cap="none" normalizeH="0" baseline="0" dirty="0" smtClean="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12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12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12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12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420973">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12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12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420973">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000" b="0" i="0" u="none" strike="noStrike" cap="none" normalizeH="0" baseline="0" dirty="0" smtClean="0">
                          <a:ln>
                            <a:noFill/>
                          </a:ln>
                          <a:solidFill>
                            <a:srgbClr val="646464"/>
                          </a:solidFill>
                          <a:effectLst/>
                          <a:latin typeface="EYInterstate Light" pitchFamily="2" charset="0"/>
                        </a:rPr>
                        <a:t>Identity Vision Scope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1000" b="0" i="0" u="none" strike="noStrike" cap="none" normalizeH="0" baseline="0" dirty="0" smtClean="0">
                          <a:ln>
                            <a:noFill/>
                          </a:ln>
                          <a:solidFill>
                            <a:srgbClr val="646464"/>
                          </a:solidFill>
                          <a:effectLst/>
                          <a:latin typeface="EYInterstate Light" pitchFamily="2" charset="0"/>
                        </a:rPr>
                        <a:t>12/1/2011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1000" b="0" i="0" u="none" strike="noStrike" cap="none" normalizeH="0" baseline="0" dirty="0" smtClean="0">
                          <a:ln>
                            <a:noFill/>
                          </a:ln>
                          <a:solidFill>
                            <a:schemeClr val="tx1"/>
                          </a:solidFill>
                          <a:effectLst/>
                          <a:latin typeface="EYInterstate Light" pitchFamily="2" charset="0"/>
                        </a:rPr>
                        <a:t>Complete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10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10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420973">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000" b="0" i="0" u="none" strike="noStrike" cap="none" normalizeH="0" baseline="0" dirty="0" smtClean="0">
                          <a:ln>
                            <a:noFill/>
                          </a:ln>
                          <a:solidFill>
                            <a:srgbClr val="646464"/>
                          </a:solidFill>
                          <a:effectLst/>
                          <a:latin typeface="EYInterstate Light" pitchFamily="2" charset="0"/>
                        </a:rPr>
                        <a:t>Functional Spec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1000" b="0" i="0" u="none" strike="noStrike" cap="none" normalizeH="0" baseline="0" dirty="0" smtClean="0">
                          <a:ln>
                            <a:noFill/>
                          </a:ln>
                          <a:solidFill>
                            <a:srgbClr val="646464"/>
                          </a:solidFill>
                          <a:effectLst/>
                          <a:latin typeface="EYInterstate Light" pitchFamily="2" charset="0"/>
                        </a:rPr>
                        <a:t>12/14/2011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1000" b="0" i="0" u="none" strike="noStrike" cap="none" normalizeH="0" baseline="0" dirty="0" smtClean="0">
                          <a:ln>
                            <a:noFill/>
                          </a:ln>
                          <a:solidFill>
                            <a:schemeClr val="tx1"/>
                          </a:solidFill>
                          <a:effectLst/>
                          <a:latin typeface="EYInterstate Light" pitchFamily="2" charset="0"/>
                        </a:rPr>
                        <a:t>2/3/12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10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10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D200"/>
                    </a:solidFill>
                  </a:tcPr>
                </a:tc>
              </a:tr>
              <a:tr h="812643">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000" b="0" i="0" u="none" strike="noStrike" cap="none" normalizeH="0" baseline="0" dirty="0" smtClean="0">
                          <a:ln>
                            <a:noFill/>
                          </a:ln>
                          <a:solidFill>
                            <a:srgbClr val="646464"/>
                          </a:solidFill>
                          <a:effectLst/>
                          <a:latin typeface="EYInterstate Light" pitchFamily="2" charset="0"/>
                        </a:rPr>
                        <a:t>Operations Support and Troubleshooting Guide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1000" b="0" i="0" u="none" strike="noStrike" kern="1200" cap="none" normalizeH="0" baseline="0" dirty="0" smtClean="0">
                          <a:ln>
                            <a:noFill/>
                          </a:ln>
                          <a:solidFill>
                            <a:srgbClr val="646464"/>
                          </a:solidFill>
                          <a:effectLst/>
                          <a:latin typeface="EYInterstate Light" pitchFamily="2" charset="0"/>
                          <a:ea typeface="+mn-ea"/>
                          <a:cs typeface="+mn-cs"/>
                        </a:rPr>
                        <a:t>2/23/2012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1000" b="0" i="0" u="none" strike="noStrike" cap="none" normalizeH="0" baseline="0" dirty="0" smtClean="0">
                          <a:ln>
                            <a:noFill/>
                          </a:ln>
                          <a:solidFill>
                            <a:schemeClr val="tx1"/>
                          </a:solidFill>
                          <a:effectLst/>
                          <a:latin typeface="EYInterstate Light" pitchFamily="2" charset="0"/>
                        </a:rPr>
                        <a:t>3/2/12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10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10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D200"/>
                    </a:solidFill>
                  </a:tcPr>
                </a:tc>
              </a:tr>
              <a:tr h="420973">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000" b="0" i="0" u="none" strike="noStrike" cap="none" normalizeH="0" baseline="0" dirty="0" smtClean="0">
                          <a:ln>
                            <a:noFill/>
                          </a:ln>
                          <a:solidFill>
                            <a:srgbClr val="646464"/>
                          </a:solidFill>
                          <a:effectLst/>
                          <a:latin typeface="EYInterstate Light" pitchFamily="2" charset="0"/>
                        </a:rPr>
                        <a:t>Configuration Guide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1000" b="0" i="0" u="none" strike="noStrike" cap="none" normalizeH="0" baseline="0" dirty="0" smtClean="0">
                          <a:ln>
                            <a:noFill/>
                          </a:ln>
                          <a:solidFill>
                            <a:srgbClr val="646464"/>
                          </a:solidFill>
                          <a:effectLst/>
                          <a:latin typeface="EYInterstate Light" pitchFamily="2" charset="0"/>
                        </a:rPr>
                        <a:t>1/19/2012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1000" b="0" i="0" u="none" strike="noStrike" cap="none" normalizeH="0" baseline="0" dirty="0" smtClean="0">
                          <a:ln>
                            <a:noFill/>
                          </a:ln>
                          <a:solidFill>
                            <a:schemeClr val="tx1"/>
                          </a:solidFill>
                          <a:effectLst/>
                          <a:latin typeface="EYInterstate Light" pitchFamily="2" charset="0"/>
                        </a:rPr>
                        <a:t>2/10/2012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10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10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D200"/>
                    </a:solidFill>
                  </a:tcPr>
                </a:tc>
              </a:tr>
              <a:tr h="420973">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000" b="0" i="0" u="none" strike="noStrike" cap="none" normalizeH="0" baseline="0" dirty="0" smtClean="0">
                          <a:ln>
                            <a:noFill/>
                          </a:ln>
                          <a:solidFill>
                            <a:srgbClr val="646464"/>
                          </a:solidFill>
                          <a:effectLst/>
                          <a:latin typeface="EYInterstate Light" pitchFamily="2" charset="0"/>
                        </a:rPr>
                        <a:t>Project Complete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1000" b="0" i="0" u="none" strike="noStrike" cap="none" normalizeH="0" baseline="0" dirty="0" smtClean="0">
                          <a:ln>
                            <a:noFill/>
                          </a:ln>
                          <a:solidFill>
                            <a:srgbClr val="646464"/>
                          </a:solidFill>
                          <a:effectLst/>
                          <a:latin typeface="EYInterstate Light" pitchFamily="2" charset="0"/>
                        </a:rPr>
                        <a:t>5/9/2012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1000" b="0" i="0" u="none" strike="noStrike" cap="none" normalizeH="0" baseline="0" dirty="0" smtClean="0">
                          <a:ln>
                            <a:noFill/>
                          </a:ln>
                          <a:solidFill>
                            <a:schemeClr val="tx1"/>
                          </a:solidFill>
                          <a:effectLst/>
                          <a:latin typeface="EYInterstate Light" pitchFamily="2" charset="0"/>
                        </a:rPr>
                        <a:t>4/20/12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10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10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D200"/>
                    </a:solidFill>
                  </a:tcPr>
                </a:tc>
              </a:tr>
            </a:tbl>
          </a:graphicData>
        </a:graphic>
      </p:graphicFrame>
      <p:graphicFrame>
        <p:nvGraphicFramePr>
          <p:cNvPr id="15" name="Group 270"/>
          <p:cNvGraphicFramePr>
            <a:graphicFrameLocks noGrp="1"/>
          </p:cNvGraphicFramePr>
          <p:nvPr>
            <p:extLst>
              <p:ext uri="{D42A27DB-BD31-4B8C-83A1-F6EECF244321}">
                <p14:modId xmlns:p14="http://schemas.microsoft.com/office/powerpoint/2010/main" xmlns="" val="2507027025"/>
              </p:ext>
            </p:extLst>
          </p:nvPr>
        </p:nvGraphicFramePr>
        <p:xfrm>
          <a:off x="7380312" y="21570"/>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accent3"/>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D200"/>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xmlns="" val="1811168864"/>
              </p:ext>
            </p:extLst>
          </p:nvPr>
        </p:nvGraphicFramePr>
        <p:xfrm>
          <a:off x="4433673" y="3962400"/>
          <a:ext cx="4640570" cy="935538"/>
        </p:xfrm>
        <a:graphic>
          <a:graphicData uri="http://schemas.openxmlformats.org/drawingml/2006/table">
            <a:tbl>
              <a:tblPr/>
              <a:tblGrid>
                <a:gridCol w="2242213"/>
                <a:gridCol w="2398357"/>
              </a:tblGrid>
              <a:tr h="138113">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EYInterstate" pitchFamily="2" charset="0"/>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38113">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200" b="1" i="0" u="none" strike="noStrike" cap="none" normalizeH="0" baseline="0" dirty="0" smtClean="0">
                          <a:ln>
                            <a:noFill/>
                          </a:ln>
                          <a:solidFill>
                            <a:schemeClr val="bg2"/>
                          </a:solidFill>
                          <a:effectLst/>
                          <a:latin typeface="EYInterstate Light" pitchFamily="2" charset="0"/>
                        </a:rPr>
                        <a:t>Mitigating Action</a:t>
                      </a:r>
                      <a:endParaRPr kumimoji="0" lang="en-US" sz="1200" b="0" i="0" u="none" strike="noStrike" cap="none" normalizeH="0" baseline="0" dirty="0" smtClean="0">
                        <a:ln>
                          <a:noFill/>
                        </a:ln>
                        <a:solidFill>
                          <a:schemeClr val="bg2"/>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996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000" b="0" i="0" u="none" strike="noStrike" cap="none" normalizeH="0" baseline="0" dirty="0" err="1" smtClean="0">
                          <a:ln>
                            <a:noFill/>
                          </a:ln>
                          <a:solidFill>
                            <a:srgbClr val="646464"/>
                          </a:solidFill>
                          <a:effectLst/>
                          <a:latin typeface="EYInterstate Light" pitchFamily="2" charset="0"/>
                        </a:rPr>
                        <a:t>EY.Dev</a:t>
                      </a:r>
                      <a:endParaRPr kumimoji="0" lang="en-US" sz="10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1000" b="0" i="0" u="none" strike="noStrike" cap="none" normalizeH="0" baseline="0" dirty="0" smtClean="0">
                          <a:ln>
                            <a:noFill/>
                          </a:ln>
                          <a:solidFill>
                            <a:srgbClr val="646464"/>
                          </a:solidFill>
                          <a:effectLst/>
                          <a:latin typeface="EYInterstate Light" pitchFamily="2" charset="0"/>
                        </a:rPr>
                        <a:t>Adrian to get environment setup though other workstreams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xmlns="" val="2231844109"/>
              </p:ext>
            </p:extLst>
          </p:nvPr>
        </p:nvGraphicFramePr>
        <p:xfrm>
          <a:off x="-2459" y="5402765"/>
          <a:ext cx="4355123" cy="892932"/>
        </p:xfrm>
        <a:graphic>
          <a:graphicData uri="http://schemas.openxmlformats.org/drawingml/2006/table">
            <a:tbl>
              <a:tblPr/>
              <a:tblGrid>
                <a:gridCol w="4355123"/>
              </a:tblGrid>
              <a:tr h="21024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EYInterstate" pitchFamily="2" charset="0"/>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1839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000" b="0" i="0" u="none" strike="noStrike" cap="none" normalizeH="0" baseline="0" dirty="0" smtClean="0">
                          <a:ln>
                            <a:noFill/>
                          </a:ln>
                          <a:solidFill>
                            <a:srgbClr val="646464"/>
                          </a:solidFill>
                          <a:effectLst/>
                          <a:latin typeface="EYInterstate Light" pitchFamily="2" charset="0"/>
                        </a:rPr>
                        <a:t>Dates do not reflect O365 planning yet.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1000" b="0" i="0" u="none" strike="noStrike" cap="none" normalizeH="0" baseline="0" dirty="0" smtClean="0">
                          <a:ln>
                            <a:noFill/>
                          </a:ln>
                          <a:solidFill>
                            <a:srgbClr val="646464"/>
                          </a:solidFill>
                          <a:effectLst/>
                          <a:latin typeface="EYInterstate Light" pitchFamily="2" charset="0"/>
                        </a:rPr>
                        <a:t>Project delayed due to O365 planning and EY </a:t>
                      </a:r>
                      <a:r>
                        <a:rPr kumimoji="0" lang="en-US" sz="1000" b="0" i="0" u="none" strike="noStrike" cap="none" normalizeH="0" baseline="0" dirty="0" err="1" smtClean="0">
                          <a:ln>
                            <a:noFill/>
                          </a:ln>
                          <a:solidFill>
                            <a:srgbClr val="646464"/>
                          </a:solidFill>
                          <a:effectLst/>
                          <a:latin typeface="EYInterstate Light" pitchFamily="2" charset="0"/>
                        </a:rPr>
                        <a:t>Dev</a:t>
                      </a:r>
                      <a:r>
                        <a:rPr kumimoji="0" lang="en-US" sz="1000" b="0" i="0" u="none" strike="noStrike" cap="none" normalizeH="0" baseline="0" dirty="0" smtClean="0">
                          <a:ln>
                            <a:noFill/>
                          </a:ln>
                          <a:solidFill>
                            <a:srgbClr val="646464"/>
                          </a:solidFill>
                          <a:effectLst/>
                          <a:latin typeface="EYInterstate Light" pitchFamily="2" charset="0"/>
                        </a:rPr>
                        <a:t> environment availability</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0" y="6390185"/>
            <a:ext cx="8964489" cy="540206"/>
            <a:chOff x="0" y="6505545"/>
            <a:chExt cx="9711531" cy="540206"/>
          </a:xfrm>
        </p:grpSpPr>
        <p:sp>
          <p:nvSpPr>
            <p:cNvPr id="21" name="TextBox 20"/>
            <p:cNvSpPr txBox="1"/>
            <p:nvPr/>
          </p:nvSpPr>
          <p:spPr bwMode="gray">
            <a:xfrm>
              <a:off x="1639689" y="6576570"/>
              <a:ext cx="2611235"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hangingPunct="0">
                <a:spcAft>
                  <a:spcPts val="0"/>
                </a:spcAft>
              </a:pPr>
              <a:r>
                <a:rPr lang="en-US" sz="500" b="1" dirty="0" smtClean="0">
                  <a:solidFill>
                    <a:srgbClr val="646464"/>
                  </a:solidFill>
                  <a:latin typeface="EYInterstate Light" pitchFamily="2" charset="0"/>
                </a:rPr>
                <a:t>Fully achieved</a:t>
              </a:r>
              <a:endParaRPr lang="en-GB" sz="500" b="1" kern="0" dirty="0" smtClean="0">
                <a:solidFill>
                  <a:srgbClr val="646464"/>
                </a:solidFill>
                <a:latin typeface="EYInterstate"/>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hangingPunct="0">
                <a:spcAft>
                  <a:spcPts val="0"/>
                </a:spcAft>
              </a:pPr>
              <a:r>
                <a:rPr lang="en-US" sz="500" dirty="0" smtClean="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smtClean="0">
                <a:solidFill>
                  <a:srgbClr val="646464"/>
                </a:solidFill>
                <a:latin typeface="EYInterstate"/>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defTabSz="955675" eaLnBrk="0" hangingPunct="0">
              <a:spcAft>
                <a:spcPts val="0"/>
              </a:spcAft>
              <a:defRPr/>
            </a:pPr>
            <a:r>
              <a:rPr lang="en-US" sz="1600" b="1" kern="0" dirty="0">
                <a:solidFill>
                  <a:srgbClr val="646464"/>
                </a:solidFill>
                <a:latin typeface="EYInterstate"/>
              </a:rPr>
              <a:t>EY Messaging &amp; Collaboration Program – </a:t>
            </a:r>
            <a:r>
              <a:rPr lang="en-US" sz="1600" b="1" kern="0" dirty="0" smtClean="0">
                <a:solidFill>
                  <a:srgbClr val="646464"/>
                </a:solidFill>
                <a:latin typeface="EYInterstate"/>
              </a:rPr>
              <a:t>Week 14: Friday, February 3</a:t>
            </a:r>
            <a:r>
              <a:rPr lang="en-US" sz="1600" b="1" kern="0" baseline="30000" dirty="0" smtClean="0">
                <a:solidFill>
                  <a:srgbClr val="646464"/>
                </a:solidFill>
                <a:latin typeface="EYInterstate"/>
              </a:rPr>
              <a:t>rd</a:t>
            </a:r>
            <a:r>
              <a:rPr lang="en-US" sz="1600" b="1" kern="0" dirty="0" smtClean="0">
                <a:solidFill>
                  <a:srgbClr val="646464"/>
                </a:solidFill>
                <a:latin typeface="EYInterstate"/>
              </a:rPr>
              <a:t> , 2012: Identity Workstream</a:t>
            </a:r>
            <a:endParaRPr lang="en-US" sz="1600" b="1" kern="0" dirty="0">
              <a:solidFill>
                <a:srgbClr val="646464"/>
              </a:solidFill>
              <a:latin typeface="EYInterstate"/>
            </a:endParaRPr>
          </a:p>
        </p:txBody>
      </p:sp>
    </p:spTree>
    <p:extLst>
      <p:ext uri="{BB962C8B-B14F-4D97-AF65-F5344CB8AC3E}">
        <p14:creationId xmlns:p14="http://schemas.microsoft.com/office/powerpoint/2010/main" xmlns="" val="173952712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xmlns="" val="3341422443"/>
              </p:ext>
            </p:extLst>
          </p:nvPr>
        </p:nvGraphicFramePr>
        <p:xfrm>
          <a:off x="75619" y="1484785"/>
          <a:ext cx="4355123" cy="4554935"/>
        </p:xfrm>
        <a:graphic>
          <a:graphicData uri="http://schemas.openxmlformats.org/drawingml/2006/table">
            <a:tbl>
              <a:tblPr/>
              <a:tblGrid>
                <a:gridCol w="4355123"/>
              </a:tblGrid>
              <a:tr h="145357">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512781">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p>
                      <a:pPr marL="342900" marR="0" lvl="0" indent="-342900">
                        <a:lnSpc>
                          <a:spcPct val="115000"/>
                        </a:lnSpc>
                        <a:spcBef>
                          <a:spcPts val="0"/>
                        </a:spcBef>
                        <a:spcAft>
                          <a:spcPts val="0"/>
                        </a:spcAft>
                        <a:buClr>
                          <a:srgbClr val="4F81BD"/>
                        </a:buClr>
                        <a:buSzPct val="100000"/>
                        <a:buFont typeface="Arial" pitchFamily="34" charset="0"/>
                        <a:buChar char="•"/>
                        <a:tabLst>
                          <a:tab pos="144145" algn="l"/>
                        </a:tabLst>
                      </a:pPr>
                      <a:r>
                        <a:rPr lang="en-AU" sz="700" baseline="0" dirty="0" smtClean="0">
                          <a:effectLst/>
                          <a:latin typeface="EYInterstate Light"/>
                          <a:ea typeface="Arial"/>
                          <a:cs typeface="Times New Roman"/>
                        </a:rPr>
                        <a:t>Drove joint technical meetings with EY several times this week. Set priorities and target dates for key action items from the team discussions.</a:t>
                      </a:r>
                    </a:p>
                    <a:p>
                      <a:pPr marL="342900" marR="0" lvl="0" indent="-342900">
                        <a:lnSpc>
                          <a:spcPct val="115000"/>
                        </a:lnSpc>
                        <a:spcBef>
                          <a:spcPts val="0"/>
                        </a:spcBef>
                        <a:spcAft>
                          <a:spcPts val="0"/>
                        </a:spcAft>
                        <a:buClr>
                          <a:srgbClr val="4F81BD"/>
                        </a:buClr>
                        <a:buSzPct val="100000"/>
                        <a:buFont typeface="Arial" pitchFamily="34" charset="0"/>
                        <a:buChar char="•"/>
                        <a:tabLst>
                          <a:tab pos="144145" algn="l"/>
                        </a:tabLst>
                      </a:pPr>
                      <a:r>
                        <a:rPr lang="en-US" sz="700" baseline="0" dirty="0" smtClean="0">
                          <a:effectLst/>
                          <a:latin typeface="EYInterstate Light"/>
                          <a:ea typeface="Arial"/>
                          <a:cs typeface="Times New Roman"/>
                        </a:rPr>
                        <a:t>Continued work on the </a:t>
                      </a:r>
                      <a:r>
                        <a:rPr kumimoji="0" lang="en-US" sz="700" b="0" i="0" u="none" strike="noStrike" cap="none" normalizeH="0" baseline="0" dirty="0" smtClean="0">
                          <a:ln>
                            <a:noFill/>
                          </a:ln>
                          <a:solidFill>
                            <a:schemeClr val="tx1"/>
                          </a:solidFill>
                          <a:effectLst/>
                          <a:latin typeface="EYInterstate Light" pitchFamily="2" charset="0"/>
                        </a:rPr>
                        <a:t>Coexistence and Migration Strategy Second Draft in support of the joint team remote review scheduled for Jan 30. As described above the Jan 30 meeting was cancelled by the EY </a:t>
                      </a:r>
                      <a:r>
                        <a:rPr kumimoji="0" lang="en-US" sz="700" b="0" i="0" u="none" strike="noStrike" cap="none" normalizeH="0" baseline="0" dirty="0" err="1" smtClean="0">
                          <a:ln>
                            <a:noFill/>
                          </a:ln>
                          <a:solidFill>
                            <a:schemeClr val="tx1"/>
                          </a:solidFill>
                          <a:effectLst/>
                          <a:latin typeface="EYInterstate Light" pitchFamily="2" charset="0"/>
                        </a:rPr>
                        <a:t>PjM</a:t>
                      </a:r>
                      <a:r>
                        <a:rPr kumimoji="0" lang="en-US" sz="700" b="0" i="0" u="none" strike="noStrike" cap="none" normalizeH="0" baseline="0" dirty="0" smtClean="0">
                          <a:ln>
                            <a:noFill/>
                          </a:ln>
                          <a:solidFill>
                            <a:schemeClr val="tx1"/>
                          </a:solidFill>
                          <a:effectLst/>
                          <a:latin typeface="EYInterstate Light" pitchFamily="2" charset="0"/>
                        </a:rPr>
                        <a:t>.</a:t>
                      </a:r>
                    </a:p>
                    <a:p>
                      <a:pPr marL="342900" marR="0" lvl="0" indent="-342900" algn="l" defTabSz="914400" rtl="0" eaLnBrk="1" fontAlgn="auto" latinLnBrk="0" hangingPunct="1">
                        <a:lnSpc>
                          <a:spcPct val="115000"/>
                        </a:lnSpc>
                        <a:spcBef>
                          <a:spcPts val="0"/>
                        </a:spcBef>
                        <a:spcAft>
                          <a:spcPts val="0"/>
                        </a:spcAft>
                        <a:buClr>
                          <a:srgbClr val="4F81BD"/>
                        </a:buClr>
                        <a:buSzPct val="100000"/>
                        <a:buFont typeface="Arial" pitchFamily="34" charset="0"/>
                        <a:buChar char="•"/>
                        <a:tabLst>
                          <a:tab pos="144145" algn="l"/>
                        </a:tabLst>
                        <a:defRPr/>
                      </a:pPr>
                      <a:r>
                        <a:rPr lang="en-US" sz="700" baseline="0" dirty="0" smtClean="0">
                          <a:effectLst/>
                          <a:latin typeface="EYInterstate Light"/>
                          <a:ea typeface="Arial"/>
                          <a:cs typeface="Times New Roman"/>
                        </a:rPr>
                        <a:t>Worked on the Functional Test Plan Work Product. This will be submitted to EY next period.</a:t>
                      </a:r>
                    </a:p>
                    <a:p>
                      <a:pPr marL="342900" marR="0" lvl="0" indent="-342900" algn="l" defTabSz="914400" rtl="0" eaLnBrk="1" fontAlgn="auto" latinLnBrk="0" hangingPunct="1">
                        <a:lnSpc>
                          <a:spcPct val="115000"/>
                        </a:lnSpc>
                        <a:spcBef>
                          <a:spcPts val="0"/>
                        </a:spcBef>
                        <a:spcAft>
                          <a:spcPts val="0"/>
                        </a:spcAft>
                        <a:buClr>
                          <a:srgbClr val="4F81BD"/>
                        </a:buClr>
                        <a:buSzPct val="100000"/>
                        <a:buFont typeface="Arial" pitchFamily="34" charset="0"/>
                        <a:buChar char="•"/>
                        <a:tabLst>
                          <a:tab pos="144145" algn="l"/>
                        </a:tabLst>
                        <a:defRPr/>
                      </a:pPr>
                      <a:r>
                        <a:rPr lang="en-US" sz="700" baseline="0" dirty="0" smtClean="0">
                          <a:effectLst/>
                          <a:latin typeface="EYInterstate Light"/>
                          <a:ea typeface="Arial"/>
                          <a:cs typeface="Times New Roman"/>
                        </a:rPr>
                        <a:t>Provided technical oversight to all technical team members, including members from </a:t>
                      </a:r>
                      <a:r>
                        <a:rPr lang="en-US" sz="700" baseline="0" dirty="0" err="1" smtClean="0">
                          <a:effectLst/>
                          <a:latin typeface="EYInterstate Light"/>
                          <a:ea typeface="Arial"/>
                          <a:cs typeface="Times New Roman"/>
                        </a:rPr>
                        <a:t>BinaryTree</a:t>
                      </a:r>
                      <a:r>
                        <a:rPr lang="en-US" sz="700" baseline="0" dirty="0" smtClean="0">
                          <a:effectLst/>
                          <a:latin typeface="EYInterstate Light"/>
                          <a:ea typeface="Arial"/>
                          <a:cs typeface="Times New Roman"/>
                        </a:rPr>
                        <a:t> .</a:t>
                      </a:r>
                    </a:p>
                    <a:p>
                      <a:pPr marL="342900" marR="0" lvl="0" indent="-342900">
                        <a:lnSpc>
                          <a:spcPct val="115000"/>
                        </a:lnSpc>
                        <a:spcBef>
                          <a:spcPts val="0"/>
                        </a:spcBef>
                        <a:spcAft>
                          <a:spcPts val="0"/>
                        </a:spcAft>
                        <a:buClr>
                          <a:srgbClr val="4F81BD"/>
                        </a:buClr>
                        <a:buSzPct val="100000"/>
                        <a:buFont typeface="Arial" pitchFamily="34" charset="0"/>
                        <a:buChar char="•"/>
                        <a:tabLst>
                          <a:tab pos="144145" algn="l"/>
                        </a:tabLst>
                      </a:pPr>
                      <a:r>
                        <a:rPr lang="en-US" sz="700" baseline="0" dirty="0" smtClean="0">
                          <a:effectLst/>
                          <a:latin typeface="EYInterstate Light"/>
                          <a:ea typeface="Arial"/>
                          <a:cs typeface="Times New Roman"/>
                        </a:rPr>
                        <a:t>Participated in joint EY/MS discussions and preparations held in London for understanding immediate next steps for O365 processes, identifying gaps between current services and O365 delivery, and identifying areas requiring rework due to addition of Cloud requirements.</a:t>
                      </a:r>
                    </a:p>
                    <a:p>
                      <a:pPr marL="342900" marR="0" lvl="0" indent="-342900" algn="l" defTabSz="914400" rtl="0" eaLnBrk="1" fontAlgn="auto" latinLnBrk="0" hangingPunct="1">
                        <a:lnSpc>
                          <a:spcPct val="115000"/>
                        </a:lnSpc>
                        <a:spcBef>
                          <a:spcPts val="0"/>
                        </a:spcBef>
                        <a:spcAft>
                          <a:spcPts val="0"/>
                        </a:spcAft>
                        <a:buClr>
                          <a:srgbClr val="4F81BD"/>
                        </a:buClr>
                        <a:buSzPct val="100000"/>
                        <a:buFont typeface="Arial" pitchFamily="34" charset="0"/>
                        <a:buChar char="•"/>
                        <a:tabLst>
                          <a:tab pos="144145" algn="l"/>
                        </a:tabLst>
                        <a:defRPr/>
                      </a:pPr>
                      <a:r>
                        <a:rPr kumimoji="0" lang="en-US" sz="700" b="0" i="0" u="none" strike="noStrike" cap="none" normalizeH="0" baseline="0" dirty="0" smtClean="0">
                          <a:ln>
                            <a:noFill/>
                          </a:ln>
                          <a:solidFill>
                            <a:schemeClr val="tx1"/>
                          </a:solidFill>
                          <a:effectLst/>
                          <a:latin typeface="EYInterstate Light" pitchFamily="2" charset="0"/>
                        </a:rPr>
                        <a:t>Clarified scope and exact EY requirements for the Activities and Work Products identified in the Messaging SOW. The MS and EY </a:t>
                      </a:r>
                      <a:r>
                        <a:rPr kumimoji="0" lang="en-US" sz="700" b="0" i="0" u="none" strike="noStrike" cap="none" normalizeH="0" baseline="0" dirty="0" err="1" smtClean="0">
                          <a:ln>
                            <a:noFill/>
                          </a:ln>
                          <a:solidFill>
                            <a:schemeClr val="tx1"/>
                          </a:solidFill>
                          <a:effectLst/>
                          <a:latin typeface="EYInterstate Light" pitchFamily="2" charset="0"/>
                        </a:rPr>
                        <a:t>PjM</a:t>
                      </a:r>
                      <a:r>
                        <a:rPr kumimoji="0" lang="en-US" sz="700" b="0" i="0" u="none" strike="noStrike" cap="none" normalizeH="0" baseline="0" dirty="0" smtClean="0">
                          <a:ln>
                            <a:noFill/>
                          </a:ln>
                          <a:solidFill>
                            <a:schemeClr val="tx1"/>
                          </a:solidFill>
                          <a:effectLst/>
                          <a:latin typeface="EYInterstate Light" pitchFamily="2" charset="0"/>
                        </a:rPr>
                        <a:t> and EY Lead Architect discussed these items and will formally document the EY requirements.</a:t>
                      </a:r>
                    </a:p>
                    <a:p>
                      <a:pPr marL="342900" marR="0" lvl="0" indent="-342900" algn="l" defTabSz="914400" rtl="0" eaLnBrk="1" fontAlgn="auto" latinLnBrk="0" hangingPunct="1">
                        <a:lnSpc>
                          <a:spcPct val="115000"/>
                        </a:lnSpc>
                        <a:spcBef>
                          <a:spcPts val="0"/>
                        </a:spcBef>
                        <a:spcAft>
                          <a:spcPts val="0"/>
                        </a:spcAft>
                        <a:buClr>
                          <a:srgbClr val="4F81BD"/>
                        </a:buClr>
                        <a:buSzPct val="100000"/>
                        <a:buFont typeface="Arial" pitchFamily="34" charset="0"/>
                        <a:buChar char="•"/>
                        <a:tabLst>
                          <a:tab pos="144145" algn="l"/>
                        </a:tabLst>
                        <a:defRPr/>
                      </a:pPr>
                      <a:r>
                        <a:rPr kumimoji="0" lang="en-US" sz="700" b="0" i="0" u="none" strike="noStrike" cap="none" normalizeH="0" baseline="0" dirty="0" smtClean="0">
                          <a:ln>
                            <a:noFill/>
                          </a:ln>
                          <a:solidFill>
                            <a:schemeClr val="tx1"/>
                          </a:solidFill>
                          <a:effectLst/>
                          <a:latin typeface="EYInterstate Light" pitchFamily="2" charset="0"/>
                        </a:rPr>
                        <a:t>Completed the data and security ports diagram and sent to EY for review</a:t>
                      </a:r>
                    </a:p>
                    <a:p>
                      <a:pPr marL="342900" marR="0" lvl="0" indent="-342900" algn="l" defTabSz="914400" rtl="0" eaLnBrk="1" fontAlgn="auto" latinLnBrk="0" hangingPunct="1">
                        <a:lnSpc>
                          <a:spcPct val="115000"/>
                        </a:lnSpc>
                        <a:spcBef>
                          <a:spcPts val="0"/>
                        </a:spcBef>
                        <a:spcAft>
                          <a:spcPts val="0"/>
                        </a:spcAft>
                        <a:buClr>
                          <a:srgbClr val="4F81BD"/>
                        </a:buClr>
                        <a:buSzPct val="100000"/>
                        <a:buFont typeface="Arial" pitchFamily="34" charset="0"/>
                        <a:buChar char="•"/>
                        <a:tabLst>
                          <a:tab pos="144145" algn="l"/>
                        </a:tabLst>
                        <a:defRPr/>
                      </a:pPr>
                      <a:r>
                        <a:rPr kumimoji="0" lang="en-US" sz="700" b="0" i="0" u="none" strike="noStrike" cap="none" normalizeH="0" baseline="0" dirty="0" smtClean="0">
                          <a:ln>
                            <a:noFill/>
                          </a:ln>
                          <a:solidFill>
                            <a:schemeClr val="tx1"/>
                          </a:solidFill>
                          <a:effectLst/>
                          <a:latin typeface="EYInterstate Light" pitchFamily="2" charset="0"/>
                        </a:rPr>
                        <a:t>Worked on the Functional Specification First Draft in the areas of Server Role, Client Access, Address Lists, Hub Transport, High Availability, Storage Design and Information Protection &amp; Control.</a:t>
                      </a:r>
                    </a:p>
                    <a:p>
                      <a:pPr marL="342900" marR="0" lvl="0" indent="-342900" algn="l" defTabSz="914400" rtl="0" eaLnBrk="1" fontAlgn="auto" latinLnBrk="0" hangingPunct="1">
                        <a:lnSpc>
                          <a:spcPct val="115000"/>
                        </a:lnSpc>
                        <a:spcBef>
                          <a:spcPts val="0"/>
                        </a:spcBef>
                        <a:spcAft>
                          <a:spcPts val="0"/>
                        </a:spcAft>
                        <a:buClr>
                          <a:srgbClr val="4F81BD"/>
                        </a:buClr>
                        <a:buSzPct val="100000"/>
                        <a:buFont typeface="Arial" pitchFamily="34" charset="0"/>
                        <a:buChar char="•"/>
                        <a:tabLst>
                          <a:tab pos="144145" algn="l"/>
                        </a:tabLst>
                        <a:defRPr/>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5357">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2851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EY Business Authority and Alignment Workshop (this is owned by EY and must be scheduled by EY, MS does not own this, MS role is only assist). The MS and EY </a:t>
                      </a:r>
                      <a:r>
                        <a:rPr kumimoji="0" lang="en-US" sz="700" b="0" i="0" u="none" strike="noStrike" cap="none" normalizeH="0" baseline="0" dirty="0" err="1" smtClean="0">
                          <a:ln>
                            <a:noFill/>
                          </a:ln>
                          <a:solidFill>
                            <a:schemeClr val="tx1"/>
                          </a:solidFill>
                          <a:effectLst/>
                          <a:latin typeface="EYInterstate Light" pitchFamily="2" charset="0"/>
                        </a:rPr>
                        <a:t>PjMs</a:t>
                      </a:r>
                      <a:r>
                        <a:rPr kumimoji="0" lang="en-US" sz="700" b="0" i="0" u="none" strike="noStrike" cap="none" normalizeH="0" baseline="0" dirty="0" smtClean="0">
                          <a:ln>
                            <a:noFill/>
                          </a:ln>
                          <a:solidFill>
                            <a:schemeClr val="tx1"/>
                          </a:solidFill>
                          <a:effectLst/>
                          <a:latin typeface="EYInterstate Light" pitchFamily="2" charset="0"/>
                        </a:rPr>
                        <a:t> discussed this in this period. The EY </a:t>
                      </a:r>
                      <a:r>
                        <a:rPr kumimoji="0" lang="en-US" sz="700" b="0" i="0" u="none" strike="noStrike" cap="none" normalizeH="0" baseline="0" dirty="0" err="1" smtClean="0">
                          <a:ln>
                            <a:noFill/>
                          </a:ln>
                          <a:solidFill>
                            <a:schemeClr val="tx1"/>
                          </a:solidFill>
                          <a:effectLst/>
                          <a:latin typeface="EYInterstate Light" pitchFamily="2" charset="0"/>
                        </a:rPr>
                        <a:t>PjM</a:t>
                      </a:r>
                      <a:r>
                        <a:rPr kumimoji="0" lang="en-US" sz="700" b="0" i="0" u="none" strike="noStrike" cap="none" normalizeH="0" baseline="0" dirty="0" smtClean="0">
                          <a:ln>
                            <a:noFill/>
                          </a:ln>
                          <a:solidFill>
                            <a:schemeClr val="tx1"/>
                          </a:solidFill>
                          <a:effectLst/>
                          <a:latin typeface="EYInterstate Light" pitchFamily="2" charset="0"/>
                        </a:rPr>
                        <a:t> directed that this item is no longer required and will formally document this in an email to the MS </a:t>
                      </a:r>
                      <a:r>
                        <a:rPr kumimoji="0" lang="en-US" sz="700" b="0" i="0" u="none" strike="noStrike" cap="none" normalizeH="0" baseline="0" dirty="0" err="1" smtClean="0">
                          <a:ln>
                            <a:noFill/>
                          </a:ln>
                          <a:solidFill>
                            <a:schemeClr val="tx1"/>
                          </a:solidFill>
                          <a:effectLst/>
                          <a:latin typeface="EYInterstate Light" pitchFamily="2" charset="0"/>
                        </a:rPr>
                        <a:t>PjM</a:t>
                      </a:r>
                      <a:r>
                        <a:rPr kumimoji="0" lang="en-US" sz="700" b="0" i="0" u="none" strike="noStrike" cap="none" normalizeH="0" baseline="0" dirty="0" smtClean="0">
                          <a:ln>
                            <a:noFill/>
                          </a:ln>
                          <a:solidFill>
                            <a:schemeClr val="tx1"/>
                          </a:solidFill>
                          <a:effectLst/>
                          <a:latin typeface="EYInterstate Light" pitchFamily="2" charset="0"/>
                        </a:rPr>
                        <a:t> and PMO.</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71184">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873269">
                <a:tc>
                  <a:txBody>
                    <a:bodyPr/>
                    <a:lstStyle/>
                    <a:p>
                      <a:pPr marL="0" marR="0" lvl="0" indent="-3143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Submit the Messaging Functional Test Plan work product on schedule.</a:t>
                      </a:r>
                    </a:p>
                    <a:p>
                      <a:pPr marL="0" marR="0" lvl="0" indent="-3143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Continue work on the full Functional Specification First Draft document. This document is scheduled for submission to EY on Feb 14. Until a CR has been accepted by EY to </a:t>
                      </a:r>
                      <a:r>
                        <a:rPr kumimoji="0" lang="en-US" sz="700" b="0" i="0" u="none" strike="noStrike" cap="none" normalizeH="0" baseline="0" dirty="0" err="1" smtClean="0">
                          <a:ln>
                            <a:noFill/>
                          </a:ln>
                          <a:solidFill>
                            <a:schemeClr val="tx1"/>
                          </a:solidFill>
                          <a:effectLst/>
                          <a:latin typeface="EYInterstate Light" pitchFamily="2" charset="0"/>
                        </a:rPr>
                        <a:t>replan</a:t>
                      </a:r>
                      <a:r>
                        <a:rPr kumimoji="0" lang="en-US" sz="700" b="0" i="0" u="none" strike="noStrike" cap="none" normalizeH="0" baseline="0" dirty="0" smtClean="0">
                          <a:ln>
                            <a:noFill/>
                          </a:ln>
                          <a:solidFill>
                            <a:schemeClr val="tx1"/>
                          </a:solidFill>
                          <a:effectLst/>
                          <a:latin typeface="EYInterstate Light" pitchFamily="2" charset="0"/>
                        </a:rPr>
                        <a:t> this document, the currently planned schedule dates will </a:t>
                      </a:r>
                      <a:r>
                        <a:rPr kumimoji="0" lang="en-US" sz="700" b="0" i="0" u="none" strike="noStrike" cap="none" normalizeH="0" baseline="0" smtClean="0">
                          <a:ln>
                            <a:noFill/>
                          </a:ln>
                          <a:solidFill>
                            <a:schemeClr val="tx1"/>
                          </a:solidFill>
                          <a:effectLst/>
                          <a:latin typeface="EYInterstate Light" pitchFamily="2" charset="0"/>
                        </a:rPr>
                        <a:t>be followed.</a:t>
                      </a: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3143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a:cs typeface="Times New Roman"/>
                        </a:rPr>
                        <a:t>Begin work on a Change Request (CR0026) to address the </a:t>
                      </a:r>
                      <a:r>
                        <a:rPr kumimoji="0" lang="en-US" sz="700" b="0" i="0" u="none" strike="noStrike" cap="none" normalizeH="0" baseline="0" dirty="0" err="1" smtClean="0">
                          <a:ln>
                            <a:noFill/>
                          </a:ln>
                          <a:solidFill>
                            <a:schemeClr val="tx1"/>
                          </a:solidFill>
                          <a:effectLst/>
                          <a:latin typeface="EYInterstate Light"/>
                          <a:cs typeface="Times New Roman"/>
                        </a:rPr>
                        <a:t>replanning</a:t>
                      </a:r>
                      <a:r>
                        <a:rPr kumimoji="0" lang="en-US" sz="700" b="0" i="0" u="none" strike="noStrike" cap="none" normalizeH="0" baseline="0" dirty="0" smtClean="0">
                          <a:ln>
                            <a:noFill/>
                          </a:ln>
                          <a:solidFill>
                            <a:schemeClr val="tx1"/>
                          </a:solidFill>
                          <a:effectLst/>
                          <a:latin typeface="EYInterstate Light"/>
                          <a:cs typeface="Times New Roman"/>
                        </a:rPr>
                        <a:t> and </a:t>
                      </a:r>
                      <a:r>
                        <a:rPr kumimoji="0" lang="en-US" sz="700" b="0" i="0" u="none" strike="noStrike" cap="none" normalizeH="0" baseline="0" dirty="0" err="1" smtClean="0">
                          <a:ln>
                            <a:noFill/>
                          </a:ln>
                          <a:solidFill>
                            <a:schemeClr val="tx1"/>
                          </a:solidFill>
                          <a:effectLst/>
                          <a:latin typeface="EYInterstate Light"/>
                          <a:cs typeface="Times New Roman"/>
                        </a:rPr>
                        <a:t>rescoping</a:t>
                      </a:r>
                      <a:r>
                        <a:rPr kumimoji="0" lang="en-US" sz="700" b="0" i="0" u="none" strike="noStrike" cap="none" normalizeH="0" baseline="0" dirty="0" smtClean="0">
                          <a:ln>
                            <a:noFill/>
                          </a:ln>
                          <a:solidFill>
                            <a:schemeClr val="tx1"/>
                          </a:solidFill>
                          <a:effectLst/>
                          <a:latin typeface="EYInterstate Light"/>
                          <a:cs typeface="Times New Roman"/>
                        </a:rPr>
                        <a:t> of the Functional Specification and Coexistence &amp; Migration Strategy documents.</a:t>
                      </a: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3143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Continue discussion with EY Operations Consulting group on MS Ops Consulting Exchange offerings. It is important that the O365D discussions in London next week provide guidance on the EY requirements for the Ops Consulting activity included in the Messaging SOW. </a:t>
                      </a:r>
                      <a:r>
                        <a:rPr kumimoji="0" lang="en-US" sz="700" b="0" i="0" u="none" strike="noStrike" cap="none" normalizeH="0" baseline="0" dirty="0" err="1" smtClean="0">
                          <a:ln>
                            <a:noFill/>
                          </a:ln>
                          <a:solidFill>
                            <a:schemeClr val="tx1"/>
                          </a:solidFill>
                          <a:effectLst/>
                          <a:latin typeface="EYInterstate Light" pitchFamily="2" charset="0"/>
                        </a:rPr>
                        <a:t>Jeroen</a:t>
                      </a:r>
                      <a:r>
                        <a:rPr kumimoji="0" lang="en-US" sz="700" b="0" i="0" u="none" strike="noStrike" cap="none" normalizeH="0" baseline="0" dirty="0" smtClean="0">
                          <a:ln>
                            <a:noFill/>
                          </a:ln>
                          <a:solidFill>
                            <a:schemeClr val="tx1"/>
                          </a:solidFill>
                          <a:effectLst/>
                          <a:latin typeface="EYInterstate Light" pitchFamily="2" charset="0"/>
                        </a:rPr>
                        <a:t> Shoemaker is the EY point of contact for clarifying EY requirements.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xmlns="" val="3347685008"/>
              </p:ext>
            </p:extLst>
          </p:nvPr>
        </p:nvGraphicFramePr>
        <p:xfrm>
          <a:off x="4674631" y="2204864"/>
          <a:ext cx="4355123" cy="1481630"/>
        </p:xfrm>
        <a:graphic>
          <a:graphicData uri="http://schemas.openxmlformats.org/drawingml/2006/table">
            <a:tbl>
              <a:tblPr/>
              <a:tblGrid>
                <a:gridCol w="2113085"/>
                <a:gridCol w="2242038"/>
              </a:tblGrid>
              <a:tr h="175793">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F.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698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418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O365D impact to Messaging Planning will need to be discussed and will impact Functional Specifications and Coexistence &amp; Migration Strategy delivery and review schedule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A CR will be required to support the additional work associated with incorporating the O365D requirements and </a:t>
                      </a:r>
                      <a:r>
                        <a:rPr kumimoji="0" lang="en-US" sz="700" b="0" i="0" u="none" strike="noStrike" cap="none" normalizeH="0" baseline="0" dirty="0" err="1" smtClean="0">
                          <a:ln>
                            <a:noFill/>
                          </a:ln>
                          <a:solidFill>
                            <a:srgbClr val="646464"/>
                          </a:solidFill>
                          <a:effectLst/>
                          <a:latin typeface="EYInterstate Light" pitchFamily="2" charset="0"/>
                        </a:rPr>
                        <a:t>producting</a:t>
                      </a:r>
                      <a:r>
                        <a:rPr kumimoji="0" lang="en-US" sz="700" b="0" i="0" u="none" strike="noStrike" cap="none" normalizeH="0" baseline="0" dirty="0" smtClean="0">
                          <a:ln>
                            <a:noFill/>
                          </a:ln>
                          <a:solidFill>
                            <a:srgbClr val="646464"/>
                          </a:solidFill>
                          <a:effectLst/>
                          <a:latin typeface="EYInterstate Light" pitchFamily="2" charset="0"/>
                        </a:rPr>
                        <a:t>/review new versions of the documents.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18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rgbClr val="64646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4701">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Scope/Change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Recommended Action /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46771">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WO amendment</a:t>
                      </a: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This is still in process</a:t>
                      </a:r>
                    </a:p>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rgbClr val="FF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4016">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xmlns="" val="2284682664"/>
              </p:ext>
            </p:extLst>
          </p:nvPr>
        </p:nvGraphicFramePr>
        <p:xfrm>
          <a:off x="66999" y="548680"/>
          <a:ext cx="4360985" cy="1241748"/>
        </p:xfrm>
        <a:graphic>
          <a:graphicData uri="http://schemas.openxmlformats.org/drawingml/2006/table">
            <a:tbl>
              <a:tblPr/>
              <a:tblGrid>
                <a:gridCol w="4360985"/>
              </a:tblGrid>
              <a:tr h="85582">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A.  </a:t>
                      </a:r>
                      <a:r>
                        <a:rPr kumimoji="0" lang="en-GB" sz="700" b="1" i="0" u="none" strike="noStrike" cap="none" normalizeH="0" baseline="0" dirty="0" smtClean="0">
                          <a:ln>
                            <a:noFill/>
                          </a:ln>
                          <a:solidFill>
                            <a:schemeClr val="tx1"/>
                          </a:solidFill>
                          <a:effectLst/>
                          <a:latin typeface="EYInterstate" pitchFamily="2" charset="0"/>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EYInterstate" pitchFamily="2" charset="0"/>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4646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0" i="0" u="none" strike="noStrike" cap="none" normalizeH="0" baseline="0" dirty="0" smtClean="0">
                          <a:ln>
                            <a:noFill/>
                          </a:ln>
                          <a:solidFill>
                            <a:schemeClr val="bg2"/>
                          </a:solidFill>
                          <a:effectLst/>
                          <a:latin typeface="EYInterstate Light" pitchFamily="2" charset="0"/>
                        </a:rPr>
                        <a:t>Messaging:</a:t>
                      </a:r>
                    </a:p>
                    <a:p>
                      <a:pPr marL="228600" marR="0" lvl="0" indent="-17145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cap="none" normalizeH="0" baseline="0" dirty="0" smtClean="0">
                          <a:ln>
                            <a:noFill/>
                          </a:ln>
                          <a:solidFill>
                            <a:schemeClr val="tx1"/>
                          </a:solidFill>
                          <a:effectLst/>
                          <a:latin typeface="EYInterstate Light" pitchFamily="2" charset="0"/>
                        </a:rPr>
                        <a:t>Work on the Functional Specification continues on schedule as does work on the Coexistence and Migration Strategy Document.  Both of these are the major deliverables of the contract. The EY and MS project managers defined the schedule for the review cycles, schedule and process for the Functional Specification and Coexistence and Migration Strategy deliverables. In this period, the EY </a:t>
                      </a:r>
                      <a:r>
                        <a:rPr kumimoji="0" lang="en-US" sz="700" b="0" i="0" u="none" strike="noStrike" cap="none" normalizeH="0" baseline="0" dirty="0" err="1" smtClean="0">
                          <a:ln>
                            <a:noFill/>
                          </a:ln>
                          <a:solidFill>
                            <a:schemeClr val="tx1"/>
                          </a:solidFill>
                          <a:effectLst/>
                          <a:latin typeface="EYInterstate Light" pitchFamily="2" charset="0"/>
                        </a:rPr>
                        <a:t>PjM</a:t>
                      </a:r>
                      <a:r>
                        <a:rPr kumimoji="0" lang="en-US" sz="700" b="0" i="0" u="none" strike="noStrike" cap="none" normalizeH="0" baseline="0" dirty="0" smtClean="0">
                          <a:ln>
                            <a:noFill/>
                          </a:ln>
                          <a:solidFill>
                            <a:schemeClr val="tx1"/>
                          </a:solidFill>
                          <a:effectLst/>
                          <a:latin typeface="EYInterstate Light" pitchFamily="2" charset="0"/>
                        </a:rPr>
                        <a:t> cancelled the review meeting for the Coexistence and Migration Strategy Document 2</a:t>
                      </a:r>
                      <a:r>
                        <a:rPr kumimoji="0" lang="en-US" sz="700" b="0" i="0" u="none" strike="noStrike" cap="none" normalizeH="0" baseline="30000" dirty="0" smtClean="0">
                          <a:ln>
                            <a:noFill/>
                          </a:ln>
                          <a:solidFill>
                            <a:schemeClr val="tx1"/>
                          </a:solidFill>
                          <a:effectLst/>
                          <a:latin typeface="EYInterstate Light" pitchFamily="2" charset="0"/>
                        </a:rPr>
                        <a:t>nd</a:t>
                      </a:r>
                      <a:r>
                        <a:rPr kumimoji="0" lang="en-US" sz="700" b="0" i="0" u="none" strike="noStrike" cap="none" normalizeH="0" baseline="0" dirty="0" smtClean="0">
                          <a:ln>
                            <a:noFill/>
                          </a:ln>
                          <a:solidFill>
                            <a:schemeClr val="tx1"/>
                          </a:solidFill>
                          <a:effectLst/>
                          <a:latin typeface="EYInterstate Light" pitchFamily="2" charset="0"/>
                        </a:rPr>
                        <a:t> Draft due to decisions made in London this week on the impact of the O365D project. A Change Request has been verbally communicated to </a:t>
                      </a:r>
                      <a:r>
                        <a:rPr kumimoji="0" lang="en-US" sz="700" b="0" i="0" u="none" strike="noStrike" cap="none" normalizeH="0" baseline="0" dirty="0" err="1" smtClean="0">
                          <a:ln>
                            <a:noFill/>
                          </a:ln>
                          <a:solidFill>
                            <a:schemeClr val="tx1"/>
                          </a:solidFill>
                          <a:effectLst/>
                          <a:latin typeface="EYInterstate Light" pitchFamily="2" charset="0"/>
                        </a:rPr>
                        <a:t>replan</a:t>
                      </a:r>
                      <a:r>
                        <a:rPr kumimoji="0" lang="en-US" sz="700" b="0" i="0" u="none" strike="noStrike" cap="none" normalizeH="0" baseline="0" dirty="0" smtClean="0">
                          <a:ln>
                            <a:noFill/>
                          </a:ln>
                          <a:solidFill>
                            <a:schemeClr val="tx1"/>
                          </a:solidFill>
                          <a:effectLst/>
                          <a:latin typeface="EYInterstate Light" pitchFamily="2" charset="0"/>
                        </a:rPr>
                        <a:t> the Function Specification and the Coexistence and Migration Strategy Document so that those documents incorporate the dependencies between Exchange on-premises (the current contracted scope) and the separately contracted O365D service.</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5" name="Group 270"/>
          <p:cNvGraphicFramePr>
            <a:graphicFrameLocks noGrp="1"/>
          </p:cNvGraphicFramePr>
          <p:nvPr>
            <p:extLst>
              <p:ext uri="{D42A27DB-BD31-4B8C-83A1-F6EECF244321}">
                <p14:modId xmlns:p14="http://schemas.microsoft.com/office/powerpoint/2010/main" xmlns="" val="4237742337"/>
              </p:ext>
            </p:extLst>
          </p:nvPr>
        </p:nvGraphicFramePr>
        <p:xfrm>
          <a:off x="7570453" y="69061"/>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YELLOW</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YELLOW</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xmlns="" val="1812383409"/>
              </p:ext>
            </p:extLst>
          </p:nvPr>
        </p:nvGraphicFramePr>
        <p:xfrm>
          <a:off x="4664034" y="3861048"/>
          <a:ext cx="4355123" cy="1132200"/>
        </p:xfrm>
        <a:graphic>
          <a:graphicData uri="http://schemas.openxmlformats.org/drawingml/2006/table">
            <a:tbl>
              <a:tblPr/>
              <a:tblGrid>
                <a:gridCol w="4355123"/>
              </a:tblGrid>
              <a:tr h="11365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G.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1839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The joint EY and MS team continues to work on the milestone schedule above, but the team realizes the possibility of impact from the O365 project. Meetings in the UK the week of Jan 23 were dedicated to discussing the relationship between the current projects and the O365 project.</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Regarding the Projected Dates for the project milestones #2, 3,&amp; 4, the EY and MS project managers discussed the impact of the EY European holiday vacation period(Dec 23 – Jan 9) and determined that the Project Dates for these milestones should be extended to allow time for the rescheduling of design component reviews after the holiday period. The Functional </a:t>
                      </a:r>
                      <a:r>
                        <a:rPr kumimoji="0" lang="en-US" sz="700" b="0" i="0" u="none" strike="noStrike" cap="none" normalizeH="0" baseline="0" dirty="0" err="1" smtClean="0">
                          <a:ln>
                            <a:noFill/>
                          </a:ln>
                          <a:solidFill>
                            <a:schemeClr val="tx1"/>
                          </a:solidFill>
                          <a:effectLst/>
                          <a:latin typeface="EYInterstate Light" pitchFamily="2" charset="0"/>
                        </a:rPr>
                        <a:t>Specificaiton</a:t>
                      </a:r>
                      <a:r>
                        <a:rPr kumimoji="0" lang="en-US" sz="700" b="0" i="0" u="none" strike="noStrike" cap="none" normalizeH="0" baseline="0" dirty="0" smtClean="0">
                          <a:ln>
                            <a:noFill/>
                          </a:ln>
                          <a:solidFill>
                            <a:schemeClr val="tx1"/>
                          </a:solidFill>
                          <a:effectLst/>
                          <a:latin typeface="EYInterstate Light" pitchFamily="2" charset="0"/>
                        </a:rPr>
                        <a:t> First Draft  milestone is Yellow since the project managers are watching this milestone to ensure that design component reviews do not push this date out.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0" y="6390185"/>
            <a:ext cx="8964489" cy="540206"/>
            <a:chOff x="0" y="6505545"/>
            <a:chExt cx="9711531"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hangingPunct="0">
                <a:spcAft>
                  <a:spcPts val="0"/>
                </a:spcAft>
              </a:pPr>
              <a:r>
                <a:rPr lang="en-US" sz="500" b="1" dirty="0" smtClean="0">
                  <a:solidFill>
                    <a:srgbClr val="646464"/>
                  </a:solidFill>
                  <a:latin typeface="EYInterstate Light" pitchFamily="2" charset="0"/>
                </a:rPr>
                <a:t>Fully achieved</a:t>
              </a:r>
              <a:endParaRPr lang="en-GB" sz="500" b="1" kern="0" dirty="0" smtClean="0">
                <a:solidFill>
                  <a:srgbClr val="646464"/>
                </a:solidFill>
                <a:latin typeface="EYInterstate"/>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hangingPunct="0">
                <a:spcAft>
                  <a:spcPts val="0"/>
                </a:spcAft>
              </a:pPr>
              <a:r>
                <a:rPr lang="en-US" sz="500" dirty="0" smtClean="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smtClean="0">
                <a:solidFill>
                  <a:srgbClr val="646464"/>
                </a:solidFill>
                <a:latin typeface="EYInterstate"/>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553998"/>
          </a:xfrm>
          <a:prstGeom prst="rect">
            <a:avLst/>
          </a:prstGeom>
        </p:spPr>
        <p:txBody>
          <a:bodyPr>
            <a:spAutoFit/>
          </a:bodyPr>
          <a:lstStyle/>
          <a:p>
            <a:pPr defTabSz="955675" eaLnBrk="0" hangingPunct="0">
              <a:spcAft>
                <a:spcPts val="0"/>
              </a:spcAft>
              <a:defRPr/>
            </a:pPr>
            <a:r>
              <a:rPr lang="en-US" sz="1600" b="1" kern="0" dirty="0" smtClean="0">
                <a:solidFill>
                  <a:srgbClr val="646464"/>
                </a:solidFill>
                <a:latin typeface="EYInterstate"/>
              </a:rPr>
              <a:t>EY Messaging &amp; Collaboration Program – January 27, 2012 Messaging</a:t>
            </a:r>
          </a:p>
          <a:p>
            <a:pPr defTabSz="955675" eaLnBrk="0" hangingPunct="0">
              <a:spcAft>
                <a:spcPts val="0"/>
              </a:spcAft>
              <a:defRPr/>
            </a:pPr>
            <a:r>
              <a:rPr lang="en-US" sz="1400" kern="0" dirty="0" smtClean="0">
                <a:solidFill>
                  <a:srgbClr val="646464"/>
                </a:solidFill>
                <a:latin typeface="EYInterstate"/>
              </a:rPr>
              <a:t>Guy Hunt (MS </a:t>
            </a:r>
            <a:r>
              <a:rPr lang="en-US" sz="1400" kern="0" dirty="0" err="1" smtClean="0">
                <a:solidFill>
                  <a:srgbClr val="646464"/>
                </a:solidFill>
                <a:latin typeface="EYInterstate"/>
              </a:rPr>
              <a:t>PjM</a:t>
            </a:r>
            <a:r>
              <a:rPr lang="en-US" sz="1400" kern="0" dirty="0" smtClean="0">
                <a:solidFill>
                  <a:srgbClr val="646464"/>
                </a:solidFill>
                <a:latin typeface="EYInterstate"/>
              </a:rPr>
              <a:t>)</a:t>
            </a:r>
            <a:endParaRPr lang="en-US" sz="1400" kern="0" dirty="0">
              <a:solidFill>
                <a:srgbClr val="646464"/>
              </a:solidFill>
              <a:latin typeface="EYInterstate"/>
            </a:endParaRPr>
          </a:p>
        </p:txBody>
      </p:sp>
      <p:graphicFrame>
        <p:nvGraphicFramePr>
          <p:cNvPr id="24" name="Group 270"/>
          <p:cNvGraphicFramePr>
            <a:graphicFrameLocks noGrp="1"/>
          </p:cNvGraphicFramePr>
          <p:nvPr>
            <p:extLst>
              <p:ext uri="{D42A27DB-BD31-4B8C-83A1-F6EECF244321}">
                <p14:modId xmlns:p14="http://schemas.microsoft.com/office/powerpoint/2010/main" xmlns="" val="2102559746"/>
              </p:ext>
            </p:extLst>
          </p:nvPr>
        </p:nvGraphicFramePr>
        <p:xfrm>
          <a:off x="4716016" y="620688"/>
          <a:ext cx="4355126" cy="1560219"/>
        </p:xfrm>
        <a:graphic>
          <a:graphicData uri="http://schemas.openxmlformats.org/drawingml/2006/table">
            <a:tbl>
              <a:tblPr/>
              <a:tblGrid>
                <a:gridCol w="1400909"/>
                <a:gridCol w="703385"/>
                <a:gridCol w="776026"/>
                <a:gridCol w="723201"/>
                <a:gridCol w="751605"/>
              </a:tblGrid>
              <a:tr h="161009">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smtClean="0">
                        <a:ln>
                          <a:noFill/>
                        </a:ln>
                        <a:solidFill>
                          <a:schemeClr val="tx1"/>
                        </a:solidFill>
                        <a:effectLst/>
                        <a:latin typeface="EYInterstate" pitchFamily="2" charset="0"/>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9558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50210">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cap="none" normalizeH="0" baseline="0" dirty="0" smtClean="0">
                          <a:ln>
                            <a:noFill/>
                          </a:ln>
                          <a:solidFill>
                            <a:srgbClr val="646464"/>
                          </a:solidFill>
                          <a:effectLst/>
                          <a:latin typeface="EYInterstate Light" pitchFamily="2" charset="0"/>
                        </a:rPr>
                        <a:t>Planning project start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WO date: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Completed 10/3/2011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95580">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Face to Face Workshops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WO date: 11/1/2011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Completed 10/21/2011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95580">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Functional Specification First Draft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WO date: 12/30/2011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2/14/2012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YELLOW</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YELLOW</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FF00"/>
                    </a:solidFill>
                  </a:tcPr>
                </a:tc>
              </a:tr>
              <a:tr h="195580">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Functional Specification Complete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WO date: 2/27/2012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3/28/2012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95580">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cap="none" normalizeH="0" baseline="0" dirty="0" smtClean="0">
                          <a:ln>
                            <a:noFill/>
                          </a:ln>
                          <a:solidFill>
                            <a:srgbClr val="646464"/>
                          </a:solidFill>
                          <a:effectLst/>
                          <a:latin typeface="EYInterstate Light" pitchFamily="2" charset="0"/>
                        </a:rPr>
                        <a:t>Project Phase Complete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WO date: 3/9/2012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4/6/2012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accent3"/>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spTree>
    <p:extLst>
      <p:ext uri="{BB962C8B-B14F-4D97-AF65-F5344CB8AC3E}">
        <p14:creationId xmlns:p14="http://schemas.microsoft.com/office/powerpoint/2010/main" xmlns="" val="398546622"/>
      </p:ext>
    </p:extLst>
  </p:cSld>
  <p:clrMapOvr>
    <a:masterClrMapping/>
  </p:clrMapOvr>
  <p:timing>
    <p:tnLst>
      <p:par>
        <p:cTn id="1" dur="indefinite" restart="never" nodeType="tmRoot"/>
      </p:par>
    </p:tnLst>
  </p:timing>
</p:sld>
</file>

<file path=ppt/theme/theme1.xml><?xml version="1.0" encoding="utf-8"?>
<a:theme xmlns:a="http://schemas.openxmlformats.org/drawingml/2006/main" name="1_Bullet text">
  <a:themeElements>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1_Bullet tex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rey fill divider">
  <a:themeElements>
    <a:clrScheme name="Grey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Grey fill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rey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Line 1 divider">
  <a:themeElements>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1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Line 2 divider">
  <a:themeElements>
    <a:clrScheme name="Line 2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2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2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Line 3 divider">
  <a:themeElements>
    <a:clrScheme name="Line 3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3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3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Yellow fill divider">
  <a:themeElements>
    <a:clrScheme name="Yellow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Yellow fill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Yellow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D957C8AC9CBE1E41A2102A222EC3580A" ma:contentTypeVersion="3" ma:contentTypeDescription="Create a new document." ma:contentTypeScope="" ma:versionID="abc6be5a7620dcb7711b0f96b151bb65">
  <xsd:schema xmlns:xsd="http://www.w3.org/2001/XMLSchema" xmlns:xs="http://www.w3.org/2001/XMLSchema" xmlns:p="http://schemas.microsoft.com/office/2006/metadata/properties" xmlns:ns2="http://schemas.microsoft.com/sharepoint/v4" xmlns:ns3="0cbe1240-e4fe-486d-8edc-2712abb96eb4" targetNamespace="http://schemas.microsoft.com/office/2006/metadata/properties" ma:root="true" ma:fieldsID="6de1d13258d2b99d584b28ddcc0f79a5" ns2:_="" ns3:_="">
    <xsd:import namespace="http://schemas.microsoft.com/sharepoint/v4"/>
    <xsd:import namespace="0cbe1240-e4fe-486d-8edc-2712abb96eb4"/>
    <xsd:element name="properties">
      <xsd:complexType>
        <xsd:sequence>
          <xsd:element name="documentManagement">
            <xsd:complexType>
              <xsd:all>
                <xsd:element ref="ns2:IconOverlay"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be1240-e4fe-486d-8edc-2712abb96eb4" elementFormDefault="qualified">
    <xsd:import namespace="http://schemas.microsoft.com/office/2006/documentManagement/types"/>
    <xsd:import namespace="http://schemas.microsoft.com/office/infopath/2007/PartnerControls"/>
    <xsd:element name="_dlc_DocId" ma:index="9" nillable="true" ma:displayName="Document ID Value" ma:description="The value of the document ID assigned to this item." ma:internalName="_dlc_DocId" ma:readOnly="true">
      <xsd:simpleType>
        <xsd:restriction base="dms:Text"/>
      </xsd:simpleType>
    </xsd:element>
    <xsd:element name="_dlc_DocIdUrl" ma:index="1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1"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_dlc_DocId xmlns="0cbe1240-e4fe-486d-8edc-2712abb96eb4">MSIBM-2-5747</_dlc_DocId>
    <_dlc_DocIdUrl xmlns="0cbe1240-e4fe-486d-8edc-2712abb96eb4">
      <Url>http://sp.ey.net/msibm/_layouts/DocIdRedir.aspx?ID=MSIBM-2-5747</Url>
      <Description>MSIBM-2-5747</Description>
    </_dlc_DocIdUrl>
  </documentManagement>
</p:properties>
</file>

<file path=customXml/itemProps1.xml><?xml version="1.0" encoding="utf-8"?>
<ds:datastoreItem xmlns:ds="http://schemas.openxmlformats.org/officeDocument/2006/customXml" ds:itemID="{2255E905-F312-48EC-8CD7-BA2AFBA2E81A}">
  <ds:schemaRefs>
    <ds:schemaRef ds:uri="http://schemas.microsoft.com/sharepoint/v3/contenttype/forms"/>
  </ds:schemaRefs>
</ds:datastoreItem>
</file>

<file path=customXml/itemProps2.xml><?xml version="1.0" encoding="utf-8"?>
<ds:datastoreItem xmlns:ds="http://schemas.openxmlformats.org/officeDocument/2006/customXml" ds:itemID="{1F188C4F-5FD9-4056-B158-71E8F45D3348}">
  <ds:schemaRefs>
    <ds:schemaRef ds:uri="http://schemas.microsoft.com/sharepoint/events"/>
  </ds:schemaRefs>
</ds:datastoreItem>
</file>

<file path=customXml/itemProps3.xml><?xml version="1.0" encoding="utf-8"?>
<ds:datastoreItem xmlns:ds="http://schemas.openxmlformats.org/officeDocument/2006/customXml" ds:itemID="{52E9966B-742D-4731-B983-6ACC307271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4"/>
    <ds:schemaRef ds:uri="0cbe1240-e4fe-486d-8edc-2712abb96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FAA29CDC-F850-4B23-A92A-C0DE79151CEB}">
  <ds:schemaRefs>
    <ds:schemaRef ds:uri="http://schemas.microsoft.com/office/2006/metadata/properties"/>
    <ds:schemaRef ds:uri="http://schemas.microsoft.com/office/infopath/2007/PartnerControls"/>
    <ds:schemaRef ds:uri="http://schemas.microsoft.com/sharepoint/v4"/>
    <ds:schemaRef ds:uri="0cbe1240-e4fe-486d-8edc-2712abb96eb4"/>
  </ds:schemaRefs>
</ds:datastoreItem>
</file>

<file path=docProps/app.xml><?xml version="1.0" encoding="utf-8"?>
<Properties xmlns="http://schemas.openxmlformats.org/officeDocument/2006/extended-properties" xmlns:vt="http://schemas.openxmlformats.org/officeDocument/2006/docPropsVTypes">
  <TotalTime>26209</TotalTime>
  <Words>18629</Words>
  <Application>Microsoft Office PowerPoint</Application>
  <PresentationFormat>On-screen Show (4:3)</PresentationFormat>
  <Paragraphs>2685</Paragraphs>
  <Slides>34</Slides>
  <Notes>7</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34</vt:i4>
      </vt:variant>
    </vt:vector>
  </HeadingPairs>
  <TitlesOfParts>
    <vt:vector size="45" baseType="lpstr">
      <vt:lpstr>Arial</vt:lpstr>
      <vt:lpstr>EYInterstate</vt:lpstr>
      <vt:lpstr>EYInterstate Light</vt:lpstr>
      <vt:lpstr>Times New Roman</vt:lpstr>
      <vt:lpstr>Wingdings</vt:lpstr>
      <vt:lpstr>1_Bullet text</vt:lpstr>
      <vt:lpstr>Grey fill divider</vt:lpstr>
      <vt:lpstr>Line 1 divider</vt:lpstr>
      <vt:lpstr>Line 2 divider</vt:lpstr>
      <vt:lpstr>Line 3 divider</vt:lpstr>
      <vt:lpstr>Yellow fill divider</vt:lpstr>
      <vt:lpstr>IT Services M&amp;C Program IT Service Delivery  Weekly report</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Appendix A – M&amp;C Reports.</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Appendix B. Microsoft Reports.</vt:lpstr>
      <vt:lpstr>Slide 30</vt:lpstr>
      <vt:lpstr>Slide 31</vt:lpstr>
      <vt:lpstr>Slide 32</vt:lpstr>
      <vt:lpstr>Slide 33</vt:lpstr>
      <vt:lpstr>Slide 34</vt:lpstr>
    </vt:vector>
  </TitlesOfParts>
  <Company>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Landor</dc:creator>
  <cp:lastModifiedBy>Wale Agbaje</cp:lastModifiedBy>
  <cp:revision>2193</cp:revision>
  <dcterms:created xsi:type="dcterms:W3CDTF">2007-11-06T15:04:41Z</dcterms:created>
  <dcterms:modified xsi:type="dcterms:W3CDTF">2012-02-13T14:36:56Z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0x010100D957C8AC9CBE1E41A2102A222EC3580A</vt:lpwstr>
  </property>
  <property fmtid="{D5CDD505-2E9C-101B-9397-08002B2CF9AE}" pid="3" name="_dlc_DocIdItemGuid">
    <vt:lpwstr>ebf435af-e93f-40b5-9de4-5efd728d8f00</vt:lpwstr>
  </property>
</Properties>
</file>