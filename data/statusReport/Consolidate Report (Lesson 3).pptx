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11"/>
  </p:notesMasterIdLst>
  <p:sldIdLst>
    <p:sldId id="494" r:id="rId6"/>
    <p:sldId id="258" r:id="rId7"/>
    <p:sldId id="259" r:id="rId8"/>
    <p:sldId id="260" r:id="rId9"/>
    <p:sldId id="26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il Sahdev" initials="NS" lastIdx="1" clrIdx="0"/>
  <p:cmAuthor id="1" name="Wale Agbaje" initials="WA"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48" autoAdjust="0"/>
    <p:restoredTop sz="94676" autoAdjust="0"/>
  </p:normalViewPr>
  <p:slideViewPr>
    <p:cSldViewPr>
      <p:cViewPr varScale="1">
        <p:scale>
          <a:sx n="114" d="100"/>
          <a:sy n="114" d="100"/>
        </p:scale>
        <p:origin x="1890"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r A" userId="520348fd6b58418e" providerId="LiveId" clId="{B2CFD4F0-D7D4-4345-A5FA-BD48CC6E786D}"/>
    <pc:docChg chg="custSel modSld">
      <pc:chgData name="Nasir A" userId="520348fd6b58418e" providerId="LiveId" clId="{B2CFD4F0-D7D4-4345-A5FA-BD48CC6E786D}" dt="2022-05-27T20:50:02.808" v="55" actId="207"/>
      <pc:docMkLst>
        <pc:docMk/>
      </pc:docMkLst>
      <pc:sldChg chg="modSp mod">
        <pc:chgData name="Nasir A" userId="520348fd6b58418e" providerId="LiveId" clId="{B2CFD4F0-D7D4-4345-A5FA-BD48CC6E786D}" dt="2022-05-27T20:17:20.896" v="10" actId="207"/>
        <pc:sldMkLst>
          <pc:docMk/>
          <pc:sldMk cId="0" sldId="258"/>
        </pc:sldMkLst>
        <pc:graphicFrameChg chg="modGraphic">
          <ac:chgData name="Nasir A" userId="520348fd6b58418e" providerId="LiveId" clId="{B2CFD4F0-D7D4-4345-A5FA-BD48CC6E786D}" dt="2022-05-27T20:17:20.896" v="10" actId="207"/>
          <ac:graphicFrameMkLst>
            <pc:docMk/>
            <pc:sldMk cId="0" sldId="258"/>
            <ac:graphicFrameMk id="15" creationId="{00000000-0000-0000-0000-000000000000}"/>
          </ac:graphicFrameMkLst>
        </pc:graphicFrameChg>
      </pc:sldChg>
      <pc:sldChg chg="modSp mod">
        <pc:chgData name="Nasir A" userId="520348fd6b58418e" providerId="LiveId" clId="{B2CFD4F0-D7D4-4345-A5FA-BD48CC6E786D}" dt="2022-05-27T20:50:02.808" v="55" actId="207"/>
        <pc:sldMkLst>
          <pc:docMk/>
          <pc:sldMk cId="0" sldId="494"/>
        </pc:sldMkLst>
        <pc:graphicFrameChg chg="mod modGraphic">
          <ac:chgData name="Nasir A" userId="520348fd6b58418e" providerId="LiveId" clId="{B2CFD4F0-D7D4-4345-A5FA-BD48CC6E786D}" dt="2022-05-27T20:50:02.808" v="55" actId="207"/>
          <ac:graphicFrameMkLst>
            <pc:docMk/>
            <pc:sldMk cId="0" sldId="494"/>
            <ac:graphicFrameMk id="12"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BAA913-E2A9-42D5-B1E8-523C4BEDE6E7}" type="datetimeFigureOut">
              <a:rPr lang="en-GB" smtClean="0"/>
              <a:pPr/>
              <a:t>27/05/2022</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1DC5EC-3446-49E3-9BA4-DF0148D61586}" type="slidenum">
              <a:rPr lang="en-GB" smtClean="0"/>
              <a:pPr/>
              <a:t>‹#›</a:t>
            </a:fld>
            <a:endParaRPr lang="en-GB" dirty="0"/>
          </a:p>
        </p:txBody>
      </p:sp>
    </p:spTree>
    <p:extLst>
      <p:ext uri="{BB962C8B-B14F-4D97-AF65-F5344CB8AC3E}">
        <p14:creationId xmlns:p14="http://schemas.microsoft.com/office/powerpoint/2010/main" val="18353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dirty="0"/>
              <a:t>Cost</a:t>
            </a:r>
          </a:p>
          <a:p>
            <a:pPr defTabSz="881885">
              <a:defRPr/>
            </a:pPr>
            <a:r>
              <a:rPr lang="en-GB" dirty="0"/>
              <a:t>GREEN - </a:t>
            </a:r>
            <a:r>
              <a:rPr lang="en-US" dirty="0"/>
              <a:t>Estimate at Completion (EAC) = + 0 - 5% of approved spend (cost baseline + approved change requests)</a:t>
            </a:r>
            <a:endParaRPr lang="en-GB" dirty="0"/>
          </a:p>
          <a:p>
            <a:pPr defTabSz="881885">
              <a:defRPr/>
            </a:pPr>
            <a:r>
              <a:rPr lang="en-GB" dirty="0"/>
              <a:t>AMBER - </a:t>
            </a:r>
            <a:r>
              <a:rPr lang="en-US" dirty="0"/>
              <a:t>Estimate at Completion (EAC) = + 6 - 10% of approved spend (cost baseline + approved changes) and/or pending spend</a:t>
            </a:r>
            <a:endParaRPr lang="en-GB" dirty="0"/>
          </a:p>
          <a:p>
            <a:r>
              <a:rPr lang="en-GB" dirty="0"/>
              <a:t>RED</a:t>
            </a:r>
            <a:r>
              <a:rPr lang="en-GB" baseline="0" dirty="0"/>
              <a:t> – </a:t>
            </a:r>
            <a:r>
              <a:rPr lang="en-US" dirty="0"/>
              <a:t>Estimate at Completion (EAC) exceeds + 10% or $100,000 of approved spend (cost baseline + approved changes) and/or pending spend or no project budget defined</a:t>
            </a:r>
            <a:endParaRPr lang="en-GB" baseline="0" dirty="0"/>
          </a:p>
          <a:p>
            <a:endParaRPr lang="en-GB" baseline="0" dirty="0"/>
          </a:p>
          <a:p>
            <a:r>
              <a:rPr lang="en-GB" dirty="0"/>
              <a:t>Schedule</a:t>
            </a:r>
          </a:p>
          <a:p>
            <a:r>
              <a:rPr lang="en-GB" dirty="0"/>
              <a:t>GREEN - </a:t>
            </a:r>
            <a:r>
              <a:rPr lang="en-US" dirty="0"/>
              <a:t>The project schedule supports the end date of the project (with some elapsed time contingency).</a:t>
            </a:r>
            <a:endParaRPr lang="en-GB" dirty="0"/>
          </a:p>
          <a:p>
            <a:r>
              <a:rPr lang="en-GB" dirty="0"/>
              <a:t>AMBER - </a:t>
            </a:r>
            <a:r>
              <a:rPr lang="en-US" dirty="0"/>
              <a:t>The project schedule supports the end date, but issues, risks and/or changes exist that may put the date in jeopardy.</a:t>
            </a:r>
            <a:endParaRPr lang="en-GB" dirty="0"/>
          </a:p>
          <a:p>
            <a:r>
              <a:rPr lang="en-GB" dirty="0"/>
              <a:t>RED</a:t>
            </a:r>
            <a:r>
              <a:rPr lang="en-GB" baseline="0" dirty="0"/>
              <a:t> – </a:t>
            </a:r>
            <a:r>
              <a:rPr lang="en-US" dirty="0"/>
              <a:t>The project schedule does not exist and/or the project schedule does not support the end of the project.</a:t>
            </a:r>
            <a:endParaRPr lang="en-GB" baseline="0" dirty="0"/>
          </a:p>
          <a:p>
            <a:endParaRPr lang="en-GB" baseline="0" dirty="0"/>
          </a:p>
          <a:p>
            <a:r>
              <a:rPr lang="en-GB" dirty="0"/>
              <a:t>Scope</a:t>
            </a:r>
          </a:p>
          <a:p>
            <a:r>
              <a:rPr lang="en-GB" dirty="0"/>
              <a:t>GREEN - </a:t>
            </a:r>
            <a:r>
              <a:rPr lang="en-US" dirty="0"/>
              <a:t>Scope defined and </a:t>
            </a:r>
            <a:r>
              <a:rPr lang="en-US" u="sng" dirty="0"/>
              <a:t>approved</a:t>
            </a:r>
            <a:r>
              <a:rPr lang="en-US" dirty="0"/>
              <a:t> (scope baseline) with no pending change requests.</a:t>
            </a:r>
            <a:endParaRPr lang="en-GB" dirty="0"/>
          </a:p>
          <a:p>
            <a:r>
              <a:rPr lang="en-GB" dirty="0"/>
              <a:t>AMBER - </a:t>
            </a:r>
            <a:r>
              <a:rPr lang="en-US" dirty="0"/>
              <a:t>Scope defined and </a:t>
            </a:r>
            <a:r>
              <a:rPr lang="en-US" u="sng" dirty="0"/>
              <a:t>approved</a:t>
            </a:r>
            <a:r>
              <a:rPr lang="en-US" dirty="0"/>
              <a:t> (scope baseline) with </a:t>
            </a:r>
            <a:r>
              <a:rPr lang="en-US" u="sng" dirty="0"/>
              <a:t>pending</a:t>
            </a:r>
            <a:r>
              <a:rPr lang="en-US" dirty="0"/>
              <a:t> change requests – known and not raised and raised but not agreed.</a:t>
            </a:r>
            <a:endParaRPr lang="en-GB" dirty="0"/>
          </a:p>
          <a:p>
            <a:r>
              <a:rPr lang="en-GB" dirty="0"/>
              <a:t>RED</a:t>
            </a:r>
            <a:r>
              <a:rPr lang="en-GB" baseline="0" dirty="0"/>
              <a:t> – </a:t>
            </a:r>
            <a:r>
              <a:rPr lang="en-US" dirty="0"/>
              <a:t>Scope undefined or unapproved (no scope baseline) and/or multiple pending change requests.</a:t>
            </a:r>
            <a:endParaRPr lang="en-GB" baseline="0" dirty="0"/>
          </a:p>
          <a:p>
            <a:endParaRPr lang="en-GB" baseline="0" dirty="0"/>
          </a:p>
          <a:p>
            <a:r>
              <a:rPr lang="en-GB" dirty="0"/>
              <a:t>Risk</a:t>
            </a:r>
          </a:p>
          <a:p>
            <a:r>
              <a:rPr lang="en-GB" dirty="0"/>
              <a:t>GREEN – Low amount of risks with negligible impact</a:t>
            </a:r>
          </a:p>
          <a:p>
            <a:r>
              <a:rPr lang="en-GB" dirty="0"/>
              <a:t>AMBER – Medium amount of risks. High or medium impact but with mitigation actions in place. Time left to put in place mitigation plans.</a:t>
            </a:r>
          </a:p>
          <a:p>
            <a:r>
              <a:rPr lang="en-GB" dirty="0"/>
              <a:t>RED</a:t>
            </a:r>
            <a:r>
              <a:rPr lang="en-GB" baseline="0" dirty="0"/>
              <a:t> – High number of risks. High score risks which impact in the near term. No mitigation in place for High risks.</a:t>
            </a:r>
          </a:p>
          <a:p>
            <a:endParaRPr lang="en-GB" baseline="0" dirty="0"/>
          </a:p>
          <a:p>
            <a:r>
              <a:rPr lang="en-GB" dirty="0"/>
              <a:t>Issue</a:t>
            </a:r>
          </a:p>
          <a:p>
            <a:r>
              <a:rPr lang="en-GB" dirty="0"/>
              <a:t>GREEN – No or low impact issues. Medium impact issues with resolution plans agreed and in place.</a:t>
            </a:r>
          </a:p>
          <a:p>
            <a:r>
              <a:rPr lang="en-GB" dirty="0"/>
              <a:t>AMBER – Large</a:t>
            </a:r>
            <a:r>
              <a:rPr lang="en-GB" baseline="0" dirty="0"/>
              <a:t> amount of issues and/or Medium impact issues with no resolution plans.</a:t>
            </a:r>
            <a:endParaRPr lang="en-GB" dirty="0"/>
          </a:p>
          <a:p>
            <a:r>
              <a:rPr lang="en-GB" dirty="0"/>
              <a:t>RED</a:t>
            </a:r>
            <a:r>
              <a:rPr lang="en-GB" baseline="0" dirty="0"/>
              <a:t> – High impact issues present. No resolution plans in place for Medium of High level issues</a:t>
            </a:r>
          </a:p>
          <a:p>
            <a:endParaRPr lang="en-GB" baseline="0" dirty="0"/>
          </a:p>
          <a:p>
            <a:r>
              <a:rPr lang="en-GB" dirty="0"/>
              <a:t>Commercial</a:t>
            </a:r>
          </a:p>
          <a:p>
            <a:r>
              <a:rPr lang="en-GB" dirty="0"/>
              <a:t>GREEN - TBD</a:t>
            </a:r>
          </a:p>
          <a:p>
            <a:r>
              <a:rPr lang="en-GB" dirty="0"/>
              <a:t>AMBER - TBD</a:t>
            </a:r>
          </a:p>
          <a:p>
            <a:r>
              <a:rPr lang="en-GB" dirty="0"/>
              <a:t>RED</a:t>
            </a:r>
            <a:r>
              <a:rPr lang="en-GB" baseline="0" dirty="0"/>
              <a:t> – TBD</a:t>
            </a:r>
          </a:p>
          <a:p>
            <a:endParaRPr lang="en-GB" baseline="0" dirty="0"/>
          </a:p>
          <a:p>
            <a:r>
              <a:rPr lang="en-GB" dirty="0"/>
              <a:t>Resource</a:t>
            </a:r>
          </a:p>
          <a:p>
            <a:r>
              <a:rPr lang="en-GB" dirty="0"/>
              <a:t>GREEN – No resource issue or constraints</a:t>
            </a:r>
          </a:p>
          <a:p>
            <a:r>
              <a:rPr lang="en-GB" dirty="0"/>
              <a:t>AMBER – Resource issues exist but plans are in place to resolve.</a:t>
            </a:r>
          </a:p>
          <a:p>
            <a:r>
              <a:rPr lang="en-GB" dirty="0"/>
              <a:t>RED</a:t>
            </a:r>
            <a:r>
              <a:rPr lang="en-GB" baseline="0" dirty="0"/>
              <a:t> – Resource issues exist with no plans in place to resolve.</a:t>
            </a:r>
          </a:p>
          <a:p>
            <a:endParaRPr lang="en-GB" baseline="0" dirty="0"/>
          </a:p>
          <a:p>
            <a:endParaRPr lang="en-GB" baseline="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10_Title Only">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2_Title Only">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4_Title 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8_Title Only">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6_Title Onl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4_Title Only">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18_Title Only">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22_Title Only">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15_Title Only">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5_Title Only">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9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3_Title Only">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23_Title Only">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1_Title Only">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29_Title Only">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34_Title Only">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35_Title Only">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38_Title Only">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26_Title Only">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27_Title 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28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80" descr="EY_Q Logo"/>
          <p:cNvPicPr>
            <a:picLocks noChangeArrowheads="1"/>
          </p:cNvPicPr>
          <p:nvPr/>
        </p:nvPicPr>
        <p:blipFill>
          <a:blip r:embed="rId25" cstate="print"/>
          <a:srcRect r="4826" b="14285"/>
          <a:stretch>
            <a:fillRect/>
          </a:stretch>
        </p:blipFill>
        <p:spPr bwMode="auto">
          <a:xfrm>
            <a:off x="7838348" y="6396038"/>
            <a:ext cx="1197219" cy="317500"/>
          </a:xfrm>
          <a:prstGeom prst="rect">
            <a:avLst/>
          </a:prstGeom>
          <a:noFill/>
          <a:ln w="9525">
            <a:noFill/>
            <a:miter lim="800000"/>
            <a:headEnd/>
            <a:tailEnd/>
          </a:ln>
        </p:spPr>
      </p:pic>
      <p:sp>
        <p:nvSpPr>
          <p:cNvPr id="1027" name="Rectangle 82"/>
          <p:cNvSpPr>
            <a:spLocks noGrp="1" noChangeArrowheads="1"/>
          </p:cNvSpPr>
          <p:nvPr>
            <p:ph type="title"/>
          </p:nvPr>
        </p:nvSpPr>
        <p:spPr bwMode="auto">
          <a:xfrm>
            <a:off x="108439" y="139703"/>
            <a:ext cx="8927123" cy="684213"/>
          </a:xfrm>
          <a:prstGeom prst="rect">
            <a:avLst/>
          </a:prstGeom>
          <a:noFill/>
          <a:ln w="12700">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1028" name="Rectangle 83"/>
          <p:cNvSpPr>
            <a:spLocks noGrp="1" noChangeArrowheads="1"/>
          </p:cNvSpPr>
          <p:nvPr>
            <p:ph type="body" idx="1"/>
          </p:nvPr>
        </p:nvSpPr>
        <p:spPr bwMode="auto">
          <a:xfrm>
            <a:off x="108439" y="1325563"/>
            <a:ext cx="8927123" cy="4527550"/>
          </a:xfrm>
          <a:prstGeom prst="rect">
            <a:avLst/>
          </a:prstGeom>
          <a:noFill/>
          <a:ln w="9525">
            <a:noFill/>
            <a:miter lim="800000"/>
            <a:headEnd/>
            <a:tailEnd/>
          </a:ln>
        </p:spPr>
        <p:txBody>
          <a:bodyPr vert="horz" wrap="square" lIns="59364" tIns="29682" rIns="59364" bIns="2968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49015" name="Line 87"/>
          <p:cNvSpPr>
            <a:spLocks noChangeShapeType="1"/>
          </p:cNvSpPr>
          <p:nvPr/>
        </p:nvSpPr>
        <p:spPr bwMode="auto">
          <a:xfrm>
            <a:off x="108439" y="6362700"/>
            <a:ext cx="8927123" cy="0"/>
          </a:xfrm>
          <a:prstGeom prst="line">
            <a:avLst/>
          </a:prstGeom>
          <a:noFill/>
          <a:ln w="9525">
            <a:solidFill>
              <a:schemeClr val="tx1"/>
            </a:solidFill>
            <a:round/>
            <a:headEnd/>
            <a:tailEnd/>
          </a:ln>
          <a:effectLst/>
        </p:spPr>
        <p:txBody>
          <a:bodyPr/>
          <a:lstStyle/>
          <a:p>
            <a:pPr algn="ctr" fontAlgn="base">
              <a:spcBef>
                <a:spcPct val="0"/>
              </a:spcBef>
              <a:spcAft>
                <a:spcPct val="0"/>
              </a:spcAft>
              <a:defRPr/>
            </a:pPr>
            <a:endParaRPr lang="en-US" sz="2000" dirty="0">
              <a:solidFill>
                <a:srgbClr val="000000"/>
              </a:solidFill>
              <a:latin typeface="Times New Roman" pitchFamily="18" charset="0"/>
            </a:endParaRPr>
          </a:p>
        </p:txBody>
      </p:sp>
      <p:sp>
        <p:nvSpPr>
          <p:cNvPr id="1149017" name="Rectangle 89"/>
          <p:cNvSpPr>
            <a:spLocks noGrp="1" noChangeArrowheads="1"/>
          </p:cNvSpPr>
          <p:nvPr>
            <p:ph type="sldNum" sz="quarter" idx="4"/>
          </p:nvPr>
        </p:nvSpPr>
        <p:spPr bwMode="auto">
          <a:xfrm>
            <a:off x="3048000" y="6472238"/>
            <a:ext cx="2133600" cy="152400"/>
          </a:xfrm>
          <a:prstGeom prst="rect">
            <a:avLst/>
          </a:prstGeom>
          <a:noFill/>
          <a:ln w="9525" algn="ctr">
            <a:noFill/>
            <a:miter lim="800000"/>
            <a:headEnd/>
            <a:tailEnd/>
          </a:ln>
          <a:effectLst/>
        </p:spPr>
        <p:txBody>
          <a:bodyPr vert="horz" wrap="square" lIns="59364" tIns="29682" rIns="59364" bIns="29682" numCol="1" anchor="t" anchorCtr="0" compatLnSpc="1">
            <a:prstTxWarp prst="textNoShape">
              <a:avLst/>
            </a:prstTxWarp>
            <a:spAutoFit/>
          </a:bodyPr>
          <a:lstStyle>
            <a:lvl1pPr algn="l">
              <a:spcBef>
                <a:spcPct val="50000"/>
              </a:spcBef>
              <a:defRPr sz="600">
                <a:latin typeface="EYInterstate Light" pitchFamily="2" charset="0"/>
              </a:defRPr>
            </a:lvl1pPr>
          </a:lstStyle>
          <a:p>
            <a:pPr fontAlgn="base">
              <a:spcAft>
                <a:spcPct val="0"/>
              </a:spcAft>
              <a:defRPr/>
            </a:pPr>
            <a:r>
              <a:rPr lang="en-US" dirty="0">
                <a:solidFill>
                  <a:srgbClr val="000000"/>
                </a:solidFill>
              </a:rPr>
              <a:t>Page </a:t>
            </a:r>
            <a:fld id="{90B442F2-C673-489A-81D7-6433E3F20430}" type="slidenum">
              <a:rPr lang="en-US" smtClean="0">
                <a:solidFill>
                  <a:srgbClr val="000000"/>
                </a:solidFill>
              </a:rPr>
              <a:pPr fontAlgn="base">
                <a:spcAft>
                  <a:spcPct val="0"/>
                </a:spcAft>
                <a:defRPr/>
              </a:pPr>
              <a:t>‹#›</a:t>
            </a:fld>
            <a:endParaRPr lang="en-US" dirty="0">
              <a:solidFill>
                <a:srgbClr val="000000"/>
              </a:solidFill>
            </a:endParaRPr>
          </a:p>
        </p:txBody>
      </p:sp>
      <p:sp>
        <p:nvSpPr>
          <p:cNvPr id="1149043" name="Text Box 115"/>
          <p:cNvSpPr txBox="1">
            <a:spLocks noChangeArrowheads="1"/>
          </p:cNvSpPr>
          <p:nvPr/>
        </p:nvSpPr>
        <p:spPr bwMode="auto">
          <a:xfrm>
            <a:off x="108444" y="6499226"/>
            <a:ext cx="2993781" cy="107722"/>
          </a:xfrm>
          <a:prstGeom prst="rect">
            <a:avLst/>
          </a:prstGeom>
          <a:noFill/>
          <a:ln w="9525">
            <a:noFill/>
            <a:miter lim="800000"/>
            <a:headEnd/>
            <a:tailEnd/>
          </a:ln>
          <a:effectLst/>
        </p:spPr>
        <p:txBody>
          <a:bodyPr lIns="0" tIns="0" rIns="0" bIns="0">
            <a:spAutoFit/>
          </a:bodyPr>
          <a:lstStyle/>
          <a:p>
            <a:pPr defTabSz="593725" fontAlgn="base">
              <a:spcBef>
                <a:spcPct val="0"/>
              </a:spcBef>
              <a:spcAft>
                <a:spcPct val="0"/>
              </a:spcAft>
              <a:defRPr/>
            </a:pPr>
            <a:r>
              <a:rPr lang="en-US" sz="700" dirty="0">
                <a:solidFill>
                  <a:srgbClr val="000000"/>
                </a:solidFill>
                <a:latin typeface="EYInterstate Light" pitchFamily="2" charset="0"/>
              </a:rPr>
              <a:t>PM07 Steering committee monthly status report template</a:t>
            </a:r>
          </a:p>
        </p:txBody>
      </p:sp>
      <p:sp>
        <p:nvSpPr>
          <p:cNvPr id="8" name="Rectangle 9"/>
          <p:cNvSpPr>
            <a:spLocks noChangeArrowheads="1"/>
          </p:cNvSpPr>
          <p:nvPr/>
        </p:nvSpPr>
        <p:spPr bwMode="auto">
          <a:xfrm>
            <a:off x="457205" y="6419850"/>
            <a:ext cx="663575" cy="196850"/>
          </a:xfrm>
          <a:prstGeom prst="rect">
            <a:avLst/>
          </a:prstGeom>
          <a:noFill/>
          <a:ln w="9525">
            <a:noFill/>
            <a:miter lim="800000"/>
            <a:headEnd/>
            <a:tailEnd/>
          </a:ln>
          <a:effectLst/>
        </p:spPr>
        <p:txBody>
          <a:bodyPr lIns="0" tIns="0" rIns="0" bIns="0"/>
          <a:lstStyle/>
          <a:p>
            <a:pPr fontAlgn="base">
              <a:spcBef>
                <a:spcPct val="0"/>
              </a:spcBef>
              <a:spcAft>
                <a:spcPct val="0"/>
              </a:spcAft>
            </a:pPr>
            <a:r>
              <a:rPr lang="en-GB" sz="1100" dirty="0">
                <a:solidFill>
                  <a:srgbClr val="000000"/>
                </a:solidFill>
                <a:latin typeface="Arial" pitchFamily="34" charset="0"/>
                <a:cs typeface="Arial" pitchFamily="34" charset="0"/>
              </a:rPr>
              <a:t>Page </a:t>
            </a:r>
            <a:fld id="{2F5DA1AB-FD0F-410F-9FF0-8E935651E8B9}" type="slidenum">
              <a:rPr lang="en-GB" sz="1100">
                <a:solidFill>
                  <a:srgbClr val="000000"/>
                </a:solidFill>
                <a:latin typeface="Arial" pitchFamily="34" charset="0"/>
                <a:cs typeface="Arial" pitchFamily="34" charset="0"/>
              </a:rPr>
              <a:pPr fontAlgn="base">
                <a:spcBef>
                  <a:spcPct val="0"/>
                </a:spcBef>
                <a:spcAft>
                  <a:spcPct val="0"/>
                </a:spcAft>
              </a:pPr>
              <a:t>‹#›</a:t>
            </a:fld>
            <a:endParaRPr lang="en-GB" sz="1100" dirty="0">
              <a:solidFill>
                <a:srgbClr val="000000"/>
              </a:solidFill>
              <a:latin typeface="Arial" pitchFamily="34" charset="0"/>
              <a:cs typeface="Arial"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1" r:id="rId18"/>
    <p:sldLayoutId id="2147483682" r:id="rId19"/>
    <p:sldLayoutId id="2147483683" r:id="rId20"/>
    <p:sldLayoutId id="2147483684" r:id="rId21"/>
    <p:sldLayoutId id="2147483685" r:id="rId22"/>
    <p:sldLayoutId id="2147483686" r:id="rId23"/>
  </p:sldLayoutIdLst>
  <p:transition>
    <p:wipe dir="r"/>
  </p:transition>
  <p:txStyles>
    <p:titleStyle>
      <a:lvl1pPr algn="l" defTabSz="955675" rtl="0" eaLnBrk="0" fontAlgn="base" hangingPunct="0">
        <a:spcBef>
          <a:spcPct val="0"/>
        </a:spcBef>
        <a:spcAft>
          <a:spcPct val="54000"/>
        </a:spcAft>
        <a:defRPr b="1">
          <a:solidFill>
            <a:srgbClr val="646464"/>
          </a:solidFill>
          <a:latin typeface="+mj-lt"/>
          <a:ea typeface="+mj-ea"/>
          <a:cs typeface="+mj-cs"/>
        </a:defRPr>
      </a:lvl1pPr>
      <a:lvl2pPr algn="l" defTabSz="955675" rtl="0" eaLnBrk="0" fontAlgn="base" hangingPunct="0">
        <a:spcBef>
          <a:spcPct val="0"/>
        </a:spcBef>
        <a:spcAft>
          <a:spcPct val="54000"/>
        </a:spcAft>
        <a:defRPr b="1">
          <a:solidFill>
            <a:srgbClr val="646464"/>
          </a:solidFill>
          <a:latin typeface="EYInterstate" pitchFamily="2" charset="0"/>
        </a:defRPr>
      </a:lvl2pPr>
      <a:lvl3pPr algn="l" defTabSz="955675" rtl="0" eaLnBrk="0" fontAlgn="base" hangingPunct="0">
        <a:spcBef>
          <a:spcPct val="0"/>
        </a:spcBef>
        <a:spcAft>
          <a:spcPct val="54000"/>
        </a:spcAft>
        <a:defRPr b="1">
          <a:solidFill>
            <a:srgbClr val="646464"/>
          </a:solidFill>
          <a:latin typeface="EYInterstate" pitchFamily="2" charset="0"/>
        </a:defRPr>
      </a:lvl3pPr>
      <a:lvl4pPr algn="l" defTabSz="955675" rtl="0" eaLnBrk="0" fontAlgn="base" hangingPunct="0">
        <a:spcBef>
          <a:spcPct val="0"/>
        </a:spcBef>
        <a:spcAft>
          <a:spcPct val="54000"/>
        </a:spcAft>
        <a:defRPr b="1">
          <a:solidFill>
            <a:srgbClr val="646464"/>
          </a:solidFill>
          <a:latin typeface="EYInterstate" pitchFamily="2" charset="0"/>
        </a:defRPr>
      </a:lvl4pPr>
      <a:lvl5pPr algn="l" defTabSz="955675" rtl="0" eaLnBrk="0" fontAlgn="base" hangingPunct="0">
        <a:spcBef>
          <a:spcPct val="0"/>
        </a:spcBef>
        <a:spcAft>
          <a:spcPct val="54000"/>
        </a:spcAft>
        <a:defRPr b="1">
          <a:solidFill>
            <a:srgbClr val="646464"/>
          </a:solidFill>
          <a:latin typeface="EYInterstate" pitchFamily="2" charset="0"/>
        </a:defRPr>
      </a:lvl5pPr>
      <a:lvl6pPr marL="457200" algn="l" defTabSz="955675" rtl="0" eaLnBrk="0" fontAlgn="base" hangingPunct="0">
        <a:spcBef>
          <a:spcPct val="0"/>
        </a:spcBef>
        <a:spcAft>
          <a:spcPct val="54000"/>
        </a:spcAft>
        <a:defRPr b="1">
          <a:solidFill>
            <a:srgbClr val="646464"/>
          </a:solidFill>
          <a:latin typeface="EYInterstate" pitchFamily="2" charset="0"/>
        </a:defRPr>
      </a:lvl6pPr>
      <a:lvl7pPr marL="914400" algn="l" defTabSz="955675" rtl="0" eaLnBrk="0" fontAlgn="base" hangingPunct="0">
        <a:spcBef>
          <a:spcPct val="0"/>
        </a:spcBef>
        <a:spcAft>
          <a:spcPct val="54000"/>
        </a:spcAft>
        <a:defRPr b="1">
          <a:solidFill>
            <a:srgbClr val="646464"/>
          </a:solidFill>
          <a:latin typeface="EYInterstate" pitchFamily="2" charset="0"/>
        </a:defRPr>
      </a:lvl7pPr>
      <a:lvl8pPr marL="1371600" algn="l" defTabSz="955675" rtl="0" eaLnBrk="0" fontAlgn="base" hangingPunct="0">
        <a:spcBef>
          <a:spcPct val="0"/>
        </a:spcBef>
        <a:spcAft>
          <a:spcPct val="54000"/>
        </a:spcAft>
        <a:defRPr b="1">
          <a:solidFill>
            <a:srgbClr val="646464"/>
          </a:solidFill>
          <a:latin typeface="EYInterstate" pitchFamily="2" charset="0"/>
        </a:defRPr>
      </a:lvl8pPr>
      <a:lvl9pPr marL="1828800" algn="l" defTabSz="955675" rtl="0" eaLnBrk="0" fontAlgn="base" hangingPunct="0">
        <a:spcBef>
          <a:spcPct val="0"/>
        </a:spcBef>
        <a:spcAft>
          <a:spcPct val="54000"/>
        </a:spcAft>
        <a:defRPr b="1">
          <a:solidFill>
            <a:srgbClr val="646464"/>
          </a:solidFill>
          <a:latin typeface="EYInterstate" pitchFamily="2" charset="0"/>
        </a:defRPr>
      </a:lvl9pPr>
    </p:titleStyle>
    <p:bodyStyle>
      <a:lvl1pPr marL="182563" indent="-182563" algn="l" defTabSz="947738" rtl="0" eaLnBrk="0" fontAlgn="base" hangingPunct="0">
        <a:lnSpc>
          <a:spcPct val="90000"/>
        </a:lnSpc>
        <a:spcBef>
          <a:spcPct val="50000"/>
        </a:spcBef>
        <a:spcAft>
          <a:spcPct val="0"/>
        </a:spcAft>
        <a:buClr>
          <a:srgbClr val="FDCC31"/>
        </a:buClr>
        <a:buFont typeface="EYInterstate" pitchFamily="2" charset="0"/>
        <a:buChar char="•"/>
        <a:defRPr sz="1500">
          <a:solidFill>
            <a:schemeClr val="tx1"/>
          </a:solidFill>
          <a:latin typeface="+mn-lt"/>
          <a:ea typeface="+mn-ea"/>
          <a:cs typeface="+mn-cs"/>
        </a:defRPr>
      </a:lvl1pPr>
      <a:lvl2pPr marL="474663" indent="-173038" algn="l" defTabSz="947738" rtl="0" eaLnBrk="0" fontAlgn="base" hangingPunct="0">
        <a:lnSpc>
          <a:spcPct val="90000"/>
        </a:lnSpc>
        <a:spcBef>
          <a:spcPct val="20000"/>
        </a:spcBef>
        <a:spcAft>
          <a:spcPct val="0"/>
        </a:spcAft>
        <a:buClr>
          <a:srgbClr val="FDCC31"/>
        </a:buClr>
        <a:buFont typeface="Arial Narrow" pitchFamily="34" charset="0"/>
        <a:buChar char="–"/>
        <a:defRPr sz="1500">
          <a:solidFill>
            <a:schemeClr val="tx1"/>
          </a:solidFill>
          <a:latin typeface="+mn-lt"/>
        </a:defRPr>
      </a:lvl2pPr>
      <a:lvl3pPr marL="1001713" indent="-230188" algn="l" defTabSz="947738" rtl="0" eaLnBrk="0" fontAlgn="base" hangingPunct="0">
        <a:lnSpc>
          <a:spcPct val="90000"/>
        </a:lnSpc>
        <a:spcBef>
          <a:spcPct val="20000"/>
        </a:spcBef>
        <a:spcAft>
          <a:spcPct val="0"/>
        </a:spcAft>
        <a:buClr>
          <a:srgbClr val="FDCC31"/>
        </a:buClr>
        <a:buFont typeface="EYInterstate" pitchFamily="2" charset="0"/>
        <a:buChar char="•"/>
        <a:defRPr sz="1000">
          <a:solidFill>
            <a:schemeClr val="tx1"/>
          </a:solidFill>
          <a:latin typeface="+mn-lt"/>
        </a:defRPr>
      </a:lvl3pPr>
      <a:lvl4pPr marL="1370013" indent="-246063" algn="l" defTabSz="947738" rtl="0" eaLnBrk="0" fontAlgn="base" hangingPunct="0">
        <a:lnSpc>
          <a:spcPct val="90000"/>
        </a:lnSpc>
        <a:spcBef>
          <a:spcPct val="20000"/>
        </a:spcBef>
        <a:spcAft>
          <a:spcPct val="0"/>
        </a:spcAft>
        <a:buClr>
          <a:srgbClr val="FDCC31"/>
        </a:buClr>
        <a:buFont typeface="Arial Narrow" pitchFamily="34" charset="0"/>
        <a:buChar char="–"/>
        <a:defRPr sz="900">
          <a:solidFill>
            <a:schemeClr val="tx1"/>
          </a:solidFill>
          <a:latin typeface="+mn-lt"/>
        </a:defRPr>
      </a:lvl4pPr>
      <a:lvl5pPr marL="1666875" indent="-174625" algn="l" defTabSz="947738" rtl="0" eaLnBrk="0" fontAlgn="base" hangingPunct="0">
        <a:lnSpc>
          <a:spcPct val="90000"/>
        </a:lnSpc>
        <a:spcBef>
          <a:spcPct val="20000"/>
        </a:spcBef>
        <a:spcAft>
          <a:spcPct val="0"/>
        </a:spcAft>
        <a:buClr>
          <a:srgbClr val="FDCC31"/>
        </a:buClr>
        <a:buFont typeface="EYInterstate" pitchFamily="2" charset="0"/>
        <a:buChar char="•"/>
        <a:defRPr sz="900">
          <a:solidFill>
            <a:schemeClr val="tx1"/>
          </a:solidFill>
          <a:latin typeface="+mn-lt"/>
        </a:defRPr>
      </a:lvl5pPr>
      <a:lvl6pPr marL="21240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6pPr>
      <a:lvl7pPr marL="25812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7pPr>
      <a:lvl8pPr marL="30384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8pPr>
      <a:lvl9pPr marL="34956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022259"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a:solidFill>
                  <a:srgbClr val="646464"/>
                </a:solidFill>
                <a:latin typeface="EYInterstate"/>
              </a:rPr>
              <a:t>2. Overall assessment of Program health</a:t>
            </a:r>
          </a:p>
        </p:txBody>
      </p:sp>
      <p:graphicFrame>
        <p:nvGraphicFramePr>
          <p:cNvPr id="10" name="Group 852"/>
          <p:cNvGraphicFramePr>
            <a:graphicFrameLocks noGrp="1"/>
          </p:cNvGraphicFramePr>
          <p:nvPr>
            <p:extLst>
              <p:ext uri="{D42A27DB-BD31-4B8C-83A1-F6EECF244321}">
                <p14:modId xmlns:p14="http://schemas.microsoft.com/office/powerpoint/2010/main" val="2287610806"/>
              </p:ext>
            </p:extLst>
          </p:nvPr>
        </p:nvGraphicFramePr>
        <p:xfrm>
          <a:off x="5867400" y="1"/>
          <a:ext cx="3276600" cy="6249407"/>
        </p:xfrm>
        <a:graphic>
          <a:graphicData uri="http://schemas.openxmlformats.org/drawingml/2006/table">
            <a:tbl>
              <a:tblPr/>
              <a:tblGrid>
                <a:gridCol w="3276600">
                  <a:extLst>
                    <a:ext uri="{9D8B030D-6E8A-4147-A177-3AD203B41FA5}">
                      <a16:colId xmlns:a16="http://schemas.microsoft.com/office/drawing/2014/main" val="20000"/>
                    </a:ext>
                  </a:extLst>
                </a:gridCol>
              </a:tblGrid>
              <a:tr h="133412">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a:ln>
                            <a:noFill/>
                          </a:ln>
                          <a:solidFill>
                            <a:schemeClr val="tx1"/>
                          </a:solidFill>
                          <a:effectLst/>
                          <a:latin typeface="EYInterstate" pitchFamily="2" charset="0"/>
                        </a:rPr>
                        <a:t>PMO Summary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70415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a:ln>
                            <a:noFill/>
                          </a:ln>
                          <a:solidFill>
                            <a:srgbClr val="000000"/>
                          </a:solidFill>
                          <a:effectLst/>
                          <a:latin typeface="EYInterstate Light" pitchFamily="2" charset="0"/>
                        </a:rPr>
                        <a:t>Budget.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4683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cap="none" normalizeH="0" baseline="0" dirty="0">
                          <a:ln>
                            <a:noFill/>
                          </a:ln>
                          <a:solidFill>
                            <a:srgbClr val="000000"/>
                          </a:solidFill>
                          <a:effectLst/>
                          <a:latin typeface="EYInterstate Light" pitchFamily="2" charset="0"/>
                        </a:rPr>
                        <a:t>Schedule – Overall status AMBER</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rgbClr val="000000"/>
                          </a:solidFill>
                          <a:effectLst/>
                          <a:latin typeface="EYInterstate Light" pitchFamily="2" charset="0"/>
                        </a:rPr>
                        <a:t>Detailed MS Project schedules now all </a:t>
                      </a:r>
                      <a:r>
                        <a:rPr kumimoji="0" lang="en-US" sz="700" b="0" i="0" u="none" strike="noStrike" cap="none" normalizeH="0" baseline="0" dirty="0" err="1">
                          <a:ln>
                            <a:noFill/>
                          </a:ln>
                          <a:solidFill>
                            <a:srgbClr val="000000"/>
                          </a:solidFill>
                          <a:effectLst/>
                          <a:latin typeface="EYInterstate Light" pitchFamily="2" charset="0"/>
                        </a:rPr>
                        <a:t>baselined</a:t>
                      </a:r>
                      <a:r>
                        <a:rPr kumimoji="0" lang="en-US" sz="700" b="0" i="0" u="none" strike="noStrike" cap="none" normalizeH="0" baseline="0" dirty="0">
                          <a:ln>
                            <a:noFill/>
                          </a:ln>
                          <a:solidFill>
                            <a:srgbClr val="000000"/>
                          </a:solidFill>
                          <a:effectLst/>
                          <a:latin typeface="EYInterstate Light" pitchFamily="2" charset="0"/>
                        </a:rPr>
                        <a:t> with the exception of Business Deployment.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rgbClr val="000000"/>
                          </a:solidFill>
                          <a:effectLst/>
                          <a:latin typeface="EYInterstate Light" pitchFamily="2" charset="0"/>
                        </a:rPr>
                        <a:t>Low confidence level in all plans has caused a “30 day get to green” plan to be constructed and driven by A. Guthrie.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22469">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a:ln>
                            <a:noFill/>
                          </a:ln>
                          <a:solidFill>
                            <a:srgbClr val="000000"/>
                          </a:solidFill>
                          <a:effectLst/>
                          <a:latin typeface="EYInterstate Light" pitchFamily="2" charset="0"/>
                        </a:rPr>
                        <a:t>Resource.</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GB" sz="700" b="0" i="0" u="none" strike="noStrike" kern="1200" cap="none" normalizeH="0" baseline="0" dirty="0">
                          <a:ln>
                            <a:noFill/>
                          </a:ln>
                          <a:solidFill>
                            <a:srgbClr val="000000"/>
                          </a:solidFill>
                          <a:effectLst/>
                          <a:latin typeface="EYInterstate Light" pitchFamily="2" charset="0"/>
                          <a:ea typeface="+mn-ea"/>
                          <a:cs typeface="+mn-cs"/>
                        </a:rPr>
                        <a:t>AMBER status for  </a:t>
                      </a:r>
                      <a:r>
                        <a:rPr kumimoji="0" lang="en-GB" sz="700" b="0" i="0" u="none" strike="noStrike" kern="1200" cap="none" normalizeH="0" baseline="0" dirty="0" err="1">
                          <a:ln>
                            <a:noFill/>
                          </a:ln>
                          <a:solidFill>
                            <a:srgbClr val="000000"/>
                          </a:solidFill>
                          <a:effectLst/>
                          <a:latin typeface="EYInterstate Light" pitchFamily="2" charset="0"/>
                          <a:ea typeface="+mn-ea"/>
                          <a:cs typeface="+mn-cs"/>
                        </a:rPr>
                        <a:t>App&amp;Data</a:t>
                      </a:r>
                      <a:r>
                        <a:rPr kumimoji="0" lang="en-GB" sz="700" b="0" i="0" u="none" strike="noStrike" kern="1200" cap="none" normalizeH="0" baseline="0" dirty="0">
                          <a:ln>
                            <a:noFill/>
                          </a:ln>
                          <a:solidFill>
                            <a:srgbClr val="000000"/>
                          </a:solidFill>
                          <a:effectLst/>
                          <a:latin typeface="EYInterstate Light" pitchFamily="2" charset="0"/>
                          <a:ea typeface="+mn-ea"/>
                          <a:cs typeface="+mn-cs"/>
                        </a:rPr>
                        <a:t> only resourcing all others RED.</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a:ln>
                            <a:noFill/>
                          </a:ln>
                          <a:solidFill>
                            <a:srgbClr val="000000"/>
                          </a:solidFill>
                          <a:effectLst/>
                          <a:latin typeface="EYInterstate Light" pitchFamily="2" charset="0"/>
                        </a:rPr>
                        <a:t>Although detailed plans should have been available at start of March this has not been the case and without these it is not possible to clearly define resource requirements.  This is what is driving the red statuses below.</a:t>
                      </a:r>
                      <a:endParaRPr kumimoji="0" lang="en-GB" sz="700" b="0" i="0" u="none" strike="noStrike" kern="1200" cap="none" normalizeH="0" baseline="0" noProof="0" dirty="0">
                        <a:ln>
                          <a:noFill/>
                        </a:ln>
                        <a:solidFill>
                          <a:srgbClr val="000000"/>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09342">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700" b="1" i="0" kern="1200" baseline="0" dirty="0">
                          <a:solidFill>
                            <a:srgbClr val="000000"/>
                          </a:solidFill>
                          <a:latin typeface="EYInterstate Light" pitchFamily="2" charset="0"/>
                          <a:ea typeface="+mn-ea"/>
                          <a:cs typeface="+mn-cs"/>
                        </a:rPr>
                        <a:t>RAIDs.</a:t>
                      </a:r>
                      <a:r>
                        <a:rPr kumimoji="0" lang="en-US" sz="700" b="0" i="0" u="none" strike="noStrike" kern="1200" cap="none" normalizeH="0" baseline="0" dirty="0">
                          <a:ln>
                            <a:noFill/>
                          </a:ln>
                          <a:solidFill>
                            <a:srgbClr val="000000"/>
                          </a:solidFill>
                          <a:effectLst/>
                          <a:latin typeface="EYInterstate Light" pitchFamily="2" charset="0"/>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RAG status reflects  the </a:t>
                      </a:r>
                      <a:r>
                        <a:rPr kumimoji="0" lang="en-US" sz="700" b="0" i="0" u="none" strike="noStrike" kern="1200" cap="none" normalizeH="0" baseline="0" dirty="0" err="1">
                          <a:ln>
                            <a:noFill/>
                          </a:ln>
                          <a:solidFill>
                            <a:srgbClr val="000000"/>
                          </a:solidFill>
                          <a:effectLst/>
                          <a:latin typeface="EYInterstate Light" pitchFamily="2" charset="0"/>
                          <a:ea typeface="+mn-ea"/>
                          <a:cs typeface="+mn-cs"/>
                        </a:rPr>
                        <a:t>workstream’s</a:t>
                      </a:r>
                      <a:r>
                        <a:rPr kumimoji="0" lang="en-US" sz="700" b="0" i="0" u="none" strike="noStrike" kern="1200" cap="none" normalizeH="0" baseline="0" dirty="0">
                          <a:ln>
                            <a:noFill/>
                          </a:ln>
                          <a:solidFill>
                            <a:srgbClr val="000000"/>
                          </a:solidFill>
                          <a:effectLst/>
                          <a:latin typeface="EYInterstate Light" pitchFamily="2" charset="0"/>
                          <a:ea typeface="+mn-ea"/>
                          <a:cs typeface="+mn-cs"/>
                        </a:rPr>
                        <a:t> progress with regards to  the  completion of cleaning up of their RAIDs (taking into account updated details and overdue items).</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RAID activity continues to progress with the advancement of the M&amp;C Get to Green 30 day plan.  Overdue items are steadily declining.</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Assumptions to be validated remain in need of review, as do both pending decisions and decisions to be revalidated.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Weekly M&amp;C Program RAID meetings are on hold for four weeks, as attention will be dedicated to the daily reviews instead.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00124">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a:ln>
                            <a:noFill/>
                          </a:ln>
                          <a:solidFill>
                            <a:srgbClr val="000000"/>
                          </a:solidFill>
                          <a:effectLst/>
                          <a:latin typeface="EYInterstate Light" pitchFamily="2" charset="0"/>
                        </a:rPr>
                        <a:t>Change Control.</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err="1">
                          <a:ln>
                            <a:noFill/>
                          </a:ln>
                          <a:solidFill>
                            <a:srgbClr val="000000"/>
                          </a:solidFill>
                          <a:effectLst/>
                          <a:latin typeface="EYInterstate Light" pitchFamily="2" charset="0"/>
                        </a:rPr>
                        <a:t>Lync</a:t>
                      </a:r>
                      <a:r>
                        <a:rPr kumimoji="0" lang="en-GB" sz="700" b="0" i="0" u="none" strike="noStrike" cap="none" normalizeH="0" baseline="0" dirty="0">
                          <a:ln>
                            <a:noFill/>
                          </a:ln>
                          <a:solidFill>
                            <a:srgbClr val="000000"/>
                          </a:solidFill>
                          <a:effectLst/>
                          <a:latin typeface="EYInterstate Light" pitchFamily="2" charset="0"/>
                        </a:rPr>
                        <a:t> Planning – Approved as a legacy change by CCB.</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a:ln>
                            <a:noFill/>
                          </a:ln>
                          <a:solidFill>
                            <a:srgbClr val="000000"/>
                          </a:solidFill>
                          <a:effectLst/>
                          <a:latin typeface="EYInterstate Light" pitchFamily="2" charset="0"/>
                        </a:rPr>
                        <a:t>ADM  Ramp Down – Approved by CCB, Approved by </a:t>
                      </a:r>
                      <a:r>
                        <a:rPr kumimoji="0" lang="en-GB" sz="700" b="0" i="0" u="none" strike="noStrike" kern="1200" cap="none" normalizeH="0" baseline="0" dirty="0">
                          <a:ln>
                            <a:noFill/>
                          </a:ln>
                          <a:solidFill>
                            <a:srgbClr val="000000"/>
                          </a:solidFill>
                          <a:effectLst/>
                          <a:latin typeface="EYInterstate Light" pitchFamily="2" charset="0"/>
                          <a:ea typeface="+mn-ea"/>
                          <a:cs typeface="+mn-cs"/>
                        </a:rPr>
                        <a:t>Alan Guthrie and Bob  Reiner</a:t>
                      </a:r>
                      <a:endParaRPr kumimoji="0" lang="en-GB" sz="700" b="0" i="0" u="none" strike="noStrike" cap="none" normalizeH="0" baseline="0" dirty="0">
                        <a:ln>
                          <a:noFill/>
                        </a:ln>
                        <a:solidFill>
                          <a:srgbClr val="00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a:ln>
                            <a:noFill/>
                          </a:ln>
                          <a:solidFill>
                            <a:srgbClr val="000000"/>
                          </a:solidFill>
                          <a:effectLst/>
                          <a:latin typeface="EYInterstate Light" pitchFamily="2" charset="0"/>
                          <a:ea typeface="+mn-ea"/>
                          <a:cs typeface="+mn-cs"/>
                        </a:rPr>
                        <a:t>Tech Foundation - Messaging Design O365D Impact – approved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a:ln>
                            <a:noFill/>
                          </a:ln>
                          <a:solidFill>
                            <a:srgbClr val="000000"/>
                          </a:solidFill>
                          <a:effectLst/>
                          <a:latin typeface="EYInterstate Light" pitchFamily="2" charset="0"/>
                          <a:ea typeface="+mn-ea"/>
                          <a:cs typeface="+mn-cs"/>
                        </a:rPr>
                        <a:t>Unified </a:t>
                      </a:r>
                      <a:r>
                        <a:rPr kumimoji="0" lang="en-GB" sz="700" b="0" i="0" u="none" strike="noStrike" kern="1200" cap="none" normalizeH="0" baseline="0" dirty="0" err="1">
                          <a:ln>
                            <a:noFill/>
                          </a:ln>
                          <a:solidFill>
                            <a:srgbClr val="000000"/>
                          </a:solidFill>
                          <a:effectLst/>
                          <a:latin typeface="EYInterstate Light" pitchFamily="2" charset="0"/>
                          <a:ea typeface="+mn-ea"/>
                          <a:cs typeface="+mn-cs"/>
                        </a:rPr>
                        <a:t>Comms</a:t>
                      </a:r>
                      <a:r>
                        <a:rPr kumimoji="0" lang="en-GB" sz="700" b="0" i="0" u="none" strike="noStrike" kern="1200" cap="none" normalizeH="0" baseline="0" dirty="0">
                          <a:ln>
                            <a:noFill/>
                          </a:ln>
                          <a:solidFill>
                            <a:srgbClr val="000000"/>
                          </a:solidFill>
                          <a:effectLst/>
                          <a:latin typeface="EYInterstate Light" pitchFamily="2" charset="0"/>
                          <a:ea typeface="+mn-ea"/>
                          <a:cs typeface="+mn-cs"/>
                        </a:rPr>
                        <a:t> - MMD – </a:t>
                      </a:r>
                      <a:r>
                        <a:rPr kumimoji="0" lang="en-GB" sz="700" b="0" i="0" u="none" strike="noStrike" kern="1200" cap="none" normalizeH="0" baseline="0" dirty="0" err="1">
                          <a:ln>
                            <a:noFill/>
                          </a:ln>
                          <a:solidFill>
                            <a:srgbClr val="000000"/>
                          </a:solidFill>
                          <a:effectLst/>
                          <a:latin typeface="EYInterstate Light" pitchFamily="2" charset="0"/>
                          <a:ea typeface="+mn-ea"/>
                          <a:cs typeface="+mn-cs"/>
                        </a:rPr>
                        <a:t>descope</a:t>
                      </a:r>
                      <a:r>
                        <a:rPr kumimoji="0" lang="en-GB" sz="700" b="0" i="0" u="none" strike="noStrike" kern="1200" cap="none" normalizeH="0" baseline="0" dirty="0">
                          <a:ln>
                            <a:noFill/>
                          </a:ln>
                          <a:solidFill>
                            <a:srgbClr val="000000"/>
                          </a:solidFill>
                          <a:effectLst/>
                          <a:latin typeface="EYInterstate Light" pitchFamily="2" charset="0"/>
                          <a:ea typeface="+mn-ea"/>
                          <a:cs typeface="+mn-cs"/>
                        </a:rPr>
                        <a:t> – CR rejected pending action from PM.</a:t>
                      </a:r>
                      <a:endParaRPr kumimoji="0" lang="en-US" sz="700" b="0" i="0" u="none" strike="noStrike" cap="none" normalizeH="0" baseline="0" dirty="0">
                        <a:ln>
                          <a:noFill/>
                        </a:ln>
                        <a:solidFill>
                          <a:srgbClr val="00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03243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a:ln>
                            <a:noFill/>
                          </a:ln>
                          <a:solidFill>
                            <a:srgbClr val="000000"/>
                          </a:solidFill>
                          <a:effectLst/>
                          <a:latin typeface="EYInterstate Light" pitchFamily="2" charset="0"/>
                        </a:rPr>
                        <a:t>General .</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pPr>
                      <a:r>
                        <a:rPr kumimoji="0" lang="en-US" sz="700" b="0" i="0" u="none" strike="noStrike" cap="none" normalizeH="0" baseline="0" dirty="0">
                          <a:ln>
                            <a:noFill/>
                          </a:ln>
                          <a:solidFill>
                            <a:srgbClr val="000000"/>
                          </a:solidFill>
                          <a:effectLst/>
                          <a:latin typeface="EYInterstate Light" pitchFamily="2" charset="0"/>
                        </a:rPr>
                        <a:t>Program generally rated as RED budgeting has declined for 4 programs this week.</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a:ln>
                            <a:noFill/>
                          </a:ln>
                          <a:solidFill>
                            <a:srgbClr val="000000"/>
                          </a:solidFill>
                          <a:effectLst/>
                          <a:latin typeface="EYInterstate Light" pitchFamily="2" charset="0"/>
                        </a:rPr>
                        <a:t> MS Project schedules now all </a:t>
                      </a:r>
                      <a:r>
                        <a:rPr kumimoji="0" lang="en-GB" sz="700" b="0" i="0" u="none" strike="noStrike" cap="none" normalizeH="0" baseline="0" dirty="0" err="1">
                          <a:ln>
                            <a:noFill/>
                          </a:ln>
                          <a:solidFill>
                            <a:srgbClr val="000000"/>
                          </a:solidFill>
                          <a:effectLst/>
                          <a:latin typeface="EYInterstate Light" pitchFamily="2" charset="0"/>
                        </a:rPr>
                        <a:t>baselined</a:t>
                      </a:r>
                      <a:r>
                        <a:rPr kumimoji="0" lang="en-GB" sz="700" b="0" i="0" u="none" strike="noStrike" cap="none" normalizeH="0" baseline="0" dirty="0">
                          <a:ln>
                            <a:noFill/>
                          </a:ln>
                          <a:solidFill>
                            <a:srgbClr val="000000"/>
                          </a:solidFill>
                          <a:effectLst/>
                          <a:latin typeface="EYInterstate Light" pitchFamily="2" charset="0"/>
                        </a:rPr>
                        <a:t> except business deployment, new AMBER status for schedule.</a:t>
                      </a:r>
                      <a:endParaRPr kumimoji="0" lang="en-US" sz="700" b="0" i="0" u="none" strike="noStrike" cap="none" normalizeH="0" baseline="0" dirty="0">
                        <a:ln>
                          <a:noFill/>
                        </a:ln>
                        <a:solidFill>
                          <a:srgbClr val="00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a:ln>
                            <a:noFill/>
                          </a:ln>
                          <a:solidFill>
                            <a:srgbClr val="000000"/>
                          </a:solidFill>
                          <a:effectLst/>
                          <a:latin typeface="EYInterstate Light" pitchFamily="2" charset="0"/>
                        </a:rPr>
                        <a:t>Program Planning still ongoing and POAP expected 5</a:t>
                      </a:r>
                      <a:r>
                        <a:rPr kumimoji="0" lang="en-GB" sz="700" b="0" i="0" u="none" strike="noStrike" cap="none" normalizeH="0" baseline="30000" dirty="0">
                          <a:ln>
                            <a:noFill/>
                          </a:ln>
                          <a:solidFill>
                            <a:srgbClr val="000000"/>
                          </a:solidFill>
                          <a:effectLst/>
                          <a:latin typeface="EYInterstate Light" pitchFamily="2" charset="0"/>
                        </a:rPr>
                        <a:t>th</a:t>
                      </a:r>
                      <a:r>
                        <a:rPr kumimoji="0" lang="en-GB" sz="700" b="0" i="0" u="none" strike="noStrike" cap="none" normalizeH="0" baseline="0" dirty="0">
                          <a:ln>
                            <a:noFill/>
                          </a:ln>
                          <a:solidFill>
                            <a:srgbClr val="000000"/>
                          </a:solidFill>
                          <a:effectLst/>
                          <a:latin typeface="EYInterstate Light" pitchFamily="2" charset="0"/>
                        </a:rPr>
                        <a:t> of March.</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a:ln>
                            <a:noFill/>
                          </a:ln>
                          <a:solidFill>
                            <a:srgbClr val="000000"/>
                          </a:solidFill>
                          <a:effectLst/>
                          <a:latin typeface="EYInterstate Light" pitchFamily="2" charset="0"/>
                        </a:rPr>
                        <a:t> Resourcing RED due to Planning and changes in scope.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a:ln>
                            <a:noFill/>
                          </a:ln>
                          <a:solidFill>
                            <a:srgbClr val="000000"/>
                          </a:solidFill>
                          <a:effectLst/>
                          <a:latin typeface="EYInterstate Light" pitchFamily="2" charset="0"/>
                        </a:rPr>
                        <a:t>M&amp;C 30 day Get to Green exercise in progress and significant progress is being made.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a:ln>
                            <a:noFill/>
                          </a:ln>
                          <a:solidFill>
                            <a:srgbClr val="000000"/>
                          </a:solidFill>
                          <a:effectLst/>
                          <a:latin typeface="EYInterstate Light" pitchFamily="2" charset="0"/>
                        </a:rPr>
                        <a:t>Weekly report review process now in place. (PMO)</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7893185"/>
              </p:ext>
            </p:extLst>
          </p:nvPr>
        </p:nvGraphicFramePr>
        <p:xfrm>
          <a:off x="-2459" y="3216609"/>
          <a:ext cx="5869857" cy="1475920"/>
        </p:xfrm>
        <a:graphic>
          <a:graphicData uri="http://schemas.openxmlformats.org/drawingml/2006/table">
            <a:tbl>
              <a:tblPr/>
              <a:tblGrid>
                <a:gridCol w="881791">
                  <a:extLst>
                    <a:ext uri="{9D8B030D-6E8A-4147-A177-3AD203B41FA5}">
                      <a16:colId xmlns:a16="http://schemas.microsoft.com/office/drawing/2014/main" val="20000"/>
                    </a:ext>
                  </a:extLst>
                </a:gridCol>
                <a:gridCol w="678550">
                  <a:extLst>
                    <a:ext uri="{9D8B030D-6E8A-4147-A177-3AD203B41FA5}">
                      <a16:colId xmlns:a16="http://schemas.microsoft.com/office/drawing/2014/main" val="20001"/>
                    </a:ext>
                  </a:extLst>
                </a:gridCol>
                <a:gridCol w="668718">
                  <a:extLst>
                    <a:ext uri="{9D8B030D-6E8A-4147-A177-3AD203B41FA5}">
                      <a16:colId xmlns:a16="http://schemas.microsoft.com/office/drawing/2014/main" val="20002"/>
                    </a:ext>
                  </a:extLst>
                </a:gridCol>
                <a:gridCol w="668718">
                  <a:extLst>
                    <a:ext uri="{9D8B030D-6E8A-4147-A177-3AD203B41FA5}">
                      <a16:colId xmlns:a16="http://schemas.microsoft.com/office/drawing/2014/main" val="20003"/>
                    </a:ext>
                  </a:extLst>
                </a:gridCol>
                <a:gridCol w="668718">
                  <a:extLst>
                    <a:ext uri="{9D8B030D-6E8A-4147-A177-3AD203B41FA5}">
                      <a16:colId xmlns:a16="http://schemas.microsoft.com/office/drawing/2014/main" val="20004"/>
                    </a:ext>
                  </a:extLst>
                </a:gridCol>
                <a:gridCol w="668718">
                  <a:extLst>
                    <a:ext uri="{9D8B030D-6E8A-4147-A177-3AD203B41FA5}">
                      <a16:colId xmlns:a16="http://schemas.microsoft.com/office/drawing/2014/main" val="20005"/>
                    </a:ext>
                  </a:extLst>
                </a:gridCol>
                <a:gridCol w="743020">
                  <a:extLst>
                    <a:ext uri="{9D8B030D-6E8A-4147-A177-3AD203B41FA5}">
                      <a16:colId xmlns:a16="http://schemas.microsoft.com/office/drawing/2014/main" val="20006"/>
                    </a:ext>
                  </a:extLst>
                </a:gridCol>
                <a:gridCol w="891624">
                  <a:extLst>
                    <a:ext uri="{9D8B030D-6E8A-4147-A177-3AD203B41FA5}">
                      <a16:colId xmlns:a16="http://schemas.microsoft.com/office/drawing/2014/main" val="20007"/>
                    </a:ext>
                  </a:extLst>
                </a:gridCol>
              </a:tblGrid>
              <a:tr h="20788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RAG Trend Weekly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233103">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Program</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This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a:ln>
                            <a:noFill/>
                          </a:ln>
                          <a:solidFill>
                            <a:srgbClr val="000000"/>
                          </a:solidFill>
                          <a:effectLst/>
                          <a:latin typeface="EYInterstate Light" pitchFamily="2" charset="0"/>
                        </a:rPr>
                        <a:t>Last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Week -2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Week -3</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Week -4</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Week -5</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rgbClr val="000000"/>
                          </a:solidFill>
                          <a:effectLst/>
                          <a:latin typeface="EYInterstate Light" pitchFamily="2" charset="0"/>
                        </a:rPr>
                        <a:t>Week -6</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a:solidFill>
                            <a:srgbClr val="000000"/>
                          </a:solidFill>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2"/>
                  </a:ext>
                </a:extLst>
              </a:tr>
              <a:tr h="25203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Transitions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algn="ctr"/>
                      <a:r>
                        <a:rPr lang="en-GB" sz="700" dirty="0">
                          <a:solidFill>
                            <a:srgbClr val="000000"/>
                          </a:solidFill>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3"/>
                  </a:ext>
                </a:extLst>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Email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a:solidFill>
                            <a:srgbClr val="000000"/>
                          </a:solidFill>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4"/>
                  </a:ext>
                </a:extLst>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Oyster Card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a:solidFill>
                            <a:srgbClr val="000000"/>
                          </a:solidFill>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spc="0" normalizeH="0" baseline="0" noProof="0" dirty="0">
                          <a:ln>
                            <a:noFill/>
                          </a:ln>
                          <a:solidFill>
                            <a:srgbClr val="000000"/>
                          </a:solidFill>
                          <a:effectLst/>
                          <a:uLnTx/>
                          <a:uFillTx/>
                          <a:latin typeface="EYInterstate Light" pitchFamily="2" charset="0"/>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spc="0" normalizeH="0" baseline="0" noProof="0" dirty="0">
                          <a:ln>
                            <a:noFill/>
                          </a:ln>
                          <a:solidFill>
                            <a:srgbClr val="000000"/>
                          </a:solidFill>
                          <a:effectLst/>
                          <a:uLnTx/>
                          <a:uFillTx/>
                          <a:latin typeface="EYInterstate Light" pitchFamily="2" charset="0"/>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226045415"/>
              </p:ext>
            </p:extLst>
          </p:nvPr>
        </p:nvGraphicFramePr>
        <p:xfrm>
          <a:off x="2" y="530137"/>
          <a:ext cx="5257798" cy="2273145"/>
        </p:xfrm>
        <a:graphic>
          <a:graphicData uri="http://schemas.openxmlformats.org/drawingml/2006/table">
            <a:tbl>
              <a:tblPr/>
              <a:tblGrid>
                <a:gridCol w="893240">
                  <a:extLst>
                    <a:ext uri="{9D8B030D-6E8A-4147-A177-3AD203B41FA5}">
                      <a16:colId xmlns:a16="http://schemas.microsoft.com/office/drawing/2014/main" val="20000"/>
                    </a:ext>
                  </a:extLst>
                </a:gridCol>
                <a:gridCol w="429561">
                  <a:extLst>
                    <a:ext uri="{9D8B030D-6E8A-4147-A177-3AD203B41FA5}">
                      <a16:colId xmlns:a16="http://schemas.microsoft.com/office/drawing/2014/main" val="20001"/>
                    </a:ext>
                  </a:extLst>
                </a:gridCol>
                <a:gridCol w="429797">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170512">
                <a:tc gridSpan="9">
                  <a:txBody>
                    <a:bodyPr/>
                    <a:lstStyle/>
                    <a:p>
                      <a:pPr algn="l" rtl="0" fontAlgn="ctr"/>
                      <a:r>
                        <a:rPr lang="en-GB" sz="700" b="1" i="0" u="none" strike="noStrike" dirty="0">
                          <a:solidFill>
                            <a:srgbClr val="646464"/>
                          </a:solidFill>
                          <a:latin typeface="EYInterstate"/>
                        </a:rPr>
                        <a:t>Weekly Ratings</a:t>
                      </a:r>
                      <a:r>
                        <a:rPr lang="en-GB" sz="700" b="0" i="0" u="none" strike="noStrike" dirty="0">
                          <a:solidFill>
                            <a:srgbClr val="646464"/>
                          </a:solidFill>
                          <a:latin typeface="EYInterstate"/>
                        </a:rPr>
                        <a:t> </a:t>
                      </a:r>
                      <a:endParaRPr lang="en-GB" sz="700" b="1" i="0" u="none" strike="noStrike" dirty="0">
                        <a:solidFill>
                          <a:srgbClr val="646464"/>
                        </a:solidFill>
                        <a:latin typeface="EYInterstate"/>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170512">
                <a:tc>
                  <a:txBody>
                    <a:bodyPr/>
                    <a:lstStyle/>
                    <a:p>
                      <a:pPr algn="l" fontAlgn="ctr"/>
                      <a:r>
                        <a:rPr lang="en-GB" sz="700" b="0" i="0" u="none" strike="noStrike">
                          <a:solidFill>
                            <a:srgbClr val="646464"/>
                          </a:solidFill>
                          <a:latin typeface="EYInterstate"/>
                        </a:rPr>
                        <a:t>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gridSpan="4">
                  <a:txBody>
                    <a:bodyPr/>
                    <a:lstStyle/>
                    <a:p>
                      <a:pPr algn="l" rtl="0" fontAlgn="ctr"/>
                      <a:r>
                        <a:rPr lang="en-GB" sz="700" b="1" i="0" u="none" strike="noStrike" dirty="0">
                          <a:solidFill>
                            <a:srgbClr val="646464"/>
                          </a:solidFill>
                          <a:latin typeface="EYInterstate"/>
                        </a:rPr>
                        <a:t>Program Assessment (Per PM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l" rtl="0" fontAlgn="ctr"/>
                      <a:r>
                        <a:rPr lang="en-GB" sz="700" b="1" i="0" u="none" strike="noStrike" dirty="0">
                          <a:solidFill>
                            <a:srgbClr val="646464"/>
                          </a:solidFill>
                          <a:latin typeface="EYInterstate"/>
                        </a:rPr>
                        <a:t>PMO Assessment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1"/>
                  </a:ext>
                </a:extLst>
              </a:tr>
              <a:tr h="240723">
                <a:tc>
                  <a:txBody>
                    <a:bodyPr/>
                    <a:lstStyle/>
                    <a:p>
                      <a:pPr algn="ctr" rtl="0" fontAlgn="ctr"/>
                      <a:r>
                        <a:rPr lang="en-GB" sz="700" b="1" i="0" u="none" strike="noStrike" dirty="0">
                          <a:solidFill>
                            <a:srgbClr val="000000"/>
                          </a:solidFill>
                          <a:latin typeface="EYInterstate Ligh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Scope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Time</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Cost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Schedule</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9245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Communications</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algn="ctr"/>
                      <a:r>
                        <a:rPr lang="en-GB" sz="700" dirty="0">
                          <a:solidFill>
                            <a:srgbClr val="000000"/>
                          </a:solidFill>
                          <a:latin typeface="EYInterstate Light" pitchFamily="2" charset="0"/>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algn="ctr"/>
                      <a:r>
                        <a:rPr lang="en-GB" sz="700" dirty="0">
                          <a:solidFill>
                            <a:srgbClr val="000000"/>
                          </a:solidFill>
                          <a:latin typeface="EYInterstate Light" pitchFamily="2" charset="0"/>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algn="ctr"/>
                      <a:r>
                        <a:rPr lang="en-GB" sz="700" dirty="0">
                          <a:solidFill>
                            <a:srgbClr val="000000"/>
                          </a:solidFill>
                          <a:latin typeface="EYInterstate Light" pitchFamily="2" charset="0"/>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algn="ctr"/>
                      <a:r>
                        <a:rPr lang="en-GB" sz="700" dirty="0">
                          <a:solidFill>
                            <a:srgbClr val="000000"/>
                          </a:solidFill>
                          <a:latin typeface="EYInterstate Light" pitchFamily="2" charset="0"/>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a:ln>
                            <a:noFill/>
                          </a:ln>
                          <a:solidFill>
                            <a:srgbClr val="000000"/>
                          </a:solidFill>
                          <a:effectLst/>
                          <a:latin typeface="EYInterstate Light" pitchFamily="2" charset="0"/>
                          <a:ea typeface="+mn-ea"/>
                          <a:cs typeface="+mn-cs"/>
                        </a:rPr>
                        <a:t>GREEN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r h="37809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Transitions</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algn="ctr" rtl="0" fontAlgn="ct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GREEN</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extLst>
                  <a:ext uri="{0D108BD9-81ED-4DB2-BD59-A6C34878D82A}">
                    <a16:rowId xmlns:a16="http://schemas.microsoft.com/office/drawing/2014/main" val="10004"/>
                  </a:ext>
                </a:extLst>
              </a:tr>
              <a:tr h="34362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Email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extLst>
                  <a:ext uri="{0D108BD9-81ED-4DB2-BD59-A6C34878D82A}">
                    <a16:rowId xmlns:a16="http://schemas.microsoft.com/office/drawing/2014/main" val="10005"/>
                  </a:ext>
                </a:extLst>
              </a:tr>
              <a:tr h="34832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a:ln>
                            <a:noFill/>
                          </a:ln>
                          <a:solidFill>
                            <a:srgbClr val="000000"/>
                          </a:solidFill>
                          <a:effectLst/>
                          <a:latin typeface="EYInterstate Light" pitchFamily="2" charset="0"/>
                          <a:ea typeface="+mn-ea"/>
                          <a:cs typeface="+mn-cs"/>
                        </a:rPr>
                        <a:t>Oyster Card</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pPr algn="ctr" rtl="0" fontAlgn="ct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extLst>
                  <a:ext uri="{0D108BD9-81ED-4DB2-BD59-A6C34878D82A}">
                    <a16:rowId xmlns:a16="http://schemas.microsoft.com/office/drawing/2014/main" val="10006"/>
                  </a:ext>
                </a:extLst>
              </a:tr>
              <a:tr h="328896">
                <a:tc>
                  <a:txBody>
                    <a:bodyPr/>
                    <a:lstStyle/>
                    <a:p>
                      <a:pPr algn="ctr" rtl="0" fontAlgn="ctr"/>
                      <a:r>
                        <a:rPr lang="en-GB" sz="700" b="1" i="0" u="none" strike="noStrike" dirty="0">
                          <a:solidFill>
                            <a:srgbClr val="000000"/>
                          </a:solidFill>
                          <a:latin typeface="EYInterstate Light"/>
                        </a:rPr>
                        <a:t>Overall</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solidFill>
                          <a:effectLst/>
                          <a:uLnTx/>
                          <a:uFillTx/>
                          <a:latin typeface="EYInterstate Light"/>
                          <a:ea typeface="+mn-ea"/>
                          <a:cs typeface="+mn-cs"/>
                        </a:rPr>
                        <a:t>AMBER</a:t>
                      </a:r>
                      <a:endParaRPr kumimoji="0" lang="en-GB" sz="700" b="0" i="0" u="none" strike="noStrike" kern="1200" cap="none" spc="0" normalizeH="0" baseline="0" noProof="0" dirty="0">
                        <a:ln>
                          <a:noFill/>
                        </a:ln>
                        <a:solidFill>
                          <a:srgbClr val="000000"/>
                        </a:solidFill>
                        <a:effectLst/>
                        <a:uLnTx/>
                        <a:uFillTx/>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solidFill>
                          <a:effectLst/>
                          <a:uLnTx/>
                          <a:uFillTx/>
                          <a:latin typeface="EYInterstate Light"/>
                          <a:ea typeface="+mn-ea"/>
                          <a:cs typeface="+mn-cs"/>
                        </a:rPr>
                        <a:t>AMBER</a:t>
                      </a:r>
                      <a:endParaRPr kumimoji="0" lang="en-GB" sz="700" b="0" i="0" u="none" strike="noStrike" kern="1200" cap="none" spc="0" normalizeH="0" baseline="0" noProof="0" dirty="0">
                        <a:ln>
                          <a:noFill/>
                        </a:ln>
                        <a:solidFill>
                          <a:srgbClr val="000000"/>
                        </a:solidFill>
                        <a:effectLst/>
                        <a:uLnTx/>
                        <a:uFillTx/>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dirty="0">
                          <a:ln>
                            <a:noFill/>
                          </a:ln>
                          <a:solidFill>
                            <a:srgbClr val="000000"/>
                          </a:solidFill>
                          <a:effectLst/>
                          <a:uLnTx/>
                          <a:uFillTx/>
                          <a:latin typeface="EYInterstate Light"/>
                          <a:ea typeface="+mn-ea"/>
                          <a:cs typeface="+mn-cs"/>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256137500"/>
              </p:ext>
            </p:extLst>
          </p:nvPr>
        </p:nvGraphicFramePr>
        <p:xfrm>
          <a:off x="75619" y="2819400"/>
          <a:ext cx="4355123" cy="3195432"/>
        </p:xfrm>
        <a:graphic>
          <a:graphicData uri="http://schemas.openxmlformats.org/drawingml/2006/table">
            <a:tbl>
              <a:tblPr/>
              <a:tblGrid>
                <a:gridCol w="4355123">
                  <a:extLst>
                    <a:ext uri="{9D8B030D-6E8A-4147-A177-3AD203B41FA5}">
                      <a16:colId xmlns:a16="http://schemas.microsoft.com/office/drawing/2014/main" val="20000"/>
                    </a:ext>
                  </a:extLst>
                </a:gridCol>
              </a:tblGrid>
              <a:tr h="1524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713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ATT have completed their Security tasks for all three Data Centres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EYQA AD Trust was established successfully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team have successfully completed the build phase of ‘new’ FIM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CR to SOW2 to extend ATT Consulting Resources has been approved by both EY and ATT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Support models for both pre-pilot and pilot defined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3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77432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remaining CoLo build work for Amsterdam</a:t>
                      </a:r>
                      <a:endPar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Finalising contract change for SBA orders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Building the eBond solution – way-forward agreed with ATT, dependant on EY resource availability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the GAP testing required for Lync testing to commence and establishing the Production Trust (I522)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442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4"/>
                  </a:ext>
                </a:extLst>
              </a:tr>
              <a:tr h="4437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Establish the Production trust with ATT then commence Infrastructure Readiness Tests.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Agree contracts for procuring future SBAs and implementing additional security controls (services).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Progress remaining activities to finalise  Amsterdam colo spaces.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Commence functional testing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Rollout Lync to ~400 IT Staff (pre-pilot)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1944712680"/>
              </p:ext>
            </p:extLst>
          </p:nvPr>
        </p:nvGraphicFramePr>
        <p:xfrm>
          <a:off x="4585490" y="3505200"/>
          <a:ext cx="4495800" cy="2385412"/>
        </p:xfrm>
        <a:graphic>
          <a:graphicData uri="http://schemas.openxmlformats.org/drawingml/2006/table">
            <a:tbl>
              <a:tblPr/>
              <a:tblGrid>
                <a:gridCol w="1665838">
                  <a:extLst>
                    <a:ext uri="{9D8B030D-6E8A-4147-A177-3AD203B41FA5}">
                      <a16:colId xmlns:a16="http://schemas.microsoft.com/office/drawing/2014/main" val="20000"/>
                    </a:ext>
                  </a:extLst>
                </a:gridCol>
                <a:gridCol w="1305962">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0984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68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95840">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I216 - </a:t>
                      </a:r>
                      <a:r>
                        <a:rPr kumimoji="0" lang="en-GB" sz="800" b="0" i="0" u="none" strike="noStrike" kern="1200" cap="none" normalizeH="0" baseline="0" dirty="0">
                          <a:ln>
                            <a:noFill/>
                          </a:ln>
                          <a:solidFill>
                            <a:schemeClr val="tx1"/>
                          </a:solidFill>
                          <a:effectLst/>
                          <a:latin typeface="EYInterstate Light" pitchFamily="2" charset="0"/>
                          <a:ea typeface="+mn-ea"/>
                          <a:cs typeface="+mn-cs"/>
                        </a:rPr>
                        <a:t>There is no complete test environment for the M&amp;C Solution so once users are 'live' there is no integrated  way of testing enhancements / fixes</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Look at options for developing the right environment for post go live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5139">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I489 - There is currently no plan for the delivery of the eBonding Solution for Lync</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Meet with ATT to agree technical way-fwd </a:t>
                      </a:r>
                      <a:r>
                        <a:rPr kumimoji="0" lang="en-GB" sz="800" b="0" i="0" u="sng" strike="noStrike" kern="1200" cap="none" normalizeH="0" baseline="0" dirty="0">
                          <a:ln>
                            <a:noFill/>
                          </a:ln>
                          <a:solidFill>
                            <a:schemeClr val="tx1"/>
                          </a:solidFill>
                          <a:effectLst/>
                          <a:latin typeface="EYInterstate Light" pitchFamily="2" charset="0"/>
                          <a:ea typeface="+mn-ea"/>
                          <a:cs typeface="+mn-cs"/>
                        </a:rPr>
                        <a:t>and</a:t>
                      </a:r>
                      <a:r>
                        <a:rPr kumimoji="0" lang="en-GB" sz="800" b="0" i="0" u="none" strike="noStrike" kern="1200" cap="none" normalizeH="0" baseline="0" dirty="0">
                          <a:ln>
                            <a:noFill/>
                          </a:ln>
                          <a:solidFill>
                            <a:schemeClr val="tx1"/>
                          </a:solidFill>
                          <a:effectLst/>
                          <a:latin typeface="EYInterstate Light" pitchFamily="2" charset="0"/>
                          <a:ea typeface="+mn-ea"/>
                          <a:cs typeface="+mn-cs"/>
                        </a:rPr>
                        <a:t> raise request internally for resource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15-Nov-13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41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Scope Change requests to be approved</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gridSpan="3">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Recommended Action</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CR161 - Additional Security Controls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Approved subject to confirmation from InfoSec and Ops</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 TBC - </a:t>
                      </a:r>
                      <a:r>
                        <a:rPr kumimoji="0" lang="en-GB" sz="800" b="0" i="0" u="none" strike="noStrike" kern="1200" cap="none" normalizeH="0" baseline="0" dirty="0">
                          <a:ln>
                            <a:noFill/>
                          </a:ln>
                          <a:solidFill>
                            <a:schemeClr val="tx1"/>
                          </a:solidFill>
                          <a:effectLst/>
                          <a:latin typeface="EYInterstate Light" pitchFamily="2" charset="0"/>
                          <a:ea typeface="+mn-ea"/>
                          <a:cs typeface="+mn-cs"/>
                        </a:rPr>
                        <a:t>Delays due to two external factors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Quantify impacts of changes from dependant teams (GAP and AD) then update Lync plan accordingly</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1130673050"/>
              </p:ext>
            </p:extLst>
          </p:nvPr>
        </p:nvGraphicFramePr>
        <p:xfrm>
          <a:off x="76200" y="603816"/>
          <a:ext cx="4360985" cy="2046420"/>
        </p:xfrm>
        <a:graphic>
          <a:graphicData uri="http://schemas.openxmlformats.org/drawingml/2006/table">
            <a:tbl>
              <a:tblPr/>
              <a:tblGrid>
                <a:gridCol w="4360985">
                  <a:extLst>
                    <a:ext uri="{9D8B030D-6E8A-4147-A177-3AD203B41FA5}">
                      <a16:colId xmlns:a16="http://schemas.microsoft.com/office/drawing/2014/main" val="20000"/>
                    </a:ext>
                  </a:extLst>
                </a:gridCol>
              </a:tblGrid>
              <a:tr h="11503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A.  </a:t>
                      </a:r>
                      <a:r>
                        <a:rPr kumimoji="0" lang="en-GB" sz="900" b="1" i="0" u="none" strike="noStrike" cap="none" normalizeH="0" baseline="0" dirty="0">
                          <a:ln>
                            <a:noFill/>
                          </a:ln>
                          <a:solidFill>
                            <a:schemeClr val="tx1"/>
                          </a:solidFill>
                          <a:effectLst/>
                          <a:latin typeface="EYInterstate" pitchFamily="2" charset="0"/>
                        </a:rPr>
                        <a:t>EXECUTIVE SUMMARY – a summary of the progress for this period (not of the initiative)</a:t>
                      </a:r>
                      <a:endParaRPr kumimoji="0" lang="en-US" sz="900" b="1" i="0" u="none" strike="noStrike" cap="none" normalizeH="0" baseline="0" dirty="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5671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team have successfully established the trust connection between EYQA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Two external factors have impacted the Lync Program Milestones by an estimated 1 week (I522) :</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a:t>
                      </a: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team were requested to complete some changes on the UVT solution, therefore diverting efforts from their Lync deliverables</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Issues with Production </a:t>
                      </a: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AD prevented the Lync team from establishing the trust connection between Production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Implementing additional controls to address a Security requirement for SBAs (“Isolation and Separation of the SBAs within the office locations”) is likely to impact the delivery of Enterprise Voice by months – will most likely need snr management decision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Work progresses to define solution for VPN-less access (i.e. EDGE) to mitigate potential call quality issues (R458).</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3402591347"/>
              </p:ext>
            </p:extLst>
          </p:nvPr>
        </p:nvGraphicFramePr>
        <p:xfrm>
          <a:off x="4588793" y="609600"/>
          <a:ext cx="4479007" cy="1526603"/>
        </p:xfrm>
        <a:graphic>
          <a:graphicData uri="http://schemas.openxmlformats.org/drawingml/2006/table">
            <a:tbl>
              <a:tblPr/>
              <a:tblGrid>
                <a:gridCol w="1523999">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88985">
                  <a:extLst>
                    <a:ext uri="{9D8B030D-6E8A-4147-A177-3AD203B41FA5}">
                      <a16:colId xmlns:a16="http://schemas.microsoft.com/office/drawing/2014/main" val="20003"/>
                    </a:ext>
                  </a:extLst>
                </a:gridCol>
                <a:gridCol w="541297">
                  <a:extLst>
                    <a:ext uri="{9D8B030D-6E8A-4147-A177-3AD203B41FA5}">
                      <a16:colId xmlns:a16="http://schemas.microsoft.com/office/drawing/2014/main" val="20004"/>
                    </a:ext>
                  </a:extLst>
                </a:gridCol>
                <a:gridCol w="529326">
                  <a:extLst>
                    <a:ext uri="{9D8B030D-6E8A-4147-A177-3AD203B41FA5}">
                      <a16:colId xmlns:a16="http://schemas.microsoft.com/office/drawing/2014/main" val="20005"/>
                    </a:ext>
                  </a:extLst>
                </a:gridCol>
              </a:tblGrid>
              <a:tr h="184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30417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Conf.</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Rating</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Plan Updated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2"/>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31-Oct-13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05-Nov-13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GREEN</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3"/>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14-Mar-14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4"/>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04-Dec-13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11-Dec-13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5"/>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24-Jan-14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10-Mar-14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146685">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
                          <a:srgbClr val="000000"/>
                        </a:buClr>
                        <a:buSzPts val="600"/>
                        <a:buFont typeface="Arial"/>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val="1679681002"/>
              </p:ext>
            </p:extLst>
          </p:nvPr>
        </p:nvGraphicFramePr>
        <p:xfrm>
          <a:off x="7570453" y="17252"/>
          <a:ext cx="1503209" cy="535063"/>
        </p:xfrm>
        <a:graphic>
          <a:graphicData uri="http://schemas.openxmlformats.org/drawingml/2006/table">
            <a:tbl>
              <a:tblPr/>
              <a:tblGrid>
                <a:gridCol w="751604">
                  <a:extLst>
                    <a:ext uri="{9D8B030D-6E8A-4147-A177-3AD203B41FA5}">
                      <a16:colId xmlns:a16="http://schemas.microsoft.com/office/drawing/2014/main" val="20000"/>
                    </a:ext>
                  </a:extLst>
                </a:gridCol>
                <a:gridCol w="751605">
                  <a:extLst>
                    <a:ext uri="{9D8B030D-6E8A-4147-A177-3AD203B41FA5}">
                      <a16:colId xmlns:a16="http://schemas.microsoft.com/office/drawing/2014/main" val="20001"/>
                    </a:ext>
                  </a:extLst>
                </a:gridCol>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507770988"/>
              </p:ext>
            </p:extLst>
          </p:nvPr>
        </p:nvGraphicFramePr>
        <p:xfrm>
          <a:off x="4580958" y="2255219"/>
          <a:ext cx="4495800" cy="1084824"/>
        </p:xfrm>
        <a:graphic>
          <a:graphicData uri="http://schemas.openxmlformats.org/drawingml/2006/table">
            <a:tbl>
              <a:tblPr/>
              <a:tblGrid>
                <a:gridCol w="1582616">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79584">
                  <a:extLst>
                    <a:ext uri="{9D8B030D-6E8A-4147-A177-3AD203B41FA5}">
                      <a16:colId xmlns:a16="http://schemas.microsoft.com/office/drawing/2014/main" val="20003"/>
                    </a:ext>
                  </a:extLst>
                </a:gridCol>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Mitigating Action</a:t>
                      </a:r>
                      <a:endParaRPr kumimoji="0" lang="en-US" sz="800" b="0" i="0" u="none" strike="noStrike" cap="none" normalizeH="0" baseline="0" dirty="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R458 - EYRC or other non factored infrastructure constraints may limit deployment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Expedite implementation of EDGE for remote access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10-Mar-14</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R680 - Change freeze may impact Lync timelines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Raise changes in advance, escalate issue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261010369"/>
              </p:ext>
            </p:extLst>
          </p:nvPr>
        </p:nvGraphicFramePr>
        <p:xfrm>
          <a:off x="4648200" y="6019800"/>
          <a:ext cx="4495800" cy="495577"/>
        </p:xfrm>
        <a:graphic>
          <a:graphicData uri="http://schemas.openxmlformats.org/drawingml/2006/table">
            <a:tbl>
              <a:tblPr/>
              <a:tblGrid>
                <a:gridCol w="4495800">
                  <a:extLst>
                    <a:ext uri="{9D8B030D-6E8A-4147-A177-3AD203B41FA5}">
                      <a16:colId xmlns:a16="http://schemas.microsoft.com/office/drawing/2014/main" val="20000"/>
                    </a:ext>
                  </a:extLst>
                </a:gridCol>
              </a:tblGrid>
              <a:tr h="22437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328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a:ln>
                            <a:noFill/>
                          </a:ln>
                          <a:solidFill>
                            <a:schemeClr val="tx1">
                              <a:lumMod val="85000"/>
                              <a:lumOff val="15000"/>
                            </a:schemeClr>
                          </a:solidFill>
                          <a:effectLst/>
                          <a:latin typeface="EYInterstate Light" pitchFamily="2" charset="0"/>
                        </a:rPr>
                        <a:t>Moved to “Red” status reflects delay to Pilot and Full Deploy milestones due to late delivery of two critical path inbound dependencies.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extLst>
                  <a:ext uri="{0D108BD9-81ED-4DB2-BD59-A6C34878D82A}">
                    <a16:rowId xmlns:a16="http://schemas.microsoft.com/office/drawing/2014/main" val="10000"/>
                  </a:ext>
                </a:extLst>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2" name="Group 27"/>
          <p:cNvGrpSpPr/>
          <p:nvPr/>
        </p:nvGrpSpPr>
        <p:grpSpPr>
          <a:xfrm>
            <a:off x="-76200" y="6357120"/>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84775"/>
          </a:xfrm>
          <a:prstGeom prst="rect">
            <a:avLst/>
          </a:prstGeom>
        </p:spPr>
        <p:txBody>
          <a:bodyPr>
            <a:spAutoFit/>
          </a:bodyPr>
          <a:lstStyle/>
          <a:p>
            <a:pPr defTabSz="955675" eaLnBrk="0" fontAlgn="base" hangingPunct="0">
              <a:spcBef>
                <a:spcPct val="0"/>
              </a:spcBef>
              <a:defRPr/>
            </a:pPr>
            <a:r>
              <a:rPr lang="en-US" sz="1600" b="1" kern="0" dirty="0">
                <a:solidFill>
                  <a:srgbClr val="646464"/>
                </a:solidFill>
              </a:rPr>
              <a:t>Project: Communications Management                                                     27-May-2022</a:t>
            </a:r>
          </a:p>
          <a:p>
            <a:pPr marL="0" marR="0" lvl="0" indent="0" algn="l" defTabSz="955675" rtl="0" eaLnBrk="0" fontAlgn="base" latinLnBrk="0" hangingPunct="0">
              <a:lnSpc>
                <a:spcPct val="100000"/>
              </a:lnSpc>
              <a:spcBef>
                <a:spcPct val="0"/>
              </a:spcBef>
              <a:spcAft>
                <a:spcPts val="0"/>
              </a:spcAft>
              <a:buClrTx/>
              <a:buSzTx/>
              <a:buFontTx/>
              <a:buNone/>
              <a:tabLst/>
              <a:defRPr/>
            </a:pPr>
            <a:r>
              <a:rPr kumimoji="0" lang="en-US" sz="1600" b="1" i="0" u="none" strike="noStrike" kern="0" cap="none" spc="0" normalizeH="0" baseline="0" noProof="0" dirty="0">
                <a:ln>
                  <a:noFill/>
                </a:ln>
                <a:solidFill>
                  <a:srgbClr val="646464"/>
                </a:solidFill>
                <a:effectLst/>
                <a:uLnTx/>
                <a:uFillTx/>
                <a:latin typeface="EYInterstate"/>
                <a:ea typeface="+mn-ea"/>
                <a:cs typeface="+mn-cs"/>
              </a:rPr>
              <a:t>PM: Femi</a:t>
            </a:r>
            <a:endParaRPr lang="en-US" sz="1600" b="1" kern="0" dirty="0">
              <a:solidFill>
                <a:srgbClr val="6464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420277915"/>
              </p:ext>
            </p:extLst>
          </p:nvPr>
        </p:nvGraphicFramePr>
        <p:xfrm>
          <a:off x="75039" y="2859830"/>
          <a:ext cx="4355123" cy="3195432"/>
        </p:xfrm>
        <a:graphic>
          <a:graphicData uri="http://schemas.openxmlformats.org/drawingml/2006/table">
            <a:tbl>
              <a:tblPr/>
              <a:tblGrid>
                <a:gridCol w="4355123">
                  <a:extLst>
                    <a:ext uri="{9D8B030D-6E8A-4147-A177-3AD203B41FA5}">
                      <a16:colId xmlns:a16="http://schemas.microsoft.com/office/drawing/2014/main" val="20000"/>
                    </a:ext>
                  </a:extLst>
                </a:gridCol>
              </a:tblGrid>
              <a:tr h="1524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713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ATT have completed their Security tasks for all three Data Centres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EYQA AD Trust was established successfully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team have successfully completed the build phase of ‘new’ FIM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CR to SOW2 to extend ATT Consulting Resources has been approved by both EY and ATT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Support models for both pre-pilot and pilot defined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3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77432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remaining CoLo build work for Amsterdam</a:t>
                      </a:r>
                      <a:endPar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Finalising contract change for SBA orders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Building the eBond solution – way-forward agreed with ATT, dependant on EY resource availability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the GAP testing required for Lync testing to commence and establishing the Production Trust (I522)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442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4"/>
                  </a:ext>
                </a:extLst>
              </a:tr>
              <a:tr h="4437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Establish the Production trust with ATT then commence Infrastructure Readiness Tests.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Agree contracts for procuring future SBAs and implementing additional security controls (services).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Progress remaining activities to finalise  Amsterdam colo spaces.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Commence functional testing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Rollout Lync to ~400 IT Staff (pre-pilot)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334100" name="Group 852"/>
          <p:cNvGraphicFramePr>
            <a:graphicFrameLocks noGrp="1"/>
          </p:cNvGraphicFramePr>
          <p:nvPr/>
        </p:nvGraphicFramePr>
        <p:xfrm>
          <a:off x="4585490" y="3505200"/>
          <a:ext cx="4495800" cy="2385412"/>
        </p:xfrm>
        <a:graphic>
          <a:graphicData uri="http://schemas.openxmlformats.org/drawingml/2006/table">
            <a:tbl>
              <a:tblPr/>
              <a:tblGrid>
                <a:gridCol w="1665838">
                  <a:extLst>
                    <a:ext uri="{9D8B030D-6E8A-4147-A177-3AD203B41FA5}">
                      <a16:colId xmlns:a16="http://schemas.microsoft.com/office/drawing/2014/main" val="20000"/>
                    </a:ext>
                  </a:extLst>
                </a:gridCol>
                <a:gridCol w="1305962">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0984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68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95840">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I216 - </a:t>
                      </a:r>
                      <a:r>
                        <a:rPr kumimoji="0" lang="en-GB" sz="800" b="0" i="0" u="none" strike="noStrike" kern="1200" cap="none" normalizeH="0" baseline="0" dirty="0">
                          <a:ln>
                            <a:noFill/>
                          </a:ln>
                          <a:solidFill>
                            <a:schemeClr val="tx1"/>
                          </a:solidFill>
                          <a:effectLst/>
                          <a:latin typeface="EYInterstate Light" pitchFamily="2" charset="0"/>
                          <a:ea typeface="+mn-ea"/>
                          <a:cs typeface="+mn-cs"/>
                        </a:rPr>
                        <a:t>There is no complete test environment for the M&amp;C Solution so once users are 'live' there is no integrated  way of testing enhancements / fixes</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Look at options for developing the right environment for post go live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5139">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I489 - There is currently no plan for the delivery of the eBonding Solution for Lync</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Meet with ATT to agree technical way-fwd </a:t>
                      </a:r>
                      <a:r>
                        <a:rPr kumimoji="0" lang="en-GB" sz="800" b="0" i="0" u="sng" strike="noStrike" kern="1200" cap="none" normalizeH="0" baseline="0" dirty="0">
                          <a:ln>
                            <a:noFill/>
                          </a:ln>
                          <a:solidFill>
                            <a:schemeClr val="tx1"/>
                          </a:solidFill>
                          <a:effectLst/>
                          <a:latin typeface="EYInterstate Light" pitchFamily="2" charset="0"/>
                          <a:ea typeface="+mn-ea"/>
                          <a:cs typeface="+mn-cs"/>
                        </a:rPr>
                        <a:t>and</a:t>
                      </a:r>
                      <a:r>
                        <a:rPr kumimoji="0" lang="en-GB" sz="800" b="0" i="0" u="none" strike="noStrike" kern="1200" cap="none" normalizeH="0" baseline="0" dirty="0">
                          <a:ln>
                            <a:noFill/>
                          </a:ln>
                          <a:solidFill>
                            <a:schemeClr val="tx1"/>
                          </a:solidFill>
                          <a:effectLst/>
                          <a:latin typeface="EYInterstate Light" pitchFamily="2" charset="0"/>
                          <a:ea typeface="+mn-ea"/>
                          <a:cs typeface="+mn-cs"/>
                        </a:rPr>
                        <a:t> raise request internally for resource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15-Nov-13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41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Scope Change requests to be approved</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gridSpan="3">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Recommended Action</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CR161 - Additional Security Controls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Approved subject to confirmation from InfoSec and Ops</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 TBC - </a:t>
                      </a:r>
                      <a:r>
                        <a:rPr kumimoji="0" lang="en-GB" sz="800" b="0" i="0" u="none" strike="noStrike" kern="1200" cap="none" normalizeH="0" baseline="0" dirty="0">
                          <a:ln>
                            <a:noFill/>
                          </a:ln>
                          <a:solidFill>
                            <a:schemeClr val="tx1"/>
                          </a:solidFill>
                          <a:effectLst/>
                          <a:latin typeface="EYInterstate Light" pitchFamily="2" charset="0"/>
                          <a:ea typeface="+mn-ea"/>
                          <a:cs typeface="+mn-cs"/>
                        </a:rPr>
                        <a:t>Delays due to two external factors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Quantify impacts of changes from dependant teams (GAP and AD) then update Lync plan accordingly</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bl>
          </a:graphicData>
        </a:graphic>
      </p:graphicFrame>
      <p:graphicFrame>
        <p:nvGraphicFramePr>
          <p:cNvPr id="3317" name="Group 245"/>
          <p:cNvGraphicFramePr>
            <a:graphicFrameLocks noGrp="1"/>
          </p:cNvGraphicFramePr>
          <p:nvPr/>
        </p:nvGraphicFramePr>
        <p:xfrm>
          <a:off x="76200" y="603816"/>
          <a:ext cx="4360985" cy="2046420"/>
        </p:xfrm>
        <a:graphic>
          <a:graphicData uri="http://schemas.openxmlformats.org/drawingml/2006/table">
            <a:tbl>
              <a:tblPr/>
              <a:tblGrid>
                <a:gridCol w="4360985">
                  <a:extLst>
                    <a:ext uri="{9D8B030D-6E8A-4147-A177-3AD203B41FA5}">
                      <a16:colId xmlns:a16="http://schemas.microsoft.com/office/drawing/2014/main" val="20000"/>
                    </a:ext>
                  </a:extLst>
                </a:gridCol>
              </a:tblGrid>
              <a:tr h="11503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A.  </a:t>
                      </a:r>
                      <a:r>
                        <a:rPr kumimoji="0" lang="en-GB" sz="900" b="1" i="0" u="none" strike="noStrike" cap="none" normalizeH="0" baseline="0" dirty="0">
                          <a:ln>
                            <a:noFill/>
                          </a:ln>
                          <a:solidFill>
                            <a:schemeClr val="tx1"/>
                          </a:solidFill>
                          <a:effectLst/>
                          <a:latin typeface="EYInterstate" pitchFamily="2" charset="0"/>
                        </a:rPr>
                        <a:t>EXECUTIVE SUMMARY – a summary of the progress for this period (not of the initiative)</a:t>
                      </a:r>
                      <a:endParaRPr kumimoji="0" lang="en-US" sz="900" b="1" i="0" u="none" strike="noStrike" cap="none" normalizeH="0" baseline="0" dirty="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5671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team have successfully established the trust connection between EYQA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Two external factors have impacted the Lync Program Milestones by an estimated 1 week (I522) :</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a:t>
                      </a: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team were requested to complete some changes on the UVT solution, therefore diverting efforts from their Lync deliverables</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Issues with Production </a:t>
                      </a: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AD prevented the Lync team from establishing the trust connection between Production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Implementing additional controls to address a Security requirement for SBAs (“Isolation and Separation of the SBAs within the office locations”) is likely to impact the delivery of Enterprise Voice by months – will most likely need snr management decision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Work progresses to define solution for VPN-less access (i.e. EDGE) to mitigate potential call quality issues (R458).</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3342" name="Group 270"/>
          <p:cNvGraphicFramePr>
            <a:graphicFrameLocks noGrp="1"/>
          </p:cNvGraphicFramePr>
          <p:nvPr/>
        </p:nvGraphicFramePr>
        <p:xfrm>
          <a:off x="4588793" y="609600"/>
          <a:ext cx="4479007" cy="1526603"/>
        </p:xfrm>
        <a:graphic>
          <a:graphicData uri="http://schemas.openxmlformats.org/drawingml/2006/table">
            <a:tbl>
              <a:tblPr/>
              <a:tblGrid>
                <a:gridCol w="1523999">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88985">
                  <a:extLst>
                    <a:ext uri="{9D8B030D-6E8A-4147-A177-3AD203B41FA5}">
                      <a16:colId xmlns:a16="http://schemas.microsoft.com/office/drawing/2014/main" val="20003"/>
                    </a:ext>
                  </a:extLst>
                </a:gridCol>
                <a:gridCol w="541297">
                  <a:extLst>
                    <a:ext uri="{9D8B030D-6E8A-4147-A177-3AD203B41FA5}">
                      <a16:colId xmlns:a16="http://schemas.microsoft.com/office/drawing/2014/main" val="20004"/>
                    </a:ext>
                  </a:extLst>
                </a:gridCol>
                <a:gridCol w="529326">
                  <a:extLst>
                    <a:ext uri="{9D8B030D-6E8A-4147-A177-3AD203B41FA5}">
                      <a16:colId xmlns:a16="http://schemas.microsoft.com/office/drawing/2014/main" val="20005"/>
                    </a:ext>
                  </a:extLst>
                </a:gridCol>
              </a:tblGrid>
              <a:tr h="184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30417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Conf.</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Rating</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Plan Updated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2"/>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31-Oct-13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05-Nov-13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3"/>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14-Mar-14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4"/>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04-Dec-13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11-Dec-13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5"/>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24-Jan-14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10-Mar-14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146685">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
                          <a:srgbClr val="000000"/>
                        </a:buClr>
                        <a:buSzPts val="600"/>
                        <a:buFont typeface="Arial"/>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5" name="Group 270"/>
          <p:cNvGraphicFramePr>
            <a:graphicFrameLocks noGrp="1"/>
          </p:cNvGraphicFramePr>
          <p:nvPr/>
        </p:nvGraphicFramePr>
        <p:xfrm>
          <a:off x="7570453" y="17252"/>
          <a:ext cx="1503209" cy="535063"/>
        </p:xfrm>
        <a:graphic>
          <a:graphicData uri="http://schemas.openxmlformats.org/drawingml/2006/table">
            <a:tbl>
              <a:tblPr/>
              <a:tblGrid>
                <a:gridCol w="751604">
                  <a:extLst>
                    <a:ext uri="{9D8B030D-6E8A-4147-A177-3AD203B41FA5}">
                      <a16:colId xmlns:a16="http://schemas.microsoft.com/office/drawing/2014/main" val="20000"/>
                    </a:ext>
                  </a:extLst>
                </a:gridCol>
                <a:gridCol w="751605">
                  <a:extLst>
                    <a:ext uri="{9D8B030D-6E8A-4147-A177-3AD203B41FA5}">
                      <a16:colId xmlns:a16="http://schemas.microsoft.com/office/drawing/2014/main" val="20001"/>
                    </a:ext>
                  </a:extLst>
                </a:gridCol>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4580958" y="2255219"/>
          <a:ext cx="4495800" cy="1084824"/>
        </p:xfrm>
        <a:graphic>
          <a:graphicData uri="http://schemas.openxmlformats.org/drawingml/2006/table">
            <a:tbl>
              <a:tblPr/>
              <a:tblGrid>
                <a:gridCol w="1582616">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79584">
                  <a:extLst>
                    <a:ext uri="{9D8B030D-6E8A-4147-A177-3AD203B41FA5}">
                      <a16:colId xmlns:a16="http://schemas.microsoft.com/office/drawing/2014/main" val="20003"/>
                    </a:ext>
                  </a:extLst>
                </a:gridCol>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Mitigating Action</a:t>
                      </a:r>
                      <a:endParaRPr kumimoji="0" lang="en-US" sz="800" b="0" i="0" u="none" strike="noStrike" cap="none" normalizeH="0" baseline="0" dirty="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R458 - EYRC or other non factored infrastructure constraints may limit deployment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Expedite implementation of EDGE for remote access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10-Mar-14</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R680 - Change freeze may impact Lync timelines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Raise changes in advance, escalate issue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nvGraphicFramePr>
        <p:xfrm>
          <a:off x="4648200" y="6019800"/>
          <a:ext cx="4495800" cy="495577"/>
        </p:xfrm>
        <a:graphic>
          <a:graphicData uri="http://schemas.openxmlformats.org/drawingml/2006/table">
            <a:tbl>
              <a:tblPr/>
              <a:tblGrid>
                <a:gridCol w="4495800">
                  <a:extLst>
                    <a:ext uri="{9D8B030D-6E8A-4147-A177-3AD203B41FA5}">
                      <a16:colId xmlns:a16="http://schemas.microsoft.com/office/drawing/2014/main" val="20000"/>
                    </a:ext>
                  </a:extLst>
                </a:gridCol>
              </a:tblGrid>
              <a:tr h="22437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328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a:ln>
                            <a:noFill/>
                          </a:ln>
                          <a:solidFill>
                            <a:schemeClr val="tx1">
                              <a:lumMod val="85000"/>
                              <a:lumOff val="15000"/>
                            </a:schemeClr>
                          </a:solidFill>
                          <a:effectLst/>
                          <a:latin typeface="EYInterstate Light" pitchFamily="2" charset="0"/>
                        </a:rPr>
                        <a:t>Moved to “Red” status reflects delay to Pilot and Full Deploy milestones due to late delivery of two critical path inbound dependencies.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extLst>
                  <a:ext uri="{0D108BD9-81ED-4DB2-BD59-A6C34878D82A}">
                    <a16:rowId xmlns:a16="http://schemas.microsoft.com/office/drawing/2014/main" val="10000"/>
                  </a:ext>
                </a:extLst>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2" name="Group 27"/>
          <p:cNvGrpSpPr/>
          <p:nvPr/>
        </p:nvGrpSpPr>
        <p:grpSpPr>
          <a:xfrm>
            <a:off x="-76200" y="6357120"/>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84775"/>
          </a:xfrm>
          <a:prstGeom prst="rect">
            <a:avLst/>
          </a:prstGeom>
        </p:spPr>
        <p:txBody>
          <a:bodyPr>
            <a:spAutoFit/>
          </a:bodyPr>
          <a:lstStyle/>
          <a:p>
            <a:pPr defTabSz="955675" eaLnBrk="0" fontAlgn="base" hangingPunct="0">
              <a:spcBef>
                <a:spcPct val="0"/>
              </a:spcBef>
              <a:defRPr/>
            </a:pPr>
            <a:r>
              <a:rPr lang="en-US" sz="1600" b="1" kern="0" dirty="0">
                <a:solidFill>
                  <a:srgbClr val="646464"/>
                </a:solidFill>
              </a:rPr>
              <a:t>Project: Transition Management                                                           27-May-2022</a:t>
            </a:r>
          </a:p>
          <a:p>
            <a:pPr marL="0" marR="0" lvl="0" indent="0" algn="l" defTabSz="955675" rtl="0" eaLnBrk="0" fontAlgn="base" latinLnBrk="0" hangingPunct="0">
              <a:lnSpc>
                <a:spcPct val="100000"/>
              </a:lnSpc>
              <a:spcBef>
                <a:spcPct val="0"/>
              </a:spcBef>
              <a:spcAft>
                <a:spcPts val="0"/>
              </a:spcAft>
              <a:buClrTx/>
              <a:buSzTx/>
              <a:buFontTx/>
              <a:buNone/>
              <a:tabLst/>
              <a:defRPr/>
            </a:pPr>
            <a:r>
              <a:rPr kumimoji="0" lang="en-US" sz="1600" b="1" i="0" u="none" strike="noStrike" kern="0" cap="none" spc="0" normalizeH="0" baseline="0" noProof="0" dirty="0">
                <a:ln>
                  <a:noFill/>
                </a:ln>
                <a:solidFill>
                  <a:srgbClr val="646464"/>
                </a:solidFill>
                <a:effectLst/>
                <a:uLnTx/>
                <a:uFillTx/>
                <a:latin typeface="EYInterstate"/>
                <a:ea typeface="+mn-ea"/>
                <a:cs typeface="+mn-cs"/>
              </a:rPr>
              <a:t>PM: Gladys &amp; TJ</a:t>
            </a:r>
            <a:endParaRPr lang="en-US" sz="1600" b="1" kern="0" dirty="0">
              <a:solidFill>
                <a:srgbClr val="646464"/>
              </a:solidFill>
            </a:endParaRPr>
          </a:p>
        </p:txBody>
      </p:sp>
    </p:spTree>
    <p:extLst>
      <p:ext uri="{BB962C8B-B14F-4D97-AF65-F5344CB8AC3E}">
        <p14:creationId xmlns:p14="http://schemas.microsoft.com/office/powerpoint/2010/main" val="444332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75039" y="2859830"/>
          <a:ext cx="4355123" cy="3195432"/>
        </p:xfrm>
        <a:graphic>
          <a:graphicData uri="http://schemas.openxmlformats.org/drawingml/2006/table">
            <a:tbl>
              <a:tblPr/>
              <a:tblGrid>
                <a:gridCol w="4355123">
                  <a:extLst>
                    <a:ext uri="{9D8B030D-6E8A-4147-A177-3AD203B41FA5}">
                      <a16:colId xmlns:a16="http://schemas.microsoft.com/office/drawing/2014/main" val="20000"/>
                    </a:ext>
                  </a:extLst>
                </a:gridCol>
              </a:tblGrid>
              <a:tr h="1524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713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ATT have completed their Security tasks for all three Data Centres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EYQA AD Trust was established successfully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team have successfully completed the build phase of ‘new’ FIM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CR to SOW2 to extend ATT Consulting Resources has been approved by both EY and ATT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Support models for both pre-pilot and pilot defined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3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77432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remaining CoLo build work for Amsterdam</a:t>
                      </a:r>
                      <a:endPar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Finalising contract change for SBA orders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Building the eBond solution – way-forward agreed with ATT, dependant on EY resource availability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the GAP testing required for Lync testing to commence and establishing the Production Trust (I522)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442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4"/>
                  </a:ext>
                </a:extLst>
              </a:tr>
              <a:tr h="4437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Establish the Production trust with ATT then commence Infrastructure Readiness Tests.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Agree contracts for procuring future SBAs and implementing additional security controls (services).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Progress remaining activities to finalise  Amsterdam colo spaces.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Commence functional testing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Rollout Lync to ~400 IT Staff (pre-pilot)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334100" name="Group 852"/>
          <p:cNvGraphicFramePr>
            <a:graphicFrameLocks noGrp="1"/>
          </p:cNvGraphicFramePr>
          <p:nvPr/>
        </p:nvGraphicFramePr>
        <p:xfrm>
          <a:off x="4585490" y="3505200"/>
          <a:ext cx="4495800" cy="2385412"/>
        </p:xfrm>
        <a:graphic>
          <a:graphicData uri="http://schemas.openxmlformats.org/drawingml/2006/table">
            <a:tbl>
              <a:tblPr/>
              <a:tblGrid>
                <a:gridCol w="1665838">
                  <a:extLst>
                    <a:ext uri="{9D8B030D-6E8A-4147-A177-3AD203B41FA5}">
                      <a16:colId xmlns:a16="http://schemas.microsoft.com/office/drawing/2014/main" val="20000"/>
                    </a:ext>
                  </a:extLst>
                </a:gridCol>
                <a:gridCol w="1305962">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0984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68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95840">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I216 - </a:t>
                      </a:r>
                      <a:r>
                        <a:rPr kumimoji="0" lang="en-GB" sz="800" b="0" i="0" u="none" strike="noStrike" kern="1200" cap="none" normalizeH="0" baseline="0" dirty="0">
                          <a:ln>
                            <a:noFill/>
                          </a:ln>
                          <a:solidFill>
                            <a:schemeClr val="tx1"/>
                          </a:solidFill>
                          <a:effectLst/>
                          <a:latin typeface="EYInterstate Light" pitchFamily="2" charset="0"/>
                          <a:ea typeface="+mn-ea"/>
                          <a:cs typeface="+mn-cs"/>
                        </a:rPr>
                        <a:t>There is no complete test environment for the M&amp;C Solution so once users are 'live' there is no integrated  way of testing enhancements / fixes</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Look at options for developing the right environment for post go live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5139">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I489 - There is currently no plan for the delivery of the eBonding Solution for Lync</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Meet with ATT to agree technical way-fwd </a:t>
                      </a:r>
                      <a:r>
                        <a:rPr kumimoji="0" lang="en-GB" sz="800" b="0" i="0" u="sng" strike="noStrike" kern="1200" cap="none" normalizeH="0" baseline="0" dirty="0">
                          <a:ln>
                            <a:noFill/>
                          </a:ln>
                          <a:solidFill>
                            <a:schemeClr val="tx1"/>
                          </a:solidFill>
                          <a:effectLst/>
                          <a:latin typeface="EYInterstate Light" pitchFamily="2" charset="0"/>
                          <a:ea typeface="+mn-ea"/>
                          <a:cs typeface="+mn-cs"/>
                        </a:rPr>
                        <a:t>and</a:t>
                      </a:r>
                      <a:r>
                        <a:rPr kumimoji="0" lang="en-GB" sz="800" b="0" i="0" u="none" strike="noStrike" kern="1200" cap="none" normalizeH="0" baseline="0" dirty="0">
                          <a:ln>
                            <a:noFill/>
                          </a:ln>
                          <a:solidFill>
                            <a:schemeClr val="tx1"/>
                          </a:solidFill>
                          <a:effectLst/>
                          <a:latin typeface="EYInterstate Light" pitchFamily="2" charset="0"/>
                          <a:ea typeface="+mn-ea"/>
                          <a:cs typeface="+mn-cs"/>
                        </a:rPr>
                        <a:t> raise request internally for resource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15-Nov-13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41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Scope Change requests to be approved</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gridSpan="3">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Recommended Action</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CR161 - Additional Security Controls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Approved subject to confirmation from InfoSec and Ops</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 TBC - </a:t>
                      </a:r>
                      <a:r>
                        <a:rPr kumimoji="0" lang="en-GB" sz="800" b="0" i="0" u="none" strike="noStrike" kern="1200" cap="none" normalizeH="0" baseline="0" dirty="0">
                          <a:ln>
                            <a:noFill/>
                          </a:ln>
                          <a:solidFill>
                            <a:schemeClr val="tx1"/>
                          </a:solidFill>
                          <a:effectLst/>
                          <a:latin typeface="EYInterstate Light" pitchFamily="2" charset="0"/>
                          <a:ea typeface="+mn-ea"/>
                          <a:cs typeface="+mn-cs"/>
                        </a:rPr>
                        <a:t>Delays due to two external factors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Quantify impacts of changes from dependant teams (GAP and AD) then update Lync plan accordingly</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bl>
          </a:graphicData>
        </a:graphic>
      </p:graphicFrame>
      <p:graphicFrame>
        <p:nvGraphicFramePr>
          <p:cNvPr id="3317" name="Group 245"/>
          <p:cNvGraphicFramePr>
            <a:graphicFrameLocks noGrp="1"/>
          </p:cNvGraphicFramePr>
          <p:nvPr/>
        </p:nvGraphicFramePr>
        <p:xfrm>
          <a:off x="76200" y="603816"/>
          <a:ext cx="4360985" cy="2046420"/>
        </p:xfrm>
        <a:graphic>
          <a:graphicData uri="http://schemas.openxmlformats.org/drawingml/2006/table">
            <a:tbl>
              <a:tblPr/>
              <a:tblGrid>
                <a:gridCol w="4360985">
                  <a:extLst>
                    <a:ext uri="{9D8B030D-6E8A-4147-A177-3AD203B41FA5}">
                      <a16:colId xmlns:a16="http://schemas.microsoft.com/office/drawing/2014/main" val="20000"/>
                    </a:ext>
                  </a:extLst>
                </a:gridCol>
              </a:tblGrid>
              <a:tr h="11503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A.  </a:t>
                      </a:r>
                      <a:r>
                        <a:rPr kumimoji="0" lang="en-GB" sz="900" b="1" i="0" u="none" strike="noStrike" cap="none" normalizeH="0" baseline="0" dirty="0">
                          <a:ln>
                            <a:noFill/>
                          </a:ln>
                          <a:solidFill>
                            <a:schemeClr val="tx1"/>
                          </a:solidFill>
                          <a:effectLst/>
                          <a:latin typeface="EYInterstate" pitchFamily="2" charset="0"/>
                        </a:rPr>
                        <a:t>EXECUTIVE SUMMARY – a summary of the progress for this period (not of the initiative)</a:t>
                      </a:r>
                      <a:endParaRPr kumimoji="0" lang="en-US" sz="900" b="1" i="0" u="none" strike="noStrike" cap="none" normalizeH="0" baseline="0" dirty="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5671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team have successfully established the trust connection between EYQA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Two external factors have impacted the Lync Program Milestones by an estimated 1 week (I522) :</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a:t>
                      </a: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team were requested to complete some changes on the UVT solution, therefore diverting efforts from their Lync deliverables</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Issues with Production </a:t>
                      </a: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AD prevented the Lync team from establishing the trust connection between Production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Implementing additional controls to address a Security requirement for SBAs (“Isolation and Separation of the SBAs within the office locations”) is likely to impact the delivery of Enterprise Voice by months – will most likely need snr management decision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Work progresses to define solution for VPN-less access (i.e. EDGE) to mitigate potential call quality issues (R458).</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4254585470"/>
              </p:ext>
            </p:extLst>
          </p:nvPr>
        </p:nvGraphicFramePr>
        <p:xfrm>
          <a:off x="4588793" y="609600"/>
          <a:ext cx="4479007" cy="1526603"/>
        </p:xfrm>
        <a:graphic>
          <a:graphicData uri="http://schemas.openxmlformats.org/drawingml/2006/table">
            <a:tbl>
              <a:tblPr/>
              <a:tblGrid>
                <a:gridCol w="1523999">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88985">
                  <a:extLst>
                    <a:ext uri="{9D8B030D-6E8A-4147-A177-3AD203B41FA5}">
                      <a16:colId xmlns:a16="http://schemas.microsoft.com/office/drawing/2014/main" val="20003"/>
                    </a:ext>
                  </a:extLst>
                </a:gridCol>
                <a:gridCol w="541297">
                  <a:extLst>
                    <a:ext uri="{9D8B030D-6E8A-4147-A177-3AD203B41FA5}">
                      <a16:colId xmlns:a16="http://schemas.microsoft.com/office/drawing/2014/main" val="20004"/>
                    </a:ext>
                  </a:extLst>
                </a:gridCol>
                <a:gridCol w="529326">
                  <a:extLst>
                    <a:ext uri="{9D8B030D-6E8A-4147-A177-3AD203B41FA5}">
                      <a16:colId xmlns:a16="http://schemas.microsoft.com/office/drawing/2014/main" val="20005"/>
                    </a:ext>
                  </a:extLst>
                </a:gridCol>
              </a:tblGrid>
              <a:tr h="184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30417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Conf.</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Rating</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Plan Updated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2"/>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31-Oct-13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05-Nov-13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14-Mar-14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4"/>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04-Dec-13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11-Dec-13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5"/>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24-Jan-14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10-Mar-14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146685">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
                          <a:srgbClr val="000000"/>
                        </a:buClr>
                        <a:buSzPts val="600"/>
                        <a:buFont typeface="Arial"/>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val="3138594072"/>
              </p:ext>
            </p:extLst>
          </p:nvPr>
        </p:nvGraphicFramePr>
        <p:xfrm>
          <a:off x="7570453" y="17252"/>
          <a:ext cx="1503209" cy="535063"/>
        </p:xfrm>
        <a:graphic>
          <a:graphicData uri="http://schemas.openxmlformats.org/drawingml/2006/table">
            <a:tbl>
              <a:tblPr/>
              <a:tblGrid>
                <a:gridCol w="751604">
                  <a:extLst>
                    <a:ext uri="{9D8B030D-6E8A-4147-A177-3AD203B41FA5}">
                      <a16:colId xmlns:a16="http://schemas.microsoft.com/office/drawing/2014/main" val="20000"/>
                    </a:ext>
                  </a:extLst>
                </a:gridCol>
                <a:gridCol w="751605">
                  <a:extLst>
                    <a:ext uri="{9D8B030D-6E8A-4147-A177-3AD203B41FA5}">
                      <a16:colId xmlns:a16="http://schemas.microsoft.com/office/drawing/2014/main" val="20001"/>
                    </a:ext>
                  </a:extLst>
                </a:gridCol>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4580958" y="2255219"/>
          <a:ext cx="4495800" cy="1084824"/>
        </p:xfrm>
        <a:graphic>
          <a:graphicData uri="http://schemas.openxmlformats.org/drawingml/2006/table">
            <a:tbl>
              <a:tblPr/>
              <a:tblGrid>
                <a:gridCol w="1582616">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79584">
                  <a:extLst>
                    <a:ext uri="{9D8B030D-6E8A-4147-A177-3AD203B41FA5}">
                      <a16:colId xmlns:a16="http://schemas.microsoft.com/office/drawing/2014/main" val="20003"/>
                    </a:ext>
                  </a:extLst>
                </a:gridCol>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Mitigating Action</a:t>
                      </a:r>
                      <a:endParaRPr kumimoji="0" lang="en-US" sz="800" b="0" i="0" u="none" strike="noStrike" cap="none" normalizeH="0" baseline="0" dirty="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R458 - EYRC or other non factored infrastructure constraints may limit deployment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Expedite implementation of EDGE for remote access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10-Mar-14</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R680 - Change freeze may impact Lync timelines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Raise changes in advance, escalate issue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nvGraphicFramePr>
        <p:xfrm>
          <a:off x="4648200" y="6019800"/>
          <a:ext cx="4495800" cy="495577"/>
        </p:xfrm>
        <a:graphic>
          <a:graphicData uri="http://schemas.openxmlformats.org/drawingml/2006/table">
            <a:tbl>
              <a:tblPr/>
              <a:tblGrid>
                <a:gridCol w="4495800">
                  <a:extLst>
                    <a:ext uri="{9D8B030D-6E8A-4147-A177-3AD203B41FA5}">
                      <a16:colId xmlns:a16="http://schemas.microsoft.com/office/drawing/2014/main" val="20000"/>
                    </a:ext>
                  </a:extLst>
                </a:gridCol>
              </a:tblGrid>
              <a:tr h="22437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328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a:ln>
                            <a:noFill/>
                          </a:ln>
                          <a:solidFill>
                            <a:schemeClr val="tx1">
                              <a:lumMod val="85000"/>
                              <a:lumOff val="15000"/>
                            </a:schemeClr>
                          </a:solidFill>
                          <a:effectLst/>
                          <a:latin typeface="EYInterstate Light" pitchFamily="2" charset="0"/>
                        </a:rPr>
                        <a:t>Moved to “Red” status reflects delay to Pilot and Full Deploy milestones due to late delivery of two critical path inbound dependencies.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extLst>
                  <a:ext uri="{0D108BD9-81ED-4DB2-BD59-A6C34878D82A}">
                    <a16:rowId xmlns:a16="http://schemas.microsoft.com/office/drawing/2014/main" val="10000"/>
                  </a:ext>
                </a:extLst>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2" name="Group 27"/>
          <p:cNvGrpSpPr/>
          <p:nvPr/>
        </p:nvGrpSpPr>
        <p:grpSpPr>
          <a:xfrm>
            <a:off x="-76200" y="6357120"/>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84775"/>
          </a:xfrm>
          <a:prstGeom prst="rect">
            <a:avLst/>
          </a:prstGeom>
        </p:spPr>
        <p:txBody>
          <a:bodyPr>
            <a:spAutoFit/>
          </a:bodyPr>
          <a:lstStyle/>
          <a:p>
            <a:pPr defTabSz="955675" eaLnBrk="0" fontAlgn="base" hangingPunct="0">
              <a:spcBef>
                <a:spcPct val="0"/>
              </a:spcBef>
              <a:defRPr/>
            </a:pPr>
            <a:r>
              <a:rPr lang="en-US" sz="1600" b="1" kern="0" dirty="0">
                <a:solidFill>
                  <a:srgbClr val="646464"/>
                </a:solidFill>
              </a:rPr>
              <a:t>Project: Outlook Email Deployment                                                           27-May-2022</a:t>
            </a:r>
          </a:p>
          <a:p>
            <a:pPr marL="0" marR="0" lvl="0" indent="0" algn="l" defTabSz="955675" rtl="0" eaLnBrk="0" fontAlgn="base" latinLnBrk="0" hangingPunct="0">
              <a:lnSpc>
                <a:spcPct val="100000"/>
              </a:lnSpc>
              <a:spcBef>
                <a:spcPct val="0"/>
              </a:spcBef>
              <a:spcAft>
                <a:spcPts val="0"/>
              </a:spcAft>
              <a:buClrTx/>
              <a:buSzTx/>
              <a:buFontTx/>
              <a:buNone/>
              <a:tabLst/>
              <a:defRPr/>
            </a:pPr>
            <a:r>
              <a:rPr kumimoji="0" lang="en-US" sz="1600" b="1" i="0" u="none" strike="noStrike" kern="0" cap="none" spc="0" normalizeH="0" baseline="0" noProof="0" dirty="0">
                <a:ln>
                  <a:noFill/>
                </a:ln>
                <a:solidFill>
                  <a:srgbClr val="646464"/>
                </a:solidFill>
                <a:effectLst/>
                <a:uLnTx/>
                <a:uFillTx/>
                <a:latin typeface="EYInterstate"/>
                <a:ea typeface="+mn-ea"/>
                <a:cs typeface="+mn-cs"/>
              </a:rPr>
              <a:t>PM: Roy &amp; </a:t>
            </a:r>
            <a:r>
              <a:rPr kumimoji="0" lang="en-US" sz="1600" b="1" i="0" u="none" strike="noStrike" kern="0" cap="none" spc="0" normalizeH="0" baseline="0" noProof="0" dirty="0" err="1">
                <a:ln>
                  <a:noFill/>
                </a:ln>
                <a:solidFill>
                  <a:srgbClr val="646464"/>
                </a:solidFill>
                <a:effectLst/>
                <a:uLnTx/>
                <a:uFillTx/>
                <a:latin typeface="EYInterstate"/>
                <a:ea typeface="+mn-ea"/>
                <a:cs typeface="+mn-cs"/>
              </a:rPr>
              <a:t>Chudi</a:t>
            </a:r>
            <a:endParaRPr lang="en-US" sz="1600" b="1" kern="0" dirty="0">
              <a:solidFill>
                <a:srgbClr val="646464"/>
              </a:solidFill>
            </a:endParaRPr>
          </a:p>
        </p:txBody>
      </p:sp>
    </p:spTree>
    <p:extLst>
      <p:ext uri="{BB962C8B-B14F-4D97-AF65-F5344CB8AC3E}">
        <p14:creationId xmlns:p14="http://schemas.microsoft.com/office/powerpoint/2010/main" val="4276030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75039" y="2859830"/>
          <a:ext cx="4355123" cy="3195432"/>
        </p:xfrm>
        <a:graphic>
          <a:graphicData uri="http://schemas.openxmlformats.org/drawingml/2006/table">
            <a:tbl>
              <a:tblPr/>
              <a:tblGrid>
                <a:gridCol w="4355123">
                  <a:extLst>
                    <a:ext uri="{9D8B030D-6E8A-4147-A177-3AD203B41FA5}">
                      <a16:colId xmlns:a16="http://schemas.microsoft.com/office/drawing/2014/main" val="20000"/>
                    </a:ext>
                  </a:extLst>
                </a:gridCol>
              </a:tblGrid>
              <a:tr h="1524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713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ATT have completed their Security tasks for all three Data Centres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EYQA AD Trust was established successfully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team have successfully completed the build phase of ‘new’ FIM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CR to SOW2 to extend ATT Consulting Resources has been approved by both EY and ATT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Support models for both pre-pilot and pilot defined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3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900" b="1" i="0" u="none" strike="noStrike" cap="none" normalizeH="0" baseline="0" dirty="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77432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remaining CoLo build work for Amsterdam</a:t>
                      </a:r>
                      <a:endPar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Finalising contract change for SBA orders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Building the eBond solution – way-forward agreed with ATT, dependant on EY resource availability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Completing the GAP testing required for Lync testing to commence and establishing the Production Trust (I522)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442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4"/>
                  </a:ext>
                </a:extLst>
              </a:tr>
              <a:tr h="4437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Establish the Production trust with ATT then commence Infrastructure Readiness Tests.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Agree contracts for procuring future SBAs and implementing additional security controls (services).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Progress remaining activities to finalise  Amsterdam colo spaces.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Commence functional testing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Rollout Lync to ~400 IT Staff (pre-pilot)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334100" name="Group 852"/>
          <p:cNvGraphicFramePr>
            <a:graphicFrameLocks noGrp="1"/>
          </p:cNvGraphicFramePr>
          <p:nvPr/>
        </p:nvGraphicFramePr>
        <p:xfrm>
          <a:off x="4585490" y="3505200"/>
          <a:ext cx="4495800" cy="2385412"/>
        </p:xfrm>
        <a:graphic>
          <a:graphicData uri="http://schemas.openxmlformats.org/drawingml/2006/table">
            <a:tbl>
              <a:tblPr/>
              <a:tblGrid>
                <a:gridCol w="1665838">
                  <a:extLst>
                    <a:ext uri="{9D8B030D-6E8A-4147-A177-3AD203B41FA5}">
                      <a16:colId xmlns:a16="http://schemas.microsoft.com/office/drawing/2014/main" val="20000"/>
                    </a:ext>
                  </a:extLst>
                </a:gridCol>
                <a:gridCol w="1305962">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0984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68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95840">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I216 - </a:t>
                      </a:r>
                      <a:r>
                        <a:rPr kumimoji="0" lang="en-GB" sz="800" b="0" i="0" u="none" strike="noStrike" kern="1200" cap="none" normalizeH="0" baseline="0" dirty="0">
                          <a:ln>
                            <a:noFill/>
                          </a:ln>
                          <a:solidFill>
                            <a:schemeClr val="tx1"/>
                          </a:solidFill>
                          <a:effectLst/>
                          <a:latin typeface="EYInterstate Light" pitchFamily="2" charset="0"/>
                          <a:ea typeface="+mn-ea"/>
                          <a:cs typeface="+mn-cs"/>
                        </a:rPr>
                        <a:t>There is no complete test environment for the M&amp;C Solution so once users are 'live' there is no integrated  way of testing enhancements / fixes</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Look at options for developing the right environment for post go live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5139">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I489 - There is currently no plan for the delivery of the eBonding Solution for Lync</a:t>
                      </a:r>
                      <a:endParaRPr kumimoji="0" lang="en-US" sz="8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Meet with ATT to agree technical way-fwd </a:t>
                      </a:r>
                      <a:r>
                        <a:rPr kumimoji="0" lang="en-GB" sz="800" b="0" i="0" u="sng" strike="noStrike" kern="1200" cap="none" normalizeH="0" baseline="0" dirty="0">
                          <a:ln>
                            <a:noFill/>
                          </a:ln>
                          <a:solidFill>
                            <a:schemeClr val="tx1"/>
                          </a:solidFill>
                          <a:effectLst/>
                          <a:latin typeface="EYInterstate Light" pitchFamily="2" charset="0"/>
                          <a:ea typeface="+mn-ea"/>
                          <a:cs typeface="+mn-cs"/>
                        </a:rPr>
                        <a:t>and</a:t>
                      </a:r>
                      <a:r>
                        <a:rPr kumimoji="0" lang="en-GB" sz="800" b="0" i="0" u="none" strike="noStrike" kern="1200" cap="none" normalizeH="0" baseline="0" dirty="0">
                          <a:ln>
                            <a:noFill/>
                          </a:ln>
                          <a:solidFill>
                            <a:schemeClr val="tx1"/>
                          </a:solidFill>
                          <a:effectLst/>
                          <a:latin typeface="EYInterstate Light" pitchFamily="2" charset="0"/>
                          <a:ea typeface="+mn-ea"/>
                          <a:cs typeface="+mn-cs"/>
                        </a:rPr>
                        <a:t> raise request internally for resource</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a:ln>
                            <a:noFill/>
                          </a:ln>
                          <a:solidFill>
                            <a:schemeClr val="tx1"/>
                          </a:solidFill>
                          <a:effectLst/>
                          <a:latin typeface="EYInterstate Light" pitchFamily="2" charset="0"/>
                          <a:ea typeface="+mn-ea"/>
                          <a:cs typeface="+mn-cs"/>
                        </a:rPr>
                        <a:t>15-Nov-13</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41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Scope Change requests to be approved</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gridSpan="3">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900" b="1" i="0" u="none" strike="noStrike" kern="1200" cap="none" normalizeH="0" baseline="0" dirty="0">
                          <a:ln>
                            <a:noFill/>
                          </a:ln>
                          <a:solidFill>
                            <a:schemeClr val="bg2"/>
                          </a:solidFill>
                          <a:effectLst/>
                          <a:latin typeface="EYInterstate Light" pitchFamily="2" charset="0"/>
                          <a:ea typeface="+mn-ea"/>
                          <a:cs typeface="+mn-cs"/>
                        </a:rPr>
                        <a:t>Recommended Action</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CR161 - Additional Security Controls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pPr>
                      <a:r>
                        <a:rPr kumimoji="0" lang="en-GB" sz="800" b="0" i="0" u="none" strike="noStrike" kern="1200" cap="none" normalizeH="0" baseline="0" dirty="0">
                          <a:ln>
                            <a:noFill/>
                          </a:ln>
                          <a:solidFill>
                            <a:schemeClr val="tx1"/>
                          </a:solidFill>
                          <a:effectLst/>
                          <a:latin typeface="EYInterstate Light" pitchFamily="2" charset="0"/>
                          <a:ea typeface="+mn-ea"/>
                          <a:cs typeface="+mn-cs"/>
                        </a:rPr>
                        <a:t>Approved subject to confirmation from InfoSec and Ops</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ctr"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0016">
                <a:tc>
                  <a:txBody>
                    <a:bodyPr/>
                    <a:lstStyle/>
                    <a:p>
                      <a:pPr marL="87313" marR="0" lvl="0" indent="-85725" algn="l" defTabSz="914400" rtl="0" eaLnBrk="1" fontAlgn="base" latinLnBrk="0" hangingPunct="1">
                        <a:lnSpc>
                          <a:spcPct val="100000"/>
                        </a:lnSpc>
                        <a:spcBef>
                          <a:spcPct val="0"/>
                        </a:spcBef>
                        <a:spcAft>
                          <a:spcPct val="10000"/>
                        </a:spcAft>
                        <a:buClrTx/>
                        <a:buSzTx/>
                        <a:buFontTx/>
                        <a:buChar char="•"/>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CR TBC - </a:t>
                      </a:r>
                      <a:r>
                        <a:rPr kumimoji="0" lang="en-GB" sz="800" b="0" i="0" u="none" strike="noStrike" kern="1200" cap="none" normalizeH="0" baseline="0" dirty="0">
                          <a:ln>
                            <a:noFill/>
                          </a:ln>
                          <a:solidFill>
                            <a:schemeClr val="tx1"/>
                          </a:solidFill>
                          <a:effectLst/>
                          <a:latin typeface="EYInterstate Light" pitchFamily="2" charset="0"/>
                          <a:ea typeface="+mn-ea"/>
                          <a:cs typeface="+mn-cs"/>
                        </a:rPr>
                        <a:t>Delays due to two external factors</a:t>
                      </a:r>
                    </a:p>
                  </a:txBody>
                  <a:tcPr marL="31577" marR="31577" marT="13683" marB="13683" horzOverflow="overflow">
                    <a:lnL w="6350"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gridSpan="3">
                  <a:txBody>
                    <a:bodyPr/>
                    <a:lstStyle/>
                    <a:p>
                      <a:pPr marL="0" marR="0" lvl="0" indent="-85725" algn="l" defTabSz="914400" rtl="0" eaLnBrk="1" fontAlgn="base" latinLnBrk="0" hangingPunct="1">
                        <a:lnSpc>
                          <a:spcPct val="100000"/>
                        </a:lnSpc>
                        <a:spcBef>
                          <a:spcPct val="0"/>
                        </a:spcBef>
                        <a:spcAft>
                          <a:spcPct val="10000"/>
                        </a:spcAft>
                        <a:buClrTx/>
                        <a:buSzTx/>
                        <a:buFontTx/>
                        <a:buNone/>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Quantify impacts of changes from dependant teams (GAP and AD) then update Lync plan accordingly</a:t>
                      </a:r>
                    </a:p>
                  </a:txBody>
                  <a:tcPr marL="31577" marR="31577" marT="13683" marB="13683" horzOverflow="overflow">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bl>
          </a:graphicData>
        </a:graphic>
      </p:graphicFrame>
      <p:graphicFrame>
        <p:nvGraphicFramePr>
          <p:cNvPr id="3317" name="Group 245"/>
          <p:cNvGraphicFramePr>
            <a:graphicFrameLocks noGrp="1"/>
          </p:cNvGraphicFramePr>
          <p:nvPr/>
        </p:nvGraphicFramePr>
        <p:xfrm>
          <a:off x="76200" y="603816"/>
          <a:ext cx="4360985" cy="2046420"/>
        </p:xfrm>
        <a:graphic>
          <a:graphicData uri="http://schemas.openxmlformats.org/drawingml/2006/table">
            <a:tbl>
              <a:tblPr/>
              <a:tblGrid>
                <a:gridCol w="4360985">
                  <a:extLst>
                    <a:ext uri="{9D8B030D-6E8A-4147-A177-3AD203B41FA5}">
                      <a16:colId xmlns:a16="http://schemas.microsoft.com/office/drawing/2014/main" val="20000"/>
                    </a:ext>
                  </a:extLst>
                </a:gridCol>
              </a:tblGrid>
              <a:tr h="11503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EYInterstate" pitchFamily="2" charset="0"/>
                        </a:rPr>
                        <a:t>A.  </a:t>
                      </a:r>
                      <a:r>
                        <a:rPr kumimoji="0" lang="en-GB" sz="900" b="1" i="0" u="none" strike="noStrike" cap="none" normalizeH="0" baseline="0" dirty="0">
                          <a:ln>
                            <a:noFill/>
                          </a:ln>
                          <a:solidFill>
                            <a:schemeClr val="tx1"/>
                          </a:solidFill>
                          <a:effectLst/>
                          <a:latin typeface="EYInterstate" pitchFamily="2" charset="0"/>
                        </a:rPr>
                        <a:t>EXECUTIVE SUMMARY – a summary of the progress for this period (not of the initiative)</a:t>
                      </a:r>
                      <a:endParaRPr kumimoji="0" lang="en-US" sz="900" b="1" i="0" u="none" strike="noStrike" cap="none" normalizeH="0" baseline="0" dirty="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56715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team have successfully established the trust connection between EYQA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Two external factors have impacted the Lync Program Milestones by an estimated 1 week (I522) :</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The GAP </a:t>
                      </a: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team were requested to complete some changes on the UVT solution, therefore diverting efforts from their Lync deliverables</a:t>
                      </a:r>
                    </a:p>
                    <a:p>
                      <a:pPr marL="228600" marR="0" lvl="0" indent="-228600" algn="l" defTabSz="947738" rtl="0" eaLnBrk="0" fontAlgn="base" latinLnBrk="0" hangingPunct="0">
                        <a:lnSpc>
                          <a:spcPct val="100000"/>
                        </a:lnSpc>
                        <a:spcBef>
                          <a:spcPct val="0"/>
                        </a:spcBef>
                        <a:spcAft>
                          <a:spcPct val="10000"/>
                        </a:spcAft>
                        <a:buClr>
                          <a:schemeClr val="hlink"/>
                        </a:buClr>
                        <a:buSzTx/>
                        <a:buFont typeface="+mj-lt"/>
                        <a:buAutoNum type="arabicPeriod"/>
                        <a:tabLst/>
                        <a:defRPr/>
                      </a:pPr>
                      <a:r>
                        <a:rPr kumimoji="0" lang="en-GB" sz="900" b="0" i="0" u="none" strike="noStrike" kern="1200" cap="none" normalizeH="0" baseline="0" noProof="0" dirty="0">
                          <a:ln>
                            <a:noFill/>
                          </a:ln>
                          <a:solidFill>
                            <a:schemeClr val="tx1"/>
                          </a:solidFill>
                          <a:effectLst/>
                          <a:latin typeface="EYInterstate Light" pitchFamily="2" charset="0"/>
                          <a:ea typeface="+mn-ea"/>
                          <a:cs typeface="+mn-cs"/>
                        </a:rPr>
                        <a:t>Issues with Production </a:t>
                      </a: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AD prevented the Lync team from establishing the trust connection between Production and ATT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Implementing additional controls to address a Security requirement for SBAs (“Isolation and Separation of the SBAs within the office locations”) is likely to impact the delivery of Enterprise Voice by months – will most likely need snr management decision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GB" sz="900" b="0" i="0" u="none" strike="noStrike" kern="1200" cap="none" normalizeH="0" baseline="0" noProof="0" dirty="0">
                          <a:ln>
                            <a:noFill/>
                          </a:ln>
                          <a:solidFill>
                            <a:schemeClr val="tx1">
                              <a:lumMod val="85000"/>
                              <a:lumOff val="15000"/>
                            </a:schemeClr>
                          </a:solidFill>
                          <a:effectLst/>
                          <a:latin typeface="EYInterstate Light" pitchFamily="2" charset="0"/>
                          <a:ea typeface="+mn-ea"/>
                          <a:cs typeface="+mn-cs"/>
                        </a:rPr>
                        <a:t>Work progresses to define solution for VPN-less access (i.e. EDGE) to mitigate potential call quality issues (R458).</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3253402156"/>
              </p:ext>
            </p:extLst>
          </p:nvPr>
        </p:nvGraphicFramePr>
        <p:xfrm>
          <a:off x="4588793" y="609600"/>
          <a:ext cx="4479007" cy="1526603"/>
        </p:xfrm>
        <a:graphic>
          <a:graphicData uri="http://schemas.openxmlformats.org/drawingml/2006/table">
            <a:tbl>
              <a:tblPr/>
              <a:tblGrid>
                <a:gridCol w="1523999">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88985">
                  <a:extLst>
                    <a:ext uri="{9D8B030D-6E8A-4147-A177-3AD203B41FA5}">
                      <a16:colId xmlns:a16="http://schemas.microsoft.com/office/drawing/2014/main" val="20003"/>
                    </a:ext>
                  </a:extLst>
                </a:gridCol>
                <a:gridCol w="541297">
                  <a:extLst>
                    <a:ext uri="{9D8B030D-6E8A-4147-A177-3AD203B41FA5}">
                      <a16:colId xmlns:a16="http://schemas.microsoft.com/office/drawing/2014/main" val="20004"/>
                    </a:ext>
                  </a:extLst>
                </a:gridCol>
                <a:gridCol w="529326">
                  <a:extLst>
                    <a:ext uri="{9D8B030D-6E8A-4147-A177-3AD203B41FA5}">
                      <a16:colId xmlns:a16="http://schemas.microsoft.com/office/drawing/2014/main" val="20005"/>
                    </a:ext>
                  </a:extLst>
                </a:gridCol>
              </a:tblGrid>
              <a:tr h="184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30417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Conf.</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Rating</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0" i="0" u="none" strike="noStrike" kern="1200" cap="none" normalizeH="0" baseline="0" dirty="0">
                          <a:ln>
                            <a:noFill/>
                          </a:ln>
                          <a:solidFill>
                            <a:schemeClr val="tx1"/>
                          </a:solidFill>
                          <a:effectLst/>
                          <a:latin typeface="EYInterstate Light" pitchFamily="2" charset="0"/>
                          <a:ea typeface="+mn-ea"/>
                          <a:cs typeface="+mn-cs"/>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Plan Updated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20-Sep-13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COMPLETE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2"/>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31-Oct-13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05-Nov-13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spc="0" normalizeH="0" baseline="0" noProof="0">
                          <a:ln>
                            <a:noFill/>
                          </a:ln>
                          <a:solidFill>
                            <a:srgbClr val="000000">
                              <a:lumMod val="85000"/>
                              <a:lumOff val="15000"/>
                            </a:srgbClr>
                          </a:solidFill>
                          <a:effectLst/>
                          <a:uLnTx/>
                          <a:uFillTx/>
                          <a:latin typeface="EYInterstate Light" pitchFamily="2" charset="0"/>
                          <a:ea typeface="+mn-ea"/>
                          <a:cs typeface="+mn-cs"/>
                        </a:rPr>
                        <a:t>GREEN</a:t>
                      </a:r>
                      <a:endParaRPr kumimoji="0" lang="en-US" sz="700" b="0" i="0" u="none" strike="noStrike" kern="1200" cap="none" spc="0" normalizeH="0" baseline="0" noProof="0" dirty="0">
                        <a:ln>
                          <a:noFill/>
                        </a:ln>
                        <a:solidFill>
                          <a:srgbClr val="000000">
                            <a:lumMod val="85000"/>
                            <a:lumOff val="15000"/>
                          </a:srgbClr>
                        </a:solidFill>
                        <a:effectLst/>
                        <a:uLnTx/>
                        <a:uFillTx/>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3"/>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Testing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07-Mar-14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14-Mar-14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spc="0" normalizeH="0" baseline="0" noProof="0" dirty="0">
                          <a:ln>
                            <a:noFill/>
                          </a:ln>
                          <a:solidFill>
                            <a:srgbClr val="000000">
                              <a:lumMod val="85000"/>
                              <a:lumOff val="15000"/>
                            </a:srgbClr>
                          </a:solidFill>
                          <a:effectLst/>
                          <a:uLnTx/>
                          <a:uFillTx/>
                          <a:latin typeface="EYInterstate Light" pitchFamily="2" charset="0"/>
                          <a:ea typeface="+mn-ea"/>
                          <a:cs typeface="+mn-cs"/>
                        </a:rPr>
                        <a:t>GREEN</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4"/>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04-Dec-13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11-Dec-13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5"/>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Pilot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24-Jan-14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31-Jan-14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123561">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Starts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10-Mar-14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17-Mar-14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AMBER</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RED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146685">
                <a:tc>
                  <a:txBody>
                    <a:bodyPr/>
                    <a:lstStyle/>
                    <a:p>
                      <a:pPr algn="l" rtl="0" fontAlgn="t">
                        <a:buClr>
                          <a:srgbClr val="000000"/>
                        </a:buClr>
                        <a:buSzPts val="600"/>
                        <a:buFont typeface="Arial"/>
                        <a:buNone/>
                      </a:pPr>
                      <a:r>
                        <a:rPr kumimoji="0" lang="en-GB" sz="900" b="0" i="0" u="none" strike="noStrike" kern="1200" cap="none" normalizeH="0" baseline="0" dirty="0">
                          <a:ln>
                            <a:noFill/>
                          </a:ln>
                          <a:solidFill>
                            <a:schemeClr val="tx1"/>
                          </a:solidFill>
                          <a:effectLst/>
                          <a:latin typeface="EYInterstate Light" pitchFamily="2" charset="0"/>
                          <a:ea typeface="+mn-ea"/>
                          <a:cs typeface="+mn-cs"/>
                        </a:rPr>
                        <a:t>Deployment Completes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t"/>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TBC</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0" marR="0" indent="0" algn="ctr" defTabSz="914400" rtl="0" eaLnBrk="1" fontAlgn="t" latinLnBrk="0" hangingPunct="1">
                        <a:lnSpc>
                          <a:spcPct val="100000"/>
                        </a:lnSpc>
                        <a:spcBef>
                          <a:spcPts val="0"/>
                        </a:spcBef>
                        <a:spcAft>
                          <a:spcPts val="0"/>
                        </a:spcAft>
                        <a:buClr>
                          <a:srgbClr val="000000"/>
                        </a:buClr>
                        <a:buSzPts val="600"/>
                        <a:buFont typeface="Arial"/>
                        <a:buNone/>
                        <a:tabLst/>
                        <a:defRPr/>
                      </a:pPr>
                      <a:r>
                        <a:rPr kumimoji="0" lang="en-GB" sz="900" b="0" i="0" u="none" strike="noStrike" kern="1200" cap="none" normalizeH="0" baseline="0" dirty="0">
                          <a:ln>
                            <a:noFill/>
                          </a:ln>
                          <a:solidFill>
                            <a:schemeClr val="tx1"/>
                          </a:solidFill>
                          <a:effectLst/>
                          <a:latin typeface="EYInterstate Light" pitchFamily="2" charset="0"/>
                          <a:ea typeface="+mn-ea"/>
                          <a:cs typeface="+mn-cs"/>
                        </a:rPr>
                        <a:t>Target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rtl="0" fontAlgn="t"/>
                      <a:endParaRPr kumimoji="0" lang="en-GB" sz="900" b="0" i="0" u="none" strike="noStrike" kern="1200" cap="none" normalizeH="0" baseline="0" dirty="0">
                        <a:ln>
                          <a:noFill/>
                        </a:ln>
                        <a:solidFill>
                          <a:schemeClr val="tx1"/>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val="1229535280"/>
              </p:ext>
            </p:extLst>
          </p:nvPr>
        </p:nvGraphicFramePr>
        <p:xfrm>
          <a:off x="7570453" y="17252"/>
          <a:ext cx="1503209" cy="535063"/>
        </p:xfrm>
        <a:graphic>
          <a:graphicData uri="http://schemas.openxmlformats.org/drawingml/2006/table">
            <a:tbl>
              <a:tblPr/>
              <a:tblGrid>
                <a:gridCol w="751604">
                  <a:extLst>
                    <a:ext uri="{9D8B030D-6E8A-4147-A177-3AD203B41FA5}">
                      <a16:colId xmlns:a16="http://schemas.microsoft.com/office/drawing/2014/main" val="20000"/>
                    </a:ext>
                  </a:extLst>
                </a:gridCol>
                <a:gridCol w="751605">
                  <a:extLst>
                    <a:ext uri="{9D8B030D-6E8A-4147-A177-3AD203B41FA5}">
                      <a16:colId xmlns:a16="http://schemas.microsoft.com/office/drawing/2014/main" val="20001"/>
                    </a:ext>
                  </a:extLst>
                </a:gridCol>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extLst>
                  <a:ext uri="{0D108BD9-81ED-4DB2-BD59-A6C34878D82A}">
                    <a16:rowId xmlns:a16="http://schemas.microsoft.com/office/drawing/2014/main" val="10000"/>
                  </a:ext>
                </a:extLst>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lumMod val="85000"/>
                              <a:lumOff val="15000"/>
                            </a:schemeClr>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4580958" y="2255219"/>
          <a:ext cx="4495800" cy="1084824"/>
        </p:xfrm>
        <a:graphic>
          <a:graphicData uri="http://schemas.openxmlformats.org/drawingml/2006/table">
            <a:tbl>
              <a:tblPr/>
              <a:tblGrid>
                <a:gridCol w="1582616">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79584">
                  <a:extLst>
                    <a:ext uri="{9D8B030D-6E8A-4147-A177-3AD203B41FA5}">
                      <a16:colId xmlns:a16="http://schemas.microsoft.com/office/drawing/2014/main" val="20003"/>
                    </a:ext>
                  </a:extLst>
                </a:gridCol>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a:ln>
                            <a:noFill/>
                          </a:ln>
                          <a:solidFill>
                            <a:schemeClr val="bg2"/>
                          </a:solidFill>
                          <a:effectLst/>
                          <a:latin typeface="EYInterstate Light" pitchFamily="2" charset="0"/>
                        </a:rPr>
                        <a:t>Mitigating Action</a:t>
                      </a:r>
                      <a:endParaRPr kumimoji="0" lang="en-US" sz="800" b="0" i="0" u="none" strike="noStrike" cap="none" normalizeH="0" baseline="0" dirty="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Target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cap="none" normalizeH="0" baseline="0" dirty="0">
                          <a:ln>
                            <a:noFill/>
                          </a:ln>
                          <a:solidFill>
                            <a:schemeClr val="bg2"/>
                          </a:solidFill>
                          <a:effectLst/>
                          <a:latin typeface="EYInterstate Light" pitchFamily="2" charset="0"/>
                        </a:rPr>
                        <a:t>Owner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R458 - EYRC or other non factored infrastructure constraints may limit deployment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Expedite implementation of EDGE for remote access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10-Mar-14</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Tom Cruise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800" b="0" i="0" u="none" strike="noStrike" kern="1200" cap="none" normalizeH="0" baseline="0" dirty="0">
                          <a:ln>
                            <a:noFill/>
                          </a:ln>
                          <a:solidFill>
                            <a:schemeClr val="tx1"/>
                          </a:solidFill>
                          <a:effectLst/>
                          <a:latin typeface="EYInterstate Light" pitchFamily="2" charset="0"/>
                          <a:ea typeface="+mn-ea"/>
                          <a:cs typeface="+mn-cs"/>
                        </a:rPr>
                        <a:t>R680 - Change freeze may impact Lync timelines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800" b="0" i="0" u="none" strike="noStrike" kern="1200" cap="none" normalizeH="0" baseline="0" dirty="0">
                          <a:ln>
                            <a:noFill/>
                          </a:ln>
                          <a:solidFill>
                            <a:schemeClr val="tx1"/>
                          </a:solidFill>
                          <a:effectLst/>
                          <a:latin typeface="EYInterstate Light" pitchFamily="2" charset="0"/>
                          <a:ea typeface="+mn-ea"/>
                          <a:cs typeface="+mn-cs"/>
                        </a:rPr>
                        <a:t>Raise changes in advance, escalate issue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dirty="0">
                          <a:ln>
                            <a:noFill/>
                          </a:ln>
                          <a:solidFill>
                            <a:schemeClr val="tx1"/>
                          </a:solidFill>
                          <a:effectLst/>
                          <a:latin typeface="EYInterstate Light" pitchFamily="2" charset="0"/>
                          <a:ea typeface="+mn-ea"/>
                          <a:cs typeface="+mn-cs"/>
                        </a:rPr>
                        <a:t>01-Nov-13</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kern="1200" cap="none" normalizeH="0" baseline="0" dirty="0">
                          <a:ln>
                            <a:noFill/>
                          </a:ln>
                          <a:solidFill>
                            <a:schemeClr val="tx1"/>
                          </a:solidFill>
                          <a:effectLst/>
                          <a:latin typeface="EYInterstate Light" pitchFamily="2" charset="0"/>
                          <a:ea typeface="+mn-ea"/>
                          <a:cs typeface="+mn-cs"/>
                        </a:rPr>
                        <a:t>Will Smith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nvGraphicFramePr>
        <p:xfrm>
          <a:off x="4648200" y="6019800"/>
          <a:ext cx="4495800" cy="495577"/>
        </p:xfrm>
        <a:graphic>
          <a:graphicData uri="http://schemas.openxmlformats.org/drawingml/2006/table">
            <a:tbl>
              <a:tblPr/>
              <a:tblGrid>
                <a:gridCol w="4495800">
                  <a:extLst>
                    <a:ext uri="{9D8B030D-6E8A-4147-A177-3AD203B41FA5}">
                      <a16:colId xmlns:a16="http://schemas.microsoft.com/office/drawing/2014/main" val="20000"/>
                    </a:ext>
                  </a:extLst>
                </a:gridCol>
              </a:tblGrid>
              <a:tr h="22437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328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a:ln>
                            <a:noFill/>
                          </a:ln>
                          <a:solidFill>
                            <a:schemeClr val="tx1">
                              <a:lumMod val="85000"/>
                              <a:lumOff val="15000"/>
                            </a:schemeClr>
                          </a:solidFill>
                          <a:effectLst/>
                          <a:latin typeface="EYInterstate Light" pitchFamily="2" charset="0"/>
                        </a:rPr>
                        <a:t>Moved to “Red” status reflects delay to Pilot and Full Deploy milestones due to late delivery of two critical path inbound dependencies.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extLst>
                  <a:ext uri="{0D108BD9-81ED-4DB2-BD59-A6C34878D82A}">
                    <a16:rowId xmlns:a16="http://schemas.microsoft.com/office/drawing/2014/main" val="10000"/>
                  </a:ext>
                </a:extLst>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extLst>
                    <a:ext uri="{9D8B030D-6E8A-4147-A177-3AD203B41FA5}">
                      <a16:colId xmlns:a16="http://schemas.microsoft.com/office/drawing/2014/main" val="20000"/>
                    </a:ext>
                  </a:extLst>
                </a:gridCol>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2" name="Group 27"/>
          <p:cNvGrpSpPr/>
          <p:nvPr/>
        </p:nvGrpSpPr>
        <p:grpSpPr>
          <a:xfrm>
            <a:off x="-76200" y="6357120"/>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84775"/>
          </a:xfrm>
          <a:prstGeom prst="rect">
            <a:avLst/>
          </a:prstGeom>
        </p:spPr>
        <p:txBody>
          <a:bodyPr>
            <a:spAutoFit/>
          </a:bodyPr>
          <a:lstStyle/>
          <a:p>
            <a:pPr defTabSz="955675" eaLnBrk="0" fontAlgn="base" hangingPunct="0">
              <a:spcBef>
                <a:spcPct val="0"/>
              </a:spcBef>
              <a:defRPr/>
            </a:pPr>
            <a:r>
              <a:rPr lang="en-US" sz="1600" b="1" kern="0" dirty="0">
                <a:solidFill>
                  <a:srgbClr val="646464"/>
                </a:solidFill>
              </a:rPr>
              <a:t>Project: Oyster Card Deployment                                                           27-May-2022</a:t>
            </a:r>
          </a:p>
          <a:p>
            <a:pPr marL="0" marR="0" lvl="0" indent="0" algn="l" defTabSz="955675" rtl="0" eaLnBrk="0" fontAlgn="base" latinLnBrk="0" hangingPunct="0">
              <a:lnSpc>
                <a:spcPct val="100000"/>
              </a:lnSpc>
              <a:spcBef>
                <a:spcPct val="0"/>
              </a:spcBef>
              <a:spcAft>
                <a:spcPts val="0"/>
              </a:spcAft>
              <a:buClrTx/>
              <a:buSzTx/>
              <a:buFontTx/>
              <a:buNone/>
              <a:tabLst/>
              <a:defRPr/>
            </a:pPr>
            <a:r>
              <a:rPr kumimoji="0" lang="en-US" sz="1600" b="1" i="0" u="none" strike="noStrike" kern="0" cap="none" spc="0" normalizeH="0" baseline="0" noProof="0" dirty="0">
                <a:ln>
                  <a:noFill/>
                </a:ln>
                <a:solidFill>
                  <a:srgbClr val="646464"/>
                </a:solidFill>
                <a:effectLst/>
                <a:uLnTx/>
                <a:uFillTx/>
                <a:latin typeface="EYInterstate"/>
                <a:ea typeface="+mn-ea"/>
                <a:cs typeface="+mn-cs"/>
              </a:rPr>
              <a:t>PM: </a:t>
            </a:r>
            <a:r>
              <a:rPr kumimoji="0" lang="en-US" sz="1600" b="1" i="0" u="none" strike="noStrike" kern="0" cap="none" spc="0" normalizeH="0" baseline="0" noProof="0" dirty="0" err="1">
                <a:ln>
                  <a:noFill/>
                </a:ln>
                <a:solidFill>
                  <a:srgbClr val="646464"/>
                </a:solidFill>
                <a:effectLst/>
                <a:uLnTx/>
                <a:uFillTx/>
                <a:latin typeface="EYInterstate"/>
                <a:ea typeface="+mn-ea"/>
                <a:cs typeface="+mn-cs"/>
              </a:rPr>
              <a:t>Busayo</a:t>
            </a:r>
            <a:r>
              <a:rPr kumimoji="0" lang="en-US" sz="1600" b="1" i="0" u="none" strike="noStrike" kern="0" cap="none" spc="0" normalizeH="0" baseline="0" noProof="0" dirty="0">
                <a:ln>
                  <a:noFill/>
                </a:ln>
                <a:solidFill>
                  <a:srgbClr val="646464"/>
                </a:solidFill>
                <a:effectLst/>
                <a:uLnTx/>
                <a:uFillTx/>
                <a:latin typeface="EYInterstate"/>
                <a:ea typeface="+mn-ea"/>
                <a:cs typeface="+mn-cs"/>
              </a:rPr>
              <a:t> M</a:t>
            </a:r>
            <a:endParaRPr lang="en-US" sz="1600" b="1" kern="0" dirty="0">
              <a:solidFill>
                <a:srgbClr val="646464"/>
              </a:solidFill>
            </a:endParaRPr>
          </a:p>
        </p:txBody>
      </p:sp>
    </p:spTree>
    <p:extLst>
      <p:ext uri="{BB962C8B-B14F-4D97-AF65-F5344CB8AC3E}">
        <p14:creationId xmlns:p14="http://schemas.microsoft.com/office/powerpoint/2010/main" val="15233014"/>
      </p:ext>
    </p:extLst>
  </p:cSld>
  <p:clrMapOvr>
    <a:masterClrMapping/>
  </p:clrMapOvr>
</p:sld>
</file>

<file path=ppt/theme/theme1.xml><?xml version="1.0" encoding="utf-8"?>
<a:theme xmlns:a="http://schemas.openxmlformats.org/drawingml/2006/main" name="27_EYCspecial">
  <a:themeElements>
    <a:clrScheme name="">
      <a:dk1>
        <a:srgbClr val="000000"/>
      </a:dk1>
      <a:lt1>
        <a:srgbClr val="FFFFFF"/>
      </a:lt1>
      <a:dk2>
        <a:srgbClr val="808080"/>
      </a:dk2>
      <a:lt2>
        <a:srgbClr val="646464"/>
      </a:lt2>
      <a:accent1>
        <a:srgbClr val="A6A6A6"/>
      </a:accent1>
      <a:accent2>
        <a:srgbClr val="CCCCCC"/>
      </a:accent2>
      <a:accent3>
        <a:srgbClr val="FFFFFF"/>
      </a:accent3>
      <a:accent4>
        <a:srgbClr val="000000"/>
      </a:accent4>
      <a:accent5>
        <a:srgbClr val="D0D0D0"/>
      </a:accent5>
      <a:accent6>
        <a:srgbClr val="B9B9B9"/>
      </a:accent6>
      <a:hlink>
        <a:srgbClr val="F2F2F2"/>
      </a:hlink>
      <a:folHlink>
        <a:srgbClr val="FFD200"/>
      </a:folHlink>
    </a:clrScheme>
    <a:fontScheme name="EYCspecial">
      <a:majorFont>
        <a:latin typeface="EYInterstate"/>
        <a:ea typeface=""/>
        <a:cs typeface=""/>
      </a:majorFont>
      <a:minorFont>
        <a:latin typeface="EYInterstat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59372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59372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lnDef>
    <a:txDef>
      <a:spPr bwMode="gray"/>
      <a:bodyPr/>
      <a:lstStyle>
        <a:defPPr marL="0" marR="0" indent="0" algn="l" defTabSz="955675" rtl="0" eaLnBrk="0" fontAlgn="base" latinLnBrk="0" hangingPunct="0">
          <a:lnSpc>
            <a:spcPct val="100000"/>
          </a:lnSpc>
          <a:spcBef>
            <a:spcPct val="0"/>
          </a:spcBef>
          <a:spcAft>
            <a:spcPts val="0"/>
          </a:spcAft>
          <a:buClrTx/>
          <a:buSzTx/>
          <a:buFontTx/>
          <a:buNone/>
          <a:tabLst/>
          <a:defRPr kumimoji="0" sz="1600" b="1" i="0" u="none" strike="noStrike" kern="0" cap="none" spc="0" normalizeH="0" baseline="0" noProof="0" dirty="0" smtClean="0">
            <a:ln>
              <a:noFill/>
            </a:ln>
            <a:solidFill>
              <a:srgbClr val="646464"/>
            </a:solidFill>
            <a:effectLst/>
            <a:uLnTx/>
            <a:uFillTx/>
            <a:latin typeface="+mj-lt"/>
            <a:ea typeface="+mj-ea"/>
            <a:cs typeface="+mj-cs"/>
          </a:defRPr>
        </a:defPPr>
      </a:lstStyle>
    </a:txDef>
  </a:objectDefaults>
  <a:extraClrSchemeLst>
    <a:extraClrScheme>
      <a:clrScheme name="EYCspecial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YCspecia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YCspecial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YCspecial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YCspecial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YCspecial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YCspecial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0cbe1240-e4fe-486d-8edc-2712abb96eb4">MSIBM-75-4967</_dlc_DocId>
    <_dlc_DocIdUrl xmlns="0cbe1240-e4fe-486d-8edc-2712abb96eb4">
      <Url>http://sp.ey.net/msibm/_layouts/DocIdRedir.aspx?ID=MSIBM-75-4967</Url>
      <Description>MSIBM-75-4967</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Powerpoint Presentation" ma:contentTypeID="0x010100EAA48C0EB6E1374ABC7B66D01ECBF0F000B614A79AA91E4A418B30A9A579BC398A" ma:contentTypeVersion="3" ma:contentTypeDescription="" ma:contentTypeScope="" ma:versionID="26b0eaefbaffcf7e8f076bf15b5285e6">
  <xsd:schema xmlns:xsd="http://www.w3.org/2001/XMLSchema" xmlns:xs="http://www.w3.org/2001/XMLSchema" xmlns:p="http://schemas.microsoft.com/office/2006/metadata/properties" xmlns:ns2="0cbe1240-e4fe-486d-8edc-2712abb96eb4" targetNamespace="http://schemas.microsoft.com/office/2006/metadata/properties" ma:root="true" ma:fieldsID="bd214d6eee052d324e45fcce3bef4425" ns2:_="">
    <xsd:import namespace="0cbe1240-e4fe-486d-8edc-2712abb96eb4"/>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6CAE92-7FB4-4C9F-BF11-621F235C5B3E}">
  <ds:schemaRefs>
    <ds:schemaRef ds:uri="http://schemas.microsoft.com/sharepoint/v3/contenttype/forms"/>
  </ds:schemaRefs>
</ds:datastoreItem>
</file>

<file path=customXml/itemProps2.xml><?xml version="1.0" encoding="utf-8"?>
<ds:datastoreItem xmlns:ds="http://schemas.openxmlformats.org/officeDocument/2006/customXml" ds:itemID="{A1151AB7-27D2-4331-AA13-77DE76034D71}">
  <ds:schemaRefs>
    <ds:schemaRef ds:uri="0cbe1240-e4fe-486d-8edc-2712abb96eb4"/>
    <ds:schemaRef ds:uri="http://purl.org/dc/elements/1.1/"/>
    <ds:schemaRef ds:uri="http://schemas.microsoft.com/office/2006/documentManagement/types"/>
    <ds:schemaRef ds:uri="http://schemas.microsoft.com/office/infopath/2007/PartnerControls"/>
    <ds:schemaRef ds:uri="http://purl.org/dc/terms/"/>
    <ds:schemaRef ds:uri="http://schemas.microsoft.com/office/2006/metadata/properties"/>
    <ds:schemaRef ds:uri="http://www.w3.org/XML/1998/namespace"/>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16F2B75D-A58A-4320-BCB2-F858C4AA91C3}">
  <ds:schemaRefs>
    <ds:schemaRef ds:uri="http://schemas.microsoft.com/sharepoint/events"/>
  </ds:schemaRefs>
</ds:datastoreItem>
</file>

<file path=customXml/itemProps4.xml><?xml version="1.0" encoding="utf-8"?>
<ds:datastoreItem xmlns:ds="http://schemas.openxmlformats.org/officeDocument/2006/customXml" ds:itemID="{D92C67E4-CAEF-4E8D-858B-00A6766D74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9686</TotalTime>
  <Words>3953</Words>
  <Application>Microsoft Office PowerPoint</Application>
  <PresentationFormat>On-screen Show (4:3)</PresentationFormat>
  <Paragraphs>661</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Arial Narrow</vt:lpstr>
      <vt:lpstr>Calibri</vt:lpstr>
      <vt:lpstr>EYInterstate</vt:lpstr>
      <vt:lpstr>EYInterstate Light</vt:lpstr>
      <vt:lpstr>Times New Roman</vt:lpstr>
      <vt:lpstr>Wingdings</vt:lpstr>
      <vt:lpstr>27_EYCspecial</vt:lpstr>
      <vt:lpstr>PowerPoint Presentation</vt:lpstr>
      <vt:lpstr>PowerPoint Presentation</vt:lpstr>
      <vt:lpstr>PowerPoint Presentation</vt:lpstr>
      <vt:lpstr>PowerPoint Presentation</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Lync ITS Status Report</dc:title>
  <dc:creator>B. Fernandez</dc:creator>
  <cp:lastModifiedBy>Nasir A</cp:lastModifiedBy>
  <cp:revision>415</cp:revision>
  <dcterms:created xsi:type="dcterms:W3CDTF">2011-11-18T15:43:59Z</dcterms:created>
  <dcterms:modified xsi:type="dcterms:W3CDTF">2022-05-28T00:09:45Z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0x010100EAA48C0EB6E1374ABC7B66D01ECBF0F000B614A79AA91E4A418B30A9A579BC398A</vt:lpwstr>
  </property>
  <property fmtid="{D5CDD505-2E9C-101B-9397-08002B2CF9AE}" pid="3" name="_dlc_DocIdItemGuid">
    <vt:lpwstr>4e2b3ac6-5f5e-4991-aa55-edd902fa2f35</vt:lpwstr>
  </property>
</Properties>
</file>