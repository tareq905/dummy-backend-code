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charts/chart8.xml" ContentType="application/vnd.openxmlformats-officedocument.drawingml.chart+xml"/>
  <Override PartName="/ppt/slideLayouts/slideLayout10.xml" ContentType="application/vnd.openxmlformats-officedocument.presentationml.slideLayou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63" r:id="rId2"/>
    <p:sldId id="256" r:id="rId3"/>
    <p:sldId id="261" r:id="rId4"/>
    <p:sldId id="262" r:id="rId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84" d="100"/>
          <a:sy n="84" d="100"/>
        </p:scale>
        <p:origin x="-1470" y="-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oleObject" Target="http://sp.ey.net/msibm/MC%20Program/Program%20Management/RAID/MC%20Program%20RAID%20Log.xlsx" TargetMode="External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oleObject" Target="http://sp.ey.net/msibm/MC%20Program/Program%20Management/RAID/MC%20Program%20RAID%20Log.xlsx" TargetMode="External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oleObject" Target="http://sp.ey.net/msibm/MC%20Program/Program%20Management/RAID/MC%20Program%20RAID%20Log.xlsx" TargetMode="External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oleObject" Target="http://sp.ey.net/msibm/MC%20Program/Program%20Management/RAID/MC%20Program%20RAID%20Log.xlsx" TargetMode="External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oleObject" Target="http://sp.ey.net/msibm/MC%20Program/Program%20Management/RAID/MC%20Program%20RAID%20Log.xlsx" TargetMode="External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oleObject" Target="http://sp.ey.net/msibm/MC%20Program/Program%20Management/RAID/MC%20Program%20RAID%20Log.xlsx" TargetMode="External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oleObject" Target="http://sp.ey.net/msibm/MC%20Program/Program%20Management/RAID/MC%20Program%20RAID%20Log.xlsx" TargetMode="External"/></Relationships>
</file>

<file path=ppt/charts/_rels/chart8.xml.rels><?xml version="1.0" encoding="UTF-8" standalone="yes"?>
<Relationships xmlns="http://schemas.openxmlformats.org/package/2006/relationships"><Relationship Id="rId1" Type="http://schemas.openxmlformats.org/officeDocument/2006/relationships/oleObject" Target="http://sp.ey.net/msibm/MC%20Program/Program%20Management/RAID/MC%20Program%20RAID%20Log.xlsx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GB"/>
  <c:chart>
    <c:autoTitleDeleted val="1"/>
    <c:plotArea>
      <c:layout/>
      <c:lineChart>
        <c:grouping val="standard"/>
        <c:ser>
          <c:idx val="0"/>
          <c:order val="0"/>
          <c:tx>
            <c:strRef>
              <c:f>'RAID Summary'!$A$2</c:f>
              <c:strCache>
                <c:ptCount val="1"/>
                <c:pt idx="0">
                  <c:v>Total Open Risks</c:v>
                </c:pt>
              </c:strCache>
            </c:strRef>
          </c:tx>
          <c:cat>
            <c:numRef>
              <c:f>'RAID Summary'!$B$1:$Z$1</c:f>
              <c:numCache>
                <c:formatCode>dd\-mmm\-yy</c:formatCode>
                <c:ptCount val="25"/>
                <c:pt idx="0">
                  <c:v>40898</c:v>
                </c:pt>
                <c:pt idx="1">
                  <c:v>40912</c:v>
                </c:pt>
                <c:pt idx="2">
                  <c:v>40919</c:v>
                </c:pt>
                <c:pt idx="3">
                  <c:v>40926</c:v>
                </c:pt>
                <c:pt idx="4">
                  <c:v>40933</c:v>
                </c:pt>
                <c:pt idx="5">
                  <c:v>40940</c:v>
                </c:pt>
                <c:pt idx="6">
                  <c:v>40947</c:v>
                </c:pt>
                <c:pt idx="7">
                  <c:v>40954</c:v>
                </c:pt>
                <c:pt idx="8">
                  <c:v>40961</c:v>
                </c:pt>
                <c:pt idx="9">
                  <c:v>40968</c:v>
                </c:pt>
                <c:pt idx="10">
                  <c:v>40974</c:v>
                </c:pt>
                <c:pt idx="11">
                  <c:v>40975</c:v>
                </c:pt>
                <c:pt idx="12">
                  <c:v>40976</c:v>
                </c:pt>
                <c:pt idx="13">
                  <c:v>40977</c:v>
                </c:pt>
                <c:pt idx="14">
                  <c:v>40980</c:v>
                </c:pt>
                <c:pt idx="15">
                  <c:v>40981</c:v>
                </c:pt>
                <c:pt idx="16">
                  <c:v>40982</c:v>
                </c:pt>
                <c:pt idx="17">
                  <c:v>40983</c:v>
                </c:pt>
                <c:pt idx="18">
                  <c:v>40984</c:v>
                </c:pt>
                <c:pt idx="19">
                  <c:v>40987</c:v>
                </c:pt>
                <c:pt idx="20">
                  <c:v>40988</c:v>
                </c:pt>
                <c:pt idx="21">
                  <c:v>40989</c:v>
                </c:pt>
                <c:pt idx="22">
                  <c:v>40990</c:v>
                </c:pt>
                <c:pt idx="23">
                  <c:v>40991</c:v>
                </c:pt>
                <c:pt idx="24">
                  <c:v>40994</c:v>
                </c:pt>
              </c:numCache>
            </c:numRef>
          </c:cat>
          <c:val>
            <c:numRef>
              <c:f>'RAID Summary'!$B$2:$Z$2</c:f>
              <c:numCache>
                <c:formatCode>General</c:formatCode>
                <c:ptCount val="25"/>
                <c:pt idx="0">
                  <c:v>40</c:v>
                </c:pt>
                <c:pt idx="1">
                  <c:v>34</c:v>
                </c:pt>
                <c:pt idx="2">
                  <c:v>33</c:v>
                </c:pt>
                <c:pt idx="3">
                  <c:v>30</c:v>
                </c:pt>
                <c:pt idx="4">
                  <c:v>32</c:v>
                </c:pt>
                <c:pt idx="5">
                  <c:v>32</c:v>
                </c:pt>
                <c:pt idx="6">
                  <c:v>30</c:v>
                </c:pt>
                <c:pt idx="7">
                  <c:v>30</c:v>
                </c:pt>
                <c:pt idx="8">
                  <c:v>32</c:v>
                </c:pt>
                <c:pt idx="9">
                  <c:v>39</c:v>
                </c:pt>
                <c:pt idx="10">
                  <c:v>45</c:v>
                </c:pt>
                <c:pt idx="11">
                  <c:v>38</c:v>
                </c:pt>
                <c:pt idx="12">
                  <c:v>37</c:v>
                </c:pt>
                <c:pt idx="13">
                  <c:v>32</c:v>
                </c:pt>
                <c:pt idx="14">
                  <c:v>30</c:v>
                </c:pt>
                <c:pt idx="15">
                  <c:v>29</c:v>
                </c:pt>
                <c:pt idx="16">
                  <c:v>32</c:v>
                </c:pt>
                <c:pt idx="17">
                  <c:v>32</c:v>
                </c:pt>
                <c:pt idx="18">
                  <c:v>32</c:v>
                </c:pt>
                <c:pt idx="19">
                  <c:v>35</c:v>
                </c:pt>
                <c:pt idx="20">
                  <c:v>35</c:v>
                </c:pt>
                <c:pt idx="23">
                  <c:v>35</c:v>
                </c:pt>
                <c:pt idx="24">
                  <c:v>35</c:v>
                </c:pt>
              </c:numCache>
            </c:numRef>
          </c:val>
        </c:ser>
        <c:ser>
          <c:idx val="1"/>
          <c:order val="1"/>
          <c:tx>
            <c:strRef>
              <c:f>'RAID Summary'!$A$3</c:f>
              <c:strCache>
                <c:ptCount val="1"/>
                <c:pt idx="0">
                  <c:v>Total Open High or Critical Risks</c:v>
                </c:pt>
              </c:strCache>
            </c:strRef>
          </c:tx>
          <c:cat>
            <c:numRef>
              <c:f>'RAID Summary'!$B$1:$Z$1</c:f>
              <c:numCache>
                <c:formatCode>dd\-mmm\-yy</c:formatCode>
                <c:ptCount val="25"/>
                <c:pt idx="0">
                  <c:v>40898</c:v>
                </c:pt>
                <c:pt idx="1">
                  <c:v>40912</c:v>
                </c:pt>
                <c:pt idx="2">
                  <c:v>40919</c:v>
                </c:pt>
                <c:pt idx="3">
                  <c:v>40926</c:v>
                </c:pt>
                <c:pt idx="4">
                  <c:v>40933</c:v>
                </c:pt>
                <c:pt idx="5">
                  <c:v>40940</c:v>
                </c:pt>
                <c:pt idx="6">
                  <c:v>40947</c:v>
                </c:pt>
                <c:pt idx="7">
                  <c:v>40954</c:v>
                </c:pt>
                <c:pt idx="8">
                  <c:v>40961</c:v>
                </c:pt>
                <c:pt idx="9">
                  <c:v>40968</c:v>
                </c:pt>
                <c:pt idx="10">
                  <c:v>40974</c:v>
                </c:pt>
                <c:pt idx="11">
                  <c:v>40975</c:v>
                </c:pt>
                <c:pt idx="12">
                  <c:v>40976</c:v>
                </c:pt>
                <c:pt idx="13">
                  <c:v>40977</c:v>
                </c:pt>
                <c:pt idx="14">
                  <c:v>40980</c:v>
                </c:pt>
                <c:pt idx="15">
                  <c:v>40981</c:v>
                </c:pt>
                <c:pt idx="16">
                  <c:v>40982</c:v>
                </c:pt>
                <c:pt idx="17">
                  <c:v>40983</c:v>
                </c:pt>
                <c:pt idx="18">
                  <c:v>40984</c:v>
                </c:pt>
                <c:pt idx="19">
                  <c:v>40987</c:v>
                </c:pt>
                <c:pt idx="20">
                  <c:v>40988</c:v>
                </c:pt>
                <c:pt idx="21">
                  <c:v>40989</c:v>
                </c:pt>
                <c:pt idx="22">
                  <c:v>40990</c:v>
                </c:pt>
                <c:pt idx="23">
                  <c:v>40991</c:v>
                </c:pt>
                <c:pt idx="24">
                  <c:v>40994</c:v>
                </c:pt>
              </c:numCache>
            </c:numRef>
          </c:cat>
          <c:val>
            <c:numRef>
              <c:f>'RAID Summary'!$B$3:$Z$3</c:f>
              <c:numCache>
                <c:formatCode>General</c:formatCode>
                <c:ptCount val="25"/>
                <c:pt idx="0">
                  <c:v>15</c:v>
                </c:pt>
                <c:pt idx="1">
                  <c:v>10</c:v>
                </c:pt>
                <c:pt idx="2">
                  <c:v>13</c:v>
                </c:pt>
                <c:pt idx="3">
                  <c:v>13</c:v>
                </c:pt>
                <c:pt idx="4">
                  <c:v>14</c:v>
                </c:pt>
                <c:pt idx="5">
                  <c:v>14</c:v>
                </c:pt>
                <c:pt idx="6">
                  <c:v>16</c:v>
                </c:pt>
                <c:pt idx="7">
                  <c:v>16</c:v>
                </c:pt>
                <c:pt idx="8">
                  <c:v>21</c:v>
                </c:pt>
                <c:pt idx="9">
                  <c:v>28</c:v>
                </c:pt>
                <c:pt idx="10">
                  <c:v>25</c:v>
                </c:pt>
                <c:pt idx="11">
                  <c:v>19</c:v>
                </c:pt>
                <c:pt idx="12">
                  <c:v>17</c:v>
                </c:pt>
                <c:pt idx="13">
                  <c:v>14</c:v>
                </c:pt>
                <c:pt idx="14">
                  <c:v>14</c:v>
                </c:pt>
                <c:pt idx="15">
                  <c:v>14</c:v>
                </c:pt>
                <c:pt idx="16">
                  <c:v>17</c:v>
                </c:pt>
                <c:pt idx="17">
                  <c:v>16</c:v>
                </c:pt>
                <c:pt idx="18">
                  <c:v>16</c:v>
                </c:pt>
                <c:pt idx="19">
                  <c:v>15</c:v>
                </c:pt>
                <c:pt idx="20">
                  <c:v>15</c:v>
                </c:pt>
                <c:pt idx="23">
                  <c:v>15</c:v>
                </c:pt>
                <c:pt idx="24">
                  <c:v>15</c:v>
                </c:pt>
              </c:numCache>
            </c:numRef>
          </c:val>
        </c:ser>
        <c:ser>
          <c:idx val="2"/>
          <c:order val="2"/>
          <c:tx>
            <c:strRef>
              <c:f>'RAID Summary'!$A$4</c:f>
              <c:strCache>
                <c:ptCount val="1"/>
                <c:pt idx="0">
                  <c:v>Risks: Missed Required Resolution Date</c:v>
                </c:pt>
              </c:strCache>
            </c:strRef>
          </c:tx>
          <c:cat>
            <c:numRef>
              <c:f>'RAID Summary'!$B$1:$Z$1</c:f>
              <c:numCache>
                <c:formatCode>dd\-mmm\-yy</c:formatCode>
                <c:ptCount val="25"/>
                <c:pt idx="0">
                  <c:v>40898</c:v>
                </c:pt>
                <c:pt idx="1">
                  <c:v>40912</c:v>
                </c:pt>
                <c:pt idx="2">
                  <c:v>40919</c:v>
                </c:pt>
                <c:pt idx="3">
                  <c:v>40926</c:v>
                </c:pt>
                <c:pt idx="4">
                  <c:v>40933</c:v>
                </c:pt>
                <c:pt idx="5">
                  <c:v>40940</c:v>
                </c:pt>
                <c:pt idx="6">
                  <c:v>40947</c:v>
                </c:pt>
                <c:pt idx="7">
                  <c:v>40954</c:v>
                </c:pt>
                <c:pt idx="8">
                  <c:v>40961</c:v>
                </c:pt>
                <c:pt idx="9">
                  <c:v>40968</c:v>
                </c:pt>
                <c:pt idx="10">
                  <c:v>40974</c:v>
                </c:pt>
                <c:pt idx="11">
                  <c:v>40975</c:v>
                </c:pt>
                <c:pt idx="12">
                  <c:v>40976</c:v>
                </c:pt>
                <c:pt idx="13">
                  <c:v>40977</c:v>
                </c:pt>
                <c:pt idx="14">
                  <c:v>40980</c:v>
                </c:pt>
                <c:pt idx="15">
                  <c:v>40981</c:v>
                </c:pt>
                <c:pt idx="16">
                  <c:v>40982</c:v>
                </c:pt>
                <c:pt idx="17">
                  <c:v>40983</c:v>
                </c:pt>
                <c:pt idx="18">
                  <c:v>40984</c:v>
                </c:pt>
                <c:pt idx="19">
                  <c:v>40987</c:v>
                </c:pt>
                <c:pt idx="20">
                  <c:v>40988</c:v>
                </c:pt>
                <c:pt idx="21">
                  <c:v>40989</c:v>
                </c:pt>
                <c:pt idx="22">
                  <c:v>40990</c:v>
                </c:pt>
                <c:pt idx="23">
                  <c:v>40991</c:v>
                </c:pt>
                <c:pt idx="24">
                  <c:v>40994</c:v>
                </c:pt>
              </c:numCache>
            </c:numRef>
          </c:cat>
          <c:val>
            <c:numRef>
              <c:f>'RAID Summary'!$B$4:$Z$4</c:f>
              <c:numCache>
                <c:formatCode>General</c:formatCode>
                <c:ptCount val="25"/>
                <c:pt idx="2">
                  <c:v>2</c:v>
                </c:pt>
                <c:pt idx="3">
                  <c:v>3</c:v>
                </c:pt>
                <c:pt idx="4">
                  <c:v>5</c:v>
                </c:pt>
                <c:pt idx="5">
                  <c:v>7</c:v>
                </c:pt>
                <c:pt idx="6">
                  <c:v>8</c:v>
                </c:pt>
                <c:pt idx="7">
                  <c:v>10</c:v>
                </c:pt>
                <c:pt idx="8">
                  <c:v>9</c:v>
                </c:pt>
                <c:pt idx="9">
                  <c:v>13</c:v>
                </c:pt>
                <c:pt idx="10">
                  <c:v>9</c:v>
                </c:pt>
                <c:pt idx="11">
                  <c:v>2</c:v>
                </c:pt>
                <c:pt idx="12">
                  <c:v>2</c:v>
                </c:pt>
                <c:pt idx="13">
                  <c:v>1</c:v>
                </c:pt>
                <c:pt idx="14">
                  <c:v>1</c:v>
                </c:pt>
                <c:pt idx="15">
                  <c:v>0</c:v>
                </c:pt>
                <c:pt idx="16">
                  <c:v>1</c:v>
                </c:pt>
                <c:pt idx="17">
                  <c:v>1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3">
                  <c:v>0</c:v>
                </c:pt>
                <c:pt idx="24">
                  <c:v>0</c:v>
                </c:pt>
              </c:numCache>
            </c:numRef>
          </c:val>
        </c:ser>
        <c:ser>
          <c:idx val="3"/>
          <c:order val="3"/>
          <c:tx>
            <c:strRef>
              <c:f>'RAID Summary'!$A$5</c:f>
              <c:strCache>
                <c:ptCount val="1"/>
                <c:pt idx="0">
                  <c:v>Total Open Issues</c:v>
                </c:pt>
              </c:strCache>
            </c:strRef>
          </c:tx>
          <c:cat>
            <c:numRef>
              <c:f>'RAID Summary'!$B$1:$Z$1</c:f>
              <c:numCache>
                <c:formatCode>dd\-mmm\-yy</c:formatCode>
                <c:ptCount val="25"/>
                <c:pt idx="0">
                  <c:v>40898</c:v>
                </c:pt>
                <c:pt idx="1">
                  <c:v>40912</c:v>
                </c:pt>
                <c:pt idx="2">
                  <c:v>40919</c:v>
                </c:pt>
                <c:pt idx="3">
                  <c:v>40926</c:v>
                </c:pt>
                <c:pt idx="4">
                  <c:v>40933</c:v>
                </c:pt>
                <c:pt idx="5">
                  <c:v>40940</c:v>
                </c:pt>
                <c:pt idx="6">
                  <c:v>40947</c:v>
                </c:pt>
                <c:pt idx="7">
                  <c:v>40954</c:v>
                </c:pt>
                <c:pt idx="8">
                  <c:v>40961</c:v>
                </c:pt>
                <c:pt idx="9">
                  <c:v>40968</c:v>
                </c:pt>
                <c:pt idx="10">
                  <c:v>40974</c:v>
                </c:pt>
                <c:pt idx="11">
                  <c:v>40975</c:v>
                </c:pt>
                <c:pt idx="12">
                  <c:v>40976</c:v>
                </c:pt>
                <c:pt idx="13">
                  <c:v>40977</c:v>
                </c:pt>
                <c:pt idx="14">
                  <c:v>40980</c:v>
                </c:pt>
                <c:pt idx="15">
                  <c:v>40981</c:v>
                </c:pt>
                <c:pt idx="16">
                  <c:v>40982</c:v>
                </c:pt>
                <c:pt idx="17">
                  <c:v>40983</c:v>
                </c:pt>
                <c:pt idx="18">
                  <c:v>40984</c:v>
                </c:pt>
                <c:pt idx="19">
                  <c:v>40987</c:v>
                </c:pt>
                <c:pt idx="20">
                  <c:v>40988</c:v>
                </c:pt>
                <c:pt idx="21">
                  <c:v>40989</c:v>
                </c:pt>
                <c:pt idx="22">
                  <c:v>40990</c:v>
                </c:pt>
                <c:pt idx="23">
                  <c:v>40991</c:v>
                </c:pt>
                <c:pt idx="24">
                  <c:v>40994</c:v>
                </c:pt>
              </c:numCache>
            </c:numRef>
          </c:cat>
          <c:val>
            <c:numRef>
              <c:f>'RAID Summary'!$B$5:$Z$5</c:f>
              <c:numCache>
                <c:formatCode>General</c:formatCode>
                <c:ptCount val="25"/>
                <c:pt idx="0">
                  <c:v>37</c:v>
                </c:pt>
                <c:pt idx="1">
                  <c:v>37</c:v>
                </c:pt>
                <c:pt idx="2">
                  <c:v>42</c:v>
                </c:pt>
                <c:pt idx="3">
                  <c:v>42</c:v>
                </c:pt>
                <c:pt idx="4">
                  <c:v>45</c:v>
                </c:pt>
                <c:pt idx="5">
                  <c:v>48</c:v>
                </c:pt>
                <c:pt idx="6">
                  <c:v>52</c:v>
                </c:pt>
                <c:pt idx="7">
                  <c:v>43</c:v>
                </c:pt>
                <c:pt idx="8">
                  <c:v>49</c:v>
                </c:pt>
                <c:pt idx="9">
                  <c:v>51</c:v>
                </c:pt>
                <c:pt idx="10">
                  <c:v>55</c:v>
                </c:pt>
                <c:pt idx="11">
                  <c:v>51</c:v>
                </c:pt>
                <c:pt idx="12">
                  <c:v>53</c:v>
                </c:pt>
                <c:pt idx="13">
                  <c:v>46</c:v>
                </c:pt>
                <c:pt idx="14">
                  <c:v>47</c:v>
                </c:pt>
                <c:pt idx="15">
                  <c:v>44</c:v>
                </c:pt>
                <c:pt idx="16">
                  <c:v>44</c:v>
                </c:pt>
                <c:pt idx="17">
                  <c:v>42</c:v>
                </c:pt>
                <c:pt idx="18">
                  <c:v>41</c:v>
                </c:pt>
                <c:pt idx="19">
                  <c:v>37</c:v>
                </c:pt>
                <c:pt idx="20">
                  <c:v>37</c:v>
                </c:pt>
                <c:pt idx="23">
                  <c:v>37</c:v>
                </c:pt>
                <c:pt idx="24">
                  <c:v>37</c:v>
                </c:pt>
              </c:numCache>
            </c:numRef>
          </c:val>
        </c:ser>
        <c:ser>
          <c:idx val="4"/>
          <c:order val="4"/>
          <c:tx>
            <c:strRef>
              <c:f>'RAID Summary'!$A$6</c:f>
              <c:strCache>
                <c:ptCount val="1"/>
                <c:pt idx="0">
                  <c:v>Total Open High or Critical Issues</c:v>
                </c:pt>
              </c:strCache>
            </c:strRef>
          </c:tx>
          <c:cat>
            <c:numRef>
              <c:f>'RAID Summary'!$B$1:$Z$1</c:f>
              <c:numCache>
                <c:formatCode>dd\-mmm\-yy</c:formatCode>
                <c:ptCount val="25"/>
                <c:pt idx="0">
                  <c:v>40898</c:v>
                </c:pt>
                <c:pt idx="1">
                  <c:v>40912</c:v>
                </c:pt>
                <c:pt idx="2">
                  <c:v>40919</c:v>
                </c:pt>
                <c:pt idx="3">
                  <c:v>40926</c:v>
                </c:pt>
                <c:pt idx="4">
                  <c:v>40933</c:v>
                </c:pt>
                <c:pt idx="5">
                  <c:v>40940</c:v>
                </c:pt>
                <c:pt idx="6">
                  <c:v>40947</c:v>
                </c:pt>
                <c:pt idx="7">
                  <c:v>40954</c:v>
                </c:pt>
                <c:pt idx="8">
                  <c:v>40961</c:v>
                </c:pt>
                <c:pt idx="9">
                  <c:v>40968</c:v>
                </c:pt>
                <c:pt idx="10">
                  <c:v>40974</c:v>
                </c:pt>
                <c:pt idx="11">
                  <c:v>40975</c:v>
                </c:pt>
                <c:pt idx="12">
                  <c:v>40976</c:v>
                </c:pt>
                <c:pt idx="13">
                  <c:v>40977</c:v>
                </c:pt>
                <c:pt idx="14">
                  <c:v>40980</c:v>
                </c:pt>
                <c:pt idx="15">
                  <c:v>40981</c:v>
                </c:pt>
                <c:pt idx="16">
                  <c:v>40982</c:v>
                </c:pt>
                <c:pt idx="17">
                  <c:v>40983</c:v>
                </c:pt>
                <c:pt idx="18">
                  <c:v>40984</c:v>
                </c:pt>
                <c:pt idx="19">
                  <c:v>40987</c:v>
                </c:pt>
                <c:pt idx="20">
                  <c:v>40988</c:v>
                </c:pt>
                <c:pt idx="21">
                  <c:v>40989</c:v>
                </c:pt>
                <c:pt idx="22">
                  <c:v>40990</c:v>
                </c:pt>
                <c:pt idx="23">
                  <c:v>40991</c:v>
                </c:pt>
                <c:pt idx="24">
                  <c:v>40994</c:v>
                </c:pt>
              </c:numCache>
            </c:numRef>
          </c:cat>
          <c:val>
            <c:numRef>
              <c:f>'RAID Summary'!$B$6:$Z$6</c:f>
              <c:numCache>
                <c:formatCode>General</c:formatCode>
                <c:ptCount val="25"/>
                <c:pt idx="2">
                  <c:v>25</c:v>
                </c:pt>
                <c:pt idx="3">
                  <c:v>25</c:v>
                </c:pt>
                <c:pt idx="4">
                  <c:v>28</c:v>
                </c:pt>
                <c:pt idx="5">
                  <c:v>33</c:v>
                </c:pt>
                <c:pt idx="6">
                  <c:v>39</c:v>
                </c:pt>
                <c:pt idx="7">
                  <c:v>31</c:v>
                </c:pt>
                <c:pt idx="8">
                  <c:v>37</c:v>
                </c:pt>
                <c:pt idx="9">
                  <c:v>40</c:v>
                </c:pt>
                <c:pt idx="10">
                  <c:v>45</c:v>
                </c:pt>
                <c:pt idx="11">
                  <c:v>42</c:v>
                </c:pt>
                <c:pt idx="12">
                  <c:v>45</c:v>
                </c:pt>
                <c:pt idx="13">
                  <c:v>37</c:v>
                </c:pt>
                <c:pt idx="14">
                  <c:v>37</c:v>
                </c:pt>
                <c:pt idx="15">
                  <c:v>36</c:v>
                </c:pt>
                <c:pt idx="16">
                  <c:v>36</c:v>
                </c:pt>
                <c:pt idx="17">
                  <c:v>34</c:v>
                </c:pt>
                <c:pt idx="18">
                  <c:v>33</c:v>
                </c:pt>
                <c:pt idx="19">
                  <c:v>29</c:v>
                </c:pt>
                <c:pt idx="20">
                  <c:v>29</c:v>
                </c:pt>
                <c:pt idx="23">
                  <c:v>29</c:v>
                </c:pt>
                <c:pt idx="24">
                  <c:v>29</c:v>
                </c:pt>
              </c:numCache>
            </c:numRef>
          </c:val>
        </c:ser>
        <c:ser>
          <c:idx val="5"/>
          <c:order val="5"/>
          <c:tx>
            <c:strRef>
              <c:f>'RAID Summary'!$A$7</c:f>
              <c:strCache>
                <c:ptCount val="1"/>
                <c:pt idx="0">
                  <c:v>Issues: Missed Required Resolution Date</c:v>
                </c:pt>
              </c:strCache>
            </c:strRef>
          </c:tx>
          <c:cat>
            <c:numRef>
              <c:f>'RAID Summary'!$B$1:$Z$1</c:f>
              <c:numCache>
                <c:formatCode>dd\-mmm\-yy</c:formatCode>
                <c:ptCount val="25"/>
                <c:pt idx="0">
                  <c:v>40898</c:v>
                </c:pt>
                <c:pt idx="1">
                  <c:v>40912</c:v>
                </c:pt>
                <c:pt idx="2">
                  <c:v>40919</c:v>
                </c:pt>
                <c:pt idx="3">
                  <c:v>40926</c:v>
                </c:pt>
                <c:pt idx="4">
                  <c:v>40933</c:v>
                </c:pt>
                <c:pt idx="5">
                  <c:v>40940</c:v>
                </c:pt>
                <c:pt idx="6">
                  <c:v>40947</c:v>
                </c:pt>
                <c:pt idx="7">
                  <c:v>40954</c:v>
                </c:pt>
                <c:pt idx="8">
                  <c:v>40961</c:v>
                </c:pt>
                <c:pt idx="9">
                  <c:v>40968</c:v>
                </c:pt>
                <c:pt idx="10">
                  <c:v>40974</c:v>
                </c:pt>
                <c:pt idx="11">
                  <c:v>40975</c:v>
                </c:pt>
                <c:pt idx="12">
                  <c:v>40976</c:v>
                </c:pt>
                <c:pt idx="13">
                  <c:v>40977</c:v>
                </c:pt>
                <c:pt idx="14">
                  <c:v>40980</c:v>
                </c:pt>
                <c:pt idx="15">
                  <c:v>40981</c:v>
                </c:pt>
                <c:pt idx="16">
                  <c:v>40982</c:v>
                </c:pt>
                <c:pt idx="17">
                  <c:v>40983</c:v>
                </c:pt>
                <c:pt idx="18">
                  <c:v>40984</c:v>
                </c:pt>
                <c:pt idx="19">
                  <c:v>40987</c:v>
                </c:pt>
                <c:pt idx="20">
                  <c:v>40988</c:v>
                </c:pt>
                <c:pt idx="21">
                  <c:v>40989</c:v>
                </c:pt>
                <c:pt idx="22">
                  <c:v>40990</c:v>
                </c:pt>
                <c:pt idx="23">
                  <c:v>40991</c:v>
                </c:pt>
                <c:pt idx="24">
                  <c:v>40994</c:v>
                </c:pt>
              </c:numCache>
            </c:numRef>
          </c:cat>
          <c:val>
            <c:numRef>
              <c:f>'RAID Summary'!$B$7:$Z$7</c:f>
              <c:numCache>
                <c:formatCode>General</c:formatCode>
                <c:ptCount val="25"/>
                <c:pt idx="2">
                  <c:v>13</c:v>
                </c:pt>
                <c:pt idx="3">
                  <c:v>12</c:v>
                </c:pt>
                <c:pt idx="4">
                  <c:v>7</c:v>
                </c:pt>
                <c:pt idx="5">
                  <c:v>13</c:v>
                </c:pt>
                <c:pt idx="6">
                  <c:v>16</c:v>
                </c:pt>
                <c:pt idx="7">
                  <c:v>14</c:v>
                </c:pt>
                <c:pt idx="8">
                  <c:v>12</c:v>
                </c:pt>
                <c:pt idx="9">
                  <c:v>22</c:v>
                </c:pt>
                <c:pt idx="10">
                  <c:v>20</c:v>
                </c:pt>
                <c:pt idx="11">
                  <c:v>14</c:v>
                </c:pt>
                <c:pt idx="12">
                  <c:v>16</c:v>
                </c:pt>
                <c:pt idx="13">
                  <c:v>13</c:v>
                </c:pt>
                <c:pt idx="14">
                  <c:v>8</c:v>
                </c:pt>
                <c:pt idx="15">
                  <c:v>6</c:v>
                </c:pt>
                <c:pt idx="16">
                  <c:v>4</c:v>
                </c:pt>
                <c:pt idx="17">
                  <c:v>7</c:v>
                </c:pt>
                <c:pt idx="18">
                  <c:v>6</c:v>
                </c:pt>
                <c:pt idx="19">
                  <c:v>3</c:v>
                </c:pt>
                <c:pt idx="20">
                  <c:v>10</c:v>
                </c:pt>
                <c:pt idx="23">
                  <c:v>10</c:v>
                </c:pt>
                <c:pt idx="24">
                  <c:v>10</c:v>
                </c:pt>
              </c:numCache>
            </c:numRef>
          </c:val>
        </c:ser>
        <c:ser>
          <c:idx val="6"/>
          <c:order val="6"/>
          <c:tx>
            <c:strRef>
              <c:f>'RAID Summary'!$A$8</c:f>
              <c:strCache>
                <c:ptCount val="1"/>
                <c:pt idx="0">
                  <c:v>Total Assumptions</c:v>
                </c:pt>
              </c:strCache>
            </c:strRef>
          </c:tx>
          <c:cat>
            <c:numRef>
              <c:f>'RAID Summary'!$B$1:$Z$1</c:f>
              <c:numCache>
                <c:formatCode>dd\-mmm\-yy</c:formatCode>
                <c:ptCount val="25"/>
                <c:pt idx="0">
                  <c:v>40898</c:v>
                </c:pt>
                <c:pt idx="1">
                  <c:v>40912</c:v>
                </c:pt>
                <c:pt idx="2">
                  <c:v>40919</c:v>
                </c:pt>
                <c:pt idx="3">
                  <c:v>40926</c:v>
                </c:pt>
                <c:pt idx="4">
                  <c:v>40933</c:v>
                </c:pt>
                <c:pt idx="5">
                  <c:v>40940</c:v>
                </c:pt>
                <c:pt idx="6">
                  <c:v>40947</c:v>
                </c:pt>
                <c:pt idx="7">
                  <c:v>40954</c:v>
                </c:pt>
                <c:pt idx="8">
                  <c:v>40961</c:v>
                </c:pt>
                <c:pt idx="9">
                  <c:v>40968</c:v>
                </c:pt>
                <c:pt idx="10">
                  <c:v>40974</c:v>
                </c:pt>
                <c:pt idx="11">
                  <c:v>40975</c:v>
                </c:pt>
                <c:pt idx="12">
                  <c:v>40976</c:v>
                </c:pt>
                <c:pt idx="13">
                  <c:v>40977</c:v>
                </c:pt>
                <c:pt idx="14">
                  <c:v>40980</c:v>
                </c:pt>
                <c:pt idx="15">
                  <c:v>40981</c:v>
                </c:pt>
                <c:pt idx="16">
                  <c:v>40982</c:v>
                </c:pt>
                <c:pt idx="17">
                  <c:v>40983</c:v>
                </c:pt>
                <c:pt idx="18">
                  <c:v>40984</c:v>
                </c:pt>
                <c:pt idx="19">
                  <c:v>40987</c:v>
                </c:pt>
                <c:pt idx="20">
                  <c:v>40988</c:v>
                </c:pt>
                <c:pt idx="21">
                  <c:v>40989</c:v>
                </c:pt>
                <c:pt idx="22">
                  <c:v>40990</c:v>
                </c:pt>
                <c:pt idx="23">
                  <c:v>40991</c:v>
                </c:pt>
                <c:pt idx="24">
                  <c:v>40994</c:v>
                </c:pt>
              </c:numCache>
            </c:numRef>
          </c:cat>
          <c:val>
            <c:numRef>
              <c:f>'RAID Summary'!$B$8:$Z$8</c:f>
              <c:numCache>
                <c:formatCode>General</c:formatCode>
                <c:ptCount val="25"/>
                <c:pt idx="0">
                  <c:v>78</c:v>
                </c:pt>
                <c:pt idx="1">
                  <c:v>70</c:v>
                </c:pt>
                <c:pt idx="2">
                  <c:v>67</c:v>
                </c:pt>
                <c:pt idx="3">
                  <c:v>67</c:v>
                </c:pt>
                <c:pt idx="4">
                  <c:v>68</c:v>
                </c:pt>
                <c:pt idx="5">
                  <c:v>69</c:v>
                </c:pt>
                <c:pt idx="6">
                  <c:v>69</c:v>
                </c:pt>
                <c:pt idx="7">
                  <c:v>69</c:v>
                </c:pt>
                <c:pt idx="8">
                  <c:v>63</c:v>
                </c:pt>
                <c:pt idx="9">
                  <c:v>63</c:v>
                </c:pt>
                <c:pt idx="10">
                  <c:v>63</c:v>
                </c:pt>
                <c:pt idx="11">
                  <c:v>63</c:v>
                </c:pt>
                <c:pt idx="12">
                  <c:v>63</c:v>
                </c:pt>
                <c:pt idx="13">
                  <c:v>63</c:v>
                </c:pt>
                <c:pt idx="14">
                  <c:v>62</c:v>
                </c:pt>
                <c:pt idx="15">
                  <c:v>62</c:v>
                </c:pt>
                <c:pt idx="16">
                  <c:v>62</c:v>
                </c:pt>
                <c:pt idx="17">
                  <c:v>62</c:v>
                </c:pt>
                <c:pt idx="18">
                  <c:v>62</c:v>
                </c:pt>
                <c:pt idx="19">
                  <c:v>62</c:v>
                </c:pt>
                <c:pt idx="20">
                  <c:v>62</c:v>
                </c:pt>
                <c:pt idx="23">
                  <c:v>54</c:v>
                </c:pt>
                <c:pt idx="24">
                  <c:v>54</c:v>
                </c:pt>
              </c:numCache>
            </c:numRef>
          </c:val>
        </c:ser>
        <c:ser>
          <c:idx val="7"/>
          <c:order val="7"/>
          <c:tx>
            <c:strRef>
              <c:f>'RAID Summary'!$A$9</c:f>
              <c:strCache>
                <c:ptCount val="1"/>
                <c:pt idx="0">
                  <c:v>Total Decisions</c:v>
                </c:pt>
              </c:strCache>
            </c:strRef>
          </c:tx>
          <c:cat>
            <c:numRef>
              <c:f>'RAID Summary'!$B$1:$Z$1</c:f>
              <c:numCache>
                <c:formatCode>dd\-mmm\-yy</c:formatCode>
                <c:ptCount val="25"/>
                <c:pt idx="0">
                  <c:v>40898</c:v>
                </c:pt>
                <c:pt idx="1">
                  <c:v>40912</c:v>
                </c:pt>
                <c:pt idx="2">
                  <c:v>40919</c:v>
                </c:pt>
                <c:pt idx="3">
                  <c:v>40926</c:v>
                </c:pt>
                <c:pt idx="4">
                  <c:v>40933</c:v>
                </c:pt>
                <c:pt idx="5">
                  <c:v>40940</c:v>
                </c:pt>
                <c:pt idx="6">
                  <c:v>40947</c:v>
                </c:pt>
                <c:pt idx="7">
                  <c:v>40954</c:v>
                </c:pt>
                <c:pt idx="8">
                  <c:v>40961</c:v>
                </c:pt>
                <c:pt idx="9">
                  <c:v>40968</c:v>
                </c:pt>
                <c:pt idx="10">
                  <c:v>40974</c:v>
                </c:pt>
                <c:pt idx="11">
                  <c:v>40975</c:v>
                </c:pt>
                <c:pt idx="12">
                  <c:v>40976</c:v>
                </c:pt>
                <c:pt idx="13">
                  <c:v>40977</c:v>
                </c:pt>
                <c:pt idx="14">
                  <c:v>40980</c:v>
                </c:pt>
                <c:pt idx="15">
                  <c:v>40981</c:v>
                </c:pt>
                <c:pt idx="16">
                  <c:v>40982</c:v>
                </c:pt>
                <c:pt idx="17">
                  <c:v>40983</c:v>
                </c:pt>
                <c:pt idx="18">
                  <c:v>40984</c:v>
                </c:pt>
                <c:pt idx="19">
                  <c:v>40987</c:v>
                </c:pt>
                <c:pt idx="20">
                  <c:v>40988</c:v>
                </c:pt>
                <c:pt idx="21">
                  <c:v>40989</c:v>
                </c:pt>
                <c:pt idx="22">
                  <c:v>40990</c:v>
                </c:pt>
                <c:pt idx="23">
                  <c:v>40991</c:v>
                </c:pt>
                <c:pt idx="24">
                  <c:v>40994</c:v>
                </c:pt>
              </c:numCache>
            </c:numRef>
          </c:cat>
          <c:val>
            <c:numRef>
              <c:f>'RAID Summary'!$B$9:$Z$9</c:f>
              <c:numCache>
                <c:formatCode>General</c:formatCode>
                <c:ptCount val="25"/>
                <c:pt idx="0">
                  <c:v>153</c:v>
                </c:pt>
                <c:pt idx="1">
                  <c:v>153</c:v>
                </c:pt>
                <c:pt idx="2">
                  <c:v>154</c:v>
                </c:pt>
                <c:pt idx="3">
                  <c:v>154</c:v>
                </c:pt>
                <c:pt idx="4">
                  <c:v>161</c:v>
                </c:pt>
                <c:pt idx="5">
                  <c:v>182</c:v>
                </c:pt>
                <c:pt idx="6">
                  <c:v>183</c:v>
                </c:pt>
                <c:pt idx="7">
                  <c:v>179</c:v>
                </c:pt>
                <c:pt idx="8">
                  <c:v>179</c:v>
                </c:pt>
                <c:pt idx="9">
                  <c:v>179</c:v>
                </c:pt>
                <c:pt idx="10">
                  <c:v>181</c:v>
                </c:pt>
                <c:pt idx="11">
                  <c:v>194</c:v>
                </c:pt>
                <c:pt idx="12">
                  <c:v>192</c:v>
                </c:pt>
                <c:pt idx="13">
                  <c:v>191</c:v>
                </c:pt>
                <c:pt idx="14">
                  <c:v>192</c:v>
                </c:pt>
                <c:pt idx="15">
                  <c:v>193</c:v>
                </c:pt>
                <c:pt idx="16">
                  <c:v>193</c:v>
                </c:pt>
                <c:pt idx="17">
                  <c:v>191</c:v>
                </c:pt>
                <c:pt idx="18">
                  <c:v>191</c:v>
                </c:pt>
                <c:pt idx="19">
                  <c:v>191</c:v>
                </c:pt>
                <c:pt idx="20">
                  <c:v>191</c:v>
                </c:pt>
                <c:pt idx="23">
                  <c:v>176</c:v>
                </c:pt>
                <c:pt idx="24">
                  <c:v>176</c:v>
                </c:pt>
              </c:numCache>
            </c:numRef>
          </c:val>
        </c:ser>
        <c:ser>
          <c:idx val="8"/>
          <c:order val="8"/>
          <c:tx>
            <c:strRef>
              <c:f>'RAID Summary'!$A$10</c:f>
              <c:strCache>
                <c:ptCount val="1"/>
                <c:pt idx="0">
                  <c:v>Total Pending Decisions</c:v>
                </c:pt>
              </c:strCache>
            </c:strRef>
          </c:tx>
          <c:cat>
            <c:numRef>
              <c:f>'RAID Summary'!$B$1:$Z$1</c:f>
              <c:numCache>
                <c:formatCode>dd\-mmm\-yy</c:formatCode>
                <c:ptCount val="25"/>
                <c:pt idx="0">
                  <c:v>40898</c:v>
                </c:pt>
                <c:pt idx="1">
                  <c:v>40912</c:v>
                </c:pt>
                <c:pt idx="2">
                  <c:v>40919</c:v>
                </c:pt>
                <c:pt idx="3">
                  <c:v>40926</c:v>
                </c:pt>
                <c:pt idx="4">
                  <c:v>40933</c:v>
                </c:pt>
                <c:pt idx="5">
                  <c:v>40940</c:v>
                </c:pt>
                <c:pt idx="6">
                  <c:v>40947</c:v>
                </c:pt>
                <c:pt idx="7">
                  <c:v>40954</c:v>
                </c:pt>
                <c:pt idx="8">
                  <c:v>40961</c:v>
                </c:pt>
                <c:pt idx="9">
                  <c:v>40968</c:v>
                </c:pt>
                <c:pt idx="10">
                  <c:v>40974</c:v>
                </c:pt>
                <c:pt idx="11">
                  <c:v>40975</c:v>
                </c:pt>
                <c:pt idx="12">
                  <c:v>40976</c:v>
                </c:pt>
                <c:pt idx="13">
                  <c:v>40977</c:v>
                </c:pt>
                <c:pt idx="14">
                  <c:v>40980</c:v>
                </c:pt>
                <c:pt idx="15">
                  <c:v>40981</c:v>
                </c:pt>
                <c:pt idx="16">
                  <c:v>40982</c:v>
                </c:pt>
                <c:pt idx="17">
                  <c:v>40983</c:v>
                </c:pt>
                <c:pt idx="18">
                  <c:v>40984</c:v>
                </c:pt>
                <c:pt idx="19">
                  <c:v>40987</c:v>
                </c:pt>
                <c:pt idx="20">
                  <c:v>40988</c:v>
                </c:pt>
                <c:pt idx="21">
                  <c:v>40989</c:v>
                </c:pt>
                <c:pt idx="22">
                  <c:v>40990</c:v>
                </c:pt>
                <c:pt idx="23">
                  <c:v>40991</c:v>
                </c:pt>
                <c:pt idx="24">
                  <c:v>40994</c:v>
                </c:pt>
              </c:numCache>
            </c:numRef>
          </c:cat>
          <c:val>
            <c:numRef>
              <c:f>'RAID Summary'!$B$10:$Z$10</c:f>
              <c:numCache>
                <c:formatCode>General</c:formatCode>
                <c:ptCount val="25"/>
                <c:pt idx="0">
                  <c:v>24</c:v>
                </c:pt>
                <c:pt idx="1">
                  <c:v>24</c:v>
                </c:pt>
                <c:pt idx="2">
                  <c:v>25</c:v>
                </c:pt>
                <c:pt idx="3">
                  <c:v>24</c:v>
                </c:pt>
                <c:pt idx="4">
                  <c:v>30</c:v>
                </c:pt>
                <c:pt idx="5">
                  <c:v>39</c:v>
                </c:pt>
                <c:pt idx="6">
                  <c:v>40</c:v>
                </c:pt>
                <c:pt idx="7">
                  <c:v>29</c:v>
                </c:pt>
                <c:pt idx="8">
                  <c:v>28</c:v>
                </c:pt>
                <c:pt idx="9">
                  <c:v>27</c:v>
                </c:pt>
                <c:pt idx="10">
                  <c:v>22</c:v>
                </c:pt>
                <c:pt idx="11">
                  <c:v>33</c:v>
                </c:pt>
                <c:pt idx="12">
                  <c:v>28</c:v>
                </c:pt>
                <c:pt idx="13">
                  <c:v>26</c:v>
                </c:pt>
                <c:pt idx="14">
                  <c:v>26</c:v>
                </c:pt>
                <c:pt idx="15">
                  <c:v>26</c:v>
                </c:pt>
                <c:pt idx="16">
                  <c:v>26</c:v>
                </c:pt>
                <c:pt idx="17">
                  <c:v>23</c:v>
                </c:pt>
                <c:pt idx="18">
                  <c:v>22</c:v>
                </c:pt>
                <c:pt idx="19">
                  <c:v>21</c:v>
                </c:pt>
                <c:pt idx="20">
                  <c:v>21</c:v>
                </c:pt>
                <c:pt idx="23">
                  <c:v>21</c:v>
                </c:pt>
                <c:pt idx="24">
                  <c:v>21</c:v>
                </c:pt>
              </c:numCache>
            </c:numRef>
          </c:val>
        </c:ser>
        <c:marker val="1"/>
        <c:axId val="125202432"/>
        <c:axId val="125204352"/>
      </c:lineChart>
      <c:dateAx>
        <c:axId val="125202432"/>
        <c:scaling>
          <c:orientation val="minMax"/>
        </c:scaling>
        <c:axPos val="b"/>
        <c:numFmt formatCode="dd\-mmm\-yy" sourceLinked="1"/>
        <c:majorTickMark val="none"/>
        <c:tickLblPos val="nextTo"/>
        <c:txPr>
          <a:bodyPr/>
          <a:lstStyle/>
          <a:p>
            <a:pPr>
              <a:defRPr sz="800"/>
            </a:pPr>
            <a:endParaRPr lang="en-US"/>
          </a:p>
        </c:txPr>
        <c:crossAx val="125204352"/>
        <c:crosses val="autoZero"/>
        <c:auto val="1"/>
        <c:lblOffset val="100"/>
        <c:baseTimeUnit val="days"/>
        <c:majorUnit val="7"/>
        <c:majorTimeUnit val="days"/>
      </c:dateAx>
      <c:valAx>
        <c:axId val="125204352"/>
        <c:scaling>
          <c:orientation val="minMax"/>
        </c:scaling>
        <c:axPos val="l"/>
        <c:majorGridlines/>
        <c:numFmt formatCode="General" sourceLinked="1"/>
        <c:majorTickMark val="none"/>
        <c:tickLblPos val="nextTo"/>
        <c:txPr>
          <a:bodyPr/>
          <a:lstStyle/>
          <a:p>
            <a:pPr>
              <a:defRPr sz="800"/>
            </a:pPr>
            <a:endParaRPr lang="en-US"/>
          </a:p>
        </c:txPr>
        <c:crossAx val="125202432"/>
        <c:crosses val="autoZero"/>
        <c:crossBetween val="between"/>
      </c:valAx>
    </c:plotArea>
    <c:legend>
      <c:legendPos val="r"/>
      <c:layout/>
      <c:txPr>
        <a:bodyPr/>
        <a:lstStyle/>
        <a:p>
          <a:pPr>
            <a:defRPr sz="800"/>
          </a:pPr>
          <a:endParaRPr lang="en-US"/>
        </a:p>
      </c:txPr>
    </c:legend>
    <c:plotVisOnly val="1"/>
    <c:dispBlanksAs val="gap"/>
  </c:chart>
  <c:externalData r:id="rId1"/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GB"/>
  <c:chart>
    <c:plotArea>
      <c:layout/>
      <c:barChart>
        <c:barDir val="col"/>
        <c:grouping val="clustered"/>
        <c:ser>
          <c:idx val="0"/>
          <c:order val="0"/>
          <c:tx>
            <c:strRef>
              <c:f>Snapshot!$A$2</c:f>
              <c:strCache>
                <c:ptCount val="1"/>
                <c:pt idx="0">
                  <c:v>App &amp; Data Migration</c:v>
                </c:pt>
              </c:strCache>
            </c:strRef>
          </c:tx>
          <c:spPr>
            <a:solidFill>
              <a:srgbClr val="C00000"/>
            </a:solidFill>
          </c:spPr>
          <c:cat>
            <c:strRef>
              <c:f>Snapshot!$B$1:$M$1</c:f>
              <c:strCache>
                <c:ptCount val="12"/>
                <c:pt idx="0">
                  <c:v>Risks: Past Required Resolution Date</c:v>
                </c:pt>
                <c:pt idx="1">
                  <c:v>Risks due in the next week</c:v>
                </c:pt>
                <c:pt idx="2">
                  <c:v>Risks with no required resolution date specified</c:v>
                </c:pt>
                <c:pt idx="3">
                  <c:v>Risks missing other information</c:v>
                </c:pt>
                <c:pt idx="4">
                  <c:v>Issues: Past Required Resolution Date</c:v>
                </c:pt>
                <c:pt idx="5">
                  <c:v>Issues due in the next week</c:v>
                </c:pt>
                <c:pt idx="6">
                  <c:v>Issues with no required resolution date specified</c:v>
                </c:pt>
                <c:pt idx="7">
                  <c:v>Issues missing other information</c:v>
                </c:pt>
                <c:pt idx="8">
                  <c:v>Assumptions not yet validated</c:v>
                </c:pt>
                <c:pt idx="9">
                  <c:v>Assumptions to be revalidated in light of BPOS decision</c:v>
                </c:pt>
                <c:pt idx="10">
                  <c:v>Pending Decisions</c:v>
                </c:pt>
                <c:pt idx="11">
                  <c:v>Decisions to be revalidated in light of BPOS decision</c:v>
                </c:pt>
              </c:strCache>
            </c:strRef>
          </c:cat>
          <c:val>
            <c:numRef>
              <c:f>Snapshot!$B$2:$M$2</c:f>
              <c:numCache>
                <c:formatCode>General</c:formatCode>
                <c:ptCount val="12"/>
                <c:pt idx="0">
                  <c:v>0</c:v>
                </c:pt>
                <c:pt idx="1">
                  <c:v>2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3</c:v>
                </c:pt>
                <c:pt idx="6">
                  <c:v>0</c:v>
                </c:pt>
                <c:pt idx="7">
                  <c:v>2</c:v>
                </c:pt>
                <c:pt idx="8">
                  <c:v>2</c:v>
                </c:pt>
                <c:pt idx="9">
                  <c:v>0</c:v>
                </c:pt>
                <c:pt idx="10">
                  <c:v>3</c:v>
                </c:pt>
                <c:pt idx="11">
                  <c:v>1</c:v>
                </c:pt>
              </c:numCache>
            </c:numRef>
          </c:val>
        </c:ser>
        <c:ser>
          <c:idx val="2"/>
          <c:order val="1"/>
          <c:tx>
            <c:strRef>
              <c:f>Snapshot!$A$3</c:f>
              <c:strCache>
                <c:ptCount val="1"/>
                <c:pt idx="0">
                  <c:v>Change Management</c:v>
                </c:pt>
              </c:strCache>
            </c:strRef>
          </c:tx>
          <c:spPr>
            <a:solidFill>
              <a:srgbClr val="FF9900"/>
            </a:solidFill>
          </c:spPr>
          <c:cat>
            <c:strRef>
              <c:f>Snapshot!$B$1:$M$1</c:f>
              <c:strCache>
                <c:ptCount val="12"/>
                <c:pt idx="0">
                  <c:v>Risks: Past Required Resolution Date</c:v>
                </c:pt>
                <c:pt idx="1">
                  <c:v>Risks due in the next week</c:v>
                </c:pt>
                <c:pt idx="2">
                  <c:v>Risks with no required resolution date specified</c:v>
                </c:pt>
                <c:pt idx="3">
                  <c:v>Risks missing other information</c:v>
                </c:pt>
                <c:pt idx="4">
                  <c:v>Issues: Past Required Resolution Date</c:v>
                </c:pt>
                <c:pt idx="5">
                  <c:v>Issues due in the next week</c:v>
                </c:pt>
                <c:pt idx="6">
                  <c:v>Issues with no required resolution date specified</c:v>
                </c:pt>
                <c:pt idx="7">
                  <c:v>Issues missing other information</c:v>
                </c:pt>
                <c:pt idx="8">
                  <c:v>Assumptions not yet validated</c:v>
                </c:pt>
                <c:pt idx="9">
                  <c:v>Assumptions to be revalidated in light of BPOS decision</c:v>
                </c:pt>
                <c:pt idx="10">
                  <c:v>Pending Decisions</c:v>
                </c:pt>
                <c:pt idx="11">
                  <c:v>Decisions to be revalidated in light of BPOS decision</c:v>
                </c:pt>
              </c:strCache>
            </c:strRef>
          </c:cat>
          <c:val>
            <c:numRef>
              <c:f>Snapshot!$B$3:$M$3</c:f>
              <c:numCache>
                <c:formatCode>General</c:formatCode>
                <c:ptCount val="12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1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</c:numCache>
            </c:numRef>
          </c:val>
        </c:ser>
        <c:ser>
          <c:idx val="4"/>
          <c:order val="2"/>
          <c:tx>
            <c:strRef>
              <c:f>Snapshot!$A$4</c:f>
              <c:strCache>
                <c:ptCount val="1"/>
                <c:pt idx="0">
                  <c:v>M&amp;C Program</c:v>
                </c:pt>
              </c:strCache>
            </c:strRef>
          </c:tx>
          <c:spPr>
            <a:solidFill>
              <a:srgbClr val="6699FF"/>
            </a:solidFill>
          </c:spPr>
          <c:cat>
            <c:strRef>
              <c:f>Snapshot!$B$1:$M$1</c:f>
              <c:strCache>
                <c:ptCount val="12"/>
                <c:pt idx="0">
                  <c:v>Risks: Past Required Resolution Date</c:v>
                </c:pt>
                <c:pt idx="1">
                  <c:v>Risks due in the next week</c:v>
                </c:pt>
                <c:pt idx="2">
                  <c:v>Risks with no required resolution date specified</c:v>
                </c:pt>
                <c:pt idx="3">
                  <c:v>Risks missing other information</c:v>
                </c:pt>
                <c:pt idx="4">
                  <c:v>Issues: Past Required Resolution Date</c:v>
                </c:pt>
                <c:pt idx="5">
                  <c:v>Issues due in the next week</c:v>
                </c:pt>
                <c:pt idx="6">
                  <c:v>Issues with no required resolution date specified</c:v>
                </c:pt>
                <c:pt idx="7">
                  <c:v>Issues missing other information</c:v>
                </c:pt>
                <c:pt idx="8">
                  <c:v>Assumptions not yet validated</c:v>
                </c:pt>
                <c:pt idx="9">
                  <c:v>Assumptions to be revalidated in light of BPOS decision</c:v>
                </c:pt>
                <c:pt idx="10">
                  <c:v>Pending Decisions</c:v>
                </c:pt>
                <c:pt idx="11">
                  <c:v>Decisions to be revalidated in light of BPOS decision</c:v>
                </c:pt>
              </c:strCache>
            </c:strRef>
          </c:cat>
          <c:val>
            <c:numRef>
              <c:f>Snapshot!$B$4:$M$4</c:f>
              <c:numCache>
                <c:formatCode>General</c:formatCode>
                <c:ptCount val="12"/>
                <c:pt idx="0">
                  <c:v>0</c:v>
                </c:pt>
                <c:pt idx="1">
                  <c:v>2</c:v>
                </c:pt>
                <c:pt idx="2">
                  <c:v>0</c:v>
                </c:pt>
                <c:pt idx="3">
                  <c:v>1</c:v>
                </c:pt>
                <c:pt idx="4">
                  <c:v>3</c:v>
                </c:pt>
                <c:pt idx="5">
                  <c:v>2</c:v>
                </c:pt>
                <c:pt idx="6">
                  <c:v>0</c:v>
                </c:pt>
                <c:pt idx="7">
                  <c:v>3</c:v>
                </c:pt>
                <c:pt idx="8">
                  <c:v>1</c:v>
                </c:pt>
                <c:pt idx="9">
                  <c:v>2</c:v>
                </c:pt>
                <c:pt idx="10">
                  <c:v>2</c:v>
                </c:pt>
                <c:pt idx="11">
                  <c:v>1</c:v>
                </c:pt>
              </c:numCache>
            </c:numRef>
          </c:val>
        </c:ser>
        <c:ser>
          <c:idx val="6"/>
          <c:order val="3"/>
          <c:tx>
            <c:strRef>
              <c:f>Snapshot!$A$5</c:f>
              <c:strCache>
                <c:ptCount val="1"/>
                <c:pt idx="0">
                  <c:v>SharePoint</c:v>
                </c:pt>
              </c:strCache>
            </c:strRef>
          </c:tx>
          <c:spPr>
            <a:solidFill>
              <a:srgbClr val="92D050"/>
            </a:solidFill>
          </c:spPr>
          <c:cat>
            <c:strRef>
              <c:f>Snapshot!$B$1:$M$1</c:f>
              <c:strCache>
                <c:ptCount val="12"/>
                <c:pt idx="0">
                  <c:v>Risks: Past Required Resolution Date</c:v>
                </c:pt>
                <c:pt idx="1">
                  <c:v>Risks due in the next week</c:v>
                </c:pt>
                <c:pt idx="2">
                  <c:v>Risks with no required resolution date specified</c:v>
                </c:pt>
                <c:pt idx="3">
                  <c:v>Risks missing other information</c:v>
                </c:pt>
                <c:pt idx="4">
                  <c:v>Issues: Past Required Resolution Date</c:v>
                </c:pt>
                <c:pt idx="5">
                  <c:v>Issues due in the next week</c:v>
                </c:pt>
                <c:pt idx="6">
                  <c:v>Issues with no required resolution date specified</c:v>
                </c:pt>
                <c:pt idx="7">
                  <c:v>Issues missing other information</c:v>
                </c:pt>
                <c:pt idx="8">
                  <c:v>Assumptions not yet validated</c:v>
                </c:pt>
                <c:pt idx="9">
                  <c:v>Assumptions to be revalidated in light of BPOS decision</c:v>
                </c:pt>
                <c:pt idx="10">
                  <c:v>Pending Decisions</c:v>
                </c:pt>
                <c:pt idx="11">
                  <c:v>Decisions to be revalidated in light of BPOS decision</c:v>
                </c:pt>
              </c:strCache>
            </c:strRef>
          </c:cat>
          <c:val>
            <c:numRef>
              <c:f>Snapshot!$B$5:$M$5</c:f>
              <c:numCache>
                <c:formatCode>General</c:formatCode>
                <c:ptCount val="12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5</c:v>
                </c:pt>
                <c:pt idx="4">
                  <c:v>4</c:v>
                </c:pt>
                <c:pt idx="5">
                  <c:v>0</c:v>
                </c:pt>
                <c:pt idx="6">
                  <c:v>0</c:v>
                </c:pt>
                <c:pt idx="7">
                  <c:v>1</c:v>
                </c:pt>
                <c:pt idx="8">
                  <c:v>6</c:v>
                </c:pt>
                <c:pt idx="9">
                  <c:v>10</c:v>
                </c:pt>
                <c:pt idx="10">
                  <c:v>0</c:v>
                </c:pt>
                <c:pt idx="11">
                  <c:v>11</c:v>
                </c:pt>
              </c:numCache>
            </c:numRef>
          </c:val>
        </c:ser>
        <c:ser>
          <c:idx val="8"/>
          <c:order val="4"/>
          <c:tx>
            <c:strRef>
              <c:f>Snapshot!$A$6</c:f>
              <c:strCache>
                <c:ptCount val="1"/>
                <c:pt idx="0">
                  <c:v>Technology Foundation</c:v>
                </c:pt>
              </c:strCache>
            </c:strRef>
          </c:tx>
          <c:spPr>
            <a:solidFill>
              <a:srgbClr val="333399"/>
            </a:solidFill>
          </c:spPr>
          <c:cat>
            <c:strRef>
              <c:f>Snapshot!$B$1:$M$1</c:f>
              <c:strCache>
                <c:ptCount val="12"/>
                <c:pt idx="0">
                  <c:v>Risks: Past Required Resolution Date</c:v>
                </c:pt>
                <c:pt idx="1">
                  <c:v>Risks due in the next week</c:v>
                </c:pt>
                <c:pt idx="2">
                  <c:v>Risks with no required resolution date specified</c:v>
                </c:pt>
                <c:pt idx="3">
                  <c:v>Risks missing other information</c:v>
                </c:pt>
                <c:pt idx="4">
                  <c:v>Issues: Past Required Resolution Date</c:v>
                </c:pt>
                <c:pt idx="5">
                  <c:v>Issues due in the next week</c:v>
                </c:pt>
                <c:pt idx="6">
                  <c:v>Issues with no required resolution date specified</c:v>
                </c:pt>
                <c:pt idx="7">
                  <c:v>Issues missing other information</c:v>
                </c:pt>
                <c:pt idx="8">
                  <c:v>Assumptions not yet validated</c:v>
                </c:pt>
                <c:pt idx="9">
                  <c:v>Assumptions to be revalidated in light of BPOS decision</c:v>
                </c:pt>
                <c:pt idx="10">
                  <c:v>Pending Decisions</c:v>
                </c:pt>
                <c:pt idx="11">
                  <c:v>Decisions to be revalidated in light of BPOS decision</c:v>
                </c:pt>
              </c:strCache>
            </c:strRef>
          </c:cat>
          <c:val>
            <c:numRef>
              <c:f>Snapshot!$B$6:$M$6</c:f>
              <c:numCache>
                <c:formatCode>General</c:formatCode>
                <c:ptCount val="12"/>
                <c:pt idx="0">
                  <c:v>0</c:v>
                </c:pt>
                <c:pt idx="1">
                  <c:v>0</c:v>
                </c:pt>
                <c:pt idx="2">
                  <c:v>4</c:v>
                </c:pt>
                <c:pt idx="3">
                  <c:v>5</c:v>
                </c:pt>
                <c:pt idx="4">
                  <c:v>3</c:v>
                </c:pt>
                <c:pt idx="5">
                  <c:v>1</c:v>
                </c:pt>
                <c:pt idx="6">
                  <c:v>0</c:v>
                </c:pt>
                <c:pt idx="7">
                  <c:v>0</c:v>
                </c:pt>
                <c:pt idx="8">
                  <c:v>2</c:v>
                </c:pt>
                <c:pt idx="9">
                  <c:v>0</c:v>
                </c:pt>
                <c:pt idx="10">
                  <c:v>15</c:v>
                </c:pt>
                <c:pt idx="11">
                  <c:v>23</c:v>
                </c:pt>
              </c:numCache>
            </c:numRef>
          </c:val>
        </c:ser>
        <c:ser>
          <c:idx val="10"/>
          <c:order val="5"/>
          <c:tx>
            <c:strRef>
              <c:f>Snapshot!$A$7</c:f>
              <c:strCache>
                <c:ptCount val="1"/>
                <c:pt idx="0">
                  <c:v>Unified Communications</c:v>
                </c:pt>
              </c:strCache>
            </c:strRef>
          </c:tx>
          <c:spPr>
            <a:solidFill>
              <a:srgbClr val="800080"/>
            </a:solidFill>
          </c:spPr>
          <c:cat>
            <c:strRef>
              <c:f>Snapshot!$B$1:$M$1</c:f>
              <c:strCache>
                <c:ptCount val="12"/>
                <c:pt idx="0">
                  <c:v>Risks: Past Required Resolution Date</c:v>
                </c:pt>
                <c:pt idx="1">
                  <c:v>Risks due in the next week</c:v>
                </c:pt>
                <c:pt idx="2">
                  <c:v>Risks with no required resolution date specified</c:v>
                </c:pt>
                <c:pt idx="3">
                  <c:v>Risks missing other information</c:v>
                </c:pt>
                <c:pt idx="4">
                  <c:v>Issues: Past Required Resolution Date</c:v>
                </c:pt>
                <c:pt idx="5">
                  <c:v>Issues due in the next week</c:v>
                </c:pt>
                <c:pt idx="6">
                  <c:v>Issues with no required resolution date specified</c:v>
                </c:pt>
                <c:pt idx="7">
                  <c:v>Issues missing other information</c:v>
                </c:pt>
                <c:pt idx="8">
                  <c:v>Assumptions not yet validated</c:v>
                </c:pt>
                <c:pt idx="9">
                  <c:v>Assumptions to be revalidated in light of BPOS decision</c:v>
                </c:pt>
                <c:pt idx="10">
                  <c:v>Pending Decisions</c:v>
                </c:pt>
                <c:pt idx="11">
                  <c:v>Decisions to be revalidated in light of BPOS decision</c:v>
                </c:pt>
              </c:strCache>
            </c:strRef>
          </c:cat>
          <c:val>
            <c:numRef>
              <c:f>Snapshot!$B$7:$M$7</c:f>
              <c:numCache>
                <c:formatCode>General</c:formatCode>
                <c:ptCount val="12"/>
                <c:pt idx="0">
                  <c:v>0</c:v>
                </c:pt>
                <c:pt idx="1">
                  <c:v>5</c:v>
                </c:pt>
                <c:pt idx="2">
                  <c:v>0</c:v>
                </c:pt>
                <c:pt idx="3">
                  <c:v>2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1</c:v>
                </c:pt>
                <c:pt idx="9">
                  <c:v>0</c:v>
                </c:pt>
                <c:pt idx="10">
                  <c:v>1</c:v>
                </c:pt>
                <c:pt idx="11">
                  <c:v>5</c:v>
                </c:pt>
              </c:numCache>
            </c:numRef>
          </c:val>
        </c:ser>
        <c:axId val="111811584"/>
        <c:axId val="111916544"/>
      </c:barChart>
      <c:catAx>
        <c:axId val="111811584"/>
        <c:scaling>
          <c:orientation val="minMax"/>
        </c:scaling>
        <c:axPos val="b"/>
        <c:tickLblPos val="nextTo"/>
        <c:crossAx val="111916544"/>
        <c:crosses val="autoZero"/>
        <c:auto val="1"/>
        <c:lblAlgn val="ctr"/>
        <c:lblOffset val="100"/>
      </c:catAx>
      <c:valAx>
        <c:axId val="111916544"/>
        <c:scaling>
          <c:orientation val="minMax"/>
        </c:scaling>
        <c:axPos val="l"/>
        <c:majorGridlines/>
        <c:numFmt formatCode="General" sourceLinked="1"/>
        <c:tickLblPos val="nextTo"/>
        <c:crossAx val="111811584"/>
        <c:crosses val="autoZero"/>
        <c:crossBetween val="between"/>
      </c:valAx>
    </c:plotArea>
    <c:legend>
      <c:legendPos val="r"/>
      <c:layout/>
    </c:legend>
    <c:plotVisOnly val="1"/>
    <c:dispBlanksAs val="gap"/>
  </c:chart>
  <c:externalData r:id="rId1"/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GB"/>
  <c:chart>
    <c:title>
      <c:tx>
        <c:rich>
          <a:bodyPr/>
          <a:lstStyle/>
          <a:p>
            <a:pPr>
              <a:defRPr sz="800"/>
            </a:pPr>
            <a:r>
              <a:rPr lang="en-US" sz="800"/>
              <a:t>App and Data Migration</a:t>
            </a:r>
          </a:p>
        </c:rich>
      </c:tx>
      <c:layout/>
    </c:title>
    <c:plotArea>
      <c:layout/>
      <c:lineChart>
        <c:grouping val="standard"/>
        <c:ser>
          <c:idx val="0"/>
          <c:order val="0"/>
          <c:tx>
            <c:strRef>
              <c:f>'Project Summary'!$A$2</c:f>
              <c:strCache>
                <c:ptCount val="1"/>
                <c:pt idx="0">
                  <c:v>Total Open Risks</c:v>
                </c:pt>
              </c:strCache>
            </c:strRef>
          </c:tx>
          <c:cat>
            <c:numRef>
              <c:f>'Project Summary'!$B$1:$W$1</c:f>
              <c:numCache>
                <c:formatCode>dd\-mmm</c:formatCode>
                <c:ptCount val="22"/>
                <c:pt idx="0">
                  <c:v>40952</c:v>
                </c:pt>
                <c:pt idx="1">
                  <c:v>40955</c:v>
                </c:pt>
                <c:pt idx="2">
                  <c:v>40959</c:v>
                </c:pt>
                <c:pt idx="3">
                  <c:v>40962</c:v>
                </c:pt>
                <c:pt idx="4">
                  <c:v>40966</c:v>
                </c:pt>
                <c:pt idx="5">
                  <c:v>40969</c:v>
                </c:pt>
                <c:pt idx="6">
                  <c:v>40973</c:v>
                </c:pt>
                <c:pt idx="7">
                  <c:v>40974</c:v>
                </c:pt>
                <c:pt idx="8">
                  <c:v>40975</c:v>
                </c:pt>
                <c:pt idx="9">
                  <c:v>40976</c:v>
                </c:pt>
                <c:pt idx="10">
                  <c:v>40977</c:v>
                </c:pt>
                <c:pt idx="11">
                  <c:v>40980</c:v>
                </c:pt>
                <c:pt idx="12">
                  <c:v>40981</c:v>
                </c:pt>
                <c:pt idx="13">
                  <c:v>40982</c:v>
                </c:pt>
                <c:pt idx="14">
                  <c:v>40983</c:v>
                </c:pt>
                <c:pt idx="15">
                  <c:v>40984</c:v>
                </c:pt>
                <c:pt idx="16">
                  <c:v>40987</c:v>
                </c:pt>
                <c:pt idx="17">
                  <c:v>40988</c:v>
                </c:pt>
                <c:pt idx="18">
                  <c:v>40989</c:v>
                </c:pt>
                <c:pt idx="19">
                  <c:v>40990</c:v>
                </c:pt>
                <c:pt idx="20">
                  <c:v>40991</c:v>
                </c:pt>
                <c:pt idx="21">
                  <c:v>40994</c:v>
                </c:pt>
              </c:numCache>
            </c:numRef>
          </c:cat>
          <c:val>
            <c:numRef>
              <c:f>'Project Summary'!$B$2:$W$2</c:f>
              <c:numCache>
                <c:formatCode>General</c:formatCode>
                <c:ptCount val="22"/>
                <c:pt idx="0">
                  <c:v>7</c:v>
                </c:pt>
                <c:pt idx="1">
                  <c:v>7</c:v>
                </c:pt>
                <c:pt idx="2">
                  <c:v>7</c:v>
                </c:pt>
                <c:pt idx="3">
                  <c:v>6</c:v>
                </c:pt>
                <c:pt idx="4">
                  <c:v>6</c:v>
                </c:pt>
                <c:pt idx="5">
                  <c:v>7</c:v>
                </c:pt>
                <c:pt idx="6">
                  <c:v>7</c:v>
                </c:pt>
                <c:pt idx="7">
                  <c:v>7</c:v>
                </c:pt>
                <c:pt idx="8">
                  <c:v>2</c:v>
                </c:pt>
                <c:pt idx="9">
                  <c:v>2</c:v>
                </c:pt>
                <c:pt idx="10">
                  <c:v>2</c:v>
                </c:pt>
                <c:pt idx="11">
                  <c:v>2</c:v>
                </c:pt>
                <c:pt idx="12">
                  <c:v>2</c:v>
                </c:pt>
                <c:pt idx="13">
                  <c:v>2</c:v>
                </c:pt>
                <c:pt idx="14">
                  <c:v>2</c:v>
                </c:pt>
                <c:pt idx="15">
                  <c:v>2</c:v>
                </c:pt>
                <c:pt idx="16">
                  <c:v>2</c:v>
                </c:pt>
                <c:pt idx="20">
                  <c:v>2</c:v>
                </c:pt>
                <c:pt idx="21">
                  <c:v>2</c:v>
                </c:pt>
              </c:numCache>
            </c:numRef>
          </c:val>
        </c:ser>
        <c:ser>
          <c:idx val="1"/>
          <c:order val="1"/>
          <c:tx>
            <c:strRef>
              <c:f>'Project Summary'!$A$3</c:f>
              <c:strCache>
                <c:ptCount val="1"/>
                <c:pt idx="0">
                  <c:v>Total Open High or Critical Risks</c:v>
                </c:pt>
              </c:strCache>
            </c:strRef>
          </c:tx>
          <c:cat>
            <c:numRef>
              <c:f>'Project Summary'!$B$1:$W$1</c:f>
              <c:numCache>
                <c:formatCode>dd\-mmm</c:formatCode>
                <c:ptCount val="22"/>
                <c:pt idx="0">
                  <c:v>40952</c:v>
                </c:pt>
                <c:pt idx="1">
                  <c:v>40955</c:v>
                </c:pt>
                <c:pt idx="2">
                  <c:v>40959</c:v>
                </c:pt>
                <c:pt idx="3">
                  <c:v>40962</c:v>
                </c:pt>
                <c:pt idx="4">
                  <c:v>40966</c:v>
                </c:pt>
                <c:pt idx="5">
                  <c:v>40969</c:v>
                </c:pt>
                <c:pt idx="6">
                  <c:v>40973</c:v>
                </c:pt>
                <c:pt idx="7">
                  <c:v>40974</c:v>
                </c:pt>
                <c:pt idx="8">
                  <c:v>40975</c:v>
                </c:pt>
                <c:pt idx="9">
                  <c:v>40976</c:v>
                </c:pt>
                <c:pt idx="10">
                  <c:v>40977</c:v>
                </c:pt>
                <c:pt idx="11">
                  <c:v>40980</c:v>
                </c:pt>
                <c:pt idx="12">
                  <c:v>40981</c:v>
                </c:pt>
                <c:pt idx="13">
                  <c:v>40982</c:v>
                </c:pt>
                <c:pt idx="14">
                  <c:v>40983</c:v>
                </c:pt>
                <c:pt idx="15">
                  <c:v>40984</c:v>
                </c:pt>
                <c:pt idx="16">
                  <c:v>40987</c:v>
                </c:pt>
                <c:pt idx="17">
                  <c:v>40988</c:v>
                </c:pt>
                <c:pt idx="18">
                  <c:v>40989</c:v>
                </c:pt>
                <c:pt idx="19">
                  <c:v>40990</c:v>
                </c:pt>
                <c:pt idx="20">
                  <c:v>40991</c:v>
                </c:pt>
                <c:pt idx="21">
                  <c:v>40994</c:v>
                </c:pt>
              </c:numCache>
            </c:numRef>
          </c:cat>
          <c:val>
            <c:numRef>
              <c:f>'Project Summary'!$B$3:$W$3</c:f>
              <c:numCache>
                <c:formatCode>General</c:formatCode>
                <c:ptCount val="22"/>
                <c:pt idx="0">
                  <c:v>4</c:v>
                </c:pt>
                <c:pt idx="1">
                  <c:v>4</c:v>
                </c:pt>
                <c:pt idx="2">
                  <c:v>4</c:v>
                </c:pt>
                <c:pt idx="3">
                  <c:v>3</c:v>
                </c:pt>
                <c:pt idx="4">
                  <c:v>3</c:v>
                </c:pt>
                <c:pt idx="5">
                  <c:v>4</c:v>
                </c:pt>
                <c:pt idx="6">
                  <c:v>4</c:v>
                </c:pt>
                <c:pt idx="7">
                  <c:v>2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1</c:v>
                </c:pt>
                <c:pt idx="12">
                  <c:v>1</c:v>
                </c:pt>
                <c:pt idx="13">
                  <c:v>1</c:v>
                </c:pt>
                <c:pt idx="14">
                  <c:v>1</c:v>
                </c:pt>
                <c:pt idx="15">
                  <c:v>1</c:v>
                </c:pt>
                <c:pt idx="16">
                  <c:v>1</c:v>
                </c:pt>
                <c:pt idx="20">
                  <c:v>1</c:v>
                </c:pt>
                <c:pt idx="21">
                  <c:v>1</c:v>
                </c:pt>
              </c:numCache>
            </c:numRef>
          </c:val>
        </c:ser>
        <c:ser>
          <c:idx val="2"/>
          <c:order val="2"/>
          <c:tx>
            <c:strRef>
              <c:f>'Project Summary'!$A$4</c:f>
              <c:strCache>
                <c:ptCount val="1"/>
                <c:pt idx="0">
                  <c:v>Risks: Missed Required Resolution Date</c:v>
                </c:pt>
              </c:strCache>
            </c:strRef>
          </c:tx>
          <c:cat>
            <c:numRef>
              <c:f>'Project Summary'!$B$1:$W$1</c:f>
              <c:numCache>
                <c:formatCode>dd\-mmm</c:formatCode>
                <c:ptCount val="22"/>
                <c:pt idx="0">
                  <c:v>40952</c:v>
                </c:pt>
                <c:pt idx="1">
                  <c:v>40955</c:v>
                </c:pt>
                <c:pt idx="2">
                  <c:v>40959</c:v>
                </c:pt>
                <c:pt idx="3">
                  <c:v>40962</c:v>
                </c:pt>
                <c:pt idx="4">
                  <c:v>40966</c:v>
                </c:pt>
                <c:pt idx="5">
                  <c:v>40969</c:v>
                </c:pt>
                <c:pt idx="6">
                  <c:v>40973</c:v>
                </c:pt>
                <c:pt idx="7">
                  <c:v>40974</c:v>
                </c:pt>
                <c:pt idx="8">
                  <c:v>40975</c:v>
                </c:pt>
                <c:pt idx="9">
                  <c:v>40976</c:v>
                </c:pt>
                <c:pt idx="10">
                  <c:v>40977</c:v>
                </c:pt>
                <c:pt idx="11">
                  <c:v>40980</c:v>
                </c:pt>
                <c:pt idx="12">
                  <c:v>40981</c:v>
                </c:pt>
                <c:pt idx="13">
                  <c:v>40982</c:v>
                </c:pt>
                <c:pt idx="14">
                  <c:v>40983</c:v>
                </c:pt>
                <c:pt idx="15">
                  <c:v>40984</c:v>
                </c:pt>
                <c:pt idx="16">
                  <c:v>40987</c:v>
                </c:pt>
                <c:pt idx="17">
                  <c:v>40988</c:v>
                </c:pt>
                <c:pt idx="18">
                  <c:v>40989</c:v>
                </c:pt>
                <c:pt idx="19">
                  <c:v>40990</c:v>
                </c:pt>
                <c:pt idx="20">
                  <c:v>40991</c:v>
                </c:pt>
                <c:pt idx="21">
                  <c:v>40994</c:v>
                </c:pt>
              </c:numCache>
            </c:numRef>
          </c:cat>
          <c:val>
            <c:numRef>
              <c:f>'Project Summary'!$B$4:$W$4</c:f>
              <c:numCache>
                <c:formatCode>General</c:formatCode>
                <c:ptCount val="22"/>
                <c:pt idx="0">
                  <c:v>3</c:v>
                </c:pt>
                <c:pt idx="1">
                  <c:v>5</c:v>
                </c:pt>
                <c:pt idx="2">
                  <c:v>6</c:v>
                </c:pt>
                <c:pt idx="3">
                  <c:v>5</c:v>
                </c:pt>
                <c:pt idx="4">
                  <c:v>5</c:v>
                </c:pt>
                <c:pt idx="5">
                  <c:v>5</c:v>
                </c:pt>
                <c:pt idx="6">
                  <c:v>7</c:v>
                </c:pt>
                <c:pt idx="7">
                  <c:v>7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20">
                  <c:v>0</c:v>
                </c:pt>
                <c:pt idx="21">
                  <c:v>0</c:v>
                </c:pt>
              </c:numCache>
            </c:numRef>
          </c:val>
        </c:ser>
        <c:ser>
          <c:idx val="3"/>
          <c:order val="3"/>
          <c:tx>
            <c:strRef>
              <c:f>'Project Summary'!$A$5</c:f>
              <c:strCache>
                <c:ptCount val="1"/>
                <c:pt idx="0">
                  <c:v>Risks with no Required Resolution Date</c:v>
                </c:pt>
              </c:strCache>
            </c:strRef>
          </c:tx>
          <c:cat>
            <c:numRef>
              <c:f>'Project Summary'!$B$1:$W$1</c:f>
              <c:numCache>
                <c:formatCode>dd\-mmm</c:formatCode>
                <c:ptCount val="22"/>
                <c:pt idx="0">
                  <c:v>40952</c:v>
                </c:pt>
                <c:pt idx="1">
                  <c:v>40955</c:v>
                </c:pt>
                <c:pt idx="2">
                  <c:v>40959</c:v>
                </c:pt>
                <c:pt idx="3">
                  <c:v>40962</c:v>
                </c:pt>
                <c:pt idx="4">
                  <c:v>40966</c:v>
                </c:pt>
                <c:pt idx="5">
                  <c:v>40969</c:v>
                </c:pt>
                <c:pt idx="6">
                  <c:v>40973</c:v>
                </c:pt>
                <c:pt idx="7">
                  <c:v>40974</c:v>
                </c:pt>
                <c:pt idx="8">
                  <c:v>40975</c:v>
                </c:pt>
                <c:pt idx="9">
                  <c:v>40976</c:v>
                </c:pt>
                <c:pt idx="10">
                  <c:v>40977</c:v>
                </c:pt>
                <c:pt idx="11">
                  <c:v>40980</c:v>
                </c:pt>
                <c:pt idx="12">
                  <c:v>40981</c:v>
                </c:pt>
                <c:pt idx="13">
                  <c:v>40982</c:v>
                </c:pt>
                <c:pt idx="14">
                  <c:v>40983</c:v>
                </c:pt>
                <c:pt idx="15">
                  <c:v>40984</c:v>
                </c:pt>
                <c:pt idx="16">
                  <c:v>40987</c:v>
                </c:pt>
                <c:pt idx="17">
                  <c:v>40988</c:v>
                </c:pt>
                <c:pt idx="18">
                  <c:v>40989</c:v>
                </c:pt>
                <c:pt idx="19">
                  <c:v>40990</c:v>
                </c:pt>
                <c:pt idx="20">
                  <c:v>40991</c:v>
                </c:pt>
                <c:pt idx="21">
                  <c:v>40994</c:v>
                </c:pt>
              </c:numCache>
            </c:numRef>
          </c:cat>
          <c:val>
            <c:numRef>
              <c:f>'Project Summary'!$B$5:$W$5</c:f>
              <c:numCache>
                <c:formatCode>General</c:formatCode>
                <c:ptCount val="22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20">
                  <c:v>0</c:v>
                </c:pt>
                <c:pt idx="21">
                  <c:v>0</c:v>
                </c:pt>
              </c:numCache>
            </c:numRef>
          </c:val>
        </c:ser>
        <c:ser>
          <c:idx val="4"/>
          <c:order val="4"/>
          <c:tx>
            <c:strRef>
              <c:f>'Project Summary'!$A$6</c:f>
              <c:strCache>
                <c:ptCount val="1"/>
                <c:pt idx="0">
                  <c:v>Risks open 1-3 months</c:v>
                </c:pt>
              </c:strCache>
            </c:strRef>
          </c:tx>
          <c:cat>
            <c:numRef>
              <c:f>'Project Summary'!$B$1:$W$1</c:f>
              <c:numCache>
                <c:formatCode>dd\-mmm</c:formatCode>
                <c:ptCount val="22"/>
                <c:pt idx="0">
                  <c:v>40952</c:v>
                </c:pt>
                <c:pt idx="1">
                  <c:v>40955</c:v>
                </c:pt>
                <c:pt idx="2">
                  <c:v>40959</c:v>
                </c:pt>
                <c:pt idx="3">
                  <c:v>40962</c:v>
                </c:pt>
                <c:pt idx="4">
                  <c:v>40966</c:v>
                </c:pt>
                <c:pt idx="5">
                  <c:v>40969</c:v>
                </c:pt>
                <c:pt idx="6">
                  <c:v>40973</c:v>
                </c:pt>
                <c:pt idx="7">
                  <c:v>40974</c:v>
                </c:pt>
                <c:pt idx="8">
                  <c:v>40975</c:v>
                </c:pt>
                <c:pt idx="9">
                  <c:v>40976</c:v>
                </c:pt>
                <c:pt idx="10">
                  <c:v>40977</c:v>
                </c:pt>
                <c:pt idx="11">
                  <c:v>40980</c:v>
                </c:pt>
                <c:pt idx="12">
                  <c:v>40981</c:v>
                </c:pt>
                <c:pt idx="13">
                  <c:v>40982</c:v>
                </c:pt>
                <c:pt idx="14">
                  <c:v>40983</c:v>
                </c:pt>
                <c:pt idx="15">
                  <c:v>40984</c:v>
                </c:pt>
                <c:pt idx="16">
                  <c:v>40987</c:v>
                </c:pt>
                <c:pt idx="17">
                  <c:v>40988</c:v>
                </c:pt>
                <c:pt idx="18">
                  <c:v>40989</c:v>
                </c:pt>
                <c:pt idx="19">
                  <c:v>40990</c:v>
                </c:pt>
                <c:pt idx="20">
                  <c:v>40991</c:v>
                </c:pt>
                <c:pt idx="21">
                  <c:v>40994</c:v>
                </c:pt>
              </c:numCache>
            </c:numRef>
          </c:cat>
          <c:val>
            <c:numRef>
              <c:f>'Project Summary'!$B$6:$W$6</c:f>
              <c:numCache>
                <c:formatCode>General</c:formatCode>
                <c:ptCount val="22"/>
                <c:pt idx="0">
                  <c:v>2</c:v>
                </c:pt>
                <c:pt idx="1">
                  <c:v>2</c:v>
                </c:pt>
                <c:pt idx="2">
                  <c:v>2</c:v>
                </c:pt>
                <c:pt idx="3">
                  <c:v>1</c:v>
                </c:pt>
                <c:pt idx="4">
                  <c:v>1</c:v>
                </c:pt>
                <c:pt idx="5">
                  <c:v>1</c:v>
                </c:pt>
                <c:pt idx="6">
                  <c:v>2</c:v>
                </c:pt>
                <c:pt idx="7">
                  <c:v>2</c:v>
                </c:pt>
                <c:pt idx="8">
                  <c:v>1</c:v>
                </c:pt>
                <c:pt idx="9">
                  <c:v>1</c:v>
                </c:pt>
                <c:pt idx="10">
                  <c:v>1</c:v>
                </c:pt>
                <c:pt idx="11">
                  <c:v>1</c:v>
                </c:pt>
                <c:pt idx="12">
                  <c:v>1</c:v>
                </c:pt>
                <c:pt idx="13">
                  <c:v>1</c:v>
                </c:pt>
                <c:pt idx="14">
                  <c:v>1</c:v>
                </c:pt>
                <c:pt idx="15">
                  <c:v>1</c:v>
                </c:pt>
                <c:pt idx="16">
                  <c:v>1</c:v>
                </c:pt>
                <c:pt idx="20">
                  <c:v>1</c:v>
                </c:pt>
                <c:pt idx="21">
                  <c:v>1</c:v>
                </c:pt>
              </c:numCache>
            </c:numRef>
          </c:val>
        </c:ser>
        <c:ser>
          <c:idx val="5"/>
          <c:order val="5"/>
          <c:tx>
            <c:strRef>
              <c:f>'Project Summary'!$A$7</c:f>
              <c:strCache>
                <c:ptCount val="1"/>
                <c:pt idx="0">
                  <c:v>Risks open 3-6 months</c:v>
                </c:pt>
              </c:strCache>
            </c:strRef>
          </c:tx>
          <c:cat>
            <c:numRef>
              <c:f>'Project Summary'!$B$1:$W$1</c:f>
              <c:numCache>
                <c:formatCode>dd\-mmm</c:formatCode>
                <c:ptCount val="22"/>
                <c:pt idx="0">
                  <c:v>40952</c:v>
                </c:pt>
                <c:pt idx="1">
                  <c:v>40955</c:v>
                </c:pt>
                <c:pt idx="2">
                  <c:v>40959</c:v>
                </c:pt>
                <c:pt idx="3">
                  <c:v>40962</c:v>
                </c:pt>
                <c:pt idx="4">
                  <c:v>40966</c:v>
                </c:pt>
                <c:pt idx="5">
                  <c:v>40969</c:v>
                </c:pt>
                <c:pt idx="6">
                  <c:v>40973</c:v>
                </c:pt>
                <c:pt idx="7">
                  <c:v>40974</c:v>
                </c:pt>
                <c:pt idx="8">
                  <c:v>40975</c:v>
                </c:pt>
                <c:pt idx="9">
                  <c:v>40976</c:v>
                </c:pt>
                <c:pt idx="10">
                  <c:v>40977</c:v>
                </c:pt>
                <c:pt idx="11">
                  <c:v>40980</c:v>
                </c:pt>
                <c:pt idx="12">
                  <c:v>40981</c:v>
                </c:pt>
                <c:pt idx="13">
                  <c:v>40982</c:v>
                </c:pt>
                <c:pt idx="14">
                  <c:v>40983</c:v>
                </c:pt>
                <c:pt idx="15">
                  <c:v>40984</c:v>
                </c:pt>
                <c:pt idx="16">
                  <c:v>40987</c:v>
                </c:pt>
                <c:pt idx="17">
                  <c:v>40988</c:v>
                </c:pt>
                <c:pt idx="18">
                  <c:v>40989</c:v>
                </c:pt>
                <c:pt idx="19">
                  <c:v>40990</c:v>
                </c:pt>
                <c:pt idx="20">
                  <c:v>40991</c:v>
                </c:pt>
                <c:pt idx="21">
                  <c:v>40994</c:v>
                </c:pt>
              </c:numCache>
            </c:numRef>
          </c:cat>
          <c:val>
            <c:numRef>
              <c:f>'Project Summary'!$B$7:$W$7</c:f>
              <c:numCache>
                <c:formatCode>General</c:formatCode>
                <c:ptCount val="22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2</c:v>
                </c:pt>
                <c:pt idx="4">
                  <c:v>2</c:v>
                </c:pt>
                <c:pt idx="5">
                  <c:v>2</c:v>
                </c:pt>
                <c:pt idx="6">
                  <c:v>2</c:v>
                </c:pt>
                <c:pt idx="7">
                  <c:v>2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20">
                  <c:v>0</c:v>
                </c:pt>
                <c:pt idx="21">
                  <c:v>0</c:v>
                </c:pt>
              </c:numCache>
            </c:numRef>
          </c:val>
        </c:ser>
        <c:ser>
          <c:idx val="6"/>
          <c:order val="6"/>
          <c:tx>
            <c:strRef>
              <c:f>'Project Summary'!$A$8</c:f>
              <c:strCache>
                <c:ptCount val="1"/>
                <c:pt idx="0">
                  <c:v>Risks open longer than 6 months</c:v>
                </c:pt>
              </c:strCache>
            </c:strRef>
          </c:tx>
          <c:cat>
            <c:numRef>
              <c:f>'Project Summary'!$B$1:$W$1</c:f>
              <c:numCache>
                <c:formatCode>dd\-mmm</c:formatCode>
                <c:ptCount val="22"/>
                <c:pt idx="0">
                  <c:v>40952</c:v>
                </c:pt>
                <c:pt idx="1">
                  <c:v>40955</c:v>
                </c:pt>
                <c:pt idx="2">
                  <c:v>40959</c:v>
                </c:pt>
                <c:pt idx="3">
                  <c:v>40962</c:v>
                </c:pt>
                <c:pt idx="4">
                  <c:v>40966</c:v>
                </c:pt>
                <c:pt idx="5">
                  <c:v>40969</c:v>
                </c:pt>
                <c:pt idx="6">
                  <c:v>40973</c:v>
                </c:pt>
                <c:pt idx="7">
                  <c:v>40974</c:v>
                </c:pt>
                <c:pt idx="8">
                  <c:v>40975</c:v>
                </c:pt>
                <c:pt idx="9">
                  <c:v>40976</c:v>
                </c:pt>
                <c:pt idx="10">
                  <c:v>40977</c:v>
                </c:pt>
                <c:pt idx="11">
                  <c:v>40980</c:v>
                </c:pt>
                <c:pt idx="12">
                  <c:v>40981</c:v>
                </c:pt>
                <c:pt idx="13">
                  <c:v>40982</c:v>
                </c:pt>
                <c:pt idx="14">
                  <c:v>40983</c:v>
                </c:pt>
                <c:pt idx="15">
                  <c:v>40984</c:v>
                </c:pt>
                <c:pt idx="16">
                  <c:v>40987</c:v>
                </c:pt>
                <c:pt idx="17">
                  <c:v>40988</c:v>
                </c:pt>
                <c:pt idx="18">
                  <c:v>40989</c:v>
                </c:pt>
                <c:pt idx="19">
                  <c:v>40990</c:v>
                </c:pt>
                <c:pt idx="20">
                  <c:v>40991</c:v>
                </c:pt>
                <c:pt idx="21">
                  <c:v>40994</c:v>
                </c:pt>
              </c:numCache>
            </c:numRef>
          </c:cat>
          <c:val>
            <c:numRef>
              <c:f>'Project Summary'!$B$8:$W$8</c:f>
              <c:numCache>
                <c:formatCode>General</c:formatCode>
                <c:ptCount val="22"/>
                <c:pt idx="0">
                  <c:v>2</c:v>
                </c:pt>
                <c:pt idx="1">
                  <c:v>2</c:v>
                </c:pt>
                <c:pt idx="2">
                  <c:v>2</c:v>
                </c:pt>
                <c:pt idx="3">
                  <c:v>1</c:v>
                </c:pt>
                <c:pt idx="4">
                  <c:v>1</c:v>
                </c:pt>
                <c:pt idx="5">
                  <c:v>1</c:v>
                </c:pt>
                <c:pt idx="6">
                  <c:v>1</c:v>
                </c:pt>
                <c:pt idx="7">
                  <c:v>1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20">
                  <c:v>0</c:v>
                </c:pt>
                <c:pt idx="21">
                  <c:v>0</c:v>
                </c:pt>
              </c:numCache>
            </c:numRef>
          </c:val>
        </c:ser>
        <c:ser>
          <c:idx val="7"/>
          <c:order val="7"/>
          <c:tx>
            <c:strRef>
              <c:f>'Project Summary'!$A$9</c:f>
              <c:strCache>
                <c:ptCount val="1"/>
                <c:pt idx="0">
                  <c:v>Total Open Issues</c:v>
                </c:pt>
              </c:strCache>
            </c:strRef>
          </c:tx>
          <c:cat>
            <c:numRef>
              <c:f>'Project Summary'!$B$1:$W$1</c:f>
              <c:numCache>
                <c:formatCode>dd\-mmm</c:formatCode>
                <c:ptCount val="22"/>
                <c:pt idx="0">
                  <c:v>40952</c:v>
                </c:pt>
                <c:pt idx="1">
                  <c:v>40955</c:v>
                </c:pt>
                <c:pt idx="2">
                  <c:v>40959</c:v>
                </c:pt>
                <c:pt idx="3">
                  <c:v>40962</c:v>
                </c:pt>
                <c:pt idx="4">
                  <c:v>40966</c:v>
                </c:pt>
                <c:pt idx="5">
                  <c:v>40969</c:v>
                </c:pt>
                <c:pt idx="6">
                  <c:v>40973</c:v>
                </c:pt>
                <c:pt idx="7">
                  <c:v>40974</c:v>
                </c:pt>
                <c:pt idx="8">
                  <c:v>40975</c:v>
                </c:pt>
                <c:pt idx="9">
                  <c:v>40976</c:v>
                </c:pt>
                <c:pt idx="10">
                  <c:v>40977</c:v>
                </c:pt>
                <c:pt idx="11">
                  <c:v>40980</c:v>
                </c:pt>
                <c:pt idx="12">
                  <c:v>40981</c:v>
                </c:pt>
                <c:pt idx="13">
                  <c:v>40982</c:v>
                </c:pt>
                <c:pt idx="14">
                  <c:v>40983</c:v>
                </c:pt>
                <c:pt idx="15">
                  <c:v>40984</c:v>
                </c:pt>
                <c:pt idx="16">
                  <c:v>40987</c:v>
                </c:pt>
                <c:pt idx="17">
                  <c:v>40988</c:v>
                </c:pt>
                <c:pt idx="18">
                  <c:v>40989</c:v>
                </c:pt>
                <c:pt idx="19">
                  <c:v>40990</c:v>
                </c:pt>
                <c:pt idx="20">
                  <c:v>40991</c:v>
                </c:pt>
                <c:pt idx="21">
                  <c:v>40994</c:v>
                </c:pt>
              </c:numCache>
            </c:numRef>
          </c:cat>
          <c:val>
            <c:numRef>
              <c:f>'Project Summary'!$B$9:$W$9</c:f>
              <c:numCache>
                <c:formatCode>General</c:formatCode>
                <c:ptCount val="22"/>
                <c:pt idx="0">
                  <c:v>5</c:v>
                </c:pt>
                <c:pt idx="1">
                  <c:v>4</c:v>
                </c:pt>
                <c:pt idx="2">
                  <c:v>4</c:v>
                </c:pt>
                <c:pt idx="3">
                  <c:v>5</c:v>
                </c:pt>
                <c:pt idx="4">
                  <c:v>5</c:v>
                </c:pt>
                <c:pt idx="5">
                  <c:v>6</c:v>
                </c:pt>
                <c:pt idx="6">
                  <c:v>6</c:v>
                </c:pt>
                <c:pt idx="7">
                  <c:v>6</c:v>
                </c:pt>
                <c:pt idx="8">
                  <c:v>3</c:v>
                </c:pt>
                <c:pt idx="9">
                  <c:v>3</c:v>
                </c:pt>
                <c:pt idx="10">
                  <c:v>3</c:v>
                </c:pt>
                <c:pt idx="11">
                  <c:v>3</c:v>
                </c:pt>
                <c:pt idx="12">
                  <c:v>3</c:v>
                </c:pt>
                <c:pt idx="13">
                  <c:v>3</c:v>
                </c:pt>
                <c:pt idx="14">
                  <c:v>3</c:v>
                </c:pt>
                <c:pt idx="15">
                  <c:v>3</c:v>
                </c:pt>
                <c:pt idx="16">
                  <c:v>3</c:v>
                </c:pt>
                <c:pt idx="20">
                  <c:v>3</c:v>
                </c:pt>
                <c:pt idx="21">
                  <c:v>3</c:v>
                </c:pt>
              </c:numCache>
            </c:numRef>
          </c:val>
        </c:ser>
        <c:ser>
          <c:idx val="8"/>
          <c:order val="8"/>
          <c:tx>
            <c:strRef>
              <c:f>'Project Summary'!$A$10</c:f>
              <c:strCache>
                <c:ptCount val="1"/>
                <c:pt idx="0">
                  <c:v>Total Open High or Critical Issues</c:v>
                </c:pt>
              </c:strCache>
            </c:strRef>
          </c:tx>
          <c:cat>
            <c:numRef>
              <c:f>'Project Summary'!$B$1:$W$1</c:f>
              <c:numCache>
                <c:formatCode>dd\-mmm</c:formatCode>
                <c:ptCount val="22"/>
                <c:pt idx="0">
                  <c:v>40952</c:v>
                </c:pt>
                <c:pt idx="1">
                  <c:v>40955</c:v>
                </c:pt>
                <c:pt idx="2">
                  <c:v>40959</c:v>
                </c:pt>
                <c:pt idx="3">
                  <c:v>40962</c:v>
                </c:pt>
                <c:pt idx="4">
                  <c:v>40966</c:v>
                </c:pt>
                <c:pt idx="5">
                  <c:v>40969</c:v>
                </c:pt>
                <c:pt idx="6">
                  <c:v>40973</c:v>
                </c:pt>
                <c:pt idx="7">
                  <c:v>40974</c:v>
                </c:pt>
                <c:pt idx="8">
                  <c:v>40975</c:v>
                </c:pt>
                <c:pt idx="9">
                  <c:v>40976</c:v>
                </c:pt>
                <c:pt idx="10">
                  <c:v>40977</c:v>
                </c:pt>
                <c:pt idx="11">
                  <c:v>40980</c:v>
                </c:pt>
                <c:pt idx="12">
                  <c:v>40981</c:v>
                </c:pt>
                <c:pt idx="13">
                  <c:v>40982</c:v>
                </c:pt>
                <c:pt idx="14">
                  <c:v>40983</c:v>
                </c:pt>
                <c:pt idx="15">
                  <c:v>40984</c:v>
                </c:pt>
                <c:pt idx="16">
                  <c:v>40987</c:v>
                </c:pt>
                <c:pt idx="17">
                  <c:v>40988</c:v>
                </c:pt>
                <c:pt idx="18">
                  <c:v>40989</c:v>
                </c:pt>
                <c:pt idx="19">
                  <c:v>40990</c:v>
                </c:pt>
                <c:pt idx="20">
                  <c:v>40991</c:v>
                </c:pt>
                <c:pt idx="21">
                  <c:v>40994</c:v>
                </c:pt>
              </c:numCache>
            </c:numRef>
          </c:cat>
          <c:val>
            <c:numRef>
              <c:f>'Project Summary'!$B$10:$W$10</c:f>
              <c:numCache>
                <c:formatCode>General</c:formatCode>
                <c:ptCount val="22"/>
                <c:pt idx="0">
                  <c:v>5</c:v>
                </c:pt>
                <c:pt idx="1">
                  <c:v>4</c:v>
                </c:pt>
                <c:pt idx="2">
                  <c:v>4</c:v>
                </c:pt>
                <c:pt idx="3">
                  <c:v>5</c:v>
                </c:pt>
                <c:pt idx="4">
                  <c:v>5</c:v>
                </c:pt>
                <c:pt idx="5">
                  <c:v>5</c:v>
                </c:pt>
                <c:pt idx="6">
                  <c:v>5</c:v>
                </c:pt>
                <c:pt idx="7">
                  <c:v>5</c:v>
                </c:pt>
                <c:pt idx="8">
                  <c:v>3</c:v>
                </c:pt>
                <c:pt idx="9">
                  <c:v>3</c:v>
                </c:pt>
                <c:pt idx="10">
                  <c:v>3</c:v>
                </c:pt>
                <c:pt idx="11">
                  <c:v>3</c:v>
                </c:pt>
                <c:pt idx="12">
                  <c:v>3</c:v>
                </c:pt>
                <c:pt idx="13">
                  <c:v>3</c:v>
                </c:pt>
                <c:pt idx="14">
                  <c:v>3</c:v>
                </c:pt>
                <c:pt idx="15">
                  <c:v>3</c:v>
                </c:pt>
                <c:pt idx="16">
                  <c:v>3</c:v>
                </c:pt>
                <c:pt idx="20">
                  <c:v>3</c:v>
                </c:pt>
                <c:pt idx="21">
                  <c:v>3</c:v>
                </c:pt>
              </c:numCache>
            </c:numRef>
          </c:val>
        </c:ser>
        <c:ser>
          <c:idx val="9"/>
          <c:order val="9"/>
          <c:tx>
            <c:strRef>
              <c:f>'Project Summary'!$A$11</c:f>
              <c:strCache>
                <c:ptCount val="1"/>
                <c:pt idx="0">
                  <c:v>Issues: Missed Required Resolution Date</c:v>
                </c:pt>
              </c:strCache>
            </c:strRef>
          </c:tx>
          <c:cat>
            <c:numRef>
              <c:f>'Project Summary'!$B$1:$W$1</c:f>
              <c:numCache>
                <c:formatCode>dd\-mmm</c:formatCode>
                <c:ptCount val="22"/>
                <c:pt idx="0">
                  <c:v>40952</c:v>
                </c:pt>
                <c:pt idx="1">
                  <c:v>40955</c:v>
                </c:pt>
                <c:pt idx="2">
                  <c:v>40959</c:v>
                </c:pt>
                <c:pt idx="3">
                  <c:v>40962</c:v>
                </c:pt>
                <c:pt idx="4">
                  <c:v>40966</c:v>
                </c:pt>
                <c:pt idx="5">
                  <c:v>40969</c:v>
                </c:pt>
                <c:pt idx="6">
                  <c:v>40973</c:v>
                </c:pt>
                <c:pt idx="7">
                  <c:v>40974</c:v>
                </c:pt>
                <c:pt idx="8">
                  <c:v>40975</c:v>
                </c:pt>
                <c:pt idx="9">
                  <c:v>40976</c:v>
                </c:pt>
                <c:pt idx="10">
                  <c:v>40977</c:v>
                </c:pt>
                <c:pt idx="11">
                  <c:v>40980</c:v>
                </c:pt>
                <c:pt idx="12">
                  <c:v>40981</c:v>
                </c:pt>
                <c:pt idx="13">
                  <c:v>40982</c:v>
                </c:pt>
                <c:pt idx="14">
                  <c:v>40983</c:v>
                </c:pt>
                <c:pt idx="15">
                  <c:v>40984</c:v>
                </c:pt>
                <c:pt idx="16">
                  <c:v>40987</c:v>
                </c:pt>
                <c:pt idx="17">
                  <c:v>40988</c:v>
                </c:pt>
                <c:pt idx="18">
                  <c:v>40989</c:v>
                </c:pt>
                <c:pt idx="19">
                  <c:v>40990</c:v>
                </c:pt>
                <c:pt idx="20">
                  <c:v>40991</c:v>
                </c:pt>
                <c:pt idx="21">
                  <c:v>40994</c:v>
                </c:pt>
              </c:numCache>
            </c:numRef>
          </c:cat>
          <c:val>
            <c:numRef>
              <c:f>'Project Summary'!$B$11:$W$11</c:f>
              <c:numCache>
                <c:formatCode>General</c:formatCode>
                <c:ptCount val="22"/>
                <c:pt idx="0">
                  <c:v>4</c:v>
                </c:pt>
                <c:pt idx="1">
                  <c:v>3</c:v>
                </c:pt>
                <c:pt idx="2">
                  <c:v>3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5</c:v>
                </c:pt>
                <c:pt idx="7">
                  <c:v>5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20">
                  <c:v>0</c:v>
                </c:pt>
                <c:pt idx="21">
                  <c:v>0</c:v>
                </c:pt>
              </c:numCache>
            </c:numRef>
          </c:val>
        </c:ser>
        <c:ser>
          <c:idx val="10"/>
          <c:order val="10"/>
          <c:tx>
            <c:strRef>
              <c:f>'Project Summary'!$A$12</c:f>
              <c:strCache>
                <c:ptCount val="1"/>
                <c:pt idx="0">
                  <c:v>Issues with no Required Resolution Date</c:v>
                </c:pt>
              </c:strCache>
            </c:strRef>
          </c:tx>
          <c:cat>
            <c:numRef>
              <c:f>'Project Summary'!$B$1:$W$1</c:f>
              <c:numCache>
                <c:formatCode>dd\-mmm</c:formatCode>
                <c:ptCount val="22"/>
                <c:pt idx="0">
                  <c:v>40952</c:v>
                </c:pt>
                <c:pt idx="1">
                  <c:v>40955</c:v>
                </c:pt>
                <c:pt idx="2">
                  <c:v>40959</c:v>
                </c:pt>
                <c:pt idx="3">
                  <c:v>40962</c:v>
                </c:pt>
                <c:pt idx="4">
                  <c:v>40966</c:v>
                </c:pt>
                <c:pt idx="5">
                  <c:v>40969</c:v>
                </c:pt>
                <c:pt idx="6">
                  <c:v>40973</c:v>
                </c:pt>
                <c:pt idx="7">
                  <c:v>40974</c:v>
                </c:pt>
                <c:pt idx="8">
                  <c:v>40975</c:v>
                </c:pt>
                <c:pt idx="9">
                  <c:v>40976</c:v>
                </c:pt>
                <c:pt idx="10">
                  <c:v>40977</c:v>
                </c:pt>
                <c:pt idx="11">
                  <c:v>40980</c:v>
                </c:pt>
                <c:pt idx="12">
                  <c:v>40981</c:v>
                </c:pt>
                <c:pt idx="13">
                  <c:v>40982</c:v>
                </c:pt>
                <c:pt idx="14">
                  <c:v>40983</c:v>
                </c:pt>
                <c:pt idx="15">
                  <c:v>40984</c:v>
                </c:pt>
                <c:pt idx="16">
                  <c:v>40987</c:v>
                </c:pt>
                <c:pt idx="17">
                  <c:v>40988</c:v>
                </c:pt>
                <c:pt idx="18">
                  <c:v>40989</c:v>
                </c:pt>
                <c:pt idx="19">
                  <c:v>40990</c:v>
                </c:pt>
                <c:pt idx="20">
                  <c:v>40991</c:v>
                </c:pt>
                <c:pt idx="21">
                  <c:v>40994</c:v>
                </c:pt>
              </c:numCache>
            </c:numRef>
          </c:cat>
          <c:val>
            <c:numRef>
              <c:f>'Project Summary'!$B$12:$W$12</c:f>
              <c:numCache>
                <c:formatCode>General</c:formatCode>
                <c:ptCount val="22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20">
                  <c:v>0</c:v>
                </c:pt>
                <c:pt idx="21">
                  <c:v>0</c:v>
                </c:pt>
              </c:numCache>
            </c:numRef>
          </c:val>
        </c:ser>
        <c:ser>
          <c:idx val="11"/>
          <c:order val="11"/>
          <c:tx>
            <c:strRef>
              <c:f>'Project Summary'!$A$13</c:f>
              <c:strCache>
                <c:ptCount val="1"/>
                <c:pt idx="0">
                  <c:v>Issues open 1-3 months</c:v>
                </c:pt>
              </c:strCache>
            </c:strRef>
          </c:tx>
          <c:cat>
            <c:numRef>
              <c:f>'Project Summary'!$B$1:$W$1</c:f>
              <c:numCache>
                <c:formatCode>dd\-mmm</c:formatCode>
                <c:ptCount val="22"/>
                <c:pt idx="0">
                  <c:v>40952</c:v>
                </c:pt>
                <c:pt idx="1">
                  <c:v>40955</c:v>
                </c:pt>
                <c:pt idx="2">
                  <c:v>40959</c:v>
                </c:pt>
                <c:pt idx="3">
                  <c:v>40962</c:v>
                </c:pt>
                <c:pt idx="4">
                  <c:v>40966</c:v>
                </c:pt>
                <c:pt idx="5">
                  <c:v>40969</c:v>
                </c:pt>
                <c:pt idx="6">
                  <c:v>40973</c:v>
                </c:pt>
                <c:pt idx="7">
                  <c:v>40974</c:v>
                </c:pt>
                <c:pt idx="8">
                  <c:v>40975</c:v>
                </c:pt>
                <c:pt idx="9">
                  <c:v>40976</c:v>
                </c:pt>
                <c:pt idx="10">
                  <c:v>40977</c:v>
                </c:pt>
                <c:pt idx="11">
                  <c:v>40980</c:v>
                </c:pt>
                <c:pt idx="12">
                  <c:v>40981</c:v>
                </c:pt>
                <c:pt idx="13">
                  <c:v>40982</c:v>
                </c:pt>
                <c:pt idx="14">
                  <c:v>40983</c:v>
                </c:pt>
                <c:pt idx="15">
                  <c:v>40984</c:v>
                </c:pt>
                <c:pt idx="16">
                  <c:v>40987</c:v>
                </c:pt>
                <c:pt idx="17">
                  <c:v>40988</c:v>
                </c:pt>
                <c:pt idx="18">
                  <c:v>40989</c:v>
                </c:pt>
                <c:pt idx="19">
                  <c:v>40990</c:v>
                </c:pt>
                <c:pt idx="20">
                  <c:v>40991</c:v>
                </c:pt>
                <c:pt idx="21">
                  <c:v>40994</c:v>
                </c:pt>
              </c:numCache>
            </c:numRef>
          </c:cat>
          <c:val>
            <c:numRef>
              <c:f>'Project Summary'!$B$13:$W$13</c:f>
              <c:numCache>
                <c:formatCode>General</c:formatCode>
                <c:ptCount val="22"/>
                <c:pt idx="0">
                  <c:v>3</c:v>
                </c:pt>
                <c:pt idx="1">
                  <c:v>3</c:v>
                </c:pt>
                <c:pt idx="2">
                  <c:v>3</c:v>
                </c:pt>
                <c:pt idx="3">
                  <c:v>3</c:v>
                </c:pt>
                <c:pt idx="4">
                  <c:v>4</c:v>
                </c:pt>
                <c:pt idx="5">
                  <c:v>4</c:v>
                </c:pt>
                <c:pt idx="6">
                  <c:v>4</c:v>
                </c:pt>
                <c:pt idx="7">
                  <c:v>4</c:v>
                </c:pt>
                <c:pt idx="8">
                  <c:v>1</c:v>
                </c:pt>
                <c:pt idx="9">
                  <c:v>1</c:v>
                </c:pt>
                <c:pt idx="10">
                  <c:v>1</c:v>
                </c:pt>
                <c:pt idx="11">
                  <c:v>1</c:v>
                </c:pt>
                <c:pt idx="12">
                  <c:v>1</c:v>
                </c:pt>
                <c:pt idx="13">
                  <c:v>1</c:v>
                </c:pt>
                <c:pt idx="14">
                  <c:v>1</c:v>
                </c:pt>
                <c:pt idx="15">
                  <c:v>1</c:v>
                </c:pt>
                <c:pt idx="16">
                  <c:v>1</c:v>
                </c:pt>
                <c:pt idx="20">
                  <c:v>1</c:v>
                </c:pt>
                <c:pt idx="21">
                  <c:v>1</c:v>
                </c:pt>
              </c:numCache>
            </c:numRef>
          </c:val>
        </c:ser>
        <c:ser>
          <c:idx val="12"/>
          <c:order val="12"/>
          <c:tx>
            <c:strRef>
              <c:f>'Project Summary'!$A$14</c:f>
              <c:strCache>
                <c:ptCount val="1"/>
                <c:pt idx="0">
                  <c:v>Issues open 3-6 months</c:v>
                </c:pt>
              </c:strCache>
            </c:strRef>
          </c:tx>
          <c:cat>
            <c:numRef>
              <c:f>'Project Summary'!$B$1:$W$1</c:f>
              <c:numCache>
                <c:formatCode>dd\-mmm</c:formatCode>
                <c:ptCount val="22"/>
                <c:pt idx="0">
                  <c:v>40952</c:v>
                </c:pt>
                <c:pt idx="1">
                  <c:v>40955</c:v>
                </c:pt>
                <c:pt idx="2">
                  <c:v>40959</c:v>
                </c:pt>
                <c:pt idx="3">
                  <c:v>40962</c:v>
                </c:pt>
                <c:pt idx="4">
                  <c:v>40966</c:v>
                </c:pt>
                <c:pt idx="5">
                  <c:v>40969</c:v>
                </c:pt>
                <c:pt idx="6">
                  <c:v>40973</c:v>
                </c:pt>
                <c:pt idx="7">
                  <c:v>40974</c:v>
                </c:pt>
                <c:pt idx="8">
                  <c:v>40975</c:v>
                </c:pt>
                <c:pt idx="9">
                  <c:v>40976</c:v>
                </c:pt>
                <c:pt idx="10">
                  <c:v>40977</c:v>
                </c:pt>
                <c:pt idx="11">
                  <c:v>40980</c:v>
                </c:pt>
                <c:pt idx="12">
                  <c:v>40981</c:v>
                </c:pt>
                <c:pt idx="13">
                  <c:v>40982</c:v>
                </c:pt>
                <c:pt idx="14">
                  <c:v>40983</c:v>
                </c:pt>
                <c:pt idx="15">
                  <c:v>40984</c:v>
                </c:pt>
                <c:pt idx="16">
                  <c:v>40987</c:v>
                </c:pt>
                <c:pt idx="17">
                  <c:v>40988</c:v>
                </c:pt>
                <c:pt idx="18">
                  <c:v>40989</c:v>
                </c:pt>
                <c:pt idx="19">
                  <c:v>40990</c:v>
                </c:pt>
                <c:pt idx="20">
                  <c:v>40991</c:v>
                </c:pt>
                <c:pt idx="21">
                  <c:v>40994</c:v>
                </c:pt>
              </c:numCache>
            </c:numRef>
          </c:cat>
          <c:val>
            <c:numRef>
              <c:f>'Project Summary'!$B$14:$W$14</c:f>
              <c:numCache>
                <c:formatCode>General</c:formatCode>
                <c:ptCount val="22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20">
                  <c:v>0</c:v>
                </c:pt>
                <c:pt idx="21">
                  <c:v>0</c:v>
                </c:pt>
              </c:numCache>
            </c:numRef>
          </c:val>
        </c:ser>
        <c:ser>
          <c:idx val="13"/>
          <c:order val="13"/>
          <c:tx>
            <c:strRef>
              <c:f>'Project Summary'!$A$15</c:f>
              <c:strCache>
                <c:ptCount val="1"/>
                <c:pt idx="0">
                  <c:v>Issues open longer than 6 months</c:v>
                </c:pt>
              </c:strCache>
            </c:strRef>
          </c:tx>
          <c:cat>
            <c:numRef>
              <c:f>'Project Summary'!$B$1:$W$1</c:f>
              <c:numCache>
                <c:formatCode>dd\-mmm</c:formatCode>
                <c:ptCount val="22"/>
                <c:pt idx="0">
                  <c:v>40952</c:v>
                </c:pt>
                <c:pt idx="1">
                  <c:v>40955</c:v>
                </c:pt>
                <c:pt idx="2">
                  <c:v>40959</c:v>
                </c:pt>
                <c:pt idx="3">
                  <c:v>40962</c:v>
                </c:pt>
                <c:pt idx="4">
                  <c:v>40966</c:v>
                </c:pt>
                <c:pt idx="5">
                  <c:v>40969</c:v>
                </c:pt>
                <c:pt idx="6">
                  <c:v>40973</c:v>
                </c:pt>
                <c:pt idx="7">
                  <c:v>40974</c:v>
                </c:pt>
                <c:pt idx="8">
                  <c:v>40975</c:v>
                </c:pt>
                <c:pt idx="9">
                  <c:v>40976</c:v>
                </c:pt>
                <c:pt idx="10">
                  <c:v>40977</c:v>
                </c:pt>
                <c:pt idx="11">
                  <c:v>40980</c:v>
                </c:pt>
                <c:pt idx="12">
                  <c:v>40981</c:v>
                </c:pt>
                <c:pt idx="13">
                  <c:v>40982</c:v>
                </c:pt>
                <c:pt idx="14">
                  <c:v>40983</c:v>
                </c:pt>
                <c:pt idx="15">
                  <c:v>40984</c:v>
                </c:pt>
                <c:pt idx="16">
                  <c:v>40987</c:v>
                </c:pt>
                <c:pt idx="17">
                  <c:v>40988</c:v>
                </c:pt>
                <c:pt idx="18">
                  <c:v>40989</c:v>
                </c:pt>
                <c:pt idx="19">
                  <c:v>40990</c:v>
                </c:pt>
                <c:pt idx="20">
                  <c:v>40991</c:v>
                </c:pt>
                <c:pt idx="21">
                  <c:v>40994</c:v>
                </c:pt>
              </c:numCache>
            </c:numRef>
          </c:cat>
          <c:val>
            <c:numRef>
              <c:f>'Project Summary'!$B$15:$W$15</c:f>
              <c:numCache>
                <c:formatCode>General</c:formatCode>
                <c:ptCount val="22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20">
                  <c:v>0</c:v>
                </c:pt>
                <c:pt idx="21">
                  <c:v>0</c:v>
                </c:pt>
              </c:numCache>
            </c:numRef>
          </c:val>
        </c:ser>
        <c:ser>
          <c:idx val="14"/>
          <c:order val="14"/>
          <c:tx>
            <c:strRef>
              <c:f>'Project Summary'!$A$16</c:f>
              <c:strCache>
                <c:ptCount val="1"/>
                <c:pt idx="0">
                  <c:v>Total Assumptions not yet validated</c:v>
                </c:pt>
              </c:strCache>
            </c:strRef>
          </c:tx>
          <c:cat>
            <c:numRef>
              <c:f>'Project Summary'!$B$1:$W$1</c:f>
              <c:numCache>
                <c:formatCode>dd\-mmm</c:formatCode>
                <c:ptCount val="22"/>
                <c:pt idx="0">
                  <c:v>40952</c:v>
                </c:pt>
                <c:pt idx="1">
                  <c:v>40955</c:v>
                </c:pt>
                <c:pt idx="2">
                  <c:v>40959</c:v>
                </c:pt>
                <c:pt idx="3">
                  <c:v>40962</c:v>
                </c:pt>
                <c:pt idx="4">
                  <c:v>40966</c:v>
                </c:pt>
                <c:pt idx="5">
                  <c:v>40969</c:v>
                </c:pt>
                <c:pt idx="6">
                  <c:v>40973</c:v>
                </c:pt>
                <c:pt idx="7">
                  <c:v>40974</c:v>
                </c:pt>
                <c:pt idx="8">
                  <c:v>40975</c:v>
                </c:pt>
                <c:pt idx="9">
                  <c:v>40976</c:v>
                </c:pt>
                <c:pt idx="10">
                  <c:v>40977</c:v>
                </c:pt>
                <c:pt idx="11">
                  <c:v>40980</c:v>
                </c:pt>
                <c:pt idx="12">
                  <c:v>40981</c:v>
                </c:pt>
                <c:pt idx="13">
                  <c:v>40982</c:v>
                </c:pt>
                <c:pt idx="14">
                  <c:v>40983</c:v>
                </c:pt>
                <c:pt idx="15">
                  <c:v>40984</c:v>
                </c:pt>
                <c:pt idx="16">
                  <c:v>40987</c:v>
                </c:pt>
                <c:pt idx="17">
                  <c:v>40988</c:v>
                </c:pt>
                <c:pt idx="18">
                  <c:v>40989</c:v>
                </c:pt>
                <c:pt idx="19">
                  <c:v>40990</c:v>
                </c:pt>
                <c:pt idx="20">
                  <c:v>40991</c:v>
                </c:pt>
                <c:pt idx="21">
                  <c:v>40994</c:v>
                </c:pt>
              </c:numCache>
            </c:numRef>
          </c:cat>
          <c:val>
            <c:numRef>
              <c:f>'Project Summary'!$B$16:$W$16</c:f>
              <c:numCache>
                <c:formatCode>General</c:formatCode>
                <c:ptCount val="22"/>
                <c:pt idx="0">
                  <c:v>2</c:v>
                </c:pt>
                <c:pt idx="1">
                  <c:v>2</c:v>
                </c:pt>
                <c:pt idx="2">
                  <c:v>2</c:v>
                </c:pt>
                <c:pt idx="3">
                  <c:v>2</c:v>
                </c:pt>
                <c:pt idx="4">
                  <c:v>2</c:v>
                </c:pt>
                <c:pt idx="5">
                  <c:v>2</c:v>
                </c:pt>
                <c:pt idx="6">
                  <c:v>2</c:v>
                </c:pt>
                <c:pt idx="7">
                  <c:v>2</c:v>
                </c:pt>
                <c:pt idx="8">
                  <c:v>2</c:v>
                </c:pt>
                <c:pt idx="9">
                  <c:v>2</c:v>
                </c:pt>
                <c:pt idx="10">
                  <c:v>2</c:v>
                </c:pt>
                <c:pt idx="11">
                  <c:v>2</c:v>
                </c:pt>
                <c:pt idx="12">
                  <c:v>2</c:v>
                </c:pt>
                <c:pt idx="13">
                  <c:v>2</c:v>
                </c:pt>
                <c:pt idx="14">
                  <c:v>2</c:v>
                </c:pt>
                <c:pt idx="15">
                  <c:v>2</c:v>
                </c:pt>
                <c:pt idx="16">
                  <c:v>2</c:v>
                </c:pt>
                <c:pt idx="20">
                  <c:v>2</c:v>
                </c:pt>
                <c:pt idx="21">
                  <c:v>2</c:v>
                </c:pt>
              </c:numCache>
            </c:numRef>
          </c:val>
        </c:ser>
        <c:ser>
          <c:idx val="15"/>
          <c:order val="15"/>
          <c:tx>
            <c:strRef>
              <c:f>'Project Summary'!$A$17</c:f>
              <c:strCache>
                <c:ptCount val="1"/>
                <c:pt idx="0">
                  <c:v>Total Pending Decisions</c:v>
                </c:pt>
              </c:strCache>
            </c:strRef>
          </c:tx>
          <c:cat>
            <c:numRef>
              <c:f>'Project Summary'!$B$1:$W$1</c:f>
              <c:numCache>
                <c:formatCode>dd\-mmm</c:formatCode>
                <c:ptCount val="22"/>
                <c:pt idx="0">
                  <c:v>40952</c:v>
                </c:pt>
                <c:pt idx="1">
                  <c:v>40955</c:v>
                </c:pt>
                <c:pt idx="2">
                  <c:v>40959</c:v>
                </c:pt>
                <c:pt idx="3">
                  <c:v>40962</c:v>
                </c:pt>
                <c:pt idx="4">
                  <c:v>40966</c:v>
                </c:pt>
                <c:pt idx="5">
                  <c:v>40969</c:v>
                </c:pt>
                <c:pt idx="6">
                  <c:v>40973</c:v>
                </c:pt>
                <c:pt idx="7">
                  <c:v>40974</c:v>
                </c:pt>
                <c:pt idx="8">
                  <c:v>40975</c:v>
                </c:pt>
                <c:pt idx="9">
                  <c:v>40976</c:v>
                </c:pt>
                <c:pt idx="10">
                  <c:v>40977</c:v>
                </c:pt>
                <c:pt idx="11">
                  <c:v>40980</c:v>
                </c:pt>
                <c:pt idx="12">
                  <c:v>40981</c:v>
                </c:pt>
                <c:pt idx="13">
                  <c:v>40982</c:v>
                </c:pt>
                <c:pt idx="14">
                  <c:v>40983</c:v>
                </c:pt>
                <c:pt idx="15">
                  <c:v>40984</c:v>
                </c:pt>
                <c:pt idx="16">
                  <c:v>40987</c:v>
                </c:pt>
                <c:pt idx="17">
                  <c:v>40988</c:v>
                </c:pt>
                <c:pt idx="18">
                  <c:v>40989</c:v>
                </c:pt>
                <c:pt idx="19">
                  <c:v>40990</c:v>
                </c:pt>
                <c:pt idx="20">
                  <c:v>40991</c:v>
                </c:pt>
                <c:pt idx="21">
                  <c:v>40994</c:v>
                </c:pt>
              </c:numCache>
            </c:numRef>
          </c:cat>
          <c:val>
            <c:numRef>
              <c:f>'Project Summary'!$B$17:$W$17</c:f>
              <c:numCache>
                <c:formatCode>General</c:formatCode>
                <c:ptCount val="22"/>
                <c:pt idx="0">
                  <c:v>3</c:v>
                </c:pt>
                <c:pt idx="1">
                  <c:v>3</c:v>
                </c:pt>
                <c:pt idx="2">
                  <c:v>3</c:v>
                </c:pt>
                <c:pt idx="3">
                  <c:v>2</c:v>
                </c:pt>
                <c:pt idx="4">
                  <c:v>2</c:v>
                </c:pt>
                <c:pt idx="5">
                  <c:v>2</c:v>
                </c:pt>
                <c:pt idx="6">
                  <c:v>2</c:v>
                </c:pt>
                <c:pt idx="7">
                  <c:v>2</c:v>
                </c:pt>
                <c:pt idx="8">
                  <c:v>3</c:v>
                </c:pt>
                <c:pt idx="9">
                  <c:v>3</c:v>
                </c:pt>
                <c:pt idx="10">
                  <c:v>3</c:v>
                </c:pt>
                <c:pt idx="11">
                  <c:v>3</c:v>
                </c:pt>
                <c:pt idx="12">
                  <c:v>3</c:v>
                </c:pt>
                <c:pt idx="13">
                  <c:v>3</c:v>
                </c:pt>
                <c:pt idx="14">
                  <c:v>3</c:v>
                </c:pt>
                <c:pt idx="15">
                  <c:v>3</c:v>
                </c:pt>
                <c:pt idx="16">
                  <c:v>3</c:v>
                </c:pt>
                <c:pt idx="20">
                  <c:v>3</c:v>
                </c:pt>
                <c:pt idx="21">
                  <c:v>3</c:v>
                </c:pt>
              </c:numCache>
            </c:numRef>
          </c:val>
        </c:ser>
        <c:marker val="1"/>
        <c:axId val="191298944"/>
        <c:axId val="192369792"/>
      </c:lineChart>
      <c:dateAx>
        <c:axId val="191298944"/>
        <c:scaling>
          <c:orientation val="minMax"/>
        </c:scaling>
        <c:axPos val="b"/>
        <c:numFmt formatCode="dd\-mmm" sourceLinked="1"/>
        <c:majorTickMark val="none"/>
        <c:tickLblPos val="nextTo"/>
        <c:txPr>
          <a:bodyPr/>
          <a:lstStyle/>
          <a:p>
            <a:pPr>
              <a:defRPr sz="650"/>
            </a:pPr>
            <a:endParaRPr lang="en-US"/>
          </a:p>
        </c:txPr>
        <c:crossAx val="192369792"/>
        <c:crosses val="autoZero"/>
        <c:auto val="1"/>
        <c:lblOffset val="100"/>
        <c:baseTimeUnit val="days"/>
        <c:majorUnit val="3"/>
        <c:majorTimeUnit val="days"/>
      </c:dateAx>
      <c:valAx>
        <c:axId val="192369792"/>
        <c:scaling>
          <c:orientation val="minMax"/>
        </c:scaling>
        <c:axPos val="l"/>
        <c:majorGridlines/>
        <c:numFmt formatCode="General" sourceLinked="1"/>
        <c:majorTickMark val="none"/>
        <c:tickLblPos val="nextTo"/>
        <c:txPr>
          <a:bodyPr/>
          <a:lstStyle/>
          <a:p>
            <a:pPr>
              <a:defRPr sz="700"/>
            </a:pPr>
            <a:endParaRPr lang="en-US"/>
          </a:p>
        </c:txPr>
        <c:crossAx val="191298944"/>
        <c:crosses val="autoZero"/>
        <c:crossBetween val="between"/>
      </c:valAx>
    </c:plotArea>
    <c:legend>
      <c:legendPos val="r"/>
      <c:layout/>
      <c:txPr>
        <a:bodyPr/>
        <a:lstStyle/>
        <a:p>
          <a:pPr>
            <a:defRPr sz="650"/>
          </a:pPr>
          <a:endParaRPr lang="en-US"/>
        </a:p>
      </c:txPr>
    </c:legend>
    <c:plotVisOnly val="1"/>
    <c:dispBlanksAs val="gap"/>
  </c:chart>
  <c:externalData r:id="rId1"/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GB"/>
  <c:chart>
    <c:title>
      <c:tx>
        <c:rich>
          <a:bodyPr/>
          <a:lstStyle/>
          <a:p>
            <a:pPr>
              <a:defRPr sz="800"/>
            </a:pPr>
            <a:r>
              <a:rPr lang="en-US" sz="800"/>
              <a:t>Change Management</a:t>
            </a:r>
          </a:p>
        </c:rich>
      </c:tx>
      <c:layout/>
    </c:title>
    <c:plotArea>
      <c:layout/>
      <c:lineChart>
        <c:grouping val="standard"/>
        <c:ser>
          <c:idx val="0"/>
          <c:order val="0"/>
          <c:tx>
            <c:strRef>
              <c:f>'Project Summary'!$A$21</c:f>
              <c:strCache>
                <c:ptCount val="1"/>
                <c:pt idx="0">
                  <c:v>Total Open Risks</c:v>
                </c:pt>
              </c:strCache>
            </c:strRef>
          </c:tx>
          <c:cat>
            <c:numRef>
              <c:f>'Project Summary'!$B$20:$W$20</c:f>
              <c:numCache>
                <c:formatCode>dd\-mmm</c:formatCode>
                <c:ptCount val="22"/>
                <c:pt idx="0">
                  <c:v>40952</c:v>
                </c:pt>
                <c:pt idx="1">
                  <c:v>40955</c:v>
                </c:pt>
                <c:pt idx="2">
                  <c:v>40959</c:v>
                </c:pt>
                <c:pt idx="3">
                  <c:v>40962</c:v>
                </c:pt>
                <c:pt idx="4">
                  <c:v>40966</c:v>
                </c:pt>
                <c:pt idx="5">
                  <c:v>40969</c:v>
                </c:pt>
                <c:pt idx="6">
                  <c:v>40973</c:v>
                </c:pt>
                <c:pt idx="7">
                  <c:v>40974</c:v>
                </c:pt>
                <c:pt idx="8">
                  <c:v>40975</c:v>
                </c:pt>
                <c:pt idx="9">
                  <c:v>40976</c:v>
                </c:pt>
                <c:pt idx="10">
                  <c:v>40977</c:v>
                </c:pt>
                <c:pt idx="11">
                  <c:v>40980</c:v>
                </c:pt>
                <c:pt idx="12">
                  <c:v>40981</c:v>
                </c:pt>
                <c:pt idx="13">
                  <c:v>40982</c:v>
                </c:pt>
                <c:pt idx="14">
                  <c:v>40983</c:v>
                </c:pt>
                <c:pt idx="15">
                  <c:v>40984</c:v>
                </c:pt>
                <c:pt idx="16">
                  <c:v>40987</c:v>
                </c:pt>
                <c:pt idx="17">
                  <c:v>40988</c:v>
                </c:pt>
                <c:pt idx="18">
                  <c:v>40989</c:v>
                </c:pt>
                <c:pt idx="19">
                  <c:v>40990</c:v>
                </c:pt>
                <c:pt idx="20">
                  <c:v>40991</c:v>
                </c:pt>
                <c:pt idx="21">
                  <c:v>40994</c:v>
                </c:pt>
              </c:numCache>
            </c:numRef>
          </c:cat>
          <c:val>
            <c:numRef>
              <c:f>'Project Summary'!$B$21:$W$21</c:f>
              <c:numCache>
                <c:formatCode>General</c:formatCode>
                <c:ptCount val="22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  <c:pt idx="4">
                  <c:v>1</c:v>
                </c:pt>
                <c:pt idx="5">
                  <c:v>1</c:v>
                </c:pt>
                <c:pt idx="6">
                  <c:v>1</c:v>
                </c:pt>
                <c:pt idx="7">
                  <c:v>1</c:v>
                </c:pt>
                <c:pt idx="8">
                  <c:v>1</c:v>
                </c:pt>
                <c:pt idx="9">
                  <c:v>1</c:v>
                </c:pt>
                <c:pt idx="10">
                  <c:v>1</c:v>
                </c:pt>
                <c:pt idx="11">
                  <c:v>1</c:v>
                </c:pt>
                <c:pt idx="12">
                  <c:v>1</c:v>
                </c:pt>
                <c:pt idx="13">
                  <c:v>1</c:v>
                </c:pt>
                <c:pt idx="14">
                  <c:v>1</c:v>
                </c:pt>
                <c:pt idx="15">
                  <c:v>1</c:v>
                </c:pt>
                <c:pt idx="16">
                  <c:v>1</c:v>
                </c:pt>
                <c:pt idx="20">
                  <c:v>1</c:v>
                </c:pt>
                <c:pt idx="21">
                  <c:v>1</c:v>
                </c:pt>
              </c:numCache>
            </c:numRef>
          </c:val>
        </c:ser>
        <c:ser>
          <c:idx val="1"/>
          <c:order val="1"/>
          <c:tx>
            <c:strRef>
              <c:f>'Project Summary'!$A$22</c:f>
              <c:strCache>
                <c:ptCount val="1"/>
                <c:pt idx="0">
                  <c:v>Total Open High or Critical Risks</c:v>
                </c:pt>
              </c:strCache>
            </c:strRef>
          </c:tx>
          <c:cat>
            <c:numRef>
              <c:f>'Project Summary'!$B$20:$W$20</c:f>
              <c:numCache>
                <c:formatCode>dd\-mmm</c:formatCode>
                <c:ptCount val="22"/>
                <c:pt idx="0">
                  <c:v>40952</c:v>
                </c:pt>
                <c:pt idx="1">
                  <c:v>40955</c:v>
                </c:pt>
                <c:pt idx="2">
                  <c:v>40959</c:v>
                </c:pt>
                <c:pt idx="3">
                  <c:v>40962</c:v>
                </c:pt>
                <c:pt idx="4">
                  <c:v>40966</c:v>
                </c:pt>
                <c:pt idx="5">
                  <c:v>40969</c:v>
                </c:pt>
                <c:pt idx="6">
                  <c:v>40973</c:v>
                </c:pt>
                <c:pt idx="7">
                  <c:v>40974</c:v>
                </c:pt>
                <c:pt idx="8">
                  <c:v>40975</c:v>
                </c:pt>
                <c:pt idx="9">
                  <c:v>40976</c:v>
                </c:pt>
                <c:pt idx="10">
                  <c:v>40977</c:v>
                </c:pt>
                <c:pt idx="11">
                  <c:v>40980</c:v>
                </c:pt>
                <c:pt idx="12">
                  <c:v>40981</c:v>
                </c:pt>
                <c:pt idx="13">
                  <c:v>40982</c:v>
                </c:pt>
                <c:pt idx="14">
                  <c:v>40983</c:v>
                </c:pt>
                <c:pt idx="15">
                  <c:v>40984</c:v>
                </c:pt>
                <c:pt idx="16">
                  <c:v>40987</c:v>
                </c:pt>
                <c:pt idx="17">
                  <c:v>40988</c:v>
                </c:pt>
                <c:pt idx="18">
                  <c:v>40989</c:v>
                </c:pt>
                <c:pt idx="19">
                  <c:v>40990</c:v>
                </c:pt>
                <c:pt idx="20">
                  <c:v>40991</c:v>
                </c:pt>
                <c:pt idx="21">
                  <c:v>40994</c:v>
                </c:pt>
              </c:numCache>
            </c:numRef>
          </c:cat>
          <c:val>
            <c:numRef>
              <c:f>'Project Summary'!$B$22:$W$22</c:f>
              <c:numCache>
                <c:formatCode>General</c:formatCode>
                <c:ptCount val="22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  <c:pt idx="4">
                  <c:v>1</c:v>
                </c:pt>
                <c:pt idx="5">
                  <c:v>1</c:v>
                </c:pt>
                <c:pt idx="6">
                  <c:v>1</c:v>
                </c:pt>
                <c:pt idx="7">
                  <c:v>1</c:v>
                </c:pt>
                <c:pt idx="8">
                  <c:v>1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20">
                  <c:v>0</c:v>
                </c:pt>
                <c:pt idx="21">
                  <c:v>0</c:v>
                </c:pt>
              </c:numCache>
            </c:numRef>
          </c:val>
        </c:ser>
        <c:ser>
          <c:idx val="2"/>
          <c:order val="2"/>
          <c:tx>
            <c:strRef>
              <c:f>'Project Summary'!$A$23</c:f>
              <c:strCache>
                <c:ptCount val="1"/>
                <c:pt idx="0">
                  <c:v>Risks: Missed Required Resolution Date</c:v>
                </c:pt>
              </c:strCache>
            </c:strRef>
          </c:tx>
          <c:cat>
            <c:numRef>
              <c:f>'Project Summary'!$B$20:$W$20</c:f>
              <c:numCache>
                <c:formatCode>dd\-mmm</c:formatCode>
                <c:ptCount val="22"/>
                <c:pt idx="0">
                  <c:v>40952</c:v>
                </c:pt>
                <c:pt idx="1">
                  <c:v>40955</c:v>
                </c:pt>
                <c:pt idx="2">
                  <c:v>40959</c:v>
                </c:pt>
                <c:pt idx="3">
                  <c:v>40962</c:v>
                </c:pt>
                <c:pt idx="4">
                  <c:v>40966</c:v>
                </c:pt>
                <c:pt idx="5">
                  <c:v>40969</c:v>
                </c:pt>
                <c:pt idx="6">
                  <c:v>40973</c:v>
                </c:pt>
                <c:pt idx="7">
                  <c:v>40974</c:v>
                </c:pt>
                <c:pt idx="8">
                  <c:v>40975</c:v>
                </c:pt>
                <c:pt idx="9">
                  <c:v>40976</c:v>
                </c:pt>
                <c:pt idx="10">
                  <c:v>40977</c:v>
                </c:pt>
                <c:pt idx="11">
                  <c:v>40980</c:v>
                </c:pt>
                <c:pt idx="12">
                  <c:v>40981</c:v>
                </c:pt>
                <c:pt idx="13">
                  <c:v>40982</c:v>
                </c:pt>
                <c:pt idx="14">
                  <c:v>40983</c:v>
                </c:pt>
                <c:pt idx="15">
                  <c:v>40984</c:v>
                </c:pt>
                <c:pt idx="16">
                  <c:v>40987</c:v>
                </c:pt>
                <c:pt idx="17">
                  <c:v>40988</c:v>
                </c:pt>
                <c:pt idx="18">
                  <c:v>40989</c:v>
                </c:pt>
                <c:pt idx="19">
                  <c:v>40990</c:v>
                </c:pt>
                <c:pt idx="20">
                  <c:v>40991</c:v>
                </c:pt>
                <c:pt idx="21">
                  <c:v>40994</c:v>
                </c:pt>
              </c:numCache>
            </c:numRef>
          </c:cat>
          <c:val>
            <c:numRef>
              <c:f>'Project Summary'!$B$23:$W$23</c:f>
              <c:numCache>
                <c:formatCode>General</c:formatCode>
                <c:ptCount val="22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1</c:v>
                </c:pt>
                <c:pt idx="6">
                  <c:v>1</c:v>
                </c:pt>
                <c:pt idx="7">
                  <c:v>1</c:v>
                </c:pt>
                <c:pt idx="8">
                  <c:v>1</c:v>
                </c:pt>
                <c:pt idx="9">
                  <c:v>1</c:v>
                </c:pt>
                <c:pt idx="10">
                  <c:v>1</c:v>
                </c:pt>
                <c:pt idx="11">
                  <c:v>1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20">
                  <c:v>0</c:v>
                </c:pt>
                <c:pt idx="21">
                  <c:v>0</c:v>
                </c:pt>
              </c:numCache>
            </c:numRef>
          </c:val>
        </c:ser>
        <c:ser>
          <c:idx val="3"/>
          <c:order val="3"/>
          <c:tx>
            <c:strRef>
              <c:f>'Project Summary'!$A$24</c:f>
              <c:strCache>
                <c:ptCount val="1"/>
                <c:pt idx="0">
                  <c:v>Risks with no Required Resolution Date</c:v>
                </c:pt>
              </c:strCache>
            </c:strRef>
          </c:tx>
          <c:cat>
            <c:numRef>
              <c:f>'Project Summary'!$B$20:$W$20</c:f>
              <c:numCache>
                <c:formatCode>dd\-mmm</c:formatCode>
                <c:ptCount val="22"/>
                <c:pt idx="0">
                  <c:v>40952</c:v>
                </c:pt>
                <c:pt idx="1">
                  <c:v>40955</c:v>
                </c:pt>
                <c:pt idx="2">
                  <c:v>40959</c:v>
                </c:pt>
                <c:pt idx="3">
                  <c:v>40962</c:v>
                </c:pt>
                <c:pt idx="4">
                  <c:v>40966</c:v>
                </c:pt>
                <c:pt idx="5">
                  <c:v>40969</c:v>
                </c:pt>
                <c:pt idx="6">
                  <c:v>40973</c:v>
                </c:pt>
                <c:pt idx="7">
                  <c:v>40974</c:v>
                </c:pt>
                <c:pt idx="8">
                  <c:v>40975</c:v>
                </c:pt>
                <c:pt idx="9">
                  <c:v>40976</c:v>
                </c:pt>
                <c:pt idx="10">
                  <c:v>40977</c:v>
                </c:pt>
                <c:pt idx="11">
                  <c:v>40980</c:v>
                </c:pt>
                <c:pt idx="12">
                  <c:v>40981</c:v>
                </c:pt>
                <c:pt idx="13">
                  <c:v>40982</c:v>
                </c:pt>
                <c:pt idx="14">
                  <c:v>40983</c:v>
                </c:pt>
                <c:pt idx="15">
                  <c:v>40984</c:v>
                </c:pt>
                <c:pt idx="16">
                  <c:v>40987</c:v>
                </c:pt>
                <c:pt idx="17">
                  <c:v>40988</c:v>
                </c:pt>
                <c:pt idx="18">
                  <c:v>40989</c:v>
                </c:pt>
                <c:pt idx="19">
                  <c:v>40990</c:v>
                </c:pt>
                <c:pt idx="20">
                  <c:v>40991</c:v>
                </c:pt>
                <c:pt idx="21">
                  <c:v>40994</c:v>
                </c:pt>
              </c:numCache>
            </c:numRef>
          </c:cat>
          <c:val>
            <c:numRef>
              <c:f>'Project Summary'!$B$24:$W$24</c:f>
              <c:numCache>
                <c:formatCode>General</c:formatCode>
                <c:ptCount val="22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20">
                  <c:v>0</c:v>
                </c:pt>
                <c:pt idx="21">
                  <c:v>0</c:v>
                </c:pt>
              </c:numCache>
            </c:numRef>
          </c:val>
        </c:ser>
        <c:ser>
          <c:idx val="7"/>
          <c:order val="4"/>
          <c:tx>
            <c:strRef>
              <c:f>'Project Summary'!$A$25</c:f>
              <c:strCache>
                <c:ptCount val="1"/>
                <c:pt idx="0">
                  <c:v>Risks open 1-3 months</c:v>
                </c:pt>
              </c:strCache>
            </c:strRef>
          </c:tx>
          <c:cat>
            <c:numRef>
              <c:f>'Project Summary'!$B$20:$W$20</c:f>
              <c:numCache>
                <c:formatCode>dd\-mmm</c:formatCode>
                <c:ptCount val="22"/>
                <c:pt idx="0">
                  <c:v>40952</c:v>
                </c:pt>
                <c:pt idx="1">
                  <c:v>40955</c:v>
                </c:pt>
                <c:pt idx="2">
                  <c:v>40959</c:v>
                </c:pt>
                <c:pt idx="3">
                  <c:v>40962</c:v>
                </c:pt>
                <c:pt idx="4">
                  <c:v>40966</c:v>
                </c:pt>
                <c:pt idx="5">
                  <c:v>40969</c:v>
                </c:pt>
                <c:pt idx="6">
                  <c:v>40973</c:v>
                </c:pt>
                <c:pt idx="7">
                  <c:v>40974</c:v>
                </c:pt>
                <c:pt idx="8">
                  <c:v>40975</c:v>
                </c:pt>
                <c:pt idx="9">
                  <c:v>40976</c:v>
                </c:pt>
                <c:pt idx="10">
                  <c:v>40977</c:v>
                </c:pt>
                <c:pt idx="11">
                  <c:v>40980</c:v>
                </c:pt>
                <c:pt idx="12">
                  <c:v>40981</c:v>
                </c:pt>
                <c:pt idx="13">
                  <c:v>40982</c:v>
                </c:pt>
                <c:pt idx="14">
                  <c:v>40983</c:v>
                </c:pt>
                <c:pt idx="15">
                  <c:v>40984</c:v>
                </c:pt>
                <c:pt idx="16">
                  <c:v>40987</c:v>
                </c:pt>
                <c:pt idx="17">
                  <c:v>40988</c:v>
                </c:pt>
                <c:pt idx="18">
                  <c:v>40989</c:v>
                </c:pt>
                <c:pt idx="19">
                  <c:v>40990</c:v>
                </c:pt>
                <c:pt idx="20">
                  <c:v>40991</c:v>
                </c:pt>
                <c:pt idx="21">
                  <c:v>40994</c:v>
                </c:pt>
              </c:numCache>
            </c:numRef>
          </c:cat>
          <c:val>
            <c:numRef>
              <c:f>'Project Summary'!$B$25:$W$25</c:f>
              <c:numCache>
                <c:formatCode>General</c:formatCode>
                <c:ptCount val="22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20">
                  <c:v>0</c:v>
                </c:pt>
                <c:pt idx="21">
                  <c:v>0</c:v>
                </c:pt>
              </c:numCache>
            </c:numRef>
          </c:val>
        </c:ser>
        <c:ser>
          <c:idx val="8"/>
          <c:order val="5"/>
          <c:tx>
            <c:strRef>
              <c:f>'Project Summary'!$A$26</c:f>
              <c:strCache>
                <c:ptCount val="1"/>
                <c:pt idx="0">
                  <c:v>Risks open 3-6 months</c:v>
                </c:pt>
              </c:strCache>
            </c:strRef>
          </c:tx>
          <c:cat>
            <c:numRef>
              <c:f>'Project Summary'!$B$20:$W$20</c:f>
              <c:numCache>
                <c:formatCode>dd\-mmm</c:formatCode>
                <c:ptCount val="22"/>
                <c:pt idx="0">
                  <c:v>40952</c:v>
                </c:pt>
                <c:pt idx="1">
                  <c:v>40955</c:v>
                </c:pt>
                <c:pt idx="2">
                  <c:v>40959</c:v>
                </c:pt>
                <c:pt idx="3">
                  <c:v>40962</c:v>
                </c:pt>
                <c:pt idx="4">
                  <c:v>40966</c:v>
                </c:pt>
                <c:pt idx="5">
                  <c:v>40969</c:v>
                </c:pt>
                <c:pt idx="6">
                  <c:v>40973</c:v>
                </c:pt>
                <c:pt idx="7">
                  <c:v>40974</c:v>
                </c:pt>
                <c:pt idx="8">
                  <c:v>40975</c:v>
                </c:pt>
                <c:pt idx="9">
                  <c:v>40976</c:v>
                </c:pt>
                <c:pt idx="10">
                  <c:v>40977</c:v>
                </c:pt>
                <c:pt idx="11">
                  <c:v>40980</c:v>
                </c:pt>
                <c:pt idx="12">
                  <c:v>40981</c:v>
                </c:pt>
                <c:pt idx="13">
                  <c:v>40982</c:v>
                </c:pt>
                <c:pt idx="14">
                  <c:v>40983</c:v>
                </c:pt>
                <c:pt idx="15">
                  <c:v>40984</c:v>
                </c:pt>
                <c:pt idx="16">
                  <c:v>40987</c:v>
                </c:pt>
                <c:pt idx="17">
                  <c:v>40988</c:v>
                </c:pt>
                <c:pt idx="18">
                  <c:v>40989</c:v>
                </c:pt>
                <c:pt idx="19">
                  <c:v>40990</c:v>
                </c:pt>
                <c:pt idx="20">
                  <c:v>40991</c:v>
                </c:pt>
                <c:pt idx="21">
                  <c:v>40994</c:v>
                </c:pt>
              </c:numCache>
            </c:numRef>
          </c:cat>
          <c:val>
            <c:numRef>
              <c:f>'Project Summary'!$B$26:$W$26</c:f>
              <c:numCache>
                <c:formatCode>General</c:formatCode>
                <c:ptCount val="22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20">
                  <c:v>0</c:v>
                </c:pt>
                <c:pt idx="21">
                  <c:v>0</c:v>
                </c:pt>
              </c:numCache>
            </c:numRef>
          </c:val>
        </c:ser>
        <c:ser>
          <c:idx val="9"/>
          <c:order val="6"/>
          <c:tx>
            <c:strRef>
              <c:f>'Project Summary'!$A$27</c:f>
              <c:strCache>
                <c:ptCount val="1"/>
                <c:pt idx="0">
                  <c:v>Risks open longer than 6 months</c:v>
                </c:pt>
              </c:strCache>
            </c:strRef>
          </c:tx>
          <c:cat>
            <c:numRef>
              <c:f>'Project Summary'!$B$20:$W$20</c:f>
              <c:numCache>
                <c:formatCode>dd\-mmm</c:formatCode>
                <c:ptCount val="22"/>
                <c:pt idx="0">
                  <c:v>40952</c:v>
                </c:pt>
                <c:pt idx="1">
                  <c:v>40955</c:v>
                </c:pt>
                <c:pt idx="2">
                  <c:v>40959</c:v>
                </c:pt>
                <c:pt idx="3">
                  <c:v>40962</c:v>
                </c:pt>
                <c:pt idx="4">
                  <c:v>40966</c:v>
                </c:pt>
                <c:pt idx="5">
                  <c:v>40969</c:v>
                </c:pt>
                <c:pt idx="6">
                  <c:v>40973</c:v>
                </c:pt>
                <c:pt idx="7">
                  <c:v>40974</c:v>
                </c:pt>
                <c:pt idx="8">
                  <c:v>40975</c:v>
                </c:pt>
                <c:pt idx="9">
                  <c:v>40976</c:v>
                </c:pt>
                <c:pt idx="10">
                  <c:v>40977</c:v>
                </c:pt>
                <c:pt idx="11">
                  <c:v>40980</c:v>
                </c:pt>
                <c:pt idx="12">
                  <c:v>40981</c:v>
                </c:pt>
                <c:pt idx="13">
                  <c:v>40982</c:v>
                </c:pt>
                <c:pt idx="14">
                  <c:v>40983</c:v>
                </c:pt>
                <c:pt idx="15">
                  <c:v>40984</c:v>
                </c:pt>
                <c:pt idx="16">
                  <c:v>40987</c:v>
                </c:pt>
                <c:pt idx="17">
                  <c:v>40988</c:v>
                </c:pt>
                <c:pt idx="18">
                  <c:v>40989</c:v>
                </c:pt>
                <c:pt idx="19">
                  <c:v>40990</c:v>
                </c:pt>
                <c:pt idx="20">
                  <c:v>40991</c:v>
                </c:pt>
                <c:pt idx="21">
                  <c:v>40994</c:v>
                </c:pt>
              </c:numCache>
            </c:numRef>
          </c:cat>
          <c:val>
            <c:numRef>
              <c:f>'Project Summary'!$B$27:$W$27</c:f>
              <c:numCache>
                <c:formatCode>General</c:formatCode>
                <c:ptCount val="22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  <c:pt idx="4">
                  <c:v>1</c:v>
                </c:pt>
                <c:pt idx="5">
                  <c:v>1</c:v>
                </c:pt>
                <c:pt idx="6">
                  <c:v>1</c:v>
                </c:pt>
                <c:pt idx="7">
                  <c:v>1</c:v>
                </c:pt>
                <c:pt idx="8">
                  <c:v>1</c:v>
                </c:pt>
                <c:pt idx="9">
                  <c:v>1</c:v>
                </c:pt>
                <c:pt idx="10">
                  <c:v>1</c:v>
                </c:pt>
                <c:pt idx="11">
                  <c:v>1</c:v>
                </c:pt>
                <c:pt idx="12">
                  <c:v>1</c:v>
                </c:pt>
                <c:pt idx="13">
                  <c:v>1</c:v>
                </c:pt>
                <c:pt idx="14">
                  <c:v>1</c:v>
                </c:pt>
                <c:pt idx="15">
                  <c:v>1</c:v>
                </c:pt>
                <c:pt idx="16">
                  <c:v>1</c:v>
                </c:pt>
                <c:pt idx="20">
                  <c:v>1</c:v>
                </c:pt>
                <c:pt idx="21">
                  <c:v>1</c:v>
                </c:pt>
              </c:numCache>
            </c:numRef>
          </c:val>
        </c:ser>
        <c:ser>
          <c:idx val="10"/>
          <c:order val="7"/>
          <c:tx>
            <c:strRef>
              <c:f>'Project Summary'!$A$28</c:f>
              <c:strCache>
                <c:ptCount val="1"/>
                <c:pt idx="0">
                  <c:v>Total Open Issues</c:v>
                </c:pt>
              </c:strCache>
            </c:strRef>
          </c:tx>
          <c:cat>
            <c:numRef>
              <c:f>'Project Summary'!$B$20:$W$20</c:f>
              <c:numCache>
                <c:formatCode>dd\-mmm</c:formatCode>
                <c:ptCount val="22"/>
                <c:pt idx="0">
                  <c:v>40952</c:v>
                </c:pt>
                <c:pt idx="1">
                  <c:v>40955</c:v>
                </c:pt>
                <c:pt idx="2">
                  <c:v>40959</c:v>
                </c:pt>
                <c:pt idx="3">
                  <c:v>40962</c:v>
                </c:pt>
                <c:pt idx="4">
                  <c:v>40966</c:v>
                </c:pt>
                <c:pt idx="5">
                  <c:v>40969</c:v>
                </c:pt>
                <c:pt idx="6">
                  <c:v>40973</c:v>
                </c:pt>
                <c:pt idx="7">
                  <c:v>40974</c:v>
                </c:pt>
                <c:pt idx="8">
                  <c:v>40975</c:v>
                </c:pt>
                <c:pt idx="9">
                  <c:v>40976</c:v>
                </c:pt>
                <c:pt idx="10">
                  <c:v>40977</c:v>
                </c:pt>
                <c:pt idx="11">
                  <c:v>40980</c:v>
                </c:pt>
                <c:pt idx="12">
                  <c:v>40981</c:v>
                </c:pt>
                <c:pt idx="13">
                  <c:v>40982</c:v>
                </c:pt>
                <c:pt idx="14">
                  <c:v>40983</c:v>
                </c:pt>
                <c:pt idx="15">
                  <c:v>40984</c:v>
                </c:pt>
                <c:pt idx="16">
                  <c:v>40987</c:v>
                </c:pt>
                <c:pt idx="17">
                  <c:v>40988</c:v>
                </c:pt>
                <c:pt idx="18">
                  <c:v>40989</c:v>
                </c:pt>
                <c:pt idx="19">
                  <c:v>40990</c:v>
                </c:pt>
                <c:pt idx="20">
                  <c:v>40991</c:v>
                </c:pt>
                <c:pt idx="21">
                  <c:v>40994</c:v>
                </c:pt>
              </c:numCache>
            </c:numRef>
          </c:cat>
          <c:val>
            <c:numRef>
              <c:f>'Project Summary'!$B$28:$W$28</c:f>
              <c:numCache>
                <c:formatCode>General</c:formatCode>
                <c:ptCount val="22"/>
                <c:pt idx="0">
                  <c:v>3</c:v>
                </c:pt>
                <c:pt idx="1">
                  <c:v>2</c:v>
                </c:pt>
                <c:pt idx="2">
                  <c:v>2</c:v>
                </c:pt>
                <c:pt idx="3">
                  <c:v>2</c:v>
                </c:pt>
                <c:pt idx="4">
                  <c:v>2</c:v>
                </c:pt>
                <c:pt idx="5">
                  <c:v>2</c:v>
                </c:pt>
                <c:pt idx="6">
                  <c:v>2</c:v>
                </c:pt>
                <c:pt idx="7">
                  <c:v>2</c:v>
                </c:pt>
                <c:pt idx="8">
                  <c:v>2</c:v>
                </c:pt>
                <c:pt idx="9">
                  <c:v>1</c:v>
                </c:pt>
                <c:pt idx="10">
                  <c:v>1</c:v>
                </c:pt>
                <c:pt idx="11">
                  <c:v>1</c:v>
                </c:pt>
                <c:pt idx="12">
                  <c:v>1</c:v>
                </c:pt>
                <c:pt idx="13">
                  <c:v>1</c:v>
                </c:pt>
                <c:pt idx="14">
                  <c:v>1</c:v>
                </c:pt>
                <c:pt idx="15">
                  <c:v>1</c:v>
                </c:pt>
                <c:pt idx="16">
                  <c:v>1</c:v>
                </c:pt>
                <c:pt idx="20">
                  <c:v>1</c:v>
                </c:pt>
                <c:pt idx="21">
                  <c:v>1</c:v>
                </c:pt>
              </c:numCache>
            </c:numRef>
          </c:val>
        </c:ser>
        <c:ser>
          <c:idx val="4"/>
          <c:order val="8"/>
          <c:tx>
            <c:strRef>
              <c:f>'Project Summary'!$A$29</c:f>
              <c:strCache>
                <c:ptCount val="1"/>
                <c:pt idx="0">
                  <c:v>Total Open High or Critical Issues</c:v>
                </c:pt>
              </c:strCache>
            </c:strRef>
          </c:tx>
          <c:cat>
            <c:numRef>
              <c:f>'Project Summary'!$B$20:$W$20</c:f>
              <c:numCache>
                <c:formatCode>dd\-mmm</c:formatCode>
                <c:ptCount val="22"/>
                <c:pt idx="0">
                  <c:v>40952</c:v>
                </c:pt>
                <c:pt idx="1">
                  <c:v>40955</c:v>
                </c:pt>
                <c:pt idx="2">
                  <c:v>40959</c:v>
                </c:pt>
                <c:pt idx="3">
                  <c:v>40962</c:v>
                </c:pt>
                <c:pt idx="4">
                  <c:v>40966</c:v>
                </c:pt>
                <c:pt idx="5">
                  <c:v>40969</c:v>
                </c:pt>
                <c:pt idx="6">
                  <c:v>40973</c:v>
                </c:pt>
                <c:pt idx="7">
                  <c:v>40974</c:v>
                </c:pt>
                <c:pt idx="8">
                  <c:v>40975</c:v>
                </c:pt>
                <c:pt idx="9">
                  <c:v>40976</c:v>
                </c:pt>
                <c:pt idx="10">
                  <c:v>40977</c:v>
                </c:pt>
                <c:pt idx="11">
                  <c:v>40980</c:v>
                </c:pt>
                <c:pt idx="12">
                  <c:v>40981</c:v>
                </c:pt>
                <c:pt idx="13">
                  <c:v>40982</c:v>
                </c:pt>
                <c:pt idx="14">
                  <c:v>40983</c:v>
                </c:pt>
                <c:pt idx="15">
                  <c:v>40984</c:v>
                </c:pt>
                <c:pt idx="16">
                  <c:v>40987</c:v>
                </c:pt>
                <c:pt idx="17">
                  <c:v>40988</c:v>
                </c:pt>
                <c:pt idx="18">
                  <c:v>40989</c:v>
                </c:pt>
                <c:pt idx="19">
                  <c:v>40990</c:v>
                </c:pt>
                <c:pt idx="20">
                  <c:v>40991</c:v>
                </c:pt>
                <c:pt idx="21">
                  <c:v>40994</c:v>
                </c:pt>
              </c:numCache>
            </c:numRef>
          </c:cat>
          <c:val>
            <c:numRef>
              <c:f>'Project Summary'!$B$29:$W$29</c:f>
              <c:numCache>
                <c:formatCode>General</c:formatCode>
                <c:ptCount val="22"/>
                <c:pt idx="0">
                  <c:v>2</c:v>
                </c:pt>
                <c:pt idx="1">
                  <c:v>2</c:v>
                </c:pt>
                <c:pt idx="2">
                  <c:v>2</c:v>
                </c:pt>
                <c:pt idx="3">
                  <c:v>2</c:v>
                </c:pt>
                <c:pt idx="4">
                  <c:v>2</c:v>
                </c:pt>
                <c:pt idx="5">
                  <c:v>2</c:v>
                </c:pt>
                <c:pt idx="6">
                  <c:v>2</c:v>
                </c:pt>
                <c:pt idx="7">
                  <c:v>2</c:v>
                </c:pt>
                <c:pt idx="8">
                  <c:v>2</c:v>
                </c:pt>
                <c:pt idx="9">
                  <c:v>1</c:v>
                </c:pt>
                <c:pt idx="10">
                  <c:v>1</c:v>
                </c:pt>
                <c:pt idx="11">
                  <c:v>1</c:v>
                </c:pt>
                <c:pt idx="12">
                  <c:v>1</c:v>
                </c:pt>
                <c:pt idx="13">
                  <c:v>1</c:v>
                </c:pt>
                <c:pt idx="14">
                  <c:v>1</c:v>
                </c:pt>
                <c:pt idx="15">
                  <c:v>1</c:v>
                </c:pt>
                <c:pt idx="16">
                  <c:v>1</c:v>
                </c:pt>
                <c:pt idx="20">
                  <c:v>1</c:v>
                </c:pt>
                <c:pt idx="21">
                  <c:v>1</c:v>
                </c:pt>
              </c:numCache>
            </c:numRef>
          </c:val>
        </c:ser>
        <c:ser>
          <c:idx val="5"/>
          <c:order val="9"/>
          <c:tx>
            <c:strRef>
              <c:f>'Project Summary'!$A$30</c:f>
              <c:strCache>
                <c:ptCount val="1"/>
                <c:pt idx="0">
                  <c:v>Issues: Missed Required Resolution Date</c:v>
                </c:pt>
              </c:strCache>
            </c:strRef>
          </c:tx>
          <c:cat>
            <c:numRef>
              <c:f>'Project Summary'!$B$20:$W$20</c:f>
              <c:numCache>
                <c:formatCode>dd\-mmm</c:formatCode>
                <c:ptCount val="22"/>
                <c:pt idx="0">
                  <c:v>40952</c:v>
                </c:pt>
                <c:pt idx="1">
                  <c:v>40955</c:v>
                </c:pt>
                <c:pt idx="2">
                  <c:v>40959</c:v>
                </c:pt>
                <c:pt idx="3">
                  <c:v>40962</c:v>
                </c:pt>
                <c:pt idx="4">
                  <c:v>40966</c:v>
                </c:pt>
                <c:pt idx="5">
                  <c:v>40969</c:v>
                </c:pt>
                <c:pt idx="6">
                  <c:v>40973</c:v>
                </c:pt>
                <c:pt idx="7">
                  <c:v>40974</c:v>
                </c:pt>
                <c:pt idx="8">
                  <c:v>40975</c:v>
                </c:pt>
                <c:pt idx="9">
                  <c:v>40976</c:v>
                </c:pt>
                <c:pt idx="10">
                  <c:v>40977</c:v>
                </c:pt>
                <c:pt idx="11">
                  <c:v>40980</c:v>
                </c:pt>
                <c:pt idx="12">
                  <c:v>40981</c:v>
                </c:pt>
                <c:pt idx="13">
                  <c:v>40982</c:v>
                </c:pt>
                <c:pt idx="14">
                  <c:v>40983</c:v>
                </c:pt>
                <c:pt idx="15">
                  <c:v>40984</c:v>
                </c:pt>
                <c:pt idx="16">
                  <c:v>40987</c:v>
                </c:pt>
                <c:pt idx="17">
                  <c:v>40988</c:v>
                </c:pt>
                <c:pt idx="18">
                  <c:v>40989</c:v>
                </c:pt>
                <c:pt idx="19">
                  <c:v>40990</c:v>
                </c:pt>
                <c:pt idx="20">
                  <c:v>40991</c:v>
                </c:pt>
                <c:pt idx="21">
                  <c:v>40994</c:v>
                </c:pt>
              </c:numCache>
            </c:numRef>
          </c:cat>
          <c:val>
            <c:numRef>
              <c:f>'Project Summary'!$B$30:$W$30</c:f>
              <c:numCache>
                <c:formatCode>General</c:formatCode>
                <c:ptCount val="22"/>
                <c:pt idx="0">
                  <c:v>3</c:v>
                </c:pt>
                <c:pt idx="1">
                  <c:v>2</c:v>
                </c:pt>
                <c:pt idx="2">
                  <c:v>2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20">
                  <c:v>0</c:v>
                </c:pt>
                <c:pt idx="21">
                  <c:v>0</c:v>
                </c:pt>
              </c:numCache>
            </c:numRef>
          </c:val>
        </c:ser>
        <c:ser>
          <c:idx val="6"/>
          <c:order val="10"/>
          <c:tx>
            <c:strRef>
              <c:f>'Project Summary'!$A$31</c:f>
              <c:strCache>
                <c:ptCount val="1"/>
                <c:pt idx="0">
                  <c:v>Issues with no Required Resolution Date</c:v>
                </c:pt>
              </c:strCache>
            </c:strRef>
          </c:tx>
          <c:cat>
            <c:numRef>
              <c:f>'Project Summary'!$B$20:$W$20</c:f>
              <c:numCache>
                <c:formatCode>dd\-mmm</c:formatCode>
                <c:ptCount val="22"/>
                <c:pt idx="0">
                  <c:v>40952</c:v>
                </c:pt>
                <c:pt idx="1">
                  <c:v>40955</c:v>
                </c:pt>
                <c:pt idx="2">
                  <c:v>40959</c:v>
                </c:pt>
                <c:pt idx="3">
                  <c:v>40962</c:v>
                </c:pt>
                <c:pt idx="4">
                  <c:v>40966</c:v>
                </c:pt>
                <c:pt idx="5">
                  <c:v>40969</c:v>
                </c:pt>
                <c:pt idx="6">
                  <c:v>40973</c:v>
                </c:pt>
                <c:pt idx="7">
                  <c:v>40974</c:v>
                </c:pt>
                <c:pt idx="8">
                  <c:v>40975</c:v>
                </c:pt>
                <c:pt idx="9">
                  <c:v>40976</c:v>
                </c:pt>
                <c:pt idx="10">
                  <c:v>40977</c:v>
                </c:pt>
                <c:pt idx="11">
                  <c:v>40980</c:v>
                </c:pt>
                <c:pt idx="12">
                  <c:v>40981</c:v>
                </c:pt>
                <c:pt idx="13">
                  <c:v>40982</c:v>
                </c:pt>
                <c:pt idx="14">
                  <c:v>40983</c:v>
                </c:pt>
                <c:pt idx="15">
                  <c:v>40984</c:v>
                </c:pt>
                <c:pt idx="16">
                  <c:v>40987</c:v>
                </c:pt>
                <c:pt idx="17">
                  <c:v>40988</c:v>
                </c:pt>
                <c:pt idx="18">
                  <c:v>40989</c:v>
                </c:pt>
                <c:pt idx="19">
                  <c:v>40990</c:v>
                </c:pt>
                <c:pt idx="20">
                  <c:v>40991</c:v>
                </c:pt>
                <c:pt idx="21">
                  <c:v>40994</c:v>
                </c:pt>
              </c:numCache>
            </c:numRef>
          </c:cat>
          <c:val>
            <c:numRef>
              <c:f>'Project Summary'!$B$31:$W$31</c:f>
              <c:numCache>
                <c:formatCode>General</c:formatCode>
                <c:ptCount val="22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20">
                  <c:v>0</c:v>
                </c:pt>
                <c:pt idx="21">
                  <c:v>0</c:v>
                </c:pt>
              </c:numCache>
            </c:numRef>
          </c:val>
        </c:ser>
        <c:ser>
          <c:idx val="11"/>
          <c:order val="11"/>
          <c:tx>
            <c:strRef>
              <c:f>'Project Summary'!$A$32</c:f>
              <c:strCache>
                <c:ptCount val="1"/>
                <c:pt idx="0">
                  <c:v>Issues open 1-3 months</c:v>
                </c:pt>
              </c:strCache>
            </c:strRef>
          </c:tx>
          <c:cat>
            <c:numRef>
              <c:f>'Project Summary'!$B$20:$W$20</c:f>
              <c:numCache>
                <c:formatCode>dd\-mmm</c:formatCode>
                <c:ptCount val="22"/>
                <c:pt idx="0">
                  <c:v>40952</c:v>
                </c:pt>
                <c:pt idx="1">
                  <c:v>40955</c:v>
                </c:pt>
                <c:pt idx="2">
                  <c:v>40959</c:v>
                </c:pt>
                <c:pt idx="3">
                  <c:v>40962</c:v>
                </c:pt>
                <c:pt idx="4">
                  <c:v>40966</c:v>
                </c:pt>
                <c:pt idx="5">
                  <c:v>40969</c:v>
                </c:pt>
                <c:pt idx="6">
                  <c:v>40973</c:v>
                </c:pt>
                <c:pt idx="7">
                  <c:v>40974</c:v>
                </c:pt>
                <c:pt idx="8">
                  <c:v>40975</c:v>
                </c:pt>
                <c:pt idx="9">
                  <c:v>40976</c:v>
                </c:pt>
                <c:pt idx="10">
                  <c:v>40977</c:v>
                </c:pt>
                <c:pt idx="11">
                  <c:v>40980</c:v>
                </c:pt>
                <c:pt idx="12">
                  <c:v>40981</c:v>
                </c:pt>
                <c:pt idx="13">
                  <c:v>40982</c:v>
                </c:pt>
                <c:pt idx="14">
                  <c:v>40983</c:v>
                </c:pt>
                <c:pt idx="15">
                  <c:v>40984</c:v>
                </c:pt>
                <c:pt idx="16">
                  <c:v>40987</c:v>
                </c:pt>
                <c:pt idx="17">
                  <c:v>40988</c:v>
                </c:pt>
                <c:pt idx="18">
                  <c:v>40989</c:v>
                </c:pt>
                <c:pt idx="19">
                  <c:v>40990</c:v>
                </c:pt>
                <c:pt idx="20">
                  <c:v>40991</c:v>
                </c:pt>
                <c:pt idx="21">
                  <c:v>40994</c:v>
                </c:pt>
              </c:numCache>
            </c:numRef>
          </c:cat>
          <c:val>
            <c:numRef>
              <c:f>'Project Summary'!$B$32:$W$32</c:f>
              <c:numCache>
                <c:formatCode>General</c:formatCode>
                <c:ptCount val="22"/>
                <c:pt idx="0">
                  <c:v>1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20">
                  <c:v>0</c:v>
                </c:pt>
                <c:pt idx="21">
                  <c:v>0</c:v>
                </c:pt>
              </c:numCache>
            </c:numRef>
          </c:val>
        </c:ser>
        <c:ser>
          <c:idx val="12"/>
          <c:order val="12"/>
          <c:tx>
            <c:strRef>
              <c:f>'Project Summary'!$A$33</c:f>
              <c:strCache>
                <c:ptCount val="1"/>
                <c:pt idx="0">
                  <c:v>Issues open 3-6 months</c:v>
                </c:pt>
              </c:strCache>
            </c:strRef>
          </c:tx>
          <c:cat>
            <c:numRef>
              <c:f>'Project Summary'!$B$20:$W$20</c:f>
              <c:numCache>
                <c:formatCode>dd\-mmm</c:formatCode>
                <c:ptCount val="22"/>
                <c:pt idx="0">
                  <c:v>40952</c:v>
                </c:pt>
                <c:pt idx="1">
                  <c:v>40955</c:v>
                </c:pt>
                <c:pt idx="2">
                  <c:v>40959</c:v>
                </c:pt>
                <c:pt idx="3">
                  <c:v>40962</c:v>
                </c:pt>
                <c:pt idx="4">
                  <c:v>40966</c:v>
                </c:pt>
                <c:pt idx="5">
                  <c:v>40969</c:v>
                </c:pt>
                <c:pt idx="6">
                  <c:v>40973</c:v>
                </c:pt>
                <c:pt idx="7">
                  <c:v>40974</c:v>
                </c:pt>
                <c:pt idx="8">
                  <c:v>40975</c:v>
                </c:pt>
                <c:pt idx="9">
                  <c:v>40976</c:v>
                </c:pt>
                <c:pt idx="10">
                  <c:v>40977</c:v>
                </c:pt>
                <c:pt idx="11">
                  <c:v>40980</c:v>
                </c:pt>
                <c:pt idx="12">
                  <c:v>40981</c:v>
                </c:pt>
                <c:pt idx="13">
                  <c:v>40982</c:v>
                </c:pt>
                <c:pt idx="14">
                  <c:v>40983</c:v>
                </c:pt>
                <c:pt idx="15">
                  <c:v>40984</c:v>
                </c:pt>
                <c:pt idx="16">
                  <c:v>40987</c:v>
                </c:pt>
                <c:pt idx="17">
                  <c:v>40988</c:v>
                </c:pt>
                <c:pt idx="18">
                  <c:v>40989</c:v>
                </c:pt>
                <c:pt idx="19">
                  <c:v>40990</c:v>
                </c:pt>
                <c:pt idx="20">
                  <c:v>40991</c:v>
                </c:pt>
                <c:pt idx="21">
                  <c:v>40994</c:v>
                </c:pt>
              </c:numCache>
            </c:numRef>
          </c:cat>
          <c:val>
            <c:numRef>
              <c:f>'Project Summary'!$B$33:$W$33</c:f>
              <c:numCache>
                <c:formatCode>General</c:formatCode>
                <c:ptCount val="22"/>
                <c:pt idx="0">
                  <c:v>2</c:v>
                </c:pt>
                <c:pt idx="1">
                  <c:v>2</c:v>
                </c:pt>
                <c:pt idx="2">
                  <c:v>2</c:v>
                </c:pt>
                <c:pt idx="3">
                  <c:v>2</c:v>
                </c:pt>
                <c:pt idx="4">
                  <c:v>2</c:v>
                </c:pt>
                <c:pt idx="5">
                  <c:v>2</c:v>
                </c:pt>
                <c:pt idx="6">
                  <c:v>2</c:v>
                </c:pt>
                <c:pt idx="7">
                  <c:v>2</c:v>
                </c:pt>
                <c:pt idx="8">
                  <c:v>2</c:v>
                </c:pt>
                <c:pt idx="9">
                  <c:v>1</c:v>
                </c:pt>
                <c:pt idx="10">
                  <c:v>1</c:v>
                </c:pt>
                <c:pt idx="11">
                  <c:v>1</c:v>
                </c:pt>
                <c:pt idx="12">
                  <c:v>1</c:v>
                </c:pt>
                <c:pt idx="13">
                  <c:v>1</c:v>
                </c:pt>
                <c:pt idx="14">
                  <c:v>1</c:v>
                </c:pt>
                <c:pt idx="15">
                  <c:v>1</c:v>
                </c:pt>
                <c:pt idx="16">
                  <c:v>1</c:v>
                </c:pt>
                <c:pt idx="20">
                  <c:v>1</c:v>
                </c:pt>
                <c:pt idx="21">
                  <c:v>1</c:v>
                </c:pt>
              </c:numCache>
            </c:numRef>
          </c:val>
        </c:ser>
        <c:ser>
          <c:idx val="13"/>
          <c:order val="13"/>
          <c:tx>
            <c:strRef>
              <c:f>'Project Summary'!$A$34</c:f>
              <c:strCache>
                <c:ptCount val="1"/>
                <c:pt idx="0">
                  <c:v>Issues open longer than 6 months</c:v>
                </c:pt>
              </c:strCache>
            </c:strRef>
          </c:tx>
          <c:cat>
            <c:numRef>
              <c:f>'Project Summary'!$B$20:$W$20</c:f>
              <c:numCache>
                <c:formatCode>dd\-mmm</c:formatCode>
                <c:ptCount val="22"/>
                <c:pt idx="0">
                  <c:v>40952</c:v>
                </c:pt>
                <c:pt idx="1">
                  <c:v>40955</c:v>
                </c:pt>
                <c:pt idx="2">
                  <c:v>40959</c:v>
                </c:pt>
                <c:pt idx="3">
                  <c:v>40962</c:v>
                </c:pt>
                <c:pt idx="4">
                  <c:v>40966</c:v>
                </c:pt>
                <c:pt idx="5">
                  <c:v>40969</c:v>
                </c:pt>
                <c:pt idx="6">
                  <c:v>40973</c:v>
                </c:pt>
                <c:pt idx="7">
                  <c:v>40974</c:v>
                </c:pt>
                <c:pt idx="8">
                  <c:v>40975</c:v>
                </c:pt>
                <c:pt idx="9">
                  <c:v>40976</c:v>
                </c:pt>
                <c:pt idx="10">
                  <c:v>40977</c:v>
                </c:pt>
                <c:pt idx="11">
                  <c:v>40980</c:v>
                </c:pt>
                <c:pt idx="12">
                  <c:v>40981</c:v>
                </c:pt>
                <c:pt idx="13">
                  <c:v>40982</c:v>
                </c:pt>
                <c:pt idx="14">
                  <c:v>40983</c:v>
                </c:pt>
                <c:pt idx="15">
                  <c:v>40984</c:v>
                </c:pt>
                <c:pt idx="16">
                  <c:v>40987</c:v>
                </c:pt>
                <c:pt idx="17">
                  <c:v>40988</c:v>
                </c:pt>
                <c:pt idx="18">
                  <c:v>40989</c:v>
                </c:pt>
                <c:pt idx="19">
                  <c:v>40990</c:v>
                </c:pt>
                <c:pt idx="20">
                  <c:v>40991</c:v>
                </c:pt>
                <c:pt idx="21">
                  <c:v>40994</c:v>
                </c:pt>
              </c:numCache>
            </c:numRef>
          </c:cat>
          <c:val>
            <c:numRef>
              <c:f>'Project Summary'!$B$34:$W$34</c:f>
              <c:numCache>
                <c:formatCode>General</c:formatCode>
                <c:ptCount val="22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20">
                  <c:v>0</c:v>
                </c:pt>
                <c:pt idx="21">
                  <c:v>0</c:v>
                </c:pt>
              </c:numCache>
            </c:numRef>
          </c:val>
        </c:ser>
        <c:ser>
          <c:idx val="14"/>
          <c:order val="14"/>
          <c:tx>
            <c:strRef>
              <c:f>'Project Summary'!$A$35</c:f>
              <c:strCache>
                <c:ptCount val="1"/>
                <c:pt idx="0">
                  <c:v>Total Assumptions not yet validated</c:v>
                </c:pt>
              </c:strCache>
            </c:strRef>
          </c:tx>
          <c:cat>
            <c:numRef>
              <c:f>'Project Summary'!$B$20:$W$20</c:f>
              <c:numCache>
                <c:formatCode>dd\-mmm</c:formatCode>
                <c:ptCount val="22"/>
                <c:pt idx="0">
                  <c:v>40952</c:v>
                </c:pt>
                <c:pt idx="1">
                  <c:v>40955</c:v>
                </c:pt>
                <c:pt idx="2">
                  <c:v>40959</c:v>
                </c:pt>
                <c:pt idx="3">
                  <c:v>40962</c:v>
                </c:pt>
                <c:pt idx="4">
                  <c:v>40966</c:v>
                </c:pt>
                <c:pt idx="5">
                  <c:v>40969</c:v>
                </c:pt>
                <c:pt idx="6">
                  <c:v>40973</c:v>
                </c:pt>
                <c:pt idx="7">
                  <c:v>40974</c:v>
                </c:pt>
                <c:pt idx="8">
                  <c:v>40975</c:v>
                </c:pt>
                <c:pt idx="9">
                  <c:v>40976</c:v>
                </c:pt>
                <c:pt idx="10">
                  <c:v>40977</c:v>
                </c:pt>
                <c:pt idx="11">
                  <c:v>40980</c:v>
                </c:pt>
                <c:pt idx="12">
                  <c:v>40981</c:v>
                </c:pt>
                <c:pt idx="13">
                  <c:v>40982</c:v>
                </c:pt>
                <c:pt idx="14">
                  <c:v>40983</c:v>
                </c:pt>
                <c:pt idx="15">
                  <c:v>40984</c:v>
                </c:pt>
                <c:pt idx="16">
                  <c:v>40987</c:v>
                </c:pt>
                <c:pt idx="17">
                  <c:v>40988</c:v>
                </c:pt>
                <c:pt idx="18">
                  <c:v>40989</c:v>
                </c:pt>
                <c:pt idx="19">
                  <c:v>40990</c:v>
                </c:pt>
                <c:pt idx="20">
                  <c:v>40991</c:v>
                </c:pt>
                <c:pt idx="21">
                  <c:v>40994</c:v>
                </c:pt>
              </c:numCache>
            </c:numRef>
          </c:cat>
          <c:val>
            <c:numRef>
              <c:f>'Project Summary'!$B$35:$W$35</c:f>
              <c:numCache>
                <c:formatCode>General</c:formatCode>
                <c:ptCount val="22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20">
                  <c:v>0</c:v>
                </c:pt>
                <c:pt idx="21">
                  <c:v>0</c:v>
                </c:pt>
              </c:numCache>
            </c:numRef>
          </c:val>
        </c:ser>
        <c:ser>
          <c:idx val="15"/>
          <c:order val="15"/>
          <c:tx>
            <c:strRef>
              <c:f>'Project Summary'!$A$36</c:f>
              <c:strCache>
                <c:ptCount val="1"/>
                <c:pt idx="0">
                  <c:v>Total Pending Decisions</c:v>
                </c:pt>
              </c:strCache>
            </c:strRef>
          </c:tx>
          <c:cat>
            <c:numRef>
              <c:f>'Project Summary'!$B$20:$W$20</c:f>
              <c:numCache>
                <c:formatCode>dd\-mmm</c:formatCode>
                <c:ptCount val="22"/>
                <c:pt idx="0">
                  <c:v>40952</c:v>
                </c:pt>
                <c:pt idx="1">
                  <c:v>40955</c:v>
                </c:pt>
                <c:pt idx="2">
                  <c:v>40959</c:v>
                </c:pt>
                <c:pt idx="3">
                  <c:v>40962</c:v>
                </c:pt>
                <c:pt idx="4">
                  <c:v>40966</c:v>
                </c:pt>
                <c:pt idx="5">
                  <c:v>40969</c:v>
                </c:pt>
                <c:pt idx="6">
                  <c:v>40973</c:v>
                </c:pt>
                <c:pt idx="7">
                  <c:v>40974</c:v>
                </c:pt>
                <c:pt idx="8">
                  <c:v>40975</c:v>
                </c:pt>
                <c:pt idx="9">
                  <c:v>40976</c:v>
                </c:pt>
                <c:pt idx="10">
                  <c:v>40977</c:v>
                </c:pt>
                <c:pt idx="11">
                  <c:v>40980</c:v>
                </c:pt>
                <c:pt idx="12">
                  <c:v>40981</c:v>
                </c:pt>
                <c:pt idx="13">
                  <c:v>40982</c:v>
                </c:pt>
                <c:pt idx="14">
                  <c:v>40983</c:v>
                </c:pt>
                <c:pt idx="15">
                  <c:v>40984</c:v>
                </c:pt>
                <c:pt idx="16">
                  <c:v>40987</c:v>
                </c:pt>
                <c:pt idx="17">
                  <c:v>40988</c:v>
                </c:pt>
                <c:pt idx="18">
                  <c:v>40989</c:v>
                </c:pt>
                <c:pt idx="19">
                  <c:v>40990</c:v>
                </c:pt>
                <c:pt idx="20">
                  <c:v>40991</c:v>
                </c:pt>
                <c:pt idx="21">
                  <c:v>40994</c:v>
                </c:pt>
              </c:numCache>
            </c:numRef>
          </c:cat>
          <c:val>
            <c:numRef>
              <c:f>'Project Summary'!$B$36:$W$36</c:f>
              <c:numCache>
                <c:formatCode>General</c:formatCode>
                <c:ptCount val="22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20">
                  <c:v>0</c:v>
                </c:pt>
                <c:pt idx="21">
                  <c:v>0</c:v>
                </c:pt>
              </c:numCache>
            </c:numRef>
          </c:val>
        </c:ser>
        <c:marker val="1"/>
        <c:axId val="197842432"/>
        <c:axId val="198468352"/>
      </c:lineChart>
      <c:dateAx>
        <c:axId val="197842432"/>
        <c:scaling>
          <c:orientation val="minMax"/>
        </c:scaling>
        <c:axPos val="b"/>
        <c:numFmt formatCode="dd\-mmm" sourceLinked="1"/>
        <c:majorTickMark val="none"/>
        <c:tickLblPos val="nextTo"/>
        <c:txPr>
          <a:bodyPr/>
          <a:lstStyle/>
          <a:p>
            <a:pPr>
              <a:defRPr sz="700"/>
            </a:pPr>
            <a:endParaRPr lang="en-US"/>
          </a:p>
        </c:txPr>
        <c:crossAx val="198468352"/>
        <c:crosses val="autoZero"/>
        <c:auto val="1"/>
        <c:lblOffset val="100"/>
        <c:baseTimeUnit val="days"/>
        <c:majorUnit val="3"/>
        <c:majorTimeUnit val="days"/>
      </c:dateAx>
      <c:valAx>
        <c:axId val="198468352"/>
        <c:scaling>
          <c:orientation val="minMax"/>
        </c:scaling>
        <c:axPos val="l"/>
        <c:majorGridlines/>
        <c:numFmt formatCode="General" sourceLinked="1"/>
        <c:majorTickMark val="none"/>
        <c:tickLblPos val="nextTo"/>
        <c:txPr>
          <a:bodyPr/>
          <a:lstStyle/>
          <a:p>
            <a:pPr>
              <a:defRPr sz="700"/>
            </a:pPr>
            <a:endParaRPr lang="en-US"/>
          </a:p>
        </c:txPr>
        <c:crossAx val="197842432"/>
        <c:crosses val="autoZero"/>
        <c:crossBetween val="between"/>
      </c:valAx>
    </c:plotArea>
    <c:legend>
      <c:legendPos val="r"/>
      <c:layout/>
      <c:txPr>
        <a:bodyPr/>
        <a:lstStyle/>
        <a:p>
          <a:pPr>
            <a:defRPr sz="650"/>
          </a:pPr>
          <a:endParaRPr lang="en-US"/>
        </a:p>
      </c:txPr>
    </c:legend>
    <c:plotVisOnly val="1"/>
    <c:dispBlanksAs val="gap"/>
  </c:chart>
  <c:externalData r:id="rId1"/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GB"/>
  <c:chart>
    <c:title>
      <c:tx>
        <c:rich>
          <a:bodyPr/>
          <a:lstStyle/>
          <a:p>
            <a:pPr>
              <a:defRPr sz="800"/>
            </a:pPr>
            <a:r>
              <a:rPr lang="en-US" sz="800"/>
              <a:t>SharePoint</a:t>
            </a:r>
          </a:p>
        </c:rich>
      </c:tx>
      <c:layout/>
    </c:title>
    <c:plotArea>
      <c:layout/>
      <c:lineChart>
        <c:grouping val="standard"/>
        <c:ser>
          <c:idx val="0"/>
          <c:order val="0"/>
          <c:tx>
            <c:strRef>
              <c:f>'Project Summary'!$A$59</c:f>
              <c:strCache>
                <c:ptCount val="1"/>
                <c:pt idx="0">
                  <c:v>Total Open Risks</c:v>
                </c:pt>
              </c:strCache>
            </c:strRef>
          </c:tx>
          <c:cat>
            <c:numRef>
              <c:f>'Project Summary'!$B$58:$W$58</c:f>
              <c:numCache>
                <c:formatCode>[$-409]d\-mmm;@</c:formatCode>
                <c:ptCount val="22"/>
                <c:pt idx="0">
                  <c:v>40952</c:v>
                </c:pt>
                <c:pt idx="1">
                  <c:v>40955</c:v>
                </c:pt>
                <c:pt idx="2">
                  <c:v>40959</c:v>
                </c:pt>
                <c:pt idx="3">
                  <c:v>40962</c:v>
                </c:pt>
                <c:pt idx="4">
                  <c:v>40966</c:v>
                </c:pt>
                <c:pt idx="5">
                  <c:v>40969</c:v>
                </c:pt>
                <c:pt idx="6">
                  <c:v>40973</c:v>
                </c:pt>
                <c:pt idx="7">
                  <c:v>40974</c:v>
                </c:pt>
                <c:pt idx="8">
                  <c:v>40975</c:v>
                </c:pt>
                <c:pt idx="9">
                  <c:v>40976</c:v>
                </c:pt>
                <c:pt idx="10">
                  <c:v>40977</c:v>
                </c:pt>
                <c:pt idx="11">
                  <c:v>40980</c:v>
                </c:pt>
                <c:pt idx="12">
                  <c:v>40981</c:v>
                </c:pt>
                <c:pt idx="13">
                  <c:v>40982</c:v>
                </c:pt>
                <c:pt idx="14">
                  <c:v>40983</c:v>
                </c:pt>
                <c:pt idx="15">
                  <c:v>40984</c:v>
                </c:pt>
                <c:pt idx="16">
                  <c:v>40987</c:v>
                </c:pt>
                <c:pt idx="17" formatCode="dd\-mmm">
                  <c:v>40988</c:v>
                </c:pt>
                <c:pt idx="18" formatCode="dd\-mmm">
                  <c:v>40989</c:v>
                </c:pt>
                <c:pt idx="19" formatCode="dd\-mmm">
                  <c:v>40990</c:v>
                </c:pt>
                <c:pt idx="20" formatCode="dd\-mmm">
                  <c:v>40991</c:v>
                </c:pt>
                <c:pt idx="21" formatCode="dd\-mmm">
                  <c:v>40994</c:v>
                </c:pt>
              </c:numCache>
            </c:numRef>
          </c:cat>
          <c:val>
            <c:numRef>
              <c:f>'Project Summary'!$B$59:$W$59</c:f>
              <c:numCache>
                <c:formatCode>General</c:formatCode>
                <c:ptCount val="22"/>
                <c:pt idx="0">
                  <c:v>6</c:v>
                </c:pt>
                <c:pt idx="1">
                  <c:v>6</c:v>
                </c:pt>
                <c:pt idx="2">
                  <c:v>6</c:v>
                </c:pt>
                <c:pt idx="3">
                  <c:v>4</c:v>
                </c:pt>
                <c:pt idx="4">
                  <c:v>4</c:v>
                </c:pt>
                <c:pt idx="5">
                  <c:v>4</c:v>
                </c:pt>
                <c:pt idx="6">
                  <c:v>4</c:v>
                </c:pt>
                <c:pt idx="7">
                  <c:v>13</c:v>
                </c:pt>
                <c:pt idx="8">
                  <c:v>13</c:v>
                </c:pt>
                <c:pt idx="9">
                  <c:v>12</c:v>
                </c:pt>
                <c:pt idx="10">
                  <c:v>7</c:v>
                </c:pt>
                <c:pt idx="11">
                  <c:v>5</c:v>
                </c:pt>
                <c:pt idx="12">
                  <c:v>4</c:v>
                </c:pt>
                <c:pt idx="13">
                  <c:v>5</c:v>
                </c:pt>
                <c:pt idx="14">
                  <c:v>5</c:v>
                </c:pt>
                <c:pt idx="15">
                  <c:v>5</c:v>
                </c:pt>
                <c:pt idx="16">
                  <c:v>6</c:v>
                </c:pt>
                <c:pt idx="20">
                  <c:v>6</c:v>
                </c:pt>
                <c:pt idx="21">
                  <c:v>6</c:v>
                </c:pt>
              </c:numCache>
            </c:numRef>
          </c:val>
        </c:ser>
        <c:ser>
          <c:idx val="1"/>
          <c:order val="1"/>
          <c:tx>
            <c:strRef>
              <c:f>'Project Summary'!$A$60</c:f>
              <c:strCache>
                <c:ptCount val="1"/>
                <c:pt idx="0">
                  <c:v>Total Open High or Critical Risks</c:v>
                </c:pt>
              </c:strCache>
            </c:strRef>
          </c:tx>
          <c:cat>
            <c:numRef>
              <c:f>'Project Summary'!$B$58:$W$58</c:f>
              <c:numCache>
                <c:formatCode>[$-409]d\-mmm;@</c:formatCode>
                <c:ptCount val="22"/>
                <c:pt idx="0">
                  <c:v>40952</c:v>
                </c:pt>
                <c:pt idx="1">
                  <c:v>40955</c:v>
                </c:pt>
                <c:pt idx="2">
                  <c:v>40959</c:v>
                </c:pt>
                <c:pt idx="3">
                  <c:v>40962</c:v>
                </c:pt>
                <c:pt idx="4">
                  <c:v>40966</c:v>
                </c:pt>
                <c:pt idx="5">
                  <c:v>40969</c:v>
                </c:pt>
                <c:pt idx="6">
                  <c:v>40973</c:v>
                </c:pt>
                <c:pt idx="7">
                  <c:v>40974</c:v>
                </c:pt>
                <c:pt idx="8">
                  <c:v>40975</c:v>
                </c:pt>
                <c:pt idx="9">
                  <c:v>40976</c:v>
                </c:pt>
                <c:pt idx="10">
                  <c:v>40977</c:v>
                </c:pt>
                <c:pt idx="11">
                  <c:v>40980</c:v>
                </c:pt>
                <c:pt idx="12">
                  <c:v>40981</c:v>
                </c:pt>
                <c:pt idx="13">
                  <c:v>40982</c:v>
                </c:pt>
                <c:pt idx="14">
                  <c:v>40983</c:v>
                </c:pt>
                <c:pt idx="15">
                  <c:v>40984</c:v>
                </c:pt>
                <c:pt idx="16">
                  <c:v>40987</c:v>
                </c:pt>
                <c:pt idx="17" formatCode="dd\-mmm">
                  <c:v>40988</c:v>
                </c:pt>
                <c:pt idx="18" formatCode="dd\-mmm">
                  <c:v>40989</c:v>
                </c:pt>
                <c:pt idx="19" formatCode="dd\-mmm">
                  <c:v>40990</c:v>
                </c:pt>
                <c:pt idx="20" formatCode="dd\-mmm">
                  <c:v>40991</c:v>
                </c:pt>
                <c:pt idx="21" formatCode="dd\-mmm">
                  <c:v>40994</c:v>
                </c:pt>
              </c:numCache>
            </c:numRef>
          </c:cat>
          <c:val>
            <c:numRef>
              <c:f>'Project Summary'!$B$60:$W$60</c:f>
              <c:numCache>
                <c:formatCode>General</c:formatCode>
                <c:ptCount val="22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2</c:v>
                </c:pt>
                <c:pt idx="4">
                  <c:v>2</c:v>
                </c:pt>
                <c:pt idx="5">
                  <c:v>2</c:v>
                </c:pt>
                <c:pt idx="6">
                  <c:v>2</c:v>
                </c:pt>
                <c:pt idx="7">
                  <c:v>4</c:v>
                </c:pt>
                <c:pt idx="8">
                  <c:v>4</c:v>
                </c:pt>
                <c:pt idx="9">
                  <c:v>3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20">
                  <c:v>0</c:v>
                </c:pt>
                <c:pt idx="21">
                  <c:v>0</c:v>
                </c:pt>
              </c:numCache>
            </c:numRef>
          </c:val>
        </c:ser>
        <c:ser>
          <c:idx val="2"/>
          <c:order val="2"/>
          <c:tx>
            <c:strRef>
              <c:f>'Project Summary'!$A$61</c:f>
              <c:strCache>
                <c:ptCount val="1"/>
                <c:pt idx="0">
                  <c:v>Risks: Missed Required Resolution Date</c:v>
                </c:pt>
              </c:strCache>
            </c:strRef>
          </c:tx>
          <c:cat>
            <c:numRef>
              <c:f>'Project Summary'!$B$58:$W$58</c:f>
              <c:numCache>
                <c:formatCode>[$-409]d\-mmm;@</c:formatCode>
                <c:ptCount val="22"/>
                <c:pt idx="0">
                  <c:v>40952</c:v>
                </c:pt>
                <c:pt idx="1">
                  <c:v>40955</c:v>
                </c:pt>
                <c:pt idx="2">
                  <c:v>40959</c:v>
                </c:pt>
                <c:pt idx="3">
                  <c:v>40962</c:v>
                </c:pt>
                <c:pt idx="4">
                  <c:v>40966</c:v>
                </c:pt>
                <c:pt idx="5">
                  <c:v>40969</c:v>
                </c:pt>
                <c:pt idx="6">
                  <c:v>40973</c:v>
                </c:pt>
                <c:pt idx="7">
                  <c:v>40974</c:v>
                </c:pt>
                <c:pt idx="8">
                  <c:v>40975</c:v>
                </c:pt>
                <c:pt idx="9">
                  <c:v>40976</c:v>
                </c:pt>
                <c:pt idx="10">
                  <c:v>40977</c:v>
                </c:pt>
                <c:pt idx="11">
                  <c:v>40980</c:v>
                </c:pt>
                <c:pt idx="12">
                  <c:v>40981</c:v>
                </c:pt>
                <c:pt idx="13">
                  <c:v>40982</c:v>
                </c:pt>
                <c:pt idx="14">
                  <c:v>40983</c:v>
                </c:pt>
                <c:pt idx="15">
                  <c:v>40984</c:v>
                </c:pt>
                <c:pt idx="16">
                  <c:v>40987</c:v>
                </c:pt>
                <c:pt idx="17" formatCode="dd\-mmm">
                  <c:v>40988</c:v>
                </c:pt>
                <c:pt idx="18" formatCode="dd\-mmm">
                  <c:v>40989</c:v>
                </c:pt>
                <c:pt idx="19" formatCode="dd\-mmm">
                  <c:v>40990</c:v>
                </c:pt>
                <c:pt idx="20" formatCode="dd\-mmm">
                  <c:v>40991</c:v>
                </c:pt>
                <c:pt idx="21" formatCode="dd\-mmm">
                  <c:v>40994</c:v>
                </c:pt>
              </c:numCache>
            </c:numRef>
          </c:cat>
          <c:val>
            <c:numRef>
              <c:f>'Project Summary'!$B$61:$W$61</c:f>
              <c:numCache>
                <c:formatCode>General</c:formatCode>
                <c:ptCount val="22"/>
                <c:pt idx="0">
                  <c:v>2</c:v>
                </c:pt>
                <c:pt idx="1">
                  <c:v>2</c:v>
                </c:pt>
                <c:pt idx="2">
                  <c:v>2</c:v>
                </c:pt>
                <c:pt idx="3">
                  <c:v>1</c:v>
                </c:pt>
                <c:pt idx="4">
                  <c:v>1</c:v>
                </c:pt>
                <c:pt idx="5">
                  <c:v>1</c:v>
                </c:pt>
                <c:pt idx="6">
                  <c:v>1</c:v>
                </c:pt>
                <c:pt idx="7">
                  <c:v>1</c:v>
                </c:pt>
                <c:pt idx="8">
                  <c:v>1</c:v>
                </c:pt>
                <c:pt idx="9">
                  <c:v>1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20">
                  <c:v>0</c:v>
                </c:pt>
                <c:pt idx="21">
                  <c:v>0</c:v>
                </c:pt>
              </c:numCache>
            </c:numRef>
          </c:val>
        </c:ser>
        <c:ser>
          <c:idx val="3"/>
          <c:order val="3"/>
          <c:tx>
            <c:strRef>
              <c:f>'Project Summary'!$A$62</c:f>
              <c:strCache>
                <c:ptCount val="1"/>
                <c:pt idx="0">
                  <c:v>Risks with no Required Resolution Date</c:v>
                </c:pt>
              </c:strCache>
            </c:strRef>
          </c:tx>
          <c:cat>
            <c:numRef>
              <c:f>'Project Summary'!$B$58:$W$58</c:f>
              <c:numCache>
                <c:formatCode>[$-409]d\-mmm;@</c:formatCode>
                <c:ptCount val="22"/>
                <c:pt idx="0">
                  <c:v>40952</c:v>
                </c:pt>
                <c:pt idx="1">
                  <c:v>40955</c:v>
                </c:pt>
                <c:pt idx="2">
                  <c:v>40959</c:v>
                </c:pt>
                <c:pt idx="3">
                  <c:v>40962</c:v>
                </c:pt>
                <c:pt idx="4">
                  <c:v>40966</c:v>
                </c:pt>
                <c:pt idx="5">
                  <c:v>40969</c:v>
                </c:pt>
                <c:pt idx="6">
                  <c:v>40973</c:v>
                </c:pt>
                <c:pt idx="7">
                  <c:v>40974</c:v>
                </c:pt>
                <c:pt idx="8">
                  <c:v>40975</c:v>
                </c:pt>
                <c:pt idx="9">
                  <c:v>40976</c:v>
                </c:pt>
                <c:pt idx="10">
                  <c:v>40977</c:v>
                </c:pt>
                <c:pt idx="11">
                  <c:v>40980</c:v>
                </c:pt>
                <c:pt idx="12">
                  <c:v>40981</c:v>
                </c:pt>
                <c:pt idx="13">
                  <c:v>40982</c:v>
                </c:pt>
                <c:pt idx="14">
                  <c:v>40983</c:v>
                </c:pt>
                <c:pt idx="15">
                  <c:v>40984</c:v>
                </c:pt>
                <c:pt idx="16">
                  <c:v>40987</c:v>
                </c:pt>
                <c:pt idx="17" formatCode="dd\-mmm">
                  <c:v>40988</c:v>
                </c:pt>
                <c:pt idx="18" formatCode="dd\-mmm">
                  <c:v>40989</c:v>
                </c:pt>
                <c:pt idx="19" formatCode="dd\-mmm">
                  <c:v>40990</c:v>
                </c:pt>
                <c:pt idx="20" formatCode="dd\-mmm">
                  <c:v>40991</c:v>
                </c:pt>
                <c:pt idx="21" formatCode="dd\-mmm">
                  <c:v>40994</c:v>
                </c:pt>
              </c:numCache>
            </c:numRef>
          </c:cat>
          <c:val>
            <c:numRef>
              <c:f>'Project Summary'!$B$62:$W$62</c:f>
              <c:numCache>
                <c:formatCode>General</c:formatCode>
                <c:ptCount val="22"/>
                <c:pt idx="0">
                  <c:v>3</c:v>
                </c:pt>
                <c:pt idx="1">
                  <c:v>3</c:v>
                </c:pt>
                <c:pt idx="2">
                  <c:v>3</c:v>
                </c:pt>
                <c:pt idx="3">
                  <c:v>3</c:v>
                </c:pt>
                <c:pt idx="4">
                  <c:v>3</c:v>
                </c:pt>
                <c:pt idx="5">
                  <c:v>3</c:v>
                </c:pt>
                <c:pt idx="6">
                  <c:v>3</c:v>
                </c:pt>
                <c:pt idx="7">
                  <c:v>1</c:v>
                </c:pt>
                <c:pt idx="8">
                  <c:v>1</c:v>
                </c:pt>
                <c:pt idx="9">
                  <c:v>1</c:v>
                </c:pt>
                <c:pt idx="10">
                  <c:v>1</c:v>
                </c:pt>
                <c:pt idx="11">
                  <c:v>1</c:v>
                </c:pt>
                <c:pt idx="12">
                  <c:v>1</c:v>
                </c:pt>
                <c:pt idx="13">
                  <c:v>1</c:v>
                </c:pt>
                <c:pt idx="14">
                  <c:v>1</c:v>
                </c:pt>
                <c:pt idx="15">
                  <c:v>1</c:v>
                </c:pt>
                <c:pt idx="16">
                  <c:v>2</c:v>
                </c:pt>
                <c:pt idx="20">
                  <c:v>2</c:v>
                </c:pt>
                <c:pt idx="21">
                  <c:v>2</c:v>
                </c:pt>
              </c:numCache>
            </c:numRef>
          </c:val>
        </c:ser>
        <c:ser>
          <c:idx val="7"/>
          <c:order val="4"/>
          <c:tx>
            <c:strRef>
              <c:f>'Project Summary'!$A$63</c:f>
              <c:strCache>
                <c:ptCount val="1"/>
                <c:pt idx="0">
                  <c:v>Risks open 1-3 months</c:v>
                </c:pt>
              </c:strCache>
            </c:strRef>
          </c:tx>
          <c:cat>
            <c:numRef>
              <c:f>'Project Summary'!$B$58:$W$58</c:f>
              <c:numCache>
                <c:formatCode>[$-409]d\-mmm;@</c:formatCode>
                <c:ptCount val="22"/>
                <c:pt idx="0">
                  <c:v>40952</c:v>
                </c:pt>
                <c:pt idx="1">
                  <c:v>40955</c:v>
                </c:pt>
                <c:pt idx="2">
                  <c:v>40959</c:v>
                </c:pt>
                <c:pt idx="3">
                  <c:v>40962</c:v>
                </c:pt>
                <c:pt idx="4">
                  <c:v>40966</c:v>
                </c:pt>
                <c:pt idx="5">
                  <c:v>40969</c:v>
                </c:pt>
                <c:pt idx="6">
                  <c:v>40973</c:v>
                </c:pt>
                <c:pt idx="7">
                  <c:v>40974</c:v>
                </c:pt>
                <c:pt idx="8">
                  <c:v>40975</c:v>
                </c:pt>
                <c:pt idx="9">
                  <c:v>40976</c:v>
                </c:pt>
                <c:pt idx="10">
                  <c:v>40977</c:v>
                </c:pt>
                <c:pt idx="11">
                  <c:v>40980</c:v>
                </c:pt>
                <c:pt idx="12">
                  <c:v>40981</c:v>
                </c:pt>
                <c:pt idx="13">
                  <c:v>40982</c:v>
                </c:pt>
                <c:pt idx="14">
                  <c:v>40983</c:v>
                </c:pt>
                <c:pt idx="15">
                  <c:v>40984</c:v>
                </c:pt>
                <c:pt idx="16">
                  <c:v>40987</c:v>
                </c:pt>
                <c:pt idx="17" formatCode="dd\-mmm">
                  <c:v>40988</c:v>
                </c:pt>
                <c:pt idx="18" formatCode="dd\-mmm">
                  <c:v>40989</c:v>
                </c:pt>
                <c:pt idx="19" formatCode="dd\-mmm">
                  <c:v>40990</c:v>
                </c:pt>
                <c:pt idx="20" formatCode="dd\-mmm">
                  <c:v>40991</c:v>
                </c:pt>
                <c:pt idx="21" formatCode="dd\-mmm">
                  <c:v>40994</c:v>
                </c:pt>
              </c:numCache>
            </c:numRef>
          </c:cat>
          <c:val>
            <c:numRef>
              <c:f>'Project Summary'!$B$63:$W$63</c:f>
              <c:numCache>
                <c:formatCode>General</c:formatCode>
                <c:ptCount val="22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  <c:pt idx="4">
                  <c:v>1</c:v>
                </c:pt>
                <c:pt idx="5">
                  <c:v>2</c:v>
                </c:pt>
                <c:pt idx="6">
                  <c:v>1</c:v>
                </c:pt>
                <c:pt idx="7">
                  <c:v>1</c:v>
                </c:pt>
                <c:pt idx="8">
                  <c:v>1</c:v>
                </c:pt>
                <c:pt idx="9">
                  <c:v>1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20">
                  <c:v>0</c:v>
                </c:pt>
                <c:pt idx="21">
                  <c:v>0</c:v>
                </c:pt>
              </c:numCache>
            </c:numRef>
          </c:val>
        </c:ser>
        <c:ser>
          <c:idx val="8"/>
          <c:order val="5"/>
          <c:tx>
            <c:strRef>
              <c:f>'Project Summary'!$A$64</c:f>
              <c:strCache>
                <c:ptCount val="1"/>
                <c:pt idx="0">
                  <c:v>Risks open 3-6 months</c:v>
                </c:pt>
              </c:strCache>
            </c:strRef>
          </c:tx>
          <c:cat>
            <c:numRef>
              <c:f>'Project Summary'!$B$58:$W$58</c:f>
              <c:numCache>
                <c:formatCode>[$-409]d\-mmm;@</c:formatCode>
                <c:ptCount val="22"/>
                <c:pt idx="0">
                  <c:v>40952</c:v>
                </c:pt>
                <c:pt idx="1">
                  <c:v>40955</c:v>
                </c:pt>
                <c:pt idx="2">
                  <c:v>40959</c:v>
                </c:pt>
                <c:pt idx="3">
                  <c:v>40962</c:v>
                </c:pt>
                <c:pt idx="4">
                  <c:v>40966</c:v>
                </c:pt>
                <c:pt idx="5">
                  <c:v>40969</c:v>
                </c:pt>
                <c:pt idx="6">
                  <c:v>40973</c:v>
                </c:pt>
                <c:pt idx="7">
                  <c:v>40974</c:v>
                </c:pt>
                <c:pt idx="8">
                  <c:v>40975</c:v>
                </c:pt>
                <c:pt idx="9">
                  <c:v>40976</c:v>
                </c:pt>
                <c:pt idx="10">
                  <c:v>40977</c:v>
                </c:pt>
                <c:pt idx="11">
                  <c:v>40980</c:v>
                </c:pt>
                <c:pt idx="12">
                  <c:v>40981</c:v>
                </c:pt>
                <c:pt idx="13">
                  <c:v>40982</c:v>
                </c:pt>
                <c:pt idx="14">
                  <c:v>40983</c:v>
                </c:pt>
                <c:pt idx="15">
                  <c:v>40984</c:v>
                </c:pt>
                <c:pt idx="16">
                  <c:v>40987</c:v>
                </c:pt>
                <c:pt idx="17" formatCode="dd\-mmm">
                  <c:v>40988</c:v>
                </c:pt>
                <c:pt idx="18" formatCode="dd\-mmm">
                  <c:v>40989</c:v>
                </c:pt>
                <c:pt idx="19" formatCode="dd\-mmm">
                  <c:v>40990</c:v>
                </c:pt>
                <c:pt idx="20" formatCode="dd\-mmm">
                  <c:v>40991</c:v>
                </c:pt>
                <c:pt idx="21" formatCode="dd\-mmm">
                  <c:v>40994</c:v>
                </c:pt>
              </c:numCache>
            </c:numRef>
          </c:cat>
          <c:val>
            <c:numRef>
              <c:f>'Project Summary'!$B$64:$W$64</c:f>
              <c:numCache>
                <c:formatCode>General</c:formatCode>
                <c:ptCount val="22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  <c:pt idx="4">
                  <c:v>1</c:v>
                </c:pt>
                <c:pt idx="5">
                  <c:v>1</c:v>
                </c:pt>
                <c:pt idx="6">
                  <c:v>2</c:v>
                </c:pt>
                <c:pt idx="7">
                  <c:v>2</c:v>
                </c:pt>
                <c:pt idx="8">
                  <c:v>2</c:v>
                </c:pt>
                <c:pt idx="9">
                  <c:v>2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20">
                  <c:v>0</c:v>
                </c:pt>
                <c:pt idx="21">
                  <c:v>0</c:v>
                </c:pt>
              </c:numCache>
            </c:numRef>
          </c:val>
        </c:ser>
        <c:ser>
          <c:idx val="9"/>
          <c:order val="6"/>
          <c:tx>
            <c:strRef>
              <c:f>'Project Summary'!$A$65</c:f>
              <c:strCache>
                <c:ptCount val="1"/>
                <c:pt idx="0">
                  <c:v>Risks open longer than 6 months</c:v>
                </c:pt>
              </c:strCache>
            </c:strRef>
          </c:tx>
          <c:cat>
            <c:numRef>
              <c:f>'Project Summary'!$B$58:$W$58</c:f>
              <c:numCache>
                <c:formatCode>[$-409]d\-mmm;@</c:formatCode>
                <c:ptCount val="22"/>
                <c:pt idx="0">
                  <c:v>40952</c:v>
                </c:pt>
                <c:pt idx="1">
                  <c:v>40955</c:v>
                </c:pt>
                <c:pt idx="2">
                  <c:v>40959</c:v>
                </c:pt>
                <c:pt idx="3">
                  <c:v>40962</c:v>
                </c:pt>
                <c:pt idx="4">
                  <c:v>40966</c:v>
                </c:pt>
                <c:pt idx="5">
                  <c:v>40969</c:v>
                </c:pt>
                <c:pt idx="6">
                  <c:v>40973</c:v>
                </c:pt>
                <c:pt idx="7">
                  <c:v>40974</c:v>
                </c:pt>
                <c:pt idx="8">
                  <c:v>40975</c:v>
                </c:pt>
                <c:pt idx="9">
                  <c:v>40976</c:v>
                </c:pt>
                <c:pt idx="10">
                  <c:v>40977</c:v>
                </c:pt>
                <c:pt idx="11">
                  <c:v>40980</c:v>
                </c:pt>
                <c:pt idx="12">
                  <c:v>40981</c:v>
                </c:pt>
                <c:pt idx="13">
                  <c:v>40982</c:v>
                </c:pt>
                <c:pt idx="14">
                  <c:v>40983</c:v>
                </c:pt>
                <c:pt idx="15">
                  <c:v>40984</c:v>
                </c:pt>
                <c:pt idx="16">
                  <c:v>40987</c:v>
                </c:pt>
                <c:pt idx="17" formatCode="dd\-mmm">
                  <c:v>40988</c:v>
                </c:pt>
                <c:pt idx="18" formatCode="dd\-mmm">
                  <c:v>40989</c:v>
                </c:pt>
                <c:pt idx="19" formatCode="dd\-mmm">
                  <c:v>40990</c:v>
                </c:pt>
                <c:pt idx="20" formatCode="dd\-mmm">
                  <c:v>40991</c:v>
                </c:pt>
                <c:pt idx="21" formatCode="dd\-mmm">
                  <c:v>40994</c:v>
                </c:pt>
              </c:numCache>
            </c:numRef>
          </c:cat>
          <c:val>
            <c:numRef>
              <c:f>'Project Summary'!$B$65:$W$65</c:f>
              <c:numCache>
                <c:formatCode>General</c:formatCode>
                <c:ptCount val="22"/>
                <c:pt idx="0">
                  <c:v>3</c:v>
                </c:pt>
                <c:pt idx="1">
                  <c:v>3</c:v>
                </c:pt>
                <c:pt idx="2">
                  <c:v>3</c:v>
                </c:pt>
                <c:pt idx="3">
                  <c:v>1</c:v>
                </c:pt>
                <c:pt idx="4">
                  <c:v>1</c:v>
                </c:pt>
                <c:pt idx="5">
                  <c:v>1</c:v>
                </c:pt>
                <c:pt idx="6">
                  <c:v>1</c:v>
                </c:pt>
                <c:pt idx="7">
                  <c:v>1</c:v>
                </c:pt>
                <c:pt idx="8">
                  <c:v>1</c:v>
                </c:pt>
                <c:pt idx="9">
                  <c:v>1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20">
                  <c:v>0</c:v>
                </c:pt>
                <c:pt idx="21">
                  <c:v>0</c:v>
                </c:pt>
              </c:numCache>
            </c:numRef>
          </c:val>
        </c:ser>
        <c:ser>
          <c:idx val="10"/>
          <c:order val="7"/>
          <c:tx>
            <c:strRef>
              <c:f>'Project Summary'!$A$66</c:f>
              <c:strCache>
                <c:ptCount val="1"/>
                <c:pt idx="0">
                  <c:v>Total Open Issues</c:v>
                </c:pt>
              </c:strCache>
            </c:strRef>
          </c:tx>
          <c:cat>
            <c:numRef>
              <c:f>'Project Summary'!$B$58:$W$58</c:f>
              <c:numCache>
                <c:formatCode>[$-409]d\-mmm;@</c:formatCode>
                <c:ptCount val="22"/>
                <c:pt idx="0">
                  <c:v>40952</c:v>
                </c:pt>
                <c:pt idx="1">
                  <c:v>40955</c:v>
                </c:pt>
                <c:pt idx="2">
                  <c:v>40959</c:v>
                </c:pt>
                <c:pt idx="3">
                  <c:v>40962</c:v>
                </c:pt>
                <c:pt idx="4">
                  <c:v>40966</c:v>
                </c:pt>
                <c:pt idx="5">
                  <c:v>40969</c:v>
                </c:pt>
                <c:pt idx="6">
                  <c:v>40973</c:v>
                </c:pt>
                <c:pt idx="7">
                  <c:v>40974</c:v>
                </c:pt>
                <c:pt idx="8">
                  <c:v>40975</c:v>
                </c:pt>
                <c:pt idx="9">
                  <c:v>40976</c:v>
                </c:pt>
                <c:pt idx="10">
                  <c:v>40977</c:v>
                </c:pt>
                <c:pt idx="11">
                  <c:v>40980</c:v>
                </c:pt>
                <c:pt idx="12">
                  <c:v>40981</c:v>
                </c:pt>
                <c:pt idx="13">
                  <c:v>40982</c:v>
                </c:pt>
                <c:pt idx="14">
                  <c:v>40983</c:v>
                </c:pt>
                <c:pt idx="15">
                  <c:v>40984</c:v>
                </c:pt>
                <c:pt idx="16">
                  <c:v>40987</c:v>
                </c:pt>
                <c:pt idx="17" formatCode="dd\-mmm">
                  <c:v>40988</c:v>
                </c:pt>
                <c:pt idx="18" formatCode="dd\-mmm">
                  <c:v>40989</c:v>
                </c:pt>
                <c:pt idx="19" formatCode="dd\-mmm">
                  <c:v>40990</c:v>
                </c:pt>
                <c:pt idx="20" formatCode="dd\-mmm">
                  <c:v>40991</c:v>
                </c:pt>
                <c:pt idx="21" formatCode="dd\-mmm">
                  <c:v>40994</c:v>
                </c:pt>
              </c:numCache>
            </c:numRef>
          </c:cat>
          <c:val>
            <c:numRef>
              <c:f>'Project Summary'!$B$66:$W$66</c:f>
              <c:numCache>
                <c:formatCode>General</c:formatCode>
                <c:ptCount val="22"/>
                <c:pt idx="0">
                  <c:v>12</c:v>
                </c:pt>
                <c:pt idx="1">
                  <c:v>13</c:v>
                </c:pt>
                <c:pt idx="2">
                  <c:v>13</c:v>
                </c:pt>
                <c:pt idx="3">
                  <c:v>18</c:v>
                </c:pt>
                <c:pt idx="4">
                  <c:v>18</c:v>
                </c:pt>
                <c:pt idx="5">
                  <c:v>18</c:v>
                </c:pt>
                <c:pt idx="6">
                  <c:v>18</c:v>
                </c:pt>
                <c:pt idx="7">
                  <c:v>26</c:v>
                </c:pt>
                <c:pt idx="8">
                  <c:v>26</c:v>
                </c:pt>
                <c:pt idx="9">
                  <c:v>27</c:v>
                </c:pt>
                <c:pt idx="10">
                  <c:v>14</c:v>
                </c:pt>
                <c:pt idx="11">
                  <c:v>15</c:v>
                </c:pt>
                <c:pt idx="12">
                  <c:v>13</c:v>
                </c:pt>
                <c:pt idx="13">
                  <c:v>11</c:v>
                </c:pt>
                <c:pt idx="14">
                  <c:v>9</c:v>
                </c:pt>
                <c:pt idx="15">
                  <c:v>8</c:v>
                </c:pt>
                <c:pt idx="16">
                  <c:v>6</c:v>
                </c:pt>
                <c:pt idx="20">
                  <c:v>6</c:v>
                </c:pt>
                <c:pt idx="21">
                  <c:v>6</c:v>
                </c:pt>
              </c:numCache>
            </c:numRef>
          </c:val>
        </c:ser>
        <c:ser>
          <c:idx val="4"/>
          <c:order val="8"/>
          <c:tx>
            <c:strRef>
              <c:f>'Project Summary'!$A$67</c:f>
              <c:strCache>
                <c:ptCount val="1"/>
                <c:pt idx="0">
                  <c:v>Total Open High or Critical Issues</c:v>
                </c:pt>
              </c:strCache>
            </c:strRef>
          </c:tx>
          <c:cat>
            <c:numRef>
              <c:f>'Project Summary'!$B$58:$W$58</c:f>
              <c:numCache>
                <c:formatCode>[$-409]d\-mmm;@</c:formatCode>
                <c:ptCount val="22"/>
                <c:pt idx="0">
                  <c:v>40952</c:v>
                </c:pt>
                <c:pt idx="1">
                  <c:v>40955</c:v>
                </c:pt>
                <c:pt idx="2">
                  <c:v>40959</c:v>
                </c:pt>
                <c:pt idx="3">
                  <c:v>40962</c:v>
                </c:pt>
                <c:pt idx="4">
                  <c:v>40966</c:v>
                </c:pt>
                <c:pt idx="5">
                  <c:v>40969</c:v>
                </c:pt>
                <c:pt idx="6">
                  <c:v>40973</c:v>
                </c:pt>
                <c:pt idx="7">
                  <c:v>40974</c:v>
                </c:pt>
                <c:pt idx="8">
                  <c:v>40975</c:v>
                </c:pt>
                <c:pt idx="9">
                  <c:v>40976</c:v>
                </c:pt>
                <c:pt idx="10">
                  <c:v>40977</c:v>
                </c:pt>
                <c:pt idx="11">
                  <c:v>40980</c:v>
                </c:pt>
                <c:pt idx="12">
                  <c:v>40981</c:v>
                </c:pt>
                <c:pt idx="13">
                  <c:v>40982</c:v>
                </c:pt>
                <c:pt idx="14">
                  <c:v>40983</c:v>
                </c:pt>
                <c:pt idx="15">
                  <c:v>40984</c:v>
                </c:pt>
                <c:pt idx="16">
                  <c:v>40987</c:v>
                </c:pt>
                <c:pt idx="17" formatCode="dd\-mmm">
                  <c:v>40988</c:v>
                </c:pt>
                <c:pt idx="18" formatCode="dd\-mmm">
                  <c:v>40989</c:v>
                </c:pt>
                <c:pt idx="19" formatCode="dd\-mmm">
                  <c:v>40990</c:v>
                </c:pt>
                <c:pt idx="20" formatCode="dd\-mmm">
                  <c:v>40991</c:v>
                </c:pt>
                <c:pt idx="21" formatCode="dd\-mmm">
                  <c:v>40994</c:v>
                </c:pt>
              </c:numCache>
            </c:numRef>
          </c:cat>
          <c:val>
            <c:numRef>
              <c:f>'Project Summary'!$B$67:$W$67</c:f>
              <c:numCache>
                <c:formatCode>General</c:formatCode>
                <c:ptCount val="22"/>
                <c:pt idx="0">
                  <c:v>5</c:v>
                </c:pt>
                <c:pt idx="1">
                  <c:v>6</c:v>
                </c:pt>
                <c:pt idx="2">
                  <c:v>6</c:v>
                </c:pt>
                <c:pt idx="3">
                  <c:v>11</c:v>
                </c:pt>
                <c:pt idx="4">
                  <c:v>11</c:v>
                </c:pt>
                <c:pt idx="5">
                  <c:v>12</c:v>
                </c:pt>
                <c:pt idx="6">
                  <c:v>12</c:v>
                </c:pt>
                <c:pt idx="7">
                  <c:v>18</c:v>
                </c:pt>
                <c:pt idx="8">
                  <c:v>18</c:v>
                </c:pt>
                <c:pt idx="9">
                  <c:v>20</c:v>
                </c:pt>
                <c:pt idx="10">
                  <c:v>9</c:v>
                </c:pt>
                <c:pt idx="11">
                  <c:v>11</c:v>
                </c:pt>
                <c:pt idx="12">
                  <c:v>11</c:v>
                </c:pt>
                <c:pt idx="13">
                  <c:v>9</c:v>
                </c:pt>
                <c:pt idx="14">
                  <c:v>7</c:v>
                </c:pt>
                <c:pt idx="15">
                  <c:v>6</c:v>
                </c:pt>
                <c:pt idx="16">
                  <c:v>4</c:v>
                </c:pt>
                <c:pt idx="20">
                  <c:v>4</c:v>
                </c:pt>
                <c:pt idx="21">
                  <c:v>4</c:v>
                </c:pt>
              </c:numCache>
            </c:numRef>
          </c:val>
        </c:ser>
        <c:ser>
          <c:idx val="5"/>
          <c:order val="9"/>
          <c:tx>
            <c:strRef>
              <c:f>'Project Summary'!$A$68</c:f>
              <c:strCache>
                <c:ptCount val="1"/>
                <c:pt idx="0">
                  <c:v>Issues: Missed Required Resolution Date</c:v>
                </c:pt>
              </c:strCache>
            </c:strRef>
          </c:tx>
          <c:cat>
            <c:numRef>
              <c:f>'Project Summary'!$B$58:$W$58</c:f>
              <c:numCache>
                <c:formatCode>[$-409]d\-mmm;@</c:formatCode>
                <c:ptCount val="22"/>
                <c:pt idx="0">
                  <c:v>40952</c:v>
                </c:pt>
                <c:pt idx="1">
                  <c:v>40955</c:v>
                </c:pt>
                <c:pt idx="2">
                  <c:v>40959</c:v>
                </c:pt>
                <c:pt idx="3">
                  <c:v>40962</c:v>
                </c:pt>
                <c:pt idx="4">
                  <c:v>40966</c:v>
                </c:pt>
                <c:pt idx="5">
                  <c:v>40969</c:v>
                </c:pt>
                <c:pt idx="6">
                  <c:v>40973</c:v>
                </c:pt>
                <c:pt idx="7">
                  <c:v>40974</c:v>
                </c:pt>
                <c:pt idx="8">
                  <c:v>40975</c:v>
                </c:pt>
                <c:pt idx="9">
                  <c:v>40976</c:v>
                </c:pt>
                <c:pt idx="10">
                  <c:v>40977</c:v>
                </c:pt>
                <c:pt idx="11">
                  <c:v>40980</c:v>
                </c:pt>
                <c:pt idx="12">
                  <c:v>40981</c:v>
                </c:pt>
                <c:pt idx="13">
                  <c:v>40982</c:v>
                </c:pt>
                <c:pt idx="14">
                  <c:v>40983</c:v>
                </c:pt>
                <c:pt idx="15">
                  <c:v>40984</c:v>
                </c:pt>
                <c:pt idx="16">
                  <c:v>40987</c:v>
                </c:pt>
                <c:pt idx="17" formatCode="dd\-mmm">
                  <c:v>40988</c:v>
                </c:pt>
                <c:pt idx="18" formatCode="dd\-mmm">
                  <c:v>40989</c:v>
                </c:pt>
                <c:pt idx="19" formatCode="dd\-mmm">
                  <c:v>40990</c:v>
                </c:pt>
                <c:pt idx="20" formatCode="dd\-mmm">
                  <c:v>40991</c:v>
                </c:pt>
                <c:pt idx="21" formatCode="dd\-mmm">
                  <c:v>40994</c:v>
                </c:pt>
              </c:numCache>
            </c:numRef>
          </c:cat>
          <c:val>
            <c:numRef>
              <c:f>'Project Summary'!$B$68:$W$68</c:f>
              <c:numCache>
                <c:formatCode>General</c:formatCode>
                <c:ptCount val="22"/>
                <c:pt idx="0">
                  <c:v>2</c:v>
                </c:pt>
                <c:pt idx="1">
                  <c:v>3</c:v>
                </c:pt>
                <c:pt idx="2">
                  <c:v>3</c:v>
                </c:pt>
                <c:pt idx="3">
                  <c:v>4</c:v>
                </c:pt>
                <c:pt idx="4">
                  <c:v>4</c:v>
                </c:pt>
                <c:pt idx="5">
                  <c:v>7</c:v>
                </c:pt>
                <c:pt idx="6">
                  <c:v>8</c:v>
                </c:pt>
                <c:pt idx="7">
                  <c:v>8</c:v>
                </c:pt>
                <c:pt idx="8">
                  <c:v>8</c:v>
                </c:pt>
                <c:pt idx="9">
                  <c:v>9</c:v>
                </c:pt>
                <c:pt idx="10">
                  <c:v>6</c:v>
                </c:pt>
                <c:pt idx="11">
                  <c:v>3</c:v>
                </c:pt>
                <c:pt idx="12">
                  <c:v>2</c:v>
                </c:pt>
                <c:pt idx="13">
                  <c:v>1</c:v>
                </c:pt>
                <c:pt idx="14">
                  <c:v>3</c:v>
                </c:pt>
                <c:pt idx="15">
                  <c:v>3</c:v>
                </c:pt>
                <c:pt idx="16">
                  <c:v>0</c:v>
                </c:pt>
                <c:pt idx="20">
                  <c:v>4</c:v>
                </c:pt>
                <c:pt idx="21">
                  <c:v>4</c:v>
                </c:pt>
              </c:numCache>
            </c:numRef>
          </c:val>
        </c:ser>
        <c:ser>
          <c:idx val="6"/>
          <c:order val="10"/>
          <c:tx>
            <c:strRef>
              <c:f>'Project Summary'!$A$69</c:f>
              <c:strCache>
                <c:ptCount val="1"/>
                <c:pt idx="0">
                  <c:v>Issues with no Required Resolution Date</c:v>
                </c:pt>
              </c:strCache>
            </c:strRef>
          </c:tx>
          <c:cat>
            <c:numRef>
              <c:f>'Project Summary'!$B$58:$W$58</c:f>
              <c:numCache>
                <c:formatCode>[$-409]d\-mmm;@</c:formatCode>
                <c:ptCount val="22"/>
                <c:pt idx="0">
                  <c:v>40952</c:v>
                </c:pt>
                <c:pt idx="1">
                  <c:v>40955</c:v>
                </c:pt>
                <c:pt idx="2">
                  <c:v>40959</c:v>
                </c:pt>
                <c:pt idx="3">
                  <c:v>40962</c:v>
                </c:pt>
                <c:pt idx="4">
                  <c:v>40966</c:v>
                </c:pt>
                <c:pt idx="5">
                  <c:v>40969</c:v>
                </c:pt>
                <c:pt idx="6">
                  <c:v>40973</c:v>
                </c:pt>
                <c:pt idx="7">
                  <c:v>40974</c:v>
                </c:pt>
                <c:pt idx="8">
                  <c:v>40975</c:v>
                </c:pt>
                <c:pt idx="9">
                  <c:v>40976</c:v>
                </c:pt>
                <c:pt idx="10">
                  <c:v>40977</c:v>
                </c:pt>
                <c:pt idx="11">
                  <c:v>40980</c:v>
                </c:pt>
                <c:pt idx="12">
                  <c:v>40981</c:v>
                </c:pt>
                <c:pt idx="13">
                  <c:v>40982</c:v>
                </c:pt>
                <c:pt idx="14">
                  <c:v>40983</c:v>
                </c:pt>
                <c:pt idx="15">
                  <c:v>40984</c:v>
                </c:pt>
                <c:pt idx="16">
                  <c:v>40987</c:v>
                </c:pt>
                <c:pt idx="17" formatCode="dd\-mmm">
                  <c:v>40988</c:v>
                </c:pt>
                <c:pt idx="18" formatCode="dd\-mmm">
                  <c:v>40989</c:v>
                </c:pt>
                <c:pt idx="19" formatCode="dd\-mmm">
                  <c:v>40990</c:v>
                </c:pt>
                <c:pt idx="20" formatCode="dd\-mmm">
                  <c:v>40991</c:v>
                </c:pt>
                <c:pt idx="21" formatCode="dd\-mmm">
                  <c:v>40994</c:v>
                </c:pt>
              </c:numCache>
            </c:numRef>
          </c:cat>
          <c:val>
            <c:numRef>
              <c:f>'Project Summary'!$B$69:$W$69</c:f>
              <c:numCache>
                <c:formatCode>General</c:formatCode>
                <c:ptCount val="22"/>
                <c:pt idx="0">
                  <c:v>6</c:v>
                </c:pt>
                <c:pt idx="1">
                  <c:v>7</c:v>
                </c:pt>
                <c:pt idx="2">
                  <c:v>7</c:v>
                </c:pt>
                <c:pt idx="3">
                  <c:v>6</c:v>
                </c:pt>
                <c:pt idx="4">
                  <c:v>6</c:v>
                </c:pt>
                <c:pt idx="5">
                  <c:v>6</c:v>
                </c:pt>
                <c:pt idx="6">
                  <c:v>6</c:v>
                </c:pt>
                <c:pt idx="7">
                  <c:v>3</c:v>
                </c:pt>
                <c:pt idx="8">
                  <c:v>3</c:v>
                </c:pt>
                <c:pt idx="9">
                  <c:v>4</c:v>
                </c:pt>
                <c:pt idx="10">
                  <c:v>1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20">
                  <c:v>0</c:v>
                </c:pt>
                <c:pt idx="21">
                  <c:v>0</c:v>
                </c:pt>
              </c:numCache>
            </c:numRef>
          </c:val>
        </c:ser>
        <c:ser>
          <c:idx val="11"/>
          <c:order val="11"/>
          <c:tx>
            <c:strRef>
              <c:f>'Project Summary'!$A$70</c:f>
              <c:strCache>
                <c:ptCount val="1"/>
                <c:pt idx="0">
                  <c:v>Issues open 1-3 months</c:v>
                </c:pt>
              </c:strCache>
            </c:strRef>
          </c:tx>
          <c:cat>
            <c:numRef>
              <c:f>'Project Summary'!$B$58:$W$58</c:f>
              <c:numCache>
                <c:formatCode>[$-409]d\-mmm;@</c:formatCode>
                <c:ptCount val="22"/>
                <c:pt idx="0">
                  <c:v>40952</c:v>
                </c:pt>
                <c:pt idx="1">
                  <c:v>40955</c:v>
                </c:pt>
                <c:pt idx="2">
                  <c:v>40959</c:v>
                </c:pt>
                <c:pt idx="3">
                  <c:v>40962</c:v>
                </c:pt>
                <c:pt idx="4">
                  <c:v>40966</c:v>
                </c:pt>
                <c:pt idx="5">
                  <c:v>40969</c:v>
                </c:pt>
                <c:pt idx="6">
                  <c:v>40973</c:v>
                </c:pt>
                <c:pt idx="7">
                  <c:v>40974</c:v>
                </c:pt>
                <c:pt idx="8">
                  <c:v>40975</c:v>
                </c:pt>
                <c:pt idx="9">
                  <c:v>40976</c:v>
                </c:pt>
                <c:pt idx="10">
                  <c:v>40977</c:v>
                </c:pt>
                <c:pt idx="11">
                  <c:v>40980</c:v>
                </c:pt>
                <c:pt idx="12">
                  <c:v>40981</c:v>
                </c:pt>
                <c:pt idx="13">
                  <c:v>40982</c:v>
                </c:pt>
                <c:pt idx="14">
                  <c:v>40983</c:v>
                </c:pt>
                <c:pt idx="15">
                  <c:v>40984</c:v>
                </c:pt>
                <c:pt idx="16">
                  <c:v>40987</c:v>
                </c:pt>
                <c:pt idx="17" formatCode="dd\-mmm">
                  <c:v>40988</c:v>
                </c:pt>
                <c:pt idx="18" formatCode="dd\-mmm">
                  <c:v>40989</c:v>
                </c:pt>
                <c:pt idx="19" formatCode="dd\-mmm">
                  <c:v>40990</c:v>
                </c:pt>
                <c:pt idx="20" formatCode="dd\-mmm">
                  <c:v>40991</c:v>
                </c:pt>
                <c:pt idx="21" formatCode="dd\-mmm">
                  <c:v>40994</c:v>
                </c:pt>
              </c:numCache>
            </c:numRef>
          </c:cat>
          <c:val>
            <c:numRef>
              <c:f>'Project Summary'!$B$70:$W$70</c:f>
              <c:numCache>
                <c:formatCode>General</c:formatCode>
                <c:ptCount val="22"/>
                <c:pt idx="0">
                  <c:v>8</c:v>
                </c:pt>
                <c:pt idx="1">
                  <c:v>9</c:v>
                </c:pt>
                <c:pt idx="2">
                  <c:v>9</c:v>
                </c:pt>
                <c:pt idx="3">
                  <c:v>8</c:v>
                </c:pt>
                <c:pt idx="4">
                  <c:v>8</c:v>
                </c:pt>
                <c:pt idx="5">
                  <c:v>10</c:v>
                </c:pt>
                <c:pt idx="6">
                  <c:v>10</c:v>
                </c:pt>
                <c:pt idx="7">
                  <c:v>7</c:v>
                </c:pt>
                <c:pt idx="8">
                  <c:v>7</c:v>
                </c:pt>
                <c:pt idx="9">
                  <c:v>6</c:v>
                </c:pt>
                <c:pt idx="10">
                  <c:v>2</c:v>
                </c:pt>
                <c:pt idx="11">
                  <c:v>2</c:v>
                </c:pt>
                <c:pt idx="12">
                  <c:v>2</c:v>
                </c:pt>
                <c:pt idx="13">
                  <c:v>2</c:v>
                </c:pt>
                <c:pt idx="14">
                  <c:v>2</c:v>
                </c:pt>
                <c:pt idx="15">
                  <c:v>2</c:v>
                </c:pt>
                <c:pt idx="16">
                  <c:v>1</c:v>
                </c:pt>
                <c:pt idx="20">
                  <c:v>2</c:v>
                </c:pt>
                <c:pt idx="21">
                  <c:v>2</c:v>
                </c:pt>
              </c:numCache>
            </c:numRef>
          </c:val>
        </c:ser>
        <c:ser>
          <c:idx val="12"/>
          <c:order val="12"/>
          <c:tx>
            <c:strRef>
              <c:f>'Project Summary'!$A$71</c:f>
              <c:strCache>
                <c:ptCount val="1"/>
                <c:pt idx="0">
                  <c:v>Issues open 3-6 months</c:v>
                </c:pt>
              </c:strCache>
            </c:strRef>
          </c:tx>
          <c:cat>
            <c:numRef>
              <c:f>'Project Summary'!$B$58:$W$58</c:f>
              <c:numCache>
                <c:formatCode>[$-409]d\-mmm;@</c:formatCode>
                <c:ptCount val="22"/>
                <c:pt idx="0">
                  <c:v>40952</c:v>
                </c:pt>
                <c:pt idx="1">
                  <c:v>40955</c:v>
                </c:pt>
                <c:pt idx="2">
                  <c:v>40959</c:v>
                </c:pt>
                <c:pt idx="3">
                  <c:v>40962</c:v>
                </c:pt>
                <c:pt idx="4">
                  <c:v>40966</c:v>
                </c:pt>
                <c:pt idx="5">
                  <c:v>40969</c:v>
                </c:pt>
                <c:pt idx="6">
                  <c:v>40973</c:v>
                </c:pt>
                <c:pt idx="7">
                  <c:v>40974</c:v>
                </c:pt>
                <c:pt idx="8">
                  <c:v>40975</c:v>
                </c:pt>
                <c:pt idx="9">
                  <c:v>40976</c:v>
                </c:pt>
                <c:pt idx="10">
                  <c:v>40977</c:v>
                </c:pt>
                <c:pt idx="11">
                  <c:v>40980</c:v>
                </c:pt>
                <c:pt idx="12">
                  <c:v>40981</c:v>
                </c:pt>
                <c:pt idx="13">
                  <c:v>40982</c:v>
                </c:pt>
                <c:pt idx="14">
                  <c:v>40983</c:v>
                </c:pt>
                <c:pt idx="15">
                  <c:v>40984</c:v>
                </c:pt>
                <c:pt idx="16">
                  <c:v>40987</c:v>
                </c:pt>
                <c:pt idx="17" formatCode="dd\-mmm">
                  <c:v>40988</c:v>
                </c:pt>
                <c:pt idx="18" formatCode="dd\-mmm">
                  <c:v>40989</c:v>
                </c:pt>
                <c:pt idx="19" formatCode="dd\-mmm">
                  <c:v>40990</c:v>
                </c:pt>
                <c:pt idx="20" formatCode="dd\-mmm">
                  <c:v>40991</c:v>
                </c:pt>
                <c:pt idx="21" formatCode="dd\-mmm">
                  <c:v>40994</c:v>
                </c:pt>
              </c:numCache>
            </c:numRef>
          </c:cat>
          <c:val>
            <c:numRef>
              <c:f>'Project Summary'!$B$71:$W$71</c:f>
              <c:numCache>
                <c:formatCode>General</c:formatCode>
                <c:ptCount val="22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  <c:pt idx="4">
                  <c:v>1</c:v>
                </c:pt>
                <c:pt idx="5">
                  <c:v>1</c:v>
                </c:pt>
                <c:pt idx="6">
                  <c:v>1</c:v>
                </c:pt>
                <c:pt idx="7">
                  <c:v>3</c:v>
                </c:pt>
                <c:pt idx="8">
                  <c:v>3</c:v>
                </c:pt>
                <c:pt idx="9">
                  <c:v>3</c:v>
                </c:pt>
                <c:pt idx="10">
                  <c:v>1</c:v>
                </c:pt>
                <c:pt idx="11">
                  <c:v>3</c:v>
                </c:pt>
                <c:pt idx="12">
                  <c:v>3</c:v>
                </c:pt>
                <c:pt idx="13">
                  <c:v>3</c:v>
                </c:pt>
                <c:pt idx="14">
                  <c:v>2</c:v>
                </c:pt>
                <c:pt idx="15">
                  <c:v>1</c:v>
                </c:pt>
                <c:pt idx="16">
                  <c:v>1</c:v>
                </c:pt>
                <c:pt idx="20">
                  <c:v>1</c:v>
                </c:pt>
                <c:pt idx="21">
                  <c:v>1</c:v>
                </c:pt>
              </c:numCache>
            </c:numRef>
          </c:val>
        </c:ser>
        <c:ser>
          <c:idx val="13"/>
          <c:order val="13"/>
          <c:tx>
            <c:strRef>
              <c:f>'Project Summary'!$A$72</c:f>
              <c:strCache>
                <c:ptCount val="1"/>
                <c:pt idx="0">
                  <c:v>Issues open longer than 6 months</c:v>
                </c:pt>
              </c:strCache>
            </c:strRef>
          </c:tx>
          <c:cat>
            <c:numRef>
              <c:f>'Project Summary'!$B$58:$W$58</c:f>
              <c:numCache>
                <c:formatCode>[$-409]d\-mmm;@</c:formatCode>
                <c:ptCount val="22"/>
                <c:pt idx="0">
                  <c:v>40952</c:v>
                </c:pt>
                <c:pt idx="1">
                  <c:v>40955</c:v>
                </c:pt>
                <c:pt idx="2">
                  <c:v>40959</c:v>
                </c:pt>
                <c:pt idx="3">
                  <c:v>40962</c:v>
                </c:pt>
                <c:pt idx="4">
                  <c:v>40966</c:v>
                </c:pt>
                <c:pt idx="5">
                  <c:v>40969</c:v>
                </c:pt>
                <c:pt idx="6">
                  <c:v>40973</c:v>
                </c:pt>
                <c:pt idx="7">
                  <c:v>40974</c:v>
                </c:pt>
                <c:pt idx="8">
                  <c:v>40975</c:v>
                </c:pt>
                <c:pt idx="9">
                  <c:v>40976</c:v>
                </c:pt>
                <c:pt idx="10">
                  <c:v>40977</c:v>
                </c:pt>
                <c:pt idx="11">
                  <c:v>40980</c:v>
                </c:pt>
                <c:pt idx="12">
                  <c:v>40981</c:v>
                </c:pt>
                <c:pt idx="13">
                  <c:v>40982</c:v>
                </c:pt>
                <c:pt idx="14">
                  <c:v>40983</c:v>
                </c:pt>
                <c:pt idx="15">
                  <c:v>40984</c:v>
                </c:pt>
                <c:pt idx="16">
                  <c:v>40987</c:v>
                </c:pt>
                <c:pt idx="17" formatCode="dd\-mmm">
                  <c:v>40988</c:v>
                </c:pt>
                <c:pt idx="18" formatCode="dd\-mmm">
                  <c:v>40989</c:v>
                </c:pt>
                <c:pt idx="19" formatCode="dd\-mmm">
                  <c:v>40990</c:v>
                </c:pt>
                <c:pt idx="20" formatCode="dd\-mmm">
                  <c:v>40991</c:v>
                </c:pt>
                <c:pt idx="21" formatCode="dd\-mmm">
                  <c:v>40994</c:v>
                </c:pt>
              </c:numCache>
            </c:numRef>
          </c:cat>
          <c:val>
            <c:numRef>
              <c:f>'Project Summary'!$B$72:$W$72</c:f>
              <c:numCache>
                <c:formatCode>General</c:formatCode>
                <c:ptCount val="22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  <c:pt idx="4">
                  <c:v>1</c:v>
                </c:pt>
                <c:pt idx="5">
                  <c:v>1</c:v>
                </c:pt>
                <c:pt idx="6">
                  <c:v>1</c:v>
                </c:pt>
                <c:pt idx="7">
                  <c:v>1</c:v>
                </c:pt>
                <c:pt idx="8">
                  <c:v>1</c:v>
                </c:pt>
                <c:pt idx="9">
                  <c:v>1</c:v>
                </c:pt>
                <c:pt idx="10">
                  <c:v>1</c:v>
                </c:pt>
                <c:pt idx="11">
                  <c:v>1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20">
                  <c:v>0</c:v>
                </c:pt>
                <c:pt idx="21">
                  <c:v>0</c:v>
                </c:pt>
              </c:numCache>
            </c:numRef>
          </c:val>
        </c:ser>
        <c:ser>
          <c:idx val="14"/>
          <c:order val="14"/>
          <c:tx>
            <c:strRef>
              <c:f>'Project Summary'!$A$73</c:f>
              <c:strCache>
                <c:ptCount val="1"/>
                <c:pt idx="0">
                  <c:v>Total Assumptions not yet validated</c:v>
                </c:pt>
              </c:strCache>
            </c:strRef>
          </c:tx>
          <c:cat>
            <c:numRef>
              <c:f>'Project Summary'!$B$58:$W$58</c:f>
              <c:numCache>
                <c:formatCode>[$-409]d\-mmm;@</c:formatCode>
                <c:ptCount val="22"/>
                <c:pt idx="0">
                  <c:v>40952</c:v>
                </c:pt>
                <c:pt idx="1">
                  <c:v>40955</c:v>
                </c:pt>
                <c:pt idx="2">
                  <c:v>40959</c:v>
                </c:pt>
                <c:pt idx="3">
                  <c:v>40962</c:v>
                </c:pt>
                <c:pt idx="4">
                  <c:v>40966</c:v>
                </c:pt>
                <c:pt idx="5">
                  <c:v>40969</c:v>
                </c:pt>
                <c:pt idx="6">
                  <c:v>40973</c:v>
                </c:pt>
                <c:pt idx="7">
                  <c:v>40974</c:v>
                </c:pt>
                <c:pt idx="8">
                  <c:v>40975</c:v>
                </c:pt>
                <c:pt idx="9">
                  <c:v>40976</c:v>
                </c:pt>
                <c:pt idx="10">
                  <c:v>40977</c:v>
                </c:pt>
                <c:pt idx="11">
                  <c:v>40980</c:v>
                </c:pt>
                <c:pt idx="12">
                  <c:v>40981</c:v>
                </c:pt>
                <c:pt idx="13">
                  <c:v>40982</c:v>
                </c:pt>
                <c:pt idx="14">
                  <c:v>40983</c:v>
                </c:pt>
                <c:pt idx="15">
                  <c:v>40984</c:v>
                </c:pt>
                <c:pt idx="16">
                  <c:v>40987</c:v>
                </c:pt>
                <c:pt idx="17" formatCode="dd\-mmm">
                  <c:v>40988</c:v>
                </c:pt>
                <c:pt idx="18" formatCode="dd\-mmm">
                  <c:v>40989</c:v>
                </c:pt>
                <c:pt idx="19" formatCode="dd\-mmm">
                  <c:v>40990</c:v>
                </c:pt>
                <c:pt idx="20" formatCode="dd\-mmm">
                  <c:v>40991</c:v>
                </c:pt>
                <c:pt idx="21" formatCode="dd\-mmm">
                  <c:v>40994</c:v>
                </c:pt>
              </c:numCache>
            </c:numRef>
          </c:cat>
          <c:val>
            <c:numRef>
              <c:f>'Project Summary'!$B$73:$W$73</c:f>
              <c:numCache>
                <c:formatCode>General</c:formatCode>
                <c:ptCount val="22"/>
                <c:pt idx="0">
                  <c:v>37</c:v>
                </c:pt>
                <c:pt idx="1">
                  <c:v>37</c:v>
                </c:pt>
                <c:pt idx="2">
                  <c:v>37</c:v>
                </c:pt>
                <c:pt idx="3">
                  <c:v>37</c:v>
                </c:pt>
                <c:pt idx="4">
                  <c:v>37</c:v>
                </c:pt>
                <c:pt idx="5">
                  <c:v>37</c:v>
                </c:pt>
                <c:pt idx="6">
                  <c:v>37</c:v>
                </c:pt>
                <c:pt idx="7">
                  <c:v>37</c:v>
                </c:pt>
                <c:pt idx="8">
                  <c:v>37</c:v>
                </c:pt>
                <c:pt idx="9">
                  <c:v>36</c:v>
                </c:pt>
                <c:pt idx="10">
                  <c:v>36</c:v>
                </c:pt>
                <c:pt idx="11">
                  <c:v>36</c:v>
                </c:pt>
                <c:pt idx="12">
                  <c:v>36</c:v>
                </c:pt>
                <c:pt idx="13">
                  <c:v>36</c:v>
                </c:pt>
                <c:pt idx="14">
                  <c:v>37</c:v>
                </c:pt>
                <c:pt idx="15">
                  <c:v>37</c:v>
                </c:pt>
                <c:pt idx="16">
                  <c:v>37</c:v>
                </c:pt>
                <c:pt idx="20">
                  <c:v>6</c:v>
                </c:pt>
                <c:pt idx="21">
                  <c:v>6</c:v>
                </c:pt>
              </c:numCache>
            </c:numRef>
          </c:val>
        </c:ser>
        <c:ser>
          <c:idx val="15"/>
          <c:order val="15"/>
          <c:tx>
            <c:strRef>
              <c:f>'Project Summary'!$A$74</c:f>
              <c:strCache>
                <c:ptCount val="1"/>
                <c:pt idx="0">
                  <c:v>Total Pending Decisions</c:v>
                </c:pt>
              </c:strCache>
            </c:strRef>
          </c:tx>
          <c:cat>
            <c:numRef>
              <c:f>'Project Summary'!$B$58:$W$58</c:f>
              <c:numCache>
                <c:formatCode>[$-409]d\-mmm;@</c:formatCode>
                <c:ptCount val="22"/>
                <c:pt idx="0">
                  <c:v>40952</c:v>
                </c:pt>
                <c:pt idx="1">
                  <c:v>40955</c:v>
                </c:pt>
                <c:pt idx="2">
                  <c:v>40959</c:v>
                </c:pt>
                <c:pt idx="3">
                  <c:v>40962</c:v>
                </c:pt>
                <c:pt idx="4">
                  <c:v>40966</c:v>
                </c:pt>
                <c:pt idx="5">
                  <c:v>40969</c:v>
                </c:pt>
                <c:pt idx="6">
                  <c:v>40973</c:v>
                </c:pt>
                <c:pt idx="7">
                  <c:v>40974</c:v>
                </c:pt>
                <c:pt idx="8">
                  <c:v>40975</c:v>
                </c:pt>
                <c:pt idx="9">
                  <c:v>40976</c:v>
                </c:pt>
                <c:pt idx="10">
                  <c:v>40977</c:v>
                </c:pt>
                <c:pt idx="11">
                  <c:v>40980</c:v>
                </c:pt>
                <c:pt idx="12">
                  <c:v>40981</c:v>
                </c:pt>
                <c:pt idx="13">
                  <c:v>40982</c:v>
                </c:pt>
                <c:pt idx="14">
                  <c:v>40983</c:v>
                </c:pt>
                <c:pt idx="15">
                  <c:v>40984</c:v>
                </c:pt>
                <c:pt idx="16">
                  <c:v>40987</c:v>
                </c:pt>
                <c:pt idx="17" formatCode="dd\-mmm">
                  <c:v>40988</c:v>
                </c:pt>
                <c:pt idx="18" formatCode="dd\-mmm">
                  <c:v>40989</c:v>
                </c:pt>
                <c:pt idx="19" formatCode="dd\-mmm">
                  <c:v>40990</c:v>
                </c:pt>
                <c:pt idx="20" formatCode="dd\-mmm">
                  <c:v>40991</c:v>
                </c:pt>
                <c:pt idx="21" formatCode="dd\-mmm">
                  <c:v>40994</c:v>
                </c:pt>
              </c:numCache>
            </c:numRef>
          </c:cat>
          <c:val>
            <c:numRef>
              <c:f>'Project Summary'!$B$74:$W$74</c:f>
              <c:numCache>
                <c:formatCode>General</c:formatCode>
                <c:ptCount val="22"/>
                <c:pt idx="0">
                  <c:v>7</c:v>
                </c:pt>
                <c:pt idx="1">
                  <c:v>7</c:v>
                </c:pt>
                <c:pt idx="2">
                  <c:v>7</c:v>
                </c:pt>
                <c:pt idx="3">
                  <c:v>7</c:v>
                </c:pt>
                <c:pt idx="4">
                  <c:v>7</c:v>
                </c:pt>
                <c:pt idx="5">
                  <c:v>4</c:v>
                </c:pt>
                <c:pt idx="6">
                  <c:v>4</c:v>
                </c:pt>
                <c:pt idx="7">
                  <c:v>4</c:v>
                </c:pt>
                <c:pt idx="8">
                  <c:v>4</c:v>
                </c:pt>
                <c:pt idx="9">
                  <c:v>4</c:v>
                </c:pt>
                <c:pt idx="10">
                  <c:v>4</c:v>
                </c:pt>
                <c:pt idx="11">
                  <c:v>4</c:v>
                </c:pt>
                <c:pt idx="12">
                  <c:v>4</c:v>
                </c:pt>
                <c:pt idx="13">
                  <c:v>4</c:v>
                </c:pt>
                <c:pt idx="14">
                  <c:v>1</c:v>
                </c:pt>
                <c:pt idx="15">
                  <c:v>1</c:v>
                </c:pt>
                <c:pt idx="16">
                  <c:v>0</c:v>
                </c:pt>
                <c:pt idx="20">
                  <c:v>0</c:v>
                </c:pt>
                <c:pt idx="21">
                  <c:v>0</c:v>
                </c:pt>
              </c:numCache>
            </c:numRef>
          </c:val>
        </c:ser>
        <c:marker val="1"/>
        <c:axId val="224273920"/>
        <c:axId val="224276864"/>
      </c:lineChart>
      <c:dateAx>
        <c:axId val="224273920"/>
        <c:scaling>
          <c:orientation val="minMax"/>
        </c:scaling>
        <c:axPos val="b"/>
        <c:numFmt formatCode="[$-409]d\-mmm;@" sourceLinked="1"/>
        <c:majorTickMark val="none"/>
        <c:tickLblPos val="nextTo"/>
        <c:txPr>
          <a:bodyPr/>
          <a:lstStyle/>
          <a:p>
            <a:pPr>
              <a:defRPr sz="700"/>
            </a:pPr>
            <a:endParaRPr lang="en-US"/>
          </a:p>
        </c:txPr>
        <c:crossAx val="224276864"/>
        <c:crosses val="autoZero"/>
        <c:auto val="1"/>
        <c:lblOffset val="100"/>
        <c:baseTimeUnit val="days"/>
        <c:majorUnit val="3"/>
        <c:majorTimeUnit val="days"/>
      </c:dateAx>
      <c:valAx>
        <c:axId val="224276864"/>
        <c:scaling>
          <c:orientation val="minMax"/>
        </c:scaling>
        <c:axPos val="l"/>
        <c:majorGridlines/>
        <c:numFmt formatCode="General" sourceLinked="1"/>
        <c:majorTickMark val="none"/>
        <c:tickLblPos val="nextTo"/>
        <c:txPr>
          <a:bodyPr/>
          <a:lstStyle/>
          <a:p>
            <a:pPr>
              <a:defRPr sz="700"/>
            </a:pPr>
            <a:endParaRPr lang="en-US"/>
          </a:p>
        </c:txPr>
        <c:crossAx val="224273920"/>
        <c:crosses val="autoZero"/>
        <c:crossBetween val="between"/>
      </c:valAx>
    </c:plotArea>
    <c:legend>
      <c:legendPos val="r"/>
      <c:layout/>
      <c:txPr>
        <a:bodyPr/>
        <a:lstStyle/>
        <a:p>
          <a:pPr>
            <a:defRPr sz="650"/>
          </a:pPr>
          <a:endParaRPr lang="en-US"/>
        </a:p>
      </c:txPr>
    </c:legend>
    <c:plotVisOnly val="1"/>
    <c:dispBlanksAs val="gap"/>
  </c:chart>
  <c:externalData r:id="rId1"/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GB"/>
  <c:chart>
    <c:title>
      <c:tx>
        <c:rich>
          <a:bodyPr/>
          <a:lstStyle/>
          <a:p>
            <a:pPr>
              <a:defRPr sz="800"/>
            </a:pPr>
            <a:r>
              <a:rPr lang="en-US" sz="800"/>
              <a:t>Technology Foundation</a:t>
            </a:r>
          </a:p>
        </c:rich>
      </c:tx>
      <c:layout/>
    </c:title>
    <c:plotArea>
      <c:layout/>
      <c:lineChart>
        <c:grouping val="standard"/>
        <c:ser>
          <c:idx val="0"/>
          <c:order val="0"/>
          <c:tx>
            <c:strRef>
              <c:f>'Project Summary'!$A$78</c:f>
              <c:strCache>
                <c:ptCount val="1"/>
                <c:pt idx="0">
                  <c:v>Total Open Risks</c:v>
                </c:pt>
              </c:strCache>
            </c:strRef>
          </c:tx>
          <c:cat>
            <c:numRef>
              <c:f>'Project Summary'!$B$77:$W$77</c:f>
              <c:numCache>
                <c:formatCode>dd\-mmm</c:formatCode>
                <c:ptCount val="22"/>
                <c:pt idx="0">
                  <c:v>40952</c:v>
                </c:pt>
                <c:pt idx="1">
                  <c:v>40955</c:v>
                </c:pt>
                <c:pt idx="2">
                  <c:v>40959</c:v>
                </c:pt>
                <c:pt idx="3">
                  <c:v>40962</c:v>
                </c:pt>
                <c:pt idx="4">
                  <c:v>40966</c:v>
                </c:pt>
                <c:pt idx="5">
                  <c:v>40969</c:v>
                </c:pt>
                <c:pt idx="6">
                  <c:v>40973</c:v>
                </c:pt>
                <c:pt idx="7">
                  <c:v>40974</c:v>
                </c:pt>
                <c:pt idx="8">
                  <c:v>40975</c:v>
                </c:pt>
                <c:pt idx="9">
                  <c:v>40976</c:v>
                </c:pt>
                <c:pt idx="10">
                  <c:v>40977</c:v>
                </c:pt>
                <c:pt idx="11">
                  <c:v>40980</c:v>
                </c:pt>
                <c:pt idx="12">
                  <c:v>40981</c:v>
                </c:pt>
                <c:pt idx="13">
                  <c:v>40982</c:v>
                </c:pt>
                <c:pt idx="14">
                  <c:v>40983</c:v>
                </c:pt>
                <c:pt idx="15">
                  <c:v>40984</c:v>
                </c:pt>
                <c:pt idx="16">
                  <c:v>40987</c:v>
                </c:pt>
                <c:pt idx="17">
                  <c:v>40988</c:v>
                </c:pt>
                <c:pt idx="18">
                  <c:v>40989</c:v>
                </c:pt>
                <c:pt idx="19">
                  <c:v>40990</c:v>
                </c:pt>
                <c:pt idx="20">
                  <c:v>40991</c:v>
                </c:pt>
                <c:pt idx="21">
                  <c:v>40994</c:v>
                </c:pt>
              </c:numCache>
            </c:numRef>
          </c:cat>
          <c:val>
            <c:numRef>
              <c:f>'Project Summary'!$B$78:$W$78</c:f>
              <c:numCache>
                <c:formatCode>General</c:formatCode>
                <c:ptCount val="22"/>
                <c:pt idx="0">
                  <c:v>10</c:v>
                </c:pt>
                <c:pt idx="1">
                  <c:v>9</c:v>
                </c:pt>
                <c:pt idx="2">
                  <c:v>9</c:v>
                </c:pt>
                <c:pt idx="3">
                  <c:v>9</c:v>
                </c:pt>
                <c:pt idx="4">
                  <c:v>9</c:v>
                </c:pt>
                <c:pt idx="5">
                  <c:v>9</c:v>
                </c:pt>
                <c:pt idx="6">
                  <c:v>8</c:v>
                </c:pt>
                <c:pt idx="7">
                  <c:v>5</c:v>
                </c:pt>
                <c:pt idx="8">
                  <c:v>4</c:v>
                </c:pt>
                <c:pt idx="9">
                  <c:v>4</c:v>
                </c:pt>
                <c:pt idx="10">
                  <c:v>4</c:v>
                </c:pt>
                <c:pt idx="11">
                  <c:v>4</c:v>
                </c:pt>
                <c:pt idx="12">
                  <c:v>5</c:v>
                </c:pt>
                <c:pt idx="13">
                  <c:v>5</c:v>
                </c:pt>
                <c:pt idx="14">
                  <c:v>5</c:v>
                </c:pt>
                <c:pt idx="15">
                  <c:v>5</c:v>
                </c:pt>
                <c:pt idx="16">
                  <c:v>7</c:v>
                </c:pt>
                <c:pt idx="20">
                  <c:v>7</c:v>
                </c:pt>
                <c:pt idx="21">
                  <c:v>7</c:v>
                </c:pt>
              </c:numCache>
            </c:numRef>
          </c:val>
        </c:ser>
        <c:ser>
          <c:idx val="1"/>
          <c:order val="1"/>
          <c:tx>
            <c:strRef>
              <c:f>'Project Summary'!$A$79</c:f>
              <c:strCache>
                <c:ptCount val="1"/>
                <c:pt idx="0">
                  <c:v>Total Open High or Critical Risks</c:v>
                </c:pt>
              </c:strCache>
            </c:strRef>
          </c:tx>
          <c:cat>
            <c:numRef>
              <c:f>'Project Summary'!$B$77:$W$77</c:f>
              <c:numCache>
                <c:formatCode>dd\-mmm</c:formatCode>
                <c:ptCount val="22"/>
                <c:pt idx="0">
                  <c:v>40952</c:v>
                </c:pt>
                <c:pt idx="1">
                  <c:v>40955</c:v>
                </c:pt>
                <c:pt idx="2">
                  <c:v>40959</c:v>
                </c:pt>
                <c:pt idx="3">
                  <c:v>40962</c:v>
                </c:pt>
                <c:pt idx="4">
                  <c:v>40966</c:v>
                </c:pt>
                <c:pt idx="5">
                  <c:v>40969</c:v>
                </c:pt>
                <c:pt idx="6">
                  <c:v>40973</c:v>
                </c:pt>
                <c:pt idx="7">
                  <c:v>40974</c:v>
                </c:pt>
                <c:pt idx="8">
                  <c:v>40975</c:v>
                </c:pt>
                <c:pt idx="9">
                  <c:v>40976</c:v>
                </c:pt>
                <c:pt idx="10">
                  <c:v>40977</c:v>
                </c:pt>
                <c:pt idx="11">
                  <c:v>40980</c:v>
                </c:pt>
                <c:pt idx="12">
                  <c:v>40981</c:v>
                </c:pt>
                <c:pt idx="13">
                  <c:v>40982</c:v>
                </c:pt>
                <c:pt idx="14">
                  <c:v>40983</c:v>
                </c:pt>
                <c:pt idx="15">
                  <c:v>40984</c:v>
                </c:pt>
                <c:pt idx="16">
                  <c:v>40987</c:v>
                </c:pt>
                <c:pt idx="17">
                  <c:v>40988</c:v>
                </c:pt>
                <c:pt idx="18">
                  <c:v>40989</c:v>
                </c:pt>
                <c:pt idx="19">
                  <c:v>40990</c:v>
                </c:pt>
                <c:pt idx="20">
                  <c:v>40991</c:v>
                </c:pt>
                <c:pt idx="21">
                  <c:v>40994</c:v>
                </c:pt>
              </c:numCache>
            </c:numRef>
          </c:cat>
          <c:val>
            <c:numRef>
              <c:f>'Project Summary'!$B$79:$W$79</c:f>
              <c:numCache>
                <c:formatCode>General</c:formatCode>
                <c:ptCount val="22"/>
                <c:pt idx="0">
                  <c:v>7</c:v>
                </c:pt>
                <c:pt idx="1">
                  <c:v>6</c:v>
                </c:pt>
                <c:pt idx="2">
                  <c:v>6</c:v>
                </c:pt>
                <c:pt idx="3">
                  <c:v>6</c:v>
                </c:pt>
                <c:pt idx="4">
                  <c:v>6</c:v>
                </c:pt>
                <c:pt idx="5">
                  <c:v>6</c:v>
                </c:pt>
                <c:pt idx="6">
                  <c:v>4</c:v>
                </c:pt>
                <c:pt idx="7">
                  <c:v>2</c:v>
                </c:pt>
                <c:pt idx="8">
                  <c:v>1</c:v>
                </c:pt>
                <c:pt idx="9">
                  <c:v>1</c:v>
                </c:pt>
                <c:pt idx="10">
                  <c:v>1</c:v>
                </c:pt>
                <c:pt idx="11">
                  <c:v>1</c:v>
                </c:pt>
                <c:pt idx="12">
                  <c:v>2</c:v>
                </c:pt>
                <c:pt idx="13">
                  <c:v>2</c:v>
                </c:pt>
                <c:pt idx="14">
                  <c:v>2</c:v>
                </c:pt>
                <c:pt idx="15">
                  <c:v>2</c:v>
                </c:pt>
                <c:pt idx="16">
                  <c:v>1</c:v>
                </c:pt>
                <c:pt idx="20">
                  <c:v>1</c:v>
                </c:pt>
                <c:pt idx="21">
                  <c:v>1</c:v>
                </c:pt>
              </c:numCache>
            </c:numRef>
          </c:val>
        </c:ser>
        <c:ser>
          <c:idx val="2"/>
          <c:order val="2"/>
          <c:tx>
            <c:strRef>
              <c:f>'Project Summary'!$A$80</c:f>
              <c:strCache>
                <c:ptCount val="1"/>
                <c:pt idx="0">
                  <c:v>Risks: Missed Required Resolution Date</c:v>
                </c:pt>
              </c:strCache>
            </c:strRef>
          </c:tx>
          <c:cat>
            <c:numRef>
              <c:f>'Project Summary'!$B$77:$W$77</c:f>
              <c:numCache>
                <c:formatCode>dd\-mmm</c:formatCode>
                <c:ptCount val="22"/>
                <c:pt idx="0">
                  <c:v>40952</c:v>
                </c:pt>
                <c:pt idx="1">
                  <c:v>40955</c:v>
                </c:pt>
                <c:pt idx="2">
                  <c:v>40959</c:v>
                </c:pt>
                <c:pt idx="3">
                  <c:v>40962</c:v>
                </c:pt>
                <c:pt idx="4">
                  <c:v>40966</c:v>
                </c:pt>
                <c:pt idx="5">
                  <c:v>40969</c:v>
                </c:pt>
                <c:pt idx="6">
                  <c:v>40973</c:v>
                </c:pt>
                <c:pt idx="7">
                  <c:v>40974</c:v>
                </c:pt>
                <c:pt idx="8">
                  <c:v>40975</c:v>
                </c:pt>
                <c:pt idx="9">
                  <c:v>40976</c:v>
                </c:pt>
                <c:pt idx="10">
                  <c:v>40977</c:v>
                </c:pt>
                <c:pt idx="11">
                  <c:v>40980</c:v>
                </c:pt>
                <c:pt idx="12">
                  <c:v>40981</c:v>
                </c:pt>
                <c:pt idx="13">
                  <c:v>40982</c:v>
                </c:pt>
                <c:pt idx="14">
                  <c:v>40983</c:v>
                </c:pt>
                <c:pt idx="15">
                  <c:v>40984</c:v>
                </c:pt>
                <c:pt idx="16">
                  <c:v>40987</c:v>
                </c:pt>
                <c:pt idx="17">
                  <c:v>40988</c:v>
                </c:pt>
                <c:pt idx="18">
                  <c:v>40989</c:v>
                </c:pt>
                <c:pt idx="19">
                  <c:v>40990</c:v>
                </c:pt>
                <c:pt idx="20">
                  <c:v>40991</c:v>
                </c:pt>
                <c:pt idx="21">
                  <c:v>40994</c:v>
                </c:pt>
              </c:numCache>
            </c:numRef>
          </c:cat>
          <c:val>
            <c:numRef>
              <c:f>'Project Summary'!$B$80:$W$80</c:f>
              <c:numCache>
                <c:formatCode>General</c:formatCode>
                <c:ptCount val="22"/>
                <c:pt idx="0">
                  <c:v>2</c:v>
                </c:pt>
                <c:pt idx="1">
                  <c:v>1</c:v>
                </c:pt>
                <c:pt idx="2">
                  <c:v>2</c:v>
                </c:pt>
                <c:pt idx="3">
                  <c:v>2</c:v>
                </c:pt>
                <c:pt idx="4">
                  <c:v>2</c:v>
                </c:pt>
                <c:pt idx="5">
                  <c:v>4</c:v>
                </c:pt>
                <c:pt idx="6">
                  <c:v>3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1</c:v>
                </c:pt>
                <c:pt idx="14">
                  <c:v>1</c:v>
                </c:pt>
                <c:pt idx="15">
                  <c:v>0</c:v>
                </c:pt>
                <c:pt idx="16">
                  <c:v>0</c:v>
                </c:pt>
                <c:pt idx="20">
                  <c:v>0</c:v>
                </c:pt>
                <c:pt idx="21">
                  <c:v>0</c:v>
                </c:pt>
              </c:numCache>
            </c:numRef>
          </c:val>
        </c:ser>
        <c:ser>
          <c:idx val="3"/>
          <c:order val="3"/>
          <c:tx>
            <c:strRef>
              <c:f>'Project Summary'!$A$81</c:f>
              <c:strCache>
                <c:ptCount val="1"/>
                <c:pt idx="0">
                  <c:v>Risks with no Required Resolution Date</c:v>
                </c:pt>
              </c:strCache>
            </c:strRef>
          </c:tx>
          <c:cat>
            <c:numRef>
              <c:f>'Project Summary'!$B$77:$W$77</c:f>
              <c:numCache>
                <c:formatCode>dd\-mmm</c:formatCode>
                <c:ptCount val="22"/>
                <c:pt idx="0">
                  <c:v>40952</c:v>
                </c:pt>
                <c:pt idx="1">
                  <c:v>40955</c:v>
                </c:pt>
                <c:pt idx="2">
                  <c:v>40959</c:v>
                </c:pt>
                <c:pt idx="3">
                  <c:v>40962</c:v>
                </c:pt>
                <c:pt idx="4">
                  <c:v>40966</c:v>
                </c:pt>
                <c:pt idx="5">
                  <c:v>40969</c:v>
                </c:pt>
                <c:pt idx="6">
                  <c:v>40973</c:v>
                </c:pt>
                <c:pt idx="7">
                  <c:v>40974</c:v>
                </c:pt>
                <c:pt idx="8">
                  <c:v>40975</c:v>
                </c:pt>
                <c:pt idx="9">
                  <c:v>40976</c:v>
                </c:pt>
                <c:pt idx="10">
                  <c:v>40977</c:v>
                </c:pt>
                <c:pt idx="11">
                  <c:v>40980</c:v>
                </c:pt>
                <c:pt idx="12">
                  <c:v>40981</c:v>
                </c:pt>
                <c:pt idx="13">
                  <c:v>40982</c:v>
                </c:pt>
                <c:pt idx="14">
                  <c:v>40983</c:v>
                </c:pt>
                <c:pt idx="15">
                  <c:v>40984</c:v>
                </c:pt>
                <c:pt idx="16">
                  <c:v>40987</c:v>
                </c:pt>
                <c:pt idx="17">
                  <c:v>40988</c:v>
                </c:pt>
                <c:pt idx="18">
                  <c:v>40989</c:v>
                </c:pt>
                <c:pt idx="19">
                  <c:v>40990</c:v>
                </c:pt>
                <c:pt idx="20">
                  <c:v>40991</c:v>
                </c:pt>
                <c:pt idx="21">
                  <c:v>40994</c:v>
                </c:pt>
              </c:numCache>
            </c:numRef>
          </c:cat>
          <c:val>
            <c:numRef>
              <c:f>'Project Summary'!$B$81:$W$81</c:f>
              <c:numCache>
                <c:formatCode>General</c:formatCode>
                <c:ptCount val="22"/>
                <c:pt idx="0">
                  <c:v>3</c:v>
                </c:pt>
                <c:pt idx="1">
                  <c:v>3</c:v>
                </c:pt>
                <c:pt idx="2">
                  <c:v>3</c:v>
                </c:pt>
                <c:pt idx="3">
                  <c:v>3</c:v>
                </c:pt>
                <c:pt idx="4">
                  <c:v>3</c:v>
                </c:pt>
                <c:pt idx="5">
                  <c:v>3</c:v>
                </c:pt>
                <c:pt idx="6">
                  <c:v>3</c:v>
                </c:pt>
                <c:pt idx="7">
                  <c:v>2</c:v>
                </c:pt>
                <c:pt idx="8">
                  <c:v>1</c:v>
                </c:pt>
                <c:pt idx="9">
                  <c:v>1</c:v>
                </c:pt>
                <c:pt idx="10">
                  <c:v>1</c:v>
                </c:pt>
                <c:pt idx="11">
                  <c:v>1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4</c:v>
                </c:pt>
                <c:pt idx="20">
                  <c:v>4</c:v>
                </c:pt>
                <c:pt idx="21">
                  <c:v>4</c:v>
                </c:pt>
              </c:numCache>
            </c:numRef>
          </c:val>
        </c:ser>
        <c:ser>
          <c:idx val="7"/>
          <c:order val="4"/>
          <c:tx>
            <c:strRef>
              <c:f>'Project Summary'!$A$82</c:f>
              <c:strCache>
                <c:ptCount val="1"/>
                <c:pt idx="0">
                  <c:v>Risks open 1-3 months</c:v>
                </c:pt>
              </c:strCache>
            </c:strRef>
          </c:tx>
          <c:cat>
            <c:numRef>
              <c:f>'Project Summary'!$B$77:$W$77</c:f>
              <c:numCache>
                <c:formatCode>dd\-mmm</c:formatCode>
                <c:ptCount val="22"/>
                <c:pt idx="0">
                  <c:v>40952</c:v>
                </c:pt>
                <c:pt idx="1">
                  <c:v>40955</c:v>
                </c:pt>
                <c:pt idx="2">
                  <c:v>40959</c:v>
                </c:pt>
                <c:pt idx="3">
                  <c:v>40962</c:v>
                </c:pt>
                <c:pt idx="4">
                  <c:v>40966</c:v>
                </c:pt>
                <c:pt idx="5">
                  <c:v>40969</c:v>
                </c:pt>
                <c:pt idx="6">
                  <c:v>40973</c:v>
                </c:pt>
                <c:pt idx="7">
                  <c:v>40974</c:v>
                </c:pt>
                <c:pt idx="8">
                  <c:v>40975</c:v>
                </c:pt>
                <c:pt idx="9">
                  <c:v>40976</c:v>
                </c:pt>
                <c:pt idx="10">
                  <c:v>40977</c:v>
                </c:pt>
                <c:pt idx="11">
                  <c:v>40980</c:v>
                </c:pt>
                <c:pt idx="12">
                  <c:v>40981</c:v>
                </c:pt>
                <c:pt idx="13">
                  <c:v>40982</c:v>
                </c:pt>
                <c:pt idx="14">
                  <c:v>40983</c:v>
                </c:pt>
                <c:pt idx="15">
                  <c:v>40984</c:v>
                </c:pt>
                <c:pt idx="16">
                  <c:v>40987</c:v>
                </c:pt>
                <c:pt idx="17">
                  <c:v>40988</c:v>
                </c:pt>
                <c:pt idx="18">
                  <c:v>40989</c:v>
                </c:pt>
                <c:pt idx="19">
                  <c:v>40990</c:v>
                </c:pt>
                <c:pt idx="20">
                  <c:v>40991</c:v>
                </c:pt>
                <c:pt idx="21">
                  <c:v>40994</c:v>
                </c:pt>
              </c:numCache>
            </c:numRef>
          </c:cat>
          <c:val>
            <c:numRef>
              <c:f>'Project Summary'!$B$82:$W$82</c:f>
              <c:numCache>
                <c:formatCode>General</c:formatCode>
                <c:ptCount val="22"/>
                <c:pt idx="0">
                  <c:v>3</c:v>
                </c:pt>
                <c:pt idx="1">
                  <c:v>3</c:v>
                </c:pt>
                <c:pt idx="2">
                  <c:v>3</c:v>
                </c:pt>
                <c:pt idx="3">
                  <c:v>3</c:v>
                </c:pt>
                <c:pt idx="4">
                  <c:v>5</c:v>
                </c:pt>
                <c:pt idx="5">
                  <c:v>4</c:v>
                </c:pt>
                <c:pt idx="6">
                  <c:v>5</c:v>
                </c:pt>
                <c:pt idx="7">
                  <c:v>4</c:v>
                </c:pt>
                <c:pt idx="8">
                  <c:v>3</c:v>
                </c:pt>
                <c:pt idx="9">
                  <c:v>3</c:v>
                </c:pt>
                <c:pt idx="10">
                  <c:v>3</c:v>
                </c:pt>
                <c:pt idx="11">
                  <c:v>3</c:v>
                </c:pt>
                <c:pt idx="12">
                  <c:v>3</c:v>
                </c:pt>
                <c:pt idx="13">
                  <c:v>3</c:v>
                </c:pt>
                <c:pt idx="14">
                  <c:v>3</c:v>
                </c:pt>
                <c:pt idx="15">
                  <c:v>3</c:v>
                </c:pt>
                <c:pt idx="16">
                  <c:v>3</c:v>
                </c:pt>
                <c:pt idx="20">
                  <c:v>3</c:v>
                </c:pt>
                <c:pt idx="21">
                  <c:v>3</c:v>
                </c:pt>
              </c:numCache>
            </c:numRef>
          </c:val>
        </c:ser>
        <c:ser>
          <c:idx val="8"/>
          <c:order val="5"/>
          <c:tx>
            <c:strRef>
              <c:f>'Project Summary'!$A$83</c:f>
              <c:strCache>
                <c:ptCount val="1"/>
                <c:pt idx="0">
                  <c:v>Risks open 3-6 months</c:v>
                </c:pt>
              </c:strCache>
            </c:strRef>
          </c:tx>
          <c:cat>
            <c:numRef>
              <c:f>'Project Summary'!$B$77:$W$77</c:f>
              <c:numCache>
                <c:formatCode>dd\-mmm</c:formatCode>
                <c:ptCount val="22"/>
                <c:pt idx="0">
                  <c:v>40952</c:v>
                </c:pt>
                <c:pt idx="1">
                  <c:v>40955</c:v>
                </c:pt>
                <c:pt idx="2">
                  <c:v>40959</c:v>
                </c:pt>
                <c:pt idx="3">
                  <c:v>40962</c:v>
                </c:pt>
                <c:pt idx="4">
                  <c:v>40966</c:v>
                </c:pt>
                <c:pt idx="5">
                  <c:v>40969</c:v>
                </c:pt>
                <c:pt idx="6">
                  <c:v>40973</c:v>
                </c:pt>
                <c:pt idx="7">
                  <c:v>40974</c:v>
                </c:pt>
                <c:pt idx="8">
                  <c:v>40975</c:v>
                </c:pt>
                <c:pt idx="9">
                  <c:v>40976</c:v>
                </c:pt>
                <c:pt idx="10">
                  <c:v>40977</c:v>
                </c:pt>
                <c:pt idx="11">
                  <c:v>40980</c:v>
                </c:pt>
                <c:pt idx="12">
                  <c:v>40981</c:v>
                </c:pt>
                <c:pt idx="13">
                  <c:v>40982</c:v>
                </c:pt>
                <c:pt idx="14">
                  <c:v>40983</c:v>
                </c:pt>
                <c:pt idx="15">
                  <c:v>40984</c:v>
                </c:pt>
                <c:pt idx="16">
                  <c:v>40987</c:v>
                </c:pt>
                <c:pt idx="17">
                  <c:v>40988</c:v>
                </c:pt>
                <c:pt idx="18">
                  <c:v>40989</c:v>
                </c:pt>
                <c:pt idx="19">
                  <c:v>40990</c:v>
                </c:pt>
                <c:pt idx="20">
                  <c:v>40991</c:v>
                </c:pt>
                <c:pt idx="21">
                  <c:v>40994</c:v>
                </c:pt>
              </c:numCache>
            </c:numRef>
          </c:cat>
          <c:val>
            <c:numRef>
              <c:f>'Project Summary'!$B$83:$W$83</c:f>
              <c:numCache>
                <c:formatCode>General</c:formatCode>
                <c:ptCount val="22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1</c:v>
                </c:pt>
                <c:pt idx="6">
                  <c:v>1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20">
                  <c:v>0</c:v>
                </c:pt>
                <c:pt idx="21">
                  <c:v>0</c:v>
                </c:pt>
              </c:numCache>
            </c:numRef>
          </c:val>
        </c:ser>
        <c:ser>
          <c:idx val="9"/>
          <c:order val="6"/>
          <c:tx>
            <c:strRef>
              <c:f>'Project Summary'!$A$84</c:f>
              <c:strCache>
                <c:ptCount val="1"/>
                <c:pt idx="0">
                  <c:v>Risks open longer than 6 months</c:v>
                </c:pt>
              </c:strCache>
            </c:strRef>
          </c:tx>
          <c:cat>
            <c:numRef>
              <c:f>'Project Summary'!$B$77:$W$77</c:f>
              <c:numCache>
                <c:formatCode>dd\-mmm</c:formatCode>
                <c:ptCount val="22"/>
                <c:pt idx="0">
                  <c:v>40952</c:v>
                </c:pt>
                <c:pt idx="1">
                  <c:v>40955</c:v>
                </c:pt>
                <c:pt idx="2">
                  <c:v>40959</c:v>
                </c:pt>
                <c:pt idx="3">
                  <c:v>40962</c:v>
                </c:pt>
                <c:pt idx="4">
                  <c:v>40966</c:v>
                </c:pt>
                <c:pt idx="5">
                  <c:v>40969</c:v>
                </c:pt>
                <c:pt idx="6">
                  <c:v>40973</c:v>
                </c:pt>
                <c:pt idx="7">
                  <c:v>40974</c:v>
                </c:pt>
                <c:pt idx="8">
                  <c:v>40975</c:v>
                </c:pt>
                <c:pt idx="9">
                  <c:v>40976</c:v>
                </c:pt>
                <c:pt idx="10">
                  <c:v>40977</c:v>
                </c:pt>
                <c:pt idx="11">
                  <c:v>40980</c:v>
                </c:pt>
                <c:pt idx="12">
                  <c:v>40981</c:v>
                </c:pt>
                <c:pt idx="13">
                  <c:v>40982</c:v>
                </c:pt>
                <c:pt idx="14">
                  <c:v>40983</c:v>
                </c:pt>
                <c:pt idx="15">
                  <c:v>40984</c:v>
                </c:pt>
                <c:pt idx="16">
                  <c:v>40987</c:v>
                </c:pt>
                <c:pt idx="17">
                  <c:v>40988</c:v>
                </c:pt>
                <c:pt idx="18">
                  <c:v>40989</c:v>
                </c:pt>
                <c:pt idx="19">
                  <c:v>40990</c:v>
                </c:pt>
                <c:pt idx="20">
                  <c:v>40991</c:v>
                </c:pt>
                <c:pt idx="21">
                  <c:v>40994</c:v>
                </c:pt>
              </c:numCache>
            </c:numRef>
          </c:cat>
          <c:val>
            <c:numRef>
              <c:f>'Project Summary'!$B$84:$W$84</c:f>
              <c:numCache>
                <c:formatCode>General</c:formatCode>
                <c:ptCount val="22"/>
                <c:pt idx="0">
                  <c:v>3</c:v>
                </c:pt>
                <c:pt idx="1">
                  <c:v>2</c:v>
                </c:pt>
                <c:pt idx="2">
                  <c:v>2</c:v>
                </c:pt>
                <c:pt idx="3">
                  <c:v>2</c:v>
                </c:pt>
                <c:pt idx="4">
                  <c:v>2</c:v>
                </c:pt>
                <c:pt idx="5">
                  <c:v>2</c:v>
                </c:pt>
                <c:pt idx="6">
                  <c:v>2</c:v>
                </c:pt>
                <c:pt idx="7">
                  <c:v>1</c:v>
                </c:pt>
                <c:pt idx="8">
                  <c:v>1</c:v>
                </c:pt>
                <c:pt idx="9">
                  <c:v>1</c:v>
                </c:pt>
                <c:pt idx="10">
                  <c:v>1</c:v>
                </c:pt>
                <c:pt idx="11">
                  <c:v>1</c:v>
                </c:pt>
                <c:pt idx="12">
                  <c:v>1</c:v>
                </c:pt>
                <c:pt idx="13">
                  <c:v>1</c:v>
                </c:pt>
                <c:pt idx="14">
                  <c:v>1</c:v>
                </c:pt>
                <c:pt idx="15">
                  <c:v>1</c:v>
                </c:pt>
                <c:pt idx="16">
                  <c:v>0</c:v>
                </c:pt>
                <c:pt idx="20">
                  <c:v>0</c:v>
                </c:pt>
                <c:pt idx="21">
                  <c:v>0</c:v>
                </c:pt>
              </c:numCache>
            </c:numRef>
          </c:val>
        </c:ser>
        <c:ser>
          <c:idx val="10"/>
          <c:order val="7"/>
          <c:tx>
            <c:strRef>
              <c:f>'Project Summary'!$A$85</c:f>
              <c:strCache>
                <c:ptCount val="1"/>
                <c:pt idx="0">
                  <c:v>Total Open Issues</c:v>
                </c:pt>
              </c:strCache>
            </c:strRef>
          </c:tx>
          <c:cat>
            <c:numRef>
              <c:f>'Project Summary'!$B$77:$W$77</c:f>
              <c:numCache>
                <c:formatCode>dd\-mmm</c:formatCode>
                <c:ptCount val="22"/>
                <c:pt idx="0">
                  <c:v>40952</c:v>
                </c:pt>
                <c:pt idx="1">
                  <c:v>40955</c:v>
                </c:pt>
                <c:pt idx="2">
                  <c:v>40959</c:v>
                </c:pt>
                <c:pt idx="3">
                  <c:v>40962</c:v>
                </c:pt>
                <c:pt idx="4">
                  <c:v>40966</c:v>
                </c:pt>
                <c:pt idx="5">
                  <c:v>40969</c:v>
                </c:pt>
                <c:pt idx="6">
                  <c:v>40973</c:v>
                </c:pt>
                <c:pt idx="7">
                  <c:v>40974</c:v>
                </c:pt>
                <c:pt idx="8">
                  <c:v>40975</c:v>
                </c:pt>
                <c:pt idx="9">
                  <c:v>40976</c:v>
                </c:pt>
                <c:pt idx="10">
                  <c:v>40977</c:v>
                </c:pt>
                <c:pt idx="11">
                  <c:v>40980</c:v>
                </c:pt>
                <c:pt idx="12">
                  <c:v>40981</c:v>
                </c:pt>
                <c:pt idx="13">
                  <c:v>40982</c:v>
                </c:pt>
                <c:pt idx="14">
                  <c:v>40983</c:v>
                </c:pt>
                <c:pt idx="15">
                  <c:v>40984</c:v>
                </c:pt>
                <c:pt idx="16">
                  <c:v>40987</c:v>
                </c:pt>
                <c:pt idx="17">
                  <c:v>40988</c:v>
                </c:pt>
                <c:pt idx="18">
                  <c:v>40989</c:v>
                </c:pt>
                <c:pt idx="19">
                  <c:v>40990</c:v>
                </c:pt>
                <c:pt idx="20">
                  <c:v>40991</c:v>
                </c:pt>
                <c:pt idx="21">
                  <c:v>40994</c:v>
                </c:pt>
              </c:numCache>
            </c:numRef>
          </c:cat>
          <c:val>
            <c:numRef>
              <c:f>'Project Summary'!$B$85:$W$85</c:f>
              <c:numCache>
                <c:formatCode>General</c:formatCode>
                <c:ptCount val="22"/>
                <c:pt idx="0">
                  <c:v>20</c:v>
                </c:pt>
                <c:pt idx="1">
                  <c:v>13</c:v>
                </c:pt>
                <c:pt idx="2">
                  <c:v>13</c:v>
                </c:pt>
                <c:pt idx="3">
                  <c:v>13</c:v>
                </c:pt>
                <c:pt idx="4">
                  <c:v>15</c:v>
                </c:pt>
                <c:pt idx="5">
                  <c:v>15</c:v>
                </c:pt>
                <c:pt idx="6">
                  <c:v>15</c:v>
                </c:pt>
                <c:pt idx="7">
                  <c:v>12</c:v>
                </c:pt>
                <c:pt idx="8">
                  <c:v>11</c:v>
                </c:pt>
                <c:pt idx="9">
                  <c:v>12</c:v>
                </c:pt>
                <c:pt idx="10">
                  <c:v>12</c:v>
                </c:pt>
                <c:pt idx="11">
                  <c:v>12</c:v>
                </c:pt>
                <c:pt idx="12">
                  <c:v>11</c:v>
                </c:pt>
                <c:pt idx="13">
                  <c:v>11</c:v>
                </c:pt>
                <c:pt idx="14">
                  <c:v>11</c:v>
                </c:pt>
                <c:pt idx="15">
                  <c:v>11</c:v>
                </c:pt>
                <c:pt idx="16">
                  <c:v>11</c:v>
                </c:pt>
                <c:pt idx="20">
                  <c:v>11</c:v>
                </c:pt>
                <c:pt idx="21">
                  <c:v>11</c:v>
                </c:pt>
              </c:numCache>
            </c:numRef>
          </c:val>
        </c:ser>
        <c:ser>
          <c:idx val="4"/>
          <c:order val="8"/>
          <c:tx>
            <c:strRef>
              <c:f>'Project Summary'!$A$86</c:f>
              <c:strCache>
                <c:ptCount val="1"/>
                <c:pt idx="0">
                  <c:v>Total Open High or Critical Issues</c:v>
                </c:pt>
              </c:strCache>
            </c:strRef>
          </c:tx>
          <c:cat>
            <c:numRef>
              <c:f>'Project Summary'!$B$77:$W$77</c:f>
              <c:numCache>
                <c:formatCode>dd\-mmm</c:formatCode>
                <c:ptCount val="22"/>
                <c:pt idx="0">
                  <c:v>40952</c:v>
                </c:pt>
                <c:pt idx="1">
                  <c:v>40955</c:v>
                </c:pt>
                <c:pt idx="2">
                  <c:v>40959</c:v>
                </c:pt>
                <c:pt idx="3">
                  <c:v>40962</c:v>
                </c:pt>
                <c:pt idx="4">
                  <c:v>40966</c:v>
                </c:pt>
                <c:pt idx="5">
                  <c:v>40969</c:v>
                </c:pt>
                <c:pt idx="6">
                  <c:v>40973</c:v>
                </c:pt>
                <c:pt idx="7">
                  <c:v>40974</c:v>
                </c:pt>
                <c:pt idx="8">
                  <c:v>40975</c:v>
                </c:pt>
                <c:pt idx="9">
                  <c:v>40976</c:v>
                </c:pt>
                <c:pt idx="10">
                  <c:v>40977</c:v>
                </c:pt>
                <c:pt idx="11">
                  <c:v>40980</c:v>
                </c:pt>
                <c:pt idx="12">
                  <c:v>40981</c:v>
                </c:pt>
                <c:pt idx="13">
                  <c:v>40982</c:v>
                </c:pt>
                <c:pt idx="14">
                  <c:v>40983</c:v>
                </c:pt>
                <c:pt idx="15">
                  <c:v>40984</c:v>
                </c:pt>
                <c:pt idx="16">
                  <c:v>40987</c:v>
                </c:pt>
                <c:pt idx="17">
                  <c:v>40988</c:v>
                </c:pt>
                <c:pt idx="18">
                  <c:v>40989</c:v>
                </c:pt>
                <c:pt idx="19">
                  <c:v>40990</c:v>
                </c:pt>
                <c:pt idx="20">
                  <c:v>40991</c:v>
                </c:pt>
                <c:pt idx="21">
                  <c:v>40994</c:v>
                </c:pt>
              </c:numCache>
            </c:numRef>
          </c:cat>
          <c:val>
            <c:numRef>
              <c:f>'Project Summary'!$B$86:$W$86</c:f>
              <c:numCache>
                <c:formatCode>General</c:formatCode>
                <c:ptCount val="22"/>
                <c:pt idx="0">
                  <c:v>16</c:v>
                </c:pt>
                <c:pt idx="1">
                  <c:v>9</c:v>
                </c:pt>
                <c:pt idx="2">
                  <c:v>9</c:v>
                </c:pt>
                <c:pt idx="3">
                  <c:v>9</c:v>
                </c:pt>
                <c:pt idx="4">
                  <c:v>11</c:v>
                </c:pt>
                <c:pt idx="5">
                  <c:v>11</c:v>
                </c:pt>
                <c:pt idx="6">
                  <c:v>11</c:v>
                </c:pt>
                <c:pt idx="7">
                  <c:v>11</c:v>
                </c:pt>
                <c:pt idx="8">
                  <c:v>10</c:v>
                </c:pt>
                <c:pt idx="9">
                  <c:v>8</c:v>
                </c:pt>
                <c:pt idx="10">
                  <c:v>9</c:v>
                </c:pt>
                <c:pt idx="11">
                  <c:v>11</c:v>
                </c:pt>
                <c:pt idx="12">
                  <c:v>10</c:v>
                </c:pt>
                <c:pt idx="13">
                  <c:v>10</c:v>
                </c:pt>
                <c:pt idx="14">
                  <c:v>10</c:v>
                </c:pt>
                <c:pt idx="15">
                  <c:v>10</c:v>
                </c:pt>
                <c:pt idx="16">
                  <c:v>10</c:v>
                </c:pt>
                <c:pt idx="20">
                  <c:v>10</c:v>
                </c:pt>
                <c:pt idx="21">
                  <c:v>10</c:v>
                </c:pt>
              </c:numCache>
            </c:numRef>
          </c:val>
        </c:ser>
        <c:ser>
          <c:idx val="5"/>
          <c:order val="9"/>
          <c:tx>
            <c:strRef>
              <c:f>'Project Summary'!$A$87</c:f>
              <c:strCache>
                <c:ptCount val="1"/>
                <c:pt idx="0">
                  <c:v>Issues: Missed Required Resolution Date</c:v>
                </c:pt>
              </c:strCache>
            </c:strRef>
          </c:tx>
          <c:cat>
            <c:numRef>
              <c:f>'Project Summary'!$B$77:$W$77</c:f>
              <c:numCache>
                <c:formatCode>dd\-mmm</c:formatCode>
                <c:ptCount val="22"/>
                <c:pt idx="0">
                  <c:v>40952</c:v>
                </c:pt>
                <c:pt idx="1">
                  <c:v>40955</c:v>
                </c:pt>
                <c:pt idx="2">
                  <c:v>40959</c:v>
                </c:pt>
                <c:pt idx="3">
                  <c:v>40962</c:v>
                </c:pt>
                <c:pt idx="4">
                  <c:v>40966</c:v>
                </c:pt>
                <c:pt idx="5">
                  <c:v>40969</c:v>
                </c:pt>
                <c:pt idx="6">
                  <c:v>40973</c:v>
                </c:pt>
                <c:pt idx="7">
                  <c:v>40974</c:v>
                </c:pt>
                <c:pt idx="8">
                  <c:v>40975</c:v>
                </c:pt>
                <c:pt idx="9">
                  <c:v>40976</c:v>
                </c:pt>
                <c:pt idx="10">
                  <c:v>40977</c:v>
                </c:pt>
                <c:pt idx="11">
                  <c:v>40980</c:v>
                </c:pt>
                <c:pt idx="12">
                  <c:v>40981</c:v>
                </c:pt>
                <c:pt idx="13">
                  <c:v>40982</c:v>
                </c:pt>
                <c:pt idx="14">
                  <c:v>40983</c:v>
                </c:pt>
                <c:pt idx="15">
                  <c:v>40984</c:v>
                </c:pt>
                <c:pt idx="16">
                  <c:v>40987</c:v>
                </c:pt>
                <c:pt idx="17">
                  <c:v>40988</c:v>
                </c:pt>
                <c:pt idx="18">
                  <c:v>40989</c:v>
                </c:pt>
                <c:pt idx="19">
                  <c:v>40990</c:v>
                </c:pt>
                <c:pt idx="20">
                  <c:v>40991</c:v>
                </c:pt>
                <c:pt idx="21">
                  <c:v>40994</c:v>
                </c:pt>
              </c:numCache>
            </c:numRef>
          </c:cat>
          <c:val>
            <c:numRef>
              <c:f>'Project Summary'!$B$87:$W$87</c:f>
              <c:numCache>
                <c:formatCode>General</c:formatCode>
                <c:ptCount val="22"/>
                <c:pt idx="0">
                  <c:v>7</c:v>
                </c:pt>
                <c:pt idx="1">
                  <c:v>5</c:v>
                </c:pt>
                <c:pt idx="2">
                  <c:v>5</c:v>
                </c:pt>
                <c:pt idx="3">
                  <c:v>5</c:v>
                </c:pt>
                <c:pt idx="4">
                  <c:v>5</c:v>
                </c:pt>
                <c:pt idx="5">
                  <c:v>5</c:v>
                </c:pt>
                <c:pt idx="6">
                  <c:v>5</c:v>
                </c:pt>
                <c:pt idx="7">
                  <c:v>2</c:v>
                </c:pt>
                <c:pt idx="8">
                  <c:v>1</c:v>
                </c:pt>
                <c:pt idx="9">
                  <c:v>2</c:v>
                </c:pt>
                <c:pt idx="10">
                  <c:v>2</c:v>
                </c:pt>
                <c:pt idx="11">
                  <c:v>2</c:v>
                </c:pt>
                <c:pt idx="12">
                  <c:v>1</c:v>
                </c:pt>
                <c:pt idx="13">
                  <c:v>1</c:v>
                </c:pt>
                <c:pt idx="14">
                  <c:v>1</c:v>
                </c:pt>
                <c:pt idx="15">
                  <c:v>1</c:v>
                </c:pt>
                <c:pt idx="16">
                  <c:v>2</c:v>
                </c:pt>
                <c:pt idx="20">
                  <c:v>3</c:v>
                </c:pt>
                <c:pt idx="21">
                  <c:v>3</c:v>
                </c:pt>
              </c:numCache>
            </c:numRef>
          </c:val>
        </c:ser>
        <c:ser>
          <c:idx val="6"/>
          <c:order val="10"/>
          <c:tx>
            <c:strRef>
              <c:f>'Project Summary'!$A$88</c:f>
              <c:strCache>
                <c:ptCount val="1"/>
                <c:pt idx="0">
                  <c:v>Issues with no Required Resolution Date</c:v>
                </c:pt>
              </c:strCache>
            </c:strRef>
          </c:tx>
          <c:cat>
            <c:numRef>
              <c:f>'Project Summary'!$B$77:$W$77</c:f>
              <c:numCache>
                <c:formatCode>dd\-mmm</c:formatCode>
                <c:ptCount val="22"/>
                <c:pt idx="0">
                  <c:v>40952</c:v>
                </c:pt>
                <c:pt idx="1">
                  <c:v>40955</c:v>
                </c:pt>
                <c:pt idx="2">
                  <c:v>40959</c:v>
                </c:pt>
                <c:pt idx="3">
                  <c:v>40962</c:v>
                </c:pt>
                <c:pt idx="4">
                  <c:v>40966</c:v>
                </c:pt>
                <c:pt idx="5">
                  <c:v>40969</c:v>
                </c:pt>
                <c:pt idx="6">
                  <c:v>40973</c:v>
                </c:pt>
                <c:pt idx="7">
                  <c:v>40974</c:v>
                </c:pt>
                <c:pt idx="8">
                  <c:v>40975</c:v>
                </c:pt>
                <c:pt idx="9">
                  <c:v>40976</c:v>
                </c:pt>
                <c:pt idx="10">
                  <c:v>40977</c:v>
                </c:pt>
                <c:pt idx="11">
                  <c:v>40980</c:v>
                </c:pt>
                <c:pt idx="12">
                  <c:v>40981</c:v>
                </c:pt>
                <c:pt idx="13">
                  <c:v>40982</c:v>
                </c:pt>
                <c:pt idx="14">
                  <c:v>40983</c:v>
                </c:pt>
                <c:pt idx="15">
                  <c:v>40984</c:v>
                </c:pt>
                <c:pt idx="16">
                  <c:v>40987</c:v>
                </c:pt>
                <c:pt idx="17">
                  <c:v>40988</c:v>
                </c:pt>
                <c:pt idx="18">
                  <c:v>40989</c:v>
                </c:pt>
                <c:pt idx="19">
                  <c:v>40990</c:v>
                </c:pt>
                <c:pt idx="20">
                  <c:v>40991</c:v>
                </c:pt>
                <c:pt idx="21">
                  <c:v>40994</c:v>
                </c:pt>
              </c:numCache>
            </c:numRef>
          </c:cat>
          <c:val>
            <c:numRef>
              <c:f>'Project Summary'!$B$88:$W$88</c:f>
              <c:numCache>
                <c:formatCode>General</c:formatCode>
                <c:ptCount val="22"/>
                <c:pt idx="0">
                  <c:v>12</c:v>
                </c:pt>
                <c:pt idx="1">
                  <c:v>2</c:v>
                </c:pt>
                <c:pt idx="2">
                  <c:v>2</c:v>
                </c:pt>
                <c:pt idx="3">
                  <c:v>2</c:v>
                </c:pt>
                <c:pt idx="4">
                  <c:v>4</c:v>
                </c:pt>
                <c:pt idx="5">
                  <c:v>4</c:v>
                </c:pt>
                <c:pt idx="6">
                  <c:v>4</c:v>
                </c:pt>
                <c:pt idx="7">
                  <c:v>2</c:v>
                </c:pt>
                <c:pt idx="8">
                  <c:v>2</c:v>
                </c:pt>
                <c:pt idx="9">
                  <c:v>2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20">
                  <c:v>0</c:v>
                </c:pt>
                <c:pt idx="21">
                  <c:v>0</c:v>
                </c:pt>
              </c:numCache>
            </c:numRef>
          </c:val>
        </c:ser>
        <c:ser>
          <c:idx val="11"/>
          <c:order val="11"/>
          <c:tx>
            <c:strRef>
              <c:f>'Project Summary'!$A$89</c:f>
              <c:strCache>
                <c:ptCount val="1"/>
                <c:pt idx="0">
                  <c:v>Issues open 1-3 months</c:v>
                </c:pt>
              </c:strCache>
            </c:strRef>
          </c:tx>
          <c:cat>
            <c:numRef>
              <c:f>'Project Summary'!$B$77:$W$77</c:f>
              <c:numCache>
                <c:formatCode>dd\-mmm</c:formatCode>
                <c:ptCount val="22"/>
                <c:pt idx="0">
                  <c:v>40952</c:v>
                </c:pt>
                <c:pt idx="1">
                  <c:v>40955</c:v>
                </c:pt>
                <c:pt idx="2">
                  <c:v>40959</c:v>
                </c:pt>
                <c:pt idx="3">
                  <c:v>40962</c:v>
                </c:pt>
                <c:pt idx="4">
                  <c:v>40966</c:v>
                </c:pt>
                <c:pt idx="5">
                  <c:v>40969</c:v>
                </c:pt>
                <c:pt idx="6">
                  <c:v>40973</c:v>
                </c:pt>
                <c:pt idx="7">
                  <c:v>40974</c:v>
                </c:pt>
                <c:pt idx="8">
                  <c:v>40975</c:v>
                </c:pt>
                <c:pt idx="9">
                  <c:v>40976</c:v>
                </c:pt>
                <c:pt idx="10">
                  <c:v>40977</c:v>
                </c:pt>
                <c:pt idx="11">
                  <c:v>40980</c:v>
                </c:pt>
                <c:pt idx="12">
                  <c:v>40981</c:v>
                </c:pt>
                <c:pt idx="13">
                  <c:v>40982</c:v>
                </c:pt>
                <c:pt idx="14">
                  <c:v>40983</c:v>
                </c:pt>
                <c:pt idx="15">
                  <c:v>40984</c:v>
                </c:pt>
                <c:pt idx="16">
                  <c:v>40987</c:v>
                </c:pt>
                <c:pt idx="17">
                  <c:v>40988</c:v>
                </c:pt>
                <c:pt idx="18">
                  <c:v>40989</c:v>
                </c:pt>
                <c:pt idx="19">
                  <c:v>40990</c:v>
                </c:pt>
                <c:pt idx="20">
                  <c:v>40991</c:v>
                </c:pt>
                <c:pt idx="21">
                  <c:v>40994</c:v>
                </c:pt>
              </c:numCache>
            </c:numRef>
          </c:cat>
          <c:val>
            <c:numRef>
              <c:f>'Project Summary'!$B$89:$W$89</c:f>
              <c:numCache>
                <c:formatCode>General</c:formatCode>
                <c:ptCount val="22"/>
                <c:pt idx="0">
                  <c:v>9</c:v>
                </c:pt>
                <c:pt idx="1">
                  <c:v>7</c:v>
                </c:pt>
                <c:pt idx="2">
                  <c:v>7</c:v>
                </c:pt>
                <c:pt idx="3">
                  <c:v>8</c:v>
                </c:pt>
                <c:pt idx="4">
                  <c:v>8</c:v>
                </c:pt>
                <c:pt idx="5">
                  <c:v>7</c:v>
                </c:pt>
                <c:pt idx="6">
                  <c:v>7</c:v>
                </c:pt>
                <c:pt idx="7">
                  <c:v>3</c:v>
                </c:pt>
                <c:pt idx="8">
                  <c:v>2</c:v>
                </c:pt>
                <c:pt idx="9">
                  <c:v>1</c:v>
                </c:pt>
                <c:pt idx="10">
                  <c:v>3</c:v>
                </c:pt>
                <c:pt idx="11">
                  <c:v>3</c:v>
                </c:pt>
                <c:pt idx="12">
                  <c:v>3</c:v>
                </c:pt>
                <c:pt idx="13">
                  <c:v>3</c:v>
                </c:pt>
                <c:pt idx="14">
                  <c:v>3</c:v>
                </c:pt>
                <c:pt idx="15">
                  <c:v>3</c:v>
                </c:pt>
                <c:pt idx="16">
                  <c:v>3</c:v>
                </c:pt>
                <c:pt idx="20">
                  <c:v>4</c:v>
                </c:pt>
                <c:pt idx="21">
                  <c:v>4</c:v>
                </c:pt>
              </c:numCache>
            </c:numRef>
          </c:val>
        </c:ser>
        <c:ser>
          <c:idx val="12"/>
          <c:order val="12"/>
          <c:tx>
            <c:strRef>
              <c:f>'Project Summary'!$A$90</c:f>
              <c:strCache>
                <c:ptCount val="1"/>
                <c:pt idx="0">
                  <c:v>Issues open 3-6 months</c:v>
                </c:pt>
              </c:strCache>
            </c:strRef>
          </c:tx>
          <c:cat>
            <c:numRef>
              <c:f>'Project Summary'!$B$77:$W$77</c:f>
              <c:numCache>
                <c:formatCode>dd\-mmm</c:formatCode>
                <c:ptCount val="22"/>
                <c:pt idx="0">
                  <c:v>40952</c:v>
                </c:pt>
                <c:pt idx="1">
                  <c:v>40955</c:v>
                </c:pt>
                <c:pt idx="2">
                  <c:v>40959</c:v>
                </c:pt>
                <c:pt idx="3">
                  <c:v>40962</c:v>
                </c:pt>
                <c:pt idx="4">
                  <c:v>40966</c:v>
                </c:pt>
                <c:pt idx="5">
                  <c:v>40969</c:v>
                </c:pt>
                <c:pt idx="6">
                  <c:v>40973</c:v>
                </c:pt>
                <c:pt idx="7">
                  <c:v>40974</c:v>
                </c:pt>
                <c:pt idx="8">
                  <c:v>40975</c:v>
                </c:pt>
                <c:pt idx="9">
                  <c:v>40976</c:v>
                </c:pt>
                <c:pt idx="10">
                  <c:v>40977</c:v>
                </c:pt>
                <c:pt idx="11">
                  <c:v>40980</c:v>
                </c:pt>
                <c:pt idx="12">
                  <c:v>40981</c:v>
                </c:pt>
                <c:pt idx="13">
                  <c:v>40982</c:v>
                </c:pt>
                <c:pt idx="14">
                  <c:v>40983</c:v>
                </c:pt>
                <c:pt idx="15">
                  <c:v>40984</c:v>
                </c:pt>
                <c:pt idx="16">
                  <c:v>40987</c:v>
                </c:pt>
                <c:pt idx="17">
                  <c:v>40988</c:v>
                </c:pt>
                <c:pt idx="18">
                  <c:v>40989</c:v>
                </c:pt>
                <c:pt idx="19">
                  <c:v>40990</c:v>
                </c:pt>
                <c:pt idx="20">
                  <c:v>40991</c:v>
                </c:pt>
                <c:pt idx="21">
                  <c:v>40994</c:v>
                </c:pt>
              </c:numCache>
            </c:numRef>
          </c:cat>
          <c:val>
            <c:numRef>
              <c:f>'Project Summary'!$B$90:$W$90</c:f>
              <c:numCache>
                <c:formatCode>General</c:formatCode>
                <c:ptCount val="22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  <c:pt idx="4">
                  <c:v>1</c:v>
                </c:pt>
                <c:pt idx="5">
                  <c:v>1</c:v>
                </c:pt>
                <c:pt idx="6">
                  <c:v>1</c:v>
                </c:pt>
                <c:pt idx="7">
                  <c:v>4</c:v>
                </c:pt>
                <c:pt idx="8">
                  <c:v>4</c:v>
                </c:pt>
                <c:pt idx="9">
                  <c:v>3</c:v>
                </c:pt>
                <c:pt idx="10">
                  <c:v>4</c:v>
                </c:pt>
                <c:pt idx="11">
                  <c:v>5</c:v>
                </c:pt>
                <c:pt idx="12">
                  <c:v>5</c:v>
                </c:pt>
                <c:pt idx="13">
                  <c:v>5</c:v>
                </c:pt>
                <c:pt idx="14">
                  <c:v>4</c:v>
                </c:pt>
                <c:pt idx="15">
                  <c:v>4</c:v>
                </c:pt>
                <c:pt idx="16">
                  <c:v>4</c:v>
                </c:pt>
                <c:pt idx="20">
                  <c:v>4</c:v>
                </c:pt>
                <c:pt idx="21">
                  <c:v>4</c:v>
                </c:pt>
              </c:numCache>
            </c:numRef>
          </c:val>
        </c:ser>
        <c:ser>
          <c:idx val="13"/>
          <c:order val="13"/>
          <c:tx>
            <c:strRef>
              <c:f>'Project Summary'!$A$91</c:f>
              <c:strCache>
                <c:ptCount val="1"/>
                <c:pt idx="0">
                  <c:v>Issues open longer than 6 months</c:v>
                </c:pt>
              </c:strCache>
            </c:strRef>
          </c:tx>
          <c:cat>
            <c:numRef>
              <c:f>'Project Summary'!$B$77:$W$77</c:f>
              <c:numCache>
                <c:formatCode>dd\-mmm</c:formatCode>
                <c:ptCount val="22"/>
                <c:pt idx="0">
                  <c:v>40952</c:v>
                </c:pt>
                <c:pt idx="1">
                  <c:v>40955</c:v>
                </c:pt>
                <c:pt idx="2">
                  <c:v>40959</c:v>
                </c:pt>
                <c:pt idx="3">
                  <c:v>40962</c:v>
                </c:pt>
                <c:pt idx="4">
                  <c:v>40966</c:v>
                </c:pt>
                <c:pt idx="5">
                  <c:v>40969</c:v>
                </c:pt>
                <c:pt idx="6">
                  <c:v>40973</c:v>
                </c:pt>
                <c:pt idx="7">
                  <c:v>40974</c:v>
                </c:pt>
                <c:pt idx="8">
                  <c:v>40975</c:v>
                </c:pt>
                <c:pt idx="9">
                  <c:v>40976</c:v>
                </c:pt>
                <c:pt idx="10">
                  <c:v>40977</c:v>
                </c:pt>
                <c:pt idx="11">
                  <c:v>40980</c:v>
                </c:pt>
                <c:pt idx="12">
                  <c:v>40981</c:v>
                </c:pt>
                <c:pt idx="13">
                  <c:v>40982</c:v>
                </c:pt>
                <c:pt idx="14">
                  <c:v>40983</c:v>
                </c:pt>
                <c:pt idx="15">
                  <c:v>40984</c:v>
                </c:pt>
                <c:pt idx="16">
                  <c:v>40987</c:v>
                </c:pt>
                <c:pt idx="17">
                  <c:v>40988</c:v>
                </c:pt>
                <c:pt idx="18">
                  <c:v>40989</c:v>
                </c:pt>
                <c:pt idx="19">
                  <c:v>40990</c:v>
                </c:pt>
                <c:pt idx="20">
                  <c:v>40991</c:v>
                </c:pt>
                <c:pt idx="21">
                  <c:v>40994</c:v>
                </c:pt>
              </c:numCache>
            </c:numRef>
          </c:cat>
          <c:val>
            <c:numRef>
              <c:f>'Project Summary'!$B$91:$W$91</c:f>
              <c:numCache>
                <c:formatCode>General</c:formatCode>
                <c:ptCount val="22"/>
                <c:pt idx="0">
                  <c:v>2</c:v>
                </c:pt>
                <c:pt idx="1">
                  <c:v>2</c:v>
                </c:pt>
                <c:pt idx="2">
                  <c:v>2</c:v>
                </c:pt>
                <c:pt idx="3">
                  <c:v>2</c:v>
                </c:pt>
                <c:pt idx="4">
                  <c:v>2</c:v>
                </c:pt>
                <c:pt idx="5">
                  <c:v>3</c:v>
                </c:pt>
                <c:pt idx="6">
                  <c:v>3</c:v>
                </c:pt>
                <c:pt idx="7">
                  <c:v>1</c:v>
                </c:pt>
                <c:pt idx="8">
                  <c:v>1</c:v>
                </c:pt>
                <c:pt idx="9">
                  <c:v>0</c:v>
                </c:pt>
                <c:pt idx="10">
                  <c:v>1</c:v>
                </c:pt>
                <c:pt idx="11">
                  <c:v>1</c:v>
                </c:pt>
                <c:pt idx="12">
                  <c:v>1</c:v>
                </c:pt>
                <c:pt idx="13">
                  <c:v>1</c:v>
                </c:pt>
                <c:pt idx="14">
                  <c:v>1</c:v>
                </c:pt>
                <c:pt idx="15">
                  <c:v>1</c:v>
                </c:pt>
                <c:pt idx="16">
                  <c:v>1</c:v>
                </c:pt>
                <c:pt idx="20">
                  <c:v>1</c:v>
                </c:pt>
                <c:pt idx="21">
                  <c:v>1</c:v>
                </c:pt>
              </c:numCache>
            </c:numRef>
          </c:val>
        </c:ser>
        <c:ser>
          <c:idx val="14"/>
          <c:order val="14"/>
          <c:tx>
            <c:strRef>
              <c:f>'Project Summary'!$A$92</c:f>
              <c:strCache>
                <c:ptCount val="1"/>
                <c:pt idx="0">
                  <c:v>Total Assumptions not yet validated</c:v>
                </c:pt>
              </c:strCache>
            </c:strRef>
          </c:tx>
          <c:cat>
            <c:numRef>
              <c:f>'Project Summary'!$B$77:$W$77</c:f>
              <c:numCache>
                <c:formatCode>dd\-mmm</c:formatCode>
                <c:ptCount val="22"/>
                <c:pt idx="0">
                  <c:v>40952</c:v>
                </c:pt>
                <c:pt idx="1">
                  <c:v>40955</c:v>
                </c:pt>
                <c:pt idx="2">
                  <c:v>40959</c:v>
                </c:pt>
                <c:pt idx="3">
                  <c:v>40962</c:v>
                </c:pt>
                <c:pt idx="4">
                  <c:v>40966</c:v>
                </c:pt>
                <c:pt idx="5">
                  <c:v>40969</c:v>
                </c:pt>
                <c:pt idx="6">
                  <c:v>40973</c:v>
                </c:pt>
                <c:pt idx="7">
                  <c:v>40974</c:v>
                </c:pt>
                <c:pt idx="8">
                  <c:v>40975</c:v>
                </c:pt>
                <c:pt idx="9">
                  <c:v>40976</c:v>
                </c:pt>
                <c:pt idx="10">
                  <c:v>40977</c:v>
                </c:pt>
                <c:pt idx="11">
                  <c:v>40980</c:v>
                </c:pt>
                <c:pt idx="12">
                  <c:v>40981</c:v>
                </c:pt>
                <c:pt idx="13">
                  <c:v>40982</c:v>
                </c:pt>
                <c:pt idx="14">
                  <c:v>40983</c:v>
                </c:pt>
                <c:pt idx="15">
                  <c:v>40984</c:v>
                </c:pt>
                <c:pt idx="16">
                  <c:v>40987</c:v>
                </c:pt>
                <c:pt idx="17">
                  <c:v>40988</c:v>
                </c:pt>
                <c:pt idx="18">
                  <c:v>40989</c:v>
                </c:pt>
                <c:pt idx="19">
                  <c:v>40990</c:v>
                </c:pt>
                <c:pt idx="20">
                  <c:v>40991</c:v>
                </c:pt>
                <c:pt idx="21">
                  <c:v>40994</c:v>
                </c:pt>
              </c:numCache>
            </c:numRef>
          </c:cat>
          <c:val>
            <c:numRef>
              <c:f>'Project Summary'!$B$92:$W$92</c:f>
              <c:numCache>
                <c:formatCode>General</c:formatCode>
                <c:ptCount val="22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  <c:pt idx="4">
                  <c:v>1</c:v>
                </c:pt>
                <c:pt idx="5">
                  <c:v>1</c:v>
                </c:pt>
                <c:pt idx="6">
                  <c:v>1</c:v>
                </c:pt>
                <c:pt idx="7">
                  <c:v>2</c:v>
                </c:pt>
                <c:pt idx="8">
                  <c:v>2</c:v>
                </c:pt>
                <c:pt idx="9">
                  <c:v>2</c:v>
                </c:pt>
                <c:pt idx="10">
                  <c:v>2</c:v>
                </c:pt>
                <c:pt idx="11">
                  <c:v>2</c:v>
                </c:pt>
                <c:pt idx="12">
                  <c:v>2</c:v>
                </c:pt>
                <c:pt idx="13">
                  <c:v>2</c:v>
                </c:pt>
                <c:pt idx="14">
                  <c:v>2</c:v>
                </c:pt>
                <c:pt idx="15">
                  <c:v>2</c:v>
                </c:pt>
                <c:pt idx="16">
                  <c:v>2</c:v>
                </c:pt>
                <c:pt idx="20">
                  <c:v>2</c:v>
                </c:pt>
                <c:pt idx="21">
                  <c:v>2</c:v>
                </c:pt>
              </c:numCache>
            </c:numRef>
          </c:val>
        </c:ser>
        <c:ser>
          <c:idx val="15"/>
          <c:order val="15"/>
          <c:tx>
            <c:strRef>
              <c:f>'Project Summary'!$A$93</c:f>
              <c:strCache>
                <c:ptCount val="1"/>
                <c:pt idx="0">
                  <c:v>Total Pending Decisions</c:v>
                </c:pt>
              </c:strCache>
            </c:strRef>
          </c:tx>
          <c:cat>
            <c:numRef>
              <c:f>'Project Summary'!$B$77:$W$77</c:f>
              <c:numCache>
                <c:formatCode>dd\-mmm</c:formatCode>
                <c:ptCount val="22"/>
                <c:pt idx="0">
                  <c:v>40952</c:v>
                </c:pt>
                <c:pt idx="1">
                  <c:v>40955</c:v>
                </c:pt>
                <c:pt idx="2">
                  <c:v>40959</c:v>
                </c:pt>
                <c:pt idx="3">
                  <c:v>40962</c:v>
                </c:pt>
                <c:pt idx="4">
                  <c:v>40966</c:v>
                </c:pt>
                <c:pt idx="5">
                  <c:v>40969</c:v>
                </c:pt>
                <c:pt idx="6">
                  <c:v>40973</c:v>
                </c:pt>
                <c:pt idx="7">
                  <c:v>40974</c:v>
                </c:pt>
                <c:pt idx="8">
                  <c:v>40975</c:v>
                </c:pt>
                <c:pt idx="9">
                  <c:v>40976</c:v>
                </c:pt>
                <c:pt idx="10">
                  <c:v>40977</c:v>
                </c:pt>
                <c:pt idx="11">
                  <c:v>40980</c:v>
                </c:pt>
                <c:pt idx="12">
                  <c:v>40981</c:v>
                </c:pt>
                <c:pt idx="13">
                  <c:v>40982</c:v>
                </c:pt>
                <c:pt idx="14">
                  <c:v>40983</c:v>
                </c:pt>
                <c:pt idx="15">
                  <c:v>40984</c:v>
                </c:pt>
                <c:pt idx="16">
                  <c:v>40987</c:v>
                </c:pt>
                <c:pt idx="17">
                  <c:v>40988</c:v>
                </c:pt>
                <c:pt idx="18">
                  <c:v>40989</c:v>
                </c:pt>
                <c:pt idx="19">
                  <c:v>40990</c:v>
                </c:pt>
                <c:pt idx="20">
                  <c:v>40991</c:v>
                </c:pt>
                <c:pt idx="21">
                  <c:v>40994</c:v>
                </c:pt>
              </c:numCache>
            </c:numRef>
          </c:cat>
          <c:val>
            <c:numRef>
              <c:f>'Project Summary'!$B$93:$W$93</c:f>
              <c:numCache>
                <c:formatCode>General</c:formatCode>
                <c:ptCount val="22"/>
                <c:pt idx="0">
                  <c:v>14</c:v>
                </c:pt>
                <c:pt idx="1">
                  <c:v>14</c:v>
                </c:pt>
                <c:pt idx="2">
                  <c:v>14</c:v>
                </c:pt>
                <c:pt idx="3">
                  <c:v>14</c:v>
                </c:pt>
                <c:pt idx="4">
                  <c:v>14</c:v>
                </c:pt>
                <c:pt idx="5">
                  <c:v>14</c:v>
                </c:pt>
                <c:pt idx="6">
                  <c:v>14</c:v>
                </c:pt>
                <c:pt idx="7">
                  <c:v>12</c:v>
                </c:pt>
                <c:pt idx="8">
                  <c:v>22</c:v>
                </c:pt>
                <c:pt idx="9">
                  <c:v>17</c:v>
                </c:pt>
                <c:pt idx="10">
                  <c:v>15</c:v>
                </c:pt>
                <c:pt idx="11">
                  <c:v>16</c:v>
                </c:pt>
                <c:pt idx="12">
                  <c:v>16</c:v>
                </c:pt>
                <c:pt idx="13">
                  <c:v>16</c:v>
                </c:pt>
                <c:pt idx="14">
                  <c:v>16</c:v>
                </c:pt>
                <c:pt idx="15">
                  <c:v>15</c:v>
                </c:pt>
                <c:pt idx="16">
                  <c:v>15</c:v>
                </c:pt>
                <c:pt idx="20">
                  <c:v>15</c:v>
                </c:pt>
                <c:pt idx="21">
                  <c:v>15</c:v>
                </c:pt>
              </c:numCache>
            </c:numRef>
          </c:val>
        </c:ser>
        <c:marker val="1"/>
        <c:axId val="225412608"/>
        <c:axId val="225601408"/>
      </c:lineChart>
      <c:dateAx>
        <c:axId val="225412608"/>
        <c:scaling>
          <c:orientation val="minMax"/>
        </c:scaling>
        <c:axPos val="b"/>
        <c:numFmt formatCode="dd\-mmm" sourceLinked="1"/>
        <c:majorTickMark val="none"/>
        <c:tickLblPos val="nextTo"/>
        <c:txPr>
          <a:bodyPr/>
          <a:lstStyle/>
          <a:p>
            <a:pPr>
              <a:defRPr sz="700"/>
            </a:pPr>
            <a:endParaRPr lang="en-US"/>
          </a:p>
        </c:txPr>
        <c:crossAx val="225601408"/>
        <c:crosses val="autoZero"/>
        <c:auto val="1"/>
        <c:lblOffset val="100"/>
        <c:baseTimeUnit val="days"/>
        <c:majorUnit val="3"/>
        <c:majorTimeUnit val="days"/>
      </c:dateAx>
      <c:valAx>
        <c:axId val="225601408"/>
        <c:scaling>
          <c:orientation val="minMax"/>
        </c:scaling>
        <c:axPos val="l"/>
        <c:majorGridlines/>
        <c:numFmt formatCode="General" sourceLinked="1"/>
        <c:majorTickMark val="none"/>
        <c:tickLblPos val="nextTo"/>
        <c:txPr>
          <a:bodyPr/>
          <a:lstStyle/>
          <a:p>
            <a:pPr>
              <a:defRPr sz="700"/>
            </a:pPr>
            <a:endParaRPr lang="en-US"/>
          </a:p>
        </c:txPr>
        <c:crossAx val="225412608"/>
        <c:crosses val="autoZero"/>
        <c:crossBetween val="between"/>
      </c:valAx>
    </c:plotArea>
    <c:legend>
      <c:legendPos val="r"/>
      <c:layout/>
      <c:txPr>
        <a:bodyPr/>
        <a:lstStyle/>
        <a:p>
          <a:pPr>
            <a:defRPr sz="650"/>
          </a:pPr>
          <a:endParaRPr lang="en-US"/>
        </a:p>
      </c:txPr>
    </c:legend>
    <c:plotVisOnly val="1"/>
    <c:dispBlanksAs val="gap"/>
  </c:chart>
  <c:externalData r:id="rId1"/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GB"/>
  <c:chart>
    <c:title>
      <c:tx>
        <c:rich>
          <a:bodyPr/>
          <a:lstStyle/>
          <a:p>
            <a:pPr>
              <a:defRPr sz="800"/>
            </a:pPr>
            <a:r>
              <a:rPr lang="en-US" sz="800"/>
              <a:t>Unified Communications</a:t>
            </a:r>
          </a:p>
        </c:rich>
      </c:tx>
      <c:layout/>
    </c:title>
    <c:plotArea>
      <c:layout/>
      <c:lineChart>
        <c:grouping val="standard"/>
        <c:ser>
          <c:idx val="0"/>
          <c:order val="0"/>
          <c:tx>
            <c:strRef>
              <c:f>'Project Summary'!$A$97</c:f>
              <c:strCache>
                <c:ptCount val="1"/>
                <c:pt idx="0">
                  <c:v>Total Open Risks</c:v>
                </c:pt>
              </c:strCache>
            </c:strRef>
          </c:tx>
          <c:cat>
            <c:numRef>
              <c:f>'Project Summary'!$B$96:$W$96</c:f>
              <c:numCache>
                <c:formatCode>dd\-mmm</c:formatCode>
                <c:ptCount val="22"/>
                <c:pt idx="0">
                  <c:v>40952</c:v>
                </c:pt>
                <c:pt idx="1">
                  <c:v>40955</c:v>
                </c:pt>
                <c:pt idx="2">
                  <c:v>40959</c:v>
                </c:pt>
                <c:pt idx="3">
                  <c:v>40962</c:v>
                </c:pt>
                <c:pt idx="4">
                  <c:v>40966</c:v>
                </c:pt>
                <c:pt idx="5">
                  <c:v>40969</c:v>
                </c:pt>
                <c:pt idx="6">
                  <c:v>40973</c:v>
                </c:pt>
                <c:pt idx="7">
                  <c:v>40974</c:v>
                </c:pt>
                <c:pt idx="8">
                  <c:v>40975</c:v>
                </c:pt>
                <c:pt idx="9">
                  <c:v>40976</c:v>
                </c:pt>
                <c:pt idx="10">
                  <c:v>40977</c:v>
                </c:pt>
                <c:pt idx="11">
                  <c:v>40980</c:v>
                </c:pt>
                <c:pt idx="12">
                  <c:v>40981</c:v>
                </c:pt>
                <c:pt idx="13">
                  <c:v>40982</c:v>
                </c:pt>
                <c:pt idx="14">
                  <c:v>40983</c:v>
                </c:pt>
                <c:pt idx="15">
                  <c:v>40984</c:v>
                </c:pt>
                <c:pt idx="16">
                  <c:v>40987</c:v>
                </c:pt>
                <c:pt idx="17">
                  <c:v>40988</c:v>
                </c:pt>
                <c:pt idx="18">
                  <c:v>40989</c:v>
                </c:pt>
                <c:pt idx="19">
                  <c:v>40990</c:v>
                </c:pt>
                <c:pt idx="20">
                  <c:v>40991</c:v>
                </c:pt>
                <c:pt idx="21">
                  <c:v>40994</c:v>
                </c:pt>
              </c:numCache>
            </c:numRef>
          </c:cat>
          <c:val>
            <c:numRef>
              <c:f>'Project Summary'!$B$97:$W$97</c:f>
              <c:numCache>
                <c:formatCode>General</c:formatCode>
                <c:ptCount val="22"/>
                <c:pt idx="0">
                  <c:v>3</c:v>
                </c:pt>
                <c:pt idx="1">
                  <c:v>3</c:v>
                </c:pt>
                <c:pt idx="2">
                  <c:v>3</c:v>
                </c:pt>
                <c:pt idx="3">
                  <c:v>5</c:v>
                </c:pt>
                <c:pt idx="4">
                  <c:v>5</c:v>
                </c:pt>
                <c:pt idx="5">
                  <c:v>6</c:v>
                </c:pt>
                <c:pt idx="6">
                  <c:v>9</c:v>
                </c:pt>
                <c:pt idx="7">
                  <c:v>8</c:v>
                </c:pt>
                <c:pt idx="8">
                  <c:v>8</c:v>
                </c:pt>
                <c:pt idx="9">
                  <c:v>8</c:v>
                </c:pt>
                <c:pt idx="10">
                  <c:v>8</c:v>
                </c:pt>
                <c:pt idx="11">
                  <c:v>8</c:v>
                </c:pt>
                <c:pt idx="12">
                  <c:v>7</c:v>
                </c:pt>
                <c:pt idx="13">
                  <c:v>7</c:v>
                </c:pt>
                <c:pt idx="14">
                  <c:v>7</c:v>
                </c:pt>
                <c:pt idx="15">
                  <c:v>7</c:v>
                </c:pt>
                <c:pt idx="16">
                  <c:v>7</c:v>
                </c:pt>
                <c:pt idx="20">
                  <c:v>7</c:v>
                </c:pt>
                <c:pt idx="21">
                  <c:v>7</c:v>
                </c:pt>
              </c:numCache>
            </c:numRef>
          </c:val>
        </c:ser>
        <c:ser>
          <c:idx val="1"/>
          <c:order val="1"/>
          <c:tx>
            <c:strRef>
              <c:f>'Project Summary'!$A$98</c:f>
              <c:strCache>
                <c:ptCount val="1"/>
                <c:pt idx="0">
                  <c:v>Total Open High or Critical Risks</c:v>
                </c:pt>
              </c:strCache>
            </c:strRef>
          </c:tx>
          <c:cat>
            <c:numRef>
              <c:f>'Project Summary'!$B$96:$W$96</c:f>
              <c:numCache>
                <c:formatCode>dd\-mmm</c:formatCode>
                <c:ptCount val="22"/>
                <c:pt idx="0">
                  <c:v>40952</c:v>
                </c:pt>
                <c:pt idx="1">
                  <c:v>40955</c:v>
                </c:pt>
                <c:pt idx="2">
                  <c:v>40959</c:v>
                </c:pt>
                <c:pt idx="3">
                  <c:v>40962</c:v>
                </c:pt>
                <c:pt idx="4">
                  <c:v>40966</c:v>
                </c:pt>
                <c:pt idx="5">
                  <c:v>40969</c:v>
                </c:pt>
                <c:pt idx="6">
                  <c:v>40973</c:v>
                </c:pt>
                <c:pt idx="7">
                  <c:v>40974</c:v>
                </c:pt>
                <c:pt idx="8">
                  <c:v>40975</c:v>
                </c:pt>
                <c:pt idx="9">
                  <c:v>40976</c:v>
                </c:pt>
                <c:pt idx="10">
                  <c:v>40977</c:v>
                </c:pt>
                <c:pt idx="11">
                  <c:v>40980</c:v>
                </c:pt>
                <c:pt idx="12">
                  <c:v>40981</c:v>
                </c:pt>
                <c:pt idx="13">
                  <c:v>40982</c:v>
                </c:pt>
                <c:pt idx="14">
                  <c:v>40983</c:v>
                </c:pt>
                <c:pt idx="15">
                  <c:v>40984</c:v>
                </c:pt>
                <c:pt idx="16">
                  <c:v>40987</c:v>
                </c:pt>
                <c:pt idx="17">
                  <c:v>40988</c:v>
                </c:pt>
                <c:pt idx="18">
                  <c:v>40989</c:v>
                </c:pt>
                <c:pt idx="19">
                  <c:v>40990</c:v>
                </c:pt>
                <c:pt idx="20">
                  <c:v>40991</c:v>
                </c:pt>
                <c:pt idx="21">
                  <c:v>40994</c:v>
                </c:pt>
              </c:numCache>
            </c:numRef>
          </c:cat>
          <c:val>
            <c:numRef>
              <c:f>'Project Summary'!$B$98:$W$98</c:f>
              <c:numCache>
                <c:formatCode>General</c:formatCode>
                <c:ptCount val="22"/>
                <c:pt idx="0">
                  <c:v>3</c:v>
                </c:pt>
                <c:pt idx="1">
                  <c:v>3</c:v>
                </c:pt>
                <c:pt idx="2">
                  <c:v>3</c:v>
                </c:pt>
                <c:pt idx="3">
                  <c:v>5</c:v>
                </c:pt>
                <c:pt idx="4">
                  <c:v>5</c:v>
                </c:pt>
                <c:pt idx="5">
                  <c:v>6</c:v>
                </c:pt>
                <c:pt idx="6">
                  <c:v>9</c:v>
                </c:pt>
                <c:pt idx="7">
                  <c:v>5</c:v>
                </c:pt>
                <c:pt idx="8">
                  <c:v>5</c:v>
                </c:pt>
                <c:pt idx="9">
                  <c:v>5</c:v>
                </c:pt>
                <c:pt idx="10">
                  <c:v>5</c:v>
                </c:pt>
                <c:pt idx="11">
                  <c:v>5</c:v>
                </c:pt>
                <c:pt idx="12">
                  <c:v>4</c:v>
                </c:pt>
                <c:pt idx="13">
                  <c:v>4</c:v>
                </c:pt>
                <c:pt idx="14">
                  <c:v>3</c:v>
                </c:pt>
                <c:pt idx="15">
                  <c:v>3</c:v>
                </c:pt>
                <c:pt idx="16">
                  <c:v>3</c:v>
                </c:pt>
                <c:pt idx="20">
                  <c:v>3</c:v>
                </c:pt>
                <c:pt idx="21">
                  <c:v>3</c:v>
                </c:pt>
              </c:numCache>
            </c:numRef>
          </c:val>
        </c:ser>
        <c:ser>
          <c:idx val="2"/>
          <c:order val="2"/>
          <c:tx>
            <c:strRef>
              <c:f>'Project Summary'!$A$99</c:f>
              <c:strCache>
                <c:ptCount val="1"/>
                <c:pt idx="0">
                  <c:v>Risks: Missed Required Resolution Date</c:v>
                </c:pt>
              </c:strCache>
            </c:strRef>
          </c:tx>
          <c:cat>
            <c:numRef>
              <c:f>'Project Summary'!$B$96:$W$96</c:f>
              <c:numCache>
                <c:formatCode>dd\-mmm</c:formatCode>
                <c:ptCount val="22"/>
                <c:pt idx="0">
                  <c:v>40952</c:v>
                </c:pt>
                <c:pt idx="1">
                  <c:v>40955</c:v>
                </c:pt>
                <c:pt idx="2">
                  <c:v>40959</c:v>
                </c:pt>
                <c:pt idx="3">
                  <c:v>40962</c:v>
                </c:pt>
                <c:pt idx="4">
                  <c:v>40966</c:v>
                </c:pt>
                <c:pt idx="5">
                  <c:v>40969</c:v>
                </c:pt>
                <c:pt idx="6">
                  <c:v>40973</c:v>
                </c:pt>
                <c:pt idx="7">
                  <c:v>40974</c:v>
                </c:pt>
                <c:pt idx="8">
                  <c:v>40975</c:v>
                </c:pt>
                <c:pt idx="9">
                  <c:v>40976</c:v>
                </c:pt>
                <c:pt idx="10">
                  <c:v>40977</c:v>
                </c:pt>
                <c:pt idx="11">
                  <c:v>40980</c:v>
                </c:pt>
                <c:pt idx="12">
                  <c:v>40981</c:v>
                </c:pt>
                <c:pt idx="13">
                  <c:v>40982</c:v>
                </c:pt>
                <c:pt idx="14">
                  <c:v>40983</c:v>
                </c:pt>
                <c:pt idx="15">
                  <c:v>40984</c:v>
                </c:pt>
                <c:pt idx="16">
                  <c:v>40987</c:v>
                </c:pt>
                <c:pt idx="17">
                  <c:v>40988</c:v>
                </c:pt>
                <c:pt idx="18">
                  <c:v>40989</c:v>
                </c:pt>
                <c:pt idx="19">
                  <c:v>40990</c:v>
                </c:pt>
                <c:pt idx="20">
                  <c:v>40991</c:v>
                </c:pt>
                <c:pt idx="21">
                  <c:v>40994</c:v>
                </c:pt>
              </c:numCache>
            </c:numRef>
          </c:cat>
          <c:val>
            <c:numRef>
              <c:f>'Project Summary'!$B$99:$W$99</c:f>
              <c:numCache>
                <c:formatCode>General</c:formatCode>
                <c:ptCount val="22"/>
                <c:pt idx="0">
                  <c:v>2</c:v>
                </c:pt>
                <c:pt idx="1">
                  <c:v>2</c:v>
                </c:pt>
                <c:pt idx="2">
                  <c:v>2</c:v>
                </c:pt>
                <c:pt idx="3">
                  <c:v>2</c:v>
                </c:pt>
                <c:pt idx="4">
                  <c:v>2</c:v>
                </c:pt>
                <c:pt idx="5">
                  <c:v>2</c:v>
                </c:pt>
                <c:pt idx="6">
                  <c:v>3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20">
                  <c:v>0</c:v>
                </c:pt>
                <c:pt idx="21">
                  <c:v>0</c:v>
                </c:pt>
              </c:numCache>
            </c:numRef>
          </c:val>
        </c:ser>
        <c:ser>
          <c:idx val="3"/>
          <c:order val="3"/>
          <c:tx>
            <c:strRef>
              <c:f>'Project Summary'!$A$100</c:f>
              <c:strCache>
                <c:ptCount val="1"/>
                <c:pt idx="0">
                  <c:v>Risks with no Required Resolution Date</c:v>
                </c:pt>
              </c:strCache>
            </c:strRef>
          </c:tx>
          <c:cat>
            <c:numRef>
              <c:f>'Project Summary'!$B$96:$W$96</c:f>
              <c:numCache>
                <c:formatCode>dd\-mmm</c:formatCode>
                <c:ptCount val="22"/>
                <c:pt idx="0">
                  <c:v>40952</c:v>
                </c:pt>
                <c:pt idx="1">
                  <c:v>40955</c:v>
                </c:pt>
                <c:pt idx="2">
                  <c:v>40959</c:v>
                </c:pt>
                <c:pt idx="3">
                  <c:v>40962</c:v>
                </c:pt>
                <c:pt idx="4">
                  <c:v>40966</c:v>
                </c:pt>
                <c:pt idx="5">
                  <c:v>40969</c:v>
                </c:pt>
                <c:pt idx="6">
                  <c:v>40973</c:v>
                </c:pt>
                <c:pt idx="7">
                  <c:v>40974</c:v>
                </c:pt>
                <c:pt idx="8">
                  <c:v>40975</c:v>
                </c:pt>
                <c:pt idx="9">
                  <c:v>40976</c:v>
                </c:pt>
                <c:pt idx="10">
                  <c:v>40977</c:v>
                </c:pt>
                <c:pt idx="11">
                  <c:v>40980</c:v>
                </c:pt>
                <c:pt idx="12">
                  <c:v>40981</c:v>
                </c:pt>
                <c:pt idx="13">
                  <c:v>40982</c:v>
                </c:pt>
                <c:pt idx="14">
                  <c:v>40983</c:v>
                </c:pt>
                <c:pt idx="15">
                  <c:v>40984</c:v>
                </c:pt>
                <c:pt idx="16">
                  <c:v>40987</c:v>
                </c:pt>
                <c:pt idx="17">
                  <c:v>40988</c:v>
                </c:pt>
                <c:pt idx="18">
                  <c:v>40989</c:v>
                </c:pt>
                <c:pt idx="19">
                  <c:v>40990</c:v>
                </c:pt>
                <c:pt idx="20">
                  <c:v>40991</c:v>
                </c:pt>
                <c:pt idx="21">
                  <c:v>40994</c:v>
                </c:pt>
              </c:numCache>
            </c:numRef>
          </c:cat>
          <c:val>
            <c:numRef>
              <c:f>'Project Summary'!$B$100:$W$100</c:f>
              <c:numCache>
                <c:formatCode>General</c:formatCode>
                <c:ptCount val="22"/>
                <c:pt idx="0">
                  <c:v>1</c:v>
                </c:pt>
                <c:pt idx="1">
                  <c:v>0</c:v>
                </c:pt>
                <c:pt idx="2">
                  <c:v>0</c:v>
                </c:pt>
                <c:pt idx="3">
                  <c:v>2</c:v>
                </c:pt>
                <c:pt idx="4">
                  <c:v>2</c:v>
                </c:pt>
                <c:pt idx="5">
                  <c:v>3</c:v>
                </c:pt>
                <c:pt idx="6">
                  <c:v>6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20">
                  <c:v>0</c:v>
                </c:pt>
                <c:pt idx="21">
                  <c:v>0</c:v>
                </c:pt>
              </c:numCache>
            </c:numRef>
          </c:val>
        </c:ser>
        <c:ser>
          <c:idx val="7"/>
          <c:order val="4"/>
          <c:tx>
            <c:strRef>
              <c:f>'Project Summary'!$A$101</c:f>
              <c:strCache>
                <c:ptCount val="1"/>
                <c:pt idx="0">
                  <c:v>Risks open 1-3 months</c:v>
                </c:pt>
              </c:strCache>
            </c:strRef>
          </c:tx>
          <c:cat>
            <c:numRef>
              <c:f>'Project Summary'!$B$96:$W$96</c:f>
              <c:numCache>
                <c:formatCode>dd\-mmm</c:formatCode>
                <c:ptCount val="22"/>
                <c:pt idx="0">
                  <c:v>40952</c:v>
                </c:pt>
                <c:pt idx="1">
                  <c:v>40955</c:v>
                </c:pt>
                <c:pt idx="2">
                  <c:v>40959</c:v>
                </c:pt>
                <c:pt idx="3">
                  <c:v>40962</c:v>
                </c:pt>
                <c:pt idx="4">
                  <c:v>40966</c:v>
                </c:pt>
                <c:pt idx="5">
                  <c:v>40969</c:v>
                </c:pt>
                <c:pt idx="6">
                  <c:v>40973</c:v>
                </c:pt>
                <c:pt idx="7">
                  <c:v>40974</c:v>
                </c:pt>
                <c:pt idx="8">
                  <c:v>40975</c:v>
                </c:pt>
                <c:pt idx="9">
                  <c:v>40976</c:v>
                </c:pt>
                <c:pt idx="10">
                  <c:v>40977</c:v>
                </c:pt>
                <c:pt idx="11">
                  <c:v>40980</c:v>
                </c:pt>
                <c:pt idx="12">
                  <c:v>40981</c:v>
                </c:pt>
                <c:pt idx="13">
                  <c:v>40982</c:v>
                </c:pt>
                <c:pt idx="14">
                  <c:v>40983</c:v>
                </c:pt>
                <c:pt idx="15">
                  <c:v>40984</c:v>
                </c:pt>
                <c:pt idx="16">
                  <c:v>40987</c:v>
                </c:pt>
                <c:pt idx="17">
                  <c:v>40988</c:v>
                </c:pt>
                <c:pt idx="18">
                  <c:v>40989</c:v>
                </c:pt>
                <c:pt idx="19">
                  <c:v>40990</c:v>
                </c:pt>
                <c:pt idx="20">
                  <c:v>40991</c:v>
                </c:pt>
                <c:pt idx="21">
                  <c:v>40994</c:v>
                </c:pt>
              </c:numCache>
            </c:numRef>
          </c:cat>
          <c:val>
            <c:numRef>
              <c:f>'Project Summary'!$B$101:$W$101</c:f>
              <c:numCache>
                <c:formatCode>General</c:formatCode>
                <c:ptCount val="22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1</c:v>
                </c:pt>
                <c:pt idx="12">
                  <c:v>1</c:v>
                </c:pt>
                <c:pt idx="13">
                  <c:v>1</c:v>
                </c:pt>
                <c:pt idx="14">
                  <c:v>1</c:v>
                </c:pt>
                <c:pt idx="15">
                  <c:v>1</c:v>
                </c:pt>
                <c:pt idx="16">
                  <c:v>1</c:v>
                </c:pt>
                <c:pt idx="20">
                  <c:v>3</c:v>
                </c:pt>
                <c:pt idx="21">
                  <c:v>3</c:v>
                </c:pt>
              </c:numCache>
            </c:numRef>
          </c:val>
        </c:ser>
        <c:ser>
          <c:idx val="8"/>
          <c:order val="5"/>
          <c:tx>
            <c:strRef>
              <c:f>'Project Summary'!$A$102</c:f>
              <c:strCache>
                <c:ptCount val="1"/>
                <c:pt idx="0">
                  <c:v>Risks open 3-6 months</c:v>
                </c:pt>
              </c:strCache>
            </c:strRef>
          </c:tx>
          <c:cat>
            <c:numRef>
              <c:f>'Project Summary'!$B$96:$W$96</c:f>
              <c:numCache>
                <c:formatCode>dd\-mmm</c:formatCode>
                <c:ptCount val="22"/>
                <c:pt idx="0">
                  <c:v>40952</c:v>
                </c:pt>
                <c:pt idx="1">
                  <c:v>40955</c:v>
                </c:pt>
                <c:pt idx="2">
                  <c:v>40959</c:v>
                </c:pt>
                <c:pt idx="3">
                  <c:v>40962</c:v>
                </c:pt>
                <c:pt idx="4">
                  <c:v>40966</c:v>
                </c:pt>
                <c:pt idx="5">
                  <c:v>40969</c:v>
                </c:pt>
                <c:pt idx="6">
                  <c:v>40973</c:v>
                </c:pt>
                <c:pt idx="7">
                  <c:v>40974</c:v>
                </c:pt>
                <c:pt idx="8">
                  <c:v>40975</c:v>
                </c:pt>
                <c:pt idx="9">
                  <c:v>40976</c:v>
                </c:pt>
                <c:pt idx="10">
                  <c:v>40977</c:v>
                </c:pt>
                <c:pt idx="11">
                  <c:v>40980</c:v>
                </c:pt>
                <c:pt idx="12">
                  <c:v>40981</c:v>
                </c:pt>
                <c:pt idx="13">
                  <c:v>40982</c:v>
                </c:pt>
                <c:pt idx="14">
                  <c:v>40983</c:v>
                </c:pt>
                <c:pt idx="15">
                  <c:v>40984</c:v>
                </c:pt>
                <c:pt idx="16">
                  <c:v>40987</c:v>
                </c:pt>
                <c:pt idx="17">
                  <c:v>40988</c:v>
                </c:pt>
                <c:pt idx="18">
                  <c:v>40989</c:v>
                </c:pt>
                <c:pt idx="19">
                  <c:v>40990</c:v>
                </c:pt>
                <c:pt idx="20">
                  <c:v>40991</c:v>
                </c:pt>
                <c:pt idx="21">
                  <c:v>40994</c:v>
                </c:pt>
              </c:numCache>
            </c:numRef>
          </c:cat>
          <c:val>
            <c:numRef>
              <c:f>'Project Summary'!$B$102:$W$102</c:f>
              <c:numCache>
                <c:formatCode>General</c:formatCode>
                <c:ptCount val="22"/>
                <c:pt idx="0">
                  <c:v>2</c:v>
                </c:pt>
                <c:pt idx="1">
                  <c:v>2</c:v>
                </c:pt>
                <c:pt idx="2">
                  <c:v>2</c:v>
                </c:pt>
                <c:pt idx="3">
                  <c:v>2</c:v>
                </c:pt>
                <c:pt idx="4">
                  <c:v>2</c:v>
                </c:pt>
                <c:pt idx="5">
                  <c:v>2</c:v>
                </c:pt>
                <c:pt idx="6">
                  <c:v>2</c:v>
                </c:pt>
                <c:pt idx="7">
                  <c:v>1</c:v>
                </c:pt>
                <c:pt idx="8">
                  <c:v>1</c:v>
                </c:pt>
                <c:pt idx="9">
                  <c:v>1</c:v>
                </c:pt>
                <c:pt idx="10">
                  <c:v>1</c:v>
                </c:pt>
                <c:pt idx="11">
                  <c:v>1</c:v>
                </c:pt>
                <c:pt idx="12">
                  <c:v>1</c:v>
                </c:pt>
                <c:pt idx="13">
                  <c:v>1</c:v>
                </c:pt>
                <c:pt idx="14">
                  <c:v>1</c:v>
                </c:pt>
                <c:pt idx="15">
                  <c:v>1</c:v>
                </c:pt>
                <c:pt idx="16">
                  <c:v>1</c:v>
                </c:pt>
                <c:pt idx="20">
                  <c:v>1</c:v>
                </c:pt>
                <c:pt idx="21">
                  <c:v>1</c:v>
                </c:pt>
              </c:numCache>
            </c:numRef>
          </c:val>
        </c:ser>
        <c:ser>
          <c:idx val="9"/>
          <c:order val="6"/>
          <c:tx>
            <c:strRef>
              <c:f>'Project Summary'!$A$103</c:f>
              <c:strCache>
                <c:ptCount val="1"/>
                <c:pt idx="0">
                  <c:v>Risks open longer than 6 months</c:v>
                </c:pt>
              </c:strCache>
            </c:strRef>
          </c:tx>
          <c:cat>
            <c:numRef>
              <c:f>'Project Summary'!$B$96:$W$96</c:f>
              <c:numCache>
                <c:formatCode>dd\-mmm</c:formatCode>
                <c:ptCount val="22"/>
                <c:pt idx="0">
                  <c:v>40952</c:v>
                </c:pt>
                <c:pt idx="1">
                  <c:v>40955</c:v>
                </c:pt>
                <c:pt idx="2">
                  <c:v>40959</c:v>
                </c:pt>
                <c:pt idx="3">
                  <c:v>40962</c:v>
                </c:pt>
                <c:pt idx="4">
                  <c:v>40966</c:v>
                </c:pt>
                <c:pt idx="5">
                  <c:v>40969</c:v>
                </c:pt>
                <c:pt idx="6">
                  <c:v>40973</c:v>
                </c:pt>
                <c:pt idx="7">
                  <c:v>40974</c:v>
                </c:pt>
                <c:pt idx="8">
                  <c:v>40975</c:v>
                </c:pt>
                <c:pt idx="9">
                  <c:v>40976</c:v>
                </c:pt>
                <c:pt idx="10">
                  <c:v>40977</c:v>
                </c:pt>
                <c:pt idx="11">
                  <c:v>40980</c:v>
                </c:pt>
                <c:pt idx="12">
                  <c:v>40981</c:v>
                </c:pt>
                <c:pt idx="13">
                  <c:v>40982</c:v>
                </c:pt>
                <c:pt idx="14">
                  <c:v>40983</c:v>
                </c:pt>
                <c:pt idx="15">
                  <c:v>40984</c:v>
                </c:pt>
                <c:pt idx="16">
                  <c:v>40987</c:v>
                </c:pt>
                <c:pt idx="17">
                  <c:v>40988</c:v>
                </c:pt>
                <c:pt idx="18">
                  <c:v>40989</c:v>
                </c:pt>
                <c:pt idx="19">
                  <c:v>40990</c:v>
                </c:pt>
                <c:pt idx="20">
                  <c:v>40991</c:v>
                </c:pt>
                <c:pt idx="21">
                  <c:v>40994</c:v>
                </c:pt>
              </c:numCache>
            </c:numRef>
          </c:cat>
          <c:val>
            <c:numRef>
              <c:f>'Project Summary'!$B$103:$W$103</c:f>
              <c:numCache>
                <c:formatCode>General</c:formatCode>
                <c:ptCount val="22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20">
                  <c:v>0</c:v>
                </c:pt>
                <c:pt idx="21">
                  <c:v>0</c:v>
                </c:pt>
              </c:numCache>
            </c:numRef>
          </c:val>
        </c:ser>
        <c:ser>
          <c:idx val="10"/>
          <c:order val="7"/>
          <c:tx>
            <c:strRef>
              <c:f>'Project Summary'!$A$104</c:f>
              <c:strCache>
                <c:ptCount val="1"/>
                <c:pt idx="0">
                  <c:v>Total Open Issues</c:v>
                </c:pt>
              </c:strCache>
            </c:strRef>
          </c:tx>
          <c:cat>
            <c:numRef>
              <c:f>'Project Summary'!$B$96:$W$96</c:f>
              <c:numCache>
                <c:formatCode>dd\-mmm</c:formatCode>
                <c:ptCount val="22"/>
                <c:pt idx="0">
                  <c:v>40952</c:v>
                </c:pt>
                <c:pt idx="1">
                  <c:v>40955</c:v>
                </c:pt>
                <c:pt idx="2">
                  <c:v>40959</c:v>
                </c:pt>
                <c:pt idx="3">
                  <c:v>40962</c:v>
                </c:pt>
                <c:pt idx="4">
                  <c:v>40966</c:v>
                </c:pt>
                <c:pt idx="5">
                  <c:v>40969</c:v>
                </c:pt>
                <c:pt idx="6">
                  <c:v>40973</c:v>
                </c:pt>
                <c:pt idx="7">
                  <c:v>40974</c:v>
                </c:pt>
                <c:pt idx="8">
                  <c:v>40975</c:v>
                </c:pt>
                <c:pt idx="9">
                  <c:v>40976</c:v>
                </c:pt>
                <c:pt idx="10">
                  <c:v>40977</c:v>
                </c:pt>
                <c:pt idx="11">
                  <c:v>40980</c:v>
                </c:pt>
                <c:pt idx="12">
                  <c:v>40981</c:v>
                </c:pt>
                <c:pt idx="13">
                  <c:v>40982</c:v>
                </c:pt>
                <c:pt idx="14">
                  <c:v>40983</c:v>
                </c:pt>
                <c:pt idx="15">
                  <c:v>40984</c:v>
                </c:pt>
                <c:pt idx="16">
                  <c:v>40987</c:v>
                </c:pt>
                <c:pt idx="17">
                  <c:v>40988</c:v>
                </c:pt>
                <c:pt idx="18">
                  <c:v>40989</c:v>
                </c:pt>
                <c:pt idx="19">
                  <c:v>40990</c:v>
                </c:pt>
                <c:pt idx="20">
                  <c:v>40991</c:v>
                </c:pt>
                <c:pt idx="21">
                  <c:v>40994</c:v>
                </c:pt>
              </c:numCache>
            </c:numRef>
          </c:cat>
          <c:val>
            <c:numRef>
              <c:f>'Project Summary'!$B$104:$W$104</c:f>
              <c:numCache>
                <c:formatCode>General</c:formatCode>
                <c:ptCount val="22"/>
                <c:pt idx="0">
                  <c:v>2</c:v>
                </c:pt>
                <c:pt idx="1">
                  <c:v>2</c:v>
                </c:pt>
                <c:pt idx="2">
                  <c:v>2</c:v>
                </c:pt>
                <c:pt idx="3">
                  <c:v>2</c:v>
                </c:pt>
                <c:pt idx="4">
                  <c:v>2</c:v>
                </c:pt>
                <c:pt idx="5">
                  <c:v>1</c:v>
                </c:pt>
                <c:pt idx="6">
                  <c:v>1</c:v>
                </c:pt>
                <c:pt idx="7">
                  <c:v>1</c:v>
                </c:pt>
                <c:pt idx="8">
                  <c:v>1</c:v>
                </c:pt>
                <c:pt idx="9">
                  <c:v>1</c:v>
                </c:pt>
                <c:pt idx="10">
                  <c:v>1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20">
                  <c:v>0</c:v>
                </c:pt>
                <c:pt idx="21">
                  <c:v>0</c:v>
                </c:pt>
              </c:numCache>
            </c:numRef>
          </c:val>
        </c:ser>
        <c:ser>
          <c:idx val="4"/>
          <c:order val="8"/>
          <c:tx>
            <c:strRef>
              <c:f>'Project Summary'!$A$105</c:f>
              <c:strCache>
                <c:ptCount val="1"/>
                <c:pt idx="0">
                  <c:v>Total Open High or Critical Issues</c:v>
                </c:pt>
              </c:strCache>
            </c:strRef>
          </c:tx>
          <c:cat>
            <c:numRef>
              <c:f>'Project Summary'!$B$96:$W$96</c:f>
              <c:numCache>
                <c:formatCode>dd\-mmm</c:formatCode>
                <c:ptCount val="22"/>
                <c:pt idx="0">
                  <c:v>40952</c:v>
                </c:pt>
                <c:pt idx="1">
                  <c:v>40955</c:v>
                </c:pt>
                <c:pt idx="2">
                  <c:v>40959</c:v>
                </c:pt>
                <c:pt idx="3">
                  <c:v>40962</c:v>
                </c:pt>
                <c:pt idx="4">
                  <c:v>40966</c:v>
                </c:pt>
                <c:pt idx="5">
                  <c:v>40969</c:v>
                </c:pt>
                <c:pt idx="6">
                  <c:v>40973</c:v>
                </c:pt>
                <c:pt idx="7">
                  <c:v>40974</c:v>
                </c:pt>
                <c:pt idx="8">
                  <c:v>40975</c:v>
                </c:pt>
                <c:pt idx="9">
                  <c:v>40976</c:v>
                </c:pt>
                <c:pt idx="10">
                  <c:v>40977</c:v>
                </c:pt>
                <c:pt idx="11">
                  <c:v>40980</c:v>
                </c:pt>
                <c:pt idx="12">
                  <c:v>40981</c:v>
                </c:pt>
                <c:pt idx="13">
                  <c:v>40982</c:v>
                </c:pt>
                <c:pt idx="14">
                  <c:v>40983</c:v>
                </c:pt>
                <c:pt idx="15">
                  <c:v>40984</c:v>
                </c:pt>
                <c:pt idx="16">
                  <c:v>40987</c:v>
                </c:pt>
                <c:pt idx="17">
                  <c:v>40988</c:v>
                </c:pt>
                <c:pt idx="18">
                  <c:v>40989</c:v>
                </c:pt>
                <c:pt idx="19">
                  <c:v>40990</c:v>
                </c:pt>
                <c:pt idx="20">
                  <c:v>40991</c:v>
                </c:pt>
                <c:pt idx="21">
                  <c:v>40994</c:v>
                </c:pt>
              </c:numCache>
            </c:numRef>
          </c:cat>
          <c:val>
            <c:numRef>
              <c:f>'Project Summary'!$B$105:$W$105</c:f>
              <c:numCache>
                <c:formatCode>General</c:formatCode>
                <c:ptCount val="22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  <c:pt idx="4">
                  <c:v>1</c:v>
                </c:pt>
                <c:pt idx="5">
                  <c:v>1</c:v>
                </c:pt>
                <c:pt idx="6">
                  <c:v>1</c:v>
                </c:pt>
                <c:pt idx="7">
                  <c:v>1</c:v>
                </c:pt>
                <c:pt idx="8">
                  <c:v>1</c:v>
                </c:pt>
                <c:pt idx="9">
                  <c:v>1</c:v>
                </c:pt>
                <c:pt idx="10">
                  <c:v>1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20">
                  <c:v>0</c:v>
                </c:pt>
                <c:pt idx="21">
                  <c:v>0</c:v>
                </c:pt>
              </c:numCache>
            </c:numRef>
          </c:val>
        </c:ser>
        <c:ser>
          <c:idx val="5"/>
          <c:order val="9"/>
          <c:tx>
            <c:strRef>
              <c:f>'Project Summary'!$A$106</c:f>
              <c:strCache>
                <c:ptCount val="1"/>
                <c:pt idx="0">
                  <c:v>Issues: Missed Required Resolution Date</c:v>
                </c:pt>
              </c:strCache>
            </c:strRef>
          </c:tx>
          <c:cat>
            <c:numRef>
              <c:f>'Project Summary'!$B$96:$W$96</c:f>
              <c:numCache>
                <c:formatCode>dd\-mmm</c:formatCode>
                <c:ptCount val="22"/>
                <c:pt idx="0">
                  <c:v>40952</c:v>
                </c:pt>
                <c:pt idx="1">
                  <c:v>40955</c:v>
                </c:pt>
                <c:pt idx="2">
                  <c:v>40959</c:v>
                </c:pt>
                <c:pt idx="3">
                  <c:v>40962</c:v>
                </c:pt>
                <c:pt idx="4">
                  <c:v>40966</c:v>
                </c:pt>
                <c:pt idx="5">
                  <c:v>40969</c:v>
                </c:pt>
                <c:pt idx="6">
                  <c:v>40973</c:v>
                </c:pt>
                <c:pt idx="7">
                  <c:v>40974</c:v>
                </c:pt>
                <c:pt idx="8">
                  <c:v>40975</c:v>
                </c:pt>
                <c:pt idx="9">
                  <c:v>40976</c:v>
                </c:pt>
                <c:pt idx="10">
                  <c:v>40977</c:v>
                </c:pt>
                <c:pt idx="11">
                  <c:v>40980</c:v>
                </c:pt>
                <c:pt idx="12">
                  <c:v>40981</c:v>
                </c:pt>
                <c:pt idx="13">
                  <c:v>40982</c:v>
                </c:pt>
                <c:pt idx="14">
                  <c:v>40983</c:v>
                </c:pt>
                <c:pt idx="15">
                  <c:v>40984</c:v>
                </c:pt>
                <c:pt idx="16">
                  <c:v>40987</c:v>
                </c:pt>
                <c:pt idx="17">
                  <c:v>40988</c:v>
                </c:pt>
                <c:pt idx="18">
                  <c:v>40989</c:v>
                </c:pt>
                <c:pt idx="19">
                  <c:v>40990</c:v>
                </c:pt>
                <c:pt idx="20">
                  <c:v>40991</c:v>
                </c:pt>
                <c:pt idx="21">
                  <c:v>40994</c:v>
                </c:pt>
              </c:numCache>
            </c:numRef>
          </c:cat>
          <c:val>
            <c:numRef>
              <c:f>'Project Summary'!$B$106:$W$106</c:f>
              <c:numCache>
                <c:formatCode>General</c:formatCode>
                <c:ptCount val="22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1</c:v>
                </c:pt>
                <c:pt idx="6">
                  <c:v>1</c:v>
                </c:pt>
                <c:pt idx="7">
                  <c:v>1</c:v>
                </c:pt>
                <c:pt idx="8">
                  <c:v>1</c:v>
                </c:pt>
                <c:pt idx="9">
                  <c:v>1</c:v>
                </c:pt>
                <c:pt idx="10">
                  <c:v>1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20">
                  <c:v>0</c:v>
                </c:pt>
                <c:pt idx="21">
                  <c:v>0</c:v>
                </c:pt>
              </c:numCache>
            </c:numRef>
          </c:val>
        </c:ser>
        <c:ser>
          <c:idx val="6"/>
          <c:order val="10"/>
          <c:tx>
            <c:strRef>
              <c:f>'Project Summary'!$A$107</c:f>
              <c:strCache>
                <c:ptCount val="1"/>
                <c:pt idx="0">
                  <c:v>Issues with no Required Resolution Date</c:v>
                </c:pt>
              </c:strCache>
            </c:strRef>
          </c:tx>
          <c:cat>
            <c:numRef>
              <c:f>'Project Summary'!$B$96:$W$96</c:f>
              <c:numCache>
                <c:formatCode>dd\-mmm</c:formatCode>
                <c:ptCount val="22"/>
                <c:pt idx="0">
                  <c:v>40952</c:v>
                </c:pt>
                <c:pt idx="1">
                  <c:v>40955</c:v>
                </c:pt>
                <c:pt idx="2">
                  <c:v>40959</c:v>
                </c:pt>
                <c:pt idx="3">
                  <c:v>40962</c:v>
                </c:pt>
                <c:pt idx="4">
                  <c:v>40966</c:v>
                </c:pt>
                <c:pt idx="5">
                  <c:v>40969</c:v>
                </c:pt>
                <c:pt idx="6">
                  <c:v>40973</c:v>
                </c:pt>
                <c:pt idx="7">
                  <c:v>40974</c:v>
                </c:pt>
                <c:pt idx="8">
                  <c:v>40975</c:v>
                </c:pt>
                <c:pt idx="9">
                  <c:v>40976</c:v>
                </c:pt>
                <c:pt idx="10">
                  <c:v>40977</c:v>
                </c:pt>
                <c:pt idx="11">
                  <c:v>40980</c:v>
                </c:pt>
                <c:pt idx="12">
                  <c:v>40981</c:v>
                </c:pt>
                <c:pt idx="13">
                  <c:v>40982</c:v>
                </c:pt>
                <c:pt idx="14">
                  <c:v>40983</c:v>
                </c:pt>
                <c:pt idx="15">
                  <c:v>40984</c:v>
                </c:pt>
                <c:pt idx="16">
                  <c:v>40987</c:v>
                </c:pt>
                <c:pt idx="17">
                  <c:v>40988</c:v>
                </c:pt>
                <c:pt idx="18">
                  <c:v>40989</c:v>
                </c:pt>
                <c:pt idx="19">
                  <c:v>40990</c:v>
                </c:pt>
                <c:pt idx="20">
                  <c:v>40991</c:v>
                </c:pt>
                <c:pt idx="21">
                  <c:v>40994</c:v>
                </c:pt>
              </c:numCache>
            </c:numRef>
          </c:cat>
          <c:val>
            <c:numRef>
              <c:f>'Project Summary'!$B$107:$W$107</c:f>
              <c:numCache>
                <c:formatCode>General</c:formatCode>
                <c:ptCount val="22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  <c:pt idx="4">
                  <c:v>1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20">
                  <c:v>0</c:v>
                </c:pt>
                <c:pt idx="21">
                  <c:v>0</c:v>
                </c:pt>
              </c:numCache>
            </c:numRef>
          </c:val>
        </c:ser>
        <c:ser>
          <c:idx val="11"/>
          <c:order val="11"/>
          <c:tx>
            <c:strRef>
              <c:f>'Project Summary'!$A$108</c:f>
              <c:strCache>
                <c:ptCount val="1"/>
                <c:pt idx="0">
                  <c:v>Issues open 1-3 months</c:v>
                </c:pt>
              </c:strCache>
            </c:strRef>
          </c:tx>
          <c:cat>
            <c:numRef>
              <c:f>'Project Summary'!$B$96:$W$96</c:f>
              <c:numCache>
                <c:formatCode>dd\-mmm</c:formatCode>
                <c:ptCount val="22"/>
                <c:pt idx="0">
                  <c:v>40952</c:v>
                </c:pt>
                <c:pt idx="1">
                  <c:v>40955</c:v>
                </c:pt>
                <c:pt idx="2">
                  <c:v>40959</c:v>
                </c:pt>
                <c:pt idx="3">
                  <c:v>40962</c:v>
                </c:pt>
                <c:pt idx="4">
                  <c:v>40966</c:v>
                </c:pt>
                <c:pt idx="5">
                  <c:v>40969</c:v>
                </c:pt>
                <c:pt idx="6">
                  <c:v>40973</c:v>
                </c:pt>
                <c:pt idx="7">
                  <c:v>40974</c:v>
                </c:pt>
                <c:pt idx="8">
                  <c:v>40975</c:v>
                </c:pt>
                <c:pt idx="9">
                  <c:v>40976</c:v>
                </c:pt>
                <c:pt idx="10">
                  <c:v>40977</c:v>
                </c:pt>
                <c:pt idx="11">
                  <c:v>40980</c:v>
                </c:pt>
                <c:pt idx="12">
                  <c:v>40981</c:v>
                </c:pt>
                <c:pt idx="13">
                  <c:v>40982</c:v>
                </c:pt>
                <c:pt idx="14">
                  <c:v>40983</c:v>
                </c:pt>
                <c:pt idx="15">
                  <c:v>40984</c:v>
                </c:pt>
                <c:pt idx="16">
                  <c:v>40987</c:v>
                </c:pt>
                <c:pt idx="17">
                  <c:v>40988</c:v>
                </c:pt>
                <c:pt idx="18">
                  <c:v>40989</c:v>
                </c:pt>
                <c:pt idx="19">
                  <c:v>40990</c:v>
                </c:pt>
                <c:pt idx="20">
                  <c:v>40991</c:v>
                </c:pt>
                <c:pt idx="21">
                  <c:v>40994</c:v>
                </c:pt>
              </c:numCache>
            </c:numRef>
          </c:cat>
          <c:val>
            <c:numRef>
              <c:f>'Project Summary'!$B$108:$W$108</c:f>
              <c:numCache>
                <c:formatCode>General</c:formatCode>
                <c:ptCount val="22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1</c:v>
                </c:pt>
                <c:pt idx="5">
                  <c:v>1</c:v>
                </c:pt>
                <c:pt idx="6">
                  <c:v>1</c:v>
                </c:pt>
                <c:pt idx="7">
                  <c:v>1</c:v>
                </c:pt>
                <c:pt idx="8">
                  <c:v>1</c:v>
                </c:pt>
                <c:pt idx="9">
                  <c:v>1</c:v>
                </c:pt>
                <c:pt idx="10">
                  <c:v>1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20">
                  <c:v>0</c:v>
                </c:pt>
                <c:pt idx="21">
                  <c:v>0</c:v>
                </c:pt>
              </c:numCache>
            </c:numRef>
          </c:val>
        </c:ser>
        <c:ser>
          <c:idx val="12"/>
          <c:order val="12"/>
          <c:tx>
            <c:strRef>
              <c:f>'Project Summary'!$A$109</c:f>
              <c:strCache>
                <c:ptCount val="1"/>
                <c:pt idx="0">
                  <c:v>Issues open 3-6 months</c:v>
                </c:pt>
              </c:strCache>
            </c:strRef>
          </c:tx>
          <c:cat>
            <c:numRef>
              <c:f>'Project Summary'!$B$96:$W$96</c:f>
              <c:numCache>
                <c:formatCode>dd\-mmm</c:formatCode>
                <c:ptCount val="22"/>
                <c:pt idx="0">
                  <c:v>40952</c:v>
                </c:pt>
                <c:pt idx="1">
                  <c:v>40955</c:v>
                </c:pt>
                <c:pt idx="2">
                  <c:v>40959</c:v>
                </c:pt>
                <c:pt idx="3">
                  <c:v>40962</c:v>
                </c:pt>
                <c:pt idx="4">
                  <c:v>40966</c:v>
                </c:pt>
                <c:pt idx="5">
                  <c:v>40969</c:v>
                </c:pt>
                <c:pt idx="6">
                  <c:v>40973</c:v>
                </c:pt>
                <c:pt idx="7">
                  <c:v>40974</c:v>
                </c:pt>
                <c:pt idx="8">
                  <c:v>40975</c:v>
                </c:pt>
                <c:pt idx="9">
                  <c:v>40976</c:v>
                </c:pt>
                <c:pt idx="10">
                  <c:v>40977</c:v>
                </c:pt>
                <c:pt idx="11">
                  <c:v>40980</c:v>
                </c:pt>
                <c:pt idx="12">
                  <c:v>40981</c:v>
                </c:pt>
                <c:pt idx="13">
                  <c:v>40982</c:v>
                </c:pt>
                <c:pt idx="14">
                  <c:v>40983</c:v>
                </c:pt>
                <c:pt idx="15">
                  <c:v>40984</c:v>
                </c:pt>
                <c:pt idx="16">
                  <c:v>40987</c:v>
                </c:pt>
                <c:pt idx="17">
                  <c:v>40988</c:v>
                </c:pt>
                <c:pt idx="18">
                  <c:v>40989</c:v>
                </c:pt>
                <c:pt idx="19">
                  <c:v>40990</c:v>
                </c:pt>
                <c:pt idx="20">
                  <c:v>40991</c:v>
                </c:pt>
                <c:pt idx="21">
                  <c:v>40994</c:v>
                </c:pt>
              </c:numCache>
            </c:numRef>
          </c:cat>
          <c:val>
            <c:numRef>
              <c:f>'Project Summary'!$B$109:$W$109</c:f>
              <c:numCache>
                <c:formatCode>General</c:formatCode>
                <c:ptCount val="22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  <c:pt idx="4">
                  <c:v>1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20">
                  <c:v>0</c:v>
                </c:pt>
                <c:pt idx="21">
                  <c:v>0</c:v>
                </c:pt>
              </c:numCache>
            </c:numRef>
          </c:val>
        </c:ser>
        <c:ser>
          <c:idx val="13"/>
          <c:order val="13"/>
          <c:tx>
            <c:strRef>
              <c:f>'Project Summary'!$A$110</c:f>
              <c:strCache>
                <c:ptCount val="1"/>
                <c:pt idx="0">
                  <c:v>Issues open longer than 6 months</c:v>
                </c:pt>
              </c:strCache>
            </c:strRef>
          </c:tx>
          <c:cat>
            <c:numRef>
              <c:f>'Project Summary'!$B$96:$W$96</c:f>
              <c:numCache>
                <c:formatCode>dd\-mmm</c:formatCode>
                <c:ptCount val="22"/>
                <c:pt idx="0">
                  <c:v>40952</c:v>
                </c:pt>
                <c:pt idx="1">
                  <c:v>40955</c:v>
                </c:pt>
                <c:pt idx="2">
                  <c:v>40959</c:v>
                </c:pt>
                <c:pt idx="3">
                  <c:v>40962</c:v>
                </c:pt>
                <c:pt idx="4">
                  <c:v>40966</c:v>
                </c:pt>
                <c:pt idx="5">
                  <c:v>40969</c:v>
                </c:pt>
                <c:pt idx="6">
                  <c:v>40973</c:v>
                </c:pt>
                <c:pt idx="7">
                  <c:v>40974</c:v>
                </c:pt>
                <c:pt idx="8">
                  <c:v>40975</c:v>
                </c:pt>
                <c:pt idx="9">
                  <c:v>40976</c:v>
                </c:pt>
                <c:pt idx="10">
                  <c:v>40977</c:v>
                </c:pt>
                <c:pt idx="11">
                  <c:v>40980</c:v>
                </c:pt>
                <c:pt idx="12">
                  <c:v>40981</c:v>
                </c:pt>
                <c:pt idx="13">
                  <c:v>40982</c:v>
                </c:pt>
                <c:pt idx="14">
                  <c:v>40983</c:v>
                </c:pt>
                <c:pt idx="15">
                  <c:v>40984</c:v>
                </c:pt>
                <c:pt idx="16">
                  <c:v>40987</c:v>
                </c:pt>
                <c:pt idx="17">
                  <c:v>40988</c:v>
                </c:pt>
                <c:pt idx="18">
                  <c:v>40989</c:v>
                </c:pt>
                <c:pt idx="19">
                  <c:v>40990</c:v>
                </c:pt>
                <c:pt idx="20">
                  <c:v>40991</c:v>
                </c:pt>
                <c:pt idx="21">
                  <c:v>40994</c:v>
                </c:pt>
              </c:numCache>
            </c:numRef>
          </c:cat>
          <c:val>
            <c:numRef>
              <c:f>'Project Summary'!$B$110:$W$110</c:f>
              <c:numCache>
                <c:formatCode>General</c:formatCode>
                <c:ptCount val="22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20">
                  <c:v>0</c:v>
                </c:pt>
                <c:pt idx="21">
                  <c:v>0</c:v>
                </c:pt>
              </c:numCache>
            </c:numRef>
          </c:val>
        </c:ser>
        <c:ser>
          <c:idx val="14"/>
          <c:order val="14"/>
          <c:tx>
            <c:strRef>
              <c:f>'Project Summary'!$A$111</c:f>
              <c:strCache>
                <c:ptCount val="1"/>
                <c:pt idx="0">
                  <c:v>Total Assumptions not yet validated</c:v>
                </c:pt>
              </c:strCache>
            </c:strRef>
          </c:tx>
          <c:cat>
            <c:numRef>
              <c:f>'Project Summary'!$B$96:$W$96</c:f>
              <c:numCache>
                <c:formatCode>dd\-mmm</c:formatCode>
                <c:ptCount val="22"/>
                <c:pt idx="0">
                  <c:v>40952</c:v>
                </c:pt>
                <c:pt idx="1">
                  <c:v>40955</c:v>
                </c:pt>
                <c:pt idx="2">
                  <c:v>40959</c:v>
                </c:pt>
                <c:pt idx="3">
                  <c:v>40962</c:v>
                </c:pt>
                <c:pt idx="4">
                  <c:v>40966</c:v>
                </c:pt>
                <c:pt idx="5">
                  <c:v>40969</c:v>
                </c:pt>
                <c:pt idx="6">
                  <c:v>40973</c:v>
                </c:pt>
                <c:pt idx="7">
                  <c:v>40974</c:v>
                </c:pt>
                <c:pt idx="8">
                  <c:v>40975</c:v>
                </c:pt>
                <c:pt idx="9">
                  <c:v>40976</c:v>
                </c:pt>
                <c:pt idx="10">
                  <c:v>40977</c:v>
                </c:pt>
                <c:pt idx="11">
                  <c:v>40980</c:v>
                </c:pt>
                <c:pt idx="12">
                  <c:v>40981</c:v>
                </c:pt>
                <c:pt idx="13">
                  <c:v>40982</c:v>
                </c:pt>
                <c:pt idx="14">
                  <c:v>40983</c:v>
                </c:pt>
                <c:pt idx="15">
                  <c:v>40984</c:v>
                </c:pt>
                <c:pt idx="16">
                  <c:v>40987</c:v>
                </c:pt>
                <c:pt idx="17">
                  <c:v>40988</c:v>
                </c:pt>
                <c:pt idx="18">
                  <c:v>40989</c:v>
                </c:pt>
                <c:pt idx="19">
                  <c:v>40990</c:v>
                </c:pt>
                <c:pt idx="20">
                  <c:v>40991</c:v>
                </c:pt>
                <c:pt idx="21">
                  <c:v>40994</c:v>
                </c:pt>
              </c:numCache>
            </c:numRef>
          </c:cat>
          <c:val>
            <c:numRef>
              <c:f>'Project Summary'!$B$111:$W$111</c:f>
              <c:numCache>
                <c:formatCode>General</c:formatCode>
                <c:ptCount val="22"/>
                <c:pt idx="0">
                  <c:v>4</c:v>
                </c:pt>
                <c:pt idx="1">
                  <c:v>4</c:v>
                </c:pt>
                <c:pt idx="2">
                  <c:v>4</c:v>
                </c:pt>
                <c:pt idx="3">
                  <c:v>2</c:v>
                </c:pt>
                <c:pt idx="4">
                  <c:v>2</c:v>
                </c:pt>
                <c:pt idx="5">
                  <c:v>2</c:v>
                </c:pt>
                <c:pt idx="6">
                  <c:v>2</c:v>
                </c:pt>
                <c:pt idx="7">
                  <c:v>2</c:v>
                </c:pt>
                <c:pt idx="8">
                  <c:v>2</c:v>
                </c:pt>
                <c:pt idx="9">
                  <c:v>3</c:v>
                </c:pt>
                <c:pt idx="10">
                  <c:v>3</c:v>
                </c:pt>
                <c:pt idx="11">
                  <c:v>2</c:v>
                </c:pt>
                <c:pt idx="12">
                  <c:v>2</c:v>
                </c:pt>
                <c:pt idx="13">
                  <c:v>2</c:v>
                </c:pt>
                <c:pt idx="14">
                  <c:v>1</c:v>
                </c:pt>
                <c:pt idx="15">
                  <c:v>1</c:v>
                </c:pt>
                <c:pt idx="16">
                  <c:v>1</c:v>
                </c:pt>
                <c:pt idx="20">
                  <c:v>1</c:v>
                </c:pt>
                <c:pt idx="21">
                  <c:v>1</c:v>
                </c:pt>
              </c:numCache>
            </c:numRef>
          </c:val>
        </c:ser>
        <c:ser>
          <c:idx val="15"/>
          <c:order val="15"/>
          <c:tx>
            <c:strRef>
              <c:f>'Project Summary'!$A$112</c:f>
              <c:strCache>
                <c:ptCount val="1"/>
                <c:pt idx="0">
                  <c:v>Total Pending Decisions</c:v>
                </c:pt>
              </c:strCache>
            </c:strRef>
          </c:tx>
          <c:cat>
            <c:numRef>
              <c:f>'Project Summary'!$B$96:$W$96</c:f>
              <c:numCache>
                <c:formatCode>dd\-mmm</c:formatCode>
                <c:ptCount val="22"/>
                <c:pt idx="0">
                  <c:v>40952</c:v>
                </c:pt>
                <c:pt idx="1">
                  <c:v>40955</c:v>
                </c:pt>
                <c:pt idx="2">
                  <c:v>40959</c:v>
                </c:pt>
                <c:pt idx="3">
                  <c:v>40962</c:v>
                </c:pt>
                <c:pt idx="4">
                  <c:v>40966</c:v>
                </c:pt>
                <c:pt idx="5">
                  <c:v>40969</c:v>
                </c:pt>
                <c:pt idx="6">
                  <c:v>40973</c:v>
                </c:pt>
                <c:pt idx="7">
                  <c:v>40974</c:v>
                </c:pt>
                <c:pt idx="8">
                  <c:v>40975</c:v>
                </c:pt>
                <c:pt idx="9">
                  <c:v>40976</c:v>
                </c:pt>
                <c:pt idx="10">
                  <c:v>40977</c:v>
                </c:pt>
                <c:pt idx="11">
                  <c:v>40980</c:v>
                </c:pt>
                <c:pt idx="12">
                  <c:v>40981</c:v>
                </c:pt>
                <c:pt idx="13">
                  <c:v>40982</c:v>
                </c:pt>
                <c:pt idx="14">
                  <c:v>40983</c:v>
                </c:pt>
                <c:pt idx="15">
                  <c:v>40984</c:v>
                </c:pt>
                <c:pt idx="16">
                  <c:v>40987</c:v>
                </c:pt>
                <c:pt idx="17">
                  <c:v>40988</c:v>
                </c:pt>
                <c:pt idx="18">
                  <c:v>40989</c:v>
                </c:pt>
                <c:pt idx="19">
                  <c:v>40990</c:v>
                </c:pt>
                <c:pt idx="20">
                  <c:v>40991</c:v>
                </c:pt>
                <c:pt idx="21">
                  <c:v>40994</c:v>
                </c:pt>
              </c:numCache>
            </c:numRef>
          </c:cat>
          <c:val>
            <c:numRef>
              <c:f>'Project Summary'!$B$112:$W$112</c:f>
              <c:numCache>
                <c:formatCode>General</c:formatCode>
                <c:ptCount val="22"/>
                <c:pt idx="0">
                  <c:v>4</c:v>
                </c:pt>
                <c:pt idx="1">
                  <c:v>4</c:v>
                </c:pt>
                <c:pt idx="2">
                  <c:v>4</c:v>
                </c:pt>
                <c:pt idx="3">
                  <c:v>4</c:v>
                </c:pt>
                <c:pt idx="4">
                  <c:v>4</c:v>
                </c:pt>
                <c:pt idx="5">
                  <c:v>4</c:v>
                </c:pt>
                <c:pt idx="6">
                  <c:v>2</c:v>
                </c:pt>
                <c:pt idx="7">
                  <c:v>1</c:v>
                </c:pt>
                <c:pt idx="8">
                  <c:v>1</c:v>
                </c:pt>
                <c:pt idx="9">
                  <c:v>1</c:v>
                </c:pt>
                <c:pt idx="10">
                  <c:v>1</c:v>
                </c:pt>
                <c:pt idx="11">
                  <c:v>1</c:v>
                </c:pt>
                <c:pt idx="12">
                  <c:v>1</c:v>
                </c:pt>
                <c:pt idx="13">
                  <c:v>1</c:v>
                </c:pt>
                <c:pt idx="14">
                  <c:v>1</c:v>
                </c:pt>
                <c:pt idx="15">
                  <c:v>1</c:v>
                </c:pt>
                <c:pt idx="16">
                  <c:v>1</c:v>
                </c:pt>
                <c:pt idx="20">
                  <c:v>1</c:v>
                </c:pt>
                <c:pt idx="21">
                  <c:v>1</c:v>
                </c:pt>
              </c:numCache>
            </c:numRef>
          </c:val>
        </c:ser>
        <c:marker val="1"/>
        <c:axId val="174502656"/>
        <c:axId val="174825472"/>
      </c:lineChart>
      <c:dateAx>
        <c:axId val="174502656"/>
        <c:scaling>
          <c:orientation val="minMax"/>
        </c:scaling>
        <c:axPos val="b"/>
        <c:numFmt formatCode="dd\-mmm" sourceLinked="1"/>
        <c:majorTickMark val="none"/>
        <c:tickLblPos val="nextTo"/>
        <c:txPr>
          <a:bodyPr/>
          <a:lstStyle/>
          <a:p>
            <a:pPr>
              <a:defRPr sz="700"/>
            </a:pPr>
            <a:endParaRPr lang="en-US"/>
          </a:p>
        </c:txPr>
        <c:crossAx val="174825472"/>
        <c:crosses val="autoZero"/>
        <c:auto val="1"/>
        <c:lblOffset val="100"/>
        <c:baseTimeUnit val="days"/>
        <c:majorUnit val="3"/>
        <c:majorTimeUnit val="days"/>
      </c:dateAx>
      <c:valAx>
        <c:axId val="174825472"/>
        <c:scaling>
          <c:orientation val="minMax"/>
        </c:scaling>
        <c:axPos val="l"/>
        <c:majorGridlines/>
        <c:numFmt formatCode="General" sourceLinked="1"/>
        <c:majorTickMark val="none"/>
        <c:tickLblPos val="nextTo"/>
        <c:txPr>
          <a:bodyPr/>
          <a:lstStyle/>
          <a:p>
            <a:pPr>
              <a:defRPr sz="700"/>
            </a:pPr>
            <a:endParaRPr lang="en-US"/>
          </a:p>
        </c:txPr>
        <c:crossAx val="174502656"/>
        <c:crosses val="autoZero"/>
        <c:crossBetween val="between"/>
      </c:valAx>
    </c:plotArea>
    <c:legend>
      <c:legendPos val="r"/>
      <c:layout/>
      <c:txPr>
        <a:bodyPr/>
        <a:lstStyle/>
        <a:p>
          <a:pPr>
            <a:defRPr sz="650"/>
          </a:pPr>
          <a:endParaRPr lang="en-US"/>
        </a:p>
      </c:txPr>
    </c:legend>
    <c:plotVisOnly val="1"/>
    <c:dispBlanksAs val="gap"/>
  </c:chart>
  <c:externalData r:id="rId1"/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GB"/>
  <c:chart>
    <c:title>
      <c:tx>
        <c:rich>
          <a:bodyPr/>
          <a:lstStyle/>
          <a:p>
            <a:pPr>
              <a:defRPr sz="800"/>
            </a:pPr>
            <a:r>
              <a:rPr lang="en-US" sz="800"/>
              <a:t>M&amp;C Program</a:t>
            </a:r>
          </a:p>
        </c:rich>
      </c:tx>
      <c:layout/>
    </c:title>
    <c:plotArea>
      <c:layout/>
      <c:lineChart>
        <c:grouping val="standard"/>
        <c:ser>
          <c:idx val="0"/>
          <c:order val="0"/>
          <c:tx>
            <c:strRef>
              <c:f>'Project Summary'!$A$40</c:f>
              <c:strCache>
                <c:ptCount val="1"/>
                <c:pt idx="0">
                  <c:v>Total Open Risks</c:v>
                </c:pt>
              </c:strCache>
            </c:strRef>
          </c:tx>
          <c:cat>
            <c:numRef>
              <c:f>'Project Summary'!$B$39:$W$39</c:f>
              <c:numCache>
                <c:formatCode>dd\-mmm</c:formatCode>
                <c:ptCount val="22"/>
                <c:pt idx="0">
                  <c:v>40952</c:v>
                </c:pt>
                <c:pt idx="1">
                  <c:v>40955</c:v>
                </c:pt>
                <c:pt idx="2">
                  <c:v>40959</c:v>
                </c:pt>
                <c:pt idx="3">
                  <c:v>40962</c:v>
                </c:pt>
                <c:pt idx="4">
                  <c:v>40966</c:v>
                </c:pt>
                <c:pt idx="5">
                  <c:v>40969</c:v>
                </c:pt>
                <c:pt idx="6">
                  <c:v>40973</c:v>
                </c:pt>
                <c:pt idx="7">
                  <c:v>40974</c:v>
                </c:pt>
                <c:pt idx="8">
                  <c:v>40975</c:v>
                </c:pt>
                <c:pt idx="9">
                  <c:v>40976</c:v>
                </c:pt>
                <c:pt idx="10">
                  <c:v>40977</c:v>
                </c:pt>
                <c:pt idx="11">
                  <c:v>40980</c:v>
                </c:pt>
                <c:pt idx="12">
                  <c:v>40981</c:v>
                </c:pt>
                <c:pt idx="13">
                  <c:v>40982</c:v>
                </c:pt>
                <c:pt idx="14">
                  <c:v>40983</c:v>
                </c:pt>
                <c:pt idx="15">
                  <c:v>40984</c:v>
                </c:pt>
                <c:pt idx="16">
                  <c:v>40987</c:v>
                </c:pt>
                <c:pt idx="17">
                  <c:v>40988</c:v>
                </c:pt>
                <c:pt idx="18">
                  <c:v>40989</c:v>
                </c:pt>
                <c:pt idx="19">
                  <c:v>40990</c:v>
                </c:pt>
                <c:pt idx="20">
                  <c:v>40991</c:v>
                </c:pt>
                <c:pt idx="21">
                  <c:v>40994</c:v>
                </c:pt>
              </c:numCache>
            </c:numRef>
          </c:cat>
          <c:val>
            <c:numRef>
              <c:f>'Project Summary'!$B$40:$W$40</c:f>
              <c:numCache>
                <c:formatCode>General</c:formatCode>
                <c:ptCount val="22"/>
                <c:pt idx="0">
                  <c:v>4</c:v>
                </c:pt>
                <c:pt idx="1">
                  <c:v>4</c:v>
                </c:pt>
                <c:pt idx="2">
                  <c:v>4</c:v>
                </c:pt>
                <c:pt idx="3">
                  <c:v>4</c:v>
                </c:pt>
                <c:pt idx="4">
                  <c:v>4</c:v>
                </c:pt>
                <c:pt idx="5">
                  <c:v>9</c:v>
                </c:pt>
                <c:pt idx="6">
                  <c:v>9</c:v>
                </c:pt>
                <c:pt idx="7">
                  <c:v>8</c:v>
                </c:pt>
                <c:pt idx="8">
                  <c:v>7</c:v>
                </c:pt>
                <c:pt idx="9">
                  <c:v>7</c:v>
                </c:pt>
                <c:pt idx="10">
                  <c:v>7</c:v>
                </c:pt>
                <c:pt idx="11">
                  <c:v>7</c:v>
                </c:pt>
                <c:pt idx="12">
                  <c:v>7</c:v>
                </c:pt>
                <c:pt idx="13">
                  <c:v>6</c:v>
                </c:pt>
                <c:pt idx="14">
                  <c:v>7</c:v>
                </c:pt>
                <c:pt idx="15">
                  <c:v>7</c:v>
                </c:pt>
                <c:pt idx="16">
                  <c:v>7</c:v>
                </c:pt>
                <c:pt idx="20">
                  <c:v>7</c:v>
                </c:pt>
                <c:pt idx="21">
                  <c:v>7</c:v>
                </c:pt>
              </c:numCache>
            </c:numRef>
          </c:val>
        </c:ser>
        <c:ser>
          <c:idx val="1"/>
          <c:order val="1"/>
          <c:tx>
            <c:strRef>
              <c:f>'Project Summary'!$A$41</c:f>
              <c:strCache>
                <c:ptCount val="1"/>
                <c:pt idx="0">
                  <c:v>Total Open High or Critical Risks</c:v>
                </c:pt>
              </c:strCache>
            </c:strRef>
          </c:tx>
          <c:cat>
            <c:numRef>
              <c:f>'Project Summary'!$B$39:$W$39</c:f>
              <c:numCache>
                <c:formatCode>dd\-mmm</c:formatCode>
                <c:ptCount val="22"/>
                <c:pt idx="0">
                  <c:v>40952</c:v>
                </c:pt>
                <c:pt idx="1">
                  <c:v>40955</c:v>
                </c:pt>
                <c:pt idx="2">
                  <c:v>40959</c:v>
                </c:pt>
                <c:pt idx="3">
                  <c:v>40962</c:v>
                </c:pt>
                <c:pt idx="4">
                  <c:v>40966</c:v>
                </c:pt>
                <c:pt idx="5">
                  <c:v>40969</c:v>
                </c:pt>
                <c:pt idx="6">
                  <c:v>40973</c:v>
                </c:pt>
                <c:pt idx="7">
                  <c:v>40974</c:v>
                </c:pt>
                <c:pt idx="8">
                  <c:v>40975</c:v>
                </c:pt>
                <c:pt idx="9">
                  <c:v>40976</c:v>
                </c:pt>
                <c:pt idx="10">
                  <c:v>40977</c:v>
                </c:pt>
                <c:pt idx="11">
                  <c:v>40980</c:v>
                </c:pt>
                <c:pt idx="12">
                  <c:v>40981</c:v>
                </c:pt>
                <c:pt idx="13">
                  <c:v>40982</c:v>
                </c:pt>
                <c:pt idx="14">
                  <c:v>40983</c:v>
                </c:pt>
                <c:pt idx="15">
                  <c:v>40984</c:v>
                </c:pt>
                <c:pt idx="16">
                  <c:v>40987</c:v>
                </c:pt>
                <c:pt idx="17">
                  <c:v>40988</c:v>
                </c:pt>
                <c:pt idx="18">
                  <c:v>40989</c:v>
                </c:pt>
                <c:pt idx="19">
                  <c:v>40990</c:v>
                </c:pt>
                <c:pt idx="20">
                  <c:v>40991</c:v>
                </c:pt>
                <c:pt idx="21">
                  <c:v>40994</c:v>
                </c:pt>
              </c:numCache>
            </c:numRef>
          </c:cat>
          <c:val>
            <c:numRef>
              <c:f>'Project Summary'!$B$41:$W$41</c:f>
              <c:numCache>
                <c:formatCode>General</c:formatCode>
                <c:ptCount val="22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  <c:pt idx="4">
                  <c:v>1</c:v>
                </c:pt>
                <c:pt idx="5">
                  <c:v>6</c:v>
                </c:pt>
                <c:pt idx="6">
                  <c:v>6</c:v>
                </c:pt>
                <c:pt idx="7">
                  <c:v>6</c:v>
                </c:pt>
                <c:pt idx="8">
                  <c:v>5</c:v>
                </c:pt>
                <c:pt idx="9">
                  <c:v>5</c:v>
                </c:pt>
                <c:pt idx="10">
                  <c:v>5</c:v>
                </c:pt>
                <c:pt idx="11">
                  <c:v>5</c:v>
                </c:pt>
                <c:pt idx="12">
                  <c:v>5</c:v>
                </c:pt>
                <c:pt idx="13">
                  <c:v>4</c:v>
                </c:pt>
                <c:pt idx="14">
                  <c:v>5</c:v>
                </c:pt>
                <c:pt idx="15">
                  <c:v>5</c:v>
                </c:pt>
                <c:pt idx="16">
                  <c:v>5</c:v>
                </c:pt>
                <c:pt idx="20">
                  <c:v>5</c:v>
                </c:pt>
                <c:pt idx="21">
                  <c:v>5</c:v>
                </c:pt>
              </c:numCache>
            </c:numRef>
          </c:val>
        </c:ser>
        <c:ser>
          <c:idx val="2"/>
          <c:order val="2"/>
          <c:tx>
            <c:strRef>
              <c:f>'Project Summary'!$A$42</c:f>
              <c:strCache>
                <c:ptCount val="1"/>
                <c:pt idx="0">
                  <c:v>Risks: Missed Required Resolution Date</c:v>
                </c:pt>
              </c:strCache>
            </c:strRef>
          </c:tx>
          <c:cat>
            <c:numRef>
              <c:f>'Project Summary'!$B$39:$W$39</c:f>
              <c:numCache>
                <c:formatCode>dd\-mmm</c:formatCode>
                <c:ptCount val="22"/>
                <c:pt idx="0">
                  <c:v>40952</c:v>
                </c:pt>
                <c:pt idx="1">
                  <c:v>40955</c:v>
                </c:pt>
                <c:pt idx="2">
                  <c:v>40959</c:v>
                </c:pt>
                <c:pt idx="3">
                  <c:v>40962</c:v>
                </c:pt>
                <c:pt idx="4">
                  <c:v>40966</c:v>
                </c:pt>
                <c:pt idx="5">
                  <c:v>40969</c:v>
                </c:pt>
                <c:pt idx="6">
                  <c:v>40973</c:v>
                </c:pt>
                <c:pt idx="7">
                  <c:v>40974</c:v>
                </c:pt>
                <c:pt idx="8">
                  <c:v>40975</c:v>
                </c:pt>
                <c:pt idx="9">
                  <c:v>40976</c:v>
                </c:pt>
                <c:pt idx="10">
                  <c:v>40977</c:v>
                </c:pt>
                <c:pt idx="11">
                  <c:v>40980</c:v>
                </c:pt>
                <c:pt idx="12">
                  <c:v>40981</c:v>
                </c:pt>
                <c:pt idx="13">
                  <c:v>40982</c:v>
                </c:pt>
                <c:pt idx="14">
                  <c:v>40983</c:v>
                </c:pt>
                <c:pt idx="15">
                  <c:v>40984</c:v>
                </c:pt>
                <c:pt idx="16">
                  <c:v>40987</c:v>
                </c:pt>
                <c:pt idx="17">
                  <c:v>40988</c:v>
                </c:pt>
                <c:pt idx="18">
                  <c:v>40989</c:v>
                </c:pt>
                <c:pt idx="19">
                  <c:v>40990</c:v>
                </c:pt>
                <c:pt idx="20">
                  <c:v>40991</c:v>
                </c:pt>
                <c:pt idx="21">
                  <c:v>40994</c:v>
                </c:pt>
              </c:numCache>
            </c:numRef>
          </c:cat>
          <c:val>
            <c:numRef>
              <c:f>'Project Summary'!$B$42:$W$42</c:f>
              <c:numCache>
                <c:formatCode>General</c:formatCode>
                <c:ptCount val="22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20">
                  <c:v>0</c:v>
                </c:pt>
                <c:pt idx="21">
                  <c:v>0</c:v>
                </c:pt>
              </c:numCache>
            </c:numRef>
          </c:val>
        </c:ser>
        <c:ser>
          <c:idx val="3"/>
          <c:order val="3"/>
          <c:tx>
            <c:strRef>
              <c:f>'Project Summary'!$A$43</c:f>
              <c:strCache>
                <c:ptCount val="1"/>
                <c:pt idx="0">
                  <c:v>Risks with no Required Resolution Date</c:v>
                </c:pt>
              </c:strCache>
            </c:strRef>
          </c:tx>
          <c:cat>
            <c:numRef>
              <c:f>'Project Summary'!$B$39:$W$39</c:f>
              <c:numCache>
                <c:formatCode>dd\-mmm</c:formatCode>
                <c:ptCount val="22"/>
                <c:pt idx="0">
                  <c:v>40952</c:v>
                </c:pt>
                <c:pt idx="1">
                  <c:v>40955</c:v>
                </c:pt>
                <c:pt idx="2">
                  <c:v>40959</c:v>
                </c:pt>
                <c:pt idx="3">
                  <c:v>40962</c:v>
                </c:pt>
                <c:pt idx="4">
                  <c:v>40966</c:v>
                </c:pt>
                <c:pt idx="5">
                  <c:v>40969</c:v>
                </c:pt>
                <c:pt idx="6">
                  <c:v>40973</c:v>
                </c:pt>
                <c:pt idx="7">
                  <c:v>40974</c:v>
                </c:pt>
                <c:pt idx="8">
                  <c:v>40975</c:v>
                </c:pt>
                <c:pt idx="9">
                  <c:v>40976</c:v>
                </c:pt>
                <c:pt idx="10">
                  <c:v>40977</c:v>
                </c:pt>
                <c:pt idx="11">
                  <c:v>40980</c:v>
                </c:pt>
                <c:pt idx="12">
                  <c:v>40981</c:v>
                </c:pt>
                <c:pt idx="13">
                  <c:v>40982</c:v>
                </c:pt>
                <c:pt idx="14">
                  <c:v>40983</c:v>
                </c:pt>
                <c:pt idx="15">
                  <c:v>40984</c:v>
                </c:pt>
                <c:pt idx="16">
                  <c:v>40987</c:v>
                </c:pt>
                <c:pt idx="17">
                  <c:v>40988</c:v>
                </c:pt>
                <c:pt idx="18">
                  <c:v>40989</c:v>
                </c:pt>
                <c:pt idx="19">
                  <c:v>40990</c:v>
                </c:pt>
                <c:pt idx="20">
                  <c:v>40991</c:v>
                </c:pt>
                <c:pt idx="21">
                  <c:v>40994</c:v>
                </c:pt>
              </c:numCache>
            </c:numRef>
          </c:cat>
          <c:val>
            <c:numRef>
              <c:f>'Project Summary'!$B$43:$W$43</c:f>
              <c:numCache>
                <c:formatCode>General</c:formatCode>
                <c:ptCount val="22"/>
                <c:pt idx="0">
                  <c:v>3</c:v>
                </c:pt>
                <c:pt idx="1">
                  <c:v>3</c:v>
                </c:pt>
                <c:pt idx="2">
                  <c:v>3</c:v>
                </c:pt>
                <c:pt idx="3">
                  <c:v>2</c:v>
                </c:pt>
                <c:pt idx="4">
                  <c:v>2</c:v>
                </c:pt>
                <c:pt idx="5">
                  <c:v>7</c:v>
                </c:pt>
                <c:pt idx="6">
                  <c:v>7</c:v>
                </c:pt>
                <c:pt idx="7">
                  <c:v>6</c:v>
                </c:pt>
                <c:pt idx="8">
                  <c:v>3</c:v>
                </c:pt>
                <c:pt idx="9">
                  <c:v>1</c:v>
                </c:pt>
                <c:pt idx="10">
                  <c:v>1</c:v>
                </c:pt>
                <c:pt idx="11">
                  <c:v>2</c:v>
                </c:pt>
                <c:pt idx="12">
                  <c:v>1</c:v>
                </c:pt>
                <c:pt idx="13">
                  <c:v>0</c:v>
                </c:pt>
                <c:pt idx="14">
                  <c:v>1</c:v>
                </c:pt>
                <c:pt idx="15">
                  <c:v>0</c:v>
                </c:pt>
                <c:pt idx="16">
                  <c:v>0</c:v>
                </c:pt>
                <c:pt idx="20">
                  <c:v>0</c:v>
                </c:pt>
                <c:pt idx="21">
                  <c:v>0</c:v>
                </c:pt>
              </c:numCache>
            </c:numRef>
          </c:val>
        </c:ser>
        <c:ser>
          <c:idx val="7"/>
          <c:order val="4"/>
          <c:tx>
            <c:strRef>
              <c:f>'Project Summary'!$A$44</c:f>
              <c:strCache>
                <c:ptCount val="1"/>
                <c:pt idx="0">
                  <c:v>Risks open 1-3 months</c:v>
                </c:pt>
              </c:strCache>
            </c:strRef>
          </c:tx>
          <c:cat>
            <c:numRef>
              <c:f>'Project Summary'!$B$39:$W$39</c:f>
              <c:numCache>
                <c:formatCode>dd\-mmm</c:formatCode>
                <c:ptCount val="22"/>
                <c:pt idx="0">
                  <c:v>40952</c:v>
                </c:pt>
                <c:pt idx="1">
                  <c:v>40955</c:v>
                </c:pt>
                <c:pt idx="2">
                  <c:v>40959</c:v>
                </c:pt>
                <c:pt idx="3">
                  <c:v>40962</c:v>
                </c:pt>
                <c:pt idx="4">
                  <c:v>40966</c:v>
                </c:pt>
                <c:pt idx="5">
                  <c:v>40969</c:v>
                </c:pt>
                <c:pt idx="6">
                  <c:v>40973</c:v>
                </c:pt>
                <c:pt idx="7">
                  <c:v>40974</c:v>
                </c:pt>
                <c:pt idx="8">
                  <c:v>40975</c:v>
                </c:pt>
                <c:pt idx="9">
                  <c:v>40976</c:v>
                </c:pt>
                <c:pt idx="10">
                  <c:v>40977</c:v>
                </c:pt>
                <c:pt idx="11">
                  <c:v>40980</c:v>
                </c:pt>
                <c:pt idx="12">
                  <c:v>40981</c:v>
                </c:pt>
                <c:pt idx="13">
                  <c:v>40982</c:v>
                </c:pt>
                <c:pt idx="14">
                  <c:v>40983</c:v>
                </c:pt>
                <c:pt idx="15">
                  <c:v>40984</c:v>
                </c:pt>
                <c:pt idx="16">
                  <c:v>40987</c:v>
                </c:pt>
                <c:pt idx="17">
                  <c:v>40988</c:v>
                </c:pt>
                <c:pt idx="18">
                  <c:v>40989</c:v>
                </c:pt>
                <c:pt idx="19">
                  <c:v>40990</c:v>
                </c:pt>
                <c:pt idx="20">
                  <c:v>40991</c:v>
                </c:pt>
                <c:pt idx="21">
                  <c:v>40994</c:v>
                </c:pt>
              </c:numCache>
            </c:numRef>
          </c:cat>
          <c:val>
            <c:numRef>
              <c:f>'Project Summary'!$B$44:$W$44</c:f>
              <c:numCache>
                <c:formatCode>General</c:formatCode>
                <c:ptCount val="22"/>
                <c:pt idx="0">
                  <c:v>3</c:v>
                </c:pt>
                <c:pt idx="1">
                  <c:v>3</c:v>
                </c:pt>
                <c:pt idx="2">
                  <c:v>3</c:v>
                </c:pt>
                <c:pt idx="3">
                  <c:v>3</c:v>
                </c:pt>
                <c:pt idx="4">
                  <c:v>3</c:v>
                </c:pt>
                <c:pt idx="5">
                  <c:v>3</c:v>
                </c:pt>
                <c:pt idx="6">
                  <c:v>2</c:v>
                </c:pt>
                <c:pt idx="7">
                  <c:v>2</c:v>
                </c:pt>
                <c:pt idx="8">
                  <c:v>2</c:v>
                </c:pt>
                <c:pt idx="9">
                  <c:v>2</c:v>
                </c:pt>
                <c:pt idx="10">
                  <c:v>2</c:v>
                </c:pt>
                <c:pt idx="11">
                  <c:v>2</c:v>
                </c:pt>
                <c:pt idx="12">
                  <c:v>2</c:v>
                </c:pt>
                <c:pt idx="13">
                  <c:v>1</c:v>
                </c:pt>
                <c:pt idx="14">
                  <c:v>0</c:v>
                </c:pt>
                <c:pt idx="15">
                  <c:v>0</c:v>
                </c:pt>
                <c:pt idx="16">
                  <c:v>2</c:v>
                </c:pt>
                <c:pt idx="20">
                  <c:v>3</c:v>
                </c:pt>
                <c:pt idx="21">
                  <c:v>3</c:v>
                </c:pt>
              </c:numCache>
            </c:numRef>
          </c:val>
        </c:ser>
        <c:ser>
          <c:idx val="8"/>
          <c:order val="5"/>
          <c:tx>
            <c:strRef>
              <c:f>'Project Summary'!$A$45</c:f>
              <c:strCache>
                <c:ptCount val="1"/>
                <c:pt idx="0">
                  <c:v>Risks open 3-6 months</c:v>
                </c:pt>
              </c:strCache>
            </c:strRef>
          </c:tx>
          <c:cat>
            <c:numRef>
              <c:f>'Project Summary'!$B$39:$W$39</c:f>
              <c:numCache>
                <c:formatCode>dd\-mmm</c:formatCode>
                <c:ptCount val="22"/>
                <c:pt idx="0">
                  <c:v>40952</c:v>
                </c:pt>
                <c:pt idx="1">
                  <c:v>40955</c:v>
                </c:pt>
                <c:pt idx="2">
                  <c:v>40959</c:v>
                </c:pt>
                <c:pt idx="3">
                  <c:v>40962</c:v>
                </c:pt>
                <c:pt idx="4">
                  <c:v>40966</c:v>
                </c:pt>
                <c:pt idx="5">
                  <c:v>40969</c:v>
                </c:pt>
                <c:pt idx="6">
                  <c:v>40973</c:v>
                </c:pt>
                <c:pt idx="7">
                  <c:v>40974</c:v>
                </c:pt>
                <c:pt idx="8">
                  <c:v>40975</c:v>
                </c:pt>
                <c:pt idx="9">
                  <c:v>40976</c:v>
                </c:pt>
                <c:pt idx="10">
                  <c:v>40977</c:v>
                </c:pt>
                <c:pt idx="11">
                  <c:v>40980</c:v>
                </c:pt>
                <c:pt idx="12">
                  <c:v>40981</c:v>
                </c:pt>
                <c:pt idx="13">
                  <c:v>40982</c:v>
                </c:pt>
                <c:pt idx="14">
                  <c:v>40983</c:v>
                </c:pt>
                <c:pt idx="15">
                  <c:v>40984</c:v>
                </c:pt>
                <c:pt idx="16">
                  <c:v>40987</c:v>
                </c:pt>
                <c:pt idx="17">
                  <c:v>40988</c:v>
                </c:pt>
                <c:pt idx="18">
                  <c:v>40989</c:v>
                </c:pt>
                <c:pt idx="19">
                  <c:v>40990</c:v>
                </c:pt>
                <c:pt idx="20">
                  <c:v>40991</c:v>
                </c:pt>
                <c:pt idx="21">
                  <c:v>40994</c:v>
                </c:pt>
              </c:numCache>
            </c:numRef>
          </c:cat>
          <c:val>
            <c:numRef>
              <c:f>'Project Summary'!$B$45:$W$45</c:f>
              <c:numCache>
                <c:formatCode>General</c:formatCode>
                <c:ptCount val="22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  <c:pt idx="4">
                  <c:v>1</c:v>
                </c:pt>
                <c:pt idx="5">
                  <c:v>1</c:v>
                </c:pt>
                <c:pt idx="6">
                  <c:v>2</c:v>
                </c:pt>
                <c:pt idx="7">
                  <c:v>1</c:v>
                </c:pt>
                <c:pt idx="8">
                  <c:v>1</c:v>
                </c:pt>
                <c:pt idx="9">
                  <c:v>1</c:v>
                </c:pt>
                <c:pt idx="10">
                  <c:v>1</c:v>
                </c:pt>
                <c:pt idx="11">
                  <c:v>1</c:v>
                </c:pt>
                <c:pt idx="12">
                  <c:v>1</c:v>
                </c:pt>
                <c:pt idx="13">
                  <c:v>1</c:v>
                </c:pt>
                <c:pt idx="14">
                  <c:v>2</c:v>
                </c:pt>
                <c:pt idx="15">
                  <c:v>2</c:v>
                </c:pt>
                <c:pt idx="16">
                  <c:v>2</c:v>
                </c:pt>
                <c:pt idx="20">
                  <c:v>2</c:v>
                </c:pt>
                <c:pt idx="21">
                  <c:v>2</c:v>
                </c:pt>
              </c:numCache>
            </c:numRef>
          </c:val>
        </c:ser>
        <c:ser>
          <c:idx val="9"/>
          <c:order val="6"/>
          <c:tx>
            <c:strRef>
              <c:f>'Project Summary'!$A$46</c:f>
              <c:strCache>
                <c:ptCount val="1"/>
                <c:pt idx="0">
                  <c:v>Risks open longer than 6 months</c:v>
                </c:pt>
              </c:strCache>
            </c:strRef>
          </c:tx>
          <c:cat>
            <c:numRef>
              <c:f>'Project Summary'!$B$39:$W$39</c:f>
              <c:numCache>
                <c:formatCode>dd\-mmm</c:formatCode>
                <c:ptCount val="22"/>
                <c:pt idx="0">
                  <c:v>40952</c:v>
                </c:pt>
                <c:pt idx="1">
                  <c:v>40955</c:v>
                </c:pt>
                <c:pt idx="2">
                  <c:v>40959</c:v>
                </c:pt>
                <c:pt idx="3">
                  <c:v>40962</c:v>
                </c:pt>
                <c:pt idx="4">
                  <c:v>40966</c:v>
                </c:pt>
                <c:pt idx="5">
                  <c:v>40969</c:v>
                </c:pt>
                <c:pt idx="6">
                  <c:v>40973</c:v>
                </c:pt>
                <c:pt idx="7">
                  <c:v>40974</c:v>
                </c:pt>
                <c:pt idx="8">
                  <c:v>40975</c:v>
                </c:pt>
                <c:pt idx="9">
                  <c:v>40976</c:v>
                </c:pt>
                <c:pt idx="10">
                  <c:v>40977</c:v>
                </c:pt>
                <c:pt idx="11">
                  <c:v>40980</c:v>
                </c:pt>
                <c:pt idx="12">
                  <c:v>40981</c:v>
                </c:pt>
                <c:pt idx="13">
                  <c:v>40982</c:v>
                </c:pt>
                <c:pt idx="14">
                  <c:v>40983</c:v>
                </c:pt>
                <c:pt idx="15">
                  <c:v>40984</c:v>
                </c:pt>
                <c:pt idx="16">
                  <c:v>40987</c:v>
                </c:pt>
                <c:pt idx="17">
                  <c:v>40988</c:v>
                </c:pt>
                <c:pt idx="18">
                  <c:v>40989</c:v>
                </c:pt>
                <c:pt idx="19">
                  <c:v>40990</c:v>
                </c:pt>
                <c:pt idx="20">
                  <c:v>40991</c:v>
                </c:pt>
                <c:pt idx="21">
                  <c:v>40994</c:v>
                </c:pt>
              </c:numCache>
            </c:numRef>
          </c:cat>
          <c:val>
            <c:numRef>
              <c:f>'Project Summary'!$B$46:$W$46</c:f>
              <c:numCache>
                <c:formatCode>General</c:formatCode>
                <c:ptCount val="22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20">
                  <c:v>0</c:v>
                </c:pt>
                <c:pt idx="21">
                  <c:v>0</c:v>
                </c:pt>
              </c:numCache>
            </c:numRef>
          </c:val>
        </c:ser>
        <c:ser>
          <c:idx val="10"/>
          <c:order val="7"/>
          <c:tx>
            <c:strRef>
              <c:f>'Project Summary'!$A$47</c:f>
              <c:strCache>
                <c:ptCount val="1"/>
                <c:pt idx="0">
                  <c:v>Total Open Issues</c:v>
                </c:pt>
              </c:strCache>
            </c:strRef>
          </c:tx>
          <c:cat>
            <c:numRef>
              <c:f>'Project Summary'!$B$39:$W$39</c:f>
              <c:numCache>
                <c:formatCode>dd\-mmm</c:formatCode>
                <c:ptCount val="22"/>
                <c:pt idx="0">
                  <c:v>40952</c:v>
                </c:pt>
                <c:pt idx="1">
                  <c:v>40955</c:v>
                </c:pt>
                <c:pt idx="2">
                  <c:v>40959</c:v>
                </c:pt>
                <c:pt idx="3">
                  <c:v>40962</c:v>
                </c:pt>
                <c:pt idx="4">
                  <c:v>40966</c:v>
                </c:pt>
                <c:pt idx="5">
                  <c:v>40969</c:v>
                </c:pt>
                <c:pt idx="6">
                  <c:v>40973</c:v>
                </c:pt>
                <c:pt idx="7">
                  <c:v>40974</c:v>
                </c:pt>
                <c:pt idx="8">
                  <c:v>40975</c:v>
                </c:pt>
                <c:pt idx="9">
                  <c:v>40976</c:v>
                </c:pt>
                <c:pt idx="10">
                  <c:v>40977</c:v>
                </c:pt>
                <c:pt idx="11">
                  <c:v>40980</c:v>
                </c:pt>
                <c:pt idx="12">
                  <c:v>40981</c:v>
                </c:pt>
                <c:pt idx="13">
                  <c:v>40982</c:v>
                </c:pt>
                <c:pt idx="14">
                  <c:v>40983</c:v>
                </c:pt>
                <c:pt idx="15">
                  <c:v>40984</c:v>
                </c:pt>
                <c:pt idx="16">
                  <c:v>40987</c:v>
                </c:pt>
                <c:pt idx="17">
                  <c:v>40988</c:v>
                </c:pt>
                <c:pt idx="18">
                  <c:v>40989</c:v>
                </c:pt>
                <c:pt idx="19">
                  <c:v>40990</c:v>
                </c:pt>
                <c:pt idx="20">
                  <c:v>40991</c:v>
                </c:pt>
                <c:pt idx="21">
                  <c:v>40994</c:v>
                </c:pt>
              </c:numCache>
            </c:numRef>
          </c:cat>
          <c:val>
            <c:numRef>
              <c:f>'Project Summary'!$B$47:$W$47</c:f>
              <c:numCache>
                <c:formatCode>General</c:formatCode>
                <c:ptCount val="22"/>
                <c:pt idx="0">
                  <c:v>8</c:v>
                </c:pt>
                <c:pt idx="1">
                  <c:v>8</c:v>
                </c:pt>
                <c:pt idx="2">
                  <c:v>8</c:v>
                </c:pt>
                <c:pt idx="3">
                  <c:v>8</c:v>
                </c:pt>
                <c:pt idx="4">
                  <c:v>8</c:v>
                </c:pt>
                <c:pt idx="5">
                  <c:v>8</c:v>
                </c:pt>
                <c:pt idx="6">
                  <c:v>8</c:v>
                </c:pt>
                <c:pt idx="7">
                  <c:v>7</c:v>
                </c:pt>
                <c:pt idx="8">
                  <c:v>7</c:v>
                </c:pt>
                <c:pt idx="9">
                  <c:v>8</c:v>
                </c:pt>
                <c:pt idx="10">
                  <c:v>14</c:v>
                </c:pt>
                <c:pt idx="11">
                  <c:v>15</c:v>
                </c:pt>
                <c:pt idx="12">
                  <c:v>15</c:v>
                </c:pt>
                <c:pt idx="13">
                  <c:v>15</c:v>
                </c:pt>
                <c:pt idx="14">
                  <c:v>15</c:v>
                </c:pt>
                <c:pt idx="15">
                  <c:v>15</c:v>
                </c:pt>
                <c:pt idx="16">
                  <c:v>14</c:v>
                </c:pt>
                <c:pt idx="20">
                  <c:v>14</c:v>
                </c:pt>
                <c:pt idx="21">
                  <c:v>14</c:v>
                </c:pt>
              </c:numCache>
            </c:numRef>
          </c:val>
        </c:ser>
        <c:ser>
          <c:idx val="4"/>
          <c:order val="8"/>
          <c:tx>
            <c:strRef>
              <c:f>'Project Summary'!$A$48</c:f>
              <c:strCache>
                <c:ptCount val="1"/>
                <c:pt idx="0">
                  <c:v>Total Open High or Critical Issues</c:v>
                </c:pt>
              </c:strCache>
            </c:strRef>
          </c:tx>
          <c:cat>
            <c:numRef>
              <c:f>'Project Summary'!$B$39:$W$39</c:f>
              <c:numCache>
                <c:formatCode>dd\-mmm</c:formatCode>
                <c:ptCount val="22"/>
                <c:pt idx="0">
                  <c:v>40952</c:v>
                </c:pt>
                <c:pt idx="1">
                  <c:v>40955</c:v>
                </c:pt>
                <c:pt idx="2">
                  <c:v>40959</c:v>
                </c:pt>
                <c:pt idx="3">
                  <c:v>40962</c:v>
                </c:pt>
                <c:pt idx="4">
                  <c:v>40966</c:v>
                </c:pt>
                <c:pt idx="5">
                  <c:v>40969</c:v>
                </c:pt>
                <c:pt idx="6">
                  <c:v>40973</c:v>
                </c:pt>
                <c:pt idx="7">
                  <c:v>40974</c:v>
                </c:pt>
                <c:pt idx="8">
                  <c:v>40975</c:v>
                </c:pt>
                <c:pt idx="9">
                  <c:v>40976</c:v>
                </c:pt>
                <c:pt idx="10">
                  <c:v>40977</c:v>
                </c:pt>
                <c:pt idx="11">
                  <c:v>40980</c:v>
                </c:pt>
                <c:pt idx="12">
                  <c:v>40981</c:v>
                </c:pt>
                <c:pt idx="13">
                  <c:v>40982</c:v>
                </c:pt>
                <c:pt idx="14">
                  <c:v>40983</c:v>
                </c:pt>
                <c:pt idx="15">
                  <c:v>40984</c:v>
                </c:pt>
                <c:pt idx="16">
                  <c:v>40987</c:v>
                </c:pt>
                <c:pt idx="17">
                  <c:v>40988</c:v>
                </c:pt>
                <c:pt idx="18">
                  <c:v>40989</c:v>
                </c:pt>
                <c:pt idx="19">
                  <c:v>40990</c:v>
                </c:pt>
                <c:pt idx="20">
                  <c:v>40991</c:v>
                </c:pt>
                <c:pt idx="21">
                  <c:v>40994</c:v>
                </c:pt>
              </c:numCache>
            </c:numRef>
          </c:cat>
          <c:val>
            <c:numRef>
              <c:f>'Project Summary'!$B$48:$W$48</c:f>
              <c:numCache>
                <c:formatCode>General</c:formatCode>
                <c:ptCount val="22"/>
                <c:pt idx="0">
                  <c:v>8</c:v>
                </c:pt>
                <c:pt idx="1">
                  <c:v>8</c:v>
                </c:pt>
                <c:pt idx="2">
                  <c:v>8</c:v>
                </c:pt>
                <c:pt idx="3">
                  <c:v>8</c:v>
                </c:pt>
                <c:pt idx="4">
                  <c:v>8</c:v>
                </c:pt>
                <c:pt idx="5">
                  <c:v>8</c:v>
                </c:pt>
                <c:pt idx="6">
                  <c:v>8</c:v>
                </c:pt>
                <c:pt idx="7">
                  <c:v>7</c:v>
                </c:pt>
                <c:pt idx="8">
                  <c:v>7</c:v>
                </c:pt>
                <c:pt idx="9">
                  <c:v>8</c:v>
                </c:pt>
                <c:pt idx="10">
                  <c:v>10</c:v>
                </c:pt>
                <c:pt idx="11">
                  <c:v>10</c:v>
                </c:pt>
                <c:pt idx="12">
                  <c:v>10</c:v>
                </c:pt>
                <c:pt idx="13">
                  <c:v>10</c:v>
                </c:pt>
                <c:pt idx="14">
                  <c:v>10</c:v>
                </c:pt>
                <c:pt idx="15">
                  <c:v>10</c:v>
                </c:pt>
                <c:pt idx="16">
                  <c:v>9</c:v>
                </c:pt>
                <c:pt idx="20">
                  <c:v>9</c:v>
                </c:pt>
                <c:pt idx="21">
                  <c:v>9</c:v>
                </c:pt>
              </c:numCache>
            </c:numRef>
          </c:val>
        </c:ser>
        <c:ser>
          <c:idx val="5"/>
          <c:order val="9"/>
          <c:tx>
            <c:strRef>
              <c:f>'Project Summary'!$A$49</c:f>
              <c:strCache>
                <c:ptCount val="1"/>
                <c:pt idx="0">
                  <c:v>Issues: Missed Required Resolution Date</c:v>
                </c:pt>
              </c:strCache>
            </c:strRef>
          </c:tx>
          <c:cat>
            <c:numRef>
              <c:f>'Project Summary'!$B$39:$W$39</c:f>
              <c:numCache>
                <c:formatCode>dd\-mmm</c:formatCode>
                <c:ptCount val="22"/>
                <c:pt idx="0">
                  <c:v>40952</c:v>
                </c:pt>
                <c:pt idx="1">
                  <c:v>40955</c:v>
                </c:pt>
                <c:pt idx="2">
                  <c:v>40959</c:v>
                </c:pt>
                <c:pt idx="3">
                  <c:v>40962</c:v>
                </c:pt>
                <c:pt idx="4">
                  <c:v>40966</c:v>
                </c:pt>
                <c:pt idx="5">
                  <c:v>40969</c:v>
                </c:pt>
                <c:pt idx="6">
                  <c:v>40973</c:v>
                </c:pt>
                <c:pt idx="7">
                  <c:v>40974</c:v>
                </c:pt>
                <c:pt idx="8">
                  <c:v>40975</c:v>
                </c:pt>
                <c:pt idx="9">
                  <c:v>40976</c:v>
                </c:pt>
                <c:pt idx="10">
                  <c:v>40977</c:v>
                </c:pt>
                <c:pt idx="11">
                  <c:v>40980</c:v>
                </c:pt>
                <c:pt idx="12">
                  <c:v>40981</c:v>
                </c:pt>
                <c:pt idx="13">
                  <c:v>40982</c:v>
                </c:pt>
                <c:pt idx="14">
                  <c:v>40983</c:v>
                </c:pt>
                <c:pt idx="15">
                  <c:v>40984</c:v>
                </c:pt>
                <c:pt idx="16">
                  <c:v>40987</c:v>
                </c:pt>
                <c:pt idx="17">
                  <c:v>40988</c:v>
                </c:pt>
                <c:pt idx="18">
                  <c:v>40989</c:v>
                </c:pt>
                <c:pt idx="19">
                  <c:v>40990</c:v>
                </c:pt>
                <c:pt idx="20">
                  <c:v>40991</c:v>
                </c:pt>
                <c:pt idx="21">
                  <c:v>40994</c:v>
                </c:pt>
              </c:numCache>
            </c:numRef>
          </c:cat>
          <c:val>
            <c:numRef>
              <c:f>'Project Summary'!$B$49:$W$49</c:f>
              <c:numCache>
                <c:formatCode>General</c:formatCode>
                <c:ptCount val="22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2</c:v>
                </c:pt>
                <c:pt idx="4">
                  <c:v>2</c:v>
                </c:pt>
                <c:pt idx="5">
                  <c:v>3</c:v>
                </c:pt>
                <c:pt idx="6">
                  <c:v>3</c:v>
                </c:pt>
                <c:pt idx="7">
                  <c:v>3</c:v>
                </c:pt>
                <c:pt idx="8">
                  <c:v>3</c:v>
                </c:pt>
                <c:pt idx="9">
                  <c:v>3</c:v>
                </c:pt>
                <c:pt idx="10">
                  <c:v>3</c:v>
                </c:pt>
                <c:pt idx="11">
                  <c:v>2</c:v>
                </c:pt>
                <c:pt idx="12">
                  <c:v>2</c:v>
                </c:pt>
                <c:pt idx="13">
                  <c:v>2</c:v>
                </c:pt>
                <c:pt idx="14">
                  <c:v>2</c:v>
                </c:pt>
                <c:pt idx="15">
                  <c:v>2</c:v>
                </c:pt>
                <c:pt idx="16">
                  <c:v>1</c:v>
                </c:pt>
                <c:pt idx="20">
                  <c:v>3</c:v>
                </c:pt>
                <c:pt idx="21">
                  <c:v>3</c:v>
                </c:pt>
              </c:numCache>
            </c:numRef>
          </c:val>
        </c:ser>
        <c:ser>
          <c:idx val="6"/>
          <c:order val="10"/>
          <c:tx>
            <c:strRef>
              <c:f>'Project Summary'!$A$50</c:f>
              <c:strCache>
                <c:ptCount val="1"/>
                <c:pt idx="0">
                  <c:v>Issues with no Required Resolution Date</c:v>
                </c:pt>
              </c:strCache>
            </c:strRef>
          </c:tx>
          <c:cat>
            <c:numRef>
              <c:f>'Project Summary'!$B$39:$W$39</c:f>
              <c:numCache>
                <c:formatCode>dd\-mmm</c:formatCode>
                <c:ptCount val="22"/>
                <c:pt idx="0">
                  <c:v>40952</c:v>
                </c:pt>
                <c:pt idx="1">
                  <c:v>40955</c:v>
                </c:pt>
                <c:pt idx="2">
                  <c:v>40959</c:v>
                </c:pt>
                <c:pt idx="3">
                  <c:v>40962</c:v>
                </c:pt>
                <c:pt idx="4">
                  <c:v>40966</c:v>
                </c:pt>
                <c:pt idx="5">
                  <c:v>40969</c:v>
                </c:pt>
                <c:pt idx="6">
                  <c:v>40973</c:v>
                </c:pt>
                <c:pt idx="7">
                  <c:v>40974</c:v>
                </c:pt>
                <c:pt idx="8">
                  <c:v>40975</c:v>
                </c:pt>
                <c:pt idx="9">
                  <c:v>40976</c:v>
                </c:pt>
                <c:pt idx="10">
                  <c:v>40977</c:v>
                </c:pt>
                <c:pt idx="11">
                  <c:v>40980</c:v>
                </c:pt>
                <c:pt idx="12">
                  <c:v>40981</c:v>
                </c:pt>
                <c:pt idx="13">
                  <c:v>40982</c:v>
                </c:pt>
                <c:pt idx="14">
                  <c:v>40983</c:v>
                </c:pt>
                <c:pt idx="15">
                  <c:v>40984</c:v>
                </c:pt>
                <c:pt idx="16">
                  <c:v>40987</c:v>
                </c:pt>
                <c:pt idx="17">
                  <c:v>40988</c:v>
                </c:pt>
                <c:pt idx="18">
                  <c:v>40989</c:v>
                </c:pt>
                <c:pt idx="19">
                  <c:v>40990</c:v>
                </c:pt>
                <c:pt idx="20">
                  <c:v>40991</c:v>
                </c:pt>
                <c:pt idx="21">
                  <c:v>40994</c:v>
                </c:pt>
              </c:numCache>
            </c:numRef>
          </c:cat>
          <c:val>
            <c:numRef>
              <c:f>'Project Summary'!$B$50:$W$50</c:f>
              <c:numCache>
                <c:formatCode>General</c:formatCode>
                <c:ptCount val="22"/>
                <c:pt idx="0">
                  <c:v>3</c:v>
                </c:pt>
                <c:pt idx="1">
                  <c:v>2</c:v>
                </c:pt>
                <c:pt idx="2">
                  <c:v>2</c:v>
                </c:pt>
                <c:pt idx="3">
                  <c:v>2</c:v>
                </c:pt>
                <c:pt idx="4">
                  <c:v>1</c:v>
                </c:pt>
                <c:pt idx="5">
                  <c:v>1</c:v>
                </c:pt>
                <c:pt idx="6">
                  <c:v>1</c:v>
                </c:pt>
                <c:pt idx="7">
                  <c:v>1</c:v>
                </c:pt>
                <c:pt idx="8">
                  <c:v>1</c:v>
                </c:pt>
                <c:pt idx="9">
                  <c:v>2</c:v>
                </c:pt>
                <c:pt idx="10">
                  <c:v>3</c:v>
                </c:pt>
                <c:pt idx="11">
                  <c:v>4</c:v>
                </c:pt>
                <c:pt idx="12">
                  <c:v>2</c:v>
                </c:pt>
                <c:pt idx="13">
                  <c:v>1</c:v>
                </c:pt>
                <c:pt idx="14">
                  <c:v>1</c:v>
                </c:pt>
                <c:pt idx="15">
                  <c:v>1</c:v>
                </c:pt>
                <c:pt idx="16">
                  <c:v>0</c:v>
                </c:pt>
                <c:pt idx="20">
                  <c:v>0</c:v>
                </c:pt>
                <c:pt idx="21">
                  <c:v>0</c:v>
                </c:pt>
              </c:numCache>
            </c:numRef>
          </c:val>
        </c:ser>
        <c:ser>
          <c:idx val="11"/>
          <c:order val="11"/>
          <c:tx>
            <c:strRef>
              <c:f>'Project Summary'!$A$51</c:f>
              <c:strCache>
                <c:ptCount val="1"/>
                <c:pt idx="0">
                  <c:v>Issues open 1-3 months</c:v>
                </c:pt>
              </c:strCache>
            </c:strRef>
          </c:tx>
          <c:cat>
            <c:numRef>
              <c:f>'Project Summary'!$B$39:$W$39</c:f>
              <c:numCache>
                <c:formatCode>dd\-mmm</c:formatCode>
                <c:ptCount val="22"/>
                <c:pt idx="0">
                  <c:v>40952</c:v>
                </c:pt>
                <c:pt idx="1">
                  <c:v>40955</c:v>
                </c:pt>
                <c:pt idx="2">
                  <c:v>40959</c:v>
                </c:pt>
                <c:pt idx="3">
                  <c:v>40962</c:v>
                </c:pt>
                <c:pt idx="4">
                  <c:v>40966</c:v>
                </c:pt>
                <c:pt idx="5">
                  <c:v>40969</c:v>
                </c:pt>
                <c:pt idx="6">
                  <c:v>40973</c:v>
                </c:pt>
                <c:pt idx="7">
                  <c:v>40974</c:v>
                </c:pt>
                <c:pt idx="8">
                  <c:v>40975</c:v>
                </c:pt>
                <c:pt idx="9">
                  <c:v>40976</c:v>
                </c:pt>
                <c:pt idx="10">
                  <c:v>40977</c:v>
                </c:pt>
                <c:pt idx="11">
                  <c:v>40980</c:v>
                </c:pt>
                <c:pt idx="12">
                  <c:v>40981</c:v>
                </c:pt>
                <c:pt idx="13">
                  <c:v>40982</c:v>
                </c:pt>
                <c:pt idx="14">
                  <c:v>40983</c:v>
                </c:pt>
                <c:pt idx="15">
                  <c:v>40984</c:v>
                </c:pt>
                <c:pt idx="16">
                  <c:v>40987</c:v>
                </c:pt>
                <c:pt idx="17">
                  <c:v>40988</c:v>
                </c:pt>
                <c:pt idx="18">
                  <c:v>40989</c:v>
                </c:pt>
                <c:pt idx="19">
                  <c:v>40990</c:v>
                </c:pt>
                <c:pt idx="20">
                  <c:v>40991</c:v>
                </c:pt>
                <c:pt idx="21">
                  <c:v>40994</c:v>
                </c:pt>
              </c:numCache>
            </c:numRef>
          </c:cat>
          <c:val>
            <c:numRef>
              <c:f>'Project Summary'!$B$51:$W$51</c:f>
              <c:numCache>
                <c:formatCode>General</c:formatCode>
                <c:ptCount val="22"/>
                <c:pt idx="0">
                  <c:v>3</c:v>
                </c:pt>
                <c:pt idx="1">
                  <c:v>3</c:v>
                </c:pt>
                <c:pt idx="2">
                  <c:v>5</c:v>
                </c:pt>
                <c:pt idx="3">
                  <c:v>6</c:v>
                </c:pt>
                <c:pt idx="4">
                  <c:v>7</c:v>
                </c:pt>
                <c:pt idx="5">
                  <c:v>7</c:v>
                </c:pt>
                <c:pt idx="6">
                  <c:v>7</c:v>
                </c:pt>
                <c:pt idx="7">
                  <c:v>5</c:v>
                </c:pt>
                <c:pt idx="8">
                  <c:v>5</c:v>
                </c:pt>
                <c:pt idx="9">
                  <c:v>6</c:v>
                </c:pt>
                <c:pt idx="10">
                  <c:v>6</c:v>
                </c:pt>
                <c:pt idx="11">
                  <c:v>9</c:v>
                </c:pt>
                <c:pt idx="12">
                  <c:v>9</c:v>
                </c:pt>
                <c:pt idx="13">
                  <c:v>9</c:v>
                </c:pt>
                <c:pt idx="14">
                  <c:v>9</c:v>
                </c:pt>
                <c:pt idx="15">
                  <c:v>9</c:v>
                </c:pt>
                <c:pt idx="16">
                  <c:v>9</c:v>
                </c:pt>
                <c:pt idx="20">
                  <c:v>10</c:v>
                </c:pt>
                <c:pt idx="21">
                  <c:v>10</c:v>
                </c:pt>
              </c:numCache>
            </c:numRef>
          </c:val>
        </c:ser>
        <c:ser>
          <c:idx val="12"/>
          <c:order val="12"/>
          <c:tx>
            <c:strRef>
              <c:f>'Project Summary'!$A$52</c:f>
              <c:strCache>
                <c:ptCount val="1"/>
                <c:pt idx="0">
                  <c:v>Issues open 3-6 months</c:v>
                </c:pt>
              </c:strCache>
            </c:strRef>
          </c:tx>
          <c:cat>
            <c:numRef>
              <c:f>'Project Summary'!$B$39:$W$39</c:f>
              <c:numCache>
                <c:formatCode>dd\-mmm</c:formatCode>
                <c:ptCount val="22"/>
                <c:pt idx="0">
                  <c:v>40952</c:v>
                </c:pt>
                <c:pt idx="1">
                  <c:v>40955</c:v>
                </c:pt>
                <c:pt idx="2">
                  <c:v>40959</c:v>
                </c:pt>
                <c:pt idx="3">
                  <c:v>40962</c:v>
                </c:pt>
                <c:pt idx="4">
                  <c:v>40966</c:v>
                </c:pt>
                <c:pt idx="5">
                  <c:v>40969</c:v>
                </c:pt>
                <c:pt idx="6">
                  <c:v>40973</c:v>
                </c:pt>
                <c:pt idx="7">
                  <c:v>40974</c:v>
                </c:pt>
                <c:pt idx="8">
                  <c:v>40975</c:v>
                </c:pt>
                <c:pt idx="9">
                  <c:v>40976</c:v>
                </c:pt>
                <c:pt idx="10">
                  <c:v>40977</c:v>
                </c:pt>
                <c:pt idx="11">
                  <c:v>40980</c:v>
                </c:pt>
                <c:pt idx="12">
                  <c:v>40981</c:v>
                </c:pt>
                <c:pt idx="13">
                  <c:v>40982</c:v>
                </c:pt>
                <c:pt idx="14">
                  <c:v>40983</c:v>
                </c:pt>
                <c:pt idx="15">
                  <c:v>40984</c:v>
                </c:pt>
                <c:pt idx="16">
                  <c:v>40987</c:v>
                </c:pt>
                <c:pt idx="17">
                  <c:v>40988</c:v>
                </c:pt>
                <c:pt idx="18">
                  <c:v>40989</c:v>
                </c:pt>
                <c:pt idx="19">
                  <c:v>40990</c:v>
                </c:pt>
                <c:pt idx="20">
                  <c:v>40991</c:v>
                </c:pt>
                <c:pt idx="21">
                  <c:v>40994</c:v>
                </c:pt>
              </c:numCache>
            </c:numRef>
          </c:cat>
          <c:val>
            <c:numRef>
              <c:f>'Project Summary'!$B$52:$W$52</c:f>
              <c:numCache>
                <c:formatCode>General</c:formatCode>
                <c:ptCount val="22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1</c:v>
                </c:pt>
                <c:pt idx="8">
                  <c:v>1</c:v>
                </c:pt>
                <c:pt idx="9">
                  <c:v>1</c:v>
                </c:pt>
                <c:pt idx="10">
                  <c:v>1</c:v>
                </c:pt>
                <c:pt idx="11">
                  <c:v>1</c:v>
                </c:pt>
                <c:pt idx="12">
                  <c:v>1</c:v>
                </c:pt>
                <c:pt idx="13">
                  <c:v>1</c:v>
                </c:pt>
                <c:pt idx="14">
                  <c:v>1</c:v>
                </c:pt>
                <c:pt idx="15">
                  <c:v>1</c:v>
                </c:pt>
                <c:pt idx="16">
                  <c:v>1</c:v>
                </c:pt>
                <c:pt idx="20">
                  <c:v>1</c:v>
                </c:pt>
                <c:pt idx="21">
                  <c:v>1</c:v>
                </c:pt>
              </c:numCache>
            </c:numRef>
          </c:val>
        </c:ser>
        <c:ser>
          <c:idx val="13"/>
          <c:order val="13"/>
          <c:tx>
            <c:strRef>
              <c:f>'Project Summary'!$A$53</c:f>
              <c:strCache>
                <c:ptCount val="1"/>
                <c:pt idx="0">
                  <c:v>Issues open longer than 6 months</c:v>
                </c:pt>
              </c:strCache>
            </c:strRef>
          </c:tx>
          <c:cat>
            <c:numRef>
              <c:f>'Project Summary'!$B$39:$W$39</c:f>
              <c:numCache>
                <c:formatCode>dd\-mmm</c:formatCode>
                <c:ptCount val="22"/>
                <c:pt idx="0">
                  <c:v>40952</c:v>
                </c:pt>
                <c:pt idx="1">
                  <c:v>40955</c:v>
                </c:pt>
                <c:pt idx="2">
                  <c:v>40959</c:v>
                </c:pt>
                <c:pt idx="3">
                  <c:v>40962</c:v>
                </c:pt>
                <c:pt idx="4">
                  <c:v>40966</c:v>
                </c:pt>
                <c:pt idx="5">
                  <c:v>40969</c:v>
                </c:pt>
                <c:pt idx="6">
                  <c:v>40973</c:v>
                </c:pt>
                <c:pt idx="7">
                  <c:v>40974</c:v>
                </c:pt>
                <c:pt idx="8">
                  <c:v>40975</c:v>
                </c:pt>
                <c:pt idx="9">
                  <c:v>40976</c:v>
                </c:pt>
                <c:pt idx="10">
                  <c:v>40977</c:v>
                </c:pt>
                <c:pt idx="11">
                  <c:v>40980</c:v>
                </c:pt>
                <c:pt idx="12">
                  <c:v>40981</c:v>
                </c:pt>
                <c:pt idx="13">
                  <c:v>40982</c:v>
                </c:pt>
                <c:pt idx="14">
                  <c:v>40983</c:v>
                </c:pt>
                <c:pt idx="15">
                  <c:v>40984</c:v>
                </c:pt>
                <c:pt idx="16">
                  <c:v>40987</c:v>
                </c:pt>
                <c:pt idx="17">
                  <c:v>40988</c:v>
                </c:pt>
                <c:pt idx="18">
                  <c:v>40989</c:v>
                </c:pt>
                <c:pt idx="19">
                  <c:v>40990</c:v>
                </c:pt>
                <c:pt idx="20">
                  <c:v>40991</c:v>
                </c:pt>
                <c:pt idx="21">
                  <c:v>40994</c:v>
                </c:pt>
              </c:numCache>
            </c:numRef>
          </c:cat>
          <c:val>
            <c:numRef>
              <c:f>'Project Summary'!$B$53:$W$53</c:f>
              <c:numCache>
                <c:formatCode>General</c:formatCode>
                <c:ptCount val="22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20">
                  <c:v>0</c:v>
                </c:pt>
                <c:pt idx="21">
                  <c:v>0</c:v>
                </c:pt>
              </c:numCache>
            </c:numRef>
          </c:val>
        </c:ser>
        <c:ser>
          <c:idx val="14"/>
          <c:order val="14"/>
          <c:tx>
            <c:strRef>
              <c:f>'Project Summary'!$A$54</c:f>
              <c:strCache>
                <c:ptCount val="1"/>
                <c:pt idx="0">
                  <c:v>Total Assumptions not yet validated</c:v>
                </c:pt>
              </c:strCache>
            </c:strRef>
          </c:tx>
          <c:cat>
            <c:numRef>
              <c:f>'Project Summary'!$B$39:$W$39</c:f>
              <c:numCache>
                <c:formatCode>dd\-mmm</c:formatCode>
                <c:ptCount val="22"/>
                <c:pt idx="0">
                  <c:v>40952</c:v>
                </c:pt>
                <c:pt idx="1">
                  <c:v>40955</c:v>
                </c:pt>
                <c:pt idx="2">
                  <c:v>40959</c:v>
                </c:pt>
                <c:pt idx="3">
                  <c:v>40962</c:v>
                </c:pt>
                <c:pt idx="4">
                  <c:v>40966</c:v>
                </c:pt>
                <c:pt idx="5">
                  <c:v>40969</c:v>
                </c:pt>
                <c:pt idx="6">
                  <c:v>40973</c:v>
                </c:pt>
                <c:pt idx="7">
                  <c:v>40974</c:v>
                </c:pt>
                <c:pt idx="8">
                  <c:v>40975</c:v>
                </c:pt>
                <c:pt idx="9">
                  <c:v>40976</c:v>
                </c:pt>
                <c:pt idx="10">
                  <c:v>40977</c:v>
                </c:pt>
                <c:pt idx="11">
                  <c:v>40980</c:v>
                </c:pt>
                <c:pt idx="12">
                  <c:v>40981</c:v>
                </c:pt>
                <c:pt idx="13">
                  <c:v>40982</c:v>
                </c:pt>
                <c:pt idx="14">
                  <c:v>40983</c:v>
                </c:pt>
                <c:pt idx="15">
                  <c:v>40984</c:v>
                </c:pt>
                <c:pt idx="16">
                  <c:v>40987</c:v>
                </c:pt>
                <c:pt idx="17">
                  <c:v>40988</c:v>
                </c:pt>
                <c:pt idx="18">
                  <c:v>40989</c:v>
                </c:pt>
                <c:pt idx="19">
                  <c:v>40990</c:v>
                </c:pt>
                <c:pt idx="20">
                  <c:v>40991</c:v>
                </c:pt>
                <c:pt idx="21">
                  <c:v>40994</c:v>
                </c:pt>
              </c:numCache>
            </c:numRef>
          </c:cat>
          <c:val>
            <c:numRef>
              <c:f>'Project Summary'!$B$54:$W$54</c:f>
              <c:numCache>
                <c:formatCode>General</c:formatCode>
                <c:ptCount val="22"/>
                <c:pt idx="0">
                  <c:v>3</c:v>
                </c:pt>
                <c:pt idx="1">
                  <c:v>3</c:v>
                </c:pt>
                <c:pt idx="2">
                  <c:v>3</c:v>
                </c:pt>
                <c:pt idx="3">
                  <c:v>3</c:v>
                </c:pt>
                <c:pt idx="4">
                  <c:v>3</c:v>
                </c:pt>
                <c:pt idx="5">
                  <c:v>3</c:v>
                </c:pt>
                <c:pt idx="6">
                  <c:v>3</c:v>
                </c:pt>
                <c:pt idx="7">
                  <c:v>1</c:v>
                </c:pt>
                <c:pt idx="8">
                  <c:v>1</c:v>
                </c:pt>
                <c:pt idx="9">
                  <c:v>1</c:v>
                </c:pt>
                <c:pt idx="10">
                  <c:v>1</c:v>
                </c:pt>
                <c:pt idx="11">
                  <c:v>1</c:v>
                </c:pt>
                <c:pt idx="12">
                  <c:v>1</c:v>
                </c:pt>
                <c:pt idx="13">
                  <c:v>1</c:v>
                </c:pt>
                <c:pt idx="14">
                  <c:v>1</c:v>
                </c:pt>
                <c:pt idx="15">
                  <c:v>1</c:v>
                </c:pt>
                <c:pt idx="16">
                  <c:v>1</c:v>
                </c:pt>
                <c:pt idx="20">
                  <c:v>1</c:v>
                </c:pt>
                <c:pt idx="21">
                  <c:v>1</c:v>
                </c:pt>
              </c:numCache>
            </c:numRef>
          </c:val>
        </c:ser>
        <c:ser>
          <c:idx val="15"/>
          <c:order val="15"/>
          <c:tx>
            <c:strRef>
              <c:f>'Project Summary'!$A$55</c:f>
              <c:strCache>
                <c:ptCount val="1"/>
                <c:pt idx="0">
                  <c:v>Total Pending Decisions</c:v>
                </c:pt>
              </c:strCache>
            </c:strRef>
          </c:tx>
          <c:cat>
            <c:numRef>
              <c:f>'Project Summary'!$B$39:$W$39</c:f>
              <c:numCache>
                <c:formatCode>dd\-mmm</c:formatCode>
                <c:ptCount val="22"/>
                <c:pt idx="0">
                  <c:v>40952</c:v>
                </c:pt>
                <c:pt idx="1">
                  <c:v>40955</c:v>
                </c:pt>
                <c:pt idx="2">
                  <c:v>40959</c:v>
                </c:pt>
                <c:pt idx="3">
                  <c:v>40962</c:v>
                </c:pt>
                <c:pt idx="4">
                  <c:v>40966</c:v>
                </c:pt>
                <c:pt idx="5">
                  <c:v>40969</c:v>
                </c:pt>
                <c:pt idx="6">
                  <c:v>40973</c:v>
                </c:pt>
                <c:pt idx="7">
                  <c:v>40974</c:v>
                </c:pt>
                <c:pt idx="8">
                  <c:v>40975</c:v>
                </c:pt>
                <c:pt idx="9">
                  <c:v>40976</c:v>
                </c:pt>
                <c:pt idx="10">
                  <c:v>40977</c:v>
                </c:pt>
                <c:pt idx="11">
                  <c:v>40980</c:v>
                </c:pt>
                <c:pt idx="12">
                  <c:v>40981</c:v>
                </c:pt>
                <c:pt idx="13">
                  <c:v>40982</c:v>
                </c:pt>
                <c:pt idx="14">
                  <c:v>40983</c:v>
                </c:pt>
                <c:pt idx="15">
                  <c:v>40984</c:v>
                </c:pt>
                <c:pt idx="16">
                  <c:v>40987</c:v>
                </c:pt>
                <c:pt idx="17">
                  <c:v>40988</c:v>
                </c:pt>
                <c:pt idx="18">
                  <c:v>40989</c:v>
                </c:pt>
                <c:pt idx="19">
                  <c:v>40990</c:v>
                </c:pt>
                <c:pt idx="20">
                  <c:v>40991</c:v>
                </c:pt>
                <c:pt idx="21">
                  <c:v>40994</c:v>
                </c:pt>
              </c:numCache>
            </c:numRef>
          </c:cat>
          <c:val>
            <c:numRef>
              <c:f>'Project Summary'!$B$55:$W$55</c:f>
              <c:numCache>
                <c:formatCode>General</c:formatCode>
                <c:ptCount val="22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  <c:pt idx="4">
                  <c:v>3</c:v>
                </c:pt>
                <c:pt idx="5">
                  <c:v>3</c:v>
                </c:pt>
                <c:pt idx="6">
                  <c:v>3</c:v>
                </c:pt>
                <c:pt idx="7">
                  <c:v>3</c:v>
                </c:pt>
                <c:pt idx="8">
                  <c:v>3</c:v>
                </c:pt>
                <c:pt idx="9">
                  <c:v>3</c:v>
                </c:pt>
                <c:pt idx="10">
                  <c:v>3</c:v>
                </c:pt>
                <c:pt idx="11">
                  <c:v>2</c:v>
                </c:pt>
                <c:pt idx="12">
                  <c:v>2</c:v>
                </c:pt>
                <c:pt idx="13">
                  <c:v>2</c:v>
                </c:pt>
                <c:pt idx="14">
                  <c:v>2</c:v>
                </c:pt>
                <c:pt idx="15">
                  <c:v>2</c:v>
                </c:pt>
                <c:pt idx="16">
                  <c:v>2</c:v>
                </c:pt>
                <c:pt idx="20">
                  <c:v>2</c:v>
                </c:pt>
                <c:pt idx="21">
                  <c:v>2</c:v>
                </c:pt>
              </c:numCache>
            </c:numRef>
          </c:val>
        </c:ser>
        <c:marker val="1"/>
        <c:axId val="226298496"/>
        <c:axId val="227617408"/>
      </c:lineChart>
      <c:dateAx>
        <c:axId val="226298496"/>
        <c:scaling>
          <c:orientation val="minMax"/>
        </c:scaling>
        <c:axPos val="b"/>
        <c:numFmt formatCode="dd\-mmm" sourceLinked="1"/>
        <c:majorTickMark val="none"/>
        <c:tickLblPos val="nextTo"/>
        <c:txPr>
          <a:bodyPr/>
          <a:lstStyle/>
          <a:p>
            <a:pPr>
              <a:defRPr sz="700"/>
            </a:pPr>
            <a:endParaRPr lang="en-US"/>
          </a:p>
        </c:txPr>
        <c:crossAx val="227617408"/>
        <c:crosses val="autoZero"/>
        <c:auto val="1"/>
        <c:lblOffset val="100"/>
        <c:baseTimeUnit val="days"/>
        <c:majorUnit val="3"/>
        <c:majorTimeUnit val="days"/>
      </c:dateAx>
      <c:valAx>
        <c:axId val="227617408"/>
        <c:scaling>
          <c:orientation val="minMax"/>
        </c:scaling>
        <c:axPos val="l"/>
        <c:majorGridlines/>
        <c:numFmt formatCode="General" sourceLinked="1"/>
        <c:majorTickMark val="none"/>
        <c:tickLblPos val="nextTo"/>
        <c:txPr>
          <a:bodyPr/>
          <a:lstStyle/>
          <a:p>
            <a:pPr>
              <a:defRPr sz="700"/>
            </a:pPr>
            <a:endParaRPr lang="en-US"/>
          </a:p>
        </c:txPr>
        <c:crossAx val="226298496"/>
        <c:crosses val="autoZero"/>
        <c:crossBetween val="between"/>
      </c:valAx>
    </c:plotArea>
    <c:legend>
      <c:legendPos val="r"/>
      <c:layout/>
      <c:txPr>
        <a:bodyPr/>
        <a:lstStyle/>
        <a:p>
          <a:pPr>
            <a:defRPr sz="650"/>
          </a:pPr>
          <a:endParaRPr lang="en-US"/>
        </a:p>
      </c:txPr>
    </c:legend>
    <c:plotVisOnly val="1"/>
    <c:dispBlanksAs val="gap"/>
  </c:chart>
  <c:externalData r:id="rId1"/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8ED6F2F-7065-4FCA-A70B-D1BA43694D24}" type="datetimeFigureOut">
              <a:rPr lang="en-GB" smtClean="0"/>
              <a:t>26/03/2012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0F67164-37EA-42A4-A5E6-318E4F8718F3}" type="slidenum">
              <a:rPr lang="en-GB" smtClean="0"/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7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D41E1-C8FB-4BC1-9FA1-9E38BAD770D5}" type="datetimeFigureOut">
              <a:rPr lang="en-GB" smtClean="0"/>
              <a:t>26/03/2012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855069-70FD-4F3A-BE7F-EB6B4AEEE7B6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D41E1-C8FB-4BC1-9FA1-9E38BAD770D5}" type="datetimeFigureOut">
              <a:rPr lang="en-GB" smtClean="0"/>
              <a:t>26/03/2012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855069-70FD-4F3A-BE7F-EB6B4AEEE7B6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D41E1-C8FB-4BC1-9FA1-9E38BAD770D5}" type="datetimeFigureOut">
              <a:rPr lang="en-GB" smtClean="0"/>
              <a:t>26/03/2012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855069-70FD-4F3A-BE7F-EB6B4AEEE7B6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D41E1-C8FB-4BC1-9FA1-9E38BAD770D5}" type="datetimeFigureOut">
              <a:rPr lang="en-GB" smtClean="0"/>
              <a:t>26/03/2012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855069-70FD-4F3A-BE7F-EB6B4AEEE7B6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D41E1-C8FB-4BC1-9FA1-9E38BAD770D5}" type="datetimeFigureOut">
              <a:rPr lang="en-GB" smtClean="0"/>
              <a:t>26/03/2012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855069-70FD-4F3A-BE7F-EB6B4AEEE7B6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D41E1-C8FB-4BC1-9FA1-9E38BAD770D5}" type="datetimeFigureOut">
              <a:rPr lang="en-GB" smtClean="0"/>
              <a:t>26/03/2012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855069-70FD-4F3A-BE7F-EB6B4AEEE7B6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D41E1-C8FB-4BC1-9FA1-9E38BAD770D5}" type="datetimeFigureOut">
              <a:rPr lang="en-GB" smtClean="0"/>
              <a:t>26/03/2012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855069-70FD-4F3A-BE7F-EB6B4AEEE7B6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D41E1-C8FB-4BC1-9FA1-9E38BAD770D5}" type="datetimeFigureOut">
              <a:rPr lang="en-GB" smtClean="0"/>
              <a:t>26/03/2012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855069-70FD-4F3A-BE7F-EB6B4AEEE7B6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D41E1-C8FB-4BC1-9FA1-9E38BAD770D5}" type="datetimeFigureOut">
              <a:rPr lang="en-GB" smtClean="0"/>
              <a:t>26/03/2012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855069-70FD-4F3A-BE7F-EB6B4AEEE7B6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D41E1-C8FB-4BC1-9FA1-9E38BAD770D5}" type="datetimeFigureOut">
              <a:rPr lang="en-GB" smtClean="0"/>
              <a:t>26/03/2012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855069-70FD-4F3A-BE7F-EB6B4AEEE7B6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D41E1-C8FB-4BC1-9FA1-9E38BAD770D5}" type="datetimeFigureOut">
              <a:rPr lang="en-GB" smtClean="0"/>
              <a:t>26/03/2012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855069-70FD-4F3A-BE7F-EB6B4AEEE7B6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2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C1D41E1-C8FB-4BC1-9FA1-9E38BAD770D5}" type="datetimeFigureOut">
              <a:rPr lang="en-GB" smtClean="0"/>
              <a:t>26/03/2012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855069-70FD-4F3A-BE7F-EB6B4AEEE7B6}" type="slidenum">
              <a:rPr lang="en-GB" smtClean="0"/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6" Type="http://schemas.openxmlformats.org/officeDocument/2006/relationships/chart" Target="../charts/chart6.xml"/><Relationship Id="rId5" Type="http://schemas.openxmlformats.org/officeDocument/2006/relationships/chart" Target="../charts/chart5.xml"/><Relationship Id="rId4" Type="http://schemas.openxmlformats.org/officeDocument/2006/relationships/chart" Target="../charts/char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8.xml"/><Relationship Id="rId2" Type="http://schemas.openxmlformats.org/officeDocument/2006/relationships/chart" Target="../charts/chart7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94"/>
          <p:cNvSpPr>
            <a:spLocks/>
          </p:cNvSpPr>
          <p:nvPr/>
        </p:nvSpPr>
        <p:spPr bwMode="gray">
          <a:xfrm>
            <a:off x="-2459" y="-3265"/>
            <a:ext cx="7025054" cy="533400"/>
          </a:xfrm>
          <a:custGeom>
            <a:avLst/>
            <a:gdLst/>
            <a:ahLst/>
            <a:cxnLst>
              <a:cxn ang="0">
                <a:pos x="6000" y="0"/>
              </a:cxn>
              <a:cxn ang="0">
                <a:pos x="5854" y="752"/>
              </a:cxn>
              <a:cxn ang="0">
                <a:pos x="0" y="754"/>
              </a:cxn>
              <a:cxn ang="0">
                <a:pos x="0" y="3"/>
              </a:cxn>
              <a:cxn ang="0">
                <a:pos x="6000" y="0"/>
              </a:cxn>
            </a:cxnLst>
            <a:rect l="0" t="0" r="r" b="b"/>
            <a:pathLst>
              <a:path w="6000" h="754">
                <a:moveTo>
                  <a:pt x="6000" y="0"/>
                </a:moveTo>
                <a:lnTo>
                  <a:pt x="5854" y="752"/>
                </a:lnTo>
                <a:lnTo>
                  <a:pt x="0" y="754"/>
                </a:lnTo>
                <a:lnTo>
                  <a:pt x="0" y="3"/>
                </a:lnTo>
                <a:lnTo>
                  <a:pt x="6000" y="0"/>
                </a:lnTo>
                <a:close/>
              </a:path>
            </a:pathLst>
          </a:custGeom>
          <a:solidFill>
            <a:srgbClr val="FFD200"/>
          </a:solidFill>
          <a:ln w="9525">
            <a:noFill/>
            <a:round/>
            <a:headEnd/>
            <a:tailEnd/>
          </a:ln>
          <a:effectLst/>
        </p:spPr>
        <p:txBody>
          <a:bodyPr/>
          <a:lstStyle/>
          <a:p>
            <a:pPr algn="l" defTabSz="955675" eaLnBrk="0" hangingPunct="0">
              <a:spcAft>
                <a:spcPts val="0"/>
              </a:spcAft>
              <a:defRPr/>
            </a:pPr>
            <a:r>
              <a:rPr lang="en-US" sz="1600" b="1" kern="0" dirty="0" smtClean="0">
                <a:solidFill>
                  <a:srgbClr val="646464"/>
                </a:solidFill>
              </a:rPr>
              <a:t> </a:t>
            </a:r>
            <a:r>
              <a:rPr lang="en-US" sz="1600" b="1" kern="0" dirty="0" smtClean="0">
                <a:solidFill>
                  <a:srgbClr val="646464"/>
                </a:solidFill>
              </a:rPr>
              <a:t>RAID trends and observations</a:t>
            </a:r>
            <a:endParaRPr lang="en-US" sz="1600" b="1" kern="0" dirty="0" smtClean="0">
              <a:solidFill>
                <a:srgbClr val="646464"/>
              </a:solidFill>
              <a:latin typeface="EYInterstate"/>
            </a:endParaRPr>
          </a:p>
        </p:txBody>
      </p:sp>
      <p:graphicFrame>
        <p:nvGraphicFramePr>
          <p:cNvPr id="6" name="Chart 5"/>
          <p:cNvGraphicFramePr/>
          <p:nvPr/>
        </p:nvGraphicFramePr>
        <p:xfrm>
          <a:off x="202696" y="940296"/>
          <a:ext cx="7645904" cy="31146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hart 3"/>
          <p:cNvGraphicFramePr/>
          <p:nvPr/>
        </p:nvGraphicFramePr>
        <p:xfrm>
          <a:off x="109537" y="671512"/>
          <a:ext cx="8924925" cy="551497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5" name="Freeform 94"/>
          <p:cNvSpPr>
            <a:spLocks/>
          </p:cNvSpPr>
          <p:nvPr/>
        </p:nvSpPr>
        <p:spPr bwMode="gray">
          <a:xfrm>
            <a:off x="-2459" y="-3265"/>
            <a:ext cx="7025054" cy="533400"/>
          </a:xfrm>
          <a:custGeom>
            <a:avLst/>
            <a:gdLst/>
            <a:ahLst/>
            <a:cxnLst>
              <a:cxn ang="0">
                <a:pos x="6000" y="0"/>
              </a:cxn>
              <a:cxn ang="0">
                <a:pos x="5854" y="752"/>
              </a:cxn>
              <a:cxn ang="0">
                <a:pos x="0" y="754"/>
              </a:cxn>
              <a:cxn ang="0">
                <a:pos x="0" y="3"/>
              </a:cxn>
              <a:cxn ang="0">
                <a:pos x="6000" y="0"/>
              </a:cxn>
            </a:cxnLst>
            <a:rect l="0" t="0" r="r" b="b"/>
            <a:pathLst>
              <a:path w="6000" h="754">
                <a:moveTo>
                  <a:pt x="6000" y="0"/>
                </a:moveTo>
                <a:lnTo>
                  <a:pt x="5854" y="752"/>
                </a:lnTo>
                <a:lnTo>
                  <a:pt x="0" y="754"/>
                </a:lnTo>
                <a:lnTo>
                  <a:pt x="0" y="3"/>
                </a:lnTo>
                <a:lnTo>
                  <a:pt x="6000" y="0"/>
                </a:lnTo>
                <a:close/>
              </a:path>
            </a:pathLst>
          </a:custGeom>
          <a:solidFill>
            <a:srgbClr val="FFD200"/>
          </a:solidFill>
          <a:ln w="9525">
            <a:noFill/>
            <a:round/>
            <a:headEnd/>
            <a:tailEnd/>
          </a:ln>
          <a:effectLst/>
        </p:spPr>
        <p:txBody>
          <a:bodyPr/>
          <a:lstStyle/>
          <a:p>
            <a:pPr algn="l" defTabSz="955675" eaLnBrk="0" hangingPunct="0">
              <a:spcAft>
                <a:spcPts val="0"/>
              </a:spcAft>
              <a:defRPr/>
            </a:pPr>
            <a:r>
              <a:rPr lang="en-US" sz="1600" b="1" kern="0" dirty="0" smtClean="0">
                <a:solidFill>
                  <a:srgbClr val="646464"/>
                </a:solidFill>
              </a:rPr>
              <a:t>RAID </a:t>
            </a:r>
            <a:r>
              <a:rPr lang="en-US" sz="1600" b="1" kern="0" dirty="0" smtClean="0">
                <a:solidFill>
                  <a:srgbClr val="646464"/>
                </a:solidFill>
              </a:rPr>
              <a:t>trends and observations</a:t>
            </a:r>
            <a:endParaRPr lang="en-US" sz="1600" b="1" kern="0" dirty="0" smtClean="0">
              <a:solidFill>
                <a:srgbClr val="646464"/>
              </a:solidFill>
              <a:latin typeface="EYInterstate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94"/>
          <p:cNvSpPr>
            <a:spLocks/>
          </p:cNvSpPr>
          <p:nvPr/>
        </p:nvSpPr>
        <p:spPr bwMode="gray">
          <a:xfrm>
            <a:off x="-2459" y="-3265"/>
            <a:ext cx="7025054" cy="533400"/>
          </a:xfrm>
          <a:custGeom>
            <a:avLst/>
            <a:gdLst/>
            <a:ahLst/>
            <a:cxnLst>
              <a:cxn ang="0">
                <a:pos x="6000" y="0"/>
              </a:cxn>
              <a:cxn ang="0">
                <a:pos x="5854" y="752"/>
              </a:cxn>
              <a:cxn ang="0">
                <a:pos x="0" y="754"/>
              </a:cxn>
              <a:cxn ang="0">
                <a:pos x="0" y="3"/>
              </a:cxn>
              <a:cxn ang="0">
                <a:pos x="6000" y="0"/>
              </a:cxn>
            </a:cxnLst>
            <a:rect l="0" t="0" r="r" b="b"/>
            <a:pathLst>
              <a:path w="6000" h="754">
                <a:moveTo>
                  <a:pt x="6000" y="0"/>
                </a:moveTo>
                <a:lnTo>
                  <a:pt x="5854" y="752"/>
                </a:lnTo>
                <a:lnTo>
                  <a:pt x="0" y="754"/>
                </a:lnTo>
                <a:lnTo>
                  <a:pt x="0" y="3"/>
                </a:lnTo>
                <a:lnTo>
                  <a:pt x="6000" y="0"/>
                </a:lnTo>
                <a:close/>
              </a:path>
            </a:pathLst>
          </a:custGeom>
          <a:solidFill>
            <a:srgbClr val="FFD200"/>
          </a:solidFill>
          <a:ln w="9525">
            <a:noFill/>
            <a:round/>
            <a:headEnd/>
            <a:tailEnd/>
          </a:ln>
          <a:effectLst/>
        </p:spPr>
        <p:txBody>
          <a:bodyPr/>
          <a:lstStyle/>
          <a:p>
            <a:pPr algn="l" defTabSz="955675" eaLnBrk="0" hangingPunct="0">
              <a:spcAft>
                <a:spcPts val="0"/>
              </a:spcAft>
              <a:defRPr/>
            </a:pPr>
            <a:r>
              <a:rPr lang="en-US" sz="1600" b="1" kern="0" dirty="0" smtClean="0">
                <a:solidFill>
                  <a:srgbClr val="646464"/>
                </a:solidFill>
              </a:rPr>
              <a:t>RAID </a:t>
            </a:r>
            <a:r>
              <a:rPr lang="en-US" sz="1600" b="1" kern="0" dirty="0" smtClean="0">
                <a:solidFill>
                  <a:srgbClr val="646464"/>
                </a:solidFill>
              </a:rPr>
              <a:t>trends and observations</a:t>
            </a:r>
            <a:endParaRPr lang="en-US" sz="1600" b="1" kern="0" dirty="0" smtClean="0">
              <a:solidFill>
                <a:srgbClr val="646464"/>
              </a:solidFill>
              <a:latin typeface="EYInterstate"/>
            </a:endParaRPr>
          </a:p>
        </p:txBody>
      </p:sp>
      <p:graphicFrame>
        <p:nvGraphicFramePr>
          <p:cNvPr id="8" name="Chart 7"/>
          <p:cNvGraphicFramePr/>
          <p:nvPr/>
        </p:nvGraphicFramePr>
        <p:xfrm>
          <a:off x="1" y="762000"/>
          <a:ext cx="41148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9" name="Chart 8"/>
          <p:cNvGraphicFramePr/>
          <p:nvPr/>
        </p:nvGraphicFramePr>
        <p:xfrm>
          <a:off x="4343400" y="940296"/>
          <a:ext cx="4419599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14" name="Chart 13"/>
          <p:cNvGraphicFramePr/>
          <p:nvPr/>
        </p:nvGraphicFramePr>
        <p:xfrm>
          <a:off x="-2459" y="3683496"/>
          <a:ext cx="4574458" cy="302210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15" name="Chart 14"/>
          <p:cNvGraphicFramePr/>
          <p:nvPr/>
        </p:nvGraphicFramePr>
        <p:xfrm>
          <a:off x="4495800" y="3886200"/>
          <a:ext cx="4572001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94"/>
          <p:cNvSpPr>
            <a:spLocks/>
          </p:cNvSpPr>
          <p:nvPr/>
        </p:nvSpPr>
        <p:spPr bwMode="gray">
          <a:xfrm>
            <a:off x="-2459" y="-3265"/>
            <a:ext cx="7025054" cy="533400"/>
          </a:xfrm>
          <a:custGeom>
            <a:avLst/>
            <a:gdLst/>
            <a:ahLst/>
            <a:cxnLst>
              <a:cxn ang="0">
                <a:pos x="6000" y="0"/>
              </a:cxn>
              <a:cxn ang="0">
                <a:pos x="5854" y="752"/>
              </a:cxn>
              <a:cxn ang="0">
                <a:pos x="0" y="754"/>
              </a:cxn>
              <a:cxn ang="0">
                <a:pos x="0" y="3"/>
              </a:cxn>
              <a:cxn ang="0">
                <a:pos x="6000" y="0"/>
              </a:cxn>
            </a:cxnLst>
            <a:rect l="0" t="0" r="r" b="b"/>
            <a:pathLst>
              <a:path w="6000" h="754">
                <a:moveTo>
                  <a:pt x="6000" y="0"/>
                </a:moveTo>
                <a:lnTo>
                  <a:pt x="5854" y="752"/>
                </a:lnTo>
                <a:lnTo>
                  <a:pt x="0" y="754"/>
                </a:lnTo>
                <a:lnTo>
                  <a:pt x="0" y="3"/>
                </a:lnTo>
                <a:lnTo>
                  <a:pt x="6000" y="0"/>
                </a:lnTo>
                <a:close/>
              </a:path>
            </a:pathLst>
          </a:custGeom>
          <a:solidFill>
            <a:srgbClr val="FFD200"/>
          </a:solidFill>
          <a:ln w="9525">
            <a:noFill/>
            <a:round/>
            <a:headEnd/>
            <a:tailEnd/>
          </a:ln>
          <a:effectLst/>
        </p:spPr>
        <p:txBody>
          <a:bodyPr/>
          <a:lstStyle/>
          <a:p>
            <a:pPr algn="l" defTabSz="955675" eaLnBrk="0" hangingPunct="0">
              <a:spcAft>
                <a:spcPts val="0"/>
              </a:spcAft>
              <a:defRPr/>
            </a:pPr>
            <a:r>
              <a:rPr lang="en-US" sz="1600" b="1" kern="0" dirty="0" smtClean="0">
                <a:solidFill>
                  <a:srgbClr val="646464"/>
                </a:solidFill>
              </a:rPr>
              <a:t>RAID </a:t>
            </a:r>
            <a:r>
              <a:rPr lang="en-US" sz="1600" b="1" kern="0" dirty="0" smtClean="0">
                <a:solidFill>
                  <a:srgbClr val="646464"/>
                </a:solidFill>
              </a:rPr>
              <a:t>trends and observations</a:t>
            </a:r>
            <a:endParaRPr lang="en-US" sz="1600" b="1" kern="0" dirty="0" smtClean="0">
              <a:solidFill>
                <a:srgbClr val="646464"/>
              </a:solidFill>
              <a:latin typeface="EYInterstate"/>
            </a:endParaRPr>
          </a:p>
        </p:txBody>
      </p:sp>
      <p:graphicFrame>
        <p:nvGraphicFramePr>
          <p:cNvPr id="7" name="Chart 6"/>
          <p:cNvGraphicFramePr/>
          <p:nvPr/>
        </p:nvGraphicFramePr>
        <p:xfrm>
          <a:off x="838200" y="688974"/>
          <a:ext cx="7543800" cy="289242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8" name="Chart 7"/>
          <p:cNvGraphicFramePr/>
          <p:nvPr/>
        </p:nvGraphicFramePr>
        <p:xfrm>
          <a:off x="609600" y="3581400"/>
          <a:ext cx="8305800" cy="2971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78</TotalTime>
  <Words>30</Words>
  <Application>Microsoft Office PowerPoint</Application>
  <PresentationFormat>On-screen Show (4:3)</PresentationFormat>
  <Paragraphs>10</Paragraphs>
  <Slides>4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Office Theme</vt:lpstr>
      <vt:lpstr>Slide 1</vt:lpstr>
      <vt:lpstr>Slide 2</vt:lpstr>
      <vt:lpstr>Slide 3</vt:lpstr>
      <vt:lpstr>Slide 4</vt:lpstr>
    </vt:vector>
  </TitlesOfParts>
  <Company>Ernst &amp; Young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Wale Agbaje</dc:creator>
  <cp:lastModifiedBy>Wale Agbaje</cp:lastModifiedBy>
  <cp:revision>8</cp:revision>
  <dcterms:created xsi:type="dcterms:W3CDTF">2012-03-26T09:38:13Z</dcterms:created>
  <dcterms:modified xsi:type="dcterms:W3CDTF">2012-03-26T10:56:35Z</dcterms:modified>
</cp:coreProperties>
</file>