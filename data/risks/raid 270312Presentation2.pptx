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47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My%20Documents\SharePoint%20Drafts\MC%20Program%20RAID%20Log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My%20Documents\SharePoint%20Drafts\MC%20Program%20RAID%20Log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My%20Documents\SharePoint%20Drafts\MC%20Program%20RAID%20Log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My%20Documents\SharePoint%20Drafts\MC%20Program%20RAID%20Log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My%20Documents\SharePoint%20Drafts\MC%20Program%20RAID%20Log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My%20Documents\SharePoint%20Drafts\MC%20Program%20RAID%20Log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My%20Documents\SharePoint%20Drafts\MC%20Program%20RAID%20Log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App and Data Migration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Summary'!$A$2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Summary'!$B$1:$X$1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Summary'!$B$2:$X$2</c:f>
              <c:numCache>
                <c:formatCode>General</c:formatCode>
                <c:ptCount val="23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</c:numCache>
            </c:numRef>
          </c:val>
        </c:ser>
        <c:ser>
          <c:idx val="1"/>
          <c:order val="1"/>
          <c:tx>
            <c:strRef>
              <c:f>'Project Summary'!$A$3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Summary'!$B$1:$X$1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Summary'!$B$3:$X$3</c:f>
              <c:numCache>
                <c:formatCode>General</c:formatCode>
                <c:ptCount val="23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</c:ser>
        <c:ser>
          <c:idx val="2"/>
          <c:order val="2"/>
          <c:tx>
            <c:strRef>
              <c:f>'Project Summary'!$A$4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Summary'!$B$1:$X$1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Summary'!$B$4:$X$4</c:f>
              <c:numCache>
                <c:formatCode>General</c:formatCode>
                <c:ptCount val="23"/>
                <c:pt idx="0">
                  <c:v>3</c:v>
                </c:pt>
                <c:pt idx="1">
                  <c:v>5</c:v>
                </c:pt>
                <c:pt idx="2">
                  <c:v>6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7</c:v>
                </c:pt>
                <c:pt idx="7">
                  <c:v>7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Summary'!$A$5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Summary'!$B$1:$X$1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Summary'!$B$5:$X$5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4"/>
          <c:order val="4"/>
          <c:tx>
            <c:strRef>
              <c:f>'Project Summary'!$A$6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Summary'!$B$1:$X$1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Summary'!$B$6:$X$6</c:f>
              <c:numCache>
                <c:formatCode>General</c:formatCode>
                <c:ptCount val="23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</c:ser>
        <c:ser>
          <c:idx val="5"/>
          <c:order val="5"/>
          <c:tx>
            <c:strRef>
              <c:f>'Project Summary'!$A$7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Summary'!$B$1:$X$1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Summary'!$B$7:$X$7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6"/>
          <c:order val="6"/>
          <c:tx>
            <c:strRef>
              <c:f>'Project Summary'!$A$8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Summary'!$B$1:$X$1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Summary'!$B$8:$X$8</c:f>
              <c:numCache>
                <c:formatCode>General</c:formatCode>
                <c:ptCount val="23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7"/>
          <c:order val="7"/>
          <c:tx>
            <c:strRef>
              <c:f>'Project Summary'!$A$9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Summary'!$B$1:$X$1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Summary'!$B$9:$X$9</c:f>
              <c:numCache>
                <c:formatCode>General</c:formatCode>
                <c:ptCount val="23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</c:numCache>
            </c:numRef>
          </c:val>
        </c:ser>
        <c:ser>
          <c:idx val="8"/>
          <c:order val="8"/>
          <c:tx>
            <c:strRef>
              <c:f>'Project Summary'!$A$10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Summary'!$B$1:$X$1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Summary'!$B$10:$X$10</c:f>
              <c:numCache>
                <c:formatCode>General</c:formatCode>
                <c:ptCount val="23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</c:numCache>
            </c:numRef>
          </c:val>
        </c:ser>
        <c:ser>
          <c:idx val="9"/>
          <c:order val="9"/>
          <c:tx>
            <c:strRef>
              <c:f>'Project Summary'!$A$11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Summary'!$B$1:$X$1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Summary'!$B$11:$X$11</c:f>
              <c:numCache>
                <c:formatCode>General</c:formatCode>
                <c:ptCount val="23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0"/>
          <c:order val="10"/>
          <c:tx>
            <c:strRef>
              <c:f>'Project Summary'!$A$12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Summary'!$B$1:$X$1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Summary'!$B$12:$X$12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Summary'!$A$13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Summary'!$B$1:$X$1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Summary'!$B$13:$X$13</c:f>
              <c:numCache>
                <c:formatCode>General</c:formatCode>
                <c:ptCount val="23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</c:ser>
        <c:ser>
          <c:idx val="12"/>
          <c:order val="12"/>
          <c:tx>
            <c:strRef>
              <c:f>'Project Summary'!$A$14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Summary'!$B$1:$X$1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Summary'!$B$14:$X$14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3"/>
          <c:order val="13"/>
          <c:tx>
            <c:strRef>
              <c:f>'Project Summary'!$A$15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Summary'!$B$1:$X$1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Summary'!$B$15:$X$15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Summary'!$A$16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Summary'!$B$1:$X$1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Summary'!$B$16:$X$16</c:f>
              <c:numCache>
                <c:formatCode>General</c:formatCode>
                <c:ptCount val="23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</c:numCache>
            </c:numRef>
          </c:val>
        </c:ser>
        <c:ser>
          <c:idx val="15"/>
          <c:order val="15"/>
          <c:tx>
            <c:strRef>
              <c:f>'Project Summary'!$A$17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Summary'!$B$1:$X$1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Summary'!$B$17:$X$17</c:f>
              <c:numCache>
                <c:formatCode>General</c:formatCode>
                <c:ptCount val="23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</c:numCache>
            </c:numRef>
          </c:val>
        </c:ser>
        <c:marker val="1"/>
        <c:axId val="81333632"/>
        <c:axId val="81351808"/>
      </c:lineChart>
      <c:dateAx>
        <c:axId val="81333632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81351808"/>
        <c:crosses val="autoZero"/>
        <c:auto val="1"/>
        <c:lblOffset val="100"/>
        <c:baseTimeUnit val="days"/>
        <c:majorUnit val="3"/>
        <c:majorTimeUnit val="days"/>
      </c:dateAx>
      <c:valAx>
        <c:axId val="81351808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81333632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Change Management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Summary'!$A$21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Summary'!$B$20:$X$20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Summary'!$B$21:$X$21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</c:ser>
        <c:ser>
          <c:idx val="1"/>
          <c:order val="1"/>
          <c:tx>
            <c:strRef>
              <c:f>'Project Summary'!$A$22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Summary'!$B$20:$X$20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Summary'!$B$22:$X$22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2"/>
          <c:order val="2"/>
          <c:tx>
            <c:strRef>
              <c:f>'Project Summary'!$A$23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Summary'!$B$20:$X$20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Summary'!$B$23:$X$23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Summary'!$A$24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Summary'!$B$20:$X$20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Summary'!$B$24:$X$24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7"/>
          <c:order val="4"/>
          <c:tx>
            <c:strRef>
              <c:f>'Project Summary'!$A$25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Summary'!$B$20:$X$20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Summary'!$B$25:$X$25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8"/>
          <c:order val="5"/>
          <c:tx>
            <c:strRef>
              <c:f>'Project Summary'!$A$26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Summary'!$B$20:$X$20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Summary'!$B$26:$X$26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9"/>
          <c:order val="6"/>
          <c:tx>
            <c:strRef>
              <c:f>'Project Summary'!$A$27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Summary'!$B$20:$X$20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Summary'!$B$27:$X$27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</c:ser>
        <c:ser>
          <c:idx val="10"/>
          <c:order val="7"/>
          <c:tx>
            <c:strRef>
              <c:f>'Project Summary'!$A$28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Summary'!$B$20:$X$20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Summary'!$B$28:$X$28</c:f>
              <c:numCache>
                <c:formatCode>General</c:formatCode>
                <c:ptCount val="23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</c:ser>
        <c:ser>
          <c:idx val="4"/>
          <c:order val="8"/>
          <c:tx>
            <c:strRef>
              <c:f>'Project Summary'!$A$29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Summary'!$B$20:$X$20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Summary'!$B$29:$X$29</c:f>
              <c:numCache>
                <c:formatCode>General</c:formatCode>
                <c:ptCount val="23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</c:ser>
        <c:ser>
          <c:idx val="5"/>
          <c:order val="9"/>
          <c:tx>
            <c:strRef>
              <c:f>'Project Summary'!$A$30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Summary'!$B$20:$X$20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Summary'!$B$30:$X$30</c:f>
              <c:numCache>
                <c:formatCode>General</c:formatCode>
                <c:ptCount val="23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6"/>
          <c:order val="10"/>
          <c:tx>
            <c:strRef>
              <c:f>'Project Summary'!$A$31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Summary'!$B$20:$X$20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Summary'!$B$31:$X$31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Summary'!$A$32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Summary'!$B$20:$X$20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Summary'!$B$32:$X$32</c:f>
              <c:numCache>
                <c:formatCode>General</c:formatCode>
                <c:ptCount val="23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2"/>
          <c:order val="12"/>
          <c:tx>
            <c:strRef>
              <c:f>'Project Summary'!$A$33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Summary'!$B$20:$X$20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Summary'!$B$33:$X$33</c:f>
              <c:numCache>
                <c:formatCode>General</c:formatCode>
                <c:ptCount val="23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</c:ser>
        <c:ser>
          <c:idx val="13"/>
          <c:order val="13"/>
          <c:tx>
            <c:strRef>
              <c:f>'Project Summary'!$A$34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Summary'!$B$20:$X$20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Summary'!$B$34:$X$34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Summary'!$A$35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Summary'!$B$20:$X$20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Summary'!$B$35:$X$35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5"/>
          <c:order val="15"/>
          <c:tx>
            <c:strRef>
              <c:f>'Project Summary'!$A$36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Summary'!$B$20:$X$20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Summary'!$B$36:$X$36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marker val="1"/>
        <c:axId val="91677440"/>
        <c:axId val="91678976"/>
      </c:lineChart>
      <c:dateAx>
        <c:axId val="91677440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91678976"/>
        <c:crosses val="autoZero"/>
        <c:auto val="1"/>
        <c:lblOffset val="100"/>
        <c:baseTimeUnit val="days"/>
        <c:majorUnit val="3"/>
        <c:majorTimeUnit val="days"/>
      </c:dateAx>
      <c:valAx>
        <c:axId val="91678976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91677440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SharePoint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Summary'!$A$59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Summary'!$B$58:$X$58</c:f>
              <c:numCache>
                <c:formatCode>[$-409]d\-mmm;@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  <c:pt idx="22" formatCode="dd\-mmm">
                  <c:v>40995</c:v>
                </c:pt>
              </c:numCache>
            </c:numRef>
          </c:cat>
          <c:val>
            <c:numRef>
              <c:f>'Project Summary'!$B$59:$X$59</c:f>
              <c:numCache>
                <c:formatCode>General</c:formatCode>
                <c:ptCount val="23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13</c:v>
                </c:pt>
                <c:pt idx="8">
                  <c:v>13</c:v>
                </c:pt>
                <c:pt idx="9">
                  <c:v>12</c:v>
                </c:pt>
                <c:pt idx="10">
                  <c:v>7</c:v>
                </c:pt>
                <c:pt idx="11">
                  <c:v>5</c:v>
                </c:pt>
                <c:pt idx="12">
                  <c:v>4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6</c:v>
                </c:pt>
                <c:pt idx="20">
                  <c:v>6</c:v>
                </c:pt>
                <c:pt idx="21">
                  <c:v>6</c:v>
                </c:pt>
                <c:pt idx="22">
                  <c:v>6</c:v>
                </c:pt>
              </c:numCache>
            </c:numRef>
          </c:val>
        </c:ser>
        <c:ser>
          <c:idx val="1"/>
          <c:order val="1"/>
          <c:tx>
            <c:strRef>
              <c:f>'Project Summary'!$A$60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Summary'!$B$58:$X$58</c:f>
              <c:numCache>
                <c:formatCode>[$-409]d\-mmm;@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  <c:pt idx="22" formatCode="dd\-mmm">
                  <c:v>40995</c:v>
                </c:pt>
              </c:numCache>
            </c:numRef>
          </c:cat>
          <c:val>
            <c:numRef>
              <c:f>'Project Summary'!$B$60:$X$60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2"/>
          <c:order val="2"/>
          <c:tx>
            <c:strRef>
              <c:f>'Project Summary'!$A$61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Summary'!$B$58:$X$58</c:f>
              <c:numCache>
                <c:formatCode>[$-409]d\-mmm;@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  <c:pt idx="22" formatCode="dd\-mmm">
                  <c:v>40995</c:v>
                </c:pt>
              </c:numCache>
            </c:numRef>
          </c:cat>
          <c:val>
            <c:numRef>
              <c:f>'Project Summary'!$B$61:$X$61</c:f>
              <c:numCache>
                <c:formatCode>General</c:formatCode>
                <c:ptCount val="23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Summary'!$A$62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Summary'!$B$58:$X$58</c:f>
              <c:numCache>
                <c:formatCode>[$-409]d\-mmm;@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  <c:pt idx="22" formatCode="dd\-mmm">
                  <c:v>40995</c:v>
                </c:pt>
              </c:numCache>
            </c:numRef>
          </c:cat>
          <c:val>
            <c:numRef>
              <c:f>'Project Summary'!$B$62:$X$62</c:f>
              <c:numCache>
                <c:formatCode>General</c:formatCode>
                <c:ptCount val="23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</c:numCache>
            </c:numRef>
          </c:val>
        </c:ser>
        <c:ser>
          <c:idx val="7"/>
          <c:order val="4"/>
          <c:tx>
            <c:strRef>
              <c:f>'Project Summary'!$A$63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Summary'!$B$58:$X$58</c:f>
              <c:numCache>
                <c:formatCode>[$-409]d\-mmm;@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  <c:pt idx="22" formatCode="dd\-mmm">
                  <c:v>40995</c:v>
                </c:pt>
              </c:numCache>
            </c:numRef>
          </c:cat>
          <c:val>
            <c:numRef>
              <c:f>'Project Summary'!$B$63:$X$63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8"/>
          <c:order val="5"/>
          <c:tx>
            <c:strRef>
              <c:f>'Project Summary'!$A$64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Summary'!$B$58:$X$58</c:f>
              <c:numCache>
                <c:formatCode>[$-409]d\-mmm;@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  <c:pt idx="22" formatCode="dd\-mmm">
                  <c:v>40995</c:v>
                </c:pt>
              </c:numCache>
            </c:numRef>
          </c:cat>
          <c:val>
            <c:numRef>
              <c:f>'Project Summary'!$B$64:$X$64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9"/>
          <c:order val="6"/>
          <c:tx>
            <c:strRef>
              <c:f>'Project Summary'!$A$65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Summary'!$B$58:$X$58</c:f>
              <c:numCache>
                <c:formatCode>[$-409]d\-mmm;@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  <c:pt idx="22" formatCode="dd\-mmm">
                  <c:v>40995</c:v>
                </c:pt>
              </c:numCache>
            </c:numRef>
          </c:cat>
          <c:val>
            <c:numRef>
              <c:f>'Project Summary'!$B$65:$X$65</c:f>
              <c:numCache>
                <c:formatCode>General</c:formatCode>
                <c:ptCount val="23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Summary'!$A$66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Summary'!$B$58:$X$58</c:f>
              <c:numCache>
                <c:formatCode>[$-409]d\-mmm;@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  <c:pt idx="22" formatCode="dd\-mmm">
                  <c:v>40995</c:v>
                </c:pt>
              </c:numCache>
            </c:numRef>
          </c:cat>
          <c:val>
            <c:numRef>
              <c:f>'Project Summary'!$B$66:$X$66</c:f>
              <c:numCache>
                <c:formatCode>General</c:formatCode>
                <c:ptCount val="23"/>
                <c:pt idx="0">
                  <c:v>12</c:v>
                </c:pt>
                <c:pt idx="1">
                  <c:v>13</c:v>
                </c:pt>
                <c:pt idx="2">
                  <c:v>13</c:v>
                </c:pt>
                <c:pt idx="3">
                  <c:v>18</c:v>
                </c:pt>
                <c:pt idx="4">
                  <c:v>18</c:v>
                </c:pt>
                <c:pt idx="5">
                  <c:v>18</c:v>
                </c:pt>
                <c:pt idx="6">
                  <c:v>18</c:v>
                </c:pt>
                <c:pt idx="7">
                  <c:v>26</c:v>
                </c:pt>
                <c:pt idx="8">
                  <c:v>26</c:v>
                </c:pt>
                <c:pt idx="9">
                  <c:v>27</c:v>
                </c:pt>
                <c:pt idx="10">
                  <c:v>14</c:v>
                </c:pt>
                <c:pt idx="11">
                  <c:v>15</c:v>
                </c:pt>
                <c:pt idx="12">
                  <c:v>13</c:v>
                </c:pt>
                <c:pt idx="13">
                  <c:v>11</c:v>
                </c:pt>
                <c:pt idx="14">
                  <c:v>9</c:v>
                </c:pt>
                <c:pt idx="15">
                  <c:v>8</c:v>
                </c:pt>
                <c:pt idx="16">
                  <c:v>6</c:v>
                </c:pt>
                <c:pt idx="20">
                  <c:v>6</c:v>
                </c:pt>
                <c:pt idx="21">
                  <c:v>6</c:v>
                </c:pt>
                <c:pt idx="22">
                  <c:v>6</c:v>
                </c:pt>
              </c:numCache>
            </c:numRef>
          </c:val>
        </c:ser>
        <c:ser>
          <c:idx val="4"/>
          <c:order val="8"/>
          <c:tx>
            <c:strRef>
              <c:f>'Project Summary'!$A$67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Summary'!$B$58:$X$58</c:f>
              <c:numCache>
                <c:formatCode>[$-409]d\-mmm;@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  <c:pt idx="22" formatCode="dd\-mmm">
                  <c:v>40995</c:v>
                </c:pt>
              </c:numCache>
            </c:numRef>
          </c:cat>
          <c:val>
            <c:numRef>
              <c:f>'Project Summary'!$B$67:$X$67</c:f>
              <c:numCache>
                <c:formatCode>General</c:formatCode>
                <c:ptCount val="23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11</c:v>
                </c:pt>
                <c:pt idx="4">
                  <c:v>11</c:v>
                </c:pt>
                <c:pt idx="5">
                  <c:v>12</c:v>
                </c:pt>
                <c:pt idx="6">
                  <c:v>12</c:v>
                </c:pt>
                <c:pt idx="7">
                  <c:v>18</c:v>
                </c:pt>
                <c:pt idx="8">
                  <c:v>18</c:v>
                </c:pt>
                <c:pt idx="9">
                  <c:v>20</c:v>
                </c:pt>
                <c:pt idx="10">
                  <c:v>9</c:v>
                </c:pt>
                <c:pt idx="11">
                  <c:v>11</c:v>
                </c:pt>
                <c:pt idx="12">
                  <c:v>11</c:v>
                </c:pt>
                <c:pt idx="13">
                  <c:v>9</c:v>
                </c:pt>
                <c:pt idx="14">
                  <c:v>7</c:v>
                </c:pt>
                <c:pt idx="15">
                  <c:v>6</c:v>
                </c:pt>
                <c:pt idx="16">
                  <c:v>4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</c:numCache>
            </c:numRef>
          </c:val>
        </c:ser>
        <c:ser>
          <c:idx val="5"/>
          <c:order val="9"/>
          <c:tx>
            <c:strRef>
              <c:f>'Project Summary'!$A$68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Summary'!$B$58:$X$58</c:f>
              <c:numCache>
                <c:formatCode>[$-409]d\-mmm;@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  <c:pt idx="22" formatCode="dd\-mmm">
                  <c:v>40995</c:v>
                </c:pt>
              </c:numCache>
            </c:numRef>
          </c:cat>
          <c:val>
            <c:numRef>
              <c:f>'Project Summary'!$B$68:$X$68</c:f>
              <c:numCache>
                <c:formatCode>General</c:formatCode>
                <c:ptCount val="23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  <c:pt idx="5">
                  <c:v>7</c:v>
                </c:pt>
                <c:pt idx="6">
                  <c:v>8</c:v>
                </c:pt>
                <c:pt idx="7">
                  <c:v>8</c:v>
                </c:pt>
                <c:pt idx="8">
                  <c:v>8</c:v>
                </c:pt>
                <c:pt idx="9">
                  <c:v>9</c:v>
                </c:pt>
                <c:pt idx="10">
                  <c:v>6</c:v>
                </c:pt>
                <c:pt idx="11">
                  <c:v>3</c:v>
                </c:pt>
                <c:pt idx="12">
                  <c:v>2</c:v>
                </c:pt>
                <c:pt idx="13">
                  <c:v>1</c:v>
                </c:pt>
                <c:pt idx="14">
                  <c:v>3</c:v>
                </c:pt>
                <c:pt idx="15">
                  <c:v>3</c:v>
                </c:pt>
                <c:pt idx="16">
                  <c:v>0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</c:numCache>
            </c:numRef>
          </c:val>
        </c:ser>
        <c:ser>
          <c:idx val="6"/>
          <c:order val="10"/>
          <c:tx>
            <c:strRef>
              <c:f>'Project Summary'!$A$69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Summary'!$B$58:$X$58</c:f>
              <c:numCache>
                <c:formatCode>[$-409]d\-mmm;@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  <c:pt idx="22" formatCode="dd\-mmm">
                  <c:v>40995</c:v>
                </c:pt>
              </c:numCache>
            </c:numRef>
          </c:cat>
          <c:val>
            <c:numRef>
              <c:f>'Project Summary'!$B$69:$X$69</c:f>
              <c:numCache>
                <c:formatCode>General</c:formatCode>
                <c:ptCount val="23"/>
                <c:pt idx="0">
                  <c:v>6</c:v>
                </c:pt>
                <c:pt idx="1">
                  <c:v>7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4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Summary'!$A$70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Summary'!$B$58:$X$58</c:f>
              <c:numCache>
                <c:formatCode>[$-409]d\-mmm;@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  <c:pt idx="22" formatCode="dd\-mmm">
                  <c:v>40995</c:v>
                </c:pt>
              </c:numCache>
            </c:numRef>
          </c:cat>
          <c:val>
            <c:numRef>
              <c:f>'Project Summary'!$B$70:$X$70</c:f>
              <c:numCache>
                <c:formatCode>General</c:formatCode>
                <c:ptCount val="23"/>
                <c:pt idx="0">
                  <c:v>8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10</c:v>
                </c:pt>
                <c:pt idx="6">
                  <c:v>10</c:v>
                </c:pt>
                <c:pt idx="7">
                  <c:v>7</c:v>
                </c:pt>
                <c:pt idx="8">
                  <c:v>7</c:v>
                </c:pt>
                <c:pt idx="9">
                  <c:v>6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1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</c:numCache>
            </c:numRef>
          </c:val>
        </c:ser>
        <c:ser>
          <c:idx val="12"/>
          <c:order val="12"/>
          <c:tx>
            <c:strRef>
              <c:f>'Project Summary'!$A$71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Summary'!$B$58:$X$58</c:f>
              <c:numCache>
                <c:formatCode>[$-409]d\-mmm;@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  <c:pt idx="22" formatCode="dd\-mmm">
                  <c:v>40995</c:v>
                </c:pt>
              </c:numCache>
            </c:numRef>
          </c:cat>
          <c:val>
            <c:numRef>
              <c:f>'Project Summary'!$B$71:$X$71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1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2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</c:ser>
        <c:ser>
          <c:idx val="13"/>
          <c:order val="13"/>
          <c:tx>
            <c:strRef>
              <c:f>'Project Summary'!$A$72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Summary'!$B$58:$X$58</c:f>
              <c:numCache>
                <c:formatCode>[$-409]d\-mmm;@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  <c:pt idx="22" formatCode="dd\-mmm">
                  <c:v>40995</c:v>
                </c:pt>
              </c:numCache>
            </c:numRef>
          </c:cat>
          <c:val>
            <c:numRef>
              <c:f>'Project Summary'!$B$72:$X$72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Summary'!$A$73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Summary'!$B$58:$X$58</c:f>
              <c:numCache>
                <c:formatCode>[$-409]d\-mmm;@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  <c:pt idx="22" formatCode="dd\-mmm">
                  <c:v>40995</c:v>
                </c:pt>
              </c:numCache>
            </c:numRef>
          </c:cat>
          <c:val>
            <c:numRef>
              <c:f>'Project Summary'!$B$73:$X$73</c:f>
              <c:numCache>
                <c:formatCode>General</c:formatCode>
                <c:ptCount val="23"/>
                <c:pt idx="0">
                  <c:v>37</c:v>
                </c:pt>
                <c:pt idx="1">
                  <c:v>37</c:v>
                </c:pt>
                <c:pt idx="2">
                  <c:v>37</c:v>
                </c:pt>
                <c:pt idx="3">
                  <c:v>37</c:v>
                </c:pt>
                <c:pt idx="4">
                  <c:v>37</c:v>
                </c:pt>
                <c:pt idx="5">
                  <c:v>37</c:v>
                </c:pt>
                <c:pt idx="6">
                  <c:v>37</c:v>
                </c:pt>
                <c:pt idx="7">
                  <c:v>37</c:v>
                </c:pt>
                <c:pt idx="8">
                  <c:v>37</c:v>
                </c:pt>
                <c:pt idx="9">
                  <c:v>36</c:v>
                </c:pt>
                <c:pt idx="10">
                  <c:v>36</c:v>
                </c:pt>
                <c:pt idx="11">
                  <c:v>36</c:v>
                </c:pt>
                <c:pt idx="12">
                  <c:v>36</c:v>
                </c:pt>
                <c:pt idx="13">
                  <c:v>36</c:v>
                </c:pt>
                <c:pt idx="14">
                  <c:v>37</c:v>
                </c:pt>
                <c:pt idx="15">
                  <c:v>37</c:v>
                </c:pt>
                <c:pt idx="16">
                  <c:v>37</c:v>
                </c:pt>
                <c:pt idx="20">
                  <c:v>6</c:v>
                </c:pt>
                <c:pt idx="21">
                  <c:v>6</c:v>
                </c:pt>
                <c:pt idx="22">
                  <c:v>6</c:v>
                </c:pt>
              </c:numCache>
            </c:numRef>
          </c:val>
        </c:ser>
        <c:ser>
          <c:idx val="15"/>
          <c:order val="15"/>
          <c:tx>
            <c:strRef>
              <c:f>'Project Summary'!$A$74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Summary'!$B$58:$X$58</c:f>
              <c:numCache>
                <c:formatCode>[$-409]d\-mmm;@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  <c:pt idx="22" formatCode="dd\-mmm">
                  <c:v>40995</c:v>
                </c:pt>
              </c:numCache>
            </c:numRef>
          </c:cat>
          <c:val>
            <c:numRef>
              <c:f>'Project Summary'!$B$74:$X$74</c:f>
              <c:numCache>
                <c:formatCode>General</c:formatCode>
                <c:ptCount val="23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marker val="1"/>
        <c:axId val="93248896"/>
        <c:axId val="93267072"/>
      </c:lineChart>
      <c:dateAx>
        <c:axId val="93248896"/>
        <c:scaling>
          <c:orientation val="minMax"/>
        </c:scaling>
        <c:axPos val="b"/>
        <c:numFmt formatCode="[$-409]d\-mmm;@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93267072"/>
        <c:crosses val="autoZero"/>
        <c:auto val="1"/>
        <c:lblOffset val="100"/>
        <c:baseTimeUnit val="days"/>
        <c:majorUnit val="3"/>
        <c:majorTimeUnit val="days"/>
      </c:dateAx>
      <c:valAx>
        <c:axId val="93267072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93248896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Technology Foundation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Summary'!$A$78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Summary'!$B$77:$X$77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Summary'!$B$78:$X$78</c:f>
              <c:numCache>
                <c:formatCode>General</c:formatCode>
                <c:ptCount val="23"/>
                <c:pt idx="0">
                  <c:v>10</c:v>
                </c:pt>
                <c:pt idx="1">
                  <c:v>9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  <c:pt idx="5">
                  <c:v>9</c:v>
                </c:pt>
                <c:pt idx="6">
                  <c:v>8</c:v>
                </c:pt>
                <c:pt idx="7">
                  <c:v>5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7</c:v>
                </c:pt>
                <c:pt idx="20">
                  <c:v>7</c:v>
                </c:pt>
                <c:pt idx="21">
                  <c:v>7</c:v>
                </c:pt>
                <c:pt idx="22">
                  <c:v>7</c:v>
                </c:pt>
              </c:numCache>
            </c:numRef>
          </c:val>
        </c:ser>
        <c:ser>
          <c:idx val="1"/>
          <c:order val="1"/>
          <c:tx>
            <c:strRef>
              <c:f>'Project Summary'!$A$79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Summary'!$B$77:$X$77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Summary'!$B$79:$X$79</c:f>
              <c:numCache>
                <c:formatCode>General</c:formatCode>
                <c:ptCount val="23"/>
                <c:pt idx="0">
                  <c:v>7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4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</c:ser>
        <c:ser>
          <c:idx val="2"/>
          <c:order val="2"/>
          <c:tx>
            <c:strRef>
              <c:f>'Project Summary'!$A$80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Summary'!$B$77:$X$77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Summary'!$B$80:$X$80</c:f>
              <c:numCache>
                <c:formatCode>General</c:formatCode>
                <c:ptCount val="23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4</c:v>
                </c:pt>
                <c:pt idx="6">
                  <c:v>3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</c:v>
                </c:pt>
                <c:pt idx="14">
                  <c:v>1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Summary'!$A$81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Summary'!$B$77:$X$77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Summary'!$B$81:$X$81</c:f>
              <c:numCache>
                <c:formatCode>General</c:formatCode>
                <c:ptCount val="23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4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</c:numCache>
            </c:numRef>
          </c:val>
        </c:ser>
        <c:ser>
          <c:idx val="7"/>
          <c:order val="4"/>
          <c:tx>
            <c:strRef>
              <c:f>'Project Summary'!$A$82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Summary'!$B$77:$X$77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Summary'!$B$82:$X$82</c:f>
              <c:numCache>
                <c:formatCode>General</c:formatCode>
                <c:ptCount val="23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5</c:v>
                </c:pt>
                <c:pt idx="5">
                  <c:v>4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</c:numCache>
            </c:numRef>
          </c:val>
        </c:ser>
        <c:ser>
          <c:idx val="8"/>
          <c:order val="5"/>
          <c:tx>
            <c:strRef>
              <c:f>'Project Summary'!$A$83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Summary'!$B$77:$X$77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Summary'!$B$83:$X$83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9"/>
          <c:order val="6"/>
          <c:tx>
            <c:strRef>
              <c:f>'Project Summary'!$A$84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Summary'!$B$77:$X$77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Summary'!$B$84:$X$84</c:f>
              <c:numCache>
                <c:formatCode>General</c:formatCode>
                <c:ptCount val="23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Summary'!$A$85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Summary'!$B$77:$X$77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Summary'!$B$85:$X$85</c:f>
              <c:numCache>
                <c:formatCode>General</c:formatCode>
                <c:ptCount val="23"/>
                <c:pt idx="0">
                  <c:v>20</c:v>
                </c:pt>
                <c:pt idx="1">
                  <c:v>13</c:v>
                </c:pt>
                <c:pt idx="2">
                  <c:v>13</c:v>
                </c:pt>
                <c:pt idx="3">
                  <c:v>13</c:v>
                </c:pt>
                <c:pt idx="4">
                  <c:v>15</c:v>
                </c:pt>
                <c:pt idx="5">
                  <c:v>15</c:v>
                </c:pt>
                <c:pt idx="6">
                  <c:v>15</c:v>
                </c:pt>
                <c:pt idx="7">
                  <c:v>12</c:v>
                </c:pt>
                <c:pt idx="8">
                  <c:v>11</c:v>
                </c:pt>
                <c:pt idx="9">
                  <c:v>12</c:v>
                </c:pt>
                <c:pt idx="10">
                  <c:v>12</c:v>
                </c:pt>
                <c:pt idx="11">
                  <c:v>12</c:v>
                </c:pt>
                <c:pt idx="12">
                  <c:v>11</c:v>
                </c:pt>
                <c:pt idx="13">
                  <c:v>11</c:v>
                </c:pt>
                <c:pt idx="14">
                  <c:v>11</c:v>
                </c:pt>
                <c:pt idx="15">
                  <c:v>11</c:v>
                </c:pt>
                <c:pt idx="16">
                  <c:v>11</c:v>
                </c:pt>
                <c:pt idx="20">
                  <c:v>11</c:v>
                </c:pt>
                <c:pt idx="21">
                  <c:v>11</c:v>
                </c:pt>
                <c:pt idx="22">
                  <c:v>11</c:v>
                </c:pt>
              </c:numCache>
            </c:numRef>
          </c:val>
        </c:ser>
        <c:ser>
          <c:idx val="4"/>
          <c:order val="8"/>
          <c:tx>
            <c:strRef>
              <c:f>'Project Summary'!$A$86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Summary'!$B$77:$X$77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Summary'!$B$86:$X$86</c:f>
              <c:numCache>
                <c:formatCode>General</c:formatCode>
                <c:ptCount val="23"/>
                <c:pt idx="0">
                  <c:v>16</c:v>
                </c:pt>
                <c:pt idx="1">
                  <c:v>9</c:v>
                </c:pt>
                <c:pt idx="2">
                  <c:v>9</c:v>
                </c:pt>
                <c:pt idx="3">
                  <c:v>9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11</c:v>
                </c:pt>
                <c:pt idx="8">
                  <c:v>10</c:v>
                </c:pt>
                <c:pt idx="9">
                  <c:v>8</c:v>
                </c:pt>
                <c:pt idx="10">
                  <c:v>9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</c:numCache>
            </c:numRef>
          </c:val>
        </c:ser>
        <c:ser>
          <c:idx val="5"/>
          <c:order val="9"/>
          <c:tx>
            <c:strRef>
              <c:f>'Project Summary'!$A$87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Summary'!$B$77:$X$77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Summary'!$B$87:$X$87</c:f>
              <c:numCache>
                <c:formatCode>General</c:formatCode>
                <c:ptCount val="23"/>
                <c:pt idx="0">
                  <c:v>7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</c:numCache>
            </c:numRef>
          </c:val>
        </c:ser>
        <c:ser>
          <c:idx val="6"/>
          <c:order val="10"/>
          <c:tx>
            <c:strRef>
              <c:f>'Project Summary'!$A$88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Summary'!$B$77:$X$77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Summary'!$B$88:$X$88</c:f>
              <c:numCache>
                <c:formatCode>General</c:formatCode>
                <c:ptCount val="23"/>
                <c:pt idx="0">
                  <c:v>12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Summary'!$A$89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Summary'!$B$77:$X$77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Summary'!$B$89:$X$89</c:f>
              <c:numCache>
                <c:formatCode>General</c:formatCode>
                <c:ptCount val="23"/>
                <c:pt idx="0">
                  <c:v>9</c:v>
                </c:pt>
                <c:pt idx="1">
                  <c:v>7</c:v>
                </c:pt>
                <c:pt idx="2">
                  <c:v>7</c:v>
                </c:pt>
                <c:pt idx="3">
                  <c:v>8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</c:numCache>
            </c:numRef>
          </c:val>
        </c:ser>
        <c:ser>
          <c:idx val="12"/>
          <c:order val="12"/>
          <c:tx>
            <c:strRef>
              <c:f>'Project Summary'!$A$90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Summary'!$B$77:$X$77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Summary'!$B$90:$X$90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</c:numCache>
            </c:numRef>
          </c:val>
        </c:ser>
        <c:ser>
          <c:idx val="13"/>
          <c:order val="13"/>
          <c:tx>
            <c:strRef>
              <c:f>'Project Summary'!$A$91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Summary'!$B$77:$X$77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Summary'!$B$91:$X$91</c:f>
              <c:numCache>
                <c:formatCode>General</c:formatCode>
                <c:ptCount val="23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</c:ser>
        <c:ser>
          <c:idx val="14"/>
          <c:order val="14"/>
          <c:tx>
            <c:strRef>
              <c:f>'Project Summary'!$A$92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Summary'!$B$77:$X$77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Summary'!$B$92:$X$92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</c:numCache>
            </c:numRef>
          </c:val>
        </c:ser>
        <c:ser>
          <c:idx val="15"/>
          <c:order val="15"/>
          <c:tx>
            <c:strRef>
              <c:f>'Project Summary'!$A$93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Summary'!$B$77:$X$77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Summary'!$B$93:$X$93</c:f>
              <c:numCache>
                <c:formatCode>General</c:formatCode>
                <c:ptCount val="23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12</c:v>
                </c:pt>
                <c:pt idx="8">
                  <c:v>22</c:v>
                </c:pt>
                <c:pt idx="9">
                  <c:v>17</c:v>
                </c:pt>
                <c:pt idx="10">
                  <c:v>15</c:v>
                </c:pt>
                <c:pt idx="11">
                  <c:v>16</c:v>
                </c:pt>
                <c:pt idx="12">
                  <c:v>16</c:v>
                </c:pt>
                <c:pt idx="13">
                  <c:v>16</c:v>
                </c:pt>
                <c:pt idx="14">
                  <c:v>16</c:v>
                </c:pt>
                <c:pt idx="15">
                  <c:v>15</c:v>
                </c:pt>
                <c:pt idx="16">
                  <c:v>15</c:v>
                </c:pt>
                <c:pt idx="20">
                  <c:v>15</c:v>
                </c:pt>
                <c:pt idx="21">
                  <c:v>15</c:v>
                </c:pt>
                <c:pt idx="22">
                  <c:v>15</c:v>
                </c:pt>
              </c:numCache>
            </c:numRef>
          </c:val>
        </c:ser>
        <c:marker val="1"/>
        <c:axId val="94330240"/>
        <c:axId val="94340224"/>
      </c:lineChart>
      <c:dateAx>
        <c:axId val="94330240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94340224"/>
        <c:crosses val="autoZero"/>
        <c:auto val="1"/>
        <c:lblOffset val="100"/>
        <c:baseTimeUnit val="days"/>
        <c:majorUnit val="3"/>
        <c:majorTimeUnit val="days"/>
      </c:dateAx>
      <c:valAx>
        <c:axId val="94340224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94330240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Unified Communications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Summary'!$A$97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Summary'!$B$96:$X$96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Summary'!$B$97:$X$97</c:f>
              <c:numCache>
                <c:formatCode>General</c:formatCode>
                <c:ptCount val="23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  <c:pt idx="11">
                  <c:v>8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20">
                  <c:v>7</c:v>
                </c:pt>
                <c:pt idx="21">
                  <c:v>7</c:v>
                </c:pt>
                <c:pt idx="22">
                  <c:v>7</c:v>
                </c:pt>
              </c:numCache>
            </c:numRef>
          </c:val>
        </c:ser>
        <c:ser>
          <c:idx val="1"/>
          <c:order val="1"/>
          <c:tx>
            <c:strRef>
              <c:f>'Project Summary'!$A$98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Summary'!$B$96:$X$96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Summary'!$B$98:$X$98</c:f>
              <c:numCache>
                <c:formatCode>General</c:formatCode>
                <c:ptCount val="23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4</c:v>
                </c:pt>
                <c:pt idx="13">
                  <c:v>4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</c:numCache>
            </c:numRef>
          </c:val>
        </c:ser>
        <c:ser>
          <c:idx val="2"/>
          <c:order val="2"/>
          <c:tx>
            <c:strRef>
              <c:f>'Project Summary'!$A$99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Summary'!$B$96:$X$96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Summary'!$B$99:$X$99</c:f>
              <c:numCache>
                <c:formatCode>General</c:formatCode>
                <c:ptCount val="23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Summary'!$A$100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Summary'!$B$96:$X$96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Summary'!$B$100:$X$100</c:f>
              <c:numCache>
                <c:formatCode>General</c:formatCode>
                <c:ptCount val="23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6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7"/>
          <c:order val="4"/>
          <c:tx>
            <c:strRef>
              <c:f>'Project Summary'!$A$101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Summary'!$B$96:$X$96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Summary'!$B$101:$X$101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</c:numCache>
            </c:numRef>
          </c:val>
        </c:ser>
        <c:ser>
          <c:idx val="8"/>
          <c:order val="5"/>
          <c:tx>
            <c:strRef>
              <c:f>'Project Summary'!$A$102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Summary'!$B$96:$X$96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Summary'!$B$102:$X$102</c:f>
              <c:numCache>
                <c:formatCode>General</c:formatCode>
                <c:ptCount val="23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</c:ser>
        <c:ser>
          <c:idx val="9"/>
          <c:order val="6"/>
          <c:tx>
            <c:strRef>
              <c:f>'Project Summary'!$A$103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Summary'!$B$96:$X$96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Summary'!$B$103:$X$103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Summary'!$A$104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Summary'!$B$96:$X$96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Summary'!$B$104:$X$104</c:f>
              <c:numCache>
                <c:formatCode>General</c:formatCode>
                <c:ptCount val="23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4"/>
          <c:order val="8"/>
          <c:tx>
            <c:strRef>
              <c:f>'Project Summary'!$A$105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Summary'!$B$96:$X$96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Summary'!$B$105:$X$105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5"/>
          <c:order val="9"/>
          <c:tx>
            <c:strRef>
              <c:f>'Project Summary'!$A$106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Summary'!$B$96:$X$96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Summary'!$B$106:$X$106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6"/>
          <c:order val="10"/>
          <c:tx>
            <c:strRef>
              <c:f>'Project Summary'!$A$107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Summary'!$B$96:$X$96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Summary'!$B$107:$X$107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Summary'!$A$108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Summary'!$B$96:$X$96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Summary'!$B$108:$X$108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2"/>
          <c:order val="12"/>
          <c:tx>
            <c:strRef>
              <c:f>'Project Summary'!$A$109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Summary'!$B$96:$X$96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Summary'!$B$109:$X$109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3"/>
          <c:order val="13"/>
          <c:tx>
            <c:strRef>
              <c:f>'Project Summary'!$A$110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Summary'!$B$96:$X$96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Summary'!$B$110:$X$110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Summary'!$A$111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Summary'!$B$96:$X$96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Summary'!$B$111:$X$111</c:f>
              <c:numCache>
                <c:formatCode>General</c:formatCode>
                <c:ptCount val="23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3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</c:ser>
        <c:ser>
          <c:idx val="15"/>
          <c:order val="15"/>
          <c:tx>
            <c:strRef>
              <c:f>'Project Summary'!$A$112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Summary'!$B$96:$X$96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Summary'!$B$112:$X$112</c:f>
              <c:numCache>
                <c:formatCode>General</c:formatCode>
                <c:ptCount val="23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</c:ser>
        <c:marker val="1"/>
        <c:axId val="91757184"/>
        <c:axId val="93204864"/>
      </c:lineChart>
      <c:dateAx>
        <c:axId val="91757184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93204864"/>
        <c:crosses val="autoZero"/>
        <c:auto val="1"/>
        <c:lblOffset val="100"/>
        <c:baseTimeUnit val="days"/>
        <c:majorUnit val="3"/>
        <c:majorTimeUnit val="days"/>
      </c:dateAx>
      <c:valAx>
        <c:axId val="93204864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91757184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M&amp;C Program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Summary'!$A$40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Summary'!$B$39:$X$39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Summary'!$B$40:$X$40</c:f>
              <c:numCache>
                <c:formatCode>General</c:formatCode>
                <c:ptCount val="23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9</c:v>
                </c:pt>
                <c:pt idx="6">
                  <c:v>9</c:v>
                </c:pt>
                <c:pt idx="7">
                  <c:v>8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  <c:pt idx="13">
                  <c:v>6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20">
                  <c:v>7</c:v>
                </c:pt>
                <c:pt idx="21">
                  <c:v>7</c:v>
                </c:pt>
                <c:pt idx="22">
                  <c:v>7</c:v>
                </c:pt>
              </c:numCache>
            </c:numRef>
          </c:val>
        </c:ser>
        <c:ser>
          <c:idx val="1"/>
          <c:order val="1"/>
          <c:tx>
            <c:strRef>
              <c:f>'Project Summary'!$A$41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Summary'!$B$39:$X$39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Summary'!$B$41:$X$41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4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</c:numCache>
            </c:numRef>
          </c:val>
        </c:ser>
        <c:ser>
          <c:idx val="2"/>
          <c:order val="2"/>
          <c:tx>
            <c:strRef>
              <c:f>'Project Summary'!$A$42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Summary'!$B$39:$X$39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Summary'!$B$42:$X$42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Summary'!$A$43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Summary'!$B$39:$X$39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Summary'!$B$43:$X$43</c:f>
              <c:numCache>
                <c:formatCode>General</c:formatCode>
                <c:ptCount val="23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7</c:v>
                </c:pt>
                <c:pt idx="6">
                  <c:v>7</c:v>
                </c:pt>
                <c:pt idx="7">
                  <c:v>6</c:v>
                </c:pt>
                <c:pt idx="8">
                  <c:v>3</c:v>
                </c:pt>
                <c:pt idx="9">
                  <c:v>1</c:v>
                </c:pt>
                <c:pt idx="10">
                  <c:v>1</c:v>
                </c:pt>
                <c:pt idx="11">
                  <c:v>2</c:v>
                </c:pt>
                <c:pt idx="12">
                  <c:v>1</c:v>
                </c:pt>
                <c:pt idx="13">
                  <c:v>0</c:v>
                </c:pt>
                <c:pt idx="14">
                  <c:v>1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7"/>
          <c:order val="4"/>
          <c:tx>
            <c:strRef>
              <c:f>'Project Summary'!$A$44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Summary'!$B$39:$X$39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Summary'!$B$44:$X$44</c:f>
              <c:numCache>
                <c:formatCode>General</c:formatCode>
                <c:ptCount val="23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1</c:v>
                </c:pt>
                <c:pt idx="14">
                  <c:v>0</c:v>
                </c:pt>
                <c:pt idx="15">
                  <c:v>0</c:v>
                </c:pt>
                <c:pt idx="16">
                  <c:v>2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</c:numCache>
            </c:numRef>
          </c:val>
        </c:ser>
        <c:ser>
          <c:idx val="8"/>
          <c:order val="5"/>
          <c:tx>
            <c:strRef>
              <c:f>'Project Summary'!$A$45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Summary'!$B$39:$X$39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Summary'!$B$45:$X$45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</c:numCache>
            </c:numRef>
          </c:val>
        </c:ser>
        <c:ser>
          <c:idx val="9"/>
          <c:order val="6"/>
          <c:tx>
            <c:strRef>
              <c:f>'Project Summary'!$A$46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Summary'!$B$39:$X$39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Summary'!$B$46:$X$46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Summary'!$A$47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Summary'!$B$39:$X$39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Summary'!$B$47:$X$47</c:f>
              <c:numCache>
                <c:formatCode>General</c:formatCode>
                <c:ptCount val="23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7</c:v>
                </c:pt>
                <c:pt idx="8">
                  <c:v>7</c:v>
                </c:pt>
                <c:pt idx="9">
                  <c:v>8</c:v>
                </c:pt>
                <c:pt idx="10">
                  <c:v>14</c:v>
                </c:pt>
                <c:pt idx="11">
                  <c:v>15</c:v>
                </c:pt>
                <c:pt idx="12">
                  <c:v>15</c:v>
                </c:pt>
                <c:pt idx="13">
                  <c:v>15</c:v>
                </c:pt>
                <c:pt idx="14">
                  <c:v>15</c:v>
                </c:pt>
                <c:pt idx="15">
                  <c:v>15</c:v>
                </c:pt>
                <c:pt idx="16">
                  <c:v>14</c:v>
                </c:pt>
                <c:pt idx="20">
                  <c:v>14</c:v>
                </c:pt>
                <c:pt idx="21">
                  <c:v>14</c:v>
                </c:pt>
                <c:pt idx="22">
                  <c:v>14</c:v>
                </c:pt>
              </c:numCache>
            </c:numRef>
          </c:val>
        </c:ser>
        <c:ser>
          <c:idx val="4"/>
          <c:order val="8"/>
          <c:tx>
            <c:strRef>
              <c:f>'Project Summary'!$A$48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Summary'!$B$39:$X$39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Summary'!$B$48:$X$48</c:f>
              <c:numCache>
                <c:formatCode>General</c:formatCode>
                <c:ptCount val="23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7</c:v>
                </c:pt>
                <c:pt idx="8">
                  <c:v>7</c:v>
                </c:pt>
                <c:pt idx="9">
                  <c:v>8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9</c:v>
                </c:pt>
                <c:pt idx="20">
                  <c:v>9</c:v>
                </c:pt>
                <c:pt idx="21">
                  <c:v>9</c:v>
                </c:pt>
                <c:pt idx="22">
                  <c:v>9</c:v>
                </c:pt>
              </c:numCache>
            </c:numRef>
          </c:val>
        </c:ser>
        <c:ser>
          <c:idx val="5"/>
          <c:order val="9"/>
          <c:tx>
            <c:strRef>
              <c:f>'Project Summary'!$A$49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Summary'!$B$39:$X$39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Summary'!$B$49:$X$49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1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</c:numCache>
            </c:numRef>
          </c:val>
        </c:ser>
        <c:ser>
          <c:idx val="6"/>
          <c:order val="10"/>
          <c:tx>
            <c:strRef>
              <c:f>'Project Summary'!$A$50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Summary'!$B$39:$X$39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Summary'!$B$50:$X$50</c:f>
              <c:numCache>
                <c:formatCode>General</c:formatCode>
                <c:ptCount val="23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  <c:pt idx="10">
                  <c:v>3</c:v>
                </c:pt>
                <c:pt idx="11">
                  <c:v>4</c:v>
                </c:pt>
                <c:pt idx="12">
                  <c:v>2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Summary'!$A$51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Summary'!$B$39:$X$39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Summary'!$B$51:$X$51</c:f>
              <c:numCache>
                <c:formatCode>General</c:formatCode>
                <c:ptCount val="23"/>
                <c:pt idx="0">
                  <c:v>3</c:v>
                </c:pt>
                <c:pt idx="1">
                  <c:v>3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5</c:v>
                </c:pt>
                <c:pt idx="8">
                  <c:v>5</c:v>
                </c:pt>
                <c:pt idx="9">
                  <c:v>6</c:v>
                </c:pt>
                <c:pt idx="10">
                  <c:v>6</c:v>
                </c:pt>
                <c:pt idx="11">
                  <c:v>9</c:v>
                </c:pt>
                <c:pt idx="12">
                  <c:v>9</c:v>
                </c:pt>
                <c:pt idx="13">
                  <c:v>9</c:v>
                </c:pt>
                <c:pt idx="14">
                  <c:v>9</c:v>
                </c:pt>
                <c:pt idx="15">
                  <c:v>9</c:v>
                </c:pt>
                <c:pt idx="16">
                  <c:v>9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</c:numCache>
            </c:numRef>
          </c:val>
        </c:ser>
        <c:ser>
          <c:idx val="12"/>
          <c:order val="12"/>
          <c:tx>
            <c:strRef>
              <c:f>'Project Summary'!$A$52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Summary'!$B$39:$X$39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Summary'!$B$52:$X$52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</c:ser>
        <c:ser>
          <c:idx val="13"/>
          <c:order val="13"/>
          <c:tx>
            <c:strRef>
              <c:f>'Project Summary'!$A$53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Summary'!$B$39:$X$39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Summary'!$B$53:$X$53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Summary'!$A$54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Summary'!$B$39:$X$39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Summary'!$B$54:$X$54</c:f>
              <c:numCache>
                <c:formatCode>General</c:formatCode>
                <c:ptCount val="23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</c:ser>
        <c:ser>
          <c:idx val="15"/>
          <c:order val="15"/>
          <c:tx>
            <c:strRef>
              <c:f>'Project Summary'!$A$55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Summary'!$B$39:$X$39</c:f>
              <c:numCache>
                <c:formatCode>dd\-mmm</c:formatCode>
                <c:ptCount val="23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  <c:pt idx="22">
                  <c:v>40995</c:v>
                </c:pt>
              </c:numCache>
            </c:numRef>
          </c:cat>
          <c:val>
            <c:numRef>
              <c:f>'Project Summary'!$B$55:$X$55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</c:numCache>
            </c:numRef>
          </c:val>
        </c:ser>
        <c:marker val="1"/>
        <c:axId val="93995776"/>
        <c:axId val="93997312"/>
      </c:lineChart>
      <c:dateAx>
        <c:axId val="93995776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93997312"/>
        <c:crosses val="autoZero"/>
        <c:auto val="1"/>
        <c:lblOffset val="100"/>
        <c:baseTimeUnit val="days"/>
        <c:majorUnit val="3"/>
        <c:majorTimeUnit val="days"/>
      </c:dateAx>
      <c:valAx>
        <c:axId val="93997312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93995776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plotArea>
      <c:layout/>
      <c:barChart>
        <c:barDir val="col"/>
        <c:grouping val="clustered"/>
        <c:ser>
          <c:idx val="0"/>
          <c:order val="0"/>
          <c:tx>
            <c:strRef>
              <c:f>Snapshot!$A$2</c:f>
              <c:strCache>
                <c:ptCount val="1"/>
                <c:pt idx="0">
                  <c:v>App &amp; Data Migration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Snapshot!$B$2:$M$2</c:f>
              <c:numCache>
                <c:formatCode>General</c:formatCode>
                <c:ptCount val="12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</c:v>
                </c:pt>
                <c:pt idx="6">
                  <c:v>0</c:v>
                </c:pt>
                <c:pt idx="7">
                  <c:v>2</c:v>
                </c:pt>
                <c:pt idx="8">
                  <c:v>2</c:v>
                </c:pt>
                <c:pt idx="9">
                  <c:v>0</c:v>
                </c:pt>
                <c:pt idx="10">
                  <c:v>3</c:v>
                </c:pt>
                <c:pt idx="11">
                  <c:v>1</c:v>
                </c:pt>
              </c:numCache>
            </c:numRef>
          </c:val>
        </c:ser>
        <c:ser>
          <c:idx val="2"/>
          <c:order val="1"/>
          <c:tx>
            <c:strRef>
              <c:f>Snapshot!$A$3</c:f>
              <c:strCache>
                <c:ptCount val="1"/>
                <c:pt idx="0">
                  <c:v>Change Management</c:v>
                </c:pt>
              </c:strCache>
            </c:strRef>
          </c:tx>
          <c:spPr>
            <a:solidFill>
              <a:srgbClr val="FF990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Snapshot!$B$3:$M$3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4"/>
          <c:order val="2"/>
          <c:tx>
            <c:strRef>
              <c:f>Snapshot!$A$4</c:f>
              <c:strCache>
                <c:ptCount val="1"/>
                <c:pt idx="0">
                  <c:v>M&amp;C Program</c:v>
                </c:pt>
              </c:strCache>
            </c:strRef>
          </c:tx>
          <c:spPr>
            <a:solidFill>
              <a:srgbClr val="6699FF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Snapshot!$B$4:$M$4</c:f>
              <c:numCache>
                <c:formatCode>General</c:formatCode>
                <c:ptCount val="12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  <c:pt idx="6">
                  <c:v>0</c:v>
                </c:pt>
                <c:pt idx="7">
                  <c:v>3</c:v>
                </c:pt>
                <c:pt idx="8">
                  <c:v>1</c:v>
                </c:pt>
                <c:pt idx="9">
                  <c:v>2</c:v>
                </c:pt>
                <c:pt idx="10">
                  <c:v>2</c:v>
                </c:pt>
                <c:pt idx="11">
                  <c:v>1</c:v>
                </c:pt>
              </c:numCache>
            </c:numRef>
          </c:val>
        </c:ser>
        <c:ser>
          <c:idx val="6"/>
          <c:order val="3"/>
          <c:tx>
            <c:strRef>
              <c:f>Snapshot!$A$5</c:f>
              <c:strCache>
                <c:ptCount val="1"/>
                <c:pt idx="0">
                  <c:v>SharePoint</c:v>
                </c:pt>
              </c:strCache>
            </c:strRef>
          </c:tx>
          <c:spPr>
            <a:solidFill>
              <a:srgbClr val="92D05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Snapshot!$B$5:$M$5</c:f>
              <c:numCache>
                <c:formatCode>General</c:formatCode>
                <c:ptCount val="1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5</c:v>
                </c:pt>
                <c:pt idx="4">
                  <c:v>4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6</c:v>
                </c:pt>
                <c:pt idx="9">
                  <c:v>10</c:v>
                </c:pt>
                <c:pt idx="10">
                  <c:v>0</c:v>
                </c:pt>
                <c:pt idx="11">
                  <c:v>11</c:v>
                </c:pt>
              </c:numCache>
            </c:numRef>
          </c:val>
        </c:ser>
        <c:ser>
          <c:idx val="8"/>
          <c:order val="4"/>
          <c:tx>
            <c:strRef>
              <c:f>Snapshot!$A$6</c:f>
              <c:strCache>
                <c:ptCount val="1"/>
                <c:pt idx="0">
                  <c:v>Technology Foundation</c:v>
                </c:pt>
              </c:strCache>
            </c:strRef>
          </c:tx>
          <c:spPr>
            <a:solidFill>
              <a:srgbClr val="333399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Snapshot!$B$6:$M$6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2</c:v>
                </c:pt>
                <c:pt idx="9">
                  <c:v>0</c:v>
                </c:pt>
                <c:pt idx="10">
                  <c:v>15</c:v>
                </c:pt>
                <c:pt idx="11">
                  <c:v>23</c:v>
                </c:pt>
              </c:numCache>
            </c:numRef>
          </c:val>
        </c:ser>
        <c:ser>
          <c:idx val="10"/>
          <c:order val="5"/>
          <c:tx>
            <c:strRef>
              <c:f>Snapshot!$A$7</c:f>
              <c:strCache>
                <c:ptCount val="1"/>
                <c:pt idx="0">
                  <c:v>Unified Communications</c:v>
                </c:pt>
              </c:strCache>
            </c:strRef>
          </c:tx>
          <c:spPr>
            <a:solidFill>
              <a:srgbClr val="80008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Snapshot!$B$7:$M$7</c:f>
              <c:numCache>
                <c:formatCode>General</c:formatCode>
                <c:ptCount val="12"/>
                <c:pt idx="0">
                  <c:v>0</c:v>
                </c:pt>
                <c:pt idx="1">
                  <c:v>5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  <c:pt idx="10">
                  <c:v>1</c:v>
                </c:pt>
                <c:pt idx="11">
                  <c:v>5</c:v>
                </c:pt>
              </c:numCache>
            </c:numRef>
          </c:val>
        </c:ser>
        <c:axId val="93289472"/>
        <c:axId val="93439872"/>
      </c:barChart>
      <c:catAx>
        <c:axId val="93289472"/>
        <c:scaling>
          <c:orientation val="minMax"/>
        </c:scaling>
        <c:axPos val="b"/>
        <c:tickLblPos val="nextTo"/>
        <c:crossAx val="93439872"/>
        <c:crosses val="autoZero"/>
        <c:auto val="1"/>
        <c:lblAlgn val="ctr"/>
        <c:lblOffset val="100"/>
      </c:catAx>
      <c:valAx>
        <c:axId val="93439872"/>
        <c:scaling>
          <c:orientation val="minMax"/>
        </c:scaling>
        <c:axPos val="l"/>
        <c:majorGridlines/>
        <c:numFmt formatCode="General" sourceLinked="1"/>
        <c:tickLblPos val="nextTo"/>
        <c:crossAx val="93289472"/>
        <c:crosses val="autoZero"/>
        <c:crossBetween val="between"/>
      </c:valAx>
    </c:plotArea>
    <c:legend>
      <c:legendPos val="r"/>
      <c:layout/>
    </c:legend>
    <c:plotVisOnly val="1"/>
    <c:dispBlanksAs val="gap"/>
  </c:chart>
  <c:externalData r:id="rId1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A5E0-D895-4793-ABCA-684E91AE4401}" type="datetimeFigureOut">
              <a:rPr lang="en-GB" smtClean="0"/>
              <a:t>27/03/2012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A738-D5C0-4C77-9517-D3B7E485685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A5E0-D895-4793-ABCA-684E91AE4401}" type="datetimeFigureOut">
              <a:rPr lang="en-GB" smtClean="0"/>
              <a:t>27/03/2012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A738-D5C0-4C77-9517-D3B7E485685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A5E0-D895-4793-ABCA-684E91AE4401}" type="datetimeFigureOut">
              <a:rPr lang="en-GB" smtClean="0"/>
              <a:t>27/03/2012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A738-D5C0-4C77-9517-D3B7E485685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A5E0-D895-4793-ABCA-684E91AE4401}" type="datetimeFigureOut">
              <a:rPr lang="en-GB" smtClean="0"/>
              <a:t>27/03/2012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A738-D5C0-4C77-9517-D3B7E485685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A5E0-D895-4793-ABCA-684E91AE4401}" type="datetimeFigureOut">
              <a:rPr lang="en-GB" smtClean="0"/>
              <a:t>27/03/2012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A738-D5C0-4C77-9517-D3B7E485685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A5E0-D895-4793-ABCA-684E91AE4401}" type="datetimeFigureOut">
              <a:rPr lang="en-GB" smtClean="0"/>
              <a:t>27/03/2012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A738-D5C0-4C77-9517-D3B7E485685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A5E0-D895-4793-ABCA-684E91AE4401}" type="datetimeFigureOut">
              <a:rPr lang="en-GB" smtClean="0"/>
              <a:t>27/03/2012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A738-D5C0-4C77-9517-D3B7E485685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A5E0-D895-4793-ABCA-684E91AE4401}" type="datetimeFigureOut">
              <a:rPr lang="en-GB" smtClean="0"/>
              <a:t>27/03/2012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A738-D5C0-4C77-9517-D3B7E485685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A5E0-D895-4793-ABCA-684E91AE4401}" type="datetimeFigureOut">
              <a:rPr lang="en-GB" smtClean="0"/>
              <a:t>27/03/2012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A738-D5C0-4C77-9517-D3B7E485685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A5E0-D895-4793-ABCA-684E91AE4401}" type="datetimeFigureOut">
              <a:rPr lang="en-GB" smtClean="0"/>
              <a:t>27/03/2012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A738-D5C0-4C77-9517-D3B7E485685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A5E0-D895-4793-ABCA-684E91AE4401}" type="datetimeFigureOut">
              <a:rPr lang="en-GB" smtClean="0"/>
              <a:t>27/03/2012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A738-D5C0-4C77-9517-D3B7E485685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4A5E0-D895-4793-ABCA-684E91AE4401}" type="datetimeFigureOut">
              <a:rPr lang="en-GB" smtClean="0"/>
              <a:t>27/03/2012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6A738-D5C0-4C77-9517-D3B7E4856853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0" y="332656"/>
          <a:ext cx="4788023" cy="2996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4644008" y="188640"/>
          <a:ext cx="4499992" cy="2996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0" y="3322712"/>
          <a:ext cx="4536504" cy="3535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4427984" y="3068960"/>
          <a:ext cx="4716016" cy="378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Freeform 94"/>
          <p:cNvSpPr>
            <a:spLocks/>
          </p:cNvSpPr>
          <p:nvPr/>
        </p:nvSpPr>
        <p:spPr bwMode="gray">
          <a:xfrm>
            <a:off x="-2459" y="-3265"/>
            <a:ext cx="7025054" cy="335921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l" defTabSz="955675" eaLnBrk="0" hangingPunct="0">
              <a:spcAft>
                <a:spcPts val="0"/>
              </a:spcAft>
              <a:defRPr/>
            </a:pPr>
            <a:r>
              <a:rPr lang="en-US" sz="1600" b="1" kern="0" dirty="0" smtClean="0">
                <a:solidFill>
                  <a:srgbClr val="646464"/>
                </a:solidFill>
              </a:rPr>
              <a:t> RAID trends and observations</a:t>
            </a:r>
            <a:endParaRPr lang="en-US" sz="1600" b="1" kern="0" dirty="0" smtClean="0">
              <a:solidFill>
                <a:srgbClr val="646464"/>
              </a:solidFill>
              <a:latin typeface="EYInterstat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683568" y="620688"/>
          <a:ext cx="7560840" cy="2952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/>
          <p:cNvGraphicFramePr/>
          <p:nvPr/>
        </p:nvGraphicFramePr>
        <p:xfrm>
          <a:off x="683568" y="3617640"/>
          <a:ext cx="7920880" cy="324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reeform 94"/>
          <p:cNvSpPr>
            <a:spLocks/>
          </p:cNvSpPr>
          <p:nvPr/>
        </p:nvSpPr>
        <p:spPr bwMode="gray">
          <a:xfrm>
            <a:off x="-2459" y="-3265"/>
            <a:ext cx="7025054" cy="335921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l" defTabSz="955675" eaLnBrk="0" hangingPunct="0">
              <a:spcAft>
                <a:spcPts val="0"/>
              </a:spcAft>
              <a:defRPr/>
            </a:pPr>
            <a:r>
              <a:rPr lang="en-US" sz="1600" b="1" kern="0" dirty="0" smtClean="0">
                <a:solidFill>
                  <a:srgbClr val="646464"/>
                </a:solidFill>
              </a:rPr>
              <a:t> RAID trends and observations</a:t>
            </a:r>
            <a:endParaRPr lang="en-US" sz="1600" b="1" kern="0" dirty="0" smtClean="0">
              <a:solidFill>
                <a:srgbClr val="646464"/>
              </a:solidFill>
              <a:latin typeface="EYInterstat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109537" y="671512"/>
          <a:ext cx="8924925" cy="5514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l" defTabSz="955675" eaLnBrk="0" hangingPunct="0">
              <a:spcAft>
                <a:spcPts val="0"/>
              </a:spcAft>
              <a:defRPr/>
            </a:pPr>
            <a:r>
              <a:rPr lang="en-US" sz="1600" b="1" kern="0" dirty="0" smtClean="0">
                <a:solidFill>
                  <a:srgbClr val="646464"/>
                </a:solidFill>
              </a:rPr>
              <a:t> RAID trends and observations</a:t>
            </a:r>
            <a:endParaRPr lang="en-US" sz="1600" b="1" kern="0" dirty="0" smtClean="0">
              <a:solidFill>
                <a:srgbClr val="646464"/>
              </a:solidFill>
              <a:latin typeface="EYInterstat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28</Words>
  <Application>Microsoft Office PowerPoint</Application>
  <PresentationFormat>On-screen Show (4:3)</PresentationFormat>
  <Paragraphs>9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Company>Ernst &amp; Young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Wale Agbaje</dc:creator>
  <cp:lastModifiedBy>Wale Agbaje</cp:lastModifiedBy>
  <cp:revision>8</cp:revision>
  <dcterms:created xsi:type="dcterms:W3CDTF">2012-03-27T10:52:06Z</dcterms:created>
  <dcterms:modified xsi:type="dcterms:W3CDTF">2012-03-27T11:20:57Z</dcterms:modified>
</cp:coreProperties>
</file>