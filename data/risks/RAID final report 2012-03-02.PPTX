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8"/>
  </p:notesMasterIdLst>
  <p:sldIdLst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6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MC%20Program%20RAID%20Lo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autoTitleDeleted val="1"/>
    <c:plotArea>
      <c:layout/>
      <c:lineChart>
        <c:grouping val="standard"/>
        <c:ser>
          <c:idx val="0"/>
          <c:order val="0"/>
          <c:tx>
            <c:strRef>
              <c:f>'RAID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Summary'!$B$2:$K$2</c:f>
              <c:numCache>
                <c:formatCode>General</c:formatCode>
                <c:ptCount val="10"/>
                <c:pt idx="0">
                  <c:v>40</c:v>
                </c:pt>
                <c:pt idx="1">
                  <c:v>34</c:v>
                </c:pt>
                <c:pt idx="2">
                  <c:v>33</c:v>
                </c:pt>
                <c:pt idx="3">
                  <c:v>30</c:v>
                </c:pt>
                <c:pt idx="4">
                  <c:v>32</c:v>
                </c:pt>
                <c:pt idx="5">
                  <c:v>32</c:v>
                </c:pt>
                <c:pt idx="6">
                  <c:v>30</c:v>
                </c:pt>
                <c:pt idx="7">
                  <c:v>30</c:v>
                </c:pt>
                <c:pt idx="8">
                  <c:v>32</c:v>
                </c:pt>
                <c:pt idx="9">
                  <c:v>39</c:v>
                </c:pt>
              </c:numCache>
            </c:numRef>
          </c:val>
        </c:ser>
        <c:ser>
          <c:idx val="1"/>
          <c:order val="1"/>
          <c:tx>
            <c:strRef>
              <c:f>'RAID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Summary'!$B$3:$K$3</c:f>
              <c:numCache>
                <c:formatCode>General</c:formatCode>
                <c:ptCount val="10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  <c:pt idx="6">
                  <c:v>16</c:v>
                </c:pt>
                <c:pt idx="7">
                  <c:v>16</c:v>
                </c:pt>
                <c:pt idx="8">
                  <c:v>21</c:v>
                </c:pt>
                <c:pt idx="9">
                  <c:v>28</c:v>
                </c:pt>
              </c:numCache>
            </c:numRef>
          </c:val>
        </c:ser>
        <c:ser>
          <c:idx val="2"/>
          <c:order val="2"/>
          <c:tx>
            <c:strRef>
              <c:f>'RAID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Summary'!$B$4:$K$4</c:f>
              <c:numCache>
                <c:formatCode>General</c:formatCode>
                <c:ptCount val="10"/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  <c:pt idx="7">
                  <c:v>10</c:v>
                </c:pt>
                <c:pt idx="8">
                  <c:v>9</c:v>
                </c:pt>
                <c:pt idx="9">
                  <c:v>13</c:v>
                </c:pt>
              </c:numCache>
            </c:numRef>
          </c:val>
        </c:ser>
        <c:ser>
          <c:idx val="3"/>
          <c:order val="3"/>
          <c:tx>
            <c:strRef>
              <c:f>'RAID Summary'!$A$5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Summary'!$B$5:$K$5</c:f>
              <c:numCache>
                <c:formatCode>General</c:formatCode>
                <c:ptCount val="10"/>
                <c:pt idx="0">
                  <c:v>37</c:v>
                </c:pt>
                <c:pt idx="1">
                  <c:v>37</c:v>
                </c:pt>
                <c:pt idx="2">
                  <c:v>42</c:v>
                </c:pt>
                <c:pt idx="3">
                  <c:v>42</c:v>
                </c:pt>
                <c:pt idx="4">
                  <c:v>45</c:v>
                </c:pt>
                <c:pt idx="5">
                  <c:v>48</c:v>
                </c:pt>
                <c:pt idx="6">
                  <c:v>52</c:v>
                </c:pt>
                <c:pt idx="7">
                  <c:v>43</c:v>
                </c:pt>
                <c:pt idx="8">
                  <c:v>49</c:v>
                </c:pt>
                <c:pt idx="9">
                  <c:v>51</c:v>
                </c:pt>
              </c:numCache>
            </c:numRef>
          </c:val>
        </c:ser>
        <c:ser>
          <c:idx val="4"/>
          <c:order val="4"/>
          <c:tx>
            <c:strRef>
              <c:f>'RAID Summary'!$A$6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Summary'!$B$6:$K$6</c:f>
              <c:numCache>
                <c:formatCode>General</c:formatCode>
                <c:ptCount val="10"/>
                <c:pt idx="2">
                  <c:v>25</c:v>
                </c:pt>
                <c:pt idx="3">
                  <c:v>25</c:v>
                </c:pt>
                <c:pt idx="4">
                  <c:v>28</c:v>
                </c:pt>
                <c:pt idx="5">
                  <c:v>33</c:v>
                </c:pt>
                <c:pt idx="6">
                  <c:v>39</c:v>
                </c:pt>
                <c:pt idx="7">
                  <c:v>31</c:v>
                </c:pt>
                <c:pt idx="8">
                  <c:v>37</c:v>
                </c:pt>
                <c:pt idx="9">
                  <c:v>40</c:v>
                </c:pt>
              </c:numCache>
            </c:numRef>
          </c:val>
        </c:ser>
        <c:ser>
          <c:idx val="5"/>
          <c:order val="5"/>
          <c:tx>
            <c:strRef>
              <c:f>'RAID Summary'!$A$7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Summary'!$B$7:$K$7</c:f>
              <c:numCache>
                <c:formatCode>General</c:formatCode>
                <c:ptCount val="10"/>
                <c:pt idx="2">
                  <c:v>13</c:v>
                </c:pt>
                <c:pt idx="3">
                  <c:v>12</c:v>
                </c:pt>
                <c:pt idx="4">
                  <c:v>7</c:v>
                </c:pt>
                <c:pt idx="5">
                  <c:v>13</c:v>
                </c:pt>
                <c:pt idx="6">
                  <c:v>16</c:v>
                </c:pt>
                <c:pt idx="7">
                  <c:v>14</c:v>
                </c:pt>
                <c:pt idx="8">
                  <c:v>12</c:v>
                </c:pt>
                <c:pt idx="9">
                  <c:v>22</c:v>
                </c:pt>
              </c:numCache>
            </c:numRef>
          </c:val>
        </c:ser>
        <c:ser>
          <c:idx val="6"/>
          <c:order val="6"/>
          <c:tx>
            <c:strRef>
              <c:f>'RAID Summary'!$A$8</c:f>
              <c:strCache>
                <c:ptCount val="1"/>
                <c:pt idx="0">
                  <c:v>Total Assumptions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Summary'!$B$8:$K$8</c:f>
              <c:numCache>
                <c:formatCode>General</c:formatCode>
                <c:ptCount val="10"/>
                <c:pt idx="0">
                  <c:v>78</c:v>
                </c:pt>
                <c:pt idx="1">
                  <c:v>70</c:v>
                </c:pt>
                <c:pt idx="2">
                  <c:v>67</c:v>
                </c:pt>
                <c:pt idx="3">
                  <c:v>67</c:v>
                </c:pt>
                <c:pt idx="4">
                  <c:v>68</c:v>
                </c:pt>
                <c:pt idx="5">
                  <c:v>69</c:v>
                </c:pt>
                <c:pt idx="6">
                  <c:v>69</c:v>
                </c:pt>
                <c:pt idx="7">
                  <c:v>69</c:v>
                </c:pt>
                <c:pt idx="8">
                  <c:v>63</c:v>
                </c:pt>
                <c:pt idx="9">
                  <c:v>63</c:v>
                </c:pt>
              </c:numCache>
            </c:numRef>
          </c:val>
        </c:ser>
        <c:ser>
          <c:idx val="7"/>
          <c:order val="7"/>
          <c:tx>
            <c:strRef>
              <c:f>'RAID Summary'!$A$9</c:f>
              <c:strCache>
                <c:ptCount val="1"/>
                <c:pt idx="0">
                  <c:v>Total Decisions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Summary'!$B$9:$K$9</c:f>
              <c:numCache>
                <c:formatCode>General</c:formatCode>
                <c:ptCount val="10"/>
                <c:pt idx="0">
                  <c:v>153</c:v>
                </c:pt>
                <c:pt idx="1">
                  <c:v>153</c:v>
                </c:pt>
                <c:pt idx="2">
                  <c:v>154</c:v>
                </c:pt>
                <c:pt idx="3">
                  <c:v>154</c:v>
                </c:pt>
                <c:pt idx="4">
                  <c:v>161</c:v>
                </c:pt>
                <c:pt idx="5">
                  <c:v>182</c:v>
                </c:pt>
                <c:pt idx="6">
                  <c:v>183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</c:numCache>
            </c:numRef>
          </c:val>
        </c:ser>
        <c:ser>
          <c:idx val="8"/>
          <c:order val="8"/>
          <c:tx>
            <c:strRef>
              <c:f>'RAID Summary'!$A$10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'RAID Summary'!$B$1:$K$1</c:f>
              <c:numCache>
                <c:formatCode>d\-mmm\-yy</c:formatCode>
                <c:ptCount val="1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</c:numCache>
            </c:numRef>
          </c:cat>
          <c:val>
            <c:numRef>
              <c:f>'RAID Summary'!$B$10:$K$10</c:f>
              <c:numCache>
                <c:formatCode>General</c:formatCode>
                <c:ptCount val="10"/>
                <c:pt idx="0">
                  <c:v>24</c:v>
                </c:pt>
                <c:pt idx="1">
                  <c:v>24</c:v>
                </c:pt>
                <c:pt idx="2">
                  <c:v>25</c:v>
                </c:pt>
                <c:pt idx="3">
                  <c:v>24</c:v>
                </c:pt>
                <c:pt idx="4">
                  <c:v>30</c:v>
                </c:pt>
                <c:pt idx="5">
                  <c:v>39</c:v>
                </c:pt>
                <c:pt idx="6">
                  <c:v>40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</c:numCache>
            </c:numRef>
          </c:val>
        </c:ser>
        <c:marker val="1"/>
        <c:axId val="90847872"/>
        <c:axId val="90878336"/>
      </c:lineChart>
      <c:dateAx>
        <c:axId val="90847872"/>
        <c:scaling>
          <c:orientation val="minMax"/>
        </c:scaling>
        <c:axPos val="b"/>
        <c:numFmt formatCode="d\-mmm\-yy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90878336"/>
        <c:crosses val="autoZero"/>
        <c:auto val="1"/>
        <c:lblOffset val="100"/>
        <c:baseTimeUnit val="days"/>
        <c:majorUnit val="7"/>
        <c:majorTimeUnit val="days"/>
      </c:dateAx>
      <c:valAx>
        <c:axId val="90878336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9084787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800"/>
          </a:pPr>
          <a:endParaRPr lang="en-US"/>
        </a:p>
      </c:txPr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F1A4A-8E82-46E9-9FAA-8937536C091C}" type="datetimeFigureOut">
              <a:rPr lang="en-US" smtClean="0"/>
              <a:pPr/>
              <a:t>3/2/2012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7EFC4-BCE1-40C5-825F-A6039ECCB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Cost</a:t>
            </a:r>
          </a:p>
          <a:p>
            <a:pPr defTabSz="855340">
              <a:defRPr/>
            </a:pPr>
            <a:r>
              <a:rPr lang="en-GB" dirty="0" smtClean="0"/>
              <a:t>GREEN - </a:t>
            </a:r>
            <a:r>
              <a:rPr lang="en-US" dirty="0" smtClean="0"/>
              <a:t>Estimate at Completion (EAC) = + 0 - 5% of approved spend (cost baseline + approved change requests)</a:t>
            </a:r>
            <a:endParaRPr lang="en-GB" dirty="0" smtClean="0"/>
          </a:p>
          <a:p>
            <a:pPr defTabSz="855340">
              <a:defRPr/>
            </a:pPr>
            <a:r>
              <a:rPr lang="en-GB" dirty="0" smtClean="0"/>
              <a:t>AMBER - </a:t>
            </a:r>
            <a:r>
              <a:rPr lang="en-US" dirty="0" smtClean="0"/>
              <a:t>Estimate at Completion (EAC) = + 6 - 10% of approved spend (cost baseline + approved changes) and/or pending spend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Estimate at Completion (EAC) exceeds + 10% or $100,000 of approved spend (cost baseline + approved changes) and/or pending spend or no project budget defined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Schedule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The project schedule supports the end date of the project (with some elapsed time contingency).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The project schedule supports the end date, but issues, risks and/or changes exist that may put the date in jeopardy.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The project schedule does not exist and/or the project schedule does not support the end of the project.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Scope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no pending change requests.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</a:t>
            </a:r>
            <a:r>
              <a:rPr lang="en-US" u="sng" dirty="0" smtClean="0"/>
              <a:t>pending</a:t>
            </a:r>
            <a:r>
              <a:rPr lang="en-US" dirty="0" smtClean="0"/>
              <a:t> change requests – known and not raised and raised but not agreed.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Scope undefined or unapproved (no scope baseline) and/or multiple pending change requests.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Risk</a:t>
            </a:r>
          </a:p>
          <a:p>
            <a:r>
              <a:rPr lang="en-GB" dirty="0" smtClean="0"/>
              <a:t>GREEN – Low amount of risks with negligible impact</a:t>
            </a:r>
          </a:p>
          <a:p>
            <a:r>
              <a:rPr lang="en-GB" dirty="0" smtClean="0"/>
              <a:t>AMBER – Medium amount of risks. High or medium impact but with mitigation actions in place. Time left to put in place mitigation plans.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High number of risks. High score risks which impact in the near term. No mitigation in place for High risks.</a:t>
            </a:r>
          </a:p>
          <a:p>
            <a:endParaRPr lang="en-GB" baseline="0" dirty="0" smtClean="0"/>
          </a:p>
          <a:p>
            <a:r>
              <a:rPr lang="en-GB" dirty="0" smtClean="0"/>
              <a:t>Issue</a:t>
            </a:r>
          </a:p>
          <a:p>
            <a:r>
              <a:rPr lang="en-GB" dirty="0" smtClean="0"/>
              <a:t>GREEN – No or low impact issues. Medium impact issues with resolution plans agreed and in place.</a:t>
            </a:r>
          </a:p>
          <a:p>
            <a:r>
              <a:rPr lang="en-GB" dirty="0" smtClean="0"/>
              <a:t>AMBER – Large</a:t>
            </a:r>
            <a:r>
              <a:rPr lang="en-GB" baseline="0" dirty="0" smtClean="0"/>
              <a:t> amount of issues and/or Medium impact issues with no resolution plans.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High impact issues present. No resolution plans in place for Medium of High level issues</a:t>
            </a:r>
          </a:p>
          <a:p>
            <a:endParaRPr lang="en-GB" baseline="0" dirty="0" smtClean="0"/>
          </a:p>
          <a:p>
            <a:r>
              <a:rPr lang="en-GB" dirty="0" smtClean="0"/>
              <a:t>Commercial</a:t>
            </a:r>
          </a:p>
          <a:p>
            <a:r>
              <a:rPr lang="en-GB" dirty="0" smtClean="0"/>
              <a:t>GREEN - TBD</a:t>
            </a:r>
          </a:p>
          <a:p>
            <a:r>
              <a:rPr lang="en-GB" dirty="0" smtClean="0"/>
              <a:t>AMBER - TBD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TBD</a:t>
            </a:r>
          </a:p>
          <a:p>
            <a:endParaRPr lang="en-GB" baseline="0" dirty="0" smtClean="0"/>
          </a:p>
          <a:p>
            <a:r>
              <a:rPr lang="en-GB" dirty="0" smtClean="0"/>
              <a:t>Resource</a:t>
            </a:r>
          </a:p>
          <a:p>
            <a:r>
              <a:rPr lang="en-GB" dirty="0" smtClean="0"/>
              <a:t>GREEN – No resource issue or constraints</a:t>
            </a:r>
          </a:p>
          <a:p>
            <a:r>
              <a:rPr lang="en-GB" dirty="0" smtClean="0"/>
              <a:t>AMBER – Resource issues exist but plans are in place to resolve.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Resource issues exist with no plans in place to resolve.</a:t>
            </a:r>
          </a:p>
          <a:p>
            <a:endParaRPr lang="en-GB" baseline="0" dirty="0" smtClean="0"/>
          </a:p>
          <a:p>
            <a:endParaRPr lang="en-GB" baseline="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50229-A2FD-4B97-A211-B039D5F76B57}" type="datetimeFigureOut">
              <a:rPr lang="en-GB" smtClean="0"/>
              <a:pPr/>
              <a:t>02/03/2012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64025-F64B-40A2-B087-4B572272ADD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7. RAID 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13" name="Group 270"/>
          <p:cNvGraphicFramePr>
            <a:graphicFrameLocks noGrp="1"/>
          </p:cNvGraphicFramePr>
          <p:nvPr/>
        </p:nvGraphicFramePr>
        <p:xfrm>
          <a:off x="76200" y="3619034"/>
          <a:ext cx="8991600" cy="3005728"/>
        </p:xfrm>
        <a:graphic>
          <a:graphicData uri="http://schemas.openxmlformats.org/drawingml/2006/table">
            <a:tbl>
              <a:tblPr/>
              <a:tblGrid>
                <a:gridCol w="446315"/>
                <a:gridCol w="2601685"/>
                <a:gridCol w="2286000"/>
                <a:gridCol w="1676400"/>
                <a:gridCol w="1981200"/>
              </a:tblGrid>
              <a:tr h="18950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6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6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Top Critical  Risks and Issues</a:t>
                      </a:r>
                      <a:endParaRPr kumimoji="0" lang="en-US" sz="6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6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6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Item</a:t>
                      </a:r>
                      <a:endParaRPr kumimoji="0" lang="en-US" sz="6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Background</a:t>
                      </a:r>
                      <a:endParaRPr kumimoji="0" lang="en-US" sz="6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Description</a:t>
                      </a:r>
                      <a:endParaRPr kumimoji="0" lang="en-US" sz="6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Impact</a:t>
                      </a:r>
                      <a:endParaRPr kumimoji="0" lang="en-US" sz="6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6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Action</a:t>
                      </a:r>
                      <a:endParaRPr kumimoji="0" lang="en-US" sz="6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712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R26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R67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A&amp;DM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To re-platform large volumes of Lotus Notes applications into a new technology, the A&amp;DM Program will deliver in a factory approach driving consistency across the firm. </a:t>
                      </a:r>
                    </a:p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A&amp;DM Operating Model states how the factory will work with the existing IT Service Delivery teams and the business. </a:t>
                      </a:r>
                    </a:p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Agreement has been reached on the A&amp;M Operating Model on most items other than who manages the requirements and design phases – the A&amp;DM Program or IT Service Delivery teams. 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benefits of a factory delivery approach cannot be leveraged if the IT Service Delivery teams manage the requirement and design phases. </a:t>
                      </a:r>
                    </a:p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Phase 1 project team are encountering resistance from some IT Service Delivery teams when performing the business requirements activities. 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Until a decision is reached and communicated the A&amp;DM project team will continue to meet resistance as they progress through delivery which results in delays to the plan and a challenging working relationship. 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AutoNum type="arabicPeriod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Escalate to Mo for a decision. 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AutoNum type="arabicPeriod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Communicate decision to all CBS, Markets and Cross-Org Leaders. 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R102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A&amp;DM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Rediscovery team published the first of four reports (containing around 18k applications) to some of the IT Service Delivery teams on Monday 30</a:t>
                      </a:r>
                      <a:r>
                        <a:rPr kumimoji="0" lang="en-US" sz="800" b="0" i="0" u="none" strike="noStrike" kern="1200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Jan’12 for review/validation.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Some of the IT Service Delivery teams have flagged that they do not have the time or budget (charge code from A&amp;DM) to review/validate the report – their input is required to agree the future state for each application.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A&amp;DM team will not have the required agreement to re-platform, decommission, archive, etc. applications. 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As a consequence, EY will not be able to realize the rebates from MS for decommissioning Lotus Notes applications. 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AutoNum type="arabicPeriod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 priority at the CLT ref supporting the A&amp;DM Rediscovery team vs. other in-flight projects. 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AutoNum type="arabicPeriod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 direction at the CLT red where IT Service Delivery teams should book time spend supporting the A&amp;DM Program. 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AutoNum type="arabicPeriod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Communicate agreed decisions to all CBS, Markets and Cross-Org Leaders.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:\Documents and Settings\liangli1\Desktop\ScopeTimeCost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0185" y="76200"/>
            <a:ext cx="877615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Chart 6"/>
          <p:cNvGraphicFramePr/>
          <p:nvPr/>
        </p:nvGraphicFramePr>
        <p:xfrm>
          <a:off x="0" y="476672"/>
          <a:ext cx="6515099" cy="311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3"/>
            <a:ext cx="6398869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EYInterstate"/>
              </a:rPr>
              <a:t>2. Overall assessment of Program health</a:t>
            </a:r>
            <a:endParaRPr lang="en-US" sz="1600" b="1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10" name="Group 852"/>
          <p:cNvGraphicFramePr>
            <a:graphicFrameLocks noGrp="1"/>
          </p:cNvGraphicFramePr>
          <p:nvPr/>
        </p:nvGraphicFramePr>
        <p:xfrm>
          <a:off x="6553200" y="10477"/>
          <a:ext cx="2590800" cy="5678630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14291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PMO Narrative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0359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Budget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556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Schedule – Overall status RED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4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Resource.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115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lang="en-GB" sz="700" b="1" i="0" kern="1200" baseline="0" dirty="0" smtClean="0">
                          <a:solidFill>
                            <a:srgbClr val="000000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RAIDs.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RAG status reflects  the workstream’s progress with regards to  the  completion of cleaning up of their RAIDs.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Our clean-up of risks and issues continues. Summaries of missing data (by workstream) are being distributed twice a week, with detailed information going out on Mondays.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SharePoint  and Tech Foundation have the most decisions to revalidate in light of the cloud decision. SharePoint reviewed their items this week, and Tech Foundation’s review is in progress.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7 new risks were raised this week.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54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Commercial/Vendor. 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600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General .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" y="4191000"/>
          <a:ext cx="6396408" cy="3108300"/>
        </p:xfrm>
        <a:graphic>
          <a:graphicData uri="http://schemas.openxmlformats.org/drawingml/2006/table">
            <a:tbl>
              <a:tblPr/>
              <a:tblGrid>
                <a:gridCol w="904315"/>
                <a:gridCol w="848285"/>
                <a:gridCol w="784499"/>
                <a:gridCol w="816392"/>
                <a:gridCol w="742175"/>
                <a:gridCol w="742175"/>
                <a:gridCol w="816392"/>
                <a:gridCol w="742175"/>
              </a:tblGrid>
              <a:tr h="185322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RAG Trend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0780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This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Last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-2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-3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-4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-5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-6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SharePoint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22468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 &amp; Data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97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Tech  Foundation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Unified Communications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IT Transition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Business Deployment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Release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" y="530137"/>
          <a:ext cx="6396406" cy="3402519"/>
        </p:xfrm>
        <a:graphic>
          <a:graphicData uri="http://schemas.openxmlformats.org/drawingml/2006/table">
            <a:tbl>
              <a:tblPr/>
              <a:tblGrid>
                <a:gridCol w="838198"/>
                <a:gridCol w="515936"/>
                <a:gridCol w="630284"/>
                <a:gridCol w="630284"/>
                <a:gridCol w="630284"/>
                <a:gridCol w="630284"/>
                <a:gridCol w="630284"/>
                <a:gridCol w="630284"/>
                <a:gridCol w="630284"/>
                <a:gridCol w="630284"/>
              </a:tblGrid>
              <a:tr h="170061">
                <a:tc gridSpan="10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Weekly Ratings</a:t>
                      </a:r>
                      <a:r>
                        <a:rPr lang="en-GB" sz="700" b="0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646464"/>
                        </a:solidFill>
                        <a:latin typeface="EYInterstate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70061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Program Assessment (Per PM Tool)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PMO Assessment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400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Program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Overall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Scope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Time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Cost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RAID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Resource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Financial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Schedule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Vendor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168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SharePoint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Red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77093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 &amp; Data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Green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272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Green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Unified Communications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Amber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5373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Tech Foundation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Red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IT Transition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???</a:t>
                      </a:r>
                      <a:endParaRPr lang="en-US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Business Deployment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Release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80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Overall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Red</a:t>
                      </a:r>
                      <a:endParaRPr lang="en-US" sz="1200" b="1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MSIBM-2-6445</_dlc_DocId>
    <_dlc_DocIdUrl xmlns="0cbe1240-e4fe-486d-8edc-2712abb96eb4">
      <Url>http://sp.ey.net/msibm/_layouts/DocIdRedir.aspx?ID=MSIBM-2-6445</Url>
      <Description>MSIBM-2-6445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3" ma:contentTypeDescription="Create a new document." ma:contentTypeScope="" ma:versionID="abc6be5a7620dcb7711b0f96b151bb65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6de1d13258d2b99d584b28ddcc0f79a5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B787D7-2D57-4E21-925E-6802EDD40729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0cbe1240-e4fe-486d-8edc-2712abb96eb4"/>
  </ds:schemaRefs>
</ds:datastoreItem>
</file>

<file path=customXml/itemProps2.xml><?xml version="1.0" encoding="utf-8"?>
<ds:datastoreItem xmlns:ds="http://schemas.openxmlformats.org/officeDocument/2006/customXml" ds:itemID="{1713B623-89DC-4481-92DB-3DB49601E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6DBF5F-DE0E-4701-9460-B966E4943EF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0A66B40-4FC1-4317-879E-58E5789F26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927</Words>
  <Application>Microsoft Office PowerPoint</Application>
  <PresentationFormat>On-screen Show (4:3)</PresentationFormat>
  <Paragraphs>121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RAID final report 2012-03-02</dc:title>
  <dc:creator>Wale Agbaje</dc:creator>
  <cp:lastModifiedBy>Wale Agbaje</cp:lastModifiedBy>
  <cp:revision>7</cp:revision>
  <dcterms:created xsi:type="dcterms:W3CDTF">2012-02-24T14:50:34Z</dcterms:created>
  <dcterms:modified xsi:type="dcterms:W3CDTF">2012-03-02T08:55:48Z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3c9d0892-68dc-48ed-9036-c849e4a60c87</vt:lpwstr>
  </property>
</Properties>
</file>