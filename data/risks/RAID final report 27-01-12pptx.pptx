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66.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Layouts/slideLayout64.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ppt/slideMasters/slideMaster6.xml" ContentType="application/vnd.openxmlformats-officedocument.presentationml.slideMaster+xml"/>
  <Override PartName="/ppt/theme/theme8.xml" ContentType="application/vnd.openxmlformats-officedocument.theme+xml"/>
  <Override PartName="/ppt/slideMasters/slideMaster4.xml" ContentType="application/vnd.openxmlformats-officedocument.presentationml.slideMaster+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charts/chart1.xml" ContentType="application/vnd.openxmlformats-officedocument.drawingml.chart+xml"/>
  <Override PartName="/ppt/slideMasters/slideMaster2.xml" ContentType="application/vnd.openxmlformats-officedocument.presentationml.slideMaster+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Layouts/slideLayout67.xml" ContentType="application/vnd.openxmlformats-officedocument.presentationml.slideLayout+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theme/theme7.xml" ContentType="application/vnd.openxmlformats-officedocument.them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 id="2147483655" r:id="rId2"/>
    <p:sldMasterId id="2147483656" r:id="rId3"/>
    <p:sldMasterId id="2147483657" r:id="rId4"/>
    <p:sldMasterId id="2147483658" r:id="rId5"/>
    <p:sldMasterId id="2147483659" r:id="rId6"/>
  </p:sldMasterIdLst>
  <p:notesMasterIdLst>
    <p:notesMasterId r:id="rId8"/>
  </p:notesMasterIdLst>
  <p:handoutMasterIdLst>
    <p:handoutMasterId r:id="rId9"/>
  </p:handoutMasterIdLst>
  <p:sldIdLst>
    <p:sldId id="536" r:id="rId7"/>
  </p:sldIdLst>
  <p:sldSz cx="9144000" cy="6858000" type="screen4x3"/>
  <p:notesSz cx="7104063" cy="10234613"/>
  <p:embeddedFontLst>
    <p:embeddedFont>
      <p:font typeface="EYInterstate" pitchFamily="2" charset="0"/>
      <p:regular r:id="rId10"/>
      <p:bold r:id="rId11"/>
      <p:italic r:id="rId12"/>
      <p:boldItalic r:id="rId13"/>
    </p:embeddedFont>
    <p:embeddedFont>
      <p:font typeface="EYInterstate Light" pitchFamily="2" charset="0"/>
      <p:regular r:id="rId14"/>
      <p:bold r:id="rId15"/>
      <p:italic r:id="rId16"/>
      <p:boldItalic r:id="rId17"/>
    </p:embeddedFont>
  </p:embeddedFontLst>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clrMru>
    <a:srgbClr val="000000"/>
    <a:srgbClr val="FFFFFF"/>
    <a:srgbClr val="FAE600"/>
    <a:srgbClr val="B4B4B4"/>
    <a:srgbClr val="808080"/>
    <a:srgbClr val="F04C3E"/>
    <a:srgbClr val="2C973E"/>
    <a:srgbClr val="F1F1F1"/>
    <a:srgbClr val="336699"/>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56" autoAdjust="0"/>
    <p:restoredTop sz="84979" autoAdjust="0"/>
  </p:normalViewPr>
  <p:slideViewPr>
    <p:cSldViewPr snapToObjects="1">
      <p:cViewPr varScale="1">
        <p:scale>
          <a:sx n="93" d="100"/>
          <a:sy n="93" d="100"/>
        </p:scale>
        <p:origin x="-165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75" d="100"/>
          <a:sy n="75" d="100"/>
        </p:scale>
        <p:origin x="-648" y="954"/>
      </p:cViewPr>
      <p:guideLst>
        <p:guide orient="horz" pos="3225"/>
        <p:guide pos="223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font" Target="fonts/font2.fntdata"/><Relationship Id="rId5" Type="http://schemas.openxmlformats.org/officeDocument/2006/relationships/slideMaster" Target="slideMasters/slideMaster5.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handoutMaster" Target="handoutMasters/handoutMaster1.xml"/><Relationship Id="rId14" Type="http://schemas.openxmlformats.org/officeDocument/2006/relationships/font" Target="fonts/font5.fntdata"/></Relationships>
</file>

<file path=ppt/charts/_rels/chart1.xml.rels><?xml version="1.0" encoding="UTF-8" standalone="yes"?>
<Relationships xmlns="http://schemas.openxmlformats.org/package/2006/relationships"><Relationship Id="rId1" Type="http://schemas.openxmlformats.org/officeDocument/2006/relationships/oleObject" Target="file:///C:\Documents%20and%20Settings\murphla\Desktop\MC%20RAID%202012-01-25%20FINA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GB"/>
  <c:chart>
    <c:plotArea>
      <c:layout/>
      <c:lineChart>
        <c:grouping val="standard"/>
        <c:ser>
          <c:idx val="0"/>
          <c:order val="0"/>
          <c:tx>
            <c:strRef>
              <c:f>'RAID Summary'!$A$2</c:f>
              <c:strCache>
                <c:ptCount val="1"/>
                <c:pt idx="0">
                  <c:v>Total Open Risks</c:v>
                </c:pt>
              </c:strCache>
            </c:strRef>
          </c:tx>
          <c:cat>
            <c:numRef>
              <c:f>'RAID Summary'!$B$1:$F$1</c:f>
              <c:numCache>
                <c:formatCode>d\-mmm\-yy</c:formatCode>
                <c:ptCount val="5"/>
                <c:pt idx="0">
                  <c:v>40898</c:v>
                </c:pt>
                <c:pt idx="1">
                  <c:v>40912</c:v>
                </c:pt>
                <c:pt idx="2">
                  <c:v>40919</c:v>
                </c:pt>
                <c:pt idx="3">
                  <c:v>40926</c:v>
                </c:pt>
                <c:pt idx="4">
                  <c:v>40933</c:v>
                </c:pt>
              </c:numCache>
            </c:numRef>
          </c:cat>
          <c:val>
            <c:numRef>
              <c:f>'RAID Summary'!$B$2:$F$2</c:f>
              <c:numCache>
                <c:formatCode>General</c:formatCode>
                <c:ptCount val="5"/>
                <c:pt idx="0">
                  <c:v>40</c:v>
                </c:pt>
                <c:pt idx="1">
                  <c:v>34</c:v>
                </c:pt>
                <c:pt idx="2">
                  <c:v>33</c:v>
                </c:pt>
                <c:pt idx="3">
                  <c:v>30</c:v>
                </c:pt>
                <c:pt idx="4">
                  <c:v>32</c:v>
                </c:pt>
              </c:numCache>
            </c:numRef>
          </c:val>
        </c:ser>
        <c:ser>
          <c:idx val="1"/>
          <c:order val="1"/>
          <c:tx>
            <c:strRef>
              <c:f>'RAID Summary'!$A$3</c:f>
              <c:strCache>
                <c:ptCount val="1"/>
                <c:pt idx="0">
                  <c:v>Total Open High or Critical Risks</c:v>
                </c:pt>
              </c:strCache>
            </c:strRef>
          </c:tx>
          <c:cat>
            <c:numRef>
              <c:f>'RAID Summary'!$B$1:$F$1</c:f>
              <c:numCache>
                <c:formatCode>d\-mmm\-yy</c:formatCode>
                <c:ptCount val="5"/>
                <c:pt idx="0">
                  <c:v>40898</c:v>
                </c:pt>
                <c:pt idx="1">
                  <c:v>40912</c:v>
                </c:pt>
                <c:pt idx="2">
                  <c:v>40919</c:v>
                </c:pt>
                <c:pt idx="3">
                  <c:v>40926</c:v>
                </c:pt>
                <c:pt idx="4">
                  <c:v>40933</c:v>
                </c:pt>
              </c:numCache>
            </c:numRef>
          </c:cat>
          <c:val>
            <c:numRef>
              <c:f>'RAID Summary'!$B$3:$F$3</c:f>
              <c:numCache>
                <c:formatCode>General</c:formatCode>
                <c:ptCount val="5"/>
                <c:pt idx="0">
                  <c:v>15</c:v>
                </c:pt>
                <c:pt idx="1">
                  <c:v>10</c:v>
                </c:pt>
                <c:pt idx="2">
                  <c:v>13</c:v>
                </c:pt>
                <c:pt idx="3">
                  <c:v>13</c:v>
                </c:pt>
                <c:pt idx="4">
                  <c:v>14</c:v>
                </c:pt>
              </c:numCache>
            </c:numRef>
          </c:val>
        </c:ser>
        <c:ser>
          <c:idx val="2"/>
          <c:order val="2"/>
          <c:tx>
            <c:strRef>
              <c:f>'RAID Summary'!$A$4</c:f>
              <c:strCache>
                <c:ptCount val="1"/>
                <c:pt idx="0">
                  <c:v>Risks: Missed Required Resolution Date</c:v>
                </c:pt>
              </c:strCache>
            </c:strRef>
          </c:tx>
          <c:cat>
            <c:numRef>
              <c:f>'RAID Summary'!$B$1:$F$1</c:f>
              <c:numCache>
                <c:formatCode>d\-mmm\-yy</c:formatCode>
                <c:ptCount val="5"/>
                <c:pt idx="0">
                  <c:v>40898</c:v>
                </c:pt>
                <c:pt idx="1">
                  <c:v>40912</c:v>
                </c:pt>
                <c:pt idx="2">
                  <c:v>40919</c:v>
                </c:pt>
                <c:pt idx="3">
                  <c:v>40926</c:v>
                </c:pt>
                <c:pt idx="4">
                  <c:v>40933</c:v>
                </c:pt>
              </c:numCache>
            </c:numRef>
          </c:cat>
          <c:val>
            <c:numRef>
              <c:f>'RAID Summary'!$B$4:$F$4</c:f>
              <c:numCache>
                <c:formatCode>General</c:formatCode>
                <c:ptCount val="5"/>
                <c:pt idx="2">
                  <c:v>2</c:v>
                </c:pt>
                <c:pt idx="3">
                  <c:v>3</c:v>
                </c:pt>
                <c:pt idx="4">
                  <c:v>5</c:v>
                </c:pt>
              </c:numCache>
            </c:numRef>
          </c:val>
        </c:ser>
        <c:ser>
          <c:idx val="3"/>
          <c:order val="3"/>
          <c:tx>
            <c:strRef>
              <c:f>'RAID Summary'!$A$5</c:f>
              <c:strCache>
                <c:ptCount val="1"/>
                <c:pt idx="0">
                  <c:v>Total Open Issues</c:v>
                </c:pt>
              </c:strCache>
            </c:strRef>
          </c:tx>
          <c:cat>
            <c:numRef>
              <c:f>'RAID Summary'!$B$1:$F$1</c:f>
              <c:numCache>
                <c:formatCode>d\-mmm\-yy</c:formatCode>
                <c:ptCount val="5"/>
                <c:pt idx="0">
                  <c:v>40898</c:v>
                </c:pt>
                <c:pt idx="1">
                  <c:v>40912</c:v>
                </c:pt>
                <c:pt idx="2">
                  <c:v>40919</c:v>
                </c:pt>
                <c:pt idx="3">
                  <c:v>40926</c:v>
                </c:pt>
                <c:pt idx="4">
                  <c:v>40933</c:v>
                </c:pt>
              </c:numCache>
            </c:numRef>
          </c:cat>
          <c:val>
            <c:numRef>
              <c:f>'RAID Summary'!$B$5:$F$5</c:f>
              <c:numCache>
                <c:formatCode>General</c:formatCode>
                <c:ptCount val="5"/>
                <c:pt idx="0">
                  <c:v>37</c:v>
                </c:pt>
                <c:pt idx="1">
                  <c:v>37</c:v>
                </c:pt>
                <c:pt idx="2">
                  <c:v>42</c:v>
                </c:pt>
                <c:pt idx="3">
                  <c:v>42</c:v>
                </c:pt>
                <c:pt idx="4">
                  <c:v>45</c:v>
                </c:pt>
              </c:numCache>
            </c:numRef>
          </c:val>
        </c:ser>
        <c:ser>
          <c:idx val="4"/>
          <c:order val="4"/>
          <c:tx>
            <c:strRef>
              <c:f>'RAID Summary'!$A$6</c:f>
              <c:strCache>
                <c:ptCount val="1"/>
                <c:pt idx="0">
                  <c:v>Total Open High or Critical Issues</c:v>
                </c:pt>
              </c:strCache>
            </c:strRef>
          </c:tx>
          <c:cat>
            <c:numRef>
              <c:f>'RAID Summary'!$B$1:$F$1</c:f>
              <c:numCache>
                <c:formatCode>d\-mmm\-yy</c:formatCode>
                <c:ptCount val="5"/>
                <c:pt idx="0">
                  <c:v>40898</c:v>
                </c:pt>
                <c:pt idx="1">
                  <c:v>40912</c:v>
                </c:pt>
                <c:pt idx="2">
                  <c:v>40919</c:v>
                </c:pt>
                <c:pt idx="3">
                  <c:v>40926</c:v>
                </c:pt>
                <c:pt idx="4">
                  <c:v>40933</c:v>
                </c:pt>
              </c:numCache>
            </c:numRef>
          </c:cat>
          <c:val>
            <c:numRef>
              <c:f>'RAID Summary'!$B$6:$F$6</c:f>
              <c:numCache>
                <c:formatCode>General</c:formatCode>
                <c:ptCount val="5"/>
                <c:pt idx="2">
                  <c:v>25</c:v>
                </c:pt>
                <c:pt idx="3">
                  <c:v>25</c:v>
                </c:pt>
                <c:pt idx="4">
                  <c:v>28</c:v>
                </c:pt>
              </c:numCache>
            </c:numRef>
          </c:val>
        </c:ser>
        <c:ser>
          <c:idx val="5"/>
          <c:order val="5"/>
          <c:tx>
            <c:strRef>
              <c:f>'RAID Summary'!$A$7</c:f>
              <c:strCache>
                <c:ptCount val="1"/>
                <c:pt idx="0">
                  <c:v>Issues: Missed Required Resolution Date</c:v>
                </c:pt>
              </c:strCache>
            </c:strRef>
          </c:tx>
          <c:cat>
            <c:numRef>
              <c:f>'RAID Summary'!$B$1:$F$1</c:f>
              <c:numCache>
                <c:formatCode>d\-mmm\-yy</c:formatCode>
                <c:ptCount val="5"/>
                <c:pt idx="0">
                  <c:v>40898</c:v>
                </c:pt>
                <c:pt idx="1">
                  <c:v>40912</c:v>
                </c:pt>
                <c:pt idx="2">
                  <c:v>40919</c:v>
                </c:pt>
                <c:pt idx="3">
                  <c:v>40926</c:v>
                </c:pt>
                <c:pt idx="4">
                  <c:v>40933</c:v>
                </c:pt>
              </c:numCache>
            </c:numRef>
          </c:cat>
          <c:val>
            <c:numRef>
              <c:f>'RAID Summary'!$B$7:$F$7</c:f>
              <c:numCache>
                <c:formatCode>General</c:formatCode>
                <c:ptCount val="5"/>
                <c:pt idx="2">
                  <c:v>13</c:v>
                </c:pt>
                <c:pt idx="3">
                  <c:v>12</c:v>
                </c:pt>
                <c:pt idx="4">
                  <c:v>7</c:v>
                </c:pt>
              </c:numCache>
            </c:numRef>
          </c:val>
        </c:ser>
        <c:ser>
          <c:idx val="6"/>
          <c:order val="6"/>
          <c:tx>
            <c:strRef>
              <c:f>'RAID Summary'!$A$8</c:f>
              <c:strCache>
                <c:ptCount val="1"/>
                <c:pt idx="0">
                  <c:v>Total Assumptions</c:v>
                </c:pt>
              </c:strCache>
            </c:strRef>
          </c:tx>
          <c:cat>
            <c:numRef>
              <c:f>'RAID Summary'!$B$1:$F$1</c:f>
              <c:numCache>
                <c:formatCode>d\-mmm\-yy</c:formatCode>
                <c:ptCount val="5"/>
                <c:pt idx="0">
                  <c:v>40898</c:v>
                </c:pt>
                <c:pt idx="1">
                  <c:v>40912</c:v>
                </c:pt>
                <c:pt idx="2">
                  <c:v>40919</c:v>
                </c:pt>
                <c:pt idx="3">
                  <c:v>40926</c:v>
                </c:pt>
                <c:pt idx="4">
                  <c:v>40933</c:v>
                </c:pt>
              </c:numCache>
            </c:numRef>
          </c:cat>
          <c:val>
            <c:numRef>
              <c:f>'RAID Summary'!$B$8:$F$8</c:f>
              <c:numCache>
                <c:formatCode>General</c:formatCode>
                <c:ptCount val="5"/>
                <c:pt idx="0">
                  <c:v>78</c:v>
                </c:pt>
                <c:pt idx="1">
                  <c:v>70</c:v>
                </c:pt>
                <c:pt idx="2">
                  <c:v>67</c:v>
                </c:pt>
                <c:pt idx="3">
                  <c:v>67</c:v>
                </c:pt>
                <c:pt idx="4">
                  <c:v>68</c:v>
                </c:pt>
              </c:numCache>
            </c:numRef>
          </c:val>
        </c:ser>
        <c:ser>
          <c:idx val="7"/>
          <c:order val="7"/>
          <c:tx>
            <c:strRef>
              <c:f>'RAID Summary'!$A$9</c:f>
              <c:strCache>
                <c:ptCount val="1"/>
                <c:pt idx="0">
                  <c:v>Total Decisions</c:v>
                </c:pt>
              </c:strCache>
            </c:strRef>
          </c:tx>
          <c:cat>
            <c:numRef>
              <c:f>'RAID Summary'!$B$1:$F$1</c:f>
              <c:numCache>
                <c:formatCode>d\-mmm\-yy</c:formatCode>
                <c:ptCount val="5"/>
                <c:pt idx="0">
                  <c:v>40898</c:v>
                </c:pt>
                <c:pt idx="1">
                  <c:v>40912</c:v>
                </c:pt>
                <c:pt idx="2">
                  <c:v>40919</c:v>
                </c:pt>
                <c:pt idx="3">
                  <c:v>40926</c:v>
                </c:pt>
                <c:pt idx="4">
                  <c:v>40933</c:v>
                </c:pt>
              </c:numCache>
            </c:numRef>
          </c:cat>
          <c:val>
            <c:numRef>
              <c:f>'RAID Summary'!$B$9:$F$9</c:f>
              <c:numCache>
                <c:formatCode>General</c:formatCode>
                <c:ptCount val="5"/>
                <c:pt idx="0">
                  <c:v>153</c:v>
                </c:pt>
                <c:pt idx="1">
                  <c:v>153</c:v>
                </c:pt>
                <c:pt idx="2">
                  <c:v>154</c:v>
                </c:pt>
                <c:pt idx="3">
                  <c:v>154</c:v>
                </c:pt>
                <c:pt idx="4">
                  <c:v>161</c:v>
                </c:pt>
              </c:numCache>
            </c:numRef>
          </c:val>
        </c:ser>
        <c:ser>
          <c:idx val="8"/>
          <c:order val="8"/>
          <c:tx>
            <c:strRef>
              <c:f>'RAID Summary'!$A$10</c:f>
              <c:strCache>
                <c:ptCount val="1"/>
                <c:pt idx="0">
                  <c:v>Total Pending Decisions</c:v>
                </c:pt>
              </c:strCache>
            </c:strRef>
          </c:tx>
          <c:cat>
            <c:numRef>
              <c:f>'RAID Summary'!$B$1:$F$1</c:f>
              <c:numCache>
                <c:formatCode>d\-mmm\-yy</c:formatCode>
                <c:ptCount val="5"/>
                <c:pt idx="0">
                  <c:v>40898</c:v>
                </c:pt>
                <c:pt idx="1">
                  <c:v>40912</c:v>
                </c:pt>
                <c:pt idx="2">
                  <c:v>40919</c:v>
                </c:pt>
                <c:pt idx="3">
                  <c:v>40926</c:v>
                </c:pt>
                <c:pt idx="4">
                  <c:v>40933</c:v>
                </c:pt>
              </c:numCache>
            </c:numRef>
          </c:cat>
          <c:val>
            <c:numRef>
              <c:f>'RAID Summary'!$B$10:$F$10</c:f>
              <c:numCache>
                <c:formatCode>General</c:formatCode>
                <c:ptCount val="5"/>
                <c:pt idx="0">
                  <c:v>24</c:v>
                </c:pt>
                <c:pt idx="1">
                  <c:v>24</c:v>
                </c:pt>
                <c:pt idx="2">
                  <c:v>25</c:v>
                </c:pt>
                <c:pt idx="3">
                  <c:v>24</c:v>
                </c:pt>
                <c:pt idx="4">
                  <c:v>30</c:v>
                </c:pt>
              </c:numCache>
            </c:numRef>
          </c:val>
        </c:ser>
        <c:marker val="1"/>
        <c:axId val="67804544"/>
        <c:axId val="67814528"/>
      </c:lineChart>
      <c:dateAx>
        <c:axId val="67804544"/>
        <c:scaling>
          <c:orientation val="minMax"/>
        </c:scaling>
        <c:axPos val="b"/>
        <c:numFmt formatCode="d\-mmm\-yy" sourceLinked="1"/>
        <c:tickLblPos val="nextTo"/>
        <c:txPr>
          <a:bodyPr/>
          <a:lstStyle/>
          <a:p>
            <a:pPr>
              <a:defRPr sz="700">
                <a:latin typeface="EYInterstate Light" pitchFamily="2" charset="0"/>
              </a:defRPr>
            </a:pPr>
            <a:endParaRPr lang="en-US"/>
          </a:p>
        </c:txPr>
        <c:crossAx val="67814528"/>
        <c:crosses val="autoZero"/>
        <c:auto val="1"/>
        <c:lblOffset val="100"/>
        <c:baseTimeUnit val="days"/>
        <c:majorUnit val="7"/>
        <c:majorTimeUnit val="days"/>
      </c:dateAx>
      <c:valAx>
        <c:axId val="67814528"/>
        <c:scaling>
          <c:orientation val="minMax"/>
        </c:scaling>
        <c:axPos val="l"/>
        <c:majorGridlines/>
        <c:numFmt formatCode="General" sourceLinked="1"/>
        <c:tickLblPos val="nextTo"/>
        <c:txPr>
          <a:bodyPr/>
          <a:lstStyle/>
          <a:p>
            <a:pPr>
              <a:defRPr sz="800">
                <a:latin typeface="EYInterstate Light" pitchFamily="2" charset="0"/>
              </a:defRPr>
            </a:pPr>
            <a:endParaRPr lang="en-US"/>
          </a:p>
        </c:txPr>
        <c:crossAx val="67804544"/>
        <c:crosses val="autoZero"/>
        <c:crossBetween val="between"/>
      </c:valAx>
    </c:plotArea>
    <c:legend>
      <c:legendPos val="r"/>
      <c:layout>
        <c:manualLayout>
          <c:xMode val="edge"/>
          <c:yMode val="edge"/>
          <c:x val="0.63436740427202909"/>
          <c:y val="5.3066852881921873E-2"/>
          <c:w val="0.33640268093733317"/>
          <c:h val="0.86940114137109004"/>
        </c:manualLayout>
      </c:layout>
      <c:txPr>
        <a:bodyPr/>
        <a:lstStyle/>
        <a:p>
          <a:pPr>
            <a:defRPr sz="800">
              <a:latin typeface="EYInterstate Light" pitchFamily="2" charset="0"/>
            </a:defRPr>
          </a:pPr>
          <a:endParaRPr lang="en-US"/>
        </a:p>
      </c:txPr>
    </c:legend>
    <c:plotVisOnly val="1"/>
  </c:chart>
  <c:externalData r:id="rId1"/>
</c:chartSpace>
</file>

<file path=ppt/handoutMasters/_rels/handoutMaster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8" name="Rectangle 6"/>
          <p:cNvSpPr>
            <a:spLocks noChangeArrowheads="1"/>
          </p:cNvSpPr>
          <p:nvPr/>
        </p:nvSpPr>
        <p:spPr bwMode="auto">
          <a:xfrm>
            <a:off x="159271" y="9935137"/>
            <a:ext cx="1290743" cy="158739"/>
          </a:xfrm>
          <a:prstGeom prst="rect">
            <a:avLst/>
          </a:prstGeom>
          <a:noFill/>
          <a:ln w="9525">
            <a:noFill/>
            <a:miter lim="800000"/>
            <a:headEnd/>
            <a:tailEnd/>
          </a:ln>
          <a:effectLst/>
        </p:spPr>
        <p:txBody>
          <a:bodyPr lIns="0" tIns="0" rIns="0" bIns="0"/>
          <a:lstStyle/>
          <a:p>
            <a:pPr algn="l" defTabSz="965809">
              <a:defRPr/>
            </a:pPr>
            <a:fld id="{5BBE6DE4-E82D-4F90-96E4-E232F78FBEAF}" type="datetime1">
              <a:rPr lang="en-US" sz="1200">
                <a:cs typeface="Arial" charset="0"/>
              </a:rPr>
              <a:pPr algn="l" defTabSz="965809">
                <a:defRPr/>
              </a:pPr>
              <a:t>1/27/2012</a:t>
            </a:fld>
            <a:endParaRPr lang="en-US" sz="1200" dirty="0">
              <a:cs typeface="Arial" charset="0"/>
            </a:endParaRPr>
          </a:p>
        </p:txBody>
      </p:sp>
      <p:sp>
        <p:nvSpPr>
          <p:cNvPr id="69639" name="Rectangle 7"/>
          <p:cNvSpPr>
            <a:spLocks noChangeArrowheads="1"/>
          </p:cNvSpPr>
          <p:nvPr/>
        </p:nvSpPr>
        <p:spPr bwMode="auto">
          <a:xfrm>
            <a:off x="2488580" y="9935137"/>
            <a:ext cx="2060543" cy="214380"/>
          </a:xfrm>
          <a:prstGeom prst="rect">
            <a:avLst/>
          </a:prstGeom>
          <a:noFill/>
          <a:ln w="9525">
            <a:noFill/>
            <a:miter lim="800000"/>
            <a:headEnd/>
            <a:tailEnd/>
          </a:ln>
          <a:effectLst/>
        </p:spPr>
        <p:txBody>
          <a:bodyPr lIns="0" tIns="0" rIns="0" bIns="0"/>
          <a:lstStyle/>
          <a:p>
            <a:pPr algn="l" defTabSz="965809">
              <a:defRPr/>
            </a:pPr>
            <a:r>
              <a:rPr lang="en-US" sz="1200" dirty="0">
                <a:cs typeface="Arial" charset="0"/>
              </a:rPr>
              <a:t>Presentation title</a:t>
            </a:r>
          </a:p>
        </p:txBody>
      </p:sp>
      <p:sp>
        <p:nvSpPr>
          <p:cNvPr id="69640" name="Rectangle 8"/>
          <p:cNvSpPr>
            <a:spLocks noChangeArrowheads="1"/>
          </p:cNvSpPr>
          <p:nvPr/>
        </p:nvSpPr>
        <p:spPr bwMode="auto">
          <a:xfrm>
            <a:off x="1639144" y="9935137"/>
            <a:ext cx="665281" cy="214380"/>
          </a:xfrm>
          <a:prstGeom prst="rect">
            <a:avLst/>
          </a:prstGeom>
          <a:noFill/>
          <a:ln w="9525">
            <a:noFill/>
            <a:miter lim="800000"/>
            <a:headEnd/>
            <a:tailEnd/>
          </a:ln>
          <a:effectLst/>
        </p:spPr>
        <p:txBody>
          <a:bodyPr lIns="0" tIns="0" rIns="0" bIns="0"/>
          <a:lstStyle/>
          <a:p>
            <a:pPr algn="l" defTabSz="965809">
              <a:defRPr/>
            </a:pPr>
            <a:r>
              <a:rPr lang="en-US" sz="1200" dirty="0">
                <a:cs typeface="Arial" charset="0"/>
              </a:rPr>
              <a:t>Page </a:t>
            </a:r>
            <a:fld id="{2A07B3BF-2A67-4B01-AEB8-9C5108F06278}" type="slidenum">
              <a:rPr lang="en-US" sz="1200">
                <a:cs typeface="Arial" charset="0"/>
              </a:rPr>
              <a:pPr algn="l" defTabSz="965809">
                <a:defRPr/>
              </a:pPr>
              <a:t>‹#›</a:t>
            </a:fld>
            <a:endParaRPr lang="en-US" sz="1200" dirty="0">
              <a:cs typeface="Arial" charset="0"/>
            </a:endParaRPr>
          </a:p>
        </p:txBody>
      </p:sp>
      <p:pic>
        <p:nvPicPr>
          <p:cNvPr id="47109" name="Picture 9" descr="logo_tagblack"/>
          <p:cNvPicPr>
            <a:picLocks noChangeAspect="1" noChangeArrowheads="1"/>
          </p:cNvPicPr>
          <p:nvPr/>
        </p:nvPicPr>
        <p:blipFill>
          <a:blip r:embed="rId2" cstate="print"/>
          <a:srcRect/>
          <a:stretch>
            <a:fillRect/>
          </a:stretch>
        </p:blipFill>
        <p:spPr bwMode="auto">
          <a:xfrm>
            <a:off x="5476533" y="9737121"/>
            <a:ext cx="1488170" cy="363301"/>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4"/>
          <p:cNvSpPr>
            <a:spLocks noGrp="1" noRot="1" noChangeAspect="1" noChangeArrowheads="1" noTextEdit="1"/>
          </p:cNvSpPr>
          <p:nvPr>
            <p:ph type="sldImg" idx="2"/>
          </p:nvPr>
        </p:nvSpPr>
        <p:spPr bwMode="auto">
          <a:xfrm>
            <a:off x="992188" y="766763"/>
            <a:ext cx="5119687" cy="3840162"/>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708416" y="4862016"/>
            <a:ext cx="5687232" cy="4605085"/>
          </a:xfrm>
          <a:prstGeom prst="rect">
            <a:avLst/>
          </a:prstGeom>
          <a:noFill/>
          <a:ln w="9525">
            <a:noFill/>
            <a:miter lim="800000"/>
            <a:headEnd/>
            <a:tailEnd/>
          </a:ln>
          <a:effectLst/>
        </p:spPr>
        <p:txBody>
          <a:bodyPr vert="horz" wrap="square" lIns="99497" tIns="49749" rIns="99497" bIns="4974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200" name="Rectangle 8"/>
          <p:cNvSpPr>
            <a:spLocks noChangeArrowheads="1"/>
          </p:cNvSpPr>
          <p:nvPr/>
        </p:nvSpPr>
        <p:spPr bwMode="auto">
          <a:xfrm>
            <a:off x="159271" y="9935137"/>
            <a:ext cx="1290743" cy="158739"/>
          </a:xfrm>
          <a:prstGeom prst="rect">
            <a:avLst/>
          </a:prstGeom>
          <a:noFill/>
          <a:ln w="9525">
            <a:noFill/>
            <a:miter lim="800000"/>
            <a:headEnd/>
            <a:tailEnd/>
          </a:ln>
          <a:effectLst/>
        </p:spPr>
        <p:txBody>
          <a:bodyPr lIns="0" tIns="0" rIns="0" bIns="0"/>
          <a:lstStyle/>
          <a:p>
            <a:pPr algn="l" defTabSz="965809">
              <a:defRPr/>
            </a:pPr>
            <a:fld id="{89A86910-E513-4C4B-949B-84323FA223C3}" type="datetime1">
              <a:rPr lang="en-US" sz="1200">
                <a:cs typeface="Arial" charset="0"/>
              </a:rPr>
              <a:pPr algn="l" defTabSz="965809">
                <a:defRPr/>
              </a:pPr>
              <a:t>1/27/2012</a:t>
            </a:fld>
            <a:endParaRPr lang="en-US" sz="1200" dirty="0">
              <a:cs typeface="Arial" charset="0"/>
            </a:endParaRPr>
          </a:p>
        </p:txBody>
      </p:sp>
      <p:sp>
        <p:nvSpPr>
          <p:cNvPr id="8201" name="Rectangle 9"/>
          <p:cNvSpPr>
            <a:spLocks noChangeArrowheads="1"/>
          </p:cNvSpPr>
          <p:nvPr/>
        </p:nvSpPr>
        <p:spPr bwMode="auto">
          <a:xfrm>
            <a:off x="2488580" y="9935137"/>
            <a:ext cx="2060543" cy="214380"/>
          </a:xfrm>
          <a:prstGeom prst="rect">
            <a:avLst/>
          </a:prstGeom>
          <a:noFill/>
          <a:ln w="9525">
            <a:noFill/>
            <a:miter lim="800000"/>
            <a:headEnd/>
            <a:tailEnd/>
          </a:ln>
          <a:effectLst/>
        </p:spPr>
        <p:txBody>
          <a:bodyPr lIns="0" tIns="0" rIns="0" bIns="0"/>
          <a:lstStyle/>
          <a:p>
            <a:pPr algn="l" defTabSz="965809">
              <a:defRPr/>
            </a:pPr>
            <a:r>
              <a:rPr lang="en-US" sz="1200" dirty="0">
                <a:cs typeface="Arial" charset="0"/>
              </a:rPr>
              <a:t>Presentation title</a:t>
            </a:r>
          </a:p>
        </p:txBody>
      </p:sp>
      <p:sp>
        <p:nvSpPr>
          <p:cNvPr id="8202" name="Rectangle 10"/>
          <p:cNvSpPr>
            <a:spLocks noChangeArrowheads="1"/>
          </p:cNvSpPr>
          <p:nvPr/>
        </p:nvSpPr>
        <p:spPr bwMode="auto">
          <a:xfrm>
            <a:off x="1639144" y="9935137"/>
            <a:ext cx="665281" cy="214380"/>
          </a:xfrm>
          <a:prstGeom prst="rect">
            <a:avLst/>
          </a:prstGeom>
          <a:noFill/>
          <a:ln w="9525">
            <a:noFill/>
            <a:miter lim="800000"/>
            <a:headEnd/>
            <a:tailEnd/>
          </a:ln>
          <a:effectLst/>
        </p:spPr>
        <p:txBody>
          <a:bodyPr lIns="0" tIns="0" rIns="0" bIns="0"/>
          <a:lstStyle/>
          <a:p>
            <a:pPr algn="l" defTabSz="965809">
              <a:defRPr/>
            </a:pPr>
            <a:r>
              <a:rPr lang="en-US" sz="1200" dirty="0">
                <a:cs typeface="Arial" charset="0"/>
              </a:rPr>
              <a:t>Page </a:t>
            </a:r>
            <a:fld id="{90222F15-384C-4F8B-A461-087D94ECCB26}" type="slidenum">
              <a:rPr lang="en-US" sz="1200">
                <a:cs typeface="Arial" charset="0"/>
              </a:rPr>
              <a:pPr algn="l" defTabSz="965809">
                <a:defRPr/>
              </a:pPr>
              <a:t>‹#›</a:t>
            </a:fld>
            <a:endParaRPr lang="en-US" sz="1200" dirty="0">
              <a:cs typeface="Arial" charset="0"/>
            </a:endParaRPr>
          </a:p>
        </p:txBody>
      </p:sp>
      <p:pic>
        <p:nvPicPr>
          <p:cNvPr id="38919" name="Picture 11" descr="logo_tagblack"/>
          <p:cNvPicPr>
            <a:picLocks noChangeAspect="1" noChangeArrowheads="1"/>
          </p:cNvPicPr>
          <p:nvPr/>
        </p:nvPicPr>
        <p:blipFill>
          <a:blip r:embed="rId2"/>
          <a:srcRect/>
          <a:stretch>
            <a:fillRect/>
          </a:stretch>
        </p:blipFill>
        <p:spPr bwMode="auto">
          <a:xfrm>
            <a:off x="5476533" y="9737121"/>
            <a:ext cx="1488170" cy="363301"/>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Clr>
        <a:srgbClr val="FFD200"/>
      </a:buClr>
      <a:buSzPct val="75000"/>
      <a:buFont typeface="Arial" charset="0"/>
      <a:defRPr sz="1200" kern="1200">
        <a:solidFill>
          <a:schemeClr val="tx1"/>
        </a:solidFill>
        <a:latin typeface="Arial" charset="0"/>
        <a:ea typeface="+mn-ea"/>
        <a:cs typeface="+mn-cs"/>
      </a:defRPr>
    </a:lvl1pPr>
    <a:lvl2pPr marL="1588" indent="17780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2pPr>
    <a:lvl3pPr marL="358775" indent="18415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3pPr>
    <a:lvl4pPr marL="722313" indent="173038"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4pPr>
    <a:lvl5pPr marL="1074738" indent="18256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4" descr="logo_tagblack"/>
          <p:cNvPicPr>
            <a:picLocks noChangeAspect="1" noChangeArrowheads="1"/>
          </p:cNvPicPr>
          <p:nvPr/>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pic>
        <p:nvPicPr>
          <p:cNvPr id="5" name="Picture 6" descr="logo_tagblack"/>
          <p:cNvPicPr>
            <a:picLocks noChangeAspect="1" noChangeArrowheads="1"/>
          </p:cNvPicPr>
          <p:nvPr userDrawn="1"/>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sp>
        <p:nvSpPr>
          <p:cNvPr id="6" name="Freeform 8"/>
          <p:cNvSpPr>
            <a:spLocks/>
          </p:cNvSpPr>
          <p:nvPr userDrawn="1"/>
        </p:nvSpPr>
        <p:spPr bwMode="auto">
          <a:xfrm>
            <a:off x="3074988" y="565150"/>
            <a:ext cx="6067425" cy="2586038"/>
          </a:xfrm>
          <a:custGeom>
            <a:avLst/>
            <a:gdLst/>
            <a:ahLst/>
            <a:cxnLst>
              <a:cxn ang="0">
                <a:pos x="0" y="1629"/>
              </a:cxn>
              <a:cxn ang="0">
                <a:pos x="3822" y="0"/>
              </a:cxn>
              <a:cxn ang="0">
                <a:pos x="3822" y="492"/>
              </a:cxn>
              <a:cxn ang="0">
                <a:pos x="0" y="1629"/>
              </a:cxn>
            </a:cxnLst>
            <a:rect l="0" t="0" r="r" b="b"/>
            <a:pathLst>
              <a:path w="3822" h="1629">
                <a:moveTo>
                  <a:pt x="0" y="1629"/>
                </a:moveTo>
                <a:lnTo>
                  <a:pt x="3822" y="0"/>
                </a:lnTo>
                <a:lnTo>
                  <a:pt x="3822" y="492"/>
                </a:lnTo>
                <a:lnTo>
                  <a:pt x="0" y="1629"/>
                </a:lnTo>
                <a:close/>
              </a:path>
            </a:pathLst>
          </a:custGeom>
          <a:solidFill>
            <a:schemeClr val="accent2"/>
          </a:solidFill>
          <a:ln w="9525">
            <a:noFill/>
            <a:round/>
            <a:headEnd/>
            <a:tailEnd/>
          </a:ln>
          <a:effectLst/>
        </p:spPr>
        <p:txBody>
          <a:bodyPr/>
          <a:lstStyle/>
          <a:p>
            <a:pPr>
              <a:defRPr/>
            </a:pPr>
            <a:endParaRPr lang="de-DE" dirty="0"/>
          </a:p>
        </p:txBody>
      </p:sp>
      <p:sp>
        <p:nvSpPr>
          <p:cNvPr id="7" name="AutoShape 10"/>
          <p:cNvSpPr>
            <a:spLocks noChangeArrowheads="1"/>
          </p:cNvSpPr>
          <p:nvPr userDrawn="1"/>
        </p:nvSpPr>
        <p:spPr bwMode="auto">
          <a:xfrm rot="5400000">
            <a:off x="-120649" y="1274762"/>
            <a:ext cx="3313112" cy="3071813"/>
          </a:xfrm>
          <a:prstGeom prst="triangle">
            <a:avLst>
              <a:gd name="adj" fmla="val 60227"/>
            </a:avLst>
          </a:prstGeom>
          <a:blipFill dpi="0" rotWithShape="0">
            <a:blip r:embed="rId3" cstate="print"/>
            <a:srcRect/>
            <a:stretch>
              <a:fillRect/>
            </a:stretch>
          </a:blipFill>
          <a:ln w="9525">
            <a:noFill/>
            <a:miter lim="800000"/>
            <a:headEnd/>
            <a:tailEnd/>
          </a:ln>
          <a:effectLst/>
        </p:spPr>
        <p:txBody>
          <a:bodyPr rot="10800000" vert="eaVert" wrap="none" anchor="ctr"/>
          <a:lstStyle/>
          <a:p>
            <a:pPr>
              <a:defRPr/>
            </a:pPr>
            <a:endParaRPr lang="de-DE" dirty="0"/>
          </a:p>
        </p:txBody>
      </p:sp>
      <p:sp>
        <p:nvSpPr>
          <p:cNvPr id="166914" name="Rectangle 2"/>
          <p:cNvSpPr>
            <a:spLocks noGrp="1" noChangeArrowheads="1"/>
          </p:cNvSpPr>
          <p:nvPr>
            <p:ph type="ctrTitle"/>
          </p:nvPr>
        </p:nvSpPr>
        <p:spPr>
          <a:xfrm>
            <a:off x="3059113" y="3457575"/>
            <a:ext cx="5541962" cy="908050"/>
          </a:xfrm>
        </p:spPr>
        <p:txBody>
          <a:bodyPr tIns="0"/>
          <a:lstStyle>
            <a:lvl1pPr>
              <a:defRPr/>
            </a:lvl1pPr>
          </a:lstStyle>
          <a:p>
            <a:r>
              <a:rPr lang="en-US"/>
              <a:t>Click to edit Master title style</a:t>
            </a:r>
          </a:p>
        </p:txBody>
      </p:sp>
      <p:sp>
        <p:nvSpPr>
          <p:cNvPr id="166915" name="Rectangle 3"/>
          <p:cNvSpPr>
            <a:spLocks noGrp="1" noChangeArrowheads="1"/>
          </p:cNvSpPr>
          <p:nvPr>
            <p:ph type="subTitle" idx="1"/>
          </p:nvPr>
        </p:nvSpPr>
        <p:spPr>
          <a:xfrm>
            <a:off x="3062288" y="4354513"/>
            <a:ext cx="5541962" cy="1019175"/>
          </a:xfrm>
        </p:spPr>
        <p:txBody>
          <a:bodyPr/>
          <a:lstStyle>
            <a:lvl1pPr marL="0" indent="0">
              <a:lnSpc>
                <a:spcPct val="85000"/>
              </a:lnSpc>
              <a:buFont typeface="Arial" charset="0"/>
              <a:buNone/>
              <a:defRPr sz="20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5613" y="1412875"/>
            <a:ext cx="40020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10100" y="1412875"/>
            <a:ext cx="40036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988" y="200025"/>
            <a:ext cx="2057400" cy="5732463"/>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5613" y="200025"/>
            <a:ext cx="6022975" cy="5732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4.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5.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1.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image" Target="../media/image7.jpeg"/><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image" Target="../media/image1.png"/><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0025"/>
            <a:ext cx="8231188"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5613" y="1412875"/>
            <a:ext cx="8158162" cy="45196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65893" name="Rectangle 5"/>
          <p:cNvSpPr>
            <a:spLocks noChangeArrowheads="1"/>
          </p:cNvSpPr>
          <p:nvPr/>
        </p:nvSpPr>
        <p:spPr bwMode="auto">
          <a:xfrm>
            <a:off x="3962400" y="6386513"/>
            <a:ext cx="2057400" cy="196850"/>
          </a:xfrm>
          <a:prstGeom prst="rect">
            <a:avLst/>
          </a:prstGeom>
          <a:noFill/>
          <a:ln w="9525">
            <a:noFill/>
            <a:miter lim="800000"/>
            <a:headEnd/>
            <a:tailEnd/>
          </a:ln>
          <a:effectLst/>
        </p:spPr>
        <p:txBody>
          <a:bodyPr lIns="0" tIns="0" rIns="0" bIns="0"/>
          <a:lstStyle/>
          <a:p>
            <a:pPr algn="l">
              <a:defRPr/>
            </a:pPr>
            <a:r>
              <a:rPr lang="en-US" sz="1100" dirty="0" smtClean="0">
                <a:solidFill>
                  <a:srgbClr val="000000"/>
                </a:solidFill>
                <a:cs typeface="Arial" charset="0"/>
              </a:rPr>
              <a:t>DCC Program Committee</a:t>
            </a:r>
            <a:endParaRPr lang="en-US" sz="1100" dirty="0">
              <a:solidFill>
                <a:srgbClr val="000000"/>
              </a:solidFill>
              <a:cs typeface="Arial" charset="0"/>
            </a:endParaRPr>
          </a:p>
        </p:txBody>
      </p:sp>
      <p:sp>
        <p:nvSpPr>
          <p:cNvPr id="165894" name="Rectangle 6"/>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pPr algn="l">
              <a:defRPr/>
            </a:pPr>
            <a:r>
              <a:rPr lang="en-US" sz="1100" dirty="0">
                <a:solidFill>
                  <a:srgbClr val="000000"/>
                </a:solidFill>
                <a:cs typeface="Arial" charset="0"/>
              </a:rPr>
              <a:t>Page </a:t>
            </a:r>
            <a:fld id="{84B491C8-BB09-42DF-B246-12EF53273C68}" type="slidenum">
              <a:rPr lang="en-US" sz="1100">
                <a:solidFill>
                  <a:srgbClr val="000000"/>
                </a:solidFill>
                <a:cs typeface="Arial" charset="0"/>
              </a:rPr>
              <a:pPr algn="l">
                <a:defRPr/>
              </a:pPr>
              <a:t>‹#›</a:t>
            </a:fld>
            <a:endParaRPr lang="en-US" sz="1100" dirty="0">
              <a:solidFill>
                <a:srgbClr val="000000"/>
              </a:solidFill>
              <a:cs typeface="Arial" charset="0"/>
            </a:endParaRPr>
          </a:p>
        </p:txBody>
      </p:sp>
      <p:sp>
        <p:nvSpPr>
          <p:cNvPr id="165895" name="Line 7"/>
          <p:cNvSpPr>
            <a:spLocks noChangeShapeType="1"/>
          </p:cNvSpPr>
          <p:nvPr/>
        </p:nvSpPr>
        <p:spPr bwMode="auto">
          <a:xfrm>
            <a:off x="455613" y="1042988"/>
            <a:ext cx="8229600" cy="0"/>
          </a:xfrm>
          <a:prstGeom prst="line">
            <a:avLst/>
          </a:prstGeom>
          <a:noFill/>
          <a:ln w="12700">
            <a:solidFill>
              <a:srgbClr val="FFD200"/>
            </a:solidFill>
            <a:round/>
            <a:headEnd/>
            <a:tailEnd/>
          </a:ln>
          <a:effectLst/>
        </p:spPr>
        <p:txBody>
          <a:bodyPr wrap="none" anchor="ctr"/>
          <a:lstStyle/>
          <a:p>
            <a:pPr>
              <a:defRPr/>
            </a:pPr>
            <a:endParaRPr lang="de-DE" dirty="0"/>
          </a:p>
        </p:txBody>
      </p:sp>
      <p:sp>
        <p:nvSpPr>
          <p:cNvPr id="165896" name="Line 8"/>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897" name="Line 9"/>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3" name="Picture 10"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
        <p:nvSpPr>
          <p:cNvPr id="165899" name="Line 11"/>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pPr>
              <a:defRPr/>
            </a:pPr>
            <a:endParaRPr lang="de-DE" dirty="0"/>
          </a:p>
        </p:txBody>
      </p:sp>
      <p:sp>
        <p:nvSpPr>
          <p:cNvPr id="165900" name="Line 12"/>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901" name="Line 1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7" name="Picture 14"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816" r:id="rId1"/>
    <p:sldLayoutId id="2147485750" r:id="rId2"/>
    <p:sldLayoutId id="2147485751" r:id="rId3"/>
    <p:sldLayoutId id="2147485752" r:id="rId4"/>
    <p:sldLayoutId id="2147485753" r:id="rId5"/>
    <p:sldLayoutId id="2147485754" r:id="rId6"/>
    <p:sldLayoutId id="2147485755" r:id="rId7"/>
    <p:sldLayoutId id="2147485756" r:id="rId8"/>
    <p:sldLayoutId id="2147485757" r:id="rId9"/>
    <p:sldLayoutId id="2147485758" r:id="rId10"/>
    <p:sldLayoutId id="2147485759" r:id="rId11"/>
    <p:sldLayoutId id="2147485818" r:id="rId12"/>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646464"/>
          </a:solidFill>
          <a:latin typeface="+mj-lt"/>
          <a:ea typeface="+mj-ea"/>
          <a:cs typeface="+mj-cs"/>
        </a:defRPr>
      </a:lvl1pPr>
      <a:lvl2pPr algn="l" rtl="0" eaLnBrk="0" fontAlgn="base" hangingPunct="0">
        <a:lnSpc>
          <a:spcPct val="85000"/>
        </a:lnSpc>
        <a:spcBef>
          <a:spcPct val="0"/>
        </a:spcBef>
        <a:spcAft>
          <a:spcPct val="0"/>
        </a:spcAft>
        <a:defRPr sz="3000" b="1">
          <a:solidFill>
            <a:srgbClr val="646464"/>
          </a:solidFill>
          <a:latin typeface="Arial" charset="0"/>
        </a:defRPr>
      </a:lvl2pPr>
      <a:lvl3pPr algn="l" rtl="0" eaLnBrk="0" fontAlgn="base" hangingPunct="0">
        <a:lnSpc>
          <a:spcPct val="85000"/>
        </a:lnSpc>
        <a:spcBef>
          <a:spcPct val="0"/>
        </a:spcBef>
        <a:spcAft>
          <a:spcPct val="0"/>
        </a:spcAft>
        <a:defRPr sz="3000" b="1">
          <a:solidFill>
            <a:srgbClr val="646464"/>
          </a:solidFill>
          <a:latin typeface="Arial" charset="0"/>
        </a:defRPr>
      </a:lvl3pPr>
      <a:lvl4pPr algn="l" rtl="0" eaLnBrk="0" fontAlgn="base" hangingPunct="0">
        <a:lnSpc>
          <a:spcPct val="85000"/>
        </a:lnSpc>
        <a:spcBef>
          <a:spcPct val="0"/>
        </a:spcBef>
        <a:spcAft>
          <a:spcPct val="0"/>
        </a:spcAft>
        <a:defRPr sz="3000" b="1">
          <a:solidFill>
            <a:srgbClr val="646464"/>
          </a:solidFill>
          <a:latin typeface="Arial" charset="0"/>
        </a:defRPr>
      </a:lvl4pPr>
      <a:lvl5pPr algn="l" rtl="0" eaLnBrk="0" fontAlgn="base" hangingPunct="0">
        <a:lnSpc>
          <a:spcPct val="85000"/>
        </a:lnSpc>
        <a:spcBef>
          <a:spcPct val="0"/>
        </a:spcBef>
        <a:spcAft>
          <a:spcPct val="0"/>
        </a:spcAft>
        <a:defRPr sz="3000" b="1">
          <a:solidFill>
            <a:srgbClr val="646464"/>
          </a:solidFill>
          <a:latin typeface="Arial" charset="0"/>
        </a:defRPr>
      </a:lvl5pPr>
      <a:lvl6pPr marL="457200" algn="l" rtl="0" fontAlgn="base">
        <a:lnSpc>
          <a:spcPct val="85000"/>
        </a:lnSpc>
        <a:spcBef>
          <a:spcPct val="0"/>
        </a:spcBef>
        <a:spcAft>
          <a:spcPct val="0"/>
        </a:spcAft>
        <a:defRPr sz="3000" b="1">
          <a:solidFill>
            <a:srgbClr val="646464"/>
          </a:solidFill>
          <a:latin typeface="Arial" charset="0"/>
        </a:defRPr>
      </a:lvl6pPr>
      <a:lvl7pPr marL="914400" algn="l" rtl="0" fontAlgn="base">
        <a:lnSpc>
          <a:spcPct val="85000"/>
        </a:lnSpc>
        <a:spcBef>
          <a:spcPct val="0"/>
        </a:spcBef>
        <a:spcAft>
          <a:spcPct val="0"/>
        </a:spcAft>
        <a:defRPr sz="3000" b="1">
          <a:solidFill>
            <a:srgbClr val="646464"/>
          </a:solidFill>
          <a:latin typeface="Arial" charset="0"/>
        </a:defRPr>
      </a:lvl7pPr>
      <a:lvl8pPr marL="1371600" algn="l" rtl="0" fontAlgn="base">
        <a:lnSpc>
          <a:spcPct val="85000"/>
        </a:lnSpc>
        <a:spcBef>
          <a:spcPct val="0"/>
        </a:spcBef>
        <a:spcAft>
          <a:spcPct val="0"/>
        </a:spcAft>
        <a:defRPr sz="3000" b="1">
          <a:solidFill>
            <a:srgbClr val="646464"/>
          </a:solidFill>
          <a:latin typeface="Arial" charset="0"/>
        </a:defRPr>
      </a:lvl8pPr>
      <a:lvl9pPr marL="1828800" algn="l" rtl="0" fontAlgn="base">
        <a:lnSpc>
          <a:spcPct val="85000"/>
        </a:lnSpc>
        <a:spcBef>
          <a:spcPct val="0"/>
        </a:spcBef>
        <a:spcAft>
          <a:spcPct val="0"/>
        </a:spcAft>
        <a:defRPr sz="3000" b="1">
          <a:solidFill>
            <a:srgbClr val="646464"/>
          </a:solidFill>
          <a:latin typeface="Arial" charset="0"/>
        </a:defRPr>
      </a:lvl9pPr>
    </p:titleStyle>
    <p:bodyStyle>
      <a:lvl1pPr marL="360363" indent="-360363" algn="l" rtl="0" eaLnBrk="0" fontAlgn="base" hangingPunct="0">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0" fontAlgn="base" hangingPunct="0">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0" fontAlgn="base" hangingPunct="0">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99331"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2052"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99335" name="Freeform 7"/>
          <p:cNvSpPr>
            <a:spLocks noChangeAspect="1"/>
          </p:cNvSpPr>
          <p:nvPr/>
        </p:nvSpPr>
        <p:spPr bwMode="auto">
          <a:xfrm>
            <a:off x="455613" y="1039813"/>
            <a:ext cx="8253412" cy="5194300"/>
          </a:xfrm>
          <a:custGeom>
            <a:avLst/>
            <a:gdLst/>
            <a:ahLst/>
            <a:cxnLst>
              <a:cxn ang="0">
                <a:pos x="0" y="0"/>
              </a:cxn>
              <a:cxn ang="0">
                <a:pos x="5170" y="0"/>
              </a:cxn>
              <a:cxn ang="0">
                <a:pos x="4535" y="3266"/>
              </a:cxn>
              <a:cxn ang="0">
                <a:pos x="0" y="3266"/>
              </a:cxn>
              <a:cxn ang="0">
                <a:pos x="0" y="0"/>
              </a:cxn>
            </a:cxnLst>
            <a:rect l="0" t="0" r="r" b="b"/>
            <a:pathLst>
              <a:path w="5170" h="3266">
                <a:moveTo>
                  <a:pt x="0" y="0"/>
                </a:moveTo>
                <a:lnTo>
                  <a:pt x="5170" y="0"/>
                </a:lnTo>
                <a:lnTo>
                  <a:pt x="4535" y="3266"/>
                </a:lnTo>
                <a:lnTo>
                  <a:pt x="0" y="3266"/>
                </a:lnTo>
                <a:lnTo>
                  <a:pt x="0" y="0"/>
                </a:lnTo>
                <a:close/>
              </a:path>
            </a:pathLst>
          </a:custGeom>
          <a:blipFill dpi="0" rotWithShape="1">
            <a:blip r:embed="rId14" cstate="print"/>
            <a:srcRect/>
            <a:stretch>
              <a:fillRect/>
            </a:stretch>
          </a:blip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761" r:id="rId1"/>
    <p:sldLayoutId id="2147485762" r:id="rId2"/>
    <p:sldLayoutId id="2147485763" r:id="rId3"/>
    <p:sldLayoutId id="2147485764" r:id="rId4"/>
    <p:sldLayoutId id="2147485765" r:id="rId5"/>
    <p:sldLayoutId id="2147485766" r:id="rId6"/>
    <p:sldLayoutId id="2147485767" r:id="rId7"/>
    <p:sldLayoutId id="2147485768" r:id="rId8"/>
    <p:sldLayoutId id="2147485769" r:id="rId9"/>
    <p:sldLayoutId id="2147485770" r:id="rId10"/>
    <p:sldLayoutId id="2147485771"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2" descr="lines11_crop_subtle_w"/>
          <p:cNvPicPr>
            <a:picLocks noChangeAspect="1" noChangeArrowheads="1"/>
          </p:cNvPicPr>
          <p:nvPr/>
        </p:nvPicPr>
        <p:blipFill>
          <a:blip r:embed="rId13" cstate="print"/>
          <a:srcRect/>
          <a:stretch>
            <a:fillRect/>
          </a:stretch>
        </p:blipFill>
        <p:spPr bwMode="auto">
          <a:xfrm>
            <a:off x="455613" y="1036638"/>
            <a:ext cx="8231187" cy="5195887"/>
          </a:xfrm>
          <a:prstGeom prst="rect">
            <a:avLst/>
          </a:prstGeom>
          <a:noFill/>
          <a:ln w="9525">
            <a:noFill/>
            <a:miter lim="800000"/>
            <a:headEnd/>
            <a:tailEnd/>
          </a:ln>
        </p:spPr>
      </p:pic>
      <p:sp>
        <p:nvSpPr>
          <p:cNvPr id="3075"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0356"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3077"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72" r:id="rId1"/>
    <p:sldLayoutId id="2147485773" r:id="rId2"/>
    <p:sldLayoutId id="2147485774" r:id="rId3"/>
    <p:sldLayoutId id="2147485775" r:id="rId4"/>
    <p:sldLayoutId id="2147485776" r:id="rId5"/>
    <p:sldLayoutId id="2147485777" r:id="rId6"/>
    <p:sldLayoutId id="2147485778" r:id="rId7"/>
    <p:sldLayoutId id="2147485779" r:id="rId8"/>
    <p:sldLayoutId id="2147485780" r:id="rId9"/>
    <p:sldLayoutId id="2147485781" r:id="rId10"/>
    <p:sldLayoutId id="2147485782"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1380"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4100" name="Picture 5"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pic>
        <p:nvPicPr>
          <p:cNvPr id="4101" name="Picture 6" descr="Motion_1"/>
          <p:cNvPicPr>
            <a:picLocks noChangeAspect="1" noChangeArrowheads="1"/>
          </p:cNvPicPr>
          <p:nvPr/>
        </p:nvPicPr>
        <p:blipFill>
          <a:blip r:embed="rId14" cstate="print"/>
          <a:srcRect/>
          <a:stretch>
            <a:fillRect/>
          </a:stretch>
        </p:blipFill>
        <p:spPr bwMode="auto">
          <a:xfrm>
            <a:off x="455613" y="1036638"/>
            <a:ext cx="8231187" cy="51974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83" r:id="rId1"/>
    <p:sldLayoutId id="2147485784" r:id="rId2"/>
    <p:sldLayoutId id="2147485785" r:id="rId3"/>
    <p:sldLayoutId id="2147485786" r:id="rId4"/>
    <p:sldLayoutId id="2147485787" r:id="rId5"/>
    <p:sldLayoutId id="2147485788" r:id="rId6"/>
    <p:sldLayoutId id="2147485789" r:id="rId7"/>
    <p:sldLayoutId id="2147485790" r:id="rId8"/>
    <p:sldLayoutId id="2147485791" r:id="rId9"/>
    <p:sldLayoutId id="2147485792" r:id="rId10"/>
    <p:sldLayoutId id="2147485793"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descr="lines11_fade_crop_subtle"/>
          <p:cNvPicPr>
            <a:picLocks noChangeAspect="1" noChangeArrowheads="1"/>
          </p:cNvPicPr>
          <p:nvPr/>
        </p:nvPicPr>
        <p:blipFill>
          <a:blip r:embed="rId13" cstate="print"/>
          <a:srcRect/>
          <a:stretch>
            <a:fillRect/>
          </a:stretch>
        </p:blipFill>
        <p:spPr bwMode="auto">
          <a:xfrm>
            <a:off x="455613" y="1036638"/>
            <a:ext cx="8231187" cy="5197475"/>
          </a:xfrm>
          <a:prstGeom prst="rect">
            <a:avLst/>
          </a:prstGeom>
          <a:noFill/>
          <a:ln w="9525">
            <a:noFill/>
            <a:miter lim="800000"/>
            <a:headEnd/>
            <a:tailEnd/>
          </a:ln>
        </p:spPr>
      </p:pic>
      <p:sp>
        <p:nvSpPr>
          <p:cNvPr id="5123"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404"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5125"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94" r:id="rId1"/>
    <p:sldLayoutId id="2147485795" r:id="rId2"/>
    <p:sldLayoutId id="2147485796" r:id="rId3"/>
    <p:sldLayoutId id="2147485797" r:id="rId4"/>
    <p:sldLayoutId id="2147485798" r:id="rId5"/>
    <p:sldLayoutId id="2147485799" r:id="rId6"/>
    <p:sldLayoutId id="2147485800" r:id="rId7"/>
    <p:sldLayoutId id="2147485801" r:id="rId8"/>
    <p:sldLayoutId id="2147485802" r:id="rId9"/>
    <p:sldLayoutId id="2147485803" r:id="rId10"/>
    <p:sldLayoutId id="2147485804"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3427"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6148"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103444" name="Freeform 20"/>
          <p:cNvSpPr>
            <a:spLocks noChangeAspect="1"/>
          </p:cNvSpPr>
          <p:nvPr/>
        </p:nvSpPr>
        <p:spPr bwMode="auto">
          <a:xfrm>
            <a:off x="457200" y="1028700"/>
            <a:ext cx="8242300" cy="5232400"/>
          </a:xfrm>
          <a:custGeom>
            <a:avLst/>
            <a:gdLst/>
            <a:ahLst/>
            <a:cxnLst>
              <a:cxn ang="0">
                <a:pos x="632" y="0"/>
              </a:cxn>
              <a:cxn ang="0">
                <a:pos x="0" y="3272"/>
              </a:cxn>
              <a:cxn ang="0">
                <a:pos x="5192" y="3272"/>
              </a:cxn>
              <a:cxn ang="0">
                <a:pos x="5192" y="0"/>
              </a:cxn>
              <a:cxn ang="0">
                <a:pos x="632" y="0"/>
              </a:cxn>
            </a:cxnLst>
            <a:rect l="0" t="0" r="r" b="b"/>
            <a:pathLst>
              <a:path w="5192" h="3272">
                <a:moveTo>
                  <a:pt x="632" y="0"/>
                </a:moveTo>
                <a:lnTo>
                  <a:pt x="0" y="3272"/>
                </a:lnTo>
                <a:lnTo>
                  <a:pt x="5192" y="3272"/>
                </a:lnTo>
                <a:lnTo>
                  <a:pt x="5192" y="0"/>
                </a:lnTo>
                <a:lnTo>
                  <a:pt x="632" y="0"/>
                </a:lnTo>
                <a:close/>
              </a:path>
            </a:pathLst>
          </a:custGeom>
          <a:solidFill>
            <a:srgbClr val="FFD200"/>
          </a:solid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805" r:id="rId1"/>
    <p:sldLayoutId id="2147485806" r:id="rId2"/>
    <p:sldLayoutId id="2147485807" r:id="rId3"/>
    <p:sldLayoutId id="2147485808" r:id="rId4"/>
    <p:sldLayoutId id="2147485809" r:id="rId5"/>
    <p:sldLayoutId id="2147485810" r:id="rId6"/>
    <p:sldLayoutId id="2147485811" r:id="rId7"/>
    <p:sldLayoutId id="2147485812" r:id="rId8"/>
    <p:sldLayoutId id="2147485813" r:id="rId9"/>
    <p:sldLayoutId id="2147485814" r:id="rId10"/>
    <p:sldLayoutId id="2147485815"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defTabSz="955675" eaLnBrk="0" hangingPunct="0">
              <a:spcAft>
                <a:spcPts val="0"/>
              </a:spcAft>
              <a:defRPr/>
            </a:pPr>
            <a:r>
              <a:rPr lang="en-US" sz="1600" b="1" kern="0" dirty="0" smtClean="0">
                <a:solidFill>
                  <a:srgbClr val="646464"/>
                </a:solidFill>
              </a:rPr>
              <a:t>5. RAID trends and observations</a:t>
            </a:r>
            <a:endParaRPr lang="en-US" sz="1600" b="1" kern="0" dirty="0" smtClean="0">
              <a:solidFill>
                <a:srgbClr val="646464"/>
              </a:solidFill>
              <a:latin typeface="EYInterstate"/>
            </a:endParaRPr>
          </a:p>
        </p:txBody>
      </p:sp>
      <p:graphicFrame>
        <p:nvGraphicFramePr>
          <p:cNvPr id="9" name="Group 270"/>
          <p:cNvGraphicFramePr>
            <a:graphicFrameLocks noGrp="1"/>
          </p:cNvGraphicFramePr>
          <p:nvPr/>
        </p:nvGraphicFramePr>
        <p:xfrm>
          <a:off x="5035297" y="3374781"/>
          <a:ext cx="3974595" cy="3365871"/>
        </p:xfrm>
        <a:graphic>
          <a:graphicData uri="http://schemas.openxmlformats.org/drawingml/2006/table">
            <a:tbl>
              <a:tblPr/>
              <a:tblGrid>
                <a:gridCol w="429686"/>
                <a:gridCol w="1993852"/>
                <a:gridCol w="1551057"/>
              </a:tblGrid>
              <a:tr h="18288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Top Critical  Issues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7917">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Item</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Description</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Action</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9927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I106</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Lack of business SMEs nominated to act as Business Requirements Leads from whom to gather and validate requirements and configuration is delaying the completion of Outlook configuration settings and Day 1 expected application integration. Requirements definition approach to date has leveraged existing Global Mail Templates, policies etc, and escalated to DA/QRM Steering Group as appropriate for technical/policy decisions respectively. However neither governance group can determine business criticality of mail-integrated applications required on Day 1. </a:t>
                      </a:r>
                    </a:p>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UC Business Analysts unable to conduct analysis systematically across each area to ensure total coverage, nor determine relative priority of requirements. Currently working with IE and AM to conduct impact analysis of migration to Exchange, and present cost/schedule impact of integration around key categories (</a:t>
                      </a:r>
                      <a:r>
                        <a:rPr kumimoji="0" lang="en-US" sz="700" b="0" i="0" u="none" strike="noStrike" kern="1200" cap="none" normalizeH="0" baseline="0" dirty="0" err="1" smtClean="0">
                          <a:ln>
                            <a:noFill/>
                          </a:ln>
                          <a:solidFill>
                            <a:srgbClr val="000000"/>
                          </a:solidFill>
                          <a:effectLst/>
                          <a:latin typeface="EYInterstate Light" pitchFamily="2" charset="0"/>
                          <a:ea typeface="+mn-ea"/>
                          <a:cs typeface="+mn-cs"/>
                        </a:rPr>
                        <a:t>eg</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Room booking, Faxing, Group Management, etc) for presentation to FSG on what is a Day 1 integration requirement. Resource constraints in IE/AM will extend timeline for completion of impact assessment work. Challenge of this approach is the delay to determining final scope of Day 1, which impacts planning and potentially O365 scope freeze.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Business deployment and Business change still to develop engagement strategy for requirements leads - awaiting further discussions on agenda of Area Stakeholder Engagement Workshops to try and highlight need for business involvement in requirements gathering and approval, as well as decision-making authority for Day 1 configuration and application integration set.</a:t>
                      </a:r>
                    </a:p>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Planned Resolution: Work with Business Deployment team to build network of Business Requirements Leads/ Configuration Working Group who are empowered to approve Outlook/</a:t>
                      </a:r>
                      <a:r>
                        <a:rPr kumimoji="0" lang="en-US" sz="700" b="0" i="0" u="none" strike="noStrike" kern="1200" cap="none" normalizeH="0" baseline="0" dirty="0" err="1" smtClean="0">
                          <a:ln>
                            <a:noFill/>
                          </a:ln>
                          <a:solidFill>
                            <a:srgbClr val="000000"/>
                          </a:solidFill>
                          <a:effectLst/>
                          <a:latin typeface="EYInterstate Light" pitchFamily="2" charset="0"/>
                          <a:ea typeface="+mn-ea"/>
                          <a:cs typeface="+mn-cs"/>
                        </a:rPr>
                        <a:t>Lync</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specification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0" name="Group 270"/>
          <p:cNvGraphicFramePr>
            <a:graphicFrameLocks noGrp="1"/>
          </p:cNvGraphicFramePr>
          <p:nvPr/>
        </p:nvGraphicFramePr>
        <p:xfrm>
          <a:off x="304798" y="3756518"/>
          <a:ext cx="4419599" cy="2984134"/>
        </p:xfrm>
        <a:graphic>
          <a:graphicData uri="http://schemas.openxmlformats.org/drawingml/2006/table">
            <a:tbl>
              <a:tblPr/>
              <a:tblGrid>
                <a:gridCol w="477793"/>
                <a:gridCol w="1503409"/>
                <a:gridCol w="2438397"/>
              </a:tblGrid>
              <a:tr h="18288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Top Critical Risks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419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Item</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Description</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Proposed Action</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429267">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R67</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Approval is required to onboard required resources (as per the resource forecast) to prevent delays to delivery.  In addition agreement is needed on the resourcing strategy (i.e. blend of ITS, contractors and CBS / Markets resources)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aren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Ensure all resource requests are in the Resource Request DB and align to project plans – complete</a:t>
                      </a:r>
                    </a:p>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aren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Meeting to be scheduled with Margaret Walsh and Christopher Hall to determine percentage of permanent employees to recruit and utilize in the Program – complete; meetings held, agreement yet to be reached (refer to item #4 below)</a:t>
                      </a:r>
                    </a:p>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aren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Agree resourcing strategy/mix with Markets and CBS-in progress; meetings set-up with People and Assurance IT Service Delivery Leaders (refer to item#4 below)</a:t>
                      </a:r>
                    </a:p>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aren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Agree Operating Model between x-org and IT SD teams – in progress; proposed A&amp;DM operating model sent to Chris, Margaret and Alan for review/discussion at next CLT meeting scheduled 24/01/12 – awaiting decision to proceed.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429267">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R92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Program has been built on the assumption that Riverbed would work; Microsoft has indicated that Riverbed won't work or may cause challenges.  It is a significant risk to the program that we do not know whether it will work or not.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Risk raised 25-January and added to RAID log. Assigned to Al and Adrian. Action plan TBD in the next week.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8" name="Group 852"/>
          <p:cNvGraphicFramePr>
            <a:graphicFrameLocks noGrp="1"/>
          </p:cNvGraphicFramePr>
          <p:nvPr/>
        </p:nvGraphicFramePr>
        <p:xfrm>
          <a:off x="6038092" y="685800"/>
          <a:ext cx="2971800" cy="415920"/>
        </p:xfrm>
        <a:graphic>
          <a:graphicData uri="http://schemas.openxmlformats.org/drawingml/2006/table">
            <a:tbl>
              <a:tblPr/>
              <a:tblGrid>
                <a:gridCol w="2971800"/>
              </a:tblGrid>
              <a:tr h="9579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PMO Narrative</a:t>
                      </a: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4695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700" b="0" i="0" u="none" strike="noStrike" cap="none" normalizeH="0" baseline="0" dirty="0" smtClean="0">
                        <a:ln>
                          <a:noFill/>
                        </a:ln>
                        <a:solidFill>
                          <a:srgbClr val="FF0000"/>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900" b="0" i="0" u="none" strike="noStrike" cap="none" normalizeH="0" baseline="0" dirty="0" smtClean="0">
                          <a:ln>
                            <a:noFill/>
                          </a:ln>
                          <a:solidFill>
                            <a:srgbClr val="000000"/>
                          </a:solidFill>
                          <a:effectLst/>
                          <a:latin typeface="EYInterstate Light" pitchFamily="2" charset="0"/>
                        </a:rPr>
                        <a:t>  New process implemented as of late 2011.</a:t>
                      </a:r>
                      <a:endParaRPr kumimoji="0" lang="en-US" sz="9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1" name="Chart 10"/>
          <p:cNvGraphicFramePr/>
          <p:nvPr/>
        </p:nvGraphicFramePr>
        <p:xfrm>
          <a:off x="304798" y="530135"/>
          <a:ext cx="5648323" cy="31146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theme/theme1.xml><?xml version="1.0" encoding="utf-8"?>
<a:theme xmlns:a="http://schemas.openxmlformats.org/drawingml/2006/main" name="1_Bullet text">
  <a:themeElements>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1_Bullet tex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rey fill divider">
  <a:themeElements>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Grey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Line 1 divider">
  <a:themeElements>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1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Line 2 divider">
  <a:themeElements>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2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Line 3 divider">
  <a:themeElements>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3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Yellow fill divider">
  <a:themeElements>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Yellow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22136</TotalTime>
  <Words>532</Words>
  <Application>Microsoft Office PowerPoint</Application>
  <PresentationFormat>On-screen Show (4:3)</PresentationFormat>
  <Paragraphs>27</Paragraphs>
  <Slides>1</Slides>
  <Notes>0</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1</vt:i4>
      </vt:variant>
    </vt:vector>
  </HeadingPairs>
  <TitlesOfParts>
    <vt:vector size="11" baseType="lpstr">
      <vt:lpstr>Arial</vt:lpstr>
      <vt:lpstr>EYInterstate</vt:lpstr>
      <vt:lpstr>EYInterstate Light</vt:lpstr>
      <vt:lpstr>Wingdings</vt:lpstr>
      <vt:lpstr>1_Bullet text</vt:lpstr>
      <vt:lpstr>Grey fill divider</vt:lpstr>
      <vt:lpstr>Line 1 divider</vt:lpstr>
      <vt:lpstr>Line 2 divider</vt:lpstr>
      <vt:lpstr>Line 3 divider</vt:lpstr>
      <vt:lpstr>Yellow fill divider</vt:lpstr>
      <vt:lpstr>Slide 1</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Landor</dc:creator>
  <cp:lastModifiedBy>Wale Agbaje</cp:lastModifiedBy>
  <cp:revision>1962</cp:revision>
  <dcterms:created xsi:type="dcterms:W3CDTF">2007-11-06T15:04:41Z</dcterms:created>
  <dcterms:modified xsi:type="dcterms:W3CDTF">2012-01-27T08:58:44Z</dcterms:modified>
</cp:coreProperties>
</file>