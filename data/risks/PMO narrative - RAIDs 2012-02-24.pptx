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4" r:id="rId2"/>
  </p:sldIdLst>
  <p:sldSz cx="9144000" cy="6858000" type="screen4x3"/>
  <p:notesSz cx="7086600" cy="9410700"/>
  <p:embeddedFontLst>
    <p:embeddedFont>
      <p:font typeface="EYInterstate" pitchFamily="2" charset="0"/>
      <p:regular r:id="rId5"/>
      <p:bold r:id="rId6"/>
      <p:italic r:id="rId7"/>
      <p:boldItalic r:id="rId8"/>
    </p:embeddedFont>
    <p:embeddedFont>
      <p:font typeface="EYInterstate Light" pitchFamily="2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FAE600"/>
    <a:srgbClr val="B4B4B4"/>
    <a:srgbClr val="FFD200"/>
    <a:srgbClr val="000000"/>
    <a:srgbClr val="646464"/>
    <a:srgbClr val="80808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3" autoAdjust="0"/>
    <p:restoredTop sz="81593" autoAdjust="0"/>
  </p:normalViewPr>
  <p:slideViewPr>
    <p:cSldViewPr>
      <p:cViewPr varScale="1">
        <p:scale>
          <a:sx n="93" d="100"/>
          <a:sy n="93" d="100"/>
        </p:scale>
        <p:origin x="-147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158750" y="9136063"/>
            <a:ext cx="1289050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cs typeface="Arial" charset="0"/>
              </a:rPr>
              <a:t>May 22, 2008</a:t>
            </a:r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2481263" y="9136063"/>
            <a:ext cx="2057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cs typeface="Arial" charset="0"/>
              </a:rPr>
              <a:t>Presentation title</a:t>
            </a:r>
          </a:p>
        </p:txBody>
      </p:sp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1635125" y="9136063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cs typeface="Arial" charset="0"/>
              </a:rPr>
              <a:t>Page </a:t>
            </a:r>
            <a:fld id="{74984DEF-64B7-4B0D-9CAD-88AC71C7ACA2}" type="slidenum">
              <a:rPr lang="en-US" sz="1100">
                <a:cs typeface="Arial" charset="0"/>
              </a:rPr>
              <a:pPr/>
              <a:t>‹#›</a:t>
            </a:fld>
            <a:endParaRPr lang="en-US" sz="1100">
              <a:cs typeface="Arial" charset="0"/>
            </a:endParaRPr>
          </a:p>
        </p:txBody>
      </p:sp>
      <p:pic>
        <p:nvPicPr>
          <p:cNvPr id="69641" name="Picture 9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62588" y="8953500"/>
            <a:ext cx="1485900" cy="33337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6438"/>
            <a:ext cx="4705350" cy="3529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470400"/>
            <a:ext cx="5670550" cy="423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65" tIns="47133" rIns="94265" bIns="471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158750" y="9136063"/>
            <a:ext cx="1289050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cs typeface="Arial" charset="0"/>
              </a:rPr>
              <a:t>May 22, 2008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2481263" y="9136063"/>
            <a:ext cx="2057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cs typeface="Arial" charset="0"/>
              </a:rPr>
              <a:t>Presentation title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1635125" y="9136063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cs typeface="Arial" charset="0"/>
              </a:rPr>
              <a:t>Page </a:t>
            </a:r>
            <a:fld id="{FA5FCB97-0EDB-4471-BEA3-C3A3F240EE22}" type="slidenum">
              <a:rPr lang="en-US" sz="1100">
                <a:cs typeface="Arial" charset="0"/>
              </a:rPr>
              <a:pPr/>
              <a:t>‹#›</a:t>
            </a:fld>
            <a:endParaRPr lang="en-US" sz="1100">
              <a:cs typeface="Arial" charset="0"/>
            </a:endParaRPr>
          </a:p>
        </p:txBody>
      </p:sp>
      <p:pic>
        <p:nvPicPr>
          <p:cNvPr id="8203" name="Picture 11" descr="logo_tagblac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2588" y="8953500"/>
            <a:ext cx="1485900" cy="33337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1588" indent="179388"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360363" indent="190500"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723900" indent="177800"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081088" indent="176213"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 smtClean="0"/>
              <a:t>Cost</a:t>
            </a:r>
          </a:p>
          <a:p>
            <a:pPr defTabSz="881885">
              <a:defRPr/>
            </a:pPr>
            <a:r>
              <a:rPr lang="en-GB" dirty="0" smtClean="0"/>
              <a:t>GREEN - </a:t>
            </a:r>
            <a:r>
              <a:rPr lang="en-US" dirty="0" smtClean="0"/>
              <a:t>Estimate at Completion (EAC) = + 0 - 5% of approved spend (cost baseline + approved change requests)</a:t>
            </a:r>
            <a:endParaRPr lang="en-GB" dirty="0" smtClean="0"/>
          </a:p>
          <a:p>
            <a:pPr defTabSz="881885">
              <a:defRPr/>
            </a:pPr>
            <a:r>
              <a:rPr lang="en-GB" dirty="0" smtClean="0"/>
              <a:t>AMBER - </a:t>
            </a:r>
            <a:r>
              <a:rPr lang="en-US" dirty="0" smtClean="0"/>
              <a:t>Estimate at Completion (EAC) = + 6 - 10% of approved spend (cost baseline + approved changes) and/or pending spend</a:t>
            </a:r>
            <a:endParaRPr lang="en-GB" dirty="0" smtClean="0"/>
          </a:p>
          <a:p>
            <a:r>
              <a:rPr lang="en-GB" dirty="0" smtClean="0"/>
              <a:t>RED</a:t>
            </a:r>
            <a:r>
              <a:rPr lang="en-GB" baseline="0" dirty="0" smtClean="0"/>
              <a:t> – </a:t>
            </a:r>
            <a:r>
              <a:rPr lang="en-US" dirty="0" smtClean="0"/>
              <a:t>Estimate at Completion (EAC) exceeds + 10% or $100,000 of approved spend (cost baseline + approved changes) and/or pending spend or no project budget defined</a:t>
            </a:r>
            <a:endParaRPr lang="en-GB" baseline="0" dirty="0" smtClean="0"/>
          </a:p>
          <a:p>
            <a:endParaRPr lang="en-GB" baseline="0" dirty="0" smtClean="0"/>
          </a:p>
          <a:p>
            <a:r>
              <a:rPr lang="en-GB" dirty="0" smtClean="0"/>
              <a:t>Schedule</a:t>
            </a:r>
          </a:p>
          <a:p>
            <a:r>
              <a:rPr lang="en-GB" dirty="0" smtClean="0"/>
              <a:t>GREEN - </a:t>
            </a:r>
            <a:r>
              <a:rPr lang="en-US" dirty="0" smtClean="0"/>
              <a:t>The project schedule supports the end date of the project (with some elapsed time contingency).</a:t>
            </a:r>
            <a:endParaRPr lang="en-GB" dirty="0" smtClean="0"/>
          </a:p>
          <a:p>
            <a:r>
              <a:rPr lang="en-GB" dirty="0" smtClean="0"/>
              <a:t>AMBER - </a:t>
            </a:r>
            <a:r>
              <a:rPr lang="en-US" dirty="0" smtClean="0"/>
              <a:t>The project schedule supports the end date, but issues, risks and/or changes exist that may put the date in jeopardy.</a:t>
            </a:r>
            <a:endParaRPr lang="en-GB" dirty="0" smtClean="0"/>
          </a:p>
          <a:p>
            <a:r>
              <a:rPr lang="en-GB" dirty="0" smtClean="0"/>
              <a:t>RED</a:t>
            </a:r>
            <a:r>
              <a:rPr lang="en-GB" baseline="0" dirty="0" smtClean="0"/>
              <a:t> – </a:t>
            </a:r>
            <a:r>
              <a:rPr lang="en-US" dirty="0" smtClean="0"/>
              <a:t>The project schedule does not exist and/or the project schedule does not support the end of the project.</a:t>
            </a:r>
            <a:endParaRPr lang="en-GB" baseline="0" dirty="0" smtClean="0"/>
          </a:p>
          <a:p>
            <a:endParaRPr lang="en-GB" baseline="0" dirty="0" smtClean="0"/>
          </a:p>
          <a:p>
            <a:r>
              <a:rPr lang="en-GB" dirty="0" smtClean="0"/>
              <a:t>Scope</a:t>
            </a:r>
          </a:p>
          <a:p>
            <a:r>
              <a:rPr lang="en-GB" dirty="0" smtClean="0"/>
              <a:t>GREEN - </a:t>
            </a:r>
            <a:r>
              <a:rPr lang="en-US" dirty="0" smtClean="0"/>
              <a:t>Scope defined and </a:t>
            </a:r>
            <a:r>
              <a:rPr lang="en-US" u="sng" dirty="0" smtClean="0"/>
              <a:t>approved</a:t>
            </a:r>
            <a:r>
              <a:rPr lang="en-US" dirty="0" smtClean="0"/>
              <a:t> (scope baseline) with no pending change requests.</a:t>
            </a:r>
            <a:endParaRPr lang="en-GB" dirty="0" smtClean="0"/>
          </a:p>
          <a:p>
            <a:r>
              <a:rPr lang="en-GB" dirty="0" smtClean="0"/>
              <a:t>AMBER - </a:t>
            </a:r>
            <a:r>
              <a:rPr lang="en-US" dirty="0" smtClean="0"/>
              <a:t>Scope defined and </a:t>
            </a:r>
            <a:r>
              <a:rPr lang="en-US" u="sng" dirty="0" smtClean="0"/>
              <a:t>approved</a:t>
            </a:r>
            <a:r>
              <a:rPr lang="en-US" dirty="0" smtClean="0"/>
              <a:t> (scope baseline) with </a:t>
            </a:r>
            <a:r>
              <a:rPr lang="en-US" u="sng" dirty="0" smtClean="0"/>
              <a:t>pending</a:t>
            </a:r>
            <a:r>
              <a:rPr lang="en-US" dirty="0" smtClean="0"/>
              <a:t> change requests – known and not raised and raised but not agreed.</a:t>
            </a:r>
            <a:endParaRPr lang="en-GB" dirty="0" smtClean="0"/>
          </a:p>
          <a:p>
            <a:r>
              <a:rPr lang="en-GB" dirty="0" smtClean="0"/>
              <a:t>RED</a:t>
            </a:r>
            <a:r>
              <a:rPr lang="en-GB" baseline="0" dirty="0" smtClean="0"/>
              <a:t> – </a:t>
            </a:r>
            <a:r>
              <a:rPr lang="en-US" dirty="0" smtClean="0"/>
              <a:t>Scope undefined or unapproved (no scope baseline) and/or multiple pending change requests.</a:t>
            </a:r>
            <a:endParaRPr lang="en-GB" baseline="0" dirty="0" smtClean="0"/>
          </a:p>
          <a:p>
            <a:endParaRPr lang="en-GB" baseline="0" dirty="0" smtClean="0"/>
          </a:p>
          <a:p>
            <a:r>
              <a:rPr lang="en-GB" dirty="0" smtClean="0"/>
              <a:t>Risk</a:t>
            </a:r>
          </a:p>
          <a:p>
            <a:r>
              <a:rPr lang="en-GB" dirty="0" smtClean="0"/>
              <a:t>GREEN – Low amount of risks with negligible impact</a:t>
            </a:r>
          </a:p>
          <a:p>
            <a:r>
              <a:rPr lang="en-GB" dirty="0" smtClean="0"/>
              <a:t>AMBER – Medium amount of risks. High or medium impact but with mitigation actions in place. Time left to put in place mitigation plans.</a:t>
            </a:r>
          </a:p>
          <a:p>
            <a:r>
              <a:rPr lang="en-GB" dirty="0" smtClean="0"/>
              <a:t>RED</a:t>
            </a:r>
            <a:r>
              <a:rPr lang="en-GB" baseline="0" dirty="0" smtClean="0"/>
              <a:t> – High number of risks. High score risks which impact in the near term. No mitigation in place for High risks.</a:t>
            </a:r>
          </a:p>
          <a:p>
            <a:endParaRPr lang="en-GB" baseline="0" dirty="0" smtClean="0"/>
          </a:p>
          <a:p>
            <a:r>
              <a:rPr lang="en-GB" dirty="0" smtClean="0"/>
              <a:t>Issue</a:t>
            </a:r>
          </a:p>
          <a:p>
            <a:r>
              <a:rPr lang="en-GB" dirty="0" smtClean="0"/>
              <a:t>GREEN – No or low impact issues. Medium impact issues with resolution plans agreed and in place.</a:t>
            </a:r>
          </a:p>
          <a:p>
            <a:r>
              <a:rPr lang="en-GB" dirty="0" smtClean="0"/>
              <a:t>AMBER – Large</a:t>
            </a:r>
            <a:r>
              <a:rPr lang="en-GB" baseline="0" dirty="0" smtClean="0"/>
              <a:t> amount of issues and/or Medium impact issues with no resolution plans.</a:t>
            </a:r>
            <a:endParaRPr lang="en-GB" dirty="0" smtClean="0"/>
          </a:p>
          <a:p>
            <a:r>
              <a:rPr lang="en-GB" dirty="0" smtClean="0"/>
              <a:t>RED</a:t>
            </a:r>
            <a:r>
              <a:rPr lang="en-GB" baseline="0" dirty="0" smtClean="0"/>
              <a:t> – High impact issues present. No resolution plans in place for Medium of High level issues</a:t>
            </a:r>
          </a:p>
          <a:p>
            <a:endParaRPr lang="en-GB" baseline="0" dirty="0" smtClean="0"/>
          </a:p>
          <a:p>
            <a:r>
              <a:rPr lang="en-GB" dirty="0" smtClean="0"/>
              <a:t>Commercial</a:t>
            </a:r>
          </a:p>
          <a:p>
            <a:r>
              <a:rPr lang="en-GB" dirty="0" smtClean="0"/>
              <a:t>GREEN - TBD</a:t>
            </a:r>
          </a:p>
          <a:p>
            <a:r>
              <a:rPr lang="en-GB" dirty="0" smtClean="0"/>
              <a:t>AMBER - TBD</a:t>
            </a:r>
          </a:p>
          <a:p>
            <a:r>
              <a:rPr lang="en-GB" dirty="0" smtClean="0"/>
              <a:t>RED</a:t>
            </a:r>
            <a:r>
              <a:rPr lang="en-GB" baseline="0" dirty="0" smtClean="0"/>
              <a:t> – TBD</a:t>
            </a:r>
          </a:p>
          <a:p>
            <a:endParaRPr lang="en-GB" baseline="0" dirty="0" smtClean="0"/>
          </a:p>
          <a:p>
            <a:r>
              <a:rPr lang="en-GB" dirty="0" smtClean="0"/>
              <a:t>Resource</a:t>
            </a:r>
          </a:p>
          <a:p>
            <a:r>
              <a:rPr lang="en-GB" dirty="0" smtClean="0"/>
              <a:t>GREEN – No resource issue or constraints</a:t>
            </a:r>
          </a:p>
          <a:p>
            <a:r>
              <a:rPr lang="en-GB" dirty="0" smtClean="0"/>
              <a:t>AMBER – Resource issues exist but plans are in place to resolve.</a:t>
            </a:r>
          </a:p>
          <a:p>
            <a:r>
              <a:rPr lang="en-GB" dirty="0" smtClean="0"/>
              <a:t>RED</a:t>
            </a:r>
            <a:r>
              <a:rPr lang="en-GB" baseline="0" dirty="0" smtClean="0"/>
              <a:t> – Resource issues exist with no plans in place to resolve.</a:t>
            </a:r>
          </a:p>
          <a:p>
            <a:endParaRPr lang="en-GB" baseline="0" dirty="0" smtClean="0"/>
          </a:p>
          <a:p>
            <a:endParaRPr lang="en-GB" baseline="0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Freeform 20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pic>
        <p:nvPicPr>
          <p:cNvPr id="3085" name="Picture 13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</p:spPr>
      </p:pic>
      <p:sp>
        <p:nvSpPr>
          <p:cNvPr id="3091" name="AutoShape 19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2784475" y="6419850"/>
            <a:ext cx="2057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solidFill>
                  <a:srgbClr val="000000"/>
                </a:solidFill>
                <a:cs typeface="Arial" charset="0"/>
              </a:rPr>
              <a:t>Presentation title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457200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solidFill>
                  <a:srgbClr val="000000"/>
                </a:solidFill>
                <a:cs typeface="Arial" charset="0"/>
              </a:rPr>
              <a:t>Page </a:t>
            </a:r>
            <a:fld id="{92377386-EE50-4FE3-9EAA-3F82571A0486}" type="slidenum">
              <a:rPr lang="en-US" sz="1100">
                <a:solidFill>
                  <a:srgbClr val="000000"/>
                </a:solidFill>
                <a:cs typeface="Arial" charset="0"/>
              </a:rPr>
              <a:pPr/>
              <a:t>‹#›</a:t>
            </a:fld>
            <a:endParaRPr lang="en-US" sz="11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455613" y="1042988"/>
            <a:ext cx="8229600" cy="0"/>
          </a:xfrm>
          <a:prstGeom prst="line">
            <a:avLst/>
          </a:prstGeom>
          <a:noFill/>
          <a:ln w="1905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>
            <a:off x="455613" y="6243638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037" name="Picture 13" descr="logo_tagblac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757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94"/>
          <p:cNvSpPr>
            <a:spLocks/>
          </p:cNvSpPr>
          <p:nvPr/>
        </p:nvSpPr>
        <p:spPr bwMode="gray">
          <a:xfrm>
            <a:off x="-2459" y="-3263"/>
            <a:ext cx="6398869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  <a:latin typeface="EYInterstate"/>
              </a:rPr>
              <a:t>2. Overall assessment of Program health</a:t>
            </a:r>
            <a:endParaRPr lang="en-US" sz="1600" b="1" kern="0" dirty="0">
              <a:solidFill>
                <a:srgbClr val="646464"/>
              </a:solidFill>
              <a:latin typeface="EYInterstate"/>
            </a:endParaRPr>
          </a:p>
        </p:txBody>
      </p:sp>
      <p:graphicFrame>
        <p:nvGraphicFramePr>
          <p:cNvPr id="10" name="Group 852"/>
          <p:cNvGraphicFramePr>
            <a:graphicFrameLocks noGrp="1"/>
          </p:cNvGraphicFramePr>
          <p:nvPr/>
        </p:nvGraphicFramePr>
        <p:xfrm>
          <a:off x="6553200" y="10477"/>
          <a:ext cx="2590800" cy="5710365"/>
        </p:xfrm>
        <a:graphic>
          <a:graphicData uri="http://schemas.openxmlformats.org/drawingml/2006/table">
            <a:tbl>
              <a:tblPr/>
              <a:tblGrid>
                <a:gridCol w="2590800"/>
              </a:tblGrid>
              <a:tr h="142918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PMO Narrative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03599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Budget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556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Schedule – Overall status RED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44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Resource.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115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lang="en-GB" sz="700" b="1" i="0" kern="1200" baseline="0" dirty="0" smtClean="0">
                          <a:solidFill>
                            <a:srgbClr val="000000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RAIDs.</a:t>
                      </a: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clean-up of risks and issues (as a result of template change) continues. We have at present 37  risks/issues missing at least one piece of information. Summaries of missing data (by </a:t>
                      </a:r>
                      <a:r>
                        <a:rPr kumimoji="0" lang="en-US" sz="7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workstream</a:t>
                      </a: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) are distributed and displayed twice a week in London, with detailed information sent to all RAID attendees on Mondays.  Additional individual </a:t>
                      </a:r>
                      <a:r>
                        <a:rPr kumimoji="0" lang="en-US" sz="7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workstream</a:t>
                      </a: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calls continue to be scheduled.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There are 131 decisions and 15 assumptions to be reviewed and revalidated in light of the cloud decision. 72 of these decisions are owned by the Tech Foundation </a:t>
                      </a:r>
                      <a:r>
                        <a:rPr kumimoji="0" lang="en-US" sz="7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workstream</a:t>
                      </a: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;  doc out per Al for team to commence review as of 23-Feb.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Last week we closed nine issues, reducing those overdue by four. Six new issues were opened this week.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54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Commercial/Vendor. 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600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General .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" y="4191000"/>
          <a:ext cx="6396408" cy="3108300"/>
        </p:xfrm>
        <a:graphic>
          <a:graphicData uri="http://schemas.openxmlformats.org/drawingml/2006/table">
            <a:tbl>
              <a:tblPr/>
              <a:tblGrid>
                <a:gridCol w="904315"/>
                <a:gridCol w="848285"/>
                <a:gridCol w="784499"/>
                <a:gridCol w="816392"/>
                <a:gridCol w="742175"/>
                <a:gridCol w="742175"/>
                <a:gridCol w="816392"/>
                <a:gridCol w="742175"/>
              </a:tblGrid>
              <a:tr h="185322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RAG Trend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0780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Program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This week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Last week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Week -2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Week -3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Week -4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Week -5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</a:rPr>
                        <a:t>Week -6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SharePoint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224684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App &amp; Data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4974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Infrastructure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Change Management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Tech  Foundation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Unified Communications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IT Transition Management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Business Deployment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Release Management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" y="530137"/>
          <a:ext cx="6396406" cy="3402519"/>
        </p:xfrm>
        <a:graphic>
          <a:graphicData uri="http://schemas.openxmlformats.org/drawingml/2006/table">
            <a:tbl>
              <a:tblPr/>
              <a:tblGrid>
                <a:gridCol w="838198"/>
                <a:gridCol w="515936"/>
                <a:gridCol w="630284"/>
                <a:gridCol w="630284"/>
                <a:gridCol w="630284"/>
                <a:gridCol w="630284"/>
                <a:gridCol w="630284"/>
                <a:gridCol w="630284"/>
                <a:gridCol w="630284"/>
                <a:gridCol w="630284"/>
              </a:tblGrid>
              <a:tr h="170061">
                <a:tc gridSpan="10">
                  <a:txBody>
                    <a:bodyPr/>
                    <a:lstStyle/>
                    <a:p>
                      <a:pPr algn="l" rtl="0" fontAlgn="ctr"/>
                      <a:r>
                        <a:rPr lang="en-GB" sz="700" b="1" i="0" u="none" strike="noStrike" dirty="0">
                          <a:solidFill>
                            <a:srgbClr val="646464"/>
                          </a:solidFill>
                          <a:latin typeface="EYInterstate"/>
                        </a:rPr>
                        <a:t>Weekly Ratings</a:t>
                      </a:r>
                      <a:r>
                        <a:rPr lang="en-GB" sz="700" b="0" i="0" u="none" strike="noStrike" dirty="0">
                          <a:solidFill>
                            <a:srgbClr val="646464"/>
                          </a:solidFill>
                          <a:latin typeface="EYInterstate"/>
                        </a:rPr>
                        <a:t> </a:t>
                      </a:r>
                      <a:endParaRPr lang="en-GB" sz="700" b="1" i="0" u="none" strike="noStrike" dirty="0">
                        <a:solidFill>
                          <a:srgbClr val="646464"/>
                        </a:solidFill>
                        <a:latin typeface="EYInterstate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170061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646464"/>
                          </a:solidFill>
                          <a:latin typeface="EYInterstate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GB" sz="700" b="1" i="0" u="none" strike="noStrike" dirty="0">
                          <a:solidFill>
                            <a:srgbClr val="646464"/>
                          </a:solidFill>
                          <a:latin typeface="EYInterstate"/>
                        </a:rPr>
                        <a:t>Program Assessment (Per PM Tool)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rtl="0" fontAlgn="ctr"/>
                      <a:r>
                        <a:rPr lang="en-GB" sz="700" b="1" i="0" u="none" strike="noStrike" dirty="0">
                          <a:solidFill>
                            <a:srgbClr val="646464"/>
                          </a:solidFill>
                          <a:latin typeface="EYInterstate"/>
                        </a:rPr>
                        <a:t>PMO Assessment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2400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Program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Overall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 Light"/>
                        </a:rPr>
                        <a:t>Scope 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 Ligh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 Light"/>
                        </a:rPr>
                        <a:t>Time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 Ligh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 Light"/>
                        </a:rPr>
                        <a:t>Cost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 Ligh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RAID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Resource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Financial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 Light"/>
                        </a:rPr>
                        <a:t>Schedule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 Ligh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Vendor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1684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SharePoint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77093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App &amp; Data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4272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Change Management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75442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Unified Communications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5373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Tech Foundation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75442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IT Transition Management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75442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Business Deployment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5442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Release Management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80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 Light"/>
                        </a:rPr>
                        <a:t>Overall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 Ligh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000000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84</TotalTime>
  <Words>605</Words>
  <Application>Microsoft Office PowerPoint</Application>
  <PresentationFormat>On-screen Show (4:3)</PresentationFormat>
  <Paragraphs>86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Times New Roman</vt:lpstr>
      <vt:lpstr>EYInterstate</vt:lpstr>
      <vt:lpstr>Wingdings</vt:lpstr>
      <vt:lpstr>EYInterstate Light</vt:lpstr>
      <vt:lpstr>Blank</vt:lpstr>
      <vt:lpstr>Slide 1</vt:lpstr>
    </vt:vector>
  </TitlesOfParts>
  <Company>Ernst &amp; Young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Laura Murphy</dc:creator>
  <cp:lastModifiedBy>Wale Agbaje</cp:lastModifiedBy>
  <cp:revision>13</cp:revision>
  <dcterms:created xsi:type="dcterms:W3CDTF">2012-02-23T20:21:49Z</dcterms:created>
  <dcterms:modified xsi:type="dcterms:W3CDTF">2012-02-24T08:34:36Z</dcterms:modified>
</cp:coreProperties>
</file>