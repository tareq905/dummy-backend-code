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-147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Desktop\work%20MC%20Program%20RAID%20Log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Desktop\work%20MC%20Program%20RAID%20Log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Desktop\work%20MC%20Program%20RAID%20Log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Desktop\work%20MC%20Program%20RAID%20Log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Desktop\work%20MC%20Program%20RAID%20Log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Desktop\work%20MC%20Program%20RAID%20Log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Desktop\work%20MC%20Program%20RAID%20Log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plotArea>
      <c:layout/>
      <c:barChart>
        <c:barDir val="col"/>
        <c:grouping val="clustered"/>
        <c:ser>
          <c:idx val="0"/>
          <c:order val="0"/>
          <c:tx>
            <c:strRef>
              <c:f>Snapshot!$A$2</c:f>
              <c:strCache>
                <c:ptCount val="1"/>
                <c:pt idx="0">
                  <c:v>App &amp; Data Migration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Snapshot!$B$2:$M$2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</c:v>
                </c:pt>
                <c:pt idx="8">
                  <c:v>2</c:v>
                </c:pt>
                <c:pt idx="9">
                  <c:v>0</c:v>
                </c:pt>
                <c:pt idx="10">
                  <c:v>3</c:v>
                </c:pt>
                <c:pt idx="11">
                  <c:v>1</c:v>
                </c:pt>
              </c:numCache>
            </c:numRef>
          </c:val>
        </c:ser>
        <c:ser>
          <c:idx val="2"/>
          <c:order val="1"/>
          <c:tx>
            <c:strRef>
              <c:f>Snapshot!$A$3</c:f>
              <c:strCache>
                <c:ptCount val="1"/>
                <c:pt idx="0">
                  <c:v>Change Management</c:v>
                </c:pt>
              </c:strCache>
            </c:strRef>
          </c:tx>
          <c:spPr>
            <a:solidFill>
              <a:srgbClr val="FF990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Snapshot!$B$3:$M$3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4"/>
          <c:order val="2"/>
          <c:tx>
            <c:strRef>
              <c:f>Snapshot!$A$4</c:f>
              <c:strCache>
                <c:ptCount val="1"/>
                <c:pt idx="0">
                  <c:v>M&amp;C Program</c:v>
                </c:pt>
              </c:strCache>
            </c:strRef>
          </c:tx>
          <c:spPr>
            <a:solidFill>
              <a:srgbClr val="6699FF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Snapshot!$B$4:$M$4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3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1</c:v>
                </c:pt>
              </c:numCache>
            </c:numRef>
          </c:val>
        </c:ser>
        <c:ser>
          <c:idx val="6"/>
          <c:order val="3"/>
          <c:tx>
            <c:strRef>
              <c:f>Snapshot!$A$5</c:f>
              <c:strCache>
                <c:ptCount val="1"/>
                <c:pt idx="0">
                  <c:v>SharePoint</c:v>
                </c:pt>
              </c:strCache>
            </c:strRef>
          </c:tx>
          <c:spPr>
            <a:solidFill>
              <a:srgbClr val="92D05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Snapshot!$B$5:$M$5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6</c:v>
                </c:pt>
                <c:pt idx="9">
                  <c:v>10</c:v>
                </c:pt>
                <c:pt idx="10">
                  <c:v>0</c:v>
                </c:pt>
                <c:pt idx="11">
                  <c:v>11</c:v>
                </c:pt>
              </c:numCache>
            </c:numRef>
          </c:val>
        </c:ser>
        <c:ser>
          <c:idx val="8"/>
          <c:order val="4"/>
          <c:tx>
            <c:strRef>
              <c:f>Snapshot!$A$6</c:f>
              <c:strCache>
                <c:ptCount val="1"/>
                <c:pt idx="0">
                  <c:v>Technology Foundation</c:v>
                </c:pt>
              </c:strCache>
            </c:strRef>
          </c:tx>
          <c:spPr>
            <a:solidFill>
              <a:srgbClr val="333399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Snapshot!$B$6:$M$6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  <c:pt idx="9">
                  <c:v>0</c:v>
                </c:pt>
                <c:pt idx="10">
                  <c:v>15</c:v>
                </c:pt>
                <c:pt idx="11">
                  <c:v>23</c:v>
                </c:pt>
              </c:numCache>
            </c:numRef>
          </c:val>
        </c:ser>
        <c:ser>
          <c:idx val="10"/>
          <c:order val="5"/>
          <c:tx>
            <c:strRef>
              <c:f>Snapshot!$A$7</c:f>
              <c:strCache>
                <c:ptCount val="1"/>
                <c:pt idx="0">
                  <c:v>Unified Communications</c:v>
                </c:pt>
              </c:strCache>
            </c:strRef>
          </c:tx>
          <c:spPr>
            <a:solidFill>
              <a:srgbClr val="80008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Snapshot!$B$7:$M$7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  <c:pt idx="11">
                  <c:v>5</c:v>
                </c:pt>
              </c:numCache>
            </c:numRef>
          </c:val>
        </c:ser>
        <c:axId val="107263872"/>
        <c:axId val="107265408"/>
      </c:barChart>
      <c:catAx>
        <c:axId val="107263872"/>
        <c:scaling>
          <c:orientation val="minMax"/>
        </c:scaling>
        <c:axPos val="b"/>
        <c:tickLblPos val="nextTo"/>
        <c:crossAx val="107265408"/>
        <c:crosses val="autoZero"/>
        <c:auto val="1"/>
        <c:lblAlgn val="ctr"/>
        <c:lblOffset val="100"/>
      </c:catAx>
      <c:valAx>
        <c:axId val="107265408"/>
        <c:scaling>
          <c:orientation val="minMax"/>
        </c:scaling>
        <c:axPos val="l"/>
        <c:majorGridlines/>
        <c:numFmt formatCode="General" sourceLinked="1"/>
        <c:tickLblPos val="nextTo"/>
        <c:crossAx val="107263872"/>
        <c:crosses val="autoZero"/>
        <c:crossBetween val="between"/>
      </c:valAx>
    </c:plotArea>
    <c:legend>
      <c:legendPos val="r"/>
      <c:layout/>
    </c:legend>
    <c:plotVisOnly val="1"/>
    <c:dispBlanksAs val="gap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App and Data Migration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Summary'!$A$2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Summary'!$B$2:$S$2</c:f>
              <c:numCache>
                <c:formatCode>General</c:formatCode>
                <c:ptCount val="18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</c:ser>
        <c:ser>
          <c:idx val="1"/>
          <c:order val="1"/>
          <c:tx>
            <c:strRef>
              <c:f>'Project Summary'!$A$3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Summary'!$B$3:$S$3</c:f>
              <c:numCache>
                <c:formatCode>General</c:formatCode>
                <c:ptCount val="1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2"/>
          <c:order val="2"/>
          <c:tx>
            <c:strRef>
              <c:f>'Project Summary'!$A$4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Summary'!$B$4:$S$4</c:f>
              <c:numCache>
                <c:formatCode>General</c:formatCode>
                <c:ptCount val="18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7</c:v>
                </c:pt>
                <c:pt idx="7">
                  <c:v>7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Summary'!$A$5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Summary'!$B$5:$S$5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4"/>
          <c:order val="4"/>
          <c:tx>
            <c:strRef>
              <c:f>'Project Summary'!$A$6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Summary'!$B$6:$S$6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5"/>
          <c:order val="5"/>
          <c:tx>
            <c:strRef>
              <c:f>'Project Summary'!$A$7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Summary'!$B$7:$S$7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6"/>
          <c:order val="6"/>
          <c:tx>
            <c:strRef>
              <c:f>'Project Summary'!$A$8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Summary'!$B$8:$S$8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7"/>
          <c:order val="7"/>
          <c:tx>
            <c:strRef>
              <c:f>'Project Summary'!$A$9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Summary'!$B$9:$S$9</c:f>
              <c:numCache>
                <c:formatCode>General</c:formatCode>
                <c:ptCount val="18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</c:numCache>
            </c:numRef>
          </c:val>
        </c:ser>
        <c:ser>
          <c:idx val="8"/>
          <c:order val="8"/>
          <c:tx>
            <c:strRef>
              <c:f>'Project Summary'!$A$10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Summary'!$B$10:$S$10</c:f>
              <c:numCache>
                <c:formatCode>General</c:formatCode>
                <c:ptCount val="18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</c:numCache>
            </c:numRef>
          </c:val>
        </c:ser>
        <c:ser>
          <c:idx val="9"/>
          <c:order val="9"/>
          <c:tx>
            <c:strRef>
              <c:f>'Project Summary'!$A$11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Summary'!$B$11:$S$11</c:f>
              <c:numCache>
                <c:formatCode>General</c:formatCode>
                <c:ptCount val="18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0"/>
          <c:order val="10"/>
          <c:tx>
            <c:strRef>
              <c:f>'Project Summary'!$A$12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Summary'!$B$12:$S$12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Summary'!$A$13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Summary'!$B$13:$S$13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2"/>
          <c:order val="12"/>
          <c:tx>
            <c:strRef>
              <c:f>'Project Summary'!$A$14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Summary'!$B$14:$S$14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3"/>
          <c:order val="13"/>
          <c:tx>
            <c:strRef>
              <c:f>'Project Summary'!$A$15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Summary'!$B$15:$S$15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Summary'!$A$16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Summary'!$B$16:$S$16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</c:ser>
        <c:ser>
          <c:idx val="15"/>
          <c:order val="15"/>
          <c:tx>
            <c:strRef>
              <c:f>'Project Summary'!$A$17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Summary'!$B$17:$S$17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</c:numCache>
            </c:numRef>
          </c:val>
        </c:ser>
        <c:marker val="1"/>
        <c:axId val="90779648"/>
        <c:axId val="90781568"/>
      </c:lineChart>
      <c:dateAx>
        <c:axId val="90779648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90781568"/>
        <c:crosses val="autoZero"/>
        <c:auto val="1"/>
        <c:lblOffset val="100"/>
        <c:baseTimeUnit val="days"/>
        <c:majorUnit val="3"/>
        <c:majorTimeUnit val="days"/>
      </c:dateAx>
      <c:valAx>
        <c:axId val="90781568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9077964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1098218829516513"/>
          <c:y val="0.11722769028871396"/>
          <c:w val="0.27883969465648856"/>
          <c:h val="0.83390128317293677"/>
        </c:manualLayout>
      </c:layout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Change Management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Summary'!$A$21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Summary'!$B$21:$S$21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"/>
          <c:order val="1"/>
          <c:tx>
            <c:strRef>
              <c:f>'Project Summary'!$A$22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Summary'!$B$22:$S$22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2"/>
          <c:order val="2"/>
          <c:tx>
            <c:strRef>
              <c:f>'Project Summary'!$A$23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Summary'!$B$23:$S$23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Summary'!$A$24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Summary'!$B$24:$S$24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7"/>
          <c:order val="4"/>
          <c:tx>
            <c:strRef>
              <c:f>'Project Summary'!$A$25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Summary'!$B$25:$S$25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8"/>
          <c:order val="5"/>
          <c:tx>
            <c:strRef>
              <c:f>'Project Summary'!$A$26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Summary'!$B$26:$S$26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9"/>
          <c:order val="6"/>
          <c:tx>
            <c:strRef>
              <c:f>'Project Summary'!$A$27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Summary'!$B$27:$S$27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0"/>
          <c:order val="7"/>
          <c:tx>
            <c:strRef>
              <c:f>'Project Summary'!$A$28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Summary'!$B$28:$S$28</c:f>
              <c:numCache>
                <c:formatCode>General</c:formatCode>
                <c:ptCount val="18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4"/>
          <c:order val="8"/>
          <c:tx>
            <c:strRef>
              <c:f>'Project Summary'!$A$29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Summary'!$B$29:$S$29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5"/>
          <c:order val="9"/>
          <c:tx>
            <c:strRef>
              <c:f>'Project Summary'!$A$30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Summary'!$B$30:$S$30</c:f>
              <c:numCache>
                <c:formatCode>General</c:formatCode>
                <c:ptCount val="18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6"/>
          <c:order val="10"/>
          <c:tx>
            <c:strRef>
              <c:f>'Project Summary'!$A$31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Summary'!$B$31:$S$31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Summary'!$A$32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Summary'!$B$32:$S$32</c:f>
              <c:numCache>
                <c:formatCode>General</c:formatCode>
                <c:ptCount val="18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2"/>
          <c:order val="12"/>
          <c:tx>
            <c:strRef>
              <c:f>'Project Summary'!$A$33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Summary'!$B$33:$S$33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3"/>
          <c:order val="13"/>
          <c:tx>
            <c:strRef>
              <c:f>'Project Summary'!$A$34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Summary'!$B$34:$S$34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Summary'!$A$35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Summary'!$B$35:$S$35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5"/>
          <c:order val="15"/>
          <c:tx>
            <c:strRef>
              <c:f>'Project Summary'!$A$36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Summary'!$B$36:$S$36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marker val="1"/>
        <c:axId val="119425280"/>
        <c:axId val="119451648"/>
      </c:lineChart>
      <c:dateAx>
        <c:axId val="119425280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19451648"/>
        <c:crosses val="autoZero"/>
        <c:auto val="1"/>
        <c:lblOffset val="100"/>
        <c:baseTimeUnit val="days"/>
        <c:majorUnit val="3"/>
        <c:majorTimeUnit val="days"/>
      </c:dateAx>
      <c:valAx>
        <c:axId val="119451648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19425280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SharePoint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Summary'!$A$59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Summary'!$B$59:$S$59</c:f>
              <c:numCache>
                <c:formatCode>General</c:formatCode>
                <c:ptCount val="18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13</c:v>
                </c:pt>
                <c:pt idx="8">
                  <c:v>13</c:v>
                </c:pt>
                <c:pt idx="9">
                  <c:v>12</c:v>
                </c:pt>
                <c:pt idx="10">
                  <c:v>7</c:v>
                </c:pt>
                <c:pt idx="11">
                  <c:v>5</c:v>
                </c:pt>
                <c:pt idx="12">
                  <c:v>4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6</c:v>
                </c:pt>
                <c:pt idx="17">
                  <c:v>6</c:v>
                </c:pt>
              </c:numCache>
            </c:numRef>
          </c:val>
        </c:ser>
        <c:ser>
          <c:idx val="1"/>
          <c:order val="1"/>
          <c:tx>
            <c:strRef>
              <c:f>'Project Summary'!$A$60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Summary'!$B$60:$S$60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2"/>
          <c:order val="2"/>
          <c:tx>
            <c:strRef>
              <c:f>'Project Summary'!$A$61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Summary'!$B$61:$S$61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Summary'!$A$62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Summary'!$B$62:$S$62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</c:ser>
        <c:ser>
          <c:idx val="7"/>
          <c:order val="4"/>
          <c:tx>
            <c:strRef>
              <c:f>'Project Summary'!$A$63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Summary'!$B$63:$S$63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8"/>
          <c:order val="5"/>
          <c:tx>
            <c:strRef>
              <c:f>'Project Summary'!$A$64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Summary'!$B$64:$S$64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9"/>
          <c:order val="6"/>
          <c:tx>
            <c:strRef>
              <c:f>'Project Summary'!$A$65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Summary'!$B$65:$S$65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Summary'!$A$66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Summary'!$B$66:$S$66</c:f>
              <c:numCache>
                <c:formatCode>General</c:formatCode>
                <c:ptCount val="18"/>
                <c:pt idx="0">
                  <c:v>12</c:v>
                </c:pt>
                <c:pt idx="1">
                  <c:v>13</c:v>
                </c:pt>
                <c:pt idx="2">
                  <c:v>13</c:v>
                </c:pt>
                <c:pt idx="3">
                  <c:v>18</c:v>
                </c:pt>
                <c:pt idx="4">
                  <c:v>18</c:v>
                </c:pt>
                <c:pt idx="5">
                  <c:v>18</c:v>
                </c:pt>
                <c:pt idx="6">
                  <c:v>18</c:v>
                </c:pt>
                <c:pt idx="7">
                  <c:v>26</c:v>
                </c:pt>
                <c:pt idx="8">
                  <c:v>26</c:v>
                </c:pt>
                <c:pt idx="9">
                  <c:v>27</c:v>
                </c:pt>
                <c:pt idx="10">
                  <c:v>14</c:v>
                </c:pt>
                <c:pt idx="11">
                  <c:v>15</c:v>
                </c:pt>
                <c:pt idx="12">
                  <c:v>13</c:v>
                </c:pt>
                <c:pt idx="13">
                  <c:v>11</c:v>
                </c:pt>
                <c:pt idx="14">
                  <c:v>9</c:v>
                </c:pt>
                <c:pt idx="15">
                  <c:v>8</c:v>
                </c:pt>
                <c:pt idx="16">
                  <c:v>6</c:v>
                </c:pt>
                <c:pt idx="17">
                  <c:v>6</c:v>
                </c:pt>
              </c:numCache>
            </c:numRef>
          </c:val>
        </c:ser>
        <c:ser>
          <c:idx val="4"/>
          <c:order val="8"/>
          <c:tx>
            <c:strRef>
              <c:f>'Project Summary'!$A$67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Summary'!$B$67:$S$67</c:f>
              <c:numCache>
                <c:formatCode>General</c:formatCode>
                <c:ptCount val="18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11</c:v>
                </c:pt>
                <c:pt idx="4">
                  <c:v>11</c:v>
                </c:pt>
                <c:pt idx="5">
                  <c:v>12</c:v>
                </c:pt>
                <c:pt idx="6">
                  <c:v>12</c:v>
                </c:pt>
                <c:pt idx="7">
                  <c:v>18</c:v>
                </c:pt>
                <c:pt idx="8">
                  <c:v>18</c:v>
                </c:pt>
                <c:pt idx="9">
                  <c:v>20</c:v>
                </c:pt>
                <c:pt idx="10">
                  <c:v>9</c:v>
                </c:pt>
                <c:pt idx="11">
                  <c:v>11</c:v>
                </c:pt>
                <c:pt idx="12">
                  <c:v>11</c:v>
                </c:pt>
                <c:pt idx="13">
                  <c:v>9</c:v>
                </c:pt>
                <c:pt idx="14">
                  <c:v>7</c:v>
                </c:pt>
                <c:pt idx="15">
                  <c:v>6</c:v>
                </c:pt>
                <c:pt idx="16">
                  <c:v>4</c:v>
                </c:pt>
                <c:pt idx="17">
                  <c:v>4</c:v>
                </c:pt>
              </c:numCache>
            </c:numRef>
          </c:val>
        </c:ser>
        <c:ser>
          <c:idx val="5"/>
          <c:order val="9"/>
          <c:tx>
            <c:strRef>
              <c:f>'Project Summary'!$A$68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Summary'!$B$68:$S$68</c:f>
              <c:numCache>
                <c:formatCode>General</c:formatCode>
                <c:ptCount val="18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  <c:pt idx="5">
                  <c:v>7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9</c:v>
                </c:pt>
                <c:pt idx="10">
                  <c:v>6</c:v>
                </c:pt>
                <c:pt idx="11">
                  <c:v>3</c:v>
                </c:pt>
                <c:pt idx="12">
                  <c:v>2</c:v>
                </c:pt>
                <c:pt idx="13">
                  <c:v>1</c:v>
                </c:pt>
                <c:pt idx="14">
                  <c:v>3</c:v>
                </c:pt>
                <c:pt idx="15">
                  <c:v>3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6"/>
          <c:order val="10"/>
          <c:tx>
            <c:strRef>
              <c:f>'Project Summary'!$A$69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Summary'!$B$69:$S$69</c:f>
              <c:numCache>
                <c:formatCode>General</c:formatCode>
                <c:ptCount val="18"/>
                <c:pt idx="0">
                  <c:v>6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4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Summary'!$A$70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Summary'!$B$70:$S$70</c:f>
              <c:numCache>
                <c:formatCode>General</c:formatCode>
                <c:ptCount val="18"/>
                <c:pt idx="0">
                  <c:v>8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10</c:v>
                </c:pt>
                <c:pt idx="6">
                  <c:v>10</c:v>
                </c:pt>
                <c:pt idx="7">
                  <c:v>7</c:v>
                </c:pt>
                <c:pt idx="8">
                  <c:v>7</c:v>
                </c:pt>
                <c:pt idx="9">
                  <c:v>6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2"/>
          <c:order val="12"/>
          <c:tx>
            <c:strRef>
              <c:f>'Project Summary'!$A$71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Summary'!$B$71:$S$71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1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2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3"/>
          <c:order val="13"/>
          <c:tx>
            <c:strRef>
              <c:f>'Project Summary'!$A$72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Summary'!$B$72:$S$72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Summary'!$A$73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Summary'!$B$73:$S$73</c:f>
              <c:numCache>
                <c:formatCode>General</c:formatCode>
                <c:ptCount val="18"/>
                <c:pt idx="0">
                  <c:v>37</c:v>
                </c:pt>
                <c:pt idx="1">
                  <c:v>37</c:v>
                </c:pt>
                <c:pt idx="2">
                  <c:v>37</c:v>
                </c:pt>
                <c:pt idx="3">
                  <c:v>37</c:v>
                </c:pt>
                <c:pt idx="4">
                  <c:v>37</c:v>
                </c:pt>
                <c:pt idx="5">
                  <c:v>37</c:v>
                </c:pt>
                <c:pt idx="6">
                  <c:v>37</c:v>
                </c:pt>
                <c:pt idx="7">
                  <c:v>37</c:v>
                </c:pt>
                <c:pt idx="8">
                  <c:v>37</c:v>
                </c:pt>
                <c:pt idx="9">
                  <c:v>36</c:v>
                </c:pt>
                <c:pt idx="10">
                  <c:v>36</c:v>
                </c:pt>
                <c:pt idx="11">
                  <c:v>36</c:v>
                </c:pt>
                <c:pt idx="12">
                  <c:v>36</c:v>
                </c:pt>
                <c:pt idx="13">
                  <c:v>36</c:v>
                </c:pt>
                <c:pt idx="14">
                  <c:v>37</c:v>
                </c:pt>
                <c:pt idx="15">
                  <c:v>37</c:v>
                </c:pt>
                <c:pt idx="16">
                  <c:v>37</c:v>
                </c:pt>
                <c:pt idx="17">
                  <c:v>6</c:v>
                </c:pt>
              </c:numCache>
            </c:numRef>
          </c:val>
        </c:ser>
        <c:ser>
          <c:idx val="15"/>
          <c:order val="15"/>
          <c:tx>
            <c:strRef>
              <c:f>'Project Summary'!$A$74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Summary'!$B$74:$S$74</c:f>
              <c:numCache>
                <c:formatCode>General</c:formatCode>
                <c:ptCount val="18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marker val="1"/>
        <c:axId val="108351872"/>
        <c:axId val="108353408"/>
      </c:lineChart>
      <c:dateAx>
        <c:axId val="108351872"/>
        <c:scaling>
          <c:orientation val="minMax"/>
        </c:scaling>
        <c:axPos val="b"/>
        <c:numFmt formatCode="[$-409]d\-mmm;@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08353408"/>
        <c:crosses val="autoZero"/>
        <c:auto val="1"/>
        <c:lblOffset val="100"/>
        <c:baseTimeUnit val="days"/>
        <c:majorUnit val="3"/>
        <c:majorTimeUnit val="days"/>
      </c:dateAx>
      <c:valAx>
        <c:axId val="108353408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08351872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Technology Foundation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Summary'!$A$78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Summary'!$B$78:$S$78</c:f>
              <c:numCache>
                <c:formatCode>General</c:formatCode>
                <c:ptCount val="18"/>
                <c:pt idx="0">
                  <c:v>10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  <c:pt idx="5">
                  <c:v>9</c:v>
                </c:pt>
                <c:pt idx="6">
                  <c:v>8</c:v>
                </c:pt>
                <c:pt idx="7">
                  <c:v>5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7</c:v>
                </c:pt>
                <c:pt idx="17">
                  <c:v>7</c:v>
                </c:pt>
              </c:numCache>
            </c:numRef>
          </c:val>
        </c:ser>
        <c:ser>
          <c:idx val="1"/>
          <c:order val="1"/>
          <c:tx>
            <c:strRef>
              <c:f>'Project Summary'!$A$79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Summary'!$B$79:$S$79</c:f>
              <c:numCache>
                <c:formatCode>General</c:formatCode>
                <c:ptCount val="18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4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2"/>
          <c:order val="2"/>
          <c:tx>
            <c:strRef>
              <c:f>'Project Summary'!$A$80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Summary'!$B$80:$S$80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4</c:v>
                </c:pt>
                <c:pt idx="6">
                  <c:v>3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  <c:pt idx="14">
                  <c:v>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Summary'!$A$81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Summary'!$B$81:$S$81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4</c:v>
                </c:pt>
                <c:pt idx="17">
                  <c:v>4</c:v>
                </c:pt>
              </c:numCache>
            </c:numRef>
          </c:val>
        </c:ser>
        <c:ser>
          <c:idx val="7"/>
          <c:order val="4"/>
          <c:tx>
            <c:strRef>
              <c:f>'Project Summary'!$A$82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Summary'!$B$82:$S$82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5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</c:numCache>
            </c:numRef>
          </c:val>
        </c:ser>
        <c:ser>
          <c:idx val="8"/>
          <c:order val="5"/>
          <c:tx>
            <c:strRef>
              <c:f>'Project Summary'!$A$83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Summary'!$B$83:$S$83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9"/>
          <c:order val="6"/>
          <c:tx>
            <c:strRef>
              <c:f>'Project Summary'!$A$84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Summary'!$B$84:$S$84</c:f>
              <c:numCache>
                <c:formatCode>General</c:formatCode>
                <c:ptCount val="18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Summary'!$A$85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Summary'!$B$85:$S$85</c:f>
              <c:numCache>
                <c:formatCode>General</c:formatCode>
                <c:ptCount val="18"/>
                <c:pt idx="0">
                  <c:v>20</c:v>
                </c:pt>
                <c:pt idx="1">
                  <c:v>13</c:v>
                </c:pt>
                <c:pt idx="2">
                  <c:v>13</c:v>
                </c:pt>
                <c:pt idx="3">
                  <c:v>13</c:v>
                </c:pt>
                <c:pt idx="4">
                  <c:v>15</c:v>
                </c:pt>
                <c:pt idx="5">
                  <c:v>15</c:v>
                </c:pt>
                <c:pt idx="6">
                  <c:v>15</c:v>
                </c:pt>
                <c:pt idx="7">
                  <c:v>12</c:v>
                </c:pt>
                <c:pt idx="8">
                  <c:v>11</c:v>
                </c:pt>
                <c:pt idx="9">
                  <c:v>12</c:v>
                </c:pt>
                <c:pt idx="10">
                  <c:v>12</c:v>
                </c:pt>
                <c:pt idx="11">
                  <c:v>12</c:v>
                </c:pt>
                <c:pt idx="12">
                  <c:v>11</c:v>
                </c:pt>
                <c:pt idx="13">
                  <c:v>11</c:v>
                </c:pt>
                <c:pt idx="14">
                  <c:v>11</c:v>
                </c:pt>
                <c:pt idx="15">
                  <c:v>11</c:v>
                </c:pt>
                <c:pt idx="16">
                  <c:v>11</c:v>
                </c:pt>
                <c:pt idx="17">
                  <c:v>11</c:v>
                </c:pt>
              </c:numCache>
            </c:numRef>
          </c:val>
        </c:ser>
        <c:ser>
          <c:idx val="4"/>
          <c:order val="8"/>
          <c:tx>
            <c:strRef>
              <c:f>'Project Summary'!$A$86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Summary'!$B$86:$S$86</c:f>
              <c:numCache>
                <c:formatCode>General</c:formatCode>
                <c:ptCount val="18"/>
                <c:pt idx="0">
                  <c:v>16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10</c:v>
                </c:pt>
                <c:pt idx="9">
                  <c:v>8</c:v>
                </c:pt>
                <c:pt idx="10">
                  <c:v>9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</c:numCache>
            </c:numRef>
          </c:val>
        </c:ser>
        <c:ser>
          <c:idx val="5"/>
          <c:order val="9"/>
          <c:tx>
            <c:strRef>
              <c:f>'Project Summary'!$A$87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Summary'!$B$87:$S$87</c:f>
              <c:numCache>
                <c:formatCode>General</c:formatCode>
                <c:ptCount val="18"/>
                <c:pt idx="0">
                  <c:v>7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3</c:v>
                </c:pt>
              </c:numCache>
            </c:numRef>
          </c:val>
        </c:ser>
        <c:ser>
          <c:idx val="6"/>
          <c:order val="10"/>
          <c:tx>
            <c:strRef>
              <c:f>'Project Summary'!$A$88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Summary'!$B$88:$S$88</c:f>
              <c:numCache>
                <c:formatCode>General</c:formatCode>
                <c:ptCount val="18"/>
                <c:pt idx="0">
                  <c:v>12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Summary'!$A$89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Summary'!$B$89:$S$89</c:f>
              <c:numCache>
                <c:formatCode>General</c:formatCode>
                <c:ptCount val="18"/>
                <c:pt idx="0">
                  <c:v>9</c:v>
                </c:pt>
                <c:pt idx="1">
                  <c:v>7</c:v>
                </c:pt>
                <c:pt idx="2">
                  <c:v>7</c:v>
                </c:pt>
                <c:pt idx="3">
                  <c:v>8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</c:numCache>
            </c:numRef>
          </c:val>
        </c:ser>
        <c:ser>
          <c:idx val="12"/>
          <c:order val="12"/>
          <c:tx>
            <c:strRef>
              <c:f>'Project Summary'!$A$90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Summary'!$B$90:$S$90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</c:numCache>
            </c:numRef>
          </c:val>
        </c:ser>
        <c:ser>
          <c:idx val="13"/>
          <c:order val="13"/>
          <c:tx>
            <c:strRef>
              <c:f>'Project Summary'!$A$91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Summary'!$B$91:$S$91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4"/>
          <c:order val="14"/>
          <c:tx>
            <c:strRef>
              <c:f>'Project Summary'!$A$92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Summary'!$B$92:$S$92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</c:ser>
        <c:ser>
          <c:idx val="15"/>
          <c:order val="15"/>
          <c:tx>
            <c:strRef>
              <c:f>'Project Summary'!$A$93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Summary'!$B$93:$S$93</c:f>
              <c:numCache>
                <c:formatCode>General</c:formatCode>
                <c:ptCount val="18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12</c:v>
                </c:pt>
                <c:pt idx="8">
                  <c:v>22</c:v>
                </c:pt>
                <c:pt idx="9">
                  <c:v>17</c:v>
                </c:pt>
                <c:pt idx="10">
                  <c:v>15</c:v>
                </c:pt>
                <c:pt idx="11">
                  <c:v>16</c:v>
                </c:pt>
                <c:pt idx="12">
                  <c:v>16</c:v>
                </c:pt>
                <c:pt idx="13">
                  <c:v>16</c:v>
                </c:pt>
                <c:pt idx="14">
                  <c:v>16</c:v>
                </c:pt>
                <c:pt idx="15">
                  <c:v>15</c:v>
                </c:pt>
                <c:pt idx="16">
                  <c:v>15</c:v>
                </c:pt>
                <c:pt idx="17">
                  <c:v>15</c:v>
                </c:pt>
              </c:numCache>
            </c:numRef>
          </c:val>
        </c:ser>
        <c:marker val="1"/>
        <c:axId val="113724032"/>
        <c:axId val="113734784"/>
      </c:lineChart>
      <c:dateAx>
        <c:axId val="113724032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13734784"/>
        <c:crosses val="autoZero"/>
        <c:auto val="1"/>
        <c:lblOffset val="100"/>
        <c:baseTimeUnit val="days"/>
        <c:majorUnit val="3"/>
        <c:majorTimeUnit val="days"/>
      </c:dateAx>
      <c:valAx>
        <c:axId val="113734784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13724032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Unified Communications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Summary'!$A$97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Summary'!$B$97:$S$97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</c:numCache>
            </c:numRef>
          </c:val>
        </c:ser>
        <c:ser>
          <c:idx val="1"/>
          <c:order val="1"/>
          <c:tx>
            <c:strRef>
              <c:f>'Project Summary'!$A$98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Summary'!$B$98:$S$98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4</c:v>
                </c:pt>
                <c:pt idx="13">
                  <c:v>4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</c:numCache>
            </c:numRef>
          </c:val>
        </c:ser>
        <c:ser>
          <c:idx val="2"/>
          <c:order val="2"/>
          <c:tx>
            <c:strRef>
              <c:f>'Project Summary'!$A$99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Summary'!$B$99:$S$99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Summary'!$A$100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Summary'!$B$100:$S$100</c:f>
              <c:numCache>
                <c:formatCode>General</c:formatCode>
                <c:ptCount val="18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6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7"/>
          <c:order val="4"/>
          <c:tx>
            <c:strRef>
              <c:f>'Project Summary'!$A$101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Summary'!$B$101:$S$101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3</c:v>
                </c:pt>
              </c:numCache>
            </c:numRef>
          </c:val>
        </c:ser>
        <c:ser>
          <c:idx val="8"/>
          <c:order val="5"/>
          <c:tx>
            <c:strRef>
              <c:f>'Project Summary'!$A$102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Summary'!$B$102:$S$102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9"/>
          <c:order val="6"/>
          <c:tx>
            <c:strRef>
              <c:f>'Project Summary'!$A$103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Summary'!$B$103:$S$103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Summary'!$A$104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Summary'!$B$104:$S$104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4"/>
          <c:order val="8"/>
          <c:tx>
            <c:strRef>
              <c:f>'Project Summary'!$A$105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Summary'!$B$105:$S$105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5"/>
          <c:order val="9"/>
          <c:tx>
            <c:strRef>
              <c:f>'Project Summary'!$A$106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Summary'!$B$106:$S$106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6"/>
          <c:order val="10"/>
          <c:tx>
            <c:strRef>
              <c:f>'Project Summary'!$A$107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Summary'!$B$107:$S$107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Summary'!$A$108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Summary'!$B$108:$S$108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2"/>
          <c:order val="12"/>
          <c:tx>
            <c:strRef>
              <c:f>'Project Summary'!$A$109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Summary'!$B$109:$S$109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3"/>
          <c:order val="13"/>
          <c:tx>
            <c:strRef>
              <c:f>'Project Summary'!$A$110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Summary'!$B$110:$S$110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Summary'!$A$111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Summary'!$B$111:$S$111</c:f>
              <c:numCache>
                <c:formatCode>General</c:formatCode>
                <c:ptCount val="1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5"/>
          <c:order val="15"/>
          <c:tx>
            <c:strRef>
              <c:f>'Project Summary'!$A$112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Summary'!$B$112:$S$112</c:f>
              <c:numCache>
                <c:formatCode>General</c:formatCode>
                <c:ptCount val="1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marker val="1"/>
        <c:axId val="113575040"/>
        <c:axId val="113576576"/>
      </c:lineChart>
      <c:dateAx>
        <c:axId val="113575040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13576576"/>
        <c:crosses val="autoZero"/>
        <c:auto val="1"/>
        <c:lblOffset val="100"/>
        <c:baseTimeUnit val="days"/>
        <c:majorUnit val="3"/>
        <c:majorTimeUnit val="days"/>
      </c:dateAx>
      <c:valAx>
        <c:axId val="113576576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13575040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M&amp;C Program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Summary'!$A$40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Summary'!$B$40:$S$40</c:f>
              <c:numCache>
                <c:formatCode>General</c:formatCode>
                <c:ptCount val="1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9</c:v>
                </c:pt>
                <c:pt idx="6">
                  <c:v>9</c:v>
                </c:pt>
                <c:pt idx="7">
                  <c:v>8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  <c:pt idx="13">
                  <c:v>6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</c:numCache>
            </c:numRef>
          </c:val>
        </c:ser>
        <c:ser>
          <c:idx val="1"/>
          <c:order val="1"/>
          <c:tx>
            <c:strRef>
              <c:f>'Project Summary'!$A$41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Summary'!$B$41:$S$41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4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</c:numCache>
            </c:numRef>
          </c:val>
        </c:ser>
        <c:ser>
          <c:idx val="2"/>
          <c:order val="2"/>
          <c:tx>
            <c:strRef>
              <c:f>'Project Summary'!$A$42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Summary'!$B$42:$S$42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Summary'!$A$43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Summary'!$B$43:$S$43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7</c:v>
                </c:pt>
                <c:pt idx="6">
                  <c:v>7</c:v>
                </c:pt>
                <c:pt idx="7">
                  <c:v>6</c:v>
                </c:pt>
                <c:pt idx="8">
                  <c:v>3</c:v>
                </c:pt>
                <c:pt idx="9">
                  <c:v>1</c:v>
                </c:pt>
                <c:pt idx="10">
                  <c:v>1</c:v>
                </c:pt>
                <c:pt idx="11">
                  <c:v>2</c:v>
                </c:pt>
                <c:pt idx="12">
                  <c:v>1</c:v>
                </c:pt>
                <c:pt idx="13">
                  <c:v>0</c:v>
                </c:pt>
                <c:pt idx="14">
                  <c:v>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7"/>
          <c:order val="4"/>
          <c:tx>
            <c:strRef>
              <c:f>'Project Summary'!$A$44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Summary'!$B$44:$S$44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2</c:v>
                </c:pt>
                <c:pt idx="17">
                  <c:v>3</c:v>
                </c:pt>
              </c:numCache>
            </c:numRef>
          </c:val>
        </c:ser>
        <c:ser>
          <c:idx val="8"/>
          <c:order val="5"/>
          <c:tx>
            <c:strRef>
              <c:f>'Project Summary'!$A$45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Summary'!$B$45:$S$45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</c:ser>
        <c:ser>
          <c:idx val="9"/>
          <c:order val="6"/>
          <c:tx>
            <c:strRef>
              <c:f>'Project Summary'!$A$46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Summary'!$B$46:$S$46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Summary'!$A$47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Summary'!$B$47:$S$47</c:f>
              <c:numCache>
                <c:formatCode>General</c:formatCode>
                <c:ptCount val="18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14</c:v>
                </c:pt>
                <c:pt idx="11">
                  <c:v>15</c:v>
                </c:pt>
                <c:pt idx="12">
                  <c:v>15</c:v>
                </c:pt>
                <c:pt idx="13">
                  <c:v>15</c:v>
                </c:pt>
                <c:pt idx="14">
                  <c:v>15</c:v>
                </c:pt>
                <c:pt idx="15">
                  <c:v>15</c:v>
                </c:pt>
                <c:pt idx="16">
                  <c:v>14</c:v>
                </c:pt>
                <c:pt idx="17">
                  <c:v>14</c:v>
                </c:pt>
              </c:numCache>
            </c:numRef>
          </c:val>
        </c:ser>
        <c:ser>
          <c:idx val="4"/>
          <c:order val="8"/>
          <c:tx>
            <c:strRef>
              <c:f>'Project Summary'!$A$48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Summary'!$B$48:$S$48</c:f>
              <c:numCache>
                <c:formatCode>General</c:formatCode>
                <c:ptCount val="18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9</c:v>
                </c:pt>
                <c:pt idx="17">
                  <c:v>9</c:v>
                </c:pt>
              </c:numCache>
            </c:numRef>
          </c:val>
        </c:ser>
        <c:ser>
          <c:idx val="5"/>
          <c:order val="9"/>
          <c:tx>
            <c:strRef>
              <c:f>'Project Summary'!$A$49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Summary'!$B$49:$S$49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6"/>
          <c:order val="10"/>
          <c:tx>
            <c:strRef>
              <c:f>'Project Summary'!$A$50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Summary'!$B$50:$S$50</c:f>
              <c:numCache>
                <c:formatCode>General</c:formatCode>
                <c:ptCount val="18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3</c:v>
                </c:pt>
                <c:pt idx="11">
                  <c:v>4</c:v>
                </c:pt>
                <c:pt idx="12">
                  <c:v>2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Summary'!$A$51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Summary'!$B$51:$S$51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5</c:v>
                </c:pt>
                <c:pt idx="8">
                  <c:v>5</c:v>
                </c:pt>
                <c:pt idx="9">
                  <c:v>6</c:v>
                </c:pt>
                <c:pt idx="10">
                  <c:v>6</c:v>
                </c:pt>
                <c:pt idx="11">
                  <c:v>9</c:v>
                </c:pt>
                <c:pt idx="12">
                  <c:v>9</c:v>
                </c:pt>
                <c:pt idx="13">
                  <c:v>9</c:v>
                </c:pt>
                <c:pt idx="14">
                  <c:v>9</c:v>
                </c:pt>
                <c:pt idx="15">
                  <c:v>9</c:v>
                </c:pt>
                <c:pt idx="16">
                  <c:v>9</c:v>
                </c:pt>
                <c:pt idx="17">
                  <c:v>10</c:v>
                </c:pt>
              </c:numCache>
            </c:numRef>
          </c:val>
        </c:ser>
        <c:ser>
          <c:idx val="12"/>
          <c:order val="12"/>
          <c:tx>
            <c:strRef>
              <c:f>'Project Summary'!$A$52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Summary'!$B$52:$S$52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3"/>
          <c:order val="13"/>
          <c:tx>
            <c:strRef>
              <c:f>'Project Summary'!$A$53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Summary'!$B$53:$S$53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Summary'!$A$54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Summary'!$B$54:$S$54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5"/>
          <c:order val="15"/>
          <c:tx>
            <c:strRef>
              <c:f>'Project Summary'!$A$55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Summary'!$B$55:$S$55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</c:ser>
        <c:marker val="1"/>
        <c:axId val="119649408"/>
        <c:axId val="119740672"/>
      </c:lineChart>
      <c:dateAx>
        <c:axId val="119649408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19740672"/>
        <c:crosses val="autoZero"/>
        <c:auto val="1"/>
        <c:lblOffset val="100"/>
        <c:baseTimeUnit val="days"/>
        <c:majorUnit val="3"/>
        <c:majorTimeUnit val="days"/>
      </c:dateAx>
      <c:valAx>
        <c:axId val="119740672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19649408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8A1B-FC3C-4895-968A-6140012407C5}" type="datetimeFigureOut">
              <a:rPr lang="en-GB" smtClean="0"/>
              <a:t>22/03/2012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881A-C04D-4475-9A94-5244359EE5A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8A1B-FC3C-4895-968A-6140012407C5}" type="datetimeFigureOut">
              <a:rPr lang="en-GB" smtClean="0"/>
              <a:t>22/03/2012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881A-C04D-4475-9A94-5244359EE5A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8A1B-FC3C-4895-968A-6140012407C5}" type="datetimeFigureOut">
              <a:rPr lang="en-GB" smtClean="0"/>
              <a:t>22/03/2012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881A-C04D-4475-9A94-5244359EE5A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8A1B-FC3C-4895-968A-6140012407C5}" type="datetimeFigureOut">
              <a:rPr lang="en-GB" smtClean="0"/>
              <a:t>22/03/2012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881A-C04D-4475-9A94-5244359EE5A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8A1B-FC3C-4895-968A-6140012407C5}" type="datetimeFigureOut">
              <a:rPr lang="en-GB" smtClean="0"/>
              <a:t>22/03/2012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881A-C04D-4475-9A94-5244359EE5A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8A1B-FC3C-4895-968A-6140012407C5}" type="datetimeFigureOut">
              <a:rPr lang="en-GB" smtClean="0"/>
              <a:t>22/03/2012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881A-C04D-4475-9A94-5244359EE5A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8A1B-FC3C-4895-968A-6140012407C5}" type="datetimeFigureOut">
              <a:rPr lang="en-GB" smtClean="0"/>
              <a:t>22/03/2012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881A-C04D-4475-9A94-5244359EE5A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8A1B-FC3C-4895-968A-6140012407C5}" type="datetimeFigureOut">
              <a:rPr lang="en-GB" smtClean="0"/>
              <a:t>22/03/2012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881A-C04D-4475-9A94-5244359EE5A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8A1B-FC3C-4895-968A-6140012407C5}" type="datetimeFigureOut">
              <a:rPr lang="en-GB" smtClean="0"/>
              <a:t>22/03/2012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881A-C04D-4475-9A94-5244359EE5A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8A1B-FC3C-4895-968A-6140012407C5}" type="datetimeFigureOut">
              <a:rPr lang="en-GB" smtClean="0"/>
              <a:t>22/03/2012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881A-C04D-4475-9A94-5244359EE5A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48A1B-FC3C-4895-968A-6140012407C5}" type="datetimeFigureOut">
              <a:rPr lang="en-GB" smtClean="0"/>
              <a:t>22/03/2012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881A-C04D-4475-9A94-5244359EE5A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48A1B-FC3C-4895-968A-6140012407C5}" type="datetimeFigureOut">
              <a:rPr lang="en-GB" smtClean="0"/>
              <a:t>22/03/2012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8881A-C04D-4475-9A94-5244359EE5AE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/>
          <p:cNvGraphicFramePr/>
          <p:nvPr/>
        </p:nvGraphicFramePr>
        <p:xfrm>
          <a:off x="109537" y="671512"/>
          <a:ext cx="8924925" cy="5514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itle 4"/>
          <p:cNvSpPr txBox="1">
            <a:spLocks/>
          </p:cNvSpPr>
          <p:nvPr/>
        </p:nvSpPr>
        <p:spPr>
          <a:xfrm>
            <a:off x="455613" y="228600"/>
            <a:ext cx="8234362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M&amp;C RAID: Project Summary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1271940" y="307622"/>
          <a:ext cx="623887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1190449" y="3333045"/>
          <a:ext cx="633412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/>
          <p:nvPr/>
        </p:nvGraphicFramePr>
        <p:xfrm>
          <a:off x="575733" y="203200"/>
          <a:ext cx="7981245" cy="3118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632178" y="3445932"/>
          <a:ext cx="8184444" cy="3237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/>
          <p:nvPr/>
        </p:nvGraphicFramePr>
        <p:xfrm>
          <a:off x="575733" y="0"/>
          <a:ext cx="7845777" cy="3195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530578" y="3239912"/>
          <a:ext cx="8105422" cy="3341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18</Words>
  <Application>Microsoft Office PowerPoint</Application>
  <PresentationFormat>On-screen Show (4:3)</PresentationFormat>
  <Paragraphs>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Company>Ernst &amp; Young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Wale Agbaje</dc:creator>
  <cp:lastModifiedBy>Wale Agbaje</cp:lastModifiedBy>
  <cp:revision>6</cp:revision>
  <dcterms:created xsi:type="dcterms:W3CDTF">2012-03-22T08:34:33Z</dcterms:created>
  <dcterms:modified xsi:type="dcterms:W3CDTF">2012-03-22T09:32:25Z</dcterms:modified>
</cp:coreProperties>
</file>