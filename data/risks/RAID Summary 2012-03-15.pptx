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8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1"/>
  </p:sldMasterIdLst>
  <p:notesMasterIdLst>
    <p:notesMasterId r:id="rId5"/>
  </p:notesMasterIdLst>
  <p:handoutMasterIdLst>
    <p:handoutMasterId r:id="rId6"/>
  </p:handoutMasterIdLst>
  <p:sldIdLst>
    <p:sldId id="286" r:id="rId2"/>
    <p:sldId id="283" r:id="rId3"/>
    <p:sldId id="284" r:id="rId4"/>
  </p:sldIdLst>
  <p:sldSz cx="9144000" cy="6858000" type="screen4x3"/>
  <p:notesSz cx="7086600" cy="9410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1F1"/>
    <a:srgbClr val="FAE600"/>
    <a:srgbClr val="B4B4B4"/>
    <a:srgbClr val="FFD200"/>
    <a:srgbClr val="000000"/>
    <a:srgbClr val="646464"/>
    <a:srgbClr val="80808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73" autoAdjust="0"/>
    <p:restoredTop sz="99857" autoAdjust="0"/>
  </p:normalViewPr>
  <p:slideViewPr>
    <p:cSldViewPr>
      <p:cViewPr varScale="1">
        <p:scale>
          <a:sx n="93" d="100"/>
          <a:sy n="93" d="100"/>
        </p:scale>
        <p:origin x="-147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murphla\My%20Documents\SharePoint%20Drafts\sp.ey.net\msibm\MC%20Program\Program%20Management\RAID\MC%20Program%20RAID%20Log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murphla\My%20Documents\SharePoint%20Drafts\sp.ey.net\msibm\MC%20Program\Program%20Management\RAID\MC%20Program%20RAID%20Log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murphla\My%20Documents\SharePoint%20Drafts\sp.ey.net\msibm\MC%20Program\Program%20Management\RAID\MC%20Program%20RAID%20Log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murphla\My%20Documents\SharePoint%20Drafts\sp.ey.net\msibm\MC%20Program\Program%20Management\RAID\MC%20Program%20RAID%20Log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murphla\My%20Documents\SharePoint%20Drafts\sp.ey.net\msibm\MC%20Program\Program%20Management\RAID\MC%20Program%20RAID%20Log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murphla\My%20Documents\SharePoint%20Drafts\sp.ey.net\msibm\MC%20Program\Program%20Management\RAID\MC%20Program%20RAID%20Log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murphla\My%20Documents\SharePoint%20Drafts\sp.ey.net\msibm\MC%20Program\Program%20Management\RAID\MC%20Program%20RAID%20Log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cuments%20and%20Settings\murphla\My%20Documents\SharePoint%20Drafts\sp.ey.net\msibm\MC%20Program\Program%20Management\RAID\MC%20Program%20RAID%20Log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plotArea>
      <c:layout/>
      <c:barChart>
        <c:barDir val="col"/>
        <c:grouping val="clustered"/>
        <c:ser>
          <c:idx val="0"/>
          <c:order val="0"/>
          <c:tx>
            <c:strRef>
              <c:f>Snapshot!$A$2</c:f>
              <c:strCache>
                <c:ptCount val="1"/>
                <c:pt idx="0">
                  <c:v>App &amp; Data Migration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Snapshot!$B$2:$M$2</c:f>
              <c:numCache>
                <c:formatCode>General</c:formatCode>
                <c:ptCount val="12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  <c:pt idx="9">
                  <c:v>0</c:v>
                </c:pt>
                <c:pt idx="10">
                  <c:v>3</c:v>
                </c:pt>
                <c:pt idx="11">
                  <c:v>1</c:v>
                </c:pt>
              </c:numCache>
            </c:numRef>
          </c:val>
        </c:ser>
        <c:ser>
          <c:idx val="2"/>
          <c:order val="1"/>
          <c:tx>
            <c:strRef>
              <c:f>Snapshot!$A$3</c:f>
              <c:strCache>
                <c:ptCount val="1"/>
                <c:pt idx="0">
                  <c:v>Change Management</c:v>
                </c:pt>
              </c:strCache>
            </c:strRef>
          </c:tx>
          <c:spPr>
            <a:solidFill>
              <a:srgbClr val="FF990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2"/>
          <c:tx>
            <c:strRef>
              <c:f>Snapshot!$A$4</c:f>
              <c:strCache>
                <c:ptCount val="1"/>
                <c:pt idx="0">
                  <c:v>M&amp;C Program</c:v>
                </c:pt>
              </c:strCache>
            </c:strRef>
          </c:tx>
          <c:spPr>
            <a:solidFill>
              <a:srgbClr val="6699FF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Snapshot!$B$4:$M$4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3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1</c:v>
                </c:pt>
              </c:numCache>
            </c:numRef>
          </c:val>
        </c:ser>
        <c:ser>
          <c:idx val="6"/>
          <c:order val="3"/>
          <c:tx>
            <c:strRef>
              <c:f>Snapshot!$A$5</c:f>
              <c:strCache>
                <c:ptCount val="1"/>
                <c:pt idx="0">
                  <c:v>SharePoint</c:v>
                </c:pt>
              </c:strCache>
            </c:strRef>
          </c:tx>
          <c:spPr>
            <a:solidFill>
              <a:srgbClr val="92D05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Snapshot!$B$5:$M$5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0</c:v>
                </c:pt>
                <c:pt idx="7">
                  <c:v>3</c:v>
                </c:pt>
                <c:pt idx="8">
                  <c:v>37</c:v>
                </c:pt>
                <c:pt idx="9">
                  <c:v>10</c:v>
                </c:pt>
                <c:pt idx="10">
                  <c:v>1</c:v>
                </c:pt>
                <c:pt idx="11">
                  <c:v>3</c:v>
                </c:pt>
              </c:numCache>
            </c:numRef>
          </c:val>
        </c:ser>
        <c:ser>
          <c:idx val="8"/>
          <c:order val="4"/>
          <c:tx>
            <c:strRef>
              <c:f>Snapshot!$A$6</c:f>
              <c:strCache>
                <c:ptCount val="1"/>
                <c:pt idx="0">
                  <c:v>Technology Foundation</c:v>
                </c:pt>
              </c:strCache>
            </c:strRef>
          </c:tx>
          <c:spPr>
            <a:solidFill>
              <a:srgbClr val="333399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Snapshot!$B$6:$M$6</c:f>
              <c:numCache>
                <c:formatCode>General</c:formatCode>
                <c:ptCount val="12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1</c:v>
                </c:pt>
                <c:pt idx="5">
                  <c:v>3</c:v>
                </c:pt>
                <c:pt idx="6">
                  <c:v>0</c:v>
                </c:pt>
                <c:pt idx="7">
                  <c:v>1</c:v>
                </c:pt>
                <c:pt idx="8">
                  <c:v>2</c:v>
                </c:pt>
                <c:pt idx="9">
                  <c:v>0</c:v>
                </c:pt>
                <c:pt idx="10">
                  <c:v>16</c:v>
                </c:pt>
                <c:pt idx="11">
                  <c:v>23</c:v>
                </c:pt>
              </c:numCache>
            </c:numRef>
          </c:val>
        </c:ser>
        <c:ser>
          <c:idx val="10"/>
          <c:order val="5"/>
          <c:tx>
            <c:strRef>
              <c:f>Snapshot!$A$7</c:f>
              <c:strCache>
                <c:ptCount val="1"/>
                <c:pt idx="0">
                  <c:v>Unified Communications</c:v>
                </c:pt>
              </c:strCache>
            </c:strRef>
          </c:tx>
          <c:spPr>
            <a:solidFill>
              <a:srgbClr val="800080"/>
            </a:solidFill>
          </c:spPr>
          <c:cat>
            <c:strRef>
              <c:f>Snapshot!$B$1:$M$1</c:f>
              <c:strCache>
                <c:ptCount val="12"/>
                <c:pt idx="0">
                  <c:v>Risks: Past Required Resolution Date</c:v>
                </c:pt>
                <c:pt idx="1">
                  <c:v>Risks due in the next week</c:v>
                </c:pt>
                <c:pt idx="2">
                  <c:v>Risks with no required resolution date specified</c:v>
                </c:pt>
                <c:pt idx="3">
                  <c:v>Risks missing other information</c:v>
                </c:pt>
                <c:pt idx="4">
                  <c:v>Issues: Past Required Resolution Date</c:v>
                </c:pt>
                <c:pt idx="5">
                  <c:v>Issues due in the next week</c:v>
                </c:pt>
                <c:pt idx="6">
                  <c:v>Issues with no required resolution date specified</c:v>
                </c:pt>
                <c:pt idx="7">
                  <c:v>Issues missing other information</c:v>
                </c:pt>
                <c:pt idx="8">
                  <c:v>Assumptions not yet validated</c:v>
                </c:pt>
                <c:pt idx="9">
                  <c:v>Assumptions to be revalidated in light of BPOS decision</c:v>
                </c:pt>
                <c:pt idx="10">
                  <c:v>Pending Decisions</c:v>
                </c:pt>
                <c:pt idx="11">
                  <c:v>Decisions to be revalidated in light of BPOS decision</c:v>
                </c:pt>
              </c:strCache>
            </c:strRef>
          </c:cat>
          <c:val>
            <c:numRef>
              <c:f>Snapshot!$B$7:$M$7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1</c:v>
                </c:pt>
                <c:pt idx="11">
                  <c:v>5</c:v>
                </c:pt>
              </c:numCache>
            </c:numRef>
          </c:val>
        </c:ser>
        <c:axId val="77003776"/>
        <c:axId val="77034240"/>
      </c:barChart>
      <c:catAx>
        <c:axId val="77003776"/>
        <c:scaling>
          <c:orientation val="minMax"/>
        </c:scaling>
        <c:axPos val="b"/>
        <c:tickLblPos val="nextTo"/>
        <c:crossAx val="77034240"/>
        <c:crosses val="autoZero"/>
        <c:auto val="1"/>
        <c:lblAlgn val="ctr"/>
        <c:lblOffset val="100"/>
      </c:catAx>
      <c:valAx>
        <c:axId val="77034240"/>
        <c:scaling>
          <c:orientation val="minMax"/>
        </c:scaling>
        <c:axPos val="l"/>
        <c:majorGridlines/>
        <c:numFmt formatCode="General" sourceLinked="1"/>
        <c:tickLblPos val="nextTo"/>
        <c:crossAx val="77003776"/>
        <c:crosses val="autoZero"/>
        <c:crossBetween val="between"/>
      </c:valAx>
    </c:plotArea>
    <c:legend>
      <c:legendPos val="r"/>
      <c:layout/>
    </c:legend>
    <c:plotVisOnly val="1"/>
    <c:dispBlanksAs val="gap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SharePoint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Summary'!$A$59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Summary'!$B$58:$P$58</c:f>
              <c:numCache>
                <c:formatCode>[$-409]d\-mmm;@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Summary'!$B$59:$P$59</c:f>
              <c:numCache>
                <c:formatCode>General</c:formatCode>
                <c:ptCount val="15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13</c:v>
                </c:pt>
                <c:pt idx="8">
                  <c:v>13</c:v>
                </c:pt>
                <c:pt idx="9">
                  <c:v>12</c:v>
                </c:pt>
                <c:pt idx="10">
                  <c:v>7</c:v>
                </c:pt>
                <c:pt idx="11">
                  <c:v>5</c:v>
                </c:pt>
                <c:pt idx="12">
                  <c:v>4</c:v>
                </c:pt>
                <c:pt idx="13">
                  <c:v>5</c:v>
                </c:pt>
                <c:pt idx="14">
                  <c:v>5</c:v>
                </c:pt>
              </c:numCache>
            </c:numRef>
          </c:val>
        </c:ser>
        <c:ser>
          <c:idx val="1"/>
          <c:order val="1"/>
          <c:tx>
            <c:strRef>
              <c:f>'Project Summary'!$A$60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Summary'!$B$58:$P$58</c:f>
              <c:numCache>
                <c:formatCode>[$-409]d\-mmm;@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Summary'!$B$60:$P$60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2"/>
          <c:order val="2"/>
          <c:tx>
            <c:strRef>
              <c:f>'Project Summary'!$A$61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Summary'!$B$58:$P$58</c:f>
              <c:numCache>
                <c:formatCode>[$-409]d\-mmm;@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Summary'!$B$61:$P$61</c:f>
              <c:numCache>
                <c:formatCode>General</c:formatCode>
                <c:ptCount val="1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Summary'!$A$62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Summary'!$B$58:$P$58</c:f>
              <c:numCache>
                <c:formatCode>[$-409]d\-mmm;@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Summary'!$B$62:$P$62</c:f>
              <c:numCache>
                <c:formatCode>General</c:formatCode>
                <c:ptCount val="1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ser>
          <c:idx val="7"/>
          <c:order val="4"/>
          <c:tx>
            <c:strRef>
              <c:f>'Project Summary'!$A$66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Summary'!$B$58:$P$58</c:f>
              <c:numCache>
                <c:formatCode>[$-409]d\-mmm;@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Summary'!$B$66:$P$66</c:f>
              <c:numCache>
                <c:formatCode>General</c:formatCode>
                <c:ptCount val="15"/>
                <c:pt idx="0">
                  <c:v>12</c:v>
                </c:pt>
                <c:pt idx="1">
                  <c:v>13</c:v>
                </c:pt>
                <c:pt idx="2">
                  <c:v>13</c:v>
                </c:pt>
                <c:pt idx="3">
                  <c:v>18</c:v>
                </c:pt>
                <c:pt idx="4">
                  <c:v>18</c:v>
                </c:pt>
                <c:pt idx="5">
                  <c:v>18</c:v>
                </c:pt>
                <c:pt idx="6">
                  <c:v>18</c:v>
                </c:pt>
                <c:pt idx="7">
                  <c:v>26</c:v>
                </c:pt>
                <c:pt idx="8">
                  <c:v>26</c:v>
                </c:pt>
                <c:pt idx="9">
                  <c:v>27</c:v>
                </c:pt>
                <c:pt idx="10">
                  <c:v>14</c:v>
                </c:pt>
                <c:pt idx="11">
                  <c:v>15</c:v>
                </c:pt>
                <c:pt idx="12">
                  <c:v>13</c:v>
                </c:pt>
                <c:pt idx="13">
                  <c:v>11</c:v>
                </c:pt>
                <c:pt idx="14">
                  <c:v>9</c:v>
                </c:pt>
              </c:numCache>
            </c:numRef>
          </c:val>
        </c:ser>
        <c:ser>
          <c:idx val="8"/>
          <c:order val="5"/>
          <c:tx>
            <c:strRef>
              <c:f>'Project Summary'!$A$67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Summary'!$B$58:$P$58</c:f>
              <c:numCache>
                <c:formatCode>[$-409]d\-mmm;@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Summary'!$B$67:$P$67</c:f>
              <c:numCache>
                <c:formatCode>General</c:formatCode>
                <c:ptCount val="15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11</c:v>
                </c:pt>
                <c:pt idx="4">
                  <c:v>11</c:v>
                </c:pt>
                <c:pt idx="5">
                  <c:v>12</c:v>
                </c:pt>
                <c:pt idx="6">
                  <c:v>12</c:v>
                </c:pt>
                <c:pt idx="7">
                  <c:v>18</c:v>
                </c:pt>
                <c:pt idx="8">
                  <c:v>18</c:v>
                </c:pt>
                <c:pt idx="9">
                  <c:v>20</c:v>
                </c:pt>
                <c:pt idx="10">
                  <c:v>9</c:v>
                </c:pt>
                <c:pt idx="11">
                  <c:v>11</c:v>
                </c:pt>
                <c:pt idx="12">
                  <c:v>11</c:v>
                </c:pt>
                <c:pt idx="13">
                  <c:v>9</c:v>
                </c:pt>
                <c:pt idx="14">
                  <c:v>7</c:v>
                </c:pt>
              </c:numCache>
            </c:numRef>
          </c:val>
        </c:ser>
        <c:ser>
          <c:idx val="9"/>
          <c:order val="6"/>
          <c:tx>
            <c:strRef>
              <c:f>'Project Summary'!$A$68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Summary'!$B$58:$P$58</c:f>
              <c:numCache>
                <c:formatCode>[$-409]d\-mmm;@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Summary'!$B$68:$P$68</c:f>
              <c:numCache>
                <c:formatCode>General</c:formatCode>
                <c:ptCount val="15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4</c:v>
                </c:pt>
                <c:pt idx="4">
                  <c:v>4</c:v>
                </c:pt>
                <c:pt idx="5">
                  <c:v>7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9</c:v>
                </c:pt>
                <c:pt idx="10">
                  <c:v>6</c:v>
                </c:pt>
                <c:pt idx="11">
                  <c:v>3</c:v>
                </c:pt>
                <c:pt idx="12">
                  <c:v>2</c:v>
                </c:pt>
                <c:pt idx="13">
                  <c:v>1</c:v>
                </c:pt>
                <c:pt idx="14">
                  <c:v>3</c:v>
                </c:pt>
              </c:numCache>
            </c:numRef>
          </c:val>
        </c:ser>
        <c:ser>
          <c:idx val="10"/>
          <c:order val="7"/>
          <c:tx>
            <c:strRef>
              <c:f>'Project Summary'!$A$69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Summary'!$B$58:$P$58</c:f>
              <c:numCache>
                <c:formatCode>[$-409]d\-mmm;@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Summary'!$B$69:$P$69</c:f>
              <c:numCache>
                <c:formatCode>General</c:formatCode>
                <c:ptCount val="15"/>
                <c:pt idx="0">
                  <c:v>6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  <c:pt idx="8">
                  <c:v>3</c:v>
                </c:pt>
                <c:pt idx="9">
                  <c:v>4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4"/>
          <c:order val="8"/>
          <c:tx>
            <c:strRef>
              <c:f>'Project Summary'!$A$73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Summary'!$B$58:$P$58</c:f>
              <c:numCache>
                <c:formatCode>[$-409]d\-mmm;@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Summary'!$B$73:$P$73</c:f>
              <c:numCache>
                <c:formatCode>General</c:formatCode>
                <c:ptCount val="15"/>
                <c:pt idx="0">
                  <c:v>37</c:v>
                </c:pt>
                <c:pt idx="1">
                  <c:v>37</c:v>
                </c:pt>
                <c:pt idx="2">
                  <c:v>37</c:v>
                </c:pt>
                <c:pt idx="3">
                  <c:v>37</c:v>
                </c:pt>
                <c:pt idx="4">
                  <c:v>37</c:v>
                </c:pt>
                <c:pt idx="5">
                  <c:v>37</c:v>
                </c:pt>
                <c:pt idx="6">
                  <c:v>37</c:v>
                </c:pt>
                <c:pt idx="7">
                  <c:v>37</c:v>
                </c:pt>
                <c:pt idx="8">
                  <c:v>37</c:v>
                </c:pt>
                <c:pt idx="9">
                  <c:v>36</c:v>
                </c:pt>
                <c:pt idx="10">
                  <c:v>36</c:v>
                </c:pt>
                <c:pt idx="11">
                  <c:v>36</c:v>
                </c:pt>
                <c:pt idx="12">
                  <c:v>36</c:v>
                </c:pt>
                <c:pt idx="13">
                  <c:v>36</c:v>
                </c:pt>
                <c:pt idx="14">
                  <c:v>37</c:v>
                </c:pt>
              </c:numCache>
            </c:numRef>
          </c:val>
        </c:ser>
        <c:ser>
          <c:idx val="5"/>
          <c:order val="9"/>
          <c:tx>
            <c:strRef>
              <c:f>'Project Summary'!$A$74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Summary'!$B$58:$P$58</c:f>
              <c:numCache>
                <c:formatCode>[$-409]d\-mmm;@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Summary'!$B$74:$P$74</c:f>
              <c:numCache>
                <c:formatCode>General</c:formatCode>
                <c:ptCount val="15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1</c:v>
                </c:pt>
              </c:numCache>
            </c:numRef>
          </c:val>
        </c:ser>
        <c:marker val="1"/>
        <c:axId val="77122944"/>
        <c:axId val="77128832"/>
      </c:lineChart>
      <c:dateAx>
        <c:axId val="77122944"/>
        <c:scaling>
          <c:orientation val="minMax"/>
        </c:scaling>
        <c:axPos val="b"/>
        <c:numFmt formatCode="[$-409]d\-mmm;@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77128832"/>
        <c:crosses val="autoZero"/>
        <c:auto val="1"/>
        <c:lblOffset val="100"/>
        <c:baseTimeUnit val="days"/>
        <c:majorUnit val="3"/>
        <c:majorTimeUnit val="days"/>
      </c:dateAx>
      <c:valAx>
        <c:axId val="77128832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77122944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M&amp;C Program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Summary'!$A$40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Summary'!$B$39:$P$39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Summary'!$B$40:$P$40</c:f>
              <c:numCache>
                <c:formatCode>General</c:formatCode>
                <c:ptCount val="1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9</c:v>
                </c:pt>
                <c:pt idx="6">
                  <c:v>9</c:v>
                </c:pt>
                <c:pt idx="7">
                  <c:v>8</c:v>
                </c:pt>
                <c:pt idx="8">
                  <c:v>7</c:v>
                </c:pt>
                <c:pt idx="9">
                  <c:v>7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  <c:pt idx="13">
                  <c:v>6</c:v>
                </c:pt>
                <c:pt idx="14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Summary'!$A$41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Summary'!$B$39:$P$39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Summary'!$B$41:$P$41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4</c:v>
                </c:pt>
                <c:pt idx="14">
                  <c:v>5</c:v>
                </c:pt>
              </c:numCache>
            </c:numRef>
          </c:val>
        </c:ser>
        <c:ser>
          <c:idx val="2"/>
          <c:order val="2"/>
          <c:tx>
            <c:strRef>
              <c:f>'Project Summary'!$A$42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Summary'!$B$39:$P$39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Summary'!$B$42:$P$42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Summary'!$A$43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Summary'!$B$39:$P$39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Summary'!$B$43:$P$43</c:f>
              <c:numCache>
                <c:formatCode>General</c:formatCode>
                <c:ptCount val="1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7</c:v>
                </c:pt>
                <c:pt idx="6">
                  <c:v>7</c:v>
                </c:pt>
                <c:pt idx="7">
                  <c:v>6</c:v>
                </c:pt>
                <c:pt idx="8">
                  <c:v>3</c:v>
                </c:pt>
                <c:pt idx="9">
                  <c:v>1</c:v>
                </c:pt>
                <c:pt idx="10">
                  <c:v>1</c:v>
                </c:pt>
                <c:pt idx="11">
                  <c:v>2</c:v>
                </c:pt>
                <c:pt idx="12">
                  <c:v>1</c:v>
                </c:pt>
                <c:pt idx="13">
                  <c:v>0</c:v>
                </c:pt>
                <c:pt idx="14">
                  <c:v>1</c:v>
                </c:pt>
              </c:numCache>
            </c:numRef>
          </c:val>
        </c:ser>
        <c:ser>
          <c:idx val="7"/>
          <c:order val="4"/>
          <c:tx>
            <c:strRef>
              <c:f>'Project Summary'!$A$47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Summary'!$B$39:$P$39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Summary'!$B$47:$P$47</c:f>
              <c:numCache>
                <c:formatCode>General</c:formatCode>
                <c:ptCount val="15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14</c:v>
                </c:pt>
                <c:pt idx="11">
                  <c:v>15</c:v>
                </c:pt>
                <c:pt idx="12">
                  <c:v>15</c:v>
                </c:pt>
                <c:pt idx="13">
                  <c:v>15</c:v>
                </c:pt>
                <c:pt idx="14">
                  <c:v>15</c:v>
                </c:pt>
              </c:numCache>
            </c:numRef>
          </c:val>
        </c:ser>
        <c:ser>
          <c:idx val="8"/>
          <c:order val="5"/>
          <c:tx>
            <c:strRef>
              <c:f>'Project Summary'!$A$48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Summary'!$B$39:$P$39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Summary'!$B$48:$P$48</c:f>
              <c:numCache>
                <c:formatCode>General</c:formatCode>
                <c:ptCount val="15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</c:numCache>
            </c:numRef>
          </c:val>
        </c:ser>
        <c:ser>
          <c:idx val="9"/>
          <c:order val="6"/>
          <c:tx>
            <c:strRef>
              <c:f>'Project Summary'!$A$49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Summary'!$B$39:$P$39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Summary'!$B$49:$P$49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</c:numCache>
            </c:numRef>
          </c:val>
        </c:ser>
        <c:ser>
          <c:idx val="10"/>
          <c:order val="7"/>
          <c:tx>
            <c:strRef>
              <c:f>'Project Summary'!$A$50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Summary'!$B$39:$P$39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Summary'!$B$50:$P$50</c:f>
              <c:numCache>
                <c:formatCode>General</c:formatCode>
                <c:ptCount val="15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2</c:v>
                </c:pt>
                <c:pt idx="10">
                  <c:v>3</c:v>
                </c:pt>
                <c:pt idx="11">
                  <c:v>4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ser>
          <c:idx val="14"/>
          <c:order val="8"/>
          <c:tx>
            <c:strRef>
              <c:f>'Project Summary'!$A$54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Summary'!$B$39:$P$39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Summary'!$B$54:$P$54</c:f>
              <c:numCache>
                <c:formatCode>General</c:formatCode>
                <c:ptCount val="1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ser>
          <c:idx val="15"/>
          <c:order val="9"/>
          <c:tx>
            <c:strRef>
              <c:f>'Project Summary'!$A$55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Summary'!$B$39:$P$39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Summary'!$B$55:$P$55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</c:numCache>
            </c:numRef>
          </c:val>
        </c:ser>
        <c:marker val="1"/>
        <c:axId val="77246464"/>
        <c:axId val="77248000"/>
      </c:lineChart>
      <c:dateAx>
        <c:axId val="77246464"/>
        <c:scaling>
          <c:orientation val="minMax"/>
        </c:scaling>
        <c:axPos val="b"/>
        <c:numFmt formatCode="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77248000"/>
        <c:crosses val="autoZero"/>
        <c:auto val="1"/>
        <c:lblOffset val="100"/>
        <c:baseTimeUnit val="days"/>
        <c:majorUnit val="3"/>
        <c:majorTimeUnit val="days"/>
      </c:dateAx>
      <c:valAx>
        <c:axId val="77248000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77246464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Change Management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Summary'!$A$21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Summary'!$B$20:$P$20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Summary'!$B$21:$P$21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ser>
          <c:idx val="1"/>
          <c:order val="1"/>
          <c:tx>
            <c:strRef>
              <c:f>'Project Summary'!$A$22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Summary'!$B$20:$P$20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Summary'!$B$22:$P$22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2"/>
          <c:order val="2"/>
          <c:tx>
            <c:strRef>
              <c:f>'Project Summary'!$A$23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Summary'!$B$20:$P$20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Summary'!$B$23:$P$23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Summary'!$A$24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Summary'!$B$20:$P$20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Summary'!$B$24:$P$24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Summary'!$A$28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Summary'!$B$20:$P$20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Summary'!$B$28:$P$28</c:f>
              <c:numCache>
                <c:formatCode>General</c:formatCode>
                <c:ptCount val="15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ser>
          <c:idx val="8"/>
          <c:order val="5"/>
          <c:tx>
            <c:strRef>
              <c:f>'Project Summary'!$A$29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Summary'!$B$20:$P$20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Summary'!$B$29:$P$29</c:f>
              <c:numCache>
                <c:formatCode>General</c:formatCode>
                <c:ptCount val="1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ser>
          <c:idx val="9"/>
          <c:order val="6"/>
          <c:tx>
            <c:strRef>
              <c:f>'Project Summary'!$A$30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Summary'!$B$20:$P$20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Summary'!$B$30:$P$30</c:f>
              <c:numCache>
                <c:formatCode>General</c:formatCode>
                <c:ptCount val="15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Summary'!$A$31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Summary'!$B$20:$P$20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Summary'!$B$31:$P$31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4"/>
          <c:order val="8"/>
          <c:tx>
            <c:strRef>
              <c:f>'Project Summary'!$A$35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Summary'!$B$20:$P$20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Summary'!$B$35:$P$35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5"/>
          <c:order val="9"/>
          <c:tx>
            <c:strRef>
              <c:f>'Project Summary'!$A$36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Summary'!$B$20:$P$20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Summary'!$B$36:$P$36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marker val="1"/>
        <c:axId val="77291904"/>
        <c:axId val="77293440"/>
      </c:lineChart>
      <c:dateAx>
        <c:axId val="77291904"/>
        <c:scaling>
          <c:orientation val="minMax"/>
        </c:scaling>
        <c:axPos val="b"/>
        <c:numFmt formatCode="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77293440"/>
        <c:crosses val="autoZero"/>
        <c:auto val="1"/>
        <c:lblOffset val="100"/>
        <c:baseTimeUnit val="days"/>
        <c:majorUnit val="3"/>
        <c:majorTimeUnit val="days"/>
      </c:dateAx>
      <c:valAx>
        <c:axId val="77293440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77291904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App and Data Migration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Summary'!$A$2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Summary'!$B$1:$P$1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Summary'!$B$2:$P$2</c:f>
              <c:numCache>
                <c:formatCode>General</c:formatCode>
                <c:ptCount val="15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6</c:v>
                </c:pt>
                <c:pt idx="4">
                  <c:v>6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</c:numCache>
            </c:numRef>
          </c:val>
        </c:ser>
        <c:ser>
          <c:idx val="1"/>
          <c:order val="1"/>
          <c:tx>
            <c:strRef>
              <c:f>'Project Summary'!$A$3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Summary'!$B$1:$P$1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Summary'!$B$3:$P$3</c:f>
              <c:numCache>
                <c:formatCode>General</c:formatCode>
                <c:ptCount val="1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ser>
          <c:idx val="2"/>
          <c:order val="2"/>
          <c:tx>
            <c:strRef>
              <c:f>'Project Summary'!$A$4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Summary'!$B$1:$P$1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Summary'!$B$4:$P$4</c:f>
              <c:numCache>
                <c:formatCode>General</c:formatCode>
                <c:ptCount val="15"/>
                <c:pt idx="0">
                  <c:v>3</c:v>
                </c:pt>
                <c:pt idx="1">
                  <c:v>5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7</c:v>
                </c:pt>
                <c:pt idx="7">
                  <c:v>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Summary'!$A$5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Summary'!$B$1:$P$1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Summary'!$B$5:$P$5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4"/>
          <c:order val="4"/>
          <c:tx>
            <c:strRef>
              <c:f>'Project Summary'!$A$9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Summary'!$B$1:$P$1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Summary'!$B$9:$P$9</c:f>
              <c:numCache>
                <c:formatCode>General</c:formatCode>
                <c:ptCount val="15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</c:numCache>
            </c:numRef>
          </c:val>
        </c:ser>
        <c:ser>
          <c:idx val="5"/>
          <c:order val="5"/>
          <c:tx>
            <c:strRef>
              <c:f>'Project Summary'!$A$10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Summary'!$B$1:$P$1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Summary'!$B$10:$P$10</c:f>
              <c:numCache>
                <c:formatCode>General</c:formatCode>
                <c:ptCount val="15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</c:numCache>
            </c:numRef>
          </c:val>
        </c:ser>
        <c:ser>
          <c:idx val="6"/>
          <c:order val="6"/>
          <c:tx>
            <c:strRef>
              <c:f>'Project Summary'!$A$11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Summary'!$B$1:$P$1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Summary'!$B$11:$P$11</c:f>
              <c:numCache>
                <c:formatCode>General</c:formatCode>
                <c:ptCount val="15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7"/>
          <c:order val="7"/>
          <c:tx>
            <c:strRef>
              <c:f>'Project Summary'!$A$12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Summary'!$B$1:$P$1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Summary'!$B$12:$P$12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8"/>
          <c:order val="8"/>
          <c:tx>
            <c:strRef>
              <c:f>'Project Summary'!$A$16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Summary'!$B$1:$P$1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Summary'!$B$16:$P$16</c:f>
              <c:numCache>
                <c:formatCode>General</c:formatCode>
                <c:ptCount val="1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</c:numCache>
            </c:numRef>
          </c:val>
        </c:ser>
        <c:ser>
          <c:idx val="9"/>
          <c:order val="9"/>
          <c:tx>
            <c:strRef>
              <c:f>'Project Summary'!$A$17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Summary'!$B$1:$P$1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Summary'!$B$17:$P$17</c:f>
              <c:numCache>
                <c:formatCode>General</c:formatCode>
                <c:ptCount val="1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3</c:v>
                </c:pt>
                <c:pt idx="10">
                  <c:v>3</c:v>
                </c:pt>
                <c:pt idx="11">
                  <c:v>3</c:v>
                </c:pt>
                <c:pt idx="12">
                  <c:v>3</c:v>
                </c:pt>
                <c:pt idx="13">
                  <c:v>3</c:v>
                </c:pt>
                <c:pt idx="14">
                  <c:v>3</c:v>
                </c:pt>
              </c:numCache>
            </c:numRef>
          </c:val>
        </c:ser>
        <c:marker val="1"/>
        <c:axId val="77165312"/>
        <c:axId val="77166848"/>
      </c:lineChart>
      <c:dateAx>
        <c:axId val="77165312"/>
        <c:scaling>
          <c:orientation val="minMax"/>
        </c:scaling>
        <c:axPos val="b"/>
        <c:numFmt formatCode="d\-mmm" sourceLinked="1"/>
        <c:majorTickMark val="none"/>
        <c:tickLblPos val="nextTo"/>
        <c:txPr>
          <a:bodyPr/>
          <a:lstStyle/>
          <a:p>
            <a:pPr>
              <a:defRPr sz="650"/>
            </a:pPr>
            <a:endParaRPr lang="en-US"/>
          </a:p>
        </c:txPr>
        <c:crossAx val="77166848"/>
        <c:crosses val="autoZero"/>
        <c:auto val="1"/>
        <c:lblOffset val="100"/>
        <c:baseTimeUnit val="days"/>
        <c:majorUnit val="3"/>
        <c:majorTimeUnit val="days"/>
      </c:dateAx>
      <c:valAx>
        <c:axId val="77166848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77165312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Unified Communications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Summary'!$A$97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Summary'!$B$96:$P$96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Summary'!$B$97:$P$97</c:f>
              <c:numCache>
                <c:formatCode>General</c:formatCode>
                <c:ptCount val="1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7</c:v>
                </c:pt>
                <c:pt idx="13">
                  <c:v>7</c:v>
                </c:pt>
                <c:pt idx="14">
                  <c:v>7</c:v>
                </c:pt>
              </c:numCache>
            </c:numRef>
          </c:val>
        </c:ser>
        <c:ser>
          <c:idx val="1"/>
          <c:order val="1"/>
          <c:tx>
            <c:strRef>
              <c:f>'Project Summary'!$A$98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Summary'!$B$96:$P$96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Summary'!$B$98:$P$98</c:f>
              <c:numCache>
                <c:formatCode>General</c:formatCode>
                <c:ptCount val="1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4</c:v>
                </c:pt>
                <c:pt idx="13">
                  <c:v>4</c:v>
                </c:pt>
                <c:pt idx="14">
                  <c:v>3</c:v>
                </c:pt>
              </c:numCache>
            </c:numRef>
          </c:val>
        </c:ser>
        <c:ser>
          <c:idx val="2"/>
          <c:order val="2"/>
          <c:tx>
            <c:strRef>
              <c:f>'Project Summary'!$A$99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Summary'!$B$96:$P$96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Summary'!$B$99:$P$99</c:f>
              <c:numCache>
                <c:formatCode>General</c:formatCode>
                <c:ptCount val="1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3"/>
          <c:order val="3"/>
          <c:tx>
            <c:strRef>
              <c:f>'Project Summary'!$A$100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Summary'!$B$96:$P$96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Summary'!$B$100:$P$100</c:f>
              <c:numCache>
                <c:formatCode>General</c:formatCode>
                <c:ptCount val="15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2</c:v>
                </c:pt>
                <c:pt idx="5">
                  <c:v>3</c:v>
                </c:pt>
                <c:pt idx="6">
                  <c:v>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Summary'!$A$104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Summary'!$B$96:$P$96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Summary'!$B$104:$P$104</c:f>
              <c:numCache>
                <c:formatCode>General</c:formatCode>
                <c:ptCount val="1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8"/>
          <c:order val="5"/>
          <c:tx>
            <c:strRef>
              <c:f>'Project Summary'!$A$105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Summary'!$B$96:$P$96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Summary'!$B$105:$P$105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9"/>
          <c:order val="6"/>
          <c:tx>
            <c:strRef>
              <c:f>'Project Summary'!$A$106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Summary'!$B$96:$P$96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Summary'!$B$106:$P$106</c:f>
              <c:numCache>
                <c:formatCode>General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0"/>
          <c:order val="7"/>
          <c:tx>
            <c:strRef>
              <c:f>'Project Summary'!$A$107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Summary'!$B$96:$P$96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Summary'!$B$107:$P$107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4"/>
          <c:order val="8"/>
          <c:tx>
            <c:strRef>
              <c:f>'Project Summary'!$A$111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Summary'!$B$96:$P$96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Summary'!$B$111:$P$111</c:f>
              <c:numCache>
                <c:formatCode>General</c:formatCode>
                <c:ptCount val="1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3</c:v>
                </c:pt>
                <c:pt idx="10">
                  <c:v>3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1</c:v>
                </c:pt>
              </c:numCache>
            </c:numRef>
          </c:val>
        </c:ser>
        <c:ser>
          <c:idx val="15"/>
          <c:order val="9"/>
          <c:tx>
            <c:strRef>
              <c:f>'Project Summary'!$A$112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Summary'!$B$96:$P$96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Summary'!$B$112:$P$112</c:f>
              <c:numCache>
                <c:formatCode>General</c:formatCode>
                <c:ptCount val="15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marker val="1"/>
        <c:axId val="77428224"/>
        <c:axId val="77429760"/>
      </c:lineChart>
      <c:dateAx>
        <c:axId val="77428224"/>
        <c:scaling>
          <c:orientation val="minMax"/>
        </c:scaling>
        <c:axPos val="b"/>
        <c:numFmt formatCode="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77429760"/>
        <c:crosses val="autoZero"/>
        <c:auto val="1"/>
        <c:lblOffset val="100"/>
        <c:baseTimeUnit val="days"/>
        <c:majorUnit val="3"/>
        <c:majorTimeUnit val="days"/>
      </c:dateAx>
      <c:valAx>
        <c:axId val="77429760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77428224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800"/>
            </a:pPr>
            <a:r>
              <a:rPr lang="en-US" sz="800"/>
              <a:t>Technology Foundation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'Project Summary'!$A$78</c:f>
              <c:strCache>
                <c:ptCount val="1"/>
                <c:pt idx="0">
                  <c:v>Total Open Risks</c:v>
                </c:pt>
              </c:strCache>
            </c:strRef>
          </c:tx>
          <c:cat>
            <c:numRef>
              <c:f>'Project Summary'!$B$77:$P$77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Summary'!$B$78:$P$78</c:f>
              <c:numCache>
                <c:formatCode>General</c:formatCode>
                <c:ptCount val="15"/>
                <c:pt idx="0">
                  <c:v>10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9</c:v>
                </c:pt>
                <c:pt idx="5">
                  <c:v>9</c:v>
                </c:pt>
                <c:pt idx="6">
                  <c:v>8</c:v>
                </c:pt>
                <c:pt idx="7">
                  <c:v>5</c:v>
                </c:pt>
                <c:pt idx="8">
                  <c:v>4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</c:numCache>
            </c:numRef>
          </c:val>
        </c:ser>
        <c:ser>
          <c:idx val="1"/>
          <c:order val="1"/>
          <c:tx>
            <c:strRef>
              <c:f>'Project Summary'!$A$79</c:f>
              <c:strCache>
                <c:ptCount val="1"/>
                <c:pt idx="0">
                  <c:v>Total Open High or Critical Risks</c:v>
                </c:pt>
              </c:strCache>
            </c:strRef>
          </c:tx>
          <c:cat>
            <c:numRef>
              <c:f>'Project Summary'!$B$77:$P$77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Summary'!$B$79:$P$79</c:f>
              <c:numCache>
                <c:formatCode>General</c:formatCode>
                <c:ptCount val="15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4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</c:numCache>
            </c:numRef>
          </c:val>
        </c:ser>
        <c:ser>
          <c:idx val="2"/>
          <c:order val="2"/>
          <c:tx>
            <c:strRef>
              <c:f>'Project Summary'!$A$80</c:f>
              <c:strCache>
                <c:ptCount val="1"/>
                <c:pt idx="0">
                  <c:v>Risks: Missed Required Resolution Date</c:v>
                </c:pt>
              </c:strCache>
            </c:strRef>
          </c:tx>
          <c:cat>
            <c:numRef>
              <c:f>'Project Summary'!$B$77:$P$77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Summary'!$B$80:$P$80</c:f>
              <c:numCache>
                <c:formatCode>General</c:formatCode>
                <c:ptCount val="15"/>
                <c:pt idx="0">
                  <c:v>2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  <c:pt idx="5">
                  <c:v>4</c:v>
                </c:pt>
                <c:pt idx="6">
                  <c:v>3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ser>
          <c:idx val="3"/>
          <c:order val="3"/>
          <c:tx>
            <c:strRef>
              <c:f>'Project Summary'!$A$81</c:f>
              <c:strCache>
                <c:ptCount val="1"/>
                <c:pt idx="0">
                  <c:v>Risks with no Required Resolution Date</c:v>
                </c:pt>
              </c:strCache>
            </c:strRef>
          </c:tx>
          <c:cat>
            <c:numRef>
              <c:f>'Project Summary'!$B$77:$P$77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Summary'!$B$81:$P$81</c:f>
              <c:numCache>
                <c:formatCode>General</c:formatCode>
                <c:ptCount val="1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7"/>
          <c:order val="4"/>
          <c:tx>
            <c:strRef>
              <c:f>'Project Summary'!$A$85</c:f>
              <c:strCache>
                <c:ptCount val="1"/>
                <c:pt idx="0">
                  <c:v>Total Open Issues</c:v>
                </c:pt>
              </c:strCache>
            </c:strRef>
          </c:tx>
          <c:cat>
            <c:numRef>
              <c:f>'Project Summary'!$B$77:$P$77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Summary'!$B$85:$P$85</c:f>
              <c:numCache>
                <c:formatCode>General</c:formatCode>
                <c:ptCount val="15"/>
                <c:pt idx="0">
                  <c:v>20</c:v>
                </c:pt>
                <c:pt idx="1">
                  <c:v>13</c:v>
                </c:pt>
                <c:pt idx="2">
                  <c:v>13</c:v>
                </c:pt>
                <c:pt idx="3">
                  <c:v>13</c:v>
                </c:pt>
                <c:pt idx="4">
                  <c:v>15</c:v>
                </c:pt>
                <c:pt idx="5">
                  <c:v>15</c:v>
                </c:pt>
                <c:pt idx="6">
                  <c:v>15</c:v>
                </c:pt>
                <c:pt idx="7">
                  <c:v>12</c:v>
                </c:pt>
                <c:pt idx="8">
                  <c:v>11</c:v>
                </c:pt>
                <c:pt idx="9">
                  <c:v>12</c:v>
                </c:pt>
                <c:pt idx="10">
                  <c:v>12</c:v>
                </c:pt>
                <c:pt idx="11">
                  <c:v>12</c:v>
                </c:pt>
                <c:pt idx="12">
                  <c:v>11</c:v>
                </c:pt>
                <c:pt idx="13">
                  <c:v>11</c:v>
                </c:pt>
                <c:pt idx="14">
                  <c:v>11</c:v>
                </c:pt>
              </c:numCache>
            </c:numRef>
          </c:val>
        </c:ser>
        <c:ser>
          <c:idx val="8"/>
          <c:order val="5"/>
          <c:tx>
            <c:strRef>
              <c:f>'Project Summary'!$A$86</c:f>
              <c:strCache>
                <c:ptCount val="1"/>
                <c:pt idx="0">
                  <c:v>Total Open High or Critical Issues</c:v>
                </c:pt>
              </c:strCache>
            </c:strRef>
          </c:tx>
          <c:cat>
            <c:numRef>
              <c:f>'Project Summary'!$B$77:$P$77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Summary'!$B$86:$P$86</c:f>
              <c:numCache>
                <c:formatCode>General</c:formatCode>
                <c:ptCount val="15"/>
                <c:pt idx="0">
                  <c:v>16</c:v>
                </c:pt>
                <c:pt idx="1">
                  <c:v>9</c:v>
                </c:pt>
                <c:pt idx="2">
                  <c:v>9</c:v>
                </c:pt>
                <c:pt idx="3">
                  <c:v>9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11</c:v>
                </c:pt>
                <c:pt idx="8">
                  <c:v>10</c:v>
                </c:pt>
                <c:pt idx="9">
                  <c:v>8</c:v>
                </c:pt>
                <c:pt idx="10">
                  <c:v>9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</c:numCache>
            </c:numRef>
          </c:val>
        </c:ser>
        <c:ser>
          <c:idx val="9"/>
          <c:order val="6"/>
          <c:tx>
            <c:strRef>
              <c:f>'Project Summary'!$A$87</c:f>
              <c:strCache>
                <c:ptCount val="1"/>
                <c:pt idx="0">
                  <c:v>Issues: Missed Required Resolution Date</c:v>
                </c:pt>
              </c:strCache>
            </c:strRef>
          </c:tx>
          <c:cat>
            <c:numRef>
              <c:f>'Project Summary'!$B$77:$P$77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Summary'!$B$87:$P$87</c:f>
              <c:numCache>
                <c:formatCode>General</c:formatCode>
                <c:ptCount val="15"/>
                <c:pt idx="0">
                  <c:v>7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</c:numCache>
            </c:numRef>
          </c:val>
        </c:ser>
        <c:ser>
          <c:idx val="10"/>
          <c:order val="7"/>
          <c:tx>
            <c:strRef>
              <c:f>'Project Summary'!$A$88</c:f>
              <c:strCache>
                <c:ptCount val="1"/>
                <c:pt idx="0">
                  <c:v>Issues with no Required Resolution Date</c:v>
                </c:pt>
              </c:strCache>
            </c:strRef>
          </c:tx>
          <c:cat>
            <c:numRef>
              <c:f>'Project Summary'!$B$77:$P$77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Summary'!$B$88:$P$88</c:f>
              <c:numCache>
                <c:formatCode>General</c:formatCode>
                <c:ptCount val="15"/>
                <c:pt idx="0">
                  <c:v>12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ser>
          <c:idx val="14"/>
          <c:order val="8"/>
          <c:tx>
            <c:strRef>
              <c:f>'Project Summary'!$A$92</c:f>
              <c:strCache>
                <c:ptCount val="1"/>
                <c:pt idx="0">
                  <c:v>Total Assumptions not yet validated</c:v>
                </c:pt>
              </c:strCache>
            </c:strRef>
          </c:tx>
          <c:cat>
            <c:numRef>
              <c:f>'Project Summary'!$B$77:$P$77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Summary'!$B$92:$P$92</c:f>
              <c:numCache>
                <c:formatCode>General</c:formatCode>
                <c:ptCount val="1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</c:numCache>
            </c:numRef>
          </c:val>
        </c:ser>
        <c:ser>
          <c:idx val="15"/>
          <c:order val="9"/>
          <c:tx>
            <c:strRef>
              <c:f>'Project Summary'!$A$93</c:f>
              <c:strCache>
                <c:ptCount val="1"/>
                <c:pt idx="0">
                  <c:v>Total Pending Decisions</c:v>
                </c:pt>
              </c:strCache>
            </c:strRef>
          </c:tx>
          <c:cat>
            <c:numRef>
              <c:f>'Project Summary'!$B$77:$P$77</c:f>
              <c:numCache>
                <c:formatCode>d\-mmm</c:formatCode>
                <c:ptCount val="15"/>
                <c:pt idx="0">
                  <c:v>40952</c:v>
                </c:pt>
                <c:pt idx="1">
                  <c:v>40955</c:v>
                </c:pt>
                <c:pt idx="2">
                  <c:v>40959</c:v>
                </c:pt>
                <c:pt idx="3">
                  <c:v>40962</c:v>
                </c:pt>
                <c:pt idx="4">
                  <c:v>40966</c:v>
                </c:pt>
                <c:pt idx="5">
                  <c:v>40969</c:v>
                </c:pt>
                <c:pt idx="6">
                  <c:v>40973</c:v>
                </c:pt>
                <c:pt idx="7">
                  <c:v>40974</c:v>
                </c:pt>
                <c:pt idx="8">
                  <c:v>40975</c:v>
                </c:pt>
                <c:pt idx="9">
                  <c:v>40976</c:v>
                </c:pt>
                <c:pt idx="10">
                  <c:v>40977</c:v>
                </c:pt>
                <c:pt idx="11">
                  <c:v>40980</c:v>
                </c:pt>
                <c:pt idx="12">
                  <c:v>40981</c:v>
                </c:pt>
                <c:pt idx="13">
                  <c:v>40982</c:v>
                </c:pt>
                <c:pt idx="14">
                  <c:v>40983</c:v>
                </c:pt>
              </c:numCache>
            </c:numRef>
          </c:cat>
          <c:val>
            <c:numRef>
              <c:f>'Project Summary'!$B$93:$P$93</c:f>
              <c:numCache>
                <c:formatCode>General</c:formatCode>
                <c:ptCount val="15"/>
                <c:pt idx="0">
                  <c:v>14</c:v>
                </c:pt>
                <c:pt idx="1">
                  <c:v>14</c:v>
                </c:pt>
                <c:pt idx="2">
                  <c:v>14</c:v>
                </c:pt>
                <c:pt idx="3">
                  <c:v>14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12</c:v>
                </c:pt>
                <c:pt idx="8">
                  <c:v>22</c:v>
                </c:pt>
                <c:pt idx="9">
                  <c:v>17</c:v>
                </c:pt>
                <c:pt idx="10">
                  <c:v>15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16</c:v>
                </c:pt>
              </c:numCache>
            </c:numRef>
          </c:val>
        </c:ser>
        <c:marker val="1"/>
        <c:axId val="77481856"/>
        <c:axId val="77483392"/>
      </c:lineChart>
      <c:dateAx>
        <c:axId val="77481856"/>
        <c:scaling>
          <c:orientation val="minMax"/>
        </c:scaling>
        <c:axPos val="b"/>
        <c:numFmt formatCode="d\-mmm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77483392"/>
        <c:crosses val="autoZero"/>
        <c:auto val="1"/>
        <c:lblOffset val="100"/>
        <c:baseTimeUnit val="days"/>
        <c:majorUnit val="3"/>
        <c:majorTimeUnit val="days"/>
      </c:dateAx>
      <c:valAx>
        <c:axId val="77483392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700"/>
            </a:pPr>
            <a:endParaRPr lang="en-US"/>
          </a:p>
        </c:txPr>
        <c:crossAx val="77481856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650"/>
          </a:pPr>
          <a:endParaRPr lang="en-US"/>
        </a:p>
      </c:txPr>
    </c:legend>
    <c:plotVisOnly val="1"/>
    <c:dispBlanksAs val="gap"/>
  </c:chart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/>
            </a:pPr>
            <a:r>
              <a:rPr lang="en-US" sz="1200" dirty="0" smtClean="0"/>
              <a:t>M&amp;C Program Overall</a:t>
            </a:r>
            <a:endParaRPr lang="en-US" sz="1200" dirty="0"/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strRef>
              <c:f>'RAID Summary'!$A$2</c:f>
              <c:strCache>
                <c:ptCount val="1"/>
                <c:pt idx="0">
                  <c:v>Total Open Risks</c:v>
                </c:pt>
              </c:strCache>
            </c:strRef>
          </c:tx>
          <c:marker>
            <c:symbol val="none"/>
          </c:marker>
          <c:cat>
            <c:numRef>
              <c:f>'RAID Summary'!$B$1:$S$1</c:f>
              <c:numCache>
                <c:formatCode>d\-mmm\-yy</c:formatCode>
                <c:ptCount val="18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</c:numCache>
            </c:numRef>
          </c:cat>
          <c:val>
            <c:numRef>
              <c:f>'RAID Summary'!$B$2:$S$2</c:f>
              <c:numCache>
                <c:formatCode>General</c:formatCode>
                <c:ptCount val="18"/>
                <c:pt idx="0">
                  <c:v>40</c:v>
                </c:pt>
                <c:pt idx="1">
                  <c:v>34</c:v>
                </c:pt>
                <c:pt idx="2">
                  <c:v>33</c:v>
                </c:pt>
                <c:pt idx="3">
                  <c:v>30</c:v>
                </c:pt>
                <c:pt idx="4">
                  <c:v>32</c:v>
                </c:pt>
                <c:pt idx="5">
                  <c:v>32</c:v>
                </c:pt>
                <c:pt idx="6">
                  <c:v>30</c:v>
                </c:pt>
                <c:pt idx="7">
                  <c:v>30</c:v>
                </c:pt>
                <c:pt idx="8">
                  <c:v>32</c:v>
                </c:pt>
                <c:pt idx="9">
                  <c:v>39</c:v>
                </c:pt>
                <c:pt idx="10">
                  <c:v>45</c:v>
                </c:pt>
                <c:pt idx="11">
                  <c:v>38</c:v>
                </c:pt>
                <c:pt idx="12">
                  <c:v>37</c:v>
                </c:pt>
                <c:pt idx="13">
                  <c:v>32</c:v>
                </c:pt>
                <c:pt idx="14">
                  <c:v>30</c:v>
                </c:pt>
                <c:pt idx="15">
                  <c:v>29</c:v>
                </c:pt>
                <c:pt idx="16">
                  <c:v>32</c:v>
                </c:pt>
                <c:pt idx="17">
                  <c:v>32</c:v>
                </c:pt>
              </c:numCache>
            </c:numRef>
          </c:val>
        </c:ser>
        <c:ser>
          <c:idx val="1"/>
          <c:order val="1"/>
          <c:tx>
            <c:strRef>
              <c:f>'RAID Summary'!$A$3</c:f>
              <c:strCache>
                <c:ptCount val="1"/>
                <c:pt idx="0">
                  <c:v>Total Open High or Critical Risks</c:v>
                </c:pt>
              </c:strCache>
            </c:strRef>
          </c:tx>
          <c:marker>
            <c:symbol val="none"/>
          </c:marker>
          <c:cat>
            <c:numRef>
              <c:f>'RAID Summary'!$B$1:$S$1</c:f>
              <c:numCache>
                <c:formatCode>d\-mmm\-yy</c:formatCode>
                <c:ptCount val="18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</c:numCache>
            </c:numRef>
          </c:cat>
          <c:val>
            <c:numRef>
              <c:f>'RAID Summary'!$B$3:$S$3</c:f>
              <c:numCache>
                <c:formatCode>General</c:formatCode>
                <c:ptCount val="18"/>
                <c:pt idx="0">
                  <c:v>15</c:v>
                </c:pt>
                <c:pt idx="1">
                  <c:v>10</c:v>
                </c:pt>
                <c:pt idx="2">
                  <c:v>13</c:v>
                </c:pt>
                <c:pt idx="3">
                  <c:v>13</c:v>
                </c:pt>
                <c:pt idx="4">
                  <c:v>14</c:v>
                </c:pt>
                <c:pt idx="5">
                  <c:v>14</c:v>
                </c:pt>
                <c:pt idx="6">
                  <c:v>16</c:v>
                </c:pt>
                <c:pt idx="7">
                  <c:v>16</c:v>
                </c:pt>
                <c:pt idx="8">
                  <c:v>21</c:v>
                </c:pt>
                <c:pt idx="9">
                  <c:v>28</c:v>
                </c:pt>
                <c:pt idx="10">
                  <c:v>25</c:v>
                </c:pt>
                <c:pt idx="11">
                  <c:v>19</c:v>
                </c:pt>
                <c:pt idx="12">
                  <c:v>17</c:v>
                </c:pt>
                <c:pt idx="13">
                  <c:v>14</c:v>
                </c:pt>
                <c:pt idx="14">
                  <c:v>14</c:v>
                </c:pt>
                <c:pt idx="15">
                  <c:v>14</c:v>
                </c:pt>
                <c:pt idx="16">
                  <c:v>17</c:v>
                </c:pt>
                <c:pt idx="17">
                  <c:v>16</c:v>
                </c:pt>
              </c:numCache>
            </c:numRef>
          </c:val>
        </c:ser>
        <c:ser>
          <c:idx val="2"/>
          <c:order val="2"/>
          <c:tx>
            <c:strRef>
              <c:f>'RAID Summary'!$A$4</c:f>
              <c:strCache>
                <c:ptCount val="1"/>
                <c:pt idx="0">
                  <c:v>Risks: Missed Required Resolution Date</c:v>
                </c:pt>
              </c:strCache>
            </c:strRef>
          </c:tx>
          <c:marker>
            <c:symbol val="none"/>
          </c:marker>
          <c:cat>
            <c:numRef>
              <c:f>'RAID Summary'!$B$1:$S$1</c:f>
              <c:numCache>
                <c:formatCode>d\-mmm\-yy</c:formatCode>
                <c:ptCount val="18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</c:numCache>
            </c:numRef>
          </c:cat>
          <c:val>
            <c:numRef>
              <c:f>'RAID Summary'!$B$4:$S$4</c:f>
              <c:numCache>
                <c:formatCode>General</c:formatCode>
                <c:ptCount val="18"/>
                <c:pt idx="2">
                  <c:v>2</c:v>
                </c:pt>
                <c:pt idx="3">
                  <c:v>3</c:v>
                </c:pt>
                <c:pt idx="4">
                  <c:v>5</c:v>
                </c:pt>
                <c:pt idx="5">
                  <c:v>7</c:v>
                </c:pt>
                <c:pt idx="6">
                  <c:v>8</c:v>
                </c:pt>
                <c:pt idx="7">
                  <c:v>10</c:v>
                </c:pt>
                <c:pt idx="8">
                  <c:v>9</c:v>
                </c:pt>
                <c:pt idx="9">
                  <c:v>13</c:v>
                </c:pt>
                <c:pt idx="10">
                  <c:v>9</c:v>
                </c:pt>
                <c:pt idx="11">
                  <c:v>2</c:v>
                </c:pt>
                <c:pt idx="12">
                  <c:v>2</c:v>
                </c:pt>
                <c:pt idx="13">
                  <c:v>1</c:v>
                </c:pt>
                <c:pt idx="14">
                  <c:v>1</c:v>
                </c:pt>
                <c:pt idx="15">
                  <c:v>0</c:v>
                </c:pt>
                <c:pt idx="16">
                  <c:v>1</c:v>
                </c:pt>
                <c:pt idx="17">
                  <c:v>1</c:v>
                </c:pt>
              </c:numCache>
            </c:numRef>
          </c:val>
        </c:ser>
        <c:ser>
          <c:idx val="3"/>
          <c:order val="3"/>
          <c:tx>
            <c:strRef>
              <c:f>'RAID Summary'!$A$5</c:f>
              <c:strCache>
                <c:ptCount val="1"/>
                <c:pt idx="0">
                  <c:v>Total Open Issues</c:v>
                </c:pt>
              </c:strCache>
            </c:strRef>
          </c:tx>
          <c:marker>
            <c:symbol val="none"/>
          </c:marker>
          <c:cat>
            <c:numRef>
              <c:f>'RAID Summary'!$B$1:$S$1</c:f>
              <c:numCache>
                <c:formatCode>d\-mmm\-yy</c:formatCode>
                <c:ptCount val="18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</c:numCache>
            </c:numRef>
          </c:cat>
          <c:val>
            <c:numRef>
              <c:f>'RAID Summary'!$B$5:$S$5</c:f>
              <c:numCache>
                <c:formatCode>General</c:formatCode>
                <c:ptCount val="18"/>
                <c:pt idx="0">
                  <c:v>37</c:v>
                </c:pt>
                <c:pt idx="1">
                  <c:v>37</c:v>
                </c:pt>
                <c:pt idx="2">
                  <c:v>42</c:v>
                </c:pt>
                <c:pt idx="3">
                  <c:v>42</c:v>
                </c:pt>
                <c:pt idx="4">
                  <c:v>45</c:v>
                </c:pt>
                <c:pt idx="5">
                  <c:v>48</c:v>
                </c:pt>
                <c:pt idx="6">
                  <c:v>52</c:v>
                </c:pt>
                <c:pt idx="7">
                  <c:v>43</c:v>
                </c:pt>
                <c:pt idx="8">
                  <c:v>49</c:v>
                </c:pt>
                <c:pt idx="9">
                  <c:v>51</c:v>
                </c:pt>
                <c:pt idx="10">
                  <c:v>55</c:v>
                </c:pt>
                <c:pt idx="11">
                  <c:v>51</c:v>
                </c:pt>
                <c:pt idx="12">
                  <c:v>53</c:v>
                </c:pt>
                <c:pt idx="13">
                  <c:v>46</c:v>
                </c:pt>
                <c:pt idx="14">
                  <c:v>47</c:v>
                </c:pt>
                <c:pt idx="15">
                  <c:v>44</c:v>
                </c:pt>
                <c:pt idx="16">
                  <c:v>44</c:v>
                </c:pt>
                <c:pt idx="17">
                  <c:v>42</c:v>
                </c:pt>
              </c:numCache>
            </c:numRef>
          </c:val>
        </c:ser>
        <c:ser>
          <c:idx val="4"/>
          <c:order val="4"/>
          <c:tx>
            <c:strRef>
              <c:f>'RAID Summary'!$A$6</c:f>
              <c:strCache>
                <c:ptCount val="1"/>
                <c:pt idx="0">
                  <c:v>Total Open High or Critical Issues</c:v>
                </c:pt>
              </c:strCache>
            </c:strRef>
          </c:tx>
          <c:marker>
            <c:symbol val="none"/>
          </c:marker>
          <c:cat>
            <c:numRef>
              <c:f>'RAID Summary'!$B$1:$S$1</c:f>
              <c:numCache>
                <c:formatCode>d\-mmm\-yy</c:formatCode>
                <c:ptCount val="18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</c:numCache>
            </c:numRef>
          </c:cat>
          <c:val>
            <c:numRef>
              <c:f>'RAID Summary'!$B$6:$S$6</c:f>
              <c:numCache>
                <c:formatCode>General</c:formatCode>
                <c:ptCount val="18"/>
                <c:pt idx="2">
                  <c:v>25</c:v>
                </c:pt>
                <c:pt idx="3">
                  <c:v>25</c:v>
                </c:pt>
                <c:pt idx="4">
                  <c:v>28</c:v>
                </c:pt>
                <c:pt idx="5">
                  <c:v>33</c:v>
                </c:pt>
                <c:pt idx="6">
                  <c:v>39</c:v>
                </c:pt>
                <c:pt idx="7">
                  <c:v>31</c:v>
                </c:pt>
                <c:pt idx="8">
                  <c:v>37</c:v>
                </c:pt>
                <c:pt idx="9">
                  <c:v>40</c:v>
                </c:pt>
                <c:pt idx="10">
                  <c:v>45</c:v>
                </c:pt>
                <c:pt idx="11">
                  <c:v>42</c:v>
                </c:pt>
                <c:pt idx="12">
                  <c:v>45</c:v>
                </c:pt>
                <c:pt idx="13">
                  <c:v>37</c:v>
                </c:pt>
                <c:pt idx="14">
                  <c:v>37</c:v>
                </c:pt>
                <c:pt idx="15">
                  <c:v>36</c:v>
                </c:pt>
                <c:pt idx="16">
                  <c:v>36</c:v>
                </c:pt>
                <c:pt idx="17">
                  <c:v>34</c:v>
                </c:pt>
              </c:numCache>
            </c:numRef>
          </c:val>
        </c:ser>
        <c:ser>
          <c:idx val="5"/>
          <c:order val="5"/>
          <c:tx>
            <c:strRef>
              <c:f>'RAID Summary'!$A$7</c:f>
              <c:strCache>
                <c:ptCount val="1"/>
                <c:pt idx="0">
                  <c:v>Issues: Missed Required Resolution Date</c:v>
                </c:pt>
              </c:strCache>
            </c:strRef>
          </c:tx>
          <c:marker>
            <c:symbol val="none"/>
          </c:marker>
          <c:cat>
            <c:numRef>
              <c:f>'RAID Summary'!$B$1:$S$1</c:f>
              <c:numCache>
                <c:formatCode>d\-mmm\-yy</c:formatCode>
                <c:ptCount val="18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</c:numCache>
            </c:numRef>
          </c:cat>
          <c:val>
            <c:numRef>
              <c:f>'RAID Summary'!$B$7:$S$7</c:f>
              <c:numCache>
                <c:formatCode>General</c:formatCode>
                <c:ptCount val="18"/>
                <c:pt idx="2">
                  <c:v>13</c:v>
                </c:pt>
                <c:pt idx="3">
                  <c:v>12</c:v>
                </c:pt>
                <c:pt idx="4">
                  <c:v>7</c:v>
                </c:pt>
                <c:pt idx="5">
                  <c:v>13</c:v>
                </c:pt>
                <c:pt idx="6">
                  <c:v>16</c:v>
                </c:pt>
                <c:pt idx="7">
                  <c:v>14</c:v>
                </c:pt>
                <c:pt idx="8">
                  <c:v>12</c:v>
                </c:pt>
                <c:pt idx="9">
                  <c:v>22</c:v>
                </c:pt>
                <c:pt idx="10">
                  <c:v>20</c:v>
                </c:pt>
                <c:pt idx="11">
                  <c:v>14</c:v>
                </c:pt>
                <c:pt idx="12">
                  <c:v>16</c:v>
                </c:pt>
                <c:pt idx="13">
                  <c:v>13</c:v>
                </c:pt>
                <c:pt idx="14">
                  <c:v>8</c:v>
                </c:pt>
                <c:pt idx="15">
                  <c:v>6</c:v>
                </c:pt>
                <c:pt idx="16">
                  <c:v>4</c:v>
                </c:pt>
                <c:pt idx="17">
                  <c:v>7</c:v>
                </c:pt>
              </c:numCache>
            </c:numRef>
          </c:val>
        </c:ser>
        <c:ser>
          <c:idx val="6"/>
          <c:order val="6"/>
          <c:tx>
            <c:strRef>
              <c:f>'RAID Summary'!$A$8</c:f>
              <c:strCache>
                <c:ptCount val="1"/>
                <c:pt idx="0">
                  <c:v>Total Assumptions</c:v>
                </c:pt>
              </c:strCache>
            </c:strRef>
          </c:tx>
          <c:marker>
            <c:symbol val="none"/>
          </c:marker>
          <c:cat>
            <c:numRef>
              <c:f>'RAID Summary'!$B$1:$S$1</c:f>
              <c:numCache>
                <c:formatCode>d\-mmm\-yy</c:formatCode>
                <c:ptCount val="18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</c:numCache>
            </c:numRef>
          </c:cat>
          <c:val>
            <c:numRef>
              <c:f>'RAID Summary'!$B$8:$S$8</c:f>
              <c:numCache>
                <c:formatCode>General</c:formatCode>
                <c:ptCount val="18"/>
                <c:pt idx="0">
                  <c:v>78</c:v>
                </c:pt>
                <c:pt idx="1">
                  <c:v>70</c:v>
                </c:pt>
                <c:pt idx="2">
                  <c:v>67</c:v>
                </c:pt>
                <c:pt idx="3">
                  <c:v>67</c:v>
                </c:pt>
                <c:pt idx="4">
                  <c:v>68</c:v>
                </c:pt>
                <c:pt idx="5">
                  <c:v>69</c:v>
                </c:pt>
                <c:pt idx="6">
                  <c:v>69</c:v>
                </c:pt>
                <c:pt idx="7">
                  <c:v>69</c:v>
                </c:pt>
                <c:pt idx="8">
                  <c:v>63</c:v>
                </c:pt>
                <c:pt idx="9">
                  <c:v>63</c:v>
                </c:pt>
                <c:pt idx="10">
                  <c:v>63</c:v>
                </c:pt>
                <c:pt idx="11">
                  <c:v>63</c:v>
                </c:pt>
                <c:pt idx="12">
                  <c:v>63</c:v>
                </c:pt>
                <c:pt idx="13">
                  <c:v>63</c:v>
                </c:pt>
                <c:pt idx="14">
                  <c:v>62</c:v>
                </c:pt>
                <c:pt idx="15">
                  <c:v>62</c:v>
                </c:pt>
                <c:pt idx="16">
                  <c:v>62</c:v>
                </c:pt>
                <c:pt idx="17">
                  <c:v>62</c:v>
                </c:pt>
              </c:numCache>
            </c:numRef>
          </c:val>
        </c:ser>
        <c:ser>
          <c:idx val="7"/>
          <c:order val="7"/>
          <c:tx>
            <c:strRef>
              <c:f>'RAID Summary'!$A$9</c:f>
              <c:strCache>
                <c:ptCount val="1"/>
                <c:pt idx="0">
                  <c:v>Total Decisions</c:v>
                </c:pt>
              </c:strCache>
            </c:strRef>
          </c:tx>
          <c:marker>
            <c:symbol val="none"/>
          </c:marker>
          <c:cat>
            <c:numRef>
              <c:f>'RAID Summary'!$B$1:$S$1</c:f>
              <c:numCache>
                <c:formatCode>d\-mmm\-yy</c:formatCode>
                <c:ptCount val="18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</c:numCache>
            </c:numRef>
          </c:cat>
          <c:val>
            <c:numRef>
              <c:f>'RAID Summary'!$B$9:$S$9</c:f>
              <c:numCache>
                <c:formatCode>General</c:formatCode>
                <c:ptCount val="18"/>
                <c:pt idx="0">
                  <c:v>153</c:v>
                </c:pt>
                <c:pt idx="1">
                  <c:v>153</c:v>
                </c:pt>
                <c:pt idx="2">
                  <c:v>154</c:v>
                </c:pt>
                <c:pt idx="3">
                  <c:v>154</c:v>
                </c:pt>
                <c:pt idx="4">
                  <c:v>161</c:v>
                </c:pt>
                <c:pt idx="5">
                  <c:v>182</c:v>
                </c:pt>
                <c:pt idx="6">
                  <c:v>183</c:v>
                </c:pt>
                <c:pt idx="7">
                  <c:v>179</c:v>
                </c:pt>
                <c:pt idx="8">
                  <c:v>179</c:v>
                </c:pt>
                <c:pt idx="9">
                  <c:v>179</c:v>
                </c:pt>
                <c:pt idx="10">
                  <c:v>181</c:v>
                </c:pt>
                <c:pt idx="11">
                  <c:v>194</c:v>
                </c:pt>
                <c:pt idx="12">
                  <c:v>192</c:v>
                </c:pt>
                <c:pt idx="13">
                  <c:v>191</c:v>
                </c:pt>
                <c:pt idx="14">
                  <c:v>192</c:v>
                </c:pt>
                <c:pt idx="15">
                  <c:v>193</c:v>
                </c:pt>
                <c:pt idx="16">
                  <c:v>193</c:v>
                </c:pt>
                <c:pt idx="17">
                  <c:v>191</c:v>
                </c:pt>
              </c:numCache>
            </c:numRef>
          </c:val>
        </c:ser>
        <c:ser>
          <c:idx val="8"/>
          <c:order val="8"/>
          <c:tx>
            <c:strRef>
              <c:f>'RAID Summary'!$A$10</c:f>
              <c:strCache>
                <c:ptCount val="1"/>
                <c:pt idx="0">
                  <c:v>Total Pending Decisions</c:v>
                </c:pt>
              </c:strCache>
            </c:strRef>
          </c:tx>
          <c:marker>
            <c:symbol val="none"/>
          </c:marker>
          <c:cat>
            <c:numRef>
              <c:f>'RAID Summary'!$B$1:$S$1</c:f>
              <c:numCache>
                <c:formatCode>d\-mmm\-yy</c:formatCode>
                <c:ptCount val="18"/>
                <c:pt idx="0">
                  <c:v>40898</c:v>
                </c:pt>
                <c:pt idx="1">
                  <c:v>40912</c:v>
                </c:pt>
                <c:pt idx="2">
                  <c:v>40919</c:v>
                </c:pt>
                <c:pt idx="3">
                  <c:v>40926</c:v>
                </c:pt>
                <c:pt idx="4">
                  <c:v>40933</c:v>
                </c:pt>
                <c:pt idx="5">
                  <c:v>40940</c:v>
                </c:pt>
                <c:pt idx="6">
                  <c:v>40947</c:v>
                </c:pt>
                <c:pt idx="7">
                  <c:v>40954</c:v>
                </c:pt>
                <c:pt idx="8">
                  <c:v>40961</c:v>
                </c:pt>
                <c:pt idx="9">
                  <c:v>40968</c:v>
                </c:pt>
                <c:pt idx="10">
                  <c:v>40974</c:v>
                </c:pt>
                <c:pt idx="11">
                  <c:v>40975</c:v>
                </c:pt>
                <c:pt idx="12">
                  <c:v>40976</c:v>
                </c:pt>
                <c:pt idx="13">
                  <c:v>40977</c:v>
                </c:pt>
                <c:pt idx="14">
                  <c:v>40980</c:v>
                </c:pt>
                <c:pt idx="15">
                  <c:v>40981</c:v>
                </c:pt>
                <c:pt idx="16">
                  <c:v>40982</c:v>
                </c:pt>
                <c:pt idx="17">
                  <c:v>40983</c:v>
                </c:pt>
              </c:numCache>
            </c:numRef>
          </c:cat>
          <c:val>
            <c:numRef>
              <c:f>'RAID Summary'!$B$10:$S$10</c:f>
              <c:numCache>
                <c:formatCode>General</c:formatCode>
                <c:ptCount val="18"/>
                <c:pt idx="0">
                  <c:v>24</c:v>
                </c:pt>
                <c:pt idx="1">
                  <c:v>24</c:v>
                </c:pt>
                <c:pt idx="2">
                  <c:v>25</c:v>
                </c:pt>
                <c:pt idx="3">
                  <c:v>24</c:v>
                </c:pt>
                <c:pt idx="4">
                  <c:v>30</c:v>
                </c:pt>
                <c:pt idx="5">
                  <c:v>39</c:v>
                </c:pt>
                <c:pt idx="6">
                  <c:v>40</c:v>
                </c:pt>
                <c:pt idx="7">
                  <c:v>29</c:v>
                </c:pt>
                <c:pt idx="8">
                  <c:v>28</c:v>
                </c:pt>
                <c:pt idx="9">
                  <c:v>27</c:v>
                </c:pt>
                <c:pt idx="10">
                  <c:v>22</c:v>
                </c:pt>
                <c:pt idx="11">
                  <c:v>33</c:v>
                </c:pt>
                <c:pt idx="12">
                  <c:v>28</c:v>
                </c:pt>
                <c:pt idx="13">
                  <c:v>26</c:v>
                </c:pt>
                <c:pt idx="14">
                  <c:v>26</c:v>
                </c:pt>
                <c:pt idx="15">
                  <c:v>26</c:v>
                </c:pt>
                <c:pt idx="16">
                  <c:v>26</c:v>
                </c:pt>
                <c:pt idx="17">
                  <c:v>23</c:v>
                </c:pt>
              </c:numCache>
            </c:numRef>
          </c:val>
        </c:ser>
        <c:marker val="1"/>
        <c:axId val="77583488"/>
        <c:axId val="77585024"/>
      </c:lineChart>
      <c:dateAx>
        <c:axId val="77583488"/>
        <c:scaling>
          <c:orientation val="minMax"/>
        </c:scaling>
        <c:axPos val="b"/>
        <c:numFmt formatCode="d\-mmm\-yy" sourceLinked="1"/>
        <c:maj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77585024"/>
        <c:crosses val="autoZero"/>
        <c:auto val="1"/>
        <c:lblOffset val="100"/>
        <c:baseTimeUnit val="days"/>
        <c:majorUnit val="7"/>
        <c:majorTimeUnit val="days"/>
      </c:dateAx>
      <c:valAx>
        <c:axId val="77585024"/>
        <c:scaling>
          <c:orientation val="minMax"/>
        </c:scaling>
        <c:axPos val="l"/>
        <c:majorGridlines/>
        <c:numFmt formatCode="General" sourceLinked="1"/>
        <c:maj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77583488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</c:chart>
  <c:externalData r:id="rId1"/>
</c:chartSpace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8" name="Rectangle 6"/>
          <p:cNvSpPr>
            <a:spLocks noChangeArrowheads="1"/>
          </p:cNvSpPr>
          <p:nvPr/>
        </p:nvSpPr>
        <p:spPr bwMode="auto">
          <a:xfrm>
            <a:off x="158750" y="9136063"/>
            <a:ext cx="1289050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May 22, 2008</a:t>
            </a:r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2481263" y="9136063"/>
            <a:ext cx="2057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Presentation title</a:t>
            </a:r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1635125" y="9136063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Page </a:t>
            </a:r>
            <a:fld id="{74984DEF-64B7-4B0D-9CAD-88AC71C7ACA2}" type="slidenum">
              <a:rPr lang="en-US" sz="1100">
                <a:cs typeface="Arial" charset="0"/>
              </a:rPr>
              <a:pPr/>
              <a:t>‹#›</a:t>
            </a:fld>
            <a:endParaRPr lang="en-US" sz="1100">
              <a:cs typeface="Arial" charset="0"/>
            </a:endParaRPr>
          </a:p>
        </p:txBody>
      </p:sp>
      <p:pic>
        <p:nvPicPr>
          <p:cNvPr id="69641" name="Picture 9" descr="logo_tagblac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62588" y="8953500"/>
            <a:ext cx="1485900" cy="33337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6438"/>
            <a:ext cx="4705350" cy="3529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470400"/>
            <a:ext cx="5670550" cy="423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265" tIns="47133" rIns="94265" bIns="4713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158750" y="9136063"/>
            <a:ext cx="1289050" cy="144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May 22, 2008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2481263" y="9136063"/>
            <a:ext cx="2057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Presentation title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1635125" y="9136063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cs typeface="Arial" charset="0"/>
              </a:rPr>
              <a:t>Page </a:t>
            </a:r>
            <a:fld id="{FA5FCB97-0EDB-4471-BEA3-C3A3F240EE22}" type="slidenum">
              <a:rPr lang="en-US" sz="1100">
                <a:cs typeface="Arial" charset="0"/>
              </a:rPr>
              <a:pPr/>
              <a:t>‹#›</a:t>
            </a:fld>
            <a:endParaRPr lang="en-US" sz="1100">
              <a:cs typeface="Arial" charset="0"/>
            </a:endParaRPr>
          </a:p>
        </p:txBody>
      </p:sp>
      <p:pic>
        <p:nvPicPr>
          <p:cNvPr id="8203" name="Picture 11" descr="logo_tagblac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62588" y="8953500"/>
            <a:ext cx="1485900" cy="33337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1588" indent="179388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360363" indent="190500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723900" indent="177800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081088" indent="176213" algn="l" rtl="0" fontAlgn="base">
      <a:spcBef>
        <a:spcPct val="30000"/>
      </a:spcBef>
      <a:spcAft>
        <a:spcPct val="0"/>
      </a:spcAft>
      <a:buClr>
        <a:srgbClr val="FFD200"/>
      </a:buClr>
      <a:buSzPct val="75000"/>
      <a:buFont typeface="Arial" charset="0"/>
      <a:buChar char="►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32575" y="882650"/>
            <a:ext cx="2057400" cy="52435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5613" y="882650"/>
            <a:ext cx="6024562" cy="524351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1" name="Rectangle 21"/>
          <p:cNvSpPr>
            <a:spLocks noChangeArrowheads="1"/>
          </p:cNvSpPr>
          <p:nvPr/>
        </p:nvSpPr>
        <p:spPr bwMode="auto">
          <a:xfrm>
            <a:off x="2784475" y="6419850"/>
            <a:ext cx="2057400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solidFill>
                  <a:srgbClr val="000000"/>
                </a:solidFill>
                <a:cs typeface="Arial" charset="0"/>
              </a:rPr>
              <a:t>Presentation title</a:t>
            </a:r>
          </a:p>
        </p:txBody>
      </p:sp>
      <p:sp>
        <p:nvSpPr>
          <p:cNvPr id="184342" name="Rectangle 22"/>
          <p:cNvSpPr>
            <a:spLocks noChangeArrowheads="1"/>
          </p:cNvSpPr>
          <p:nvPr/>
        </p:nvSpPr>
        <p:spPr bwMode="auto">
          <a:xfrm>
            <a:off x="457200" y="6419850"/>
            <a:ext cx="663575" cy="19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/>
          <a:lstStyle/>
          <a:p>
            <a:r>
              <a:rPr lang="en-US" sz="1100">
                <a:solidFill>
                  <a:srgbClr val="000000"/>
                </a:solidFill>
                <a:cs typeface="Arial" charset="0"/>
              </a:rPr>
              <a:t>Page </a:t>
            </a:r>
            <a:fld id="{F814BE6D-E410-470F-BDC7-C5CD7277454F}" type="slidenum">
              <a:rPr lang="en-US" sz="1100">
                <a:solidFill>
                  <a:srgbClr val="000000"/>
                </a:solidFill>
                <a:cs typeface="Arial" charset="0"/>
              </a:rPr>
              <a:pPr/>
              <a:t>‹#›</a:t>
            </a:fld>
            <a:endParaRPr lang="en-US" sz="1100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84344" name="Line 24"/>
          <p:cNvSpPr>
            <a:spLocks noChangeShapeType="1"/>
          </p:cNvSpPr>
          <p:nvPr/>
        </p:nvSpPr>
        <p:spPr bwMode="auto">
          <a:xfrm>
            <a:off x="455613" y="6243638"/>
            <a:ext cx="8229600" cy="0"/>
          </a:xfrm>
          <a:prstGeom prst="line">
            <a:avLst/>
          </a:prstGeom>
          <a:noFill/>
          <a:ln w="3175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45" name="Line 25"/>
          <p:cNvSpPr>
            <a:spLocks noChangeShapeType="1"/>
          </p:cNvSpPr>
          <p:nvPr/>
        </p:nvSpPr>
        <p:spPr bwMode="auto">
          <a:xfrm>
            <a:off x="455613" y="200025"/>
            <a:ext cx="8229600" cy="0"/>
          </a:xfrm>
          <a:prstGeom prst="line">
            <a:avLst/>
          </a:prstGeom>
          <a:noFill/>
          <a:ln w="6350">
            <a:solidFill>
              <a:srgbClr val="646464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184346" name="Picture 26" descr="logo_tagblack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226300" y="6386513"/>
            <a:ext cx="1485900" cy="333375"/>
          </a:xfrm>
          <a:prstGeom prst="rect">
            <a:avLst/>
          </a:prstGeom>
          <a:noFill/>
        </p:spPr>
      </p:pic>
      <p:sp>
        <p:nvSpPr>
          <p:cNvPr id="184338" name="Rectangle 18"/>
          <p:cNvSpPr>
            <a:spLocks noGrp="1" noChangeArrowheads="1"/>
          </p:cNvSpPr>
          <p:nvPr>
            <p:ph type="title"/>
          </p:nvPr>
        </p:nvSpPr>
        <p:spPr bwMode="auto">
          <a:xfrm>
            <a:off x="455613" y="882650"/>
            <a:ext cx="8234362" cy="145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 b="1">
          <a:solidFill>
            <a:srgbClr val="646464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5613" y="228600"/>
            <a:ext cx="8234362" cy="685800"/>
          </a:xfrm>
        </p:spPr>
        <p:txBody>
          <a:bodyPr/>
          <a:lstStyle/>
          <a:p>
            <a:r>
              <a:rPr lang="en-US" sz="2800" dirty="0" smtClean="0"/>
              <a:t>M&amp;C RAID: Project Summary</a:t>
            </a:r>
            <a:endParaRPr lang="en-US" sz="2800" dirty="0"/>
          </a:p>
        </p:txBody>
      </p:sp>
      <p:graphicFrame>
        <p:nvGraphicFramePr>
          <p:cNvPr id="6" name="Chart 5"/>
          <p:cNvGraphicFramePr/>
          <p:nvPr/>
        </p:nvGraphicFramePr>
        <p:xfrm>
          <a:off x="109537" y="671512"/>
          <a:ext cx="8924925" cy="5514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hart 9"/>
          <p:cNvGraphicFramePr/>
          <p:nvPr/>
        </p:nvGraphicFramePr>
        <p:xfrm>
          <a:off x="4724400" y="3276600"/>
          <a:ext cx="44196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/>
          <p:nvPr/>
        </p:nvGraphicFramePr>
        <p:xfrm>
          <a:off x="0" y="3200400"/>
          <a:ext cx="487680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/>
          <p:cNvGraphicFramePr/>
          <p:nvPr/>
        </p:nvGraphicFramePr>
        <p:xfrm>
          <a:off x="4495799" y="152400"/>
          <a:ext cx="4648201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/>
          <p:cNvGraphicFramePr/>
          <p:nvPr/>
        </p:nvGraphicFramePr>
        <p:xfrm>
          <a:off x="0" y="152400"/>
          <a:ext cx="4571999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hart 4"/>
          <p:cNvGraphicFramePr/>
          <p:nvPr/>
        </p:nvGraphicFramePr>
        <p:xfrm>
          <a:off x="4419600" y="152400"/>
          <a:ext cx="47244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0" y="152400"/>
          <a:ext cx="44958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1143000" y="3124200"/>
          <a:ext cx="6819899" cy="3114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ey statement slid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ey statement slide">
      <a:majorFont>
        <a:latin typeface="Arial"/>
        <a:ea typeface=""/>
        <a:cs typeface="Arial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Key statement slide 1">
        <a:dk1>
          <a:srgbClr val="646464"/>
        </a:dk1>
        <a:lt1>
          <a:srgbClr val="FFFFFF"/>
        </a:lt1>
        <a:dk2>
          <a:srgbClr val="646464"/>
        </a:dk2>
        <a:lt2>
          <a:srgbClr val="808080"/>
        </a:lt2>
        <a:accent1>
          <a:srgbClr val="808080"/>
        </a:accent1>
        <a:accent2>
          <a:srgbClr val="FFD200"/>
        </a:accent2>
        <a:accent3>
          <a:srgbClr val="FFFFFF"/>
        </a:accent3>
        <a:accent4>
          <a:srgbClr val="545454"/>
        </a:accent4>
        <a:accent5>
          <a:srgbClr val="C0C0C0"/>
        </a:accent5>
        <a:accent6>
          <a:srgbClr val="E7BE00"/>
        </a:accent6>
        <a:hlink>
          <a:srgbClr val="808080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08080"/>
      </a:accent1>
      <a:accent2>
        <a:srgbClr val="FFD200"/>
      </a:accent2>
      <a:accent3>
        <a:srgbClr val="FFFFFF"/>
      </a:accent3>
      <a:accent4>
        <a:srgbClr val="000000"/>
      </a:accent4>
      <a:accent5>
        <a:srgbClr val="C0C0C0"/>
      </a:accent5>
      <a:accent6>
        <a:srgbClr val="E7BE00"/>
      </a:accent6>
      <a:hlink>
        <a:srgbClr val="808080"/>
      </a:hlink>
      <a:folHlink>
        <a:srgbClr val="C0C0C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1275</TotalTime>
  <Words>21</Words>
  <Application>Microsoft Office PowerPoint</Application>
  <PresentationFormat>On-screen Show (4:3)</PresentationFormat>
  <Paragraphs>8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Key statement slide</vt:lpstr>
      <vt:lpstr>M&amp;C RAID: Project Summary</vt:lpstr>
      <vt:lpstr>Slide 2</vt:lpstr>
      <vt:lpstr>Slide 3</vt:lpstr>
    </vt:vector>
  </TitlesOfParts>
  <Company>Ernst &amp; Young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Laura Murphy</dc:creator>
  <cp:lastModifiedBy>Wale Agbaje</cp:lastModifiedBy>
  <cp:revision>102</cp:revision>
  <dcterms:created xsi:type="dcterms:W3CDTF">2012-02-13T14:56:57Z</dcterms:created>
  <dcterms:modified xsi:type="dcterms:W3CDTF">2012-03-16T08:37:32Z</dcterms:modified>
</cp:coreProperties>
</file>