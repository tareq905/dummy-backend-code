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customXml/itemProps4.xml" ContentType="application/vnd.openxmlformats-officedocument.customXmlProperties+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8"/>
  </p:notesMasterIdLst>
  <p:sldIdLst>
    <p:sldId id="258" r:id="rId6"/>
    <p:sldId id="259"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61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1.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C:\Documents%20and%20Settings\murphla\My%20Documents\SharePoint%20Drafts\sp.ey.net\msibm\MC%20Program\Program%20Management\RAID\MC%20Program%20RAID%20Log.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lang val="en-GB"/>
  <c:chart>
    <c:autoTitleDeleted val="1"/>
    <c:plotArea>
      <c:layout/>
      <c:lineChart>
        <c:grouping val="standard"/>
        <c:ser>
          <c:idx val="0"/>
          <c:order val="0"/>
          <c:tx>
            <c:strRef>
              <c:f>'RAID Summary'!$A$2</c:f>
              <c:strCache>
                <c:ptCount val="1"/>
                <c:pt idx="0">
                  <c:v>Total Open Risks</c:v>
                </c:pt>
              </c:strCache>
            </c:strRef>
          </c:tx>
          <c:marker>
            <c:symbol val="none"/>
          </c:marker>
          <c:cat>
            <c:numRef>
              <c:f>'RAID Summary'!$B$1:$R$1</c:f>
              <c:numCache>
                <c:formatCode>d\-mmm\-yy</c:formatCode>
                <c:ptCount val="17"/>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numCache>
            </c:numRef>
          </c:cat>
          <c:val>
            <c:numRef>
              <c:f>'RAID Summary'!$B$2:$R$2</c:f>
              <c:numCache>
                <c:formatCode>General</c:formatCode>
                <c:ptCount val="17"/>
                <c:pt idx="0">
                  <c:v>40</c:v>
                </c:pt>
                <c:pt idx="1">
                  <c:v>34</c:v>
                </c:pt>
                <c:pt idx="2">
                  <c:v>33</c:v>
                </c:pt>
                <c:pt idx="3">
                  <c:v>30</c:v>
                </c:pt>
                <c:pt idx="4">
                  <c:v>32</c:v>
                </c:pt>
                <c:pt idx="5">
                  <c:v>32</c:v>
                </c:pt>
                <c:pt idx="6">
                  <c:v>30</c:v>
                </c:pt>
                <c:pt idx="7">
                  <c:v>30</c:v>
                </c:pt>
                <c:pt idx="8">
                  <c:v>32</c:v>
                </c:pt>
                <c:pt idx="9">
                  <c:v>39</c:v>
                </c:pt>
                <c:pt idx="10">
                  <c:v>45</c:v>
                </c:pt>
                <c:pt idx="11">
                  <c:v>38</c:v>
                </c:pt>
                <c:pt idx="12">
                  <c:v>37</c:v>
                </c:pt>
                <c:pt idx="13">
                  <c:v>32</c:v>
                </c:pt>
                <c:pt idx="14">
                  <c:v>30</c:v>
                </c:pt>
                <c:pt idx="15">
                  <c:v>29</c:v>
                </c:pt>
                <c:pt idx="16">
                  <c:v>32</c:v>
                </c:pt>
              </c:numCache>
            </c:numRef>
          </c:val>
        </c:ser>
        <c:ser>
          <c:idx val="1"/>
          <c:order val="1"/>
          <c:tx>
            <c:strRef>
              <c:f>'RAID Summary'!$A$3</c:f>
              <c:strCache>
                <c:ptCount val="1"/>
                <c:pt idx="0">
                  <c:v>Total Open High or Critical Risks</c:v>
                </c:pt>
              </c:strCache>
            </c:strRef>
          </c:tx>
          <c:marker>
            <c:symbol val="none"/>
          </c:marker>
          <c:cat>
            <c:numRef>
              <c:f>'RAID Summary'!$B$1:$R$1</c:f>
              <c:numCache>
                <c:formatCode>d\-mmm\-yy</c:formatCode>
                <c:ptCount val="17"/>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numCache>
            </c:numRef>
          </c:cat>
          <c:val>
            <c:numRef>
              <c:f>'RAID Summary'!$B$3:$R$3</c:f>
              <c:numCache>
                <c:formatCode>General</c:formatCode>
                <c:ptCount val="17"/>
                <c:pt idx="0">
                  <c:v>15</c:v>
                </c:pt>
                <c:pt idx="1">
                  <c:v>10</c:v>
                </c:pt>
                <c:pt idx="2">
                  <c:v>13</c:v>
                </c:pt>
                <c:pt idx="3">
                  <c:v>13</c:v>
                </c:pt>
                <c:pt idx="4">
                  <c:v>14</c:v>
                </c:pt>
                <c:pt idx="5">
                  <c:v>14</c:v>
                </c:pt>
                <c:pt idx="6">
                  <c:v>16</c:v>
                </c:pt>
                <c:pt idx="7">
                  <c:v>16</c:v>
                </c:pt>
                <c:pt idx="8">
                  <c:v>21</c:v>
                </c:pt>
                <c:pt idx="9">
                  <c:v>28</c:v>
                </c:pt>
                <c:pt idx="10">
                  <c:v>25</c:v>
                </c:pt>
                <c:pt idx="11">
                  <c:v>19</c:v>
                </c:pt>
                <c:pt idx="12">
                  <c:v>17</c:v>
                </c:pt>
                <c:pt idx="13">
                  <c:v>14</c:v>
                </c:pt>
                <c:pt idx="14">
                  <c:v>14</c:v>
                </c:pt>
                <c:pt idx="15">
                  <c:v>14</c:v>
                </c:pt>
                <c:pt idx="16">
                  <c:v>17</c:v>
                </c:pt>
              </c:numCache>
            </c:numRef>
          </c:val>
        </c:ser>
        <c:ser>
          <c:idx val="2"/>
          <c:order val="2"/>
          <c:tx>
            <c:strRef>
              <c:f>'RAID Summary'!$A$4</c:f>
              <c:strCache>
                <c:ptCount val="1"/>
                <c:pt idx="0">
                  <c:v>Risks: Missed Required Resolution Date</c:v>
                </c:pt>
              </c:strCache>
            </c:strRef>
          </c:tx>
          <c:marker>
            <c:symbol val="none"/>
          </c:marker>
          <c:cat>
            <c:numRef>
              <c:f>'RAID Summary'!$B$1:$R$1</c:f>
              <c:numCache>
                <c:formatCode>d\-mmm\-yy</c:formatCode>
                <c:ptCount val="17"/>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numCache>
            </c:numRef>
          </c:cat>
          <c:val>
            <c:numRef>
              <c:f>'RAID Summary'!$B$4:$R$4</c:f>
              <c:numCache>
                <c:formatCode>General</c:formatCode>
                <c:ptCount val="17"/>
                <c:pt idx="2">
                  <c:v>2</c:v>
                </c:pt>
                <c:pt idx="3">
                  <c:v>3</c:v>
                </c:pt>
                <c:pt idx="4">
                  <c:v>5</c:v>
                </c:pt>
                <c:pt idx="5">
                  <c:v>7</c:v>
                </c:pt>
                <c:pt idx="6">
                  <c:v>8</c:v>
                </c:pt>
                <c:pt idx="7">
                  <c:v>10</c:v>
                </c:pt>
                <c:pt idx="8">
                  <c:v>9</c:v>
                </c:pt>
                <c:pt idx="9">
                  <c:v>13</c:v>
                </c:pt>
                <c:pt idx="10">
                  <c:v>9</c:v>
                </c:pt>
                <c:pt idx="11">
                  <c:v>2</c:v>
                </c:pt>
                <c:pt idx="12">
                  <c:v>2</c:v>
                </c:pt>
                <c:pt idx="13">
                  <c:v>1</c:v>
                </c:pt>
                <c:pt idx="14">
                  <c:v>1</c:v>
                </c:pt>
                <c:pt idx="15">
                  <c:v>0</c:v>
                </c:pt>
                <c:pt idx="16">
                  <c:v>1</c:v>
                </c:pt>
              </c:numCache>
            </c:numRef>
          </c:val>
        </c:ser>
        <c:ser>
          <c:idx val="3"/>
          <c:order val="3"/>
          <c:tx>
            <c:strRef>
              <c:f>'RAID Summary'!$A$5</c:f>
              <c:strCache>
                <c:ptCount val="1"/>
                <c:pt idx="0">
                  <c:v>Total Open Issues</c:v>
                </c:pt>
              </c:strCache>
            </c:strRef>
          </c:tx>
          <c:marker>
            <c:symbol val="none"/>
          </c:marker>
          <c:cat>
            <c:numRef>
              <c:f>'RAID Summary'!$B$1:$R$1</c:f>
              <c:numCache>
                <c:formatCode>d\-mmm\-yy</c:formatCode>
                <c:ptCount val="17"/>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numCache>
            </c:numRef>
          </c:cat>
          <c:val>
            <c:numRef>
              <c:f>'RAID Summary'!$B$5:$R$5</c:f>
              <c:numCache>
                <c:formatCode>General</c:formatCode>
                <c:ptCount val="17"/>
                <c:pt idx="0">
                  <c:v>37</c:v>
                </c:pt>
                <c:pt idx="1">
                  <c:v>37</c:v>
                </c:pt>
                <c:pt idx="2">
                  <c:v>42</c:v>
                </c:pt>
                <c:pt idx="3">
                  <c:v>42</c:v>
                </c:pt>
                <c:pt idx="4">
                  <c:v>45</c:v>
                </c:pt>
                <c:pt idx="5">
                  <c:v>48</c:v>
                </c:pt>
                <c:pt idx="6">
                  <c:v>52</c:v>
                </c:pt>
                <c:pt idx="7">
                  <c:v>43</c:v>
                </c:pt>
                <c:pt idx="8">
                  <c:v>49</c:v>
                </c:pt>
                <c:pt idx="9">
                  <c:v>51</c:v>
                </c:pt>
                <c:pt idx="10">
                  <c:v>55</c:v>
                </c:pt>
                <c:pt idx="11">
                  <c:v>51</c:v>
                </c:pt>
                <c:pt idx="12">
                  <c:v>53</c:v>
                </c:pt>
                <c:pt idx="13">
                  <c:v>46</c:v>
                </c:pt>
                <c:pt idx="14">
                  <c:v>47</c:v>
                </c:pt>
                <c:pt idx="15">
                  <c:v>44</c:v>
                </c:pt>
                <c:pt idx="16">
                  <c:v>44</c:v>
                </c:pt>
              </c:numCache>
            </c:numRef>
          </c:val>
        </c:ser>
        <c:ser>
          <c:idx val="4"/>
          <c:order val="4"/>
          <c:tx>
            <c:strRef>
              <c:f>'RAID Summary'!$A$6</c:f>
              <c:strCache>
                <c:ptCount val="1"/>
                <c:pt idx="0">
                  <c:v>Total Open High or Critical Issues</c:v>
                </c:pt>
              </c:strCache>
            </c:strRef>
          </c:tx>
          <c:marker>
            <c:symbol val="none"/>
          </c:marker>
          <c:cat>
            <c:numRef>
              <c:f>'RAID Summary'!$B$1:$R$1</c:f>
              <c:numCache>
                <c:formatCode>d\-mmm\-yy</c:formatCode>
                <c:ptCount val="17"/>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numCache>
            </c:numRef>
          </c:cat>
          <c:val>
            <c:numRef>
              <c:f>'RAID Summary'!$B$6:$R$6</c:f>
              <c:numCache>
                <c:formatCode>General</c:formatCode>
                <c:ptCount val="17"/>
                <c:pt idx="2">
                  <c:v>25</c:v>
                </c:pt>
                <c:pt idx="3">
                  <c:v>25</c:v>
                </c:pt>
                <c:pt idx="4">
                  <c:v>28</c:v>
                </c:pt>
                <c:pt idx="5">
                  <c:v>33</c:v>
                </c:pt>
                <c:pt idx="6">
                  <c:v>39</c:v>
                </c:pt>
                <c:pt idx="7">
                  <c:v>31</c:v>
                </c:pt>
                <c:pt idx="8">
                  <c:v>37</c:v>
                </c:pt>
                <c:pt idx="9">
                  <c:v>40</c:v>
                </c:pt>
                <c:pt idx="10">
                  <c:v>45</c:v>
                </c:pt>
                <c:pt idx="11">
                  <c:v>42</c:v>
                </c:pt>
                <c:pt idx="12">
                  <c:v>45</c:v>
                </c:pt>
                <c:pt idx="13">
                  <c:v>37</c:v>
                </c:pt>
                <c:pt idx="14">
                  <c:v>37</c:v>
                </c:pt>
                <c:pt idx="15">
                  <c:v>36</c:v>
                </c:pt>
                <c:pt idx="16">
                  <c:v>36</c:v>
                </c:pt>
              </c:numCache>
            </c:numRef>
          </c:val>
        </c:ser>
        <c:ser>
          <c:idx val="5"/>
          <c:order val="5"/>
          <c:tx>
            <c:strRef>
              <c:f>'RAID Summary'!$A$7</c:f>
              <c:strCache>
                <c:ptCount val="1"/>
                <c:pt idx="0">
                  <c:v>Issues: Missed Required Resolution Date</c:v>
                </c:pt>
              </c:strCache>
            </c:strRef>
          </c:tx>
          <c:marker>
            <c:symbol val="none"/>
          </c:marker>
          <c:cat>
            <c:numRef>
              <c:f>'RAID Summary'!$B$1:$R$1</c:f>
              <c:numCache>
                <c:formatCode>d\-mmm\-yy</c:formatCode>
                <c:ptCount val="17"/>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numCache>
            </c:numRef>
          </c:cat>
          <c:val>
            <c:numRef>
              <c:f>'RAID Summary'!$B$7:$R$7</c:f>
              <c:numCache>
                <c:formatCode>General</c:formatCode>
                <c:ptCount val="17"/>
                <c:pt idx="2">
                  <c:v>13</c:v>
                </c:pt>
                <c:pt idx="3">
                  <c:v>12</c:v>
                </c:pt>
                <c:pt idx="4">
                  <c:v>7</c:v>
                </c:pt>
                <c:pt idx="5">
                  <c:v>13</c:v>
                </c:pt>
                <c:pt idx="6">
                  <c:v>16</c:v>
                </c:pt>
                <c:pt idx="7">
                  <c:v>14</c:v>
                </c:pt>
                <c:pt idx="8">
                  <c:v>12</c:v>
                </c:pt>
                <c:pt idx="9">
                  <c:v>22</c:v>
                </c:pt>
                <c:pt idx="10">
                  <c:v>20</c:v>
                </c:pt>
                <c:pt idx="11">
                  <c:v>14</c:v>
                </c:pt>
                <c:pt idx="12">
                  <c:v>16</c:v>
                </c:pt>
                <c:pt idx="13">
                  <c:v>13</c:v>
                </c:pt>
                <c:pt idx="14">
                  <c:v>8</c:v>
                </c:pt>
                <c:pt idx="15">
                  <c:v>6</c:v>
                </c:pt>
                <c:pt idx="16">
                  <c:v>5</c:v>
                </c:pt>
              </c:numCache>
            </c:numRef>
          </c:val>
        </c:ser>
        <c:ser>
          <c:idx val="6"/>
          <c:order val="6"/>
          <c:tx>
            <c:strRef>
              <c:f>'RAID Summary'!$A$8</c:f>
              <c:strCache>
                <c:ptCount val="1"/>
                <c:pt idx="0">
                  <c:v>Total Assumptions</c:v>
                </c:pt>
              </c:strCache>
            </c:strRef>
          </c:tx>
          <c:marker>
            <c:symbol val="none"/>
          </c:marker>
          <c:cat>
            <c:numRef>
              <c:f>'RAID Summary'!$B$1:$R$1</c:f>
              <c:numCache>
                <c:formatCode>d\-mmm\-yy</c:formatCode>
                <c:ptCount val="17"/>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numCache>
            </c:numRef>
          </c:cat>
          <c:val>
            <c:numRef>
              <c:f>'RAID Summary'!$B$8:$R$8</c:f>
              <c:numCache>
                <c:formatCode>General</c:formatCode>
                <c:ptCount val="17"/>
                <c:pt idx="0">
                  <c:v>78</c:v>
                </c:pt>
                <c:pt idx="1">
                  <c:v>70</c:v>
                </c:pt>
                <c:pt idx="2">
                  <c:v>67</c:v>
                </c:pt>
                <c:pt idx="3">
                  <c:v>67</c:v>
                </c:pt>
                <c:pt idx="4">
                  <c:v>68</c:v>
                </c:pt>
                <c:pt idx="5">
                  <c:v>69</c:v>
                </c:pt>
                <c:pt idx="6">
                  <c:v>69</c:v>
                </c:pt>
                <c:pt idx="7">
                  <c:v>69</c:v>
                </c:pt>
                <c:pt idx="8">
                  <c:v>63</c:v>
                </c:pt>
                <c:pt idx="9">
                  <c:v>63</c:v>
                </c:pt>
                <c:pt idx="10">
                  <c:v>63</c:v>
                </c:pt>
                <c:pt idx="11">
                  <c:v>63</c:v>
                </c:pt>
                <c:pt idx="12">
                  <c:v>63</c:v>
                </c:pt>
                <c:pt idx="13">
                  <c:v>63</c:v>
                </c:pt>
                <c:pt idx="14">
                  <c:v>62</c:v>
                </c:pt>
                <c:pt idx="15">
                  <c:v>62</c:v>
                </c:pt>
                <c:pt idx="16">
                  <c:v>62</c:v>
                </c:pt>
              </c:numCache>
            </c:numRef>
          </c:val>
        </c:ser>
        <c:ser>
          <c:idx val="7"/>
          <c:order val="7"/>
          <c:tx>
            <c:strRef>
              <c:f>'RAID Summary'!$A$9</c:f>
              <c:strCache>
                <c:ptCount val="1"/>
                <c:pt idx="0">
                  <c:v>Total Decisions</c:v>
                </c:pt>
              </c:strCache>
            </c:strRef>
          </c:tx>
          <c:marker>
            <c:symbol val="none"/>
          </c:marker>
          <c:cat>
            <c:numRef>
              <c:f>'RAID Summary'!$B$1:$R$1</c:f>
              <c:numCache>
                <c:formatCode>d\-mmm\-yy</c:formatCode>
                <c:ptCount val="17"/>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numCache>
            </c:numRef>
          </c:cat>
          <c:val>
            <c:numRef>
              <c:f>'RAID Summary'!$B$9:$R$9</c:f>
              <c:numCache>
                <c:formatCode>General</c:formatCode>
                <c:ptCount val="17"/>
                <c:pt idx="0">
                  <c:v>153</c:v>
                </c:pt>
                <c:pt idx="1">
                  <c:v>153</c:v>
                </c:pt>
                <c:pt idx="2">
                  <c:v>154</c:v>
                </c:pt>
                <c:pt idx="3">
                  <c:v>154</c:v>
                </c:pt>
                <c:pt idx="4">
                  <c:v>161</c:v>
                </c:pt>
                <c:pt idx="5">
                  <c:v>182</c:v>
                </c:pt>
                <c:pt idx="6">
                  <c:v>183</c:v>
                </c:pt>
                <c:pt idx="7">
                  <c:v>179</c:v>
                </c:pt>
                <c:pt idx="8">
                  <c:v>179</c:v>
                </c:pt>
                <c:pt idx="9">
                  <c:v>179</c:v>
                </c:pt>
                <c:pt idx="10">
                  <c:v>181</c:v>
                </c:pt>
                <c:pt idx="11">
                  <c:v>194</c:v>
                </c:pt>
                <c:pt idx="12">
                  <c:v>192</c:v>
                </c:pt>
                <c:pt idx="13">
                  <c:v>191</c:v>
                </c:pt>
                <c:pt idx="14">
                  <c:v>192</c:v>
                </c:pt>
                <c:pt idx="15">
                  <c:v>193</c:v>
                </c:pt>
                <c:pt idx="16">
                  <c:v>193</c:v>
                </c:pt>
              </c:numCache>
            </c:numRef>
          </c:val>
        </c:ser>
        <c:ser>
          <c:idx val="8"/>
          <c:order val="8"/>
          <c:tx>
            <c:strRef>
              <c:f>'RAID Summary'!$A$10</c:f>
              <c:strCache>
                <c:ptCount val="1"/>
                <c:pt idx="0">
                  <c:v>Total Pending Decisions</c:v>
                </c:pt>
              </c:strCache>
            </c:strRef>
          </c:tx>
          <c:marker>
            <c:symbol val="none"/>
          </c:marker>
          <c:cat>
            <c:numRef>
              <c:f>'RAID Summary'!$B$1:$R$1</c:f>
              <c:numCache>
                <c:formatCode>d\-mmm\-yy</c:formatCode>
                <c:ptCount val="17"/>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numCache>
            </c:numRef>
          </c:cat>
          <c:val>
            <c:numRef>
              <c:f>'RAID Summary'!$B$10:$R$10</c:f>
              <c:numCache>
                <c:formatCode>General</c:formatCode>
                <c:ptCount val="17"/>
                <c:pt idx="0">
                  <c:v>24</c:v>
                </c:pt>
                <c:pt idx="1">
                  <c:v>24</c:v>
                </c:pt>
                <c:pt idx="2">
                  <c:v>25</c:v>
                </c:pt>
                <c:pt idx="3">
                  <c:v>24</c:v>
                </c:pt>
                <c:pt idx="4">
                  <c:v>30</c:v>
                </c:pt>
                <c:pt idx="5">
                  <c:v>39</c:v>
                </c:pt>
                <c:pt idx="6">
                  <c:v>40</c:v>
                </c:pt>
                <c:pt idx="7">
                  <c:v>29</c:v>
                </c:pt>
                <c:pt idx="8">
                  <c:v>28</c:v>
                </c:pt>
                <c:pt idx="9">
                  <c:v>27</c:v>
                </c:pt>
                <c:pt idx="10">
                  <c:v>22</c:v>
                </c:pt>
                <c:pt idx="11">
                  <c:v>33</c:v>
                </c:pt>
                <c:pt idx="12">
                  <c:v>28</c:v>
                </c:pt>
                <c:pt idx="13">
                  <c:v>26</c:v>
                </c:pt>
                <c:pt idx="14">
                  <c:v>26</c:v>
                </c:pt>
                <c:pt idx="15">
                  <c:v>26</c:v>
                </c:pt>
                <c:pt idx="16">
                  <c:v>26</c:v>
                </c:pt>
              </c:numCache>
            </c:numRef>
          </c:val>
        </c:ser>
        <c:marker val="1"/>
        <c:axId val="97945088"/>
        <c:axId val="97946624"/>
      </c:lineChart>
      <c:dateAx>
        <c:axId val="97945088"/>
        <c:scaling>
          <c:orientation val="minMax"/>
        </c:scaling>
        <c:axPos val="b"/>
        <c:numFmt formatCode="d\-mmm\-yy" sourceLinked="1"/>
        <c:majorTickMark val="none"/>
        <c:tickLblPos val="nextTo"/>
        <c:txPr>
          <a:bodyPr/>
          <a:lstStyle/>
          <a:p>
            <a:pPr>
              <a:defRPr sz="800"/>
            </a:pPr>
            <a:endParaRPr lang="en-US"/>
          </a:p>
        </c:txPr>
        <c:crossAx val="97946624"/>
        <c:crosses val="autoZero"/>
        <c:auto val="1"/>
        <c:lblOffset val="100"/>
        <c:baseTimeUnit val="days"/>
        <c:majorUnit val="7"/>
        <c:majorTimeUnit val="days"/>
      </c:dateAx>
      <c:valAx>
        <c:axId val="97946624"/>
        <c:scaling>
          <c:orientation val="minMax"/>
        </c:scaling>
        <c:axPos val="l"/>
        <c:majorGridlines/>
        <c:numFmt formatCode="General" sourceLinked="1"/>
        <c:majorTickMark val="none"/>
        <c:tickLblPos val="nextTo"/>
        <c:txPr>
          <a:bodyPr/>
          <a:lstStyle/>
          <a:p>
            <a:pPr>
              <a:defRPr sz="800"/>
            </a:pPr>
            <a:endParaRPr lang="en-US"/>
          </a:p>
        </c:txPr>
        <c:crossAx val="97945088"/>
        <c:crosses val="autoZero"/>
        <c:crossBetween val="between"/>
      </c:valAx>
    </c:plotArea>
    <c:legend>
      <c:legendPos val="r"/>
      <c:layout/>
      <c:txPr>
        <a:bodyPr/>
        <a:lstStyle/>
        <a:p>
          <a:pPr>
            <a:defRPr sz="800"/>
          </a:pPr>
          <a:endParaRPr lang="en-US"/>
        </a:p>
      </c:txPr>
    </c:legend>
    <c:plotVisOnly val="1"/>
  </c:chart>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EF1A4A-8E82-46E9-9FAA-8937536C091C}" type="datetimeFigureOut">
              <a:rPr lang="en-US" smtClean="0"/>
              <a:pPr/>
              <a:t>3/15/2012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57EFC4-BCE1-40C5-825F-A6039ECCBEEA}"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GB" dirty="0" smtClean="0"/>
              <a:t>Cost</a:t>
            </a:r>
          </a:p>
          <a:p>
            <a:pPr defTabSz="855340">
              <a:defRPr/>
            </a:pPr>
            <a:r>
              <a:rPr lang="en-GB" dirty="0" smtClean="0"/>
              <a:t>GREEN - </a:t>
            </a:r>
            <a:r>
              <a:rPr lang="en-US" dirty="0" smtClean="0"/>
              <a:t>Estimate at Completion (EAC) = + 0 - 5% of approved spend (cost baseline + approved change requests)</a:t>
            </a:r>
            <a:endParaRPr lang="en-GB" dirty="0" smtClean="0"/>
          </a:p>
          <a:p>
            <a:pPr defTabSz="855340">
              <a:defRPr/>
            </a:pPr>
            <a:r>
              <a:rPr lang="en-GB" dirty="0" smtClean="0"/>
              <a:t>AMBER - </a:t>
            </a:r>
            <a:r>
              <a:rPr lang="en-US" dirty="0" smtClean="0"/>
              <a:t>Estimate at Completion (EAC) = + 6 - 10% of approved spend (cost baseline + approved changes) and/or pending spend</a:t>
            </a:r>
            <a:endParaRPr lang="en-GB" dirty="0" smtClean="0"/>
          </a:p>
          <a:p>
            <a:r>
              <a:rPr lang="en-GB" dirty="0" smtClean="0"/>
              <a:t>RED</a:t>
            </a:r>
            <a:r>
              <a:rPr lang="en-GB" baseline="0" dirty="0" smtClean="0"/>
              <a:t> – </a:t>
            </a:r>
            <a:r>
              <a:rPr lang="en-US" dirty="0" smtClean="0"/>
              <a:t>Estimate at Completion (EAC) exceeds + 10% or $100,000 of approved spend (cost baseline + approved changes) and/or pending spend or no project budget defined</a:t>
            </a:r>
            <a:endParaRPr lang="en-GB" baseline="0" dirty="0" smtClean="0"/>
          </a:p>
          <a:p>
            <a:endParaRPr lang="en-GB" baseline="0" dirty="0" smtClean="0"/>
          </a:p>
          <a:p>
            <a:r>
              <a:rPr lang="en-GB" dirty="0" smtClean="0"/>
              <a:t>Schedule</a:t>
            </a:r>
          </a:p>
          <a:p>
            <a:r>
              <a:rPr lang="en-GB" dirty="0" smtClean="0"/>
              <a:t>GREEN - </a:t>
            </a:r>
            <a:r>
              <a:rPr lang="en-US" dirty="0" smtClean="0"/>
              <a:t>The project schedule supports the end date of the project (with some elapsed time contingency).</a:t>
            </a:r>
            <a:endParaRPr lang="en-GB" dirty="0" smtClean="0"/>
          </a:p>
          <a:p>
            <a:r>
              <a:rPr lang="en-GB" dirty="0" smtClean="0"/>
              <a:t>AMBER - </a:t>
            </a:r>
            <a:r>
              <a:rPr lang="en-US" dirty="0" smtClean="0"/>
              <a:t>The project schedule supports the end date, but issues, risks and/or changes exist that may put the date in jeopardy.</a:t>
            </a:r>
            <a:endParaRPr lang="en-GB" dirty="0" smtClean="0"/>
          </a:p>
          <a:p>
            <a:r>
              <a:rPr lang="en-GB" dirty="0" smtClean="0"/>
              <a:t>RED</a:t>
            </a:r>
            <a:r>
              <a:rPr lang="en-GB" baseline="0" dirty="0" smtClean="0"/>
              <a:t> – </a:t>
            </a:r>
            <a:r>
              <a:rPr lang="en-US" dirty="0" smtClean="0"/>
              <a:t>The project schedule does not exist and/or the project schedule does not support the end of the project.</a:t>
            </a:r>
            <a:endParaRPr lang="en-GB" baseline="0" dirty="0" smtClean="0"/>
          </a:p>
          <a:p>
            <a:endParaRPr lang="en-GB" baseline="0" dirty="0" smtClean="0"/>
          </a:p>
          <a:p>
            <a:r>
              <a:rPr lang="en-GB" dirty="0" smtClean="0"/>
              <a:t>Scope</a:t>
            </a:r>
          </a:p>
          <a:p>
            <a:r>
              <a:rPr lang="en-GB" dirty="0" smtClean="0"/>
              <a:t>GREEN - </a:t>
            </a:r>
            <a:r>
              <a:rPr lang="en-US" dirty="0" smtClean="0"/>
              <a:t>Scope defined and </a:t>
            </a:r>
            <a:r>
              <a:rPr lang="en-US" u="sng" dirty="0" smtClean="0"/>
              <a:t>approved</a:t>
            </a:r>
            <a:r>
              <a:rPr lang="en-US" dirty="0" smtClean="0"/>
              <a:t> (scope baseline) with no pending change requests.</a:t>
            </a:r>
            <a:endParaRPr lang="en-GB" dirty="0" smtClean="0"/>
          </a:p>
          <a:p>
            <a:r>
              <a:rPr lang="en-GB" dirty="0" smtClean="0"/>
              <a:t>AMBER - </a:t>
            </a:r>
            <a:r>
              <a:rPr lang="en-US" dirty="0" smtClean="0"/>
              <a:t>Scope defined and </a:t>
            </a:r>
            <a:r>
              <a:rPr lang="en-US" u="sng" dirty="0" smtClean="0"/>
              <a:t>approved</a:t>
            </a:r>
            <a:r>
              <a:rPr lang="en-US" dirty="0" smtClean="0"/>
              <a:t> (scope baseline) with </a:t>
            </a:r>
            <a:r>
              <a:rPr lang="en-US" u="sng" dirty="0" smtClean="0"/>
              <a:t>pending</a:t>
            </a:r>
            <a:r>
              <a:rPr lang="en-US" dirty="0" smtClean="0"/>
              <a:t> change requests – known and not raised and raised but not agreed.</a:t>
            </a:r>
            <a:endParaRPr lang="en-GB" dirty="0" smtClean="0"/>
          </a:p>
          <a:p>
            <a:r>
              <a:rPr lang="en-GB" dirty="0" smtClean="0"/>
              <a:t>RED</a:t>
            </a:r>
            <a:r>
              <a:rPr lang="en-GB" baseline="0" dirty="0" smtClean="0"/>
              <a:t> – </a:t>
            </a:r>
            <a:r>
              <a:rPr lang="en-US" dirty="0" smtClean="0"/>
              <a:t>Scope undefined or unapproved (no scope baseline) and/or multiple pending change requests.</a:t>
            </a:r>
            <a:endParaRPr lang="en-GB" baseline="0" dirty="0" smtClean="0"/>
          </a:p>
          <a:p>
            <a:endParaRPr lang="en-GB" baseline="0" dirty="0" smtClean="0"/>
          </a:p>
          <a:p>
            <a:r>
              <a:rPr lang="en-GB" dirty="0" smtClean="0"/>
              <a:t>Risk</a:t>
            </a:r>
          </a:p>
          <a:p>
            <a:r>
              <a:rPr lang="en-GB" dirty="0" smtClean="0"/>
              <a:t>GREEN – Low amount of risks with negligible impact</a:t>
            </a:r>
          </a:p>
          <a:p>
            <a:r>
              <a:rPr lang="en-GB" dirty="0" smtClean="0"/>
              <a:t>AMBER – Medium amount of risks. High or medium impact but with mitigation actions in place. Time left to put in place mitigation plans.</a:t>
            </a:r>
          </a:p>
          <a:p>
            <a:r>
              <a:rPr lang="en-GB" dirty="0" smtClean="0"/>
              <a:t>RED</a:t>
            </a:r>
            <a:r>
              <a:rPr lang="en-GB" baseline="0" dirty="0" smtClean="0"/>
              <a:t> – High number of risks. High score risks which impact in the near term. No mitigation in place for High risks.</a:t>
            </a:r>
          </a:p>
          <a:p>
            <a:endParaRPr lang="en-GB" baseline="0" dirty="0" smtClean="0"/>
          </a:p>
          <a:p>
            <a:r>
              <a:rPr lang="en-GB" dirty="0" smtClean="0"/>
              <a:t>Issue</a:t>
            </a:r>
          </a:p>
          <a:p>
            <a:r>
              <a:rPr lang="en-GB" dirty="0" smtClean="0"/>
              <a:t>GREEN – No or low impact issues. Medium impact issues with resolution plans agreed and in place.</a:t>
            </a:r>
          </a:p>
          <a:p>
            <a:r>
              <a:rPr lang="en-GB" dirty="0" smtClean="0"/>
              <a:t>AMBER – Large</a:t>
            </a:r>
            <a:r>
              <a:rPr lang="en-GB" baseline="0" dirty="0" smtClean="0"/>
              <a:t> amount of issues and/or Medium impact issues with no resolution plans.</a:t>
            </a:r>
            <a:endParaRPr lang="en-GB" dirty="0" smtClean="0"/>
          </a:p>
          <a:p>
            <a:r>
              <a:rPr lang="en-GB" dirty="0" smtClean="0"/>
              <a:t>RED</a:t>
            </a:r>
            <a:r>
              <a:rPr lang="en-GB" baseline="0" dirty="0" smtClean="0"/>
              <a:t> – High impact issues present. No resolution plans in place for Medium of High level issues</a:t>
            </a:r>
          </a:p>
          <a:p>
            <a:endParaRPr lang="en-GB" baseline="0" dirty="0" smtClean="0"/>
          </a:p>
          <a:p>
            <a:r>
              <a:rPr lang="en-GB" dirty="0" smtClean="0"/>
              <a:t>Commercial</a:t>
            </a:r>
          </a:p>
          <a:p>
            <a:r>
              <a:rPr lang="en-GB" dirty="0" smtClean="0"/>
              <a:t>GREEN - TBD</a:t>
            </a:r>
          </a:p>
          <a:p>
            <a:r>
              <a:rPr lang="en-GB" dirty="0" smtClean="0"/>
              <a:t>AMBER - TBD</a:t>
            </a:r>
          </a:p>
          <a:p>
            <a:r>
              <a:rPr lang="en-GB" dirty="0" smtClean="0"/>
              <a:t>RED</a:t>
            </a:r>
            <a:r>
              <a:rPr lang="en-GB" baseline="0" dirty="0" smtClean="0"/>
              <a:t> – TBD</a:t>
            </a:r>
          </a:p>
          <a:p>
            <a:endParaRPr lang="en-GB" baseline="0" dirty="0" smtClean="0"/>
          </a:p>
          <a:p>
            <a:r>
              <a:rPr lang="en-GB" dirty="0" smtClean="0"/>
              <a:t>Resource</a:t>
            </a:r>
          </a:p>
          <a:p>
            <a:r>
              <a:rPr lang="en-GB" dirty="0" smtClean="0"/>
              <a:t>GREEN – No resource issue or constraints</a:t>
            </a:r>
          </a:p>
          <a:p>
            <a:r>
              <a:rPr lang="en-GB" dirty="0" smtClean="0"/>
              <a:t>AMBER – Resource issues exist but plans are in place to resolve.</a:t>
            </a:r>
          </a:p>
          <a:p>
            <a:r>
              <a:rPr lang="en-GB" dirty="0" smtClean="0"/>
              <a:t>RED</a:t>
            </a:r>
            <a:r>
              <a:rPr lang="en-GB" baseline="0" dirty="0" smtClean="0"/>
              <a:t> – Resource issues exist with no plans in place to resolve.</a:t>
            </a:r>
          </a:p>
          <a:p>
            <a:endParaRPr lang="en-GB" baseline="0" dirty="0" smtClean="0"/>
          </a:p>
          <a:p>
            <a:endParaRPr lang="en-GB" baseline="0"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59B50229-A2FD-4B97-A211-B039D5F76B57}" type="datetimeFigureOut">
              <a:rPr lang="en-GB" smtClean="0"/>
              <a:pPr/>
              <a:t>15/03/2012</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9B50229-A2FD-4B97-A211-B039D5F76B57}" type="datetimeFigureOut">
              <a:rPr lang="en-GB" smtClean="0"/>
              <a:pPr/>
              <a:t>15/03/2012</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9B50229-A2FD-4B97-A211-B039D5F76B57}" type="datetimeFigureOut">
              <a:rPr lang="en-GB" smtClean="0"/>
              <a:pPr/>
              <a:t>15/03/2012</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59B50229-A2FD-4B97-A211-B039D5F76B57}" type="datetimeFigureOut">
              <a:rPr lang="en-GB" smtClean="0"/>
              <a:pPr/>
              <a:t>15/03/2012</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59B50229-A2FD-4B97-A211-B039D5F76B57}" type="datetimeFigureOut">
              <a:rPr lang="en-GB" smtClean="0"/>
              <a:pPr/>
              <a:t>15/03/2012</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59B50229-A2FD-4B97-A211-B039D5F76B57}" type="datetimeFigureOut">
              <a:rPr lang="en-GB" smtClean="0"/>
              <a:pPr/>
              <a:t>15/03/2012</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B50229-A2FD-4B97-A211-B039D5F76B57}" type="datetimeFigureOut">
              <a:rPr lang="en-GB" smtClean="0"/>
              <a:pPr/>
              <a:t>15/03/2012</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9B50229-A2FD-4B97-A211-B039D5F76B57}" type="datetimeFigureOut">
              <a:rPr lang="en-GB" smtClean="0"/>
              <a:pPr/>
              <a:t>15/03/2012</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9B50229-A2FD-4B97-A211-B039D5F76B57}" type="datetimeFigureOut">
              <a:rPr lang="en-GB" smtClean="0"/>
              <a:pPr/>
              <a:t>15/03/2012</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9B50229-A2FD-4B97-A211-B039D5F76B57}" type="datetimeFigureOut">
              <a:rPr lang="en-GB" smtClean="0"/>
              <a:pPr/>
              <a:t>15/03/2012</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9B50229-A2FD-4B97-A211-B039D5F76B57}" type="datetimeFigureOut">
              <a:rPr lang="en-GB" smtClean="0"/>
              <a:pPr/>
              <a:t>15/03/2012</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8C64025-F64B-40A2-B087-4B572272ADD2}" type="slidenum">
              <a:rPr lang="en-GB" smtClean="0"/>
              <a:pPr/>
              <a:t>‹#›</a:t>
            </a:fld>
            <a:endParaRPr lang="en-GB"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4_Title Only">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B50229-A2FD-4B97-A211-B039D5F76B57}" type="datetimeFigureOut">
              <a:rPr lang="en-GB" smtClean="0"/>
              <a:pPr/>
              <a:t>15/03/2012</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C64025-F64B-40A2-B087-4B572272ADD2}"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l" defTabSz="955675" eaLnBrk="0" hangingPunct="0">
              <a:spcAft>
                <a:spcPts val="0"/>
              </a:spcAft>
              <a:defRPr/>
            </a:pPr>
            <a:r>
              <a:rPr lang="en-US" sz="1600" b="1" kern="0" dirty="0" smtClean="0">
                <a:solidFill>
                  <a:srgbClr val="646464"/>
                </a:solidFill>
              </a:rPr>
              <a:t>7. RAID trends and observations</a:t>
            </a:r>
            <a:endParaRPr lang="en-US" sz="1600" b="1" kern="0" dirty="0" smtClean="0">
              <a:solidFill>
                <a:srgbClr val="646464"/>
              </a:solidFill>
              <a:latin typeface="EYInterstate"/>
            </a:endParaRPr>
          </a:p>
        </p:txBody>
      </p:sp>
      <p:graphicFrame>
        <p:nvGraphicFramePr>
          <p:cNvPr id="13" name="Group 270"/>
          <p:cNvGraphicFramePr>
            <a:graphicFrameLocks noGrp="1"/>
          </p:cNvGraphicFramePr>
          <p:nvPr/>
        </p:nvGraphicFramePr>
        <p:xfrm>
          <a:off x="251520" y="3861048"/>
          <a:ext cx="5334000" cy="1219036"/>
        </p:xfrm>
        <a:graphic>
          <a:graphicData uri="http://schemas.openxmlformats.org/drawingml/2006/table">
            <a:tbl>
              <a:tblPr/>
              <a:tblGrid>
                <a:gridCol w="446315"/>
                <a:gridCol w="2601685"/>
                <a:gridCol w="2286000"/>
              </a:tblGrid>
              <a:tr h="189508">
                <a:tc gridSpan="3">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50" b="1" i="0" u="none" strike="noStrike" kern="1200" cap="none" normalizeH="0" baseline="0" dirty="0" smtClean="0">
                          <a:ln>
                            <a:noFill/>
                          </a:ln>
                          <a:solidFill>
                            <a:schemeClr val="tx1"/>
                          </a:solidFill>
                          <a:effectLst/>
                          <a:latin typeface="EYInterstate" pitchFamily="2" charset="0"/>
                          <a:ea typeface="+mn-ea"/>
                          <a:cs typeface="+mn-cs"/>
                        </a:rPr>
                        <a:t>Top Critical  Risks and Issues</a:t>
                      </a:r>
                      <a:endParaRPr kumimoji="0" lang="en-US" sz="65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65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65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52400">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50" b="1" i="0" u="none" strike="noStrike" cap="none" normalizeH="0" baseline="0" dirty="0" smtClean="0">
                          <a:ln>
                            <a:noFill/>
                          </a:ln>
                          <a:solidFill>
                            <a:schemeClr val="tx1"/>
                          </a:solidFill>
                          <a:effectLst/>
                          <a:latin typeface="EYInterstate Light" pitchFamily="2" charset="0"/>
                        </a:rPr>
                        <a:t>Item</a:t>
                      </a:r>
                      <a:endParaRPr kumimoji="0" lang="en-US" sz="65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50" b="1" i="0" u="none" strike="noStrike" cap="none" normalizeH="0" baseline="0" dirty="0" smtClean="0">
                          <a:ln>
                            <a:noFill/>
                          </a:ln>
                          <a:solidFill>
                            <a:schemeClr val="tx1"/>
                          </a:solidFill>
                          <a:effectLst/>
                          <a:latin typeface="EYInterstate Light" pitchFamily="2" charset="0"/>
                        </a:rPr>
                        <a:t>Background</a:t>
                      </a:r>
                      <a:endParaRPr kumimoji="0" lang="en-US" sz="65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50" b="1" i="0" u="none" strike="noStrike" cap="none" normalizeH="0" baseline="0" dirty="0" smtClean="0">
                          <a:ln>
                            <a:noFill/>
                          </a:ln>
                          <a:solidFill>
                            <a:schemeClr val="tx1"/>
                          </a:solidFill>
                          <a:effectLst/>
                          <a:latin typeface="EYInterstate Light" pitchFamily="2" charset="0"/>
                        </a:rPr>
                        <a:t>Description</a:t>
                      </a:r>
                      <a:endParaRPr kumimoji="0" lang="en-US" sz="65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877128">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chemeClr val="tx1"/>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800" b="1" i="0" u="none" strike="noStrike" kern="1200" cap="none" normalizeH="0" baseline="0" dirty="0" smtClean="0">
                          <a:ln>
                            <a:noFill/>
                          </a:ln>
                          <a:solidFill>
                            <a:schemeClr val="tx1"/>
                          </a:solidFill>
                          <a:effectLst/>
                          <a:latin typeface="EYInterstate Light" pitchFamily="2" charset="0"/>
                          <a:ea typeface="+mn-ea"/>
                          <a:cs typeface="+mn-cs"/>
                        </a:rPr>
                        <a:t>Note: RAIDs are being reviewed and managed with program leadership on a daily basis in the Daily Status Review meetings as part of the Get to Green 30 Day Plan. Therefore, no specific items have been called out for inclusion in this pack.</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endParaRPr kumimoji="0" lang="en-US" sz="800" b="0" i="0" u="none" strike="noStrike" kern="1200" cap="none" normalizeH="0" baseline="0" dirty="0" smtClean="0">
                        <a:ln>
                          <a:noFill/>
                        </a:ln>
                        <a:solidFill>
                          <a:schemeClr val="tx1"/>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pic>
        <p:nvPicPr>
          <p:cNvPr id="5" name="Picture 4" descr="C:\Documents and Settings\liangli1\Desktop\ScopeTimeCost.png"/>
          <p:cNvPicPr/>
          <p:nvPr/>
        </p:nvPicPr>
        <p:blipFill>
          <a:blip r:embed="rId2" cstate="print"/>
          <a:srcRect/>
          <a:stretch>
            <a:fillRect/>
          </a:stretch>
        </p:blipFill>
        <p:spPr bwMode="auto">
          <a:xfrm>
            <a:off x="8190185" y="76200"/>
            <a:ext cx="877615" cy="864096"/>
          </a:xfrm>
          <a:prstGeom prst="rect">
            <a:avLst/>
          </a:prstGeom>
          <a:noFill/>
          <a:ln w="9525">
            <a:noFill/>
            <a:miter lim="800000"/>
            <a:headEnd/>
            <a:tailEnd/>
          </a:ln>
        </p:spPr>
      </p:pic>
      <p:graphicFrame>
        <p:nvGraphicFramePr>
          <p:cNvPr id="7" name="Chart 6"/>
          <p:cNvGraphicFramePr/>
          <p:nvPr/>
        </p:nvGraphicFramePr>
        <p:xfrm>
          <a:off x="0" y="476672"/>
          <a:ext cx="6515099" cy="31146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94"/>
          <p:cNvSpPr>
            <a:spLocks/>
          </p:cNvSpPr>
          <p:nvPr/>
        </p:nvSpPr>
        <p:spPr bwMode="gray">
          <a:xfrm>
            <a:off x="-2459" y="-3263"/>
            <a:ext cx="6398869"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latin typeface="EYInterstate"/>
              </a:rPr>
              <a:t>2. Overall assessment of Program health</a:t>
            </a:r>
            <a:endParaRPr lang="en-US" sz="1600" b="1" kern="0" dirty="0">
              <a:solidFill>
                <a:srgbClr val="646464"/>
              </a:solidFill>
              <a:latin typeface="EYInterstate"/>
            </a:endParaRPr>
          </a:p>
        </p:txBody>
      </p:sp>
      <p:graphicFrame>
        <p:nvGraphicFramePr>
          <p:cNvPr id="10" name="Group 852"/>
          <p:cNvGraphicFramePr>
            <a:graphicFrameLocks noGrp="1"/>
          </p:cNvGraphicFramePr>
          <p:nvPr/>
        </p:nvGraphicFramePr>
        <p:xfrm>
          <a:off x="6553200" y="10477"/>
          <a:ext cx="2590800" cy="5678630"/>
        </p:xfrm>
        <a:graphic>
          <a:graphicData uri="http://schemas.openxmlformats.org/drawingml/2006/table">
            <a:tbl>
              <a:tblPr/>
              <a:tblGrid>
                <a:gridCol w="2590800"/>
              </a:tblGrid>
              <a:tr h="142918">
                <a:tc>
                  <a:txBody>
                    <a:bodyPr/>
                    <a:lstStyle/>
                    <a:p>
                      <a:pPr marL="0" marR="0" lvl="0" indent="0" algn="l" defTabSz="947738" rtl="0" eaLnBrk="0" fontAlgn="base" latinLnBrk="0" hangingPunct="0">
                        <a:lnSpc>
                          <a:spcPct val="100000"/>
                        </a:lnSpc>
                        <a:spcBef>
                          <a:spcPct val="0"/>
                        </a:spcBef>
                        <a:spcAft>
                          <a:spcPct val="0"/>
                        </a:spcAft>
                        <a:buClrTx/>
                        <a:buSzTx/>
                        <a:buFont typeface="Wingdings" pitchFamily="2" charset="2"/>
                        <a:buChar char="Ø"/>
                        <a:tabLst/>
                      </a:pPr>
                      <a:r>
                        <a:rPr kumimoji="0" lang="en-US" sz="700" b="1" i="0" u="none" strike="noStrike" cap="none" normalizeH="0" baseline="0" dirty="0" smtClean="0">
                          <a:ln>
                            <a:noFill/>
                          </a:ln>
                          <a:solidFill>
                            <a:schemeClr val="tx1"/>
                          </a:solidFill>
                          <a:effectLst/>
                          <a:latin typeface="EYInterstate" pitchFamily="2" charset="0"/>
                        </a:rPr>
                        <a:t>PMO Narrative</a:t>
                      </a:r>
                      <a:endParaRPr kumimoji="0" lang="en-US" sz="7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35998">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smtClean="0">
                          <a:ln>
                            <a:noFill/>
                          </a:ln>
                          <a:solidFill>
                            <a:srgbClr val="000000"/>
                          </a:solidFill>
                          <a:effectLst/>
                          <a:latin typeface="EYInterstate Light" pitchFamily="2" charset="0"/>
                        </a:rPr>
                        <a:t>Budget</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05563">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smtClean="0">
                          <a:ln>
                            <a:noFill/>
                          </a:ln>
                          <a:solidFill>
                            <a:srgbClr val="000000"/>
                          </a:solidFill>
                          <a:effectLst/>
                          <a:latin typeface="EYInterstate Light" pitchFamily="2" charset="0"/>
                        </a:rPr>
                        <a:t>Schedule – Overall status RED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24444">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smtClean="0">
                          <a:ln>
                            <a:noFill/>
                          </a:ln>
                          <a:solidFill>
                            <a:srgbClr val="000000"/>
                          </a:solidFill>
                          <a:effectLst/>
                          <a:latin typeface="EYInterstate Light" pitchFamily="2" charset="0"/>
                        </a:rPr>
                        <a:t>Resource.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521155">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lang="en-GB" sz="700" b="1" i="0" kern="1200" baseline="0" dirty="0" smtClean="0">
                          <a:solidFill>
                            <a:srgbClr val="000000"/>
                          </a:solidFill>
                          <a:latin typeface="EYInterstate Light" pitchFamily="2" charset="0"/>
                          <a:ea typeface="+mn-ea"/>
                          <a:cs typeface="+mn-cs"/>
                        </a:rPr>
                        <a:t>RAIDs.</a:t>
                      </a: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 </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RAG status reflects  the workstream’s progress with regards to  the  completion of cleaning up of their RAIDs (taking into account updated details and overdue items).</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RAID activity continues to progress with the advancement of the M&amp;C Get to Green 30 day plan.  Overdue items are steadily declining.</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Assumptions to be validated remain in need of review, as do both pending decisions and decisions to be revalidated. </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Weekly M&amp;C Program RAID meetings are on hold for four weeks, as attention will be dedicated to the daily reviews instead.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42545">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defRPr/>
                      </a:pPr>
                      <a:r>
                        <a:rPr kumimoji="0" lang="en-US" sz="700" b="1" i="0" u="none" strike="noStrike" cap="none" normalizeH="0" baseline="0" dirty="0" smtClean="0">
                          <a:ln>
                            <a:noFill/>
                          </a:ln>
                          <a:solidFill>
                            <a:srgbClr val="000000"/>
                          </a:solidFill>
                          <a:effectLst/>
                          <a:latin typeface="EYInterstate Light" pitchFamily="2" charset="0"/>
                        </a:rPr>
                        <a:t>Commercial/Vendor. </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106007">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smtClean="0">
                          <a:ln>
                            <a:noFill/>
                          </a:ln>
                          <a:solidFill>
                            <a:srgbClr val="000000"/>
                          </a:solidFill>
                          <a:effectLst/>
                          <a:latin typeface="EYInterstate Light" pitchFamily="2" charset="0"/>
                        </a:rPr>
                        <a:t>General .</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2" name="Table 11"/>
          <p:cNvGraphicFramePr>
            <a:graphicFrameLocks noGrp="1"/>
          </p:cNvGraphicFramePr>
          <p:nvPr/>
        </p:nvGraphicFramePr>
        <p:xfrm>
          <a:off x="2" y="4191000"/>
          <a:ext cx="6396408" cy="3108300"/>
        </p:xfrm>
        <a:graphic>
          <a:graphicData uri="http://schemas.openxmlformats.org/drawingml/2006/table">
            <a:tbl>
              <a:tblPr/>
              <a:tblGrid>
                <a:gridCol w="904315"/>
                <a:gridCol w="848285"/>
                <a:gridCol w="784499"/>
                <a:gridCol w="816392"/>
                <a:gridCol w="742175"/>
                <a:gridCol w="742175"/>
                <a:gridCol w="816392"/>
                <a:gridCol w="742175"/>
              </a:tblGrid>
              <a:tr h="185322">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gridSpan="6">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RAG Trend</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0780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Program</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This week</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cap="none" normalizeH="0" baseline="0" dirty="0" smtClean="0">
                          <a:ln>
                            <a:noFill/>
                          </a:ln>
                          <a:solidFill>
                            <a:srgbClr val="000000"/>
                          </a:solidFill>
                          <a:effectLst/>
                          <a:latin typeface="EYInterstate Light" pitchFamily="2" charset="0"/>
                        </a:rPr>
                        <a:t>Last week</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Week -2</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Week -3</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Week -4</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Week -5</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rgbClr val="000000"/>
                          </a:solidFill>
                          <a:effectLst/>
                          <a:latin typeface="EYInterstate Light" pitchFamily="2" charset="0"/>
                        </a:rPr>
                        <a:t>Week -6</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SharePoint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2468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App &amp; Data</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22497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Infrastructure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524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Change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Tech  Foundation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Unified Communications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IT Transition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Business Deployment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Release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US"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9" name="Table 8"/>
          <p:cNvGraphicFramePr>
            <a:graphicFrameLocks noGrp="1"/>
          </p:cNvGraphicFramePr>
          <p:nvPr/>
        </p:nvGraphicFramePr>
        <p:xfrm>
          <a:off x="2" y="530137"/>
          <a:ext cx="6396406" cy="3402519"/>
        </p:xfrm>
        <a:graphic>
          <a:graphicData uri="http://schemas.openxmlformats.org/drawingml/2006/table">
            <a:tbl>
              <a:tblPr/>
              <a:tblGrid>
                <a:gridCol w="838198"/>
                <a:gridCol w="515936"/>
                <a:gridCol w="630284"/>
                <a:gridCol w="630284"/>
                <a:gridCol w="630284"/>
                <a:gridCol w="630284"/>
                <a:gridCol w="630284"/>
                <a:gridCol w="630284"/>
                <a:gridCol w="630284"/>
                <a:gridCol w="630284"/>
              </a:tblGrid>
              <a:tr h="170061">
                <a:tc gridSpan="10">
                  <a:txBody>
                    <a:bodyPr/>
                    <a:lstStyle/>
                    <a:p>
                      <a:pPr algn="l" rtl="0" fontAlgn="ctr"/>
                      <a:r>
                        <a:rPr lang="en-GB" sz="700" b="1" i="0" u="none" strike="noStrike" dirty="0">
                          <a:solidFill>
                            <a:srgbClr val="646464"/>
                          </a:solidFill>
                          <a:latin typeface="EYInterstate"/>
                        </a:rPr>
                        <a:t>Weekly Ratings</a:t>
                      </a:r>
                      <a:r>
                        <a:rPr lang="en-GB" sz="700" b="0" i="0" u="none" strike="noStrike" dirty="0">
                          <a:solidFill>
                            <a:srgbClr val="646464"/>
                          </a:solidFill>
                          <a:latin typeface="EYInterstate"/>
                        </a:rPr>
                        <a:t> </a:t>
                      </a:r>
                      <a:endParaRPr lang="en-GB" sz="700" b="1" i="0" u="none" strike="noStrike" dirty="0">
                        <a:solidFill>
                          <a:srgbClr val="646464"/>
                        </a:solidFill>
                        <a:latin typeface="EYInterstate"/>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r>
              <a:tr h="170061">
                <a:tc>
                  <a:txBody>
                    <a:bodyPr/>
                    <a:lstStyle/>
                    <a:p>
                      <a:pPr algn="l" fontAlgn="ctr"/>
                      <a:r>
                        <a:rPr lang="en-GB" sz="700" b="0" i="0" u="none" strike="noStrike" dirty="0">
                          <a:solidFill>
                            <a:srgbClr val="646464"/>
                          </a:solidFill>
                          <a:latin typeface="EYInterstate"/>
                        </a:rPr>
                        <a:t>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gridSpan="4">
                  <a:txBody>
                    <a:bodyPr/>
                    <a:lstStyle/>
                    <a:p>
                      <a:pPr algn="l" rtl="0" fontAlgn="ctr"/>
                      <a:r>
                        <a:rPr lang="en-GB" sz="700" b="1" i="0" u="none" strike="noStrike" dirty="0">
                          <a:solidFill>
                            <a:srgbClr val="646464"/>
                          </a:solidFill>
                          <a:latin typeface="EYInterstate"/>
                        </a:rPr>
                        <a:t>Program Assessment (Per PM Tool)</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5">
                  <a:txBody>
                    <a:bodyPr/>
                    <a:lstStyle/>
                    <a:p>
                      <a:pPr algn="l" rtl="0" fontAlgn="ctr"/>
                      <a:r>
                        <a:rPr lang="en-GB" sz="700" b="1" i="0" u="none" strike="noStrike" dirty="0">
                          <a:solidFill>
                            <a:srgbClr val="646464"/>
                          </a:solidFill>
                          <a:latin typeface="EYInterstate"/>
                        </a:rPr>
                        <a:t>PMO Assessment</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r>
              <a:tr h="240087">
                <a:tc>
                  <a:txBody>
                    <a:bodyPr/>
                    <a:lstStyle/>
                    <a:p>
                      <a:pPr algn="ctr" rtl="0" fontAlgn="ctr"/>
                      <a:r>
                        <a:rPr lang="en-GB" sz="700" b="1" i="0" u="none" strike="noStrike" dirty="0">
                          <a:solidFill>
                            <a:srgbClr val="000000"/>
                          </a:solidFill>
                          <a:latin typeface="EYInterstate Light"/>
                        </a:rPr>
                        <a:t>Program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Overall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EYInterstate Light"/>
                        </a:rPr>
                        <a:t>Scope </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EYInterstate Light"/>
                        </a:rPr>
                        <a:t>Time</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EYInterstate Light"/>
                        </a:rPr>
                        <a:t>Cost</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RAID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Resource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Financial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EYInterstate Light"/>
                        </a:rPr>
                        <a:t>Schedule</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Vendor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r>
              <a:tr h="29168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SharePoint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a:r>
                        <a:rPr lang="en-US" sz="1200" b="1" dirty="0" smtClean="0"/>
                        <a:t>Red</a:t>
                      </a:r>
                      <a:endParaRPr lang="en-US" sz="1200"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37709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App &amp; Data</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algn="ctr"/>
                      <a:r>
                        <a:rPr lang="en-US" sz="1200" b="1" dirty="0" smtClean="0"/>
                        <a:t>Green</a:t>
                      </a:r>
                      <a:endParaRPr lang="en-US" sz="1200"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tc>
                  <a:txBody>
                    <a:bodyPr/>
                    <a:lstStyle/>
                    <a:p>
                      <a:endParaRPr lang="en-US" sz="1800" kern="1200" dirty="0">
                        <a:solidFill>
                          <a:schemeClr val="tx1"/>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34272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Change 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sz="1800" kern="1200" dirty="0">
                        <a:solidFill>
                          <a:schemeClr val="tx1"/>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algn="ctr"/>
                      <a:r>
                        <a:rPr lang="en-US" sz="1200" b="1" dirty="0" smtClean="0"/>
                        <a:t>Green</a:t>
                      </a:r>
                      <a:endParaRPr lang="en-US" sz="1200"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00B05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27544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Unified Communications</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algn="ctr"/>
                      <a:r>
                        <a:rPr lang="en-US" sz="1200" b="1" dirty="0" smtClean="0"/>
                        <a:t>Amber</a:t>
                      </a:r>
                      <a:endParaRPr lang="en-US" sz="1200"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25373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Tech Foundation</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a:r>
                        <a:rPr lang="en-US" sz="1200" b="1" dirty="0" smtClean="0"/>
                        <a:t>Amber</a:t>
                      </a:r>
                      <a:endParaRPr lang="en-US" sz="1200"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27544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IT Transition 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algn="ctr"/>
                      <a:r>
                        <a:rPr lang="en-US" sz="1200" b="1" dirty="0" smtClean="0"/>
                        <a:t>Amber</a:t>
                      </a:r>
                      <a:endParaRPr lang="en-US" sz="1200"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27544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Business Deployment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algn="ctr"/>
                      <a:endParaRPr lang="en-US"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27544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Release 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a:endParaRPr lang="en-US"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328027">
                <a:tc>
                  <a:txBody>
                    <a:bodyPr/>
                    <a:lstStyle/>
                    <a:p>
                      <a:pPr algn="ctr" rtl="0" fontAlgn="ctr"/>
                      <a:r>
                        <a:rPr lang="en-GB" sz="700" b="1" i="0" u="none" strike="noStrike" dirty="0" smtClean="0">
                          <a:solidFill>
                            <a:srgbClr val="000000"/>
                          </a:solidFill>
                          <a:latin typeface="EYInterstate Light"/>
                        </a:rPr>
                        <a:t>Overall</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a:r>
                        <a:rPr lang="en-US" sz="1200" b="1" dirty="0" smtClean="0"/>
                        <a:t>Red</a:t>
                      </a:r>
                      <a:endParaRPr lang="en-US" sz="1200" b="1"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endParaRPr lang="en-US" dirty="0"/>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_dlc_DocId xmlns="0cbe1240-e4fe-486d-8edc-2712abb96eb4">MSIBM-2-6992</_dlc_DocId>
    <_dlc_DocIdUrl xmlns="0cbe1240-e4fe-486d-8edc-2712abb96eb4">
      <Url>http://sp.ey.net/msibm/_layouts/DocIdRedir.aspx?ID=MSIBM-2-6992</Url>
      <Description>MSIBM-2-6992</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D957C8AC9CBE1E41A2102A222EC3580A" ma:contentTypeVersion="3" ma:contentTypeDescription="Create a new document." ma:contentTypeScope="" ma:versionID="abc6be5a7620dcb7711b0f96b151bb65">
  <xsd:schema xmlns:xsd="http://www.w3.org/2001/XMLSchema" xmlns:xs="http://www.w3.org/2001/XMLSchema" xmlns:p="http://schemas.microsoft.com/office/2006/metadata/properties" xmlns:ns2="http://schemas.microsoft.com/sharepoint/v4" xmlns:ns3="0cbe1240-e4fe-486d-8edc-2712abb96eb4" targetNamespace="http://schemas.microsoft.com/office/2006/metadata/properties" ma:root="true" ma:fieldsID="6de1d13258d2b99d584b28ddcc0f79a5" ns2:_="" ns3:_="">
    <xsd:import namespace="http://schemas.microsoft.com/sharepoint/v4"/>
    <xsd:import namespace="0cbe1240-e4fe-486d-8edc-2712abb96eb4"/>
    <xsd:element name="properties">
      <xsd:complexType>
        <xsd:sequence>
          <xsd:element name="documentManagement">
            <xsd:complexType>
              <xsd:all>
                <xsd:element ref="ns2:IconOverlay"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be1240-e4fe-486d-8edc-2712abb96eb4" elementFormDefault="qualified">
    <xsd:import namespace="http://schemas.microsoft.com/office/2006/documentManagement/types"/>
    <xsd:import namespace="http://schemas.microsoft.com/office/infopath/2007/PartnerControls"/>
    <xsd:element name="_dlc_DocId" ma:index="9" nillable="true" ma:displayName="Document ID Value" ma:description="The value of the document ID assigned to this item." ma:internalName="_dlc_DocId" ma:readOnly="true">
      <xsd:simpleType>
        <xsd:restriction base="dms:Text"/>
      </xsd:simpleType>
    </xsd:element>
    <xsd:element name="_dlc_DocIdUrl" ma:index="10"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1"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CE7165-5802-4B72-97C1-B6620EA80357}">
  <ds:schemaRefs>
    <ds:schemaRef ds:uri="http://schemas.microsoft.com/office/2006/metadata/properties"/>
    <ds:schemaRef ds:uri="http://schemas.microsoft.com/office/infopath/2007/PartnerControls"/>
    <ds:schemaRef ds:uri="http://schemas.microsoft.com/sharepoint/v4"/>
    <ds:schemaRef ds:uri="0cbe1240-e4fe-486d-8edc-2712abb96eb4"/>
  </ds:schemaRefs>
</ds:datastoreItem>
</file>

<file path=customXml/itemProps2.xml><?xml version="1.0" encoding="utf-8"?>
<ds:datastoreItem xmlns:ds="http://schemas.openxmlformats.org/officeDocument/2006/customXml" ds:itemID="{FED28188-EF72-4D92-8315-EBB907999D68}">
  <ds:schemaRefs>
    <ds:schemaRef ds:uri="http://schemas.microsoft.com/sharepoint/v3/contenttype/forms"/>
  </ds:schemaRefs>
</ds:datastoreItem>
</file>

<file path=customXml/itemProps3.xml><?xml version="1.0" encoding="utf-8"?>
<ds:datastoreItem xmlns:ds="http://schemas.openxmlformats.org/officeDocument/2006/customXml" ds:itemID="{F1AD015E-CF38-48BE-946B-00EAA3ED9AF9}">
  <ds:schemaRefs>
    <ds:schemaRef ds:uri="http://schemas.microsoft.com/sharepoint/events"/>
  </ds:schemaRefs>
</ds:datastoreItem>
</file>

<file path=customXml/itemProps4.xml><?xml version="1.0" encoding="utf-8"?>
<ds:datastoreItem xmlns:ds="http://schemas.openxmlformats.org/officeDocument/2006/customXml" ds:itemID="{AE5B3560-2F27-48EC-840E-00A61B20BDD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4"/>
    <ds:schemaRef ds:uri="0cbe1240-e4fe-486d-8edc-2712abb96e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66</TotalTime>
  <Words>635</Words>
  <Application>Microsoft Office PowerPoint</Application>
  <PresentationFormat>On-screen Show (4:3)</PresentationFormat>
  <Paragraphs>100</Paragraphs>
  <Slides>2</Slides>
  <Notes>1</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Slide 1</vt:lpstr>
      <vt:lpstr>Slide 2</vt:lpstr>
    </vt:vector>
  </TitlesOfParts>
  <Company>Ernst &amp; Young</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RAID final report 2012-03-16</dc:title>
  <dc:creator>Wale Agbaje</dc:creator>
  <cp:lastModifiedBy>Wale Agbaje</cp:lastModifiedBy>
  <cp:revision>17</cp:revision>
  <dcterms:created xsi:type="dcterms:W3CDTF">2012-02-24T14:50:34Z</dcterms:created>
  <dcterms:modified xsi:type="dcterms:W3CDTF">2012-03-15T15:38:54Z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0x010100D957C8AC9CBE1E41A2102A222EC3580A</vt:lpwstr>
  </property>
  <property fmtid="{D5CDD505-2E9C-101B-9397-08002B2CF9AE}" pid="3" name="_dlc_DocIdItemGuid">
    <vt:lpwstr>b087a90b-8be4-46dc-8727-ceef82ec3509</vt:lpwstr>
  </property>
</Properties>
</file>