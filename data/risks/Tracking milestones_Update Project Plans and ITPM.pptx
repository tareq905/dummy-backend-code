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customXml/itemProps4.xml" ContentType="application/vnd.openxmlformats-officedocument.customXmlProperties+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61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http://sp.ey.net/msibm/MC%20Program/Program%20Management/RAID/MC%20Program%20RAID%20Log.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GB"/>
  <c:chart>
    <c:autoTitleDeleted val="1"/>
    <c:plotArea>
      <c:layout/>
      <c:lineChart>
        <c:grouping val="standard"/>
        <c:ser>
          <c:idx val="0"/>
          <c:order val="0"/>
          <c:tx>
            <c:strRef>
              <c:f>'RAID Summary'!$A$2</c:f>
              <c:strCache>
                <c:ptCount val="1"/>
                <c:pt idx="0">
                  <c:v>Total Open Risks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Summary'!$B$2:$K$2,'RAID Summary'!$M$2)</c:f>
              <c:numCache>
                <c:formatCode>General</c:formatCode>
                <c:ptCount val="11"/>
                <c:pt idx="0">
                  <c:v>40</c:v>
                </c:pt>
                <c:pt idx="1">
                  <c:v>34</c:v>
                </c:pt>
                <c:pt idx="2">
                  <c:v>33</c:v>
                </c:pt>
                <c:pt idx="3">
                  <c:v>30</c:v>
                </c:pt>
                <c:pt idx="4">
                  <c:v>32</c:v>
                </c:pt>
                <c:pt idx="5">
                  <c:v>32</c:v>
                </c:pt>
                <c:pt idx="6">
                  <c:v>30</c:v>
                </c:pt>
                <c:pt idx="7">
                  <c:v>30</c:v>
                </c:pt>
                <c:pt idx="8">
                  <c:v>32</c:v>
                </c:pt>
                <c:pt idx="9">
                  <c:v>39</c:v>
                </c:pt>
                <c:pt idx="10">
                  <c:v>38</c:v>
                </c:pt>
              </c:numCache>
            </c:numRef>
          </c:val>
        </c:ser>
        <c:ser>
          <c:idx val="1"/>
          <c:order val="1"/>
          <c:tx>
            <c:strRef>
              <c:f>'RAID Summary'!$A$3</c:f>
              <c:strCache>
                <c:ptCount val="1"/>
                <c:pt idx="0">
                  <c:v>Total Open High or Critical Risks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Summary'!$B$3:$K$3,'RAID Summary'!$M$3)</c:f>
              <c:numCache>
                <c:formatCode>General</c:formatCode>
                <c:ptCount val="11"/>
                <c:pt idx="0">
                  <c:v>15</c:v>
                </c:pt>
                <c:pt idx="1">
                  <c:v>10</c:v>
                </c:pt>
                <c:pt idx="2">
                  <c:v>13</c:v>
                </c:pt>
                <c:pt idx="3">
                  <c:v>13</c:v>
                </c:pt>
                <c:pt idx="4">
                  <c:v>14</c:v>
                </c:pt>
                <c:pt idx="5">
                  <c:v>14</c:v>
                </c:pt>
                <c:pt idx="6">
                  <c:v>16</c:v>
                </c:pt>
                <c:pt idx="7">
                  <c:v>16</c:v>
                </c:pt>
                <c:pt idx="8">
                  <c:v>21</c:v>
                </c:pt>
                <c:pt idx="9">
                  <c:v>28</c:v>
                </c:pt>
                <c:pt idx="10">
                  <c:v>19</c:v>
                </c:pt>
              </c:numCache>
            </c:numRef>
          </c:val>
        </c:ser>
        <c:ser>
          <c:idx val="2"/>
          <c:order val="2"/>
          <c:tx>
            <c:strRef>
              <c:f>'RAID Summary'!$A$4</c:f>
              <c:strCache>
                <c:ptCount val="1"/>
                <c:pt idx="0">
                  <c:v>Risks: Missed Required Resolution Date</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Summary'!$B$4:$K$4,'RAID Summary'!$M$4)</c:f>
              <c:numCache>
                <c:formatCode>General</c:formatCode>
                <c:ptCount val="11"/>
                <c:pt idx="2">
                  <c:v>2</c:v>
                </c:pt>
                <c:pt idx="3">
                  <c:v>3</c:v>
                </c:pt>
                <c:pt idx="4">
                  <c:v>5</c:v>
                </c:pt>
                <c:pt idx="5">
                  <c:v>7</c:v>
                </c:pt>
                <c:pt idx="6">
                  <c:v>8</c:v>
                </c:pt>
                <c:pt idx="7">
                  <c:v>10</c:v>
                </c:pt>
                <c:pt idx="8">
                  <c:v>9</c:v>
                </c:pt>
                <c:pt idx="9">
                  <c:v>13</c:v>
                </c:pt>
                <c:pt idx="10">
                  <c:v>2</c:v>
                </c:pt>
              </c:numCache>
            </c:numRef>
          </c:val>
        </c:ser>
        <c:ser>
          <c:idx val="3"/>
          <c:order val="3"/>
          <c:tx>
            <c:strRef>
              <c:f>'RAID Summary'!$A$5</c:f>
              <c:strCache>
                <c:ptCount val="1"/>
                <c:pt idx="0">
                  <c:v>Total Open Issues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Summary'!$B$5:$K$5,'RAID Summary'!$M$5)</c:f>
              <c:numCache>
                <c:formatCode>General</c:formatCode>
                <c:ptCount val="11"/>
                <c:pt idx="0">
                  <c:v>37</c:v>
                </c:pt>
                <c:pt idx="1">
                  <c:v>37</c:v>
                </c:pt>
                <c:pt idx="2">
                  <c:v>42</c:v>
                </c:pt>
                <c:pt idx="3">
                  <c:v>42</c:v>
                </c:pt>
                <c:pt idx="4">
                  <c:v>45</c:v>
                </c:pt>
                <c:pt idx="5">
                  <c:v>48</c:v>
                </c:pt>
                <c:pt idx="6">
                  <c:v>52</c:v>
                </c:pt>
                <c:pt idx="7">
                  <c:v>43</c:v>
                </c:pt>
                <c:pt idx="8">
                  <c:v>49</c:v>
                </c:pt>
                <c:pt idx="9">
                  <c:v>51</c:v>
                </c:pt>
                <c:pt idx="10">
                  <c:v>51</c:v>
                </c:pt>
              </c:numCache>
            </c:numRef>
          </c:val>
        </c:ser>
        <c:ser>
          <c:idx val="4"/>
          <c:order val="4"/>
          <c:tx>
            <c:strRef>
              <c:f>'RAID Summary'!$A$6</c:f>
              <c:strCache>
                <c:ptCount val="1"/>
                <c:pt idx="0">
                  <c:v>Total Open High or Critical Issues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Summary'!$B$6:$K$6,'RAID Summary'!$M$6)</c:f>
              <c:numCache>
                <c:formatCode>General</c:formatCode>
                <c:ptCount val="11"/>
                <c:pt idx="2">
                  <c:v>25</c:v>
                </c:pt>
                <c:pt idx="3">
                  <c:v>25</c:v>
                </c:pt>
                <c:pt idx="4">
                  <c:v>28</c:v>
                </c:pt>
                <c:pt idx="5">
                  <c:v>33</c:v>
                </c:pt>
                <c:pt idx="6">
                  <c:v>39</c:v>
                </c:pt>
                <c:pt idx="7">
                  <c:v>31</c:v>
                </c:pt>
                <c:pt idx="8">
                  <c:v>37</c:v>
                </c:pt>
                <c:pt idx="9">
                  <c:v>40</c:v>
                </c:pt>
                <c:pt idx="10">
                  <c:v>42</c:v>
                </c:pt>
              </c:numCache>
            </c:numRef>
          </c:val>
        </c:ser>
        <c:ser>
          <c:idx val="5"/>
          <c:order val="5"/>
          <c:tx>
            <c:strRef>
              <c:f>'RAID Summary'!$A$7</c:f>
              <c:strCache>
                <c:ptCount val="1"/>
                <c:pt idx="0">
                  <c:v>Issues: Missed Required Resolution Date</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Summary'!$B$7:$K$7,'RAID Summary'!$M$7)</c:f>
              <c:numCache>
                <c:formatCode>General</c:formatCode>
                <c:ptCount val="11"/>
                <c:pt idx="2">
                  <c:v>13</c:v>
                </c:pt>
                <c:pt idx="3">
                  <c:v>12</c:v>
                </c:pt>
                <c:pt idx="4">
                  <c:v>7</c:v>
                </c:pt>
                <c:pt idx="5">
                  <c:v>13</c:v>
                </c:pt>
                <c:pt idx="6">
                  <c:v>16</c:v>
                </c:pt>
                <c:pt idx="7">
                  <c:v>14</c:v>
                </c:pt>
                <c:pt idx="8">
                  <c:v>12</c:v>
                </c:pt>
                <c:pt idx="9">
                  <c:v>22</c:v>
                </c:pt>
                <c:pt idx="10">
                  <c:v>14</c:v>
                </c:pt>
              </c:numCache>
            </c:numRef>
          </c:val>
        </c:ser>
        <c:ser>
          <c:idx val="6"/>
          <c:order val="6"/>
          <c:tx>
            <c:strRef>
              <c:f>'RAID Summary'!$A$8</c:f>
              <c:strCache>
                <c:ptCount val="1"/>
                <c:pt idx="0">
                  <c:v>Total Assumptions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Summary'!$B$8:$K$8,'RAID Summary'!$M$8)</c:f>
              <c:numCache>
                <c:formatCode>General</c:formatCode>
                <c:ptCount val="11"/>
                <c:pt idx="0">
                  <c:v>78</c:v>
                </c:pt>
                <c:pt idx="1">
                  <c:v>70</c:v>
                </c:pt>
                <c:pt idx="2">
                  <c:v>67</c:v>
                </c:pt>
                <c:pt idx="3">
                  <c:v>67</c:v>
                </c:pt>
                <c:pt idx="4">
                  <c:v>68</c:v>
                </c:pt>
                <c:pt idx="5">
                  <c:v>69</c:v>
                </c:pt>
                <c:pt idx="6">
                  <c:v>69</c:v>
                </c:pt>
                <c:pt idx="7">
                  <c:v>69</c:v>
                </c:pt>
                <c:pt idx="8">
                  <c:v>63</c:v>
                </c:pt>
                <c:pt idx="9">
                  <c:v>63</c:v>
                </c:pt>
                <c:pt idx="10">
                  <c:v>63</c:v>
                </c:pt>
              </c:numCache>
            </c:numRef>
          </c:val>
        </c:ser>
        <c:ser>
          <c:idx val="7"/>
          <c:order val="7"/>
          <c:tx>
            <c:strRef>
              <c:f>'RAID Summary'!$A$9</c:f>
              <c:strCache>
                <c:ptCount val="1"/>
                <c:pt idx="0">
                  <c:v>Total Decisions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Summary'!$B$9:$K$9,'RAID Summary'!$M$9)</c:f>
              <c:numCache>
                <c:formatCode>General</c:formatCode>
                <c:ptCount val="11"/>
                <c:pt idx="0">
                  <c:v>153</c:v>
                </c:pt>
                <c:pt idx="1">
                  <c:v>153</c:v>
                </c:pt>
                <c:pt idx="2">
                  <c:v>154</c:v>
                </c:pt>
                <c:pt idx="3">
                  <c:v>154</c:v>
                </c:pt>
                <c:pt idx="4">
                  <c:v>161</c:v>
                </c:pt>
                <c:pt idx="5">
                  <c:v>182</c:v>
                </c:pt>
                <c:pt idx="6">
                  <c:v>183</c:v>
                </c:pt>
                <c:pt idx="7">
                  <c:v>179</c:v>
                </c:pt>
                <c:pt idx="8">
                  <c:v>179</c:v>
                </c:pt>
                <c:pt idx="9">
                  <c:v>179</c:v>
                </c:pt>
                <c:pt idx="10">
                  <c:v>194</c:v>
                </c:pt>
              </c:numCache>
            </c:numRef>
          </c:val>
        </c:ser>
        <c:ser>
          <c:idx val="8"/>
          <c:order val="8"/>
          <c:tx>
            <c:strRef>
              <c:f>'RAID Summary'!$A$10</c:f>
              <c:strCache>
                <c:ptCount val="1"/>
                <c:pt idx="0">
                  <c:v>Total Pending Decisions</c:v>
                </c:pt>
              </c:strCache>
            </c:strRef>
          </c:tx>
          <c:cat>
            <c:numRef>
              <c:f>('RAID Summary'!$B$1:$K$1,'RAID Summary'!$M$1)</c:f>
              <c:numCache>
                <c:formatCode>d\-mmm\-yy</c:formatCode>
                <c:ptCount val="11"/>
                <c:pt idx="0">
                  <c:v>40898</c:v>
                </c:pt>
                <c:pt idx="1">
                  <c:v>40912</c:v>
                </c:pt>
                <c:pt idx="2">
                  <c:v>40919</c:v>
                </c:pt>
                <c:pt idx="3">
                  <c:v>40926</c:v>
                </c:pt>
                <c:pt idx="4">
                  <c:v>40933</c:v>
                </c:pt>
                <c:pt idx="5">
                  <c:v>40940</c:v>
                </c:pt>
                <c:pt idx="6">
                  <c:v>40947</c:v>
                </c:pt>
                <c:pt idx="7">
                  <c:v>40954</c:v>
                </c:pt>
                <c:pt idx="8">
                  <c:v>40961</c:v>
                </c:pt>
                <c:pt idx="9">
                  <c:v>40968</c:v>
                </c:pt>
                <c:pt idx="10">
                  <c:v>40975</c:v>
                </c:pt>
              </c:numCache>
            </c:numRef>
          </c:cat>
          <c:val>
            <c:numRef>
              <c:f>('RAID Summary'!$B$10:$K$10,'RAID Summary'!$M$10)</c:f>
              <c:numCache>
                <c:formatCode>General</c:formatCode>
                <c:ptCount val="11"/>
                <c:pt idx="0">
                  <c:v>24</c:v>
                </c:pt>
                <c:pt idx="1">
                  <c:v>24</c:v>
                </c:pt>
                <c:pt idx="2">
                  <c:v>25</c:v>
                </c:pt>
                <c:pt idx="3">
                  <c:v>24</c:v>
                </c:pt>
                <c:pt idx="4">
                  <c:v>30</c:v>
                </c:pt>
                <c:pt idx="5">
                  <c:v>39</c:v>
                </c:pt>
                <c:pt idx="6">
                  <c:v>40</c:v>
                </c:pt>
                <c:pt idx="7">
                  <c:v>29</c:v>
                </c:pt>
                <c:pt idx="8">
                  <c:v>28</c:v>
                </c:pt>
                <c:pt idx="9">
                  <c:v>27</c:v>
                </c:pt>
                <c:pt idx="10">
                  <c:v>33</c:v>
                </c:pt>
              </c:numCache>
            </c:numRef>
          </c:val>
        </c:ser>
        <c:marker val="1"/>
        <c:axId val="90888448"/>
        <c:axId val="90898432"/>
      </c:lineChart>
      <c:dateAx>
        <c:axId val="90888448"/>
        <c:scaling>
          <c:orientation val="minMax"/>
        </c:scaling>
        <c:axPos val="b"/>
        <c:numFmt formatCode="d\-mmm\-yy" sourceLinked="1"/>
        <c:majorTickMark val="none"/>
        <c:tickLblPos val="nextTo"/>
        <c:txPr>
          <a:bodyPr/>
          <a:lstStyle/>
          <a:p>
            <a:pPr>
              <a:defRPr sz="800"/>
            </a:pPr>
            <a:endParaRPr lang="en-US"/>
          </a:p>
        </c:txPr>
        <c:crossAx val="90898432"/>
        <c:crosses val="autoZero"/>
        <c:auto val="1"/>
        <c:lblOffset val="100"/>
        <c:baseTimeUnit val="days"/>
        <c:majorUnit val="7"/>
        <c:majorTimeUnit val="days"/>
      </c:dateAx>
      <c:valAx>
        <c:axId val="90898432"/>
        <c:scaling>
          <c:orientation val="minMax"/>
        </c:scaling>
        <c:axPos val="l"/>
        <c:majorGridlines/>
        <c:numFmt formatCode="General" sourceLinked="1"/>
        <c:majorTickMark val="none"/>
        <c:tickLblPos val="nextTo"/>
        <c:txPr>
          <a:bodyPr/>
          <a:lstStyle/>
          <a:p>
            <a:pPr>
              <a:defRPr sz="800"/>
            </a:pPr>
            <a:endParaRPr lang="en-US"/>
          </a:p>
        </c:txPr>
        <c:crossAx val="90888448"/>
        <c:crosses val="autoZero"/>
        <c:crossBetween val="between"/>
      </c:valAx>
    </c:plotArea>
    <c:legend>
      <c:legendPos val="r"/>
      <c:layout/>
      <c:txPr>
        <a:bodyPr/>
        <a:lstStyle/>
        <a:p>
          <a:pPr>
            <a:defRPr sz="800"/>
          </a:pPr>
          <a:endParaRPr lang="en-US"/>
        </a:p>
      </c:txPr>
    </c:legend>
    <c:plotVisOnly val="1"/>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EF1A4A-8E82-46E9-9FAA-8937536C091C}" type="datetimeFigureOut">
              <a:rPr lang="en-US" smtClean="0"/>
              <a:pPr/>
              <a:t>3/11/2012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7EFC4-BCE1-40C5-825F-A6039ECCBEEA}"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dirty="0" smtClean="0"/>
              <a:t>Cost</a:t>
            </a:r>
          </a:p>
          <a:p>
            <a:pPr defTabSz="855340">
              <a:defRPr/>
            </a:pPr>
            <a:r>
              <a:rPr lang="en-GB" dirty="0" smtClean="0"/>
              <a:t>GREEN - </a:t>
            </a:r>
            <a:r>
              <a:rPr lang="en-US" dirty="0" smtClean="0"/>
              <a:t>Estimate at Completion (EAC) = + 0 - 5% of approved spend (cost baseline + approved change requests)</a:t>
            </a:r>
            <a:endParaRPr lang="en-GB" dirty="0" smtClean="0"/>
          </a:p>
          <a:p>
            <a:pPr defTabSz="855340">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B50229-A2FD-4B97-A211-B039D5F76B57}" type="datetimeFigureOut">
              <a:rPr lang="en-GB" smtClean="0"/>
              <a:pPr/>
              <a:t>11/03/2012</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C64025-F64B-40A2-B087-4B572272ADD2}"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7. RAID trends and observations</a:t>
            </a:r>
            <a:endParaRPr lang="en-US" sz="1600" b="1" kern="0" dirty="0" smtClean="0">
              <a:solidFill>
                <a:srgbClr val="646464"/>
              </a:solidFill>
              <a:latin typeface="EYInterstate"/>
            </a:endParaRPr>
          </a:p>
        </p:txBody>
      </p:sp>
      <p:graphicFrame>
        <p:nvGraphicFramePr>
          <p:cNvPr id="13" name="Group 270"/>
          <p:cNvGraphicFramePr>
            <a:graphicFrameLocks noGrp="1"/>
          </p:cNvGraphicFramePr>
          <p:nvPr/>
        </p:nvGraphicFramePr>
        <p:xfrm>
          <a:off x="251520" y="3861048"/>
          <a:ext cx="5334000" cy="1219036"/>
        </p:xfrm>
        <a:graphic>
          <a:graphicData uri="http://schemas.openxmlformats.org/drawingml/2006/table">
            <a:tbl>
              <a:tblPr/>
              <a:tblGrid>
                <a:gridCol w="446315"/>
                <a:gridCol w="2601685"/>
                <a:gridCol w="2286000"/>
              </a:tblGrid>
              <a:tr h="189508">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kern="1200" cap="none" normalizeH="0" baseline="0" dirty="0" smtClean="0">
                          <a:ln>
                            <a:noFill/>
                          </a:ln>
                          <a:solidFill>
                            <a:schemeClr val="tx1"/>
                          </a:solidFill>
                          <a:effectLst/>
                          <a:latin typeface="EYInterstate" pitchFamily="2" charset="0"/>
                          <a:ea typeface="+mn-ea"/>
                          <a:cs typeface="+mn-cs"/>
                        </a:rPr>
                        <a:t>Top Critical  Risks and Issues</a:t>
                      </a: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24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Item</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Background</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Description</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87712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800" b="1" i="0" u="none" strike="noStrike" kern="1200" cap="none" normalizeH="0" baseline="0" dirty="0" smtClean="0">
                          <a:ln>
                            <a:noFill/>
                          </a:ln>
                          <a:solidFill>
                            <a:schemeClr val="tx1"/>
                          </a:solidFill>
                          <a:effectLst/>
                          <a:latin typeface="EYInterstate Light" pitchFamily="2" charset="0"/>
                          <a:ea typeface="+mn-ea"/>
                          <a:cs typeface="+mn-cs"/>
                        </a:rPr>
                        <a:t>Note: High and Critical RAIDs are being reviewed and managed with program leadership on a daily basis in the Daily Status Review meetings as part of the Get to Green 30 Day Plan. Therefore, no specific items have been called out for inclusion in this pack.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pic>
        <p:nvPicPr>
          <p:cNvPr id="5" name="Picture 4" descr="C:\Documents and Settings\liangli1\Desktop\ScopeTimeCost.png"/>
          <p:cNvPicPr/>
          <p:nvPr/>
        </p:nvPicPr>
        <p:blipFill>
          <a:blip r:embed="rId2" cstate="print"/>
          <a:srcRect/>
          <a:stretch>
            <a:fillRect/>
          </a:stretch>
        </p:blipFill>
        <p:spPr bwMode="auto">
          <a:xfrm>
            <a:off x="8190185" y="76200"/>
            <a:ext cx="877615" cy="864096"/>
          </a:xfrm>
          <a:prstGeom prst="rect">
            <a:avLst/>
          </a:prstGeom>
          <a:noFill/>
          <a:ln w="9525">
            <a:noFill/>
            <a:miter lim="800000"/>
            <a:headEnd/>
            <a:tailEnd/>
          </a:ln>
        </p:spPr>
      </p:pic>
      <p:graphicFrame>
        <p:nvGraphicFramePr>
          <p:cNvPr id="6" name="Chart 5"/>
          <p:cNvGraphicFramePr/>
          <p:nvPr/>
        </p:nvGraphicFramePr>
        <p:xfrm>
          <a:off x="0" y="476672"/>
          <a:ext cx="6515099" cy="31146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39886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2. Overall assessment of Program health</a:t>
            </a:r>
            <a:endParaRPr lang="en-US" sz="1600" b="1" kern="0" dirty="0">
              <a:solidFill>
                <a:srgbClr val="646464"/>
              </a:solidFill>
              <a:latin typeface="EYInterstate"/>
            </a:endParaRPr>
          </a:p>
        </p:txBody>
      </p:sp>
      <p:graphicFrame>
        <p:nvGraphicFramePr>
          <p:cNvPr id="10" name="Group 852"/>
          <p:cNvGraphicFramePr>
            <a:graphicFrameLocks noGrp="1"/>
          </p:cNvGraphicFramePr>
          <p:nvPr/>
        </p:nvGraphicFramePr>
        <p:xfrm>
          <a:off x="6553200" y="10477"/>
          <a:ext cx="2590800" cy="5721033"/>
        </p:xfrm>
        <a:graphic>
          <a:graphicData uri="http://schemas.openxmlformats.org/drawingml/2006/table">
            <a:tbl>
              <a:tblPr/>
              <a:tblGrid>
                <a:gridCol w="2590800"/>
              </a:tblGrid>
              <a:tr h="142918">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35998">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Budget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556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Schedule – Overall status 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4444">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1155">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smtClean="0">
                          <a:solidFill>
                            <a:srgbClr val="000000"/>
                          </a:solidFill>
                          <a:latin typeface="EYInterstate Light" pitchFamily="2" charset="0"/>
                          <a:ea typeface="+mn-ea"/>
                          <a:cs typeface="+mn-cs"/>
                        </a:rPr>
                        <a:t>RAIDs.</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RAG status reflects  the workstream’s progress with regards to  the  completion of cleaning up of their RAIDs (taking into account updated details and overdue items).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RAID activity greatly accelerated this week with the start of the M&amp;C Get to Green 30 day plan.  Overdue items are beginning to decline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Assumptions to be validated remain in need of review, as do both pending decisions and decisions to be revalidated. Per the daily status review meeting, the revalidation piece is scheduled to complete Friday.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Weekly M&amp;C Program RAID meetings are on hold for four weeks, as attention will be dedicated to the daily reviews instead.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2545">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rgbClr val="000000"/>
                          </a:solidFill>
                          <a:effectLst/>
                          <a:latin typeface="EYInterstate Light" pitchFamily="2" charset="0"/>
                        </a:rPr>
                        <a:t>Commercial/Vendor.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0600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General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nvGraphicFramePr>
        <p:xfrm>
          <a:off x="2" y="4191000"/>
          <a:ext cx="6396408" cy="3108300"/>
        </p:xfrm>
        <a:graphic>
          <a:graphicData uri="http://schemas.openxmlformats.org/drawingml/2006/table">
            <a:tbl>
              <a:tblPr/>
              <a:tblGrid>
                <a:gridCol w="904315"/>
                <a:gridCol w="848285"/>
                <a:gridCol w="784499"/>
                <a:gridCol w="816392"/>
                <a:gridCol w="742175"/>
                <a:gridCol w="742175"/>
                <a:gridCol w="816392"/>
                <a:gridCol w="742175"/>
              </a:tblGrid>
              <a:tr h="185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RAG Trend</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780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This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EYInterstate Light" pitchFamily="2" charset="0"/>
                        </a:rPr>
                        <a:t>Last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-2</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-3</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-4</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-5</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Week -6</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4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22497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Infrastructure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4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nvGraphicFramePr>
        <p:xfrm>
          <a:off x="2" y="530137"/>
          <a:ext cx="6396406" cy="3402519"/>
        </p:xfrm>
        <a:graphic>
          <a:graphicData uri="http://schemas.openxmlformats.org/drawingml/2006/table">
            <a:tbl>
              <a:tblPr/>
              <a:tblGrid>
                <a:gridCol w="838198"/>
                <a:gridCol w="515936"/>
                <a:gridCol w="630284"/>
                <a:gridCol w="630284"/>
                <a:gridCol w="630284"/>
                <a:gridCol w="630284"/>
                <a:gridCol w="630284"/>
                <a:gridCol w="630284"/>
                <a:gridCol w="630284"/>
                <a:gridCol w="630284"/>
              </a:tblGrid>
              <a:tr h="170061">
                <a:tc gridSpan="10">
                  <a:txBody>
                    <a:bodyPr/>
                    <a:lstStyle/>
                    <a:p>
                      <a:pPr algn="l" rtl="0" fontAlgn="ctr"/>
                      <a:r>
                        <a:rPr lang="en-GB" sz="700" b="1" i="0" u="none" strike="noStrike" dirty="0">
                          <a:solidFill>
                            <a:srgbClr val="646464"/>
                          </a:solidFill>
                          <a:latin typeface="EYInterstate"/>
                        </a:rPr>
                        <a:t>Weekly Ratings</a:t>
                      </a:r>
                      <a:r>
                        <a:rPr lang="en-GB" sz="700" b="0" i="0" u="none" strike="noStrike" dirty="0">
                          <a:solidFill>
                            <a:srgbClr val="646464"/>
                          </a:solidFill>
                          <a:latin typeface="EYInterstate"/>
                        </a:rPr>
                        <a:t> </a:t>
                      </a: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170061">
                <a:tc>
                  <a:txBody>
                    <a:bodyPr/>
                    <a:lstStyle/>
                    <a:p>
                      <a:pPr algn="l" fontAlgn="ctr"/>
                      <a:r>
                        <a:rPr lang="en-GB" sz="700" b="0" i="0" u="none" strike="noStrike" dirty="0">
                          <a:solidFill>
                            <a:srgbClr val="646464"/>
                          </a:solidFill>
                          <a:latin typeface="EYInterstate"/>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EYInterstate"/>
                        </a:rPr>
                        <a:t>Program Assessment (Per PM Tool)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lgn="l" rtl="0" fontAlgn="ctr"/>
                      <a:r>
                        <a:rPr lang="en-GB" sz="700" b="1" i="0" u="none" strike="noStrike" dirty="0">
                          <a:solidFill>
                            <a:srgbClr val="646464"/>
                          </a:solidFill>
                          <a:latin typeface="EYInterstate"/>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40087">
                <a:tc>
                  <a:txBody>
                    <a:bodyPr/>
                    <a:lstStyle/>
                    <a:p>
                      <a:pPr algn="ctr" rtl="0" fontAlgn="ctr"/>
                      <a:r>
                        <a:rPr lang="en-GB" sz="700" b="1" i="0" u="none" strike="noStrike" dirty="0">
                          <a:solidFill>
                            <a:srgbClr val="000000"/>
                          </a:solidFill>
                          <a:latin typeface="EYInterstate Ligh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Scope </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Time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Cost</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Schedule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91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1200" b="1" dirty="0" smtClean="0"/>
                        <a:t>Red</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37709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1200" b="1" dirty="0" smtClean="0"/>
                        <a:t>Green</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endParaRPr lang="en-US" sz="1800" kern="1200" dirty="0">
                        <a:solidFill>
                          <a:schemeClr val="tx1"/>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34272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sz="1800" kern="1200" dirty="0">
                        <a:solidFill>
                          <a:schemeClr val="tx1"/>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1200" b="1" dirty="0" smtClean="0"/>
                        <a:t>Amber</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a:r>
                        <a:rPr lang="en-US" sz="1200" b="1" dirty="0" smtClean="0"/>
                        <a:t>Amber</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5373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a:r>
                        <a:rPr lang="en-US" sz="1200" b="1" dirty="0" smtClean="0"/>
                        <a:t>Red</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b="1" dirty="0" smtClean="0"/>
                        <a:t>???</a:t>
                      </a:r>
                      <a:endParaRPr lang="en-US"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a:endParaRPr lang="en-US"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a:endParaRPr lang="en-US"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8027">
                <a:tc>
                  <a:txBody>
                    <a:bodyPr/>
                    <a:lstStyle/>
                    <a:p>
                      <a:pPr algn="ctr" rtl="0" fontAlgn="ctr"/>
                      <a:r>
                        <a:rPr lang="en-GB" sz="700" b="1" i="0" u="none" strike="noStrike" dirty="0" smtClean="0">
                          <a:solidFill>
                            <a:srgbClr val="000000"/>
                          </a:solidFill>
                          <a:latin typeface="EYInterstate Light"/>
                        </a:rPr>
                        <a:t>Overall</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1200" b="1" dirty="0" smtClean="0"/>
                        <a:t>Red</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MSIBM-2-6671</_dlc_DocId>
    <_dlc_DocIdUrl xmlns="0cbe1240-e4fe-486d-8edc-2712abb96eb4">
      <Url>http://sp.ey.net/msibm/_layouts/DocIdRedir.aspx?ID=MSIBM-2-6671</Url>
      <Description>MSIBM-2-6671</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A940AC-0CA0-4818-BB3B-1FCEE8D2D362}">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customXml/itemProps2.xml><?xml version="1.0" encoding="utf-8"?>
<ds:datastoreItem xmlns:ds="http://schemas.openxmlformats.org/officeDocument/2006/customXml" ds:itemID="{9402EFF2-8716-46DB-BB08-36ADF06FE89A}">
  <ds:schemaRefs>
    <ds:schemaRef ds:uri="http://schemas.microsoft.com/sharepoint/v3/contenttype/forms"/>
  </ds:schemaRefs>
</ds:datastoreItem>
</file>

<file path=customXml/itemProps3.xml><?xml version="1.0" encoding="utf-8"?>
<ds:datastoreItem xmlns:ds="http://schemas.openxmlformats.org/officeDocument/2006/customXml" ds:itemID="{E1C7AA47-CFDE-4634-BDE1-B7FDBD36A3B8}">
  <ds:schemaRefs>
    <ds:schemaRef ds:uri="http://schemas.microsoft.com/sharepoint/events"/>
  </ds:schemaRefs>
</ds:datastoreItem>
</file>

<file path=customXml/itemProps4.xml><?xml version="1.0" encoding="utf-8"?>
<ds:datastoreItem xmlns:ds="http://schemas.openxmlformats.org/officeDocument/2006/customXml" ds:itemID="{F5FC8A70-D5E1-4BCE-90EC-956E2438D5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TotalTime>
  <Words>656</Words>
  <Application>Microsoft Office PowerPoint</Application>
  <PresentationFormat>On-screen Show (4:3)</PresentationFormat>
  <Paragraphs>100</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Slide 1</vt:lpstr>
      <vt:lpstr>Slide 2</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RAID final report 2012-03-09</dc:title>
  <dc:creator>Wale Agbaje</dc:creator>
  <cp:lastModifiedBy>Wale Agbaje</cp:lastModifiedBy>
  <cp:revision>13</cp:revision>
  <dcterms:created xsi:type="dcterms:W3CDTF">2012-02-24T14:50:34Z</dcterms:created>
  <dcterms:modified xsi:type="dcterms:W3CDTF">2012-03-11T17:22:26Z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9224b285-ab33-4721-b089-14e0dd67950c</vt:lpwstr>
  </property>
</Properties>
</file>