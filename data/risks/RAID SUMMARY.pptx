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28670\Desktop\MC%20Program%20RAID%20Log%202012-03-19%20backu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plotArea>
      <c:layout/>
      <c:barChart>
        <c:barDir val="col"/>
        <c:grouping val="clustered"/>
        <c:ser>
          <c:idx val="0"/>
          <c:order val="0"/>
          <c:tx>
            <c:strRef>
              <c:f>Snapshot!$A$2</c:f>
              <c:strCache>
                <c:ptCount val="1"/>
                <c:pt idx="0">
                  <c:v>App &amp; Data Migration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</c:ser>
        <c:ser>
          <c:idx val="2"/>
          <c:order val="1"/>
          <c:tx>
            <c:strRef>
              <c:f>Snapshot!$A$3</c:f>
              <c:strCache>
                <c:ptCount val="1"/>
                <c:pt idx="0">
                  <c:v>Change Management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2"/>
          <c:tx>
            <c:strRef>
              <c:f>Snapshot!$A$4</c:f>
              <c:strCache>
                <c:ptCount val="1"/>
                <c:pt idx="0">
                  <c:v>M&amp;C Program</c:v>
                </c:pt>
              </c:strCache>
            </c:strRef>
          </c:tx>
          <c:spPr>
            <a:solidFill>
              <a:srgbClr val="6699FF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Snapshot!$B$4:$M$4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6"/>
          <c:order val="3"/>
          <c:tx>
            <c:strRef>
              <c:f>Snapshot!$A$5</c:f>
              <c:strCache>
                <c:ptCount val="1"/>
                <c:pt idx="0">
                  <c:v>SharePoint</c:v>
                </c:pt>
              </c:strCache>
            </c:strRef>
          </c:tx>
          <c:spPr>
            <a:solidFill>
              <a:srgbClr val="92D05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Snapshot!$B$5:$M$5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5</c:v>
                </c:pt>
                <c:pt idx="4">
                  <c:v>0</c:v>
                </c:pt>
                <c:pt idx="5">
                  <c:v>4</c:v>
                </c:pt>
                <c:pt idx="6">
                  <c:v>0</c:v>
                </c:pt>
                <c:pt idx="7">
                  <c:v>1</c:v>
                </c:pt>
                <c:pt idx="8">
                  <c:v>37</c:v>
                </c:pt>
                <c:pt idx="9">
                  <c:v>11</c:v>
                </c:pt>
                <c:pt idx="10">
                  <c:v>0</c:v>
                </c:pt>
                <c:pt idx="11">
                  <c:v>12</c:v>
                </c:pt>
              </c:numCache>
            </c:numRef>
          </c:val>
        </c:ser>
        <c:ser>
          <c:idx val="8"/>
          <c:order val="4"/>
          <c:tx>
            <c:strRef>
              <c:f>Snapshot!$A$6</c:f>
              <c:strCache>
                <c:ptCount val="1"/>
                <c:pt idx="0">
                  <c:v>Technology Foundation</c:v>
                </c:pt>
              </c:strCache>
            </c:strRef>
          </c:tx>
          <c:spPr>
            <a:solidFill>
              <a:srgbClr val="333399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Snapshot!$B$6:$M$6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23</c:v>
                </c:pt>
                <c:pt idx="10">
                  <c:v>15</c:v>
                </c:pt>
                <c:pt idx="11">
                  <c:v>23</c:v>
                </c:pt>
              </c:numCache>
            </c:numRef>
          </c:val>
        </c:ser>
        <c:ser>
          <c:idx val="10"/>
          <c:order val="5"/>
          <c:tx>
            <c:strRef>
              <c:f>Snapshot!$A$7</c:f>
              <c:strCache>
                <c:ptCount val="1"/>
                <c:pt idx="0">
                  <c:v>Unified Communications</c:v>
                </c:pt>
              </c:strCache>
            </c:strRef>
          </c:tx>
          <c:spPr>
            <a:solidFill>
              <a:srgbClr val="80008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Snapshot!$B$7:$M$7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5</c:v>
                </c:pt>
                <c:pt idx="10">
                  <c:v>1</c:v>
                </c:pt>
                <c:pt idx="11">
                  <c:v>5</c:v>
                </c:pt>
              </c:numCache>
            </c:numRef>
          </c:val>
        </c:ser>
        <c:axId val="87491712"/>
        <c:axId val="87493248"/>
      </c:barChart>
      <c:catAx>
        <c:axId val="87491712"/>
        <c:scaling>
          <c:orientation val="minMax"/>
        </c:scaling>
        <c:axPos val="b"/>
        <c:tickLblPos val="nextTo"/>
        <c:crossAx val="87493248"/>
        <c:crosses val="autoZero"/>
        <c:auto val="1"/>
        <c:lblAlgn val="ctr"/>
        <c:lblOffset val="100"/>
      </c:catAx>
      <c:valAx>
        <c:axId val="87493248"/>
        <c:scaling>
          <c:orientation val="minMax"/>
        </c:scaling>
        <c:axPos val="l"/>
        <c:majorGridlines/>
        <c:numFmt formatCode="General" sourceLinked="1"/>
        <c:tickLblPos val="nextTo"/>
        <c:crossAx val="87491712"/>
        <c:crosses val="autoZero"/>
        <c:crossBetween val="between"/>
      </c:valAx>
    </c:plotArea>
    <c:legend>
      <c:legendPos val="r"/>
      <c:layout/>
    </c:legend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App and Data Migration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Summary'!$B$2:$S$2</c:f>
              <c:numCache>
                <c:formatCode>General</c:formatCode>
                <c:ptCount val="18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1"/>
          <c:order val="1"/>
          <c:tx>
            <c:strRef>
              <c:f>'Project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Summary'!$B$3:$S$3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Summary'!$B$4:$S$4</c:f>
              <c:numCache>
                <c:formatCode>General</c:formatCode>
                <c:ptCount val="18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7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Summary'!$A$5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Summary'!$B$5:$S$5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4"/>
          <c:order val="4"/>
          <c:tx>
            <c:strRef>
              <c:f>'Project Summary'!$A$6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Summary'!$B$6:$S$6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5"/>
          <c:order val="5"/>
          <c:tx>
            <c:strRef>
              <c:f>'Project Summary'!$A$7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Summary'!$B$7:$S$7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6"/>
          <c:tx>
            <c:strRef>
              <c:f>'Project Summary'!$A$8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Summary'!$B$8:$S$8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7"/>
          <c:tx>
            <c:strRef>
              <c:f>'Project Summary'!$A$9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Summary'!$B$9:$S$9</c:f>
              <c:numCache>
                <c:formatCode>General</c:formatCode>
                <c:ptCount val="18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8"/>
          <c:order val="8"/>
          <c:tx>
            <c:strRef>
              <c:f>'Project Summary'!$A$10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Summary'!$B$10:$S$10</c:f>
              <c:numCache>
                <c:formatCode>General</c:formatCode>
                <c:ptCount val="18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9"/>
          <c:order val="9"/>
          <c:tx>
            <c:strRef>
              <c:f>'Project Summary'!$A$11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Summary'!$B$11:$S$11</c:f>
              <c:numCache>
                <c:formatCode>General</c:formatCode>
                <c:ptCount val="18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10"/>
          <c:tx>
            <c:strRef>
              <c:f>'Project Summary'!$A$12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Summary'!$B$12:$S$12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Summary'!$A$13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Summary'!$B$13:$S$13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2"/>
          <c:order val="12"/>
          <c:tx>
            <c:strRef>
              <c:f>'Project Summary'!$A$14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Summary'!$B$14:$S$14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Summary'!$A$15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Summary'!$B$15:$S$15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Summary'!$A$16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Summary'!$B$16:$S$16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Summary'!$A$17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Summary'!$B$1:$S$1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Summary'!$B$17:$S$17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marker val="1"/>
        <c:axId val="59357824"/>
        <c:axId val="79478784"/>
      </c:lineChart>
      <c:dateAx>
        <c:axId val="59357824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79478784"/>
        <c:crosses val="autoZero"/>
        <c:auto val="1"/>
        <c:lblOffset val="100"/>
        <c:baseTimeUnit val="days"/>
        <c:majorUnit val="3"/>
        <c:majorTimeUnit val="days"/>
      </c:dateAx>
      <c:valAx>
        <c:axId val="7947878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5935782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Change Management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Summary'!$A$21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Summary'!$B$21:$S$21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"/>
          <c:order val="1"/>
          <c:tx>
            <c:strRef>
              <c:f>'Project Summary'!$A$22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Summary'!$B$22:$S$22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Summary'!$A$23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Summary'!$B$23:$S$23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Summary'!$A$24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Summary'!$B$24:$S$24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Summary'!$A$25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Summary'!$B$25:$S$25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Summary'!$A$26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Summary'!$B$26:$S$26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Summary'!$A$27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Summary'!$B$27:$S$27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0"/>
          <c:order val="7"/>
          <c:tx>
            <c:strRef>
              <c:f>'Project Summary'!$A$28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Summary'!$B$28:$S$28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4"/>
          <c:order val="8"/>
          <c:tx>
            <c:strRef>
              <c:f>'Project Summary'!$A$29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Summary'!$B$29:$S$29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5"/>
          <c:order val="9"/>
          <c:tx>
            <c:strRef>
              <c:f>'Project Summary'!$A$30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Summary'!$B$30:$S$30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Summary'!$A$31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Summary'!$B$31:$S$31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Summary'!$A$32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Summary'!$B$32:$S$32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Summary'!$A$33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Summary'!$B$33:$S$33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Summary'!$A$34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Summary'!$B$34:$S$34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Summary'!$A$35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Summary'!$B$35:$S$35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5"/>
          <c:order val="15"/>
          <c:tx>
            <c:strRef>
              <c:f>'Project Summary'!$A$36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Summary'!$B$20:$S$20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Summary'!$B$36:$S$36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marker val="1"/>
        <c:axId val="95738496"/>
        <c:axId val="95806976"/>
      </c:lineChart>
      <c:dateAx>
        <c:axId val="95738496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5806976"/>
        <c:crosses val="autoZero"/>
        <c:auto val="1"/>
        <c:lblOffset val="100"/>
        <c:baseTimeUnit val="days"/>
        <c:majorUnit val="3"/>
        <c:majorTimeUnit val="days"/>
      </c:dateAx>
      <c:valAx>
        <c:axId val="95806976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573849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M&amp;C Program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Summary'!$A$40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Summary'!$B$40:$S$40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Summary'!$A$41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Summary'!$B$41:$S$41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</c:ser>
        <c:ser>
          <c:idx val="2"/>
          <c:order val="2"/>
          <c:tx>
            <c:strRef>
              <c:f>'Project Summary'!$A$42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Summary'!$B$42:$S$42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Summary'!$A$43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Summary'!$B$43:$S$43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Summary'!$A$44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Summary'!$B$44:$S$44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8"/>
          <c:order val="5"/>
          <c:tx>
            <c:strRef>
              <c:f>'Project Summary'!$A$45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Summary'!$B$45:$S$45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9"/>
          <c:order val="6"/>
          <c:tx>
            <c:strRef>
              <c:f>'Project Summary'!$A$46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Summary'!$B$46:$S$46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Summary'!$A$47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Summary'!$B$47:$S$47</c:f>
              <c:numCache>
                <c:formatCode>General</c:formatCode>
                <c:ptCount val="1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14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  <c:pt idx="16">
                  <c:v>14</c:v>
                </c:pt>
                <c:pt idx="17">
                  <c:v>14</c:v>
                </c:pt>
              </c:numCache>
            </c:numRef>
          </c:val>
        </c:ser>
        <c:ser>
          <c:idx val="4"/>
          <c:order val="8"/>
          <c:tx>
            <c:strRef>
              <c:f>'Project Summary'!$A$48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Summary'!$B$48:$S$48</c:f>
              <c:numCache>
                <c:formatCode>General</c:formatCode>
                <c:ptCount val="1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9</c:v>
                </c:pt>
                <c:pt idx="17">
                  <c:v>9</c:v>
                </c:pt>
              </c:numCache>
            </c:numRef>
          </c:val>
        </c:ser>
        <c:ser>
          <c:idx val="5"/>
          <c:order val="9"/>
          <c:tx>
            <c:strRef>
              <c:f>'Project Summary'!$A$49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Summary'!$B$49:$S$49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6"/>
          <c:order val="10"/>
          <c:tx>
            <c:strRef>
              <c:f>'Project Summary'!$A$50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Summary'!$B$50:$S$50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Summary'!$A$51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Summary'!$B$51:$S$51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9</c:v>
                </c:pt>
                <c:pt idx="12">
                  <c:v>9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</c:v>
                </c:pt>
                <c:pt idx="17">
                  <c:v>9</c:v>
                </c:pt>
              </c:numCache>
            </c:numRef>
          </c:val>
        </c:ser>
        <c:ser>
          <c:idx val="12"/>
          <c:order val="12"/>
          <c:tx>
            <c:strRef>
              <c:f>'Project Summary'!$A$52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Summary'!$B$52:$S$52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Summary'!$A$53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Summary'!$B$53:$S$53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Summary'!$A$54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Summary'!$B$54:$S$54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Summary'!$A$55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Summary'!$B$39:$S$39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Summary'!$B$55:$S$55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marker val="1"/>
        <c:axId val="51041792"/>
        <c:axId val="51155712"/>
      </c:lineChart>
      <c:dateAx>
        <c:axId val="51041792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51155712"/>
        <c:crosses val="autoZero"/>
        <c:auto val="1"/>
        <c:lblOffset val="100"/>
        <c:baseTimeUnit val="days"/>
        <c:majorUnit val="3"/>
        <c:majorTimeUnit val="days"/>
      </c:dateAx>
      <c:valAx>
        <c:axId val="5115571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5104179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SharePoint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Summary'!$A$59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Summary'!$B$59:$S$59</c:f>
              <c:numCache>
                <c:formatCode>General</c:formatCode>
                <c:ptCount val="18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7</c:v>
                </c:pt>
                <c:pt idx="11">
                  <c:v>5</c:v>
                </c:pt>
                <c:pt idx="12">
                  <c:v>4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6</c:v>
                </c:pt>
                <c:pt idx="17">
                  <c:v>6</c:v>
                </c:pt>
              </c:numCache>
            </c:numRef>
          </c:val>
        </c:ser>
        <c:ser>
          <c:idx val="1"/>
          <c:order val="1"/>
          <c:tx>
            <c:strRef>
              <c:f>'Project Summary'!$A$60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Summary'!$B$60:$S$60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Summary'!$A$61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Summary'!$B$61:$S$61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Summary'!$A$62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Summary'!$B$62:$S$62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7"/>
          <c:order val="4"/>
          <c:tx>
            <c:strRef>
              <c:f>'Project Summary'!$A$63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Summary'!$B$63:$S$63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Summary'!$A$64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Summary'!$B$64:$S$64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Summary'!$A$65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Summary'!$B$65:$S$65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Summary'!$A$66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Summary'!$B$66:$S$66</c:f>
              <c:numCache>
                <c:formatCode>General</c:formatCode>
                <c:ptCount val="18"/>
                <c:pt idx="0">
                  <c:v>12</c:v>
                </c:pt>
                <c:pt idx="1">
                  <c:v>13</c:v>
                </c:pt>
                <c:pt idx="2">
                  <c:v>13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26</c:v>
                </c:pt>
                <c:pt idx="8">
                  <c:v>26</c:v>
                </c:pt>
                <c:pt idx="9">
                  <c:v>27</c:v>
                </c:pt>
                <c:pt idx="10">
                  <c:v>14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  <c:pt idx="15">
                  <c:v>8</c:v>
                </c:pt>
                <c:pt idx="16">
                  <c:v>6</c:v>
                </c:pt>
                <c:pt idx="17">
                  <c:v>6</c:v>
                </c:pt>
              </c:numCache>
            </c:numRef>
          </c:val>
        </c:ser>
        <c:ser>
          <c:idx val="4"/>
          <c:order val="8"/>
          <c:tx>
            <c:strRef>
              <c:f>'Project Summary'!$A$67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Summary'!$B$67:$S$67</c:f>
              <c:numCache>
                <c:formatCode>General</c:formatCode>
                <c:ptCount val="18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18</c:v>
                </c:pt>
                <c:pt idx="8">
                  <c:v>18</c:v>
                </c:pt>
                <c:pt idx="9">
                  <c:v>20</c:v>
                </c:pt>
                <c:pt idx="10">
                  <c:v>9</c:v>
                </c:pt>
                <c:pt idx="11">
                  <c:v>11</c:v>
                </c:pt>
                <c:pt idx="12">
                  <c:v>11</c:v>
                </c:pt>
                <c:pt idx="13">
                  <c:v>9</c:v>
                </c:pt>
                <c:pt idx="14">
                  <c:v>7</c:v>
                </c:pt>
                <c:pt idx="15">
                  <c:v>6</c:v>
                </c:pt>
                <c:pt idx="16">
                  <c:v>4</c:v>
                </c:pt>
                <c:pt idx="17">
                  <c:v>4</c:v>
                </c:pt>
              </c:numCache>
            </c:numRef>
          </c:val>
        </c:ser>
        <c:ser>
          <c:idx val="5"/>
          <c:order val="9"/>
          <c:tx>
            <c:strRef>
              <c:f>'Project Summary'!$A$68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Summary'!$B$68:$S$68</c:f>
              <c:numCache>
                <c:formatCode>General</c:formatCode>
                <c:ptCount val="18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  <c:pt idx="10">
                  <c:v>6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3</c:v>
                </c:pt>
                <c:pt idx="15">
                  <c:v>3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Summary'!$A$69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Summary'!$B$69:$S$69</c:f>
              <c:numCache>
                <c:formatCode>General</c:formatCode>
                <c:ptCount val="18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Summary'!$A$70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Summary'!$B$70:$S$70</c:f>
              <c:numCache>
                <c:formatCode>General</c:formatCode>
                <c:ptCount val="18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7</c:v>
                </c:pt>
                <c:pt idx="8">
                  <c:v>7</c:v>
                </c:pt>
                <c:pt idx="9">
                  <c:v>6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2"/>
          <c:order val="12"/>
          <c:tx>
            <c:strRef>
              <c:f>'Project Summary'!$A$71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Summary'!$B$71:$S$71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Summary'!$A$72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Summary'!$B$72:$S$72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Summary'!$A$73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Summary'!$B$73:$S$73</c:f>
              <c:numCache>
                <c:formatCode>General</c:formatCode>
                <c:ptCount val="18"/>
                <c:pt idx="0">
                  <c:v>37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  <c:pt idx="12">
                  <c:v>36</c:v>
                </c:pt>
                <c:pt idx="13">
                  <c:v>36</c:v>
                </c:pt>
                <c:pt idx="14">
                  <c:v>37</c:v>
                </c:pt>
                <c:pt idx="15">
                  <c:v>37</c:v>
                </c:pt>
                <c:pt idx="16">
                  <c:v>37</c:v>
                </c:pt>
                <c:pt idx="17">
                  <c:v>37</c:v>
                </c:pt>
              </c:numCache>
            </c:numRef>
          </c:val>
        </c:ser>
        <c:ser>
          <c:idx val="15"/>
          <c:order val="15"/>
          <c:tx>
            <c:strRef>
              <c:f>'Project Summary'!$A$74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Summary'!$B$58:$S$58</c:f>
              <c:numCache>
                <c:formatCode>[$-409]d\-mmm;@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</c:numCache>
            </c:numRef>
          </c:cat>
          <c:val>
            <c:numRef>
              <c:f>'Project Summary'!$B$74:$S$74</c:f>
              <c:numCache>
                <c:formatCode>General</c:formatCode>
                <c:ptCount val="18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marker val="1"/>
        <c:axId val="80916480"/>
        <c:axId val="80918784"/>
      </c:lineChart>
      <c:dateAx>
        <c:axId val="80916480"/>
        <c:scaling>
          <c:orientation val="minMax"/>
        </c:scaling>
        <c:axPos val="b"/>
        <c:numFmt formatCode="[$-409]d\-mmm;@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80918784"/>
        <c:crosses val="autoZero"/>
        <c:auto val="1"/>
        <c:lblOffset val="100"/>
        <c:baseTimeUnit val="days"/>
        <c:majorUnit val="3"/>
        <c:majorTimeUnit val="days"/>
      </c:dateAx>
      <c:valAx>
        <c:axId val="8091878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8091648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Technology Foundation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Summary'!$A$78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Summary'!$B$78:$S$78</c:f>
              <c:numCache>
                <c:formatCode>General</c:formatCode>
                <c:ptCount val="18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7</c:v>
                </c:pt>
                <c:pt idx="17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Summary'!$A$79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Summary'!$B$79:$S$79</c:f>
              <c:numCache>
                <c:formatCode>General</c:formatCode>
                <c:ptCount val="18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Summary'!$A$80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Summary'!$B$80:$S$80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Summary'!$A$81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Summary'!$B$81:$S$81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</c:v>
                </c:pt>
                <c:pt idx="17">
                  <c:v>4</c:v>
                </c:pt>
              </c:numCache>
            </c:numRef>
          </c:val>
        </c:ser>
        <c:ser>
          <c:idx val="7"/>
          <c:order val="4"/>
          <c:tx>
            <c:strRef>
              <c:f>'Project Summary'!$A$82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Summary'!$B$82:$S$82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Summary'!$A$83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Summary'!$B$83:$S$83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Summary'!$A$84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Summary'!$B$84:$S$84</c:f>
              <c:numCache>
                <c:formatCode>General</c:formatCode>
                <c:ptCount val="1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Summary'!$A$85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Summary'!$B$85:$S$85</c:f>
              <c:numCache>
                <c:formatCode>General</c:formatCode>
                <c:ptCount val="18"/>
                <c:pt idx="0">
                  <c:v>20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</c:numCache>
            </c:numRef>
          </c:val>
        </c:ser>
        <c:ser>
          <c:idx val="4"/>
          <c:order val="8"/>
          <c:tx>
            <c:strRef>
              <c:f>'Project Summary'!$A$86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Summary'!$B$86:$S$86</c:f>
              <c:numCache>
                <c:formatCode>General</c:formatCode>
                <c:ptCount val="18"/>
                <c:pt idx="0">
                  <c:v>16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  <c:pt idx="10">
                  <c:v>9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</c:numCache>
            </c:numRef>
          </c:val>
        </c:ser>
        <c:ser>
          <c:idx val="5"/>
          <c:order val="9"/>
          <c:tx>
            <c:strRef>
              <c:f>'Project Summary'!$A$87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Summary'!$B$87:$S$87</c:f>
              <c:numCache>
                <c:formatCode>General</c:formatCode>
                <c:ptCount val="18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6"/>
          <c:order val="10"/>
          <c:tx>
            <c:strRef>
              <c:f>'Project Summary'!$A$88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Summary'!$B$88:$S$88</c:f>
              <c:numCache>
                <c:formatCode>General</c:formatCode>
                <c:ptCount val="18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Summary'!$A$89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Summary'!$B$89:$S$89</c:f>
              <c:numCache>
                <c:formatCode>General</c:formatCode>
                <c:ptCount val="18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12"/>
          <c:order val="12"/>
          <c:tx>
            <c:strRef>
              <c:f>'Project Summary'!$A$90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Summary'!$B$90:$S$90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</c:numCache>
            </c:numRef>
          </c:val>
        </c:ser>
        <c:ser>
          <c:idx val="13"/>
          <c:order val="13"/>
          <c:tx>
            <c:strRef>
              <c:f>'Project Summary'!$A$91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Summary'!$B$91:$S$91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4"/>
          <c:order val="14"/>
          <c:tx>
            <c:strRef>
              <c:f>'Project Summary'!$A$92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Summary'!$B$92:$S$92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Summary'!$A$93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Summary'!$B$77:$S$77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Summary'!$B$93:$S$93</c:f>
              <c:numCache>
                <c:formatCode>General</c:formatCode>
                <c:ptCount val="18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12</c:v>
                </c:pt>
                <c:pt idx="8">
                  <c:v>22</c:v>
                </c:pt>
                <c:pt idx="9">
                  <c:v>17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</c:numCache>
            </c:numRef>
          </c:val>
        </c:ser>
        <c:marker val="1"/>
        <c:axId val="87487616"/>
        <c:axId val="95834880"/>
      </c:lineChart>
      <c:dateAx>
        <c:axId val="87487616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95834880"/>
        <c:crosses val="autoZero"/>
        <c:auto val="1"/>
        <c:lblOffset val="100"/>
        <c:baseTimeUnit val="days"/>
        <c:majorUnit val="3"/>
        <c:majorTimeUnit val="days"/>
      </c:dateAx>
      <c:valAx>
        <c:axId val="95834880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8748761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Unified Communications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Summary'!$A$97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Summary'!$B$97:$S$97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Summary'!$A$98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Summary'!$B$98:$S$98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</c:numCache>
            </c:numRef>
          </c:val>
        </c:ser>
        <c:ser>
          <c:idx val="2"/>
          <c:order val="2"/>
          <c:tx>
            <c:strRef>
              <c:f>'Project Summary'!$A$99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Summary'!$B$99:$S$99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Summary'!$A$100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Summary'!$B$100:$S$100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Summary'!$A$101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Summary'!$B$101:$S$101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8"/>
          <c:order val="5"/>
          <c:tx>
            <c:strRef>
              <c:f>'Project Summary'!$A$102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Summary'!$B$102:$S$102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9"/>
          <c:order val="6"/>
          <c:tx>
            <c:strRef>
              <c:f>'Project Summary'!$A$103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Summary'!$B$103:$S$103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Summary'!$A$104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Summary'!$B$104:$S$104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4"/>
          <c:order val="8"/>
          <c:tx>
            <c:strRef>
              <c:f>'Project Summary'!$A$105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Summary'!$B$105:$S$105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5"/>
          <c:order val="9"/>
          <c:tx>
            <c:strRef>
              <c:f>'Project Summary'!$A$106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Summary'!$B$106:$S$106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Summary'!$A$107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Summary'!$B$107:$S$107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Summary'!$A$108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Summary'!$B$108:$S$108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Summary'!$A$109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Summary'!$B$109:$S$109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Summary'!$A$110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Summary'!$B$110:$S$110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Summary'!$A$111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Summary'!$B$111:$S$111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Summary'!$A$112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Summary'!$B$96:$S$96</c:f>
              <c:numCache>
                <c:formatCode>dd\-mmm</c:formatCode>
                <c:ptCount val="18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</c:numCache>
            </c:numRef>
          </c:cat>
          <c:val>
            <c:numRef>
              <c:f>'Project Summary'!$B$112:$S$112</c:f>
              <c:numCache>
                <c:formatCode>General</c:formatCode>
                <c:ptCount val="1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marker val="1"/>
        <c:axId val="108614784"/>
        <c:axId val="108616704"/>
      </c:lineChart>
      <c:dateAx>
        <c:axId val="108614784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08616704"/>
        <c:crosses val="autoZero"/>
        <c:auto val="1"/>
        <c:lblOffset val="100"/>
        <c:baseTimeUnit val="days"/>
        <c:majorUnit val="3"/>
        <c:majorTimeUnit val="days"/>
      </c:dateAx>
      <c:valAx>
        <c:axId val="10861670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0861478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autoTitleDeleted val="1"/>
    <c:plotArea>
      <c:layout/>
      <c:lineChart>
        <c:grouping val="standard"/>
        <c:ser>
          <c:idx val="0"/>
          <c:order val="0"/>
          <c:tx>
            <c:strRef>
              <c:f>'RAID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Summary'!$B$2:$U$2</c:f>
              <c:numCache>
                <c:formatCode>General</c:formatCode>
                <c:ptCount val="20"/>
                <c:pt idx="0">
                  <c:v>40</c:v>
                </c:pt>
                <c:pt idx="1">
                  <c:v>34</c:v>
                </c:pt>
                <c:pt idx="2">
                  <c:v>33</c:v>
                </c:pt>
                <c:pt idx="3">
                  <c:v>30</c:v>
                </c:pt>
                <c:pt idx="4">
                  <c:v>32</c:v>
                </c:pt>
                <c:pt idx="5">
                  <c:v>32</c:v>
                </c:pt>
                <c:pt idx="6">
                  <c:v>30</c:v>
                </c:pt>
                <c:pt idx="7">
                  <c:v>30</c:v>
                </c:pt>
                <c:pt idx="8">
                  <c:v>32</c:v>
                </c:pt>
                <c:pt idx="9">
                  <c:v>39</c:v>
                </c:pt>
                <c:pt idx="10">
                  <c:v>45</c:v>
                </c:pt>
                <c:pt idx="11">
                  <c:v>38</c:v>
                </c:pt>
                <c:pt idx="12">
                  <c:v>37</c:v>
                </c:pt>
                <c:pt idx="13">
                  <c:v>32</c:v>
                </c:pt>
                <c:pt idx="14">
                  <c:v>30</c:v>
                </c:pt>
                <c:pt idx="15">
                  <c:v>29</c:v>
                </c:pt>
                <c:pt idx="16">
                  <c:v>32</c:v>
                </c:pt>
                <c:pt idx="17">
                  <c:v>32</c:v>
                </c:pt>
                <c:pt idx="18">
                  <c:v>32</c:v>
                </c:pt>
                <c:pt idx="19">
                  <c:v>35</c:v>
                </c:pt>
              </c:numCache>
            </c:numRef>
          </c:val>
        </c:ser>
        <c:ser>
          <c:idx val="1"/>
          <c:order val="1"/>
          <c:tx>
            <c:strRef>
              <c:f>'RAID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Summary'!$B$3:$U$3</c:f>
              <c:numCache>
                <c:formatCode>General</c:formatCode>
                <c:ptCount val="20"/>
                <c:pt idx="0">
                  <c:v>15</c:v>
                </c:pt>
                <c:pt idx="1">
                  <c:v>10</c:v>
                </c:pt>
                <c:pt idx="2">
                  <c:v>13</c:v>
                </c:pt>
                <c:pt idx="3">
                  <c:v>13</c:v>
                </c:pt>
                <c:pt idx="4">
                  <c:v>14</c:v>
                </c:pt>
                <c:pt idx="5">
                  <c:v>14</c:v>
                </c:pt>
                <c:pt idx="6">
                  <c:v>16</c:v>
                </c:pt>
                <c:pt idx="7">
                  <c:v>16</c:v>
                </c:pt>
                <c:pt idx="8">
                  <c:v>21</c:v>
                </c:pt>
                <c:pt idx="9">
                  <c:v>28</c:v>
                </c:pt>
                <c:pt idx="10">
                  <c:v>25</c:v>
                </c:pt>
                <c:pt idx="11">
                  <c:v>19</c:v>
                </c:pt>
                <c:pt idx="12">
                  <c:v>17</c:v>
                </c:pt>
                <c:pt idx="13">
                  <c:v>14</c:v>
                </c:pt>
                <c:pt idx="14">
                  <c:v>14</c:v>
                </c:pt>
                <c:pt idx="15">
                  <c:v>14</c:v>
                </c:pt>
                <c:pt idx="16">
                  <c:v>17</c:v>
                </c:pt>
                <c:pt idx="17">
                  <c:v>16</c:v>
                </c:pt>
                <c:pt idx="18">
                  <c:v>16</c:v>
                </c:pt>
                <c:pt idx="19">
                  <c:v>15</c:v>
                </c:pt>
              </c:numCache>
            </c:numRef>
          </c:val>
        </c:ser>
        <c:ser>
          <c:idx val="2"/>
          <c:order val="2"/>
          <c:tx>
            <c:strRef>
              <c:f>'RAID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Summary'!$B$4:$U$4</c:f>
              <c:numCache>
                <c:formatCode>General</c:formatCode>
                <c:ptCount val="20"/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  <c:pt idx="6">
                  <c:v>8</c:v>
                </c:pt>
                <c:pt idx="7">
                  <c:v>10</c:v>
                </c:pt>
                <c:pt idx="8">
                  <c:v>9</c:v>
                </c:pt>
                <c:pt idx="9">
                  <c:v>13</c:v>
                </c:pt>
                <c:pt idx="10">
                  <c:v>9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ser>
          <c:idx val="3"/>
          <c:order val="3"/>
          <c:tx>
            <c:strRef>
              <c:f>'RAID Summary'!$A$5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Summary'!$B$5:$U$5</c:f>
              <c:numCache>
                <c:formatCode>General</c:formatCode>
                <c:ptCount val="20"/>
                <c:pt idx="0">
                  <c:v>37</c:v>
                </c:pt>
                <c:pt idx="1">
                  <c:v>37</c:v>
                </c:pt>
                <c:pt idx="2">
                  <c:v>42</c:v>
                </c:pt>
                <c:pt idx="3">
                  <c:v>42</c:v>
                </c:pt>
                <c:pt idx="4">
                  <c:v>45</c:v>
                </c:pt>
                <c:pt idx="5">
                  <c:v>48</c:v>
                </c:pt>
                <c:pt idx="6">
                  <c:v>52</c:v>
                </c:pt>
                <c:pt idx="7">
                  <c:v>43</c:v>
                </c:pt>
                <c:pt idx="8">
                  <c:v>49</c:v>
                </c:pt>
                <c:pt idx="9">
                  <c:v>51</c:v>
                </c:pt>
                <c:pt idx="10">
                  <c:v>55</c:v>
                </c:pt>
                <c:pt idx="11">
                  <c:v>51</c:v>
                </c:pt>
                <c:pt idx="12">
                  <c:v>53</c:v>
                </c:pt>
                <c:pt idx="13">
                  <c:v>46</c:v>
                </c:pt>
                <c:pt idx="14">
                  <c:v>47</c:v>
                </c:pt>
                <c:pt idx="15">
                  <c:v>44</c:v>
                </c:pt>
                <c:pt idx="16">
                  <c:v>44</c:v>
                </c:pt>
                <c:pt idx="17">
                  <c:v>42</c:v>
                </c:pt>
                <c:pt idx="18">
                  <c:v>41</c:v>
                </c:pt>
                <c:pt idx="19">
                  <c:v>37</c:v>
                </c:pt>
              </c:numCache>
            </c:numRef>
          </c:val>
        </c:ser>
        <c:ser>
          <c:idx val="4"/>
          <c:order val="4"/>
          <c:tx>
            <c:strRef>
              <c:f>'RAID Summary'!$A$6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Summary'!$B$6:$U$6</c:f>
              <c:numCache>
                <c:formatCode>General</c:formatCode>
                <c:ptCount val="20"/>
                <c:pt idx="2">
                  <c:v>25</c:v>
                </c:pt>
                <c:pt idx="3">
                  <c:v>25</c:v>
                </c:pt>
                <c:pt idx="4">
                  <c:v>28</c:v>
                </c:pt>
                <c:pt idx="5">
                  <c:v>33</c:v>
                </c:pt>
                <c:pt idx="6">
                  <c:v>39</c:v>
                </c:pt>
                <c:pt idx="7">
                  <c:v>31</c:v>
                </c:pt>
                <c:pt idx="8">
                  <c:v>37</c:v>
                </c:pt>
                <c:pt idx="9">
                  <c:v>40</c:v>
                </c:pt>
                <c:pt idx="10">
                  <c:v>45</c:v>
                </c:pt>
                <c:pt idx="11">
                  <c:v>42</c:v>
                </c:pt>
                <c:pt idx="12">
                  <c:v>45</c:v>
                </c:pt>
                <c:pt idx="13">
                  <c:v>37</c:v>
                </c:pt>
                <c:pt idx="14">
                  <c:v>37</c:v>
                </c:pt>
                <c:pt idx="15">
                  <c:v>36</c:v>
                </c:pt>
                <c:pt idx="16">
                  <c:v>36</c:v>
                </c:pt>
                <c:pt idx="17">
                  <c:v>34</c:v>
                </c:pt>
                <c:pt idx="18">
                  <c:v>33</c:v>
                </c:pt>
                <c:pt idx="19">
                  <c:v>29</c:v>
                </c:pt>
              </c:numCache>
            </c:numRef>
          </c:val>
        </c:ser>
        <c:ser>
          <c:idx val="5"/>
          <c:order val="5"/>
          <c:tx>
            <c:strRef>
              <c:f>'RAID Summary'!$A$7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Summary'!$B$7:$U$7</c:f>
              <c:numCache>
                <c:formatCode>General</c:formatCode>
                <c:ptCount val="20"/>
                <c:pt idx="2">
                  <c:v>13</c:v>
                </c:pt>
                <c:pt idx="3">
                  <c:v>12</c:v>
                </c:pt>
                <c:pt idx="4">
                  <c:v>7</c:v>
                </c:pt>
                <c:pt idx="5">
                  <c:v>13</c:v>
                </c:pt>
                <c:pt idx="6">
                  <c:v>16</c:v>
                </c:pt>
                <c:pt idx="7">
                  <c:v>14</c:v>
                </c:pt>
                <c:pt idx="8">
                  <c:v>12</c:v>
                </c:pt>
                <c:pt idx="9">
                  <c:v>22</c:v>
                </c:pt>
                <c:pt idx="10">
                  <c:v>20</c:v>
                </c:pt>
                <c:pt idx="11">
                  <c:v>14</c:v>
                </c:pt>
                <c:pt idx="12">
                  <c:v>16</c:v>
                </c:pt>
                <c:pt idx="13">
                  <c:v>13</c:v>
                </c:pt>
                <c:pt idx="14">
                  <c:v>8</c:v>
                </c:pt>
                <c:pt idx="15">
                  <c:v>6</c:v>
                </c:pt>
                <c:pt idx="16">
                  <c:v>4</c:v>
                </c:pt>
                <c:pt idx="17">
                  <c:v>7</c:v>
                </c:pt>
                <c:pt idx="18">
                  <c:v>6</c:v>
                </c:pt>
                <c:pt idx="19">
                  <c:v>3</c:v>
                </c:pt>
              </c:numCache>
            </c:numRef>
          </c:val>
        </c:ser>
        <c:ser>
          <c:idx val="6"/>
          <c:order val="6"/>
          <c:tx>
            <c:strRef>
              <c:f>'RAID Summary'!$A$8</c:f>
              <c:strCache>
                <c:ptCount val="1"/>
                <c:pt idx="0">
                  <c:v>Total Assumptions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Summary'!$B$8:$U$8</c:f>
              <c:numCache>
                <c:formatCode>General</c:formatCode>
                <c:ptCount val="20"/>
                <c:pt idx="0">
                  <c:v>78</c:v>
                </c:pt>
                <c:pt idx="1">
                  <c:v>70</c:v>
                </c:pt>
                <c:pt idx="2">
                  <c:v>67</c:v>
                </c:pt>
                <c:pt idx="3">
                  <c:v>67</c:v>
                </c:pt>
                <c:pt idx="4">
                  <c:v>68</c:v>
                </c:pt>
                <c:pt idx="5">
                  <c:v>69</c:v>
                </c:pt>
                <c:pt idx="6">
                  <c:v>69</c:v>
                </c:pt>
                <c:pt idx="7">
                  <c:v>69</c:v>
                </c:pt>
                <c:pt idx="8">
                  <c:v>63</c:v>
                </c:pt>
                <c:pt idx="9">
                  <c:v>63</c:v>
                </c:pt>
                <c:pt idx="10">
                  <c:v>63</c:v>
                </c:pt>
                <c:pt idx="11">
                  <c:v>63</c:v>
                </c:pt>
                <c:pt idx="12">
                  <c:v>63</c:v>
                </c:pt>
                <c:pt idx="13">
                  <c:v>63</c:v>
                </c:pt>
                <c:pt idx="14">
                  <c:v>62</c:v>
                </c:pt>
                <c:pt idx="15">
                  <c:v>62</c:v>
                </c:pt>
                <c:pt idx="16">
                  <c:v>62</c:v>
                </c:pt>
                <c:pt idx="17">
                  <c:v>62</c:v>
                </c:pt>
                <c:pt idx="18">
                  <c:v>62</c:v>
                </c:pt>
                <c:pt idx="19">
                  <c:v>62</c:v>
                </c:pt>
              </c:numCache>
            </c:numRef>
          </c:val>
        </c:ser>
        <c:ser>
          <c:idx val="7"/>
          <c:order val="7"/>
          <c:tx>
            <c:strRef>
              <c:f>'RAID Summary'!$A$9</c:f>
              <c:strCache>
                <c:ptCount val="1"/>
                <c:pt idx="0">
                  <c:v>Total Decisions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Summary'!$B$9:$U$9</c:f>
              <c:numCache>
                <c:formatCode>General</c:formatCode>
                <c:ptCount val="20"/>
                <c:pt idx="0">
                  <c:v>153</c:v>
                </c:pt>
                <c:pt idx="1">
                  <c:v>153</c:v>
                </c:pt>
                <c:pt idx="2">
                  <c:v>154</c:v>
                </c:pt>
                <c:pt idx="3">
                  <c:v>154</c:v>
                </c:pt>
                <c:pt idx="4">
                  <c:v>161</c:v>
                </c:pt>
                <c:pt idx="5">
                  <c:v>182</c:v>
                </c:pt>
                <c:pt idx="6">
                  <c:v>183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181</c:v>
                </c:pt>
                <c:pt idx="11">
                  <c:v>194</c:v>
                </c:pt>
                <c:pt idx="12">
                  <c:v>192</c:v>
                </c:pt>
                <c:pt idx="13">
                  <c:v>191</c:v>
                </c:pt>
                <c:pt idx="14">
                  <c:v>192</c:v>
                </c:pt>
                <c:pt idx="15">
                  <c:v>193</c:v>
                </c:pt>
                <c:pt idx="16">
                  <c:v>193</c:v>
                </c:pt>
                <c:pt idx="17">
                  <c:v>191</c:v>
                </c:pt>
                <c:pt idx="18">
                  <c:v>191</c:v>
                </c:pt>
                <c:pt idx="19">
                  <c:v>191</c:v>
                </c:pt>
              </c:numCache>
            </c:numRef>
          </c:val>
        </c:ser>
        <c:ser>
          <c:idx val="8"/>
          <c:order val="8"/>
          <c:tx>
            <c:strRef>
              <c:f>'RAID Summary'!$A$10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'RAID Summary'!$B$1:$U$1</c:f>
              <c:numCache>
                <c:formatCode>dd\-mmm\-yy</c:formatCode>
                <c:ptCount val="20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</c:numCache>
            </c:numRef>
          </c:cat>
          <c:val>
            <c:numRef>
              <c:f>'RAID Summary'!$B$10:$U$10</c:f>
              <c:numCache>
                <c:formatCode>General</c:formatCode>
                <c:ptCount val="20"/>
                <c:pt idx="0">
                  <c:v>24</c:v>
                </c:pt>
                <c:pt idx="1">
                  <c:v>24</c:v>
                </c:pt>
                <c:pt idx="2">
                  <c:v>25</c:v>
                </c:pt>
                <c:pt idx="3">
                  <c:v>24</c:v>
                </c:pt>
                <c:pt idx="4">
                  <c:v>30</c:v>
                </c:pt>
                <c:pt idx="5">
                  <c:v>39</c:v>
                </c:pt>
                <c:pt idx="6">
                  <c:v>40</c:v>
                </c:pt>
                <c:pt idx="7">
                  <c:v>29</c:v>
                </c:pt>
                <c:pt idx="8">
                  <c:v>28</c:v>
                </c:pt>
                <c:pt idx="9">
                  <c:v>27</c:v>
                </c:pt>
                <c:pt idx="10">
                  <c:v>22</c:v>
                </c:pt>
                <c:pt idx="11">
                  <c:v>33</c:v>
                </c:pt>
                <c:pt idx="12">
                  <c:v>28</c:v>
                </c:pt>
                <c:pt idx="13">
                  <c:v>26</c:v>
                </c:pt>
                <c:pt idx="14">
                  <c:v>26</c:v>
                </c:pt>
                <c:pt idx="15">
                  <c:v>26</c:v>
                </c:pt>
                <c:pt idx="16">
                  <c:v>26</c:v>
                </c:pt>
                <c:pt idx="17">
                  <c:v>23</c:v>
                </c:pt>
                <c:pt idx="18">
                  <c:v>22</c:v>
                </c:pt>
                <c:pt idx="19">
                  <c:v>21</c:v>
                </c:pt>
              </c:numCache>
            </c:numRef>
          </c:val>
        </c:ser>
        <c:marker val="1"/>
        <c:axId val="80548992"/>
        <c:axId val="80550528"/>
      </c:lineChart>
      <c:dateAx>
        <c:axId val="80548992"/>
        <c:scaling>
          <c:orientation val="minMax"/>
        </c:scaling>
        <c:axPos val="b"/>
        <c:numFmt formatCode="dd\-mmm\-yy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80550528"/>
        <c:crosses val="autoZero"/>
        <c:auto val="1"/>
        <c:lblOffset val="100"/>
        <c:baseTimeUnit val="days"/>
        <c:majorUnit val="7"/>
        <c:majorTimeUnit val="days"/>
      </c:dateAx>
      <c:valAx>
        <c:axId val="8055052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8054899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950F8-A773-4B00-8A73-DC3788B4233E}" type="datetimeFigureOut">
              <a:rPr lang="en-GB" smtClean="0"/>
              <a:t>20/03/2012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AF8AD-E0E6-4996-81BF-FC3C64FBC2D1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219075" y="980728"/>
          <a:ext cx="8924925" cy="55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4"/>
          <p:cNvSpPr txBox="1">
            <a:spLocks/>
          </p:cNvSpPr>
          <p:nvPr/>
        </p:nvSpPr>
        <p:spPr>
          <a:xfrm>
            <a:off x="455613" y="228600"/>
            <a:ext cx="823436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M&amp;C RAID: Project Summary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467544" y="260648"/>
          <a:ext cx="7992888" cy="5544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395537" y="476672"/>
          <a:ext cx="8208912" cy="5904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467544" y="404664"/>
          <a:ext cx="8352927" cy="5904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611560" y="476672"/>
          <a:ext cx="7992888" cy="5832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323528" y="476672"/>
          <a:ext cx="8496944" cy="5904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467544" y="404665"/>
          <a:ext cx="8352927" cy="6048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899592" y="980728"/>
          <a:ext cx="7632848" cy="489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3779912" y="404664"/>
            <a:ext cx="2714600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M&amp;C </a:t>
            </a:r>
            <a:r>
              <a:rPr lang="en-GB" b="1" dirty="0">
                <a:solidFill>
                  <a:schemeClr val="tx1"/>
                </a:solidFill>
              </a:rPr>
              <a:t>P</a:t>
            </a:r>
            <a:r>
              <a:rPr lang="en-GB" b="1" dirty="0" smtClean="0">
                <a:solidFill>
                  <a:schemeClr val="tx1"/>
                </a:solidFill>
              </a:rPr>
              <a:t>ROGRAM OVERALL</a:t>
            </a:r>
            <a:endParaRPr lang="en-GB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Wale Agbaje</dc:creator>
  <cp:lastModifiedBy>Wale Agbaje</cp:lastModifiedBy>
  <cp:revision>2</cp:revision>
  <dcterms:created xsi:type="dcterms:W3CDTF">2012-03-20T18:53:50Z</dcterms:created>
  <dcterms:modified xsi:type="dcterms:W3CDTF">2012-03-20T19:13:06Z</dcterms:modified>
</cp:coreProperties>
</file>